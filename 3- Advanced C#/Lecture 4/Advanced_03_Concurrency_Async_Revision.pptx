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56" r:id="rId2"/>
    <p:sldId id="257" r:id="rId3"/>
    <p:sldId id="258" r:id="rId4"/>
    <p:sldId id="394" r:id="rId5"/>
    <p:sldId id="393" r:id="rId6"/>
    <p:sldId id="395" r:id="rId7"/>
    <p:sldId id="261" r:id="rId8"/>
    <p:sldId id="259" r:id="rId9"/>
    <p:sldId id="260" r:id="rId10"/>
    <p:sldId id="262" r:id="rId11"/>
    <p:sldId id="263" r:id="rId12"/>
    <p:sldId id="264" r:id="rId13"/>
    <p:sldId id="265" r:id="rId14"/>
    <p:sldId id="266" r:id="rId15"/>
    <p:sldId id="269" r:id="rId16"/>
    <p:sldId id="267" r:id="rId17"/>
    <p:sldId id="273" r:id="rId18"/>
    <p:sldId id="272" r:id="rId19"/>
    <p:sldId id="274" r:id="rId20"/>
    <p:sldId id="275" r:id="rId21"/>
    <p:sldId id="416" r:id="rId22"/>
    <p:sldId id="417" r:id="rId23"/>
    <p:sldId id="418" r:id="rId24"/>
    <p:sldId id="419" r:id="rId25"/>
    <p:sldId id="422" r:id="rId26"/>
    <p:sldId id="278" r:id="rId27"/>
    <p:sldId id="279" r:id="rId28"/>
    <p:sldId id="424" r:id="rId29"/>
    <p:sldId id="425" r:id="rId30"/>
    <p:sldId id="411" r:id="rId31"/>
    <p:sldId id="280" r:id="rId32"/>
    <p:sldId id="285" r:id="rId33"/>
    <p:sldId id="281" r:id="rId34"/>
    <p:sldId id="282" r:id="rId35"/>
    <p:sldId id="283" r:id="rId36"/>
    <p:sldId id="286" r:id="rId37"/>
    <p:sldId id="412" r:id="rId38"/>
    <p:sldId id="287" r:id="rId39"/>
    <p:sldId id="288" r:id="rId40"/>
    <p:sldId id="413" r:id="rId41"/>
    <p:sldId id="414" r:id="rId42"/>
    <p:sldId id="415" r:id="rId43"/>
    <p:sldId id="291" r:id="rId44"/>
    <p:sldId id="292" r:id="rId45"/>
    <p:sldId id="427" r:id="rId46"/>
    <p:sldId id="430" r:id="rId47"/>
    <p:sldId id="431" r:id="rId48"/>
    <p:sldId id="300" r:id="rId49"/>
    <p:sldId id="305" r:id="rId50"/>
    <p:sldId id="306" r:id="rId51"/>
    <p:sldId id="432" r:id="rId52"/>
    <p:sldId id="434" r:id="rId53"/>
    <p:sldId id="435" r:id="rId54"/>
    <p:sldId id="436" r:id="rId55"/>
    <p:sldId id="437" r:id="rId56"/>
    <p:sldId id="438" r:id="rId57"/>
    <p:sldId id="439" r:id="rId58"/>
    <p:sldId id="440" r:id="rId59"/>
    <p:sldId id="441" r:id="rId60"/>
    <p:sldId id="442" r:id="rId61"/>
    <p:sldId id="444" r:id="rId62"/>
    <p:sldId id="445" r:id="rId63"/>
    <p:sldId id="471" r:id="rId64"/>
    <p:sldId id="446" r:id="rId65"/>
    <p:sldId id="447" r:id="rId66"/>
    <p:sldId id="448" r:id="rId67"/>
    <p:sldId id="449" r:id="rId68"/>
    <p:sldId id="450" r:id="rId69"/>
    <p:sldId id="451" r:id="rId70"/>
    <p:sldId id="472" r:id="rId71"/>
    <p:sldId id="473" r:id="rId72"/>
    <p:sldId id="474" r:id="rId73"/>
    <p:sldId id="453" r:id="rId74"/>
    <p:sldId id="454" r:id="rId75"/>
    <p:sldId id="455" r:id="rId76"/>
    <p:sldId id="457" r:id="rId77"/>
    <p:sldId id="458" r:id="rId78"/>
    <p:sldId id="459" r:id="rId79"/>
    <p:sldId id="460" r:id="rId80"/>
    <p:sldId id="461" r:id="rId81"/>
    <p:sldId id="462" r:id="rId82"/>
    <p:sldId id="465" r:id="rId83"/>
    <p:sldId id="466" r:id="rId84"/>
    <p:sldId id="467" r:id="rId85"/>
    <p:sldId id="468" r:id="rId86"/>
    <p:sldId id="469" r:id="rId87"/>
    <p:sldId id="470"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27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574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15-slide revision of the whole lecture. Every slide shows the mistake on the left (red) and the correct code on the right (green), plus when to use the tool.</a:t>
            </a:r>
          </a:p>
          <a:p>
            <a:r>
              <a:rPr lang="en-US" dirty="0"/>
              <a:t>Ask: Before each reveal, ask students to spot the bug on the left.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Race condition = the result depends on timing. Check-then-act must be one unit, so the whole decision goes inside the lock. Work that touches no shared state (the payment) stays outside to keep the section short.</a:t>
            </a:r>
          </a:p>
          <a:p>
            <a:r>
              <a:rPr lang="en-US" dirty="0"/>
              <a:t>Don't: Another thread can run between the check and the act. Locking only the act stops lost updates, but every thread already passed a stale check.</a:t>
            </a:r>
          </a:p>
          <a:p>
            <a:r>
              <a:rPr lang="en-US" dirty="0"/>
              <a:t>Do: lock: a condition + an update, or several fields that change together (the critical section). Keep it short: never wait inside a lock.</a:t>
            </a:r>
          </a:p>
          <a:p>
            <a:r>
              <a:rPr lang="en-US" dirty="0"/>
              <a:t>Ask: Cover the right side. Can you say what is wrong on the left, and write the fix?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lock works on ONE object with an owner slot. Only threads that ask for the same object wait. Private readonly: nobody outside can lock it or replace it. Thread C writing Stock without the lock is never blocked.</a:t>
            </a:r>
          </a:p>
          <a:p>
            <a:r>
              <a:rPr lang="en-US" dirty="0"/>
              <a:t>Don't: lock never looks at Stock or Sold. Each new object() is a different key, so threads never wait; code that skips lock is never stopped.</a:t>
            </a:r>
          </a:p>
          <a:p>
            <a:r>
              <a:rPr lang="en-US" dirty="0"/>
              <a:t>Do: One private readonly lock object shared by every thread, and EVERY piece of code that touches the shared state takes it. lock is cooperative.</a:t>
            </a:r>
          </a:p>
          <a:p>
            <a:r>
              <a:rPr lang="en-US" dirty="0"/>
              <a:t>Ask: Cover the right side. Can you say what is wrong on the left, and write the fix?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SemaphoreSlim has two numbers. initialCount: how many permits are free at the start. maxCount: the most permits it may ever hold. new(1) gives one permit, but the maximum is int.MaxValue. So if a bug calls Release one time too many, the count quietly becomes 2 and two callers can enter the "one at a time" section. Nothing fails, the data is just wrong. new(1, 1) says the maximum is one permit: the extra Release throws SemaphoreFullException right where the bug is. We ran both on .NET: CurrentCount 2, and SemaphoreFullException.</a:t>
            </a:r>
          </a:p>
          <a:p>
            <a:r>
              <a:rPr lang="en-US" dirty="0"/>
              <a:t>Ask: Which one would you rather debug: a wrong stock number next week, or an exception today?</a:t>
            </a:r>
          </a:p>
          <a:p>
            <a:r>
              <a:rPr lang="en-US" dirty="0"/>
              <a:t>Clicks: 1: don't code · 2: why it fails · 3: do code · 4: when to use it.</a:t>
            </a:r>
          </a:p>
        </p:txBody>
      </p:sp>
    </p:spTree>
    <p:extLst>
      <p:ext uri="{BB962C8B-B14F-4D97-AF65-F5344CB8AC3E}">
        <p14:creationId xmlns:p14="http://schemas.microsoft.com/office/powerpoint/2010/main" val="3401673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lock (Monitor) belongs to the THREAD that took it: only that same thread may release it. An await does not keep the thread. While the database call runs, thread 7 goes back to the pool, and the rest of the method can continue on thread 12. Thread 12 would then try to leave a lock it does not own. So the compiler refuses: error CS1996. SemaphoreSlim is not tied to any thread: WaitAsync waits without blocking a thread, and any thread may call Release. new(1, 1) means one caller at a time. Always Release in finally, or one exception locks everybody out forever.</a:t>
            </a:r>
          </a:p>
          <a:p>
            <a:r>
              <a:rPr lang="en-US" dirty="0"/>
              <a:t>Ask: What happens to every later buyer if SaveChangesAsync throws and Release is not in a finally?</a:t>
            </a:r>
          </a:p>
          <a:p>
            <a:r>
              <a:rPr lang="en-US" dirty="0"/>
              <a:t>Clicks: 1: lock + await: the compiler says no · 2: thread 7 takes the lock · 3: await releases the thread · 4: another thread continues · 5: the rule · 6: SemaphoreSlim: WaitAsync + Release in finally.</a:t>
            </a:r>
          </a:p>
        </p:txBody>
      </p:sp>
    </p:spTree>
    <p:extLst>
      <p:ext uri="{BB962C8B-B14F-4D97-AF65-F5344CB8AC3E}">
        <p14:creationId xmlns:p14="http://schemas.microsoft.com/office/powerpoint/2010/main" val="434004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SemaphoreSlim version is correct on ONE server. In production the API runs on two (or ten) servers behind a load balancer. A static SemaphoreSlim, like a lock, lives in the memory of one process. Two servers mean two memories and two different semaphores, so request A on server 1 and request B on server 2 both get in at the same moment, and both read Stock = 1. The shared state is the database row, so the database has to decide.</a:t>
            </a:r>
          </a:p>
          <a:p>
            <a:r>
              <a:rPr lang="en-US" dirty="0"/>
              <a:t>Ask: We have one item left. Two customers press "Buy" at the same moment, on two different servers. What can happen?</a:t>
            </a:r>
          </a:p>
          <a:p>
            <a:r>
              <a:rPr lang="en-US" dirty="0"/>
              <a:t>Clicks: 1: the SemaphoreSlim version · 2: two servers, two memories, two semaphores · 3: one row shared by both · 4: neither lock nor SemaphoreSlim can cross processes · 5: the database decides.</a:t>
            </a:r>
          </a:p>
        </p:txBody>
      </p:sp>
    </p:spTree>
    <p:extLst>
      <p:ext uri="{BB962C8B-B14F-4D97-AF65-F5344CB8AC3E}">
        <p14:creationId xmlns:p14="http://schemas.microsoft.com/office/powerpoint/2010/main" val="226103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Atomic = one indivisible step, all or nothing. counter++ is not atomic. Interlocked uses CPU atomic instructions; we pass ref because it must change the variable itself, not a copy.</a:t>
            </a:r>
          </a:p>
          <a:p>
            <a:r>
              <a:rPr lang="en-US" dirty="0"/>
              <a:t>Don't: counter++ is read, add, write. Two threads read the same value and the second write overwrites the first: a lost update.</a:t>
            </a:r>
          </a:p>
          <a:p>
            <a:r>
              <a:rPr lang="en-US" dirty="0"/>
              <a:t>Do: Interlocked: ONE simple operation on ONE variable (counters, totals, flags, swapping a value). No lock object, nothing waits.</a:t>
            </a:r>
          </a:p>
          <a:p>
            <a:r>
              <a:rPr lang="en-US" dirty="0"/>
              <a:t>Ask: Cover the right side. Can you say what is wrong on the left, and write the fix?</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Rule of thumb: one atomic op on one variable = Interlocked; anything with an if or several fields = lock. With several API instances each has its own lock, so the database must make the decision atomic.</a:t>
            </a:r>
          </a:p>
          <a:p>
            <a:r>
              <a:rPr lang="en-US" dirty="0"/>
              <a:t>Don't: Each Interlocked call is atomic on its own, but a condition + update is TWO steps: another thread fits in between. The decision was wrong, not the decrement.</a:t>
            </a:r>
          </a:p>
          <a:p>
            <a:r>
              <a:rPr lang="en-US" dirty="0"/>
              <a:t>Do: Condition + update, or several variables → lock. A C# lock only works inside ONE process; across servers use an atomic DB update or a transaction.</a:t>
            </a:r>
          </a:p>
          <a:p>
            <a:r>
              <a:rPr lang="en-US" dirty="0"/>
              <a:t>Ask: Cover the right side. Can you say what is wrong on the left, and write the fix?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Deadlock: impossible to continue (cycle). Starvation: possible, but no free thread right now. The cheapest deadlock fix is a consistent lock order that the whole team follows.</a:t>
            </a:r>
          </a:p>
          <a:p>
            <a:r>
              <a:rPr lang="en-US" dirty="0"/>
              <a:t>Don't: Each thread holds one lock and waits for the other's: a cycle of waiting. No progress is ever possible; waiting longer never helps.</a:t>
            </a:r>
          </a:p>
          <a:p>
            <a:r>
              <a:rPr lang="en-US" dirty="0"/>
              <a:t>Do: Same lock order everywhere · fewer locks (less shared state) · avoid nesting · short sections. Starvation ≠ deadlock: starvation recovers.</a:t>
            </a:r>
          </a:p>
          <a:p>
            <a:r>
              <a:rPr lang="en-US" dirty="0"/>
              <a:t>Ask: Cover the right side. Can you say what is wrong on the left, and write the fix?</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9 orders, 3 cooks, 2 s each = 6 s. The semaphore lets N in, the rest wait. Always pair Wait with Release in a finally block.</a:t>
            </a:r>
          </a:p>
          <a:p>
            <a:r>
              <a:rPr lang="en-US" dirty="0"/>
              <a:t>Don't: If the work throws, Release never runs: the permit is lost and the limit shrinks until everyone blocks.</a:t>
            </a:r>
          </a:p>
          <a:p>
            <a:r>
              <a:rPr lang="en-US" dirty="0"/>
              <a:t>Do: lock = 1 thread inside. SemaphoreSlim(N) = at most N: DB connection limits, API rate limits, file processing. Release in finally (async: await WaitAsync()).</a:t>
            </a:r>
          </a:p>
          <a:p>
            <a:r>
              <a:rPr lang="en-US" dirty="0"/>
              <a:t>Ask: Cover the right side. Can you say what is wrong on the left, and write the fix?</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ConcurrentDictionary call is atomic for that key. updateValueFactory may run more than once on a collision, so keep it a pure calculation. Thread-safe parts do not make a thread-safe whole.</a:t>
            </a:r>
          </a:p>
          <a:p>
            <a:r>
              <a:rPr lang="en-US" dirty="0"/>
              <a:t>Don't: Dictionary is for one thread. Many threads: lost counts, duplicate-key exceptions, even corrupted internals.</a:t>
            </a:r>
          </a:p>
          <a:p>
            <a:r>
              <a:rPr lang="en-US" dirty="0"/>
              <a:t>Do: Put the whole rule in ONE call (AddOrUpdate, TryAdd). A safe collection ≠ safe logic: check-then-act across several calls still needs a lock.</a:t>
            </a:r>
          </a:p>
          <a:p>
            <a:r>
              <a:rPr lang="en-US" dirty="0"/>
              <a:t>Ask: Cover the right side. Can you say what is wrong on the left, and write the fix?</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TryDequeue returns true when the job belongs to this worker only, false when empty, and never throws. No lock needed.</a:t>
            </a:r>
          </a:p>
          <a:p>
            <a:r>
              <a:rPr lang="en-US" dirty="0"/>
              <a:t>Don't: Queue&lt;T&gt; is single-threaded: two Enqueues can hit one slot, both workers can take the same job, the last Dequeue throws.</a:t>
            </a:r>
          </a:p>
          <a:p>
            <a:r>
              <a:rPr lang="en-US" dirty="0"/>
              <a:t>Do: ConcurrentQueue for many producers + many workers. TryDequeue = check + take in one atomic step. (Production: Channel&lt;T&gt; + BackgroundService.)</a:t>
            </a:r>
          </a:p>
          <a:p>
            <a:r>
              <a:rPr lang="en-US" dirty="0"/>
              <a:t>Ask: Cover the right side. Can you say what is wrong on the left, and write the fix?</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ThreadPool reuses a few workers for many jobs. A Task tracks completion, result and exception. A Task is not a thread: I/O and Task.Delay tasks hold no thread while they wait.</a:t>
            </a:r>
          </a:p>
          <a:p>
            <a:r>
              <a:rPr lang="en-US" dirty="0"/>
              <a:t>Don't: Threads are expensive, and new Thread / QueueUserWorkItem give you no completion, no result and no exception handling.</a:t>
            </a:r>
          </a:p>
          <a:p>
            <a:r>
              <a:rPr lang="en-US" dirty="0"/>
              <a:t>Do: Task.Run: move CPU-bound work (math, images, reports) off the current thread. It reuses pool workers. Not a speed boost, never a wrapper for I/O.</a:t>
            </a:r>
          </a:p>
          <a:p>
            <a:r>
              <a:rPr lang="en-US" dirty="0"/>
              <a:t>Ask: Cover the right side. Can you say what is wrong on the left, and write the fix?</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GetAwaiter().GetResult() only changes the exception type; it still blocks. await releases the thread at an unfinished task and resumes right after it, possibly on another pool thread.</a:t>
            </a:r>
          </a:p>
          <a:p>
            <a:r>
              <a:rPr lang="en-US" dirty="0"/>
              <a:t>Don't: It works in a quick test, but each call holds a request thread for the whole query. Many users = many blocked pool threads = thread pool starvation.</a:t>
            </a:r>
          </a:p>
          <a:p>
            <a:r>
              <a:rPr lang="en-US" dirty="0"/>
              <a:t>Do: I/O-bound work (DB, HTTP, files) → async / await, top to bottom. Remember: Task&lt;bool&gt; is not bool: bool ok = await repo.DeleteAsync(1);</a:t>
            </a:r>
          </a:p>
          <a:p>
            <a:r>
              <a:rPr lang="en-US" dirty="0"/>
              <a:t>Ask: Cover the right side. Can you say what is wrong on the left, and write the fix?</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 async method runs synchronously until its first await on an unfinished task. Task.FromResult(SlowCalc()) runs SlowCalc on your thread first: use it for fakes, caches and defaults only.</a:t>
            </a:r>
          </a:p>
          <a:p>
            <a:r>
              <a:rPr lang="en-US" dirty="0"/>
              <a:t>Don't: The async keyword changes nothing by itself. Thread.Sleep holds the thread for the full time; the method runs synchronously.</a:t>
            </a:r>
          </a:p>
          <a:p>
            <a:r>
              <a:rPr lang="en-US" dirty="0"/>
              <a:t>Do: In async code: await Task.Delay, never Thread.Sleep. Call the ...Async version of the I/O and await it. Task.FromResult only wraps a ready value.</a:t>
            </a:r>
          </a:p>
          <a:p>
            <a:r>
              <a:rPr lang="en-US" dirty="0"/>
              <a:t>Ask: Cover the right side. Can you say what is wrong on the left, and write the fix?</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async Task the exception is stored in the Task and rethrown at the await, so a normal try/catch works. Forgetting the await has a similar effect: the work runs unobserved.</a:t>
            </a:r>
          </a:p>
          <a:p>
            <a:r>
              <a:rPr lang="en-US" dirty="0"/>
              <a:t>Don't: No Task to await: the caller can't know when it ends or catch its exception. The exception escapes and can crash the process.</a:t>
            </a:r>
          </a:p>
          <a:p>
            <a:r>
              <a:rPr lang="en-US" dirty="0"/>
              <a:t>Do: Always async Task / Task&lt;T&gt; (stores the exception, can be awaited). async void ONLY for event handlers, where the signature forces it.</a:t>
            </a:r>
          </a:p>
          <a:p>
            <a:r>
              <a:rPr lang="en-US" dirty="0"/>
              <a:t>Ask: Cover the right side. Can you say what is wrong on the left, and write the fix?</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ValueTask&lt;T&gt; is a struct that can return a result synchronously without allocating a Task, useful when the result is usually already available (a cache). It has rules and extra complexity: Task stays the default; use ValueTask only when measurements show it helps.</a:t>
            </a:r>
          </a:p>
          <a:p>
            <a:r>
              <a:rPr lang="en-US" dirty="0"/>
              <a:t>Ask: Why not use ValueTask everywhere?</a:t>
            </a:r>
          </a:p>
          <a:p>
            <a:r>
              <a:rPr lang="en-US" dirty="0"/>
              <a:t>Clicks: 1: the code · 2: fast path vs slow path · 3: the rules · 4: the rule.</a:t>
            </a:r>
          </a:p>
        </p:txBody>
      </p:sp>
    </p:spTree>
    <p:extLst>
      <p:ext uri="{BB962C8B-B14F-4D97-AF65-F5344CB8AC3E}">
        <p14:creationId xmlns:p14="http://schemas.microsoft.com/office/powerpoint/2010/main" val="1691676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mistakes that turn async code into slow or crashing code.</a:t>
            </a:r>
          </a:p>
          <a:p>
            <a:r>
              <a:rPr lang="en-US" dirty="0"/>
              <a:t>Ask: What do you already know about async pitfalls &amp; good design?</a:t>
            </a:r>
          </a:p>
          <a:p>
            <a:r>
              <a:rPr lang="en-US" dirty="0"/>
              <a:t>Clicks: 1: the topics of this part.</a:t>
            </a:r>
          </a:p>
        </p:txBody>
      </p:sp>
    </p:spTree>
    <p:extLst>
      <p:ext uri="{BB962C8B-B14F-4D97-AF65-F5344CB8AC3E}">
        <p14:creationId xmlns:p14="http://schemas.microsoft.com/office/powerpoint/2010/main" val="3176936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Connect to delegates: what matters is the delegate type. Func&lt;..., Task&gt; can be awaited; Action&lt;...&gt; cannot, which leads to the next trap.</a:t>
            </a:r>
          </a:p>
          <a:p>
            <a:r>
              <a:rPr lang="en-US" dirty="0"/>
              <a:t>Ask: What type would make this lambda async void?</a:t>
            </a:r>
          </a:p>
          <a:p>
            <a:r>
              <a:rPr lang="en-US" dirty="0"/>
              <a:t>Clicks: 1: the code · 2: Func returns Task · 3: same as a method · 4: watch the type · 5: the rule.</a:t>
            </a:r>
          </a:p>
        </p:txBody>
      </p:sp>
    </p:spTree>
    <p:extLst>
      <p:ext uri="{BB962C8B-B14F-4D97-AF65-F5344CB8AC3E}">
        <p14:creationId xmlns:p14="http://schemas.microsoft.com/office/powerpoint/2010/main" val="30106940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List&lt;T&gt;.ForEach takes an Action&lt;T&gt;, so the async lambda is async void. ForEach does not wait, 'All shipped' prints first, and exceptions are lost. THE FIX: Use a normal foreach with await (one by one), or start all the tasks and await Task.WhenAll (together).</a:t>
            </a:r>
          </a:p>
          <a:p>
            <a:r>
              <a:rPr lang="en-US" dirty="0"/>
              <a:t>Ask: In BEFORE, what does the console show?</a:t>
            </a:r>
          </a:p>
          <a:p>
            <a:r>
              <a:rPr lang="en-US" dirty="0"/>
              <a:t>Clicks: 1: before code · 2: the problem · 3: after code · 4: the fix.</a:t>
            </a:r>
          </a:p>
        </p:txBody>
      </p:sp>
    </p:spTree>
    <p:extLst>
      <p:ext uri="{BB962C8B-B14F-4D97-AF65-F5344CB8AC3E}">
        <p14:creationId xmlns:p14="http://schemas.microsoft.com/office/powerpoint/2010/main" val="1986390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Imagine a WPF or Windows Forms app. The user clicks a button; we load data from an API and show it in a label. In WPF and WinForms, most UI controls may only be changed by the thread that owns them: the UI Thread. Walk the steps: the UI Thread starts Button_Click and shows Loading. At await the HTTP request is still running, so the method is suspended and the UI Thread is free to handle other events: the window stays responsive. Later the request finishes and we must run label1.Text = data. Who guarantees that this last part runs on the UI Thread? That is the job of SynchronizationContext, in System.Threading: an abstraction that decides where and how a piece of code runs for the current environment. WPF's SynchronizationContext knows how to schedule code onto the UI Thread, and await uses it to come back there.</a:t>
            </a:r>
          </a:p>
          <a:p>
            <a:r>
              <a:rPr lang="en-US" dirty="0"/>
              <a:t>Ask: What would happen if label1.Text = data ran on some other thread?</a:t>
            </a:r>
          </a:p>
          <a:p>
            <a:r>
              <a:rPr lang="en-US" dirty="0"/>
              <a:t>Clicks: 1: a button click that loads data · 2: the UI rule · 3: 1: the UI Thread starts · 4: 2: await, request still running · 5: 3: suspended, UI Thread free · 6: 4: the request finishes · 7: 5: the last line, on which thread? · 8: the question · 9: the answer: SynchronizationContext.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Only UI frameworks need to come back to one special thread. WPF, Windows Forms and MAUI install a SynchronizationContext that sends the code after await back to the UI Thread. ASP.NET Core and console apps have NO SynchronizationContext: SynchronizationContext.Current is null. So after await, the rest of the method simply runs on any free ThreadPool thread. We ran the demo in a console app: Current is null, the code starts on thread 1 and continues on a pool thread after the await. Never assume you are on the same thread after await.</a:t>
            </a:r>
          </a:p>
          <a:p>
            <a:r>
              <a:rPr lang="en-US" dirty="0"/>
              <a:t>Ask: In ASP.NET Core, which thread runs the code after await in a controller?</a:t>
            </a:r>
          </a:p>
          <a:p>
            <a:r>
              <a:rPr lang="en-US" dirty="0"/>
              <a:t>Clicks: 1: the header · 2: UI apps: back to the UI Thread · 3: old ASP.NET · 4: ASP.NET Core and console: null · 5: proof in a console app · 6: what it means.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quiz program, slowly. Everything up to "await task" runs on ONE thread: the Main Thread, T1. Calling PrintAsync does not start a new thread: an async method runs synchronously, on the caller's thread, until its first await that is not finished. So T1 prints 1, enters PrintAsync, prints 2, starts a 100 ms timer (no thread waits for a timer), and gets back an unfinished Task. T1 prints 3. At "await task" the task is still not finished, so Main pauses too. In a console app the compiler wraps async Main in a hidden Main that waits with GetAwaiter().GetResult(): T1 is now BLOCKED. We checked on .NET: T1 is in WaitSleepJoin while it waits.</a:t>
            </a:r>
          </a:p>
          <a:p>
            <a:r>
              <a:rPr lang="en-US" dirty="0"/>
              <a:t>Ask: At step 4, which thread is waiting for the 100 ms timer?</a:t>
            </a:r>
          </a:p>
          <a:p>
            <a:r>
              <a:rPr lang="en-US" dirty="0"/>
              <a:t>Clicks: 1: the program · 2: who is who · 3: step 1 · 4: step 2 · 5: step 3 · 6: step 4 · 7: step 5 · 8: step 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methods are now paused. PrintAsync is paused at "await Task.Delay(100)" and Main is paused at "await task". T1 cannot come back to them: it is blocked inside the hidden Main. No thread is waiting for the timer either. After 100 ms the timer completes the Delay task. A console app has no SynchronizationContext, so the rest of PrintAsync is queued to the ThreadPool and a free pool thread, T5, runs it: it prints 4 and reaches the end of PrintAsync, which completes "task". Main was waiting for exactly that task, so the rest of Main runs right away on the SAME T5 and prints 5. Main's Task is now complete, T1 wakes up, returns from the hidden Main, and the process ends. Traced on .NET: 1, 2, 3 on thread 1; 4 and 5 on the same pool thread.</a:t>
            </a:r>
          </a:p>
          <a:p>
            <a:r>
              <a:rPr lang="en-US" dirty="0"/>
              <a:t>Ask: Why can't T1 come back to print 4, like a UI Thread would in WPF?</a:t>
            </a:r>
          </a:p>
          <a:p>
            <a:r>
              <a:rPr lang="en-US" dirty="0"/>
              <a:t>Clicks: 1: the program · 2: two paused methods · 3: step 7: the timer fires · 4: step 8: T5 resumes PrintAsync · 5: step 9: T5 prints 4 · 6: step 10: PrintAsync ends, task completed · 7: step 11: T5 resumes Main, prints 5 · 8: step 12: T1 wakes up, exit.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scenarios that both skip an immediate await. Scenario 1 ignores the Task: we say the email was sent before we know it succeeded, and a failure is never seen. That is fire-and-forget, and it is almost always a bug. Scenario 2 starts two independent operations without awaiting each one immediately, but keeps both Tasks and waits for them with Task.WhenAll. That is concurrent asynchronous operations, and it is excellent. Concurrent does not have to mean parallel threads: while both requests wait for the network, no thread is busy at all.</a:t>
            </a:r>
          </a:p>
          <a:p>
            <a:r>
              <a:rPr lang="en-US" dirty="0"/>
              <a:t>Ask: Rewrite scenario 1 so that "Email sent!" is only printed after the email really left.</a:t>
            </a:r>
          </a:p>
          <a:p>
            <a:r>
              <a:rPr lang="en-US" dirty="0"/>
              <a:t>Clicks: 1: scenario 1: ignore the Task · 2: the risks · 3: scenario 2: start now, await later · 4: concurrent, not necessarily parallel.</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user opens the page of a restaurant called Zooba. The backend needs three things: the restaurant info (name, location, status), the menu, and the customer reviews. Each comes from a different service and each takes time: 800 ms, 1200 ms and 1000 ms. Question: do we have to get the info first, then the menu, then the reviews? No: the three operations are independent of each other. Now look at the code. Each line awaits before the next one starts: we start GetInfoAsync and wait for it to finish; then we start GetMenuAsync and wait; then GetReviewsAsync and wait. The thread is not blocked during the waits, but the user still waits for all three in a row: about 3 seconds.</a:t>
            </a:r>
          </a:p>
          <a:p>
            <a:r>
              <a:rPr lang="en-US" dirty="0"/>
              <a:t>Ask: The calls are independent. How could we make the page load in about 1.2 seconds instead?</a:t>
            </a:r>
          </a:p>
          <a:p>
            <a:r>
              <a:rPr lang="en-US" dirty="0"/>
              <a:t>Clicks: 1: the three calls and their times · 2: the question · 3: no, they are independent · 4: the code · 5–7: one call at a time · 8: the total · 9: the rule.</a:t>
            </a:r>
          </a:p>
        </p:txBody>
      </p:sp>
    </p:spTree>
    <p:extLst>
      <p:ext uri="{BB962C8B-B14F-4D97-AF65-F5344CB8AC3E}">
        <p14:creationId xmlns:p14="http://schemas.microsoft.com/office/powerpoint/2010/main" val="1309053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SwiftBite restaurant page needs details, menu and reviews from three services. Task.WhenAll gives one task that completes when all of them complete. The page takes as long as the slowest call.</a:t>
            </a:r>
          </a:p>
          <a:p>
            <a:r>
              <a:rPr lang="en-US" dirty="0"/>
              <a:t>Ask: If reviews took 3 s, how long would the page take?</a:t>
            </a:r>
          </a:p>
          <a:p>
            <a:r>
              <a:rPr lang="en-US" dirty="0"/>
              <a:t>Clicks: 1: start the three calls · 2: the services · 3: WhenAll: each call in parallel · 4: the output · 5: the rule.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First important fact: Task.WhenAll does not start anything. The three operations started on lines 1 to 3, the moment we called FailAsync and Task.Delay. Line 1: T1, the main thread, enters FailAsync, starts a 300 ms delay, reaches await, finds the delay not finished, so FailAsync pauses and returns an unfinished Task. T1 goes on. No thread is blocked for those 300 ms. Line 2: the same with 100 ms. Line 3: a 200 ms timer. The bars show how long each one takes, not threads that are busy: during those milliseconds, no thread is working on them.</a:t>
            </a:r>
          </a:p>
          <a:p>
            <a:r>
              <a:rPr lang="en-US" dirty="0"/>
              <a:t>Ask: If we deleted the WhenAll line, would the three operations still run?</a:t>
            </a:r>
          </a:p>
          <a:p>
            <a:r>
              <a:rPr lang="en-US" dirty="0"/>
              <a:t>Clicks: 1: the program · 2: line 1: Payment · 3: line 2: SMS · 4: line 3: Kitchen · 5: the state: three timers, no busy thread · 6: WhenAll starts nothing.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Split "await Task.WhenAll(tasks)" in two. First Task.WhenAll(tasks): it creates ONE new Task that represents the whole group and watches the three. Picture an internal counter, Remaining = 3, that drops by one each time a task completes; this is a teaching model, not the real source code. When it reaches 0, WhenAll decides its final status. Second, await: the WhenAll Task is not finished, so await registers the rest of Main as a continuation and Main suspends. In a console app the hidden entry point keeps T1 waiting. Then time passes. At 100 ms SMS throws on a pool thread: the exception is STORED inside the SMS Task, which becomes Faulted. Main does not wake up, because the group is not done. At 200 ms Kitchen completes. At 300 ms Payment throws: now all three are done, WhenAll becomes Faulted, and the rest of Main runs on a pool thread, not necessarily T1. We traced it on .NET 8: everything after the start ran on T5.</a:t>
            </a:r>
          </a:p>
          <a:p>
            <a:r>
              <a:rPr lang="en-US" dirty="0"/>
              <a:t>Ask: At 100 ms SMS has already failed. Why does the catch not run yet?</a:t>
            </a:r>
          </a:p>
          <a:p>
            <a:r>
              <a:rPr lang="en-US" dirty="0"/>
              <a:t>Clicks: 1: one line, two operations · 2: 1: WhenAll creates one Task for the group · 3: 2: await suspends Main · 4: 0 ms · 5: 100 ms: SMS fails, Main keeps sleeping · 6: 200 ms: Kitchen done · 7: 300 ms: Payment fails, group Faulted, Main resumes.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first idea: start the three tasks, then await them one by one. It IS fast, because all three already run together. The problem is errors. Here Info fails at 800 ms and Reviews fails at 1000 ms. The first await throws, the code jumps to catch, and the other two awaits never run. We only ever see "Info service down". The Reviews task also failed, but nobody awaited it, so its exception is lost, and the Menu task keeps running with nobody waiting for it. Task.WhenAll turns the three tasks into ONE task that finishes when all of them finish and keeps every exception. We ran both versions on .NET: one error caught on the left, both errors on the right.</a:t>
            </a:r>
          </a:p>
          <a:p>
            <a:r>
              <a:rPr lang="en-US" dirty="0"/>
              <a:t>Ask: Reviews fails after 100 ms, but Info takes 5 seconds. When does the left version find out about Reviews?</a:t>
            </a:r>
          </a:p>
          <a:p>
            <a:r>
              <a:rPr lang="en-US" dirty="0"/>
              <a:t>Clicks: 1: don't: await one by one · 2: why it fails · 3: do: one task for all · 4: when to use it.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After the await, the three continuations can run at the same moment on different pool threads. List&lt;T&gt; is not thread-safe, so Add can lose items or throw. WhenAll, WhenAny, WhenEach and Parallel all run work concurrently. THE FIX: Let each task return its result and combine after WhenAll, or use a thread-safe type. Note for later: EF Core's DbContext is NOT thread-safe, so never run two queries on the same DbContext with WhenAll.</a:t>
            </a:r>
          </a:p>
          <a:p>
            <a:r>
              <a:rPr lang="en-US" dirty="0"/>
              <a:t>Ask: Which other objects that you'll meet later might not be thread-safe?</a:t>
            </a:r>
          </a:p>
          <a:p>
            <a:r>
              <a:rPr lang="en-US" dirty="0"/>
              <a:t>Clicks: 1: shared code · 2: the problem · 3: safe code · 4: the fix.</a:t>
            </a:r>
          </a:p>
        </p:txBody>
      </p:sp>
    </p:spTree>
    <p:extLst>
      <p:ext uri="{BB962C8B-B14F-4D97-AF65-F5344CB8AC3E}">
        <p14:creationId xmlns:p14="http://schemas.microsoft.com/office/powerpoint/2010/main" val="29579236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When several tasks fail, the combined task holds all the failures. await rethrows the first one. To see every failure, keep the tasks and inspect them after completion. AggregateException is only an overview: await hides it.</a:t>
            </a:r>
          </a:p>
          <a:p>
            <a:r>
              <a:rPr lang="en-US" dirty="0"/>
              <a:t>Ask: Did the SMS failure disappear?</a:t>
            </a:r>
          </a:p>
          <a:p>
            <a:r>
              <a:rPr lang="en-US" dirty="0"/>
              <a:t>Clicks: 1: the code · 2: what catch receives · 3: inspecting every task · 4: the rule.</a:t>
            </a:r>
          </a:p>
        </p:txBody>
      </p:sp>
    </p:spTree>
    <p:extLst>
      <p:ext uri="{BB962C8B-B14F-4D97-AF65-F5344CB8AC3E}">
        <p14:creationId xmlns:p14="http://schemas.microsoft.com/office/powerpoint/2010/main" val="2640513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classic pattern: whichever finishes first decides. Users see the cached menu after 2 seconds instead of staring at a spinner for 5.</a:t>
            </a:r>
          </a:p>
          <a:p>
            <a:r>
              <a:rPr lang="en-US" dirty="0"/>
              <a:t>Ask: What prints here?</a:t>
            </a:r>
          </a:p>
          <a:p>
            <a:r>
              <a:rPr lang="en-US" dirty="0"/>
              <a:t>Clicks: 1: the code · 2: race a timer · 3: compare · 4: next.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newest combinator: iterate over tasks as they complete. Less important than WhenAll, so it comes last.</a:t>
            </a:r>
          </a:p>
          <a:p>
            <a:r>
              <a:rPr lang="en-US" dirty="0"/>
              <a:t>Ask: In what order are the dishes printed?</a:t>
            </a:r>
          </a:p>
          <a:p>
            <a:r>
              <a:rPr lang="en-US" dirty="0"/>
              <a:t>Clicks: 1: the code · 2: completion order · 3: no waiting · 4: version.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Pick the combinator by the question you are asking: do I need everything, the first one, or each one as soon as it's ready?</a:t>
            </a:r>
          </a:p>
          <a:p>
            <a:r>
              <a:rPr lang="en-US" dirty="0"/>
              <a:t>Ask: A dashboard shows 6 widgets that load independently. Which one would you use?</a:t>
            </a:r>
          </a:p>
          <a:p>
            <a:r>
              <a:rPr lang="en-US" dirty="0"/>
              <a:t>Clicks: 1–3: one combinator per click · 4: the rule.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Ask running work to stop, politely.</a:t>
            </a:r>
          </a:p>
          <a:p>
            <a:r>
              <a:rPr lang="en-US" dirty="0"/>
              <a:t>Ask: What do you already know about cancellation?</a:t>
            </a:r>
          </a:p>
          <a:p>
            <a:r>
              <a:rPr lang="en-US" dirty="0"/>
              <a:t>Clicks: 1: the topics of this part.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Async work often outlives the reason it started. The user closes the tab, the call is too slow, a newer search replaces an older one, or the app is shutting down. Without a token, the work runs to the end anyway: the database query takes its full 3 seconds, holds a connection, uses CPU and memory, and the answer goes to nobody. With 1,000 users that is 1,000 wasted queries. In ASP.NET Core, add a CancellationToken parameter: it is cancelled when the client disconnects. Pass it down to every async call, here ToListAsync(ct), and the query stops at once. The next slides show how it works: the caller asks, the work cooperates.</a:t>
            </a:r>
          </a:p>
          <a:p>
            <a:r>
              <a:rPr lang="en-US" dirty="0"/>
              <a:t>Ask: Think of an app you use. Where does it start work that you might not wait for?</a:t>
            </a:r>
          </a:p>
          <a:p>
            <a:r>
              <a:rPr lang="en-US" dirty="0"/>
              <a:t>Clicks: 1: four reasons to stop work · 2: don't: no token · 3: the cost · 4: do: take the token, pass it down · 5: the rule.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runtime never kills your method. The caller holds a CancellationTokenSource and hands a token to the work. Cancel() flips the token; the work checks it at safe points and stops itself.</a:t>
            </a:r>
          </a:p>
          <a:p>
            <a:r>
              <a:rPr lang="en-US" dirty="0"/>
              <a:t>Ask: Why is killing a method in the middle dangerous?</a:t>
            </a:r>
          </a:p>
          <a:p>
            <a:r>
              <a:rPr lang="en-US" dirty="0"/>
              <a:t>Clicks: 1: the caller owns the source · 2: the work receives the token · 3: Cancel() · 4: the work notices and stops · 5: the rule.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Split of responsibilities: whoever owns the source decides; everyone with the token just listens.</a:t>
            </a:r>
          </a:p>
          <a:p>
            <a:r>
              <a:rPr lang="en-US" dirty="0"/>
              <a:t>Ask: Why can't the work cancel itself through the token?</a:t>
            </a:r>
          </a:p>
          <a:p>
            <a:r>
              <a:rPr lang="en-US" dirty="0"/>
              <a:t>Clicks: 1: the code · 2: source · 3: token · 4: using · 5: the rule.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Let the students vote first. The method RECEIVES the token but never uses it: it is not passed to Task.Delay and never checked. Cancel() only sets a flag that says "please stop"; nothing reads that flag. So the delay runs its full 3 seconds, the method prints Completed, and the task ends as RanToCompletion, not Canceled. We ran it on .NET: Completed after about 3 seconds. Fix: Task.Delay(3000, token). Then await task throws TaskCanceledException at once. Next slide: pass the token down to the work.</a:t>
            </a:r>
          </a:p>
          <a:p>
            <a:r>
              <a:rPr lang="en-US" dirty="0"/>
              <a:t>Ask: Change one line so that the task stops immediately. Which line, and what does await task do then?</a:t>
            </a:r>
          </a:p>
          <a:p>
            <a:r>
              <a:rPr lang="en-US" dirty="0"/>
              <a:t>Clicks: 1: the choices (pause and let students vote) · 2: the answer.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Same program as the quiz. Left: the method receives the token but never passes it on, so Cancel() changes nothing and we see Completed after 3 seconds. Right: one change, Task.Delay(3000, token). Now the delay listens: the moment the token is canceled it stops and throws TaskCanceledException, which is an OperationCanceledException. "Completed" is never printed. The caller catches OperationCanceledException and the task status is Canceled, not Faulted. We ran it on .NET: "Canceled" after about 30 ms instead of 3 seconds.</a:t>
            </a:r>
          </a:p>
          <a:p>
            <a:r>
              <a:rPr lang="en-US" dirty="0"/>
              <a:t>Ask: Why do we catch OperationCanceledException and not TaskCanceledException?</a:t>
            </a:r>
          </a:p>
          <a:p>
            <a:r>
              <a:rPr lang="en-US" dirty="0"/>
              <a:t>Clicks: 1: don't: the token is ignored · 2: why it fails · 3: do: pass it to Task.Delay, catch the cancel · 4: the rule.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upload sends the video in chunks; after each chunk it reports progress: 5%, 10%, 15%. Every chunk gets the token: Task.Delay(300, token) stands for "send one chunk". Main starts the upload and a Cancel button (any key) and waits for whichever finishes first with Task.WhenAny. If the button wins, cts.Cancel(). The next chunk sees the token, stops at once and throws OperationCanceledException, so the loop never reaches 40%. The caller catches it and shows "Upload canceled". We ran it on .NET with the button pressed after 2.2 seconds: 5% to 35%, then Upload canceled.</a:t>
            </a:r>
          </a:p>
          <a:p>
            <a:r>
              <a:rPr lang="en-US" dirty="0"/>
              <a:t>Ask: The user cancels at 35%. Who should delete the half-uploaded file on the server, and where in this code?</a:t>
            </a:r>
          </a:p>
          <a:p>
            <a:r>
              <a:rPr lang="en-US" dirty="0"/>
              <a:t>Clicks: 1: the code: a Cancel button, WhenAny, a token in every chunk · 2: uploading: 5%, 10%, 15%… · 3: the user presses Cancel at 35% · 4: why it stops at once.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Compare with the WhenAny timeout from Part 6: there the slow task kept running; here it is actually canceled.</a:t>
            </a:r>
          </a:p>
          <a:p>
            <a:r>
              <a:rPr lang="en-US" dirty="0"/>
              <a:t>Ask: What prints here, and after how many seconds?</a:t>
            </a:r>
          </a:p>
          <a:p>
            <a:r>
              <a:rPr lang="en-US" dirty="0"/>
              <a:t>Clicks: 1: the code · 2: automatic cancel · 3: really stops · 4: same catch.</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canceled task ends in the Canceled state; an exception ends in Faulted. Treat them differently: a user who pressed Cancel is not an error to log at 3 a.m.</a:t>
            </a:r>
          </a:p>
          <a:p>
            <a:r>
              <a:rPr lang="en-US" dirty="0"/>
              <a:t>Ask: Should a canceled order show the user an error message?</a:t>
            </a:r>
          </a:p>
          <a:p>
            <a:r>
              <a:rPr lang="en-US" dirty="0"/>
              <a:t>Clicks: 1: the code · 2: the two states · 3: three different outcomes · 4: the rule.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Three words that people mix up. Concurrency: several operations make progress during the same period of time, even if they do not literally run at the same instant; one core can switch between them. Parallelism: several operations literally run at the same instant, on different execution resources such as several CPU cores. Asynchrony: an operation can wait for something, like the network or the disk, without holding a thread for the whole wait, as long as the operation supports async I/O. They combine: starting three HTTP calls and awaiting Task.WhenAll is concurrent AND asynchronous, and it does not need parallel threads at all. In the kitchen: one chef juggling three dishes is concurrency, three chefs on three stoves is parallelism, and putting the rice on and doing something else until the timer rings is asynchrony.</a:t>
            </a:r>
          </a:p>
          <a:p>
            <a:r>
              <a:rPr lang="en-US" dirty="0"/>
              <a:t>Ask: A web server handles 1,000 requests that each wait 200 ms for the database. Which of the three words matter most?</a:t>
            </a:r>
          </a:p>
          <a:p>
            <a:r>
              <a:rPr lang="en-US" dirty="0"/>
              <a:t>Clicks: 1: concurrency · 2: parallelism · 3: asynchrony · 4: they combine.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BE980-1BC1-2EA3-7E78-FF3907D3B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CCE76-2F93-F7EA-AE3C-A1057A144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B3570-8B19-9BA9-347B-193786714BF1}"/>
              </a:ext>
            </a:extLst>
          </p:cNvPr>
          <p:cNvSpPr>
            <a:spLocks noGrp="1"/>
          </p:cNvSpPr>
          <p:nvPr>
            <p:ph type="body" idx="1"/>
          </p:nvPr>
        </p:nvSpPr>
        <p:spPr/>
        <p:txBody>
          <a:bodyPr/>
          <a:lstStyle/>
          <a:p>
            <a:r>
              <a:rPr lang="en-US" dirty="0"/>
              <a:t>Explain: The Parallel class, part of the Task Parallel Library, spreads work over the CPU cores instead of running it as one queue. Parallel.For is the for loop with an index, for CPU-bound work like heavy math or image processing; it blocks the calling thread until every iteration is done. Parallel.ForEach is the same idea over a ready collection. Parallel.ForEachAsync, since .NET 6, supports async/await, so it fits I/O-bound work like API calls, files or the database, and you cap how many run at once with MaxDegreeOfParallelism; all three accept that option. Never give Parallel.ForEach an async lambda: that becomes async void. Versus Task.WhenAll: WhenAll waits for tasks you already started, all at once, which is perfect for a few different calls, and it hands you all the results. For a long list, starting everything at once can flood the other server or your memory; ForEachAsync keeps it to N at a time. The chart shows why the cap matters: 1 worker 80 seconds, 8 workers 11 seconds, 1,000 workers 30 seconds, because of context switching and memory pressure.</a:t>
            </a:r>
          </a:p>
          <a:p>
            <a:r>
              <a:rPr lang="en-US" dirty="0"/>
              <a:t>Ask: You need to call an API for 10,000 customers, and the API allows 10 requests at once. Which tool, and what value?</a:t>
            </a:r>
          </a:p>
          <a:p>
            <a:r>
              <a:rPr lang="en-US" dirty="0"/>
              <a:t>Clicks: 1: Parallel.For · 2: Parallel.ForEach · 3: Parallel.ForEachAsync · 4: ForEachAsync vs WhenAll · 5: why the cap matters.</a:t>
            </a:r>
          </a:p>
        </p:txBody>
      </p:sp>
    </p:spTree>
    <p:extLst>
      <p:ext uri="{BB962C8B-B14F-4D97-AF65-F5344CB8AC3E}">
        <p14:creationId xmlns:p14="http://schemas.microsoft.com/office/powerpoint/2010/main" val="3701190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8A8C7-0ACE-9C8D-59C9-EE7B4280E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579E3-185E-B3D2-FF0C-8DBB17354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F341B-263C-2552-16A2-9170CB8FBC5F}"/>
              </a:ext>
            </a:extLst>
          </p:cNvPr>
          <p:cNvSpPr>
            <a:spLocks noGrp="1"/>
          </p:cNvSpPr>
          <p:nvPr>
            <p:ph type="body" idx="1"/>
          </p:nvPr>
        </p:nvSpPr>
        <p:spPr/>
        <p:txBody>
          <a:bodyPr/>
          <a:lstStyle/>
          <a:p>
            <a:r>
              <a:rPr lang="en-US" dirty="0"/>
              <a:t>Explain: Four complete, small programs. Parallel.For fills an array of squares; each index runs on some core, and the line after the loop only runs when every index is done. Parallel.ForEach resizes four images, at most two at a time; the thread IDs show the work spread over threads, and the order changes from run to run. Parallel.ForEachAsync downloads pages, at most two requests in progress, awaiting each download with the token. Task.WhenAll starts three different calls, waits for all of them, and the whole thing takes about as long as the slowest one: 800 ms, not 1.6 s. We ran the For, ForEach and WhenAll examples on .NET; the ForEachAsync example compiles but needs internet access.</a:t>
            </a:r>
          </a:p>
          <a:p>
            <a:r>
              <a:rPr lang="en-US" dirty="0"/>
              <a:t>Ask: Which of the four would you pick to download 500 product images from a supplier's API?</a:t>
            </a:r>
          </a:p>
          <a:p>
            <a:r>
              <a:rPr lang="en-US" dirty="0"/>
              <a:t>Clicks: 1: Parallel.For · 2: Parallel.ForEach · 3: Parallel.ForEachAsync · 4: Task.WhenAll.</a:t>
            </a:r>
          </a:p>
        </p:txBody>
      </p:sp>
    </p:spTree>
    <p:extLst>
      <p:ext uri="{BB962C8B-B14F-4D97-AF65-F5344CB8AC3E}">
        <p14:creationId xmlns:p14="http://schemas.microsoft.com/office/powerpoint/2010/main" val="23735310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 an 8-core machine, CPU-bound work gets faster up to about 8 workers. Beyond that, workers fight for cores: more context switching, more contention on shared data, more memory. The chart is illustrative.</a:t>
            </a:r>
          </a:p>
          <a:p>
            <a:r>
              <a:rPr lang="en-US" dirty="0"/>
              <a:t>Ask: Why would 64 threads be slower than 8 on an 8-core CPU?</a:t>
            </a:r>
          </a:p>
          <a:p>
            <a:r>
              <a:rPr lang="en-US" dirty="0"/>
              <a:t>Clicks: 1: the chart · 2: the sweet spot · 3: why it gets worse · 4: the rule.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Part 10. Until now every object lived in RAM and died with the process. Now we save data to files, read big files without loading them whole, release files correctly, and turn objects into JSON and back.</a:t>
            </a:r>
          </a:p>
          <a:p>
            <a:r>
              <a:rPr lang="en-US" dirty="0"/>
              <a:t>Ask: What happens to your data when the app restarts?</a:t>
            </a:r>
          </a:p>
          <a:p>
            <a:r>
              <a:rPr lang="en-US" dirty="0"/>
              <a:t>Clicks: 1: the topics of this part.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Five steps. Where files live and how to name them; streams, so big files never fill the memory; IDisposable and using, so we always give files back to the OS; serialization, to turn objects into JSON and back; and a lab that saves our employees to a file with Add, Get, Update and Delete.</a:t>
            </a:r>
          </a:p>
          <a:p>
            <a:r>
              <a:rPr lang="en-US" dirty="0"/>
              <a:t>Ask: Which of these have you already used without knowing the name?</a:t>
            </a:r>
          </a:p>
          <a:p>
            <a:r>
              <a:rPr lang="en-US" dirty="0"/>
              <a:t>Clicks: 1: files &amp; paths · 2: streams · 3: IDisposable · 4: serialization · 5: the lab · 6: the running example.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path is the address of a file or folder in the file system. To read students.json we must say where it is. An absolute path starts from the root, C:\, so it does not depend on anything, but it breaks when the project moves to another machine. A relative path is incomplete: .NET completes it with the Current Working Directory, Environment.CurrentDirectory. The CWD is NOT necessarily the project folder or the exe folder: it depends on HOW the app was started. In Visual Studio it was bin\Debug\net10.0; with dotnet run in a terminal it is the folder you ran it from; a Windows Service starts in C:\Windows\System32; in Docker it is the WORKDIR. Code can even change it. So Data\students.json becomes CWD + Data\students.json, and if the file is not there you get FileNotFoundException, or DirectoryNotFoundException if the Data folder is missing too. Path.GetFullPath shows you exactly which full path .NET will use. We checked this on .NET.</a:t>
            </a:r>
          </a:p>
          <a:p>
            <a:r>
              <a:rPr lang="en-US" dirty="0"/>
              <a:t>Ask: You run the same app from Visual Studio and then from a terminal in the project folder. Which run finds Data\students.json?</a:t>
            </a:r>
          </a:p>
          <a:p>
            <a:r>
              <a:rPr lang="en-US" dirty="0"/>
              <a:t>Clicks: 1: 1: what is a path · 2: 2: absolute path · 3: 3: the current working directory · 4: it depends on how you start the app · 5: 4: relative = CWD + path · 6: GetFullPath and the exception.</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different folders. Environment.CurrentDirectory is the working directory of the process: relative paths start there, and it depends on how the app was started, and code can change it. AppContext.BaseDirectory is the folder of the application's own files, where the exe and the copied Data folder are, and it does not change when the current directory changes. We ran this on .NET: after setting Environment.CurrentDirectory to another folder, CurrentDirectory changed and BaseDirectory stayed exactly the same. So for files you ship with the app, combine BaseDirectory with Path.Combine. Production notes: never hard-code absolute paths, take them from configuration; Path.Combine because on Linux a backslash is not a separator; a Windows Service starts in C:\Windows\System32; never write user data next to the exe, because that folder can be read-only and is replaced on every deploy; in ASP.NET Core use IWebHostEnvironment.ContentRootPath for app content.</a:t>
            </a:r>
          </a:p>
          <a:p>
            <a:r>
              <a:rPr lang="en-US" dirty="0"/>
              <a:t>Ask: Where should the app SAVE new students in production, if not next to the exe?</a:t>
            </a:r>
          </a:p>
          <a:p>
            <a:r>
              <a:rPr lang="en-US" dirty="0"/>
              <a:t>Clicks: 1: two different folders · 2: proof: change the CWD · 3: the safe way · 4: production notes.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When we build, the runnable files go to bin\Debug\net10.0. But not every file in the project is moved there automatically: students.json can stay only in the project folder. If the program reads Data\students.json and the current directory is bin\Debug\net10.0, .NET looks for bin\Debug\net10.0\Data\students.json. The file is not there, so we get an error. The fix: select the data file, open its Properties, and set Copy to Output Directory to Copy if newer, or write it in the .csproj with PreserveNewest. Now the build copies the file next to the exe when needed. Do not copy never copies it, Copy always copies it on every build, Copy if newer only when the output copy needs updating. Important: even with the file copied, build the path from AppContext.BaseDirectory, next page.</a:t>
            </a:r>
          </a:p>
          <a:p>
            <a:r>
              <a:rPr lang="en-US" dirty="0"/>
              <a:t>Ask: You edit students.json in the project folder, but the app still shows the old data. Which copy option did you choose?</a:t>
            </a:r>
          </a:p>
          <a:p>
            <a:r>
              <a:rPr lang="en-US" dirty="0"/>
              <a:t>Clicks: 1: the build output folder, without the file · 2: reading a relative path · 3: where .NET looks: not there · 4: the fix in Visual Studio · 5: or in the .csproj · 6: after the build: copied next to the exe · 7: the three options · 8: important: build the path from the app folder.</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Directory is a static class: no object to create, you call its methods directly. Exists asks a yes/no question. CreateDirectory creates the folder, and every missing parent folder on the way. Delete removes a folder; it throws if the folder is not empty unless you pass recursive: true. GetFiles and GetDirectories list what is inside, as full paths. One detail students always ask about: calling CreateDirectory on a folder that already exists is NOT an error. It simply does nothing. So you can call it every time your app starts.</a:t>
            </a:r>
          </a:p>
          <a:p>
            <a:r>
              <a:rPr lang="en-US" dirty="0"/>
              <a:t>Ask: Why is it useful that CreateDirectory does not throw when the folder already exists?</a:t>
            </a:r>
          </a:p>
          <a:p>
            <a:r>
              <a:rPr lang="en-US" dirty="0"/>
              <a:t>Clicks: 1: the methods · 2: create the Data folder, twice · 3: no error the second time.</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complete example. We create a Demo folder, a Reports sub-folder and two files, list them with GetFiles and GetDirectories, and delete everything with Delete(path, recursive: true). Two notes for students: GetFiles returns full paths, so we use Path.GetFileName to print only the name; and the order of the results is not guaranteed, our run printed b.txt before a.txt. Without recursive: true, Delete throws IOException because the folder is not empty.</a:t>
            </a:r>
          </a:p>
          <a:p>
            <a:r>
              <a:rPr lang="en-US" dirty="0"/>
              <a:t>Ask: What happens if we call Directory.Delete(folderPath) without recursive: true here?</a:t>
            </a:r>
          </a:p>
          <a:p>
            <a:r>
              <a:rPr lang="en-US" dirty="0"/>
              <a:t>Clicks: 1: the code · 2: the real output · 3: order not guaranteed · 4: deleting a full folder.</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File is the static helper for whole files. Each method opens the file, does one job, and closes it again. Exists asks a question. WriteAllText creates the file or OVERWRITES it completely. AppendAllText adds to the end, and creates the file if it is missing. ReadAllText reads everything into one string; ReadAllLines gives an array of lines; WriteAllLines writes many lines at once. Copy, Move and Delete work like in Explorer. These are perfect for small files. For big files we will need streams, in session 2.</a:t>
            </a:r>
          </a:p>
          <a:p>
            <a:r>
              <a:rPr lang="en-US" dirty="0"/>
              <a:t>Ask: Which method would you use to add one line to a log file every time the app starts?</a:t>
            </a:r>
          </a:p>
          <a:p>
            <a:r>
              <a:rPr lang="en-US" dirty="0"/>
              <a:t>Clicks: 1: the header · 2: exists · 3: write · append · read · 4: lines · 5: copy · move · delete.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practical example. Path.Combine builds the path, Path.GetDirectoryName gives the Data folder and CreateDirectory makes sure it exists. WriteAllText writes Hello World: the file is created. AppendAllText adds a new line and Welcome! at the END, keeping what was there. Then ReadAllText reads it back and Exists says True. Last, a second WriteAllText: everything that was in the file is gone and replaced. Watch the file on the right change after each call. This is the classic bug: using WriteAllText for a log file wipes the old entries.</a:t>
            </a:r>
          </a:p>
          <a:p>
            <a:r>
              <a:rPr lang="en-US" dirty="0"/>
              <a:t>Ask: You want to keep a history of every login. WriteAllText or AppendAllText?</a:t>
            </a:r>
          </a:p>
          <a:p>
            <a:r>
              <a:rPr lang="en-US" dirty="0"/>
              <a:t>Clicks: 1: the code · 2: WriteAllText: the file is created · 3: AppendAllText: added at the end · 4: WriteAllText again: replaced · 5: the real output · 6: the rule.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write a whole file, and both OVERWRITE a file that exists and create one that is missing. The difference is the newline. WriteAllLines takes an array and writes EACH item on its OWN line: it adds a newline after every item, even the last. WriteAllText takes ONE string and writes it exactly as it is: it adds nothing. So "Ahmed" + "Sara" becomes AhmedSara on one line. Our run: the first file is Ahmed newline Sara newline, ReadAllLines gives 2 items; the second is AhmedSara, ReadAllLines gives 1. If you want lines with WriteAllText, you write the newline yourself. The newline is Environment.NewLine: \r\n on Windows, \n on Linux and macOS.</a:t>
            </a:r>
          </a:p>
          <a:p>
            <a:r>
              <a:rPr lang="en-US" dirty="0"/>
              <a:t>Ask: File.WriteAllText(path, "Ali" + "Mona") then File.ReadAllLines(path).Length. What is printed?</a:t>
            </a:r>
          </a:p>
          <a:p>
            <a:r>
              <a:rPr lang="en-US" dirty="0"/>
              <a:t>Clicks: 1: the code · 2: WriteAllLines: each item on its own line · 3: WriteAllText: nothing added · 4: the real output · 5: what is the same · 6: lines by hand · 7: which newline · 8: the rule.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WriteAllLines writes an array, one item per line; ReadAllLines gives the array back. Copy makes a second file and keeps the original; overwrite: true allows replacing an existing target, otherwise Copy throws if the target exists. Move is a rename: after it, the old name no longer exists. Delete removes the file, and deleting a file that is already gone is NOT an error. It only throws DirectoryNotFoundException if the folder itself is missing. Our run printed exactly what you see on the right.</a:t>
            </a:r>
          </a:p>
          <a:p>
            <a:r>
              <a:rPr lang="en-US" dirty="0"/>
              <a:t>Ask: After File.Move(backup, moved), does backup still exist? And after File.Copy?</a:t>
            </a:r>
          </a:p>
          <a:p>
            <a:r>
              <a:rPr lang="en-US" dirty="0"/>
              <a:t>Clicks: 1: the code · 2: the real output · 3: copy vs move · 4: deleting twice · 5: overwrite: true.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Copy and Move have a third parameter, overwrite. It answers one question: the TARGET file already exists, may I replace it? The default is false, so File.Copy(names, backup) is exactly File.Copy(names, backup, overwrite: false). Here names.bak already holds OLD backup. With overwrite: false, .NET refuses and throws IOException: The file names.bak already exists. Nothing changes, the old backup is safe. This default protects you from losing a file by mistake. With overwrite: true, names.bak is replaced and now holds NEW data; the old content is lost, and names.txt is still there because it is a copy. Move works the same way, but after it the source is gone. If the SOURCE is missing, you get FileNotFoundException whatever the flag is. All of this is the real output of example 19.</a:t>
            </a:r>
          </a:p>
          <a:p>
            <a:r>
              <a:rPr lang="en-US" dirty="0"/>
              <a:t>Ask: File.Move(a, b) and b already exists. What happens? And with overwrite: true, does a still exist?</a:t>
            </a:r>
          </a:p>
          <a:p>
            <a:r>
              <a:rPr lang="en-US" dirty="0"/>
              <a:t>Clicks: 1: the code · 2: before: both files exist · 3: overwrite: false → refused · 4: overwrite: true → replaced · 5: the real output · 6: the rule.</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Files live outside your program, so things go wrong that your code cannot prevent. The file is missing, the folder is missing, you have no permission, another program has the file open, or the JSON inside is broken. The left code checks File.Exists first and then reads. That is NOT a guarantee: between the two lines another program can delete or lock the file, so the read can still throw. The right code just tries, and catches the specific exceptions. Order matters: FileNotFoundException and DirectoryNotFoundException are IOExceptions, so they must come before IOException. Our run printed "File is missing".</a:t>
            </a:r>
          </a:p>
          <a:p>
            <a:r>
              <a:rPr lang="en-US" dirty="0"/>
              <a:t>Ask: Why must catch (IOException) come after catch (FileNotFoundException)?</a:t>
            </a:r>
          </a:p>
          <a:p>
            <a:r>
              <a:rPr lang="en-US" dirty="0"/>
              <a:t>Clicks: 1: the exceptions · 2: don't: check, then read · 3: do: try and catch the specific ones.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Streams, Buffering &amp; Disposal. The most important idea of the module: data as a flow of bytes.</a:t>
            </a:r>
          </a:p>
          <a:p>
            <a:r>
              <a:rPr lang="en-US" dirty="0"/>
              <a:t>Topics: bytes &amp; encoding  ·  position  ·  buffering  ·  FileStream  ·  Seek  ·  FileShare  ·  Reader / Writer  ·  using</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common question: does WriteAllText send 140 MB to the disk in one shot? No. We traced the real calls the program makes to the operating system: WriteAllText sent the file as 17,090 writes of 8 KB each, and ReadAllText read it as about 34,000 reads of 4 KB. So the disk always gets small chunks. The problem is somewhere else: before the first chunk is written, the WHOLE text must already be one string in memory, and after the last chunk is read, the whole file IS one string in memory. In .NET a char is 2 bytes, so a 140 MB text file becomes a 280 MB string, plus the copies made while building it. Our measurements: WriteAllText peaked at 632 MB of memory, a StreamWriter writing line by line at 170 MB; ReadAllText peaked at 596 MB, File.ReadLines at 170 MB. The same applies to WriteAllLines with an array, ReadAllLines and ReadAllBytes. Small files: no problem, use them. Big or growing files: stream.</a:t>
            </a:r>
          </a:p>
          <a:p>
            <a:r>
              <a:rPr lang="en-US" dirty="0"/>
              <a:t>Ask: A 2 GB log file and File.ReadAllText. Will it be written or read in one shot? Where is the real problem?</a:t>
            </a:r>
          </a:p>
          <a:p>
            <a:r>
              <a:rPr lang="en-US" dirty="0"/>
              <a:t>Clicks: 1: the code · 2: first: the whole text in memory · 3: then: small chunks to the disk · 4: what we measured · 5: not all at once · 6: but all in memory · 7: the fix · 8: the rule.</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stream is a sequence of bytes that you can read from or write to, one piece after another. A byte is a number from 0 to 255. A file, a network answer or a block of memory is just bytes. Text is not bytes: you need an ENCODING to turn characters into bytes and back. With UTF-8, H is 72 and i is 105, one byte each. Some characters need more: é takes two bytes, so "Café" is 4 letters but 5 bytes, and Arabic letters take two bytes each too. Use the same encoding to read as was used to write, or you get garbage. Reading takes bytes out of a stream, writing puts bytes in. We ran this example: 72 105, 2 bytes, 5 bytes, and back to Hi.</a:t>
            </a:r>
          </a:p>
          <a:p>
            <a:r>
              <a:rPr lang="en-US" dirty="0"/>
              <a:t>Ask: Why can the same text have a different number of bytes in different encodings?</a:t>
            </a:r>
          </a:p>
          <a:p>
            <a:r>
              <a:rPr lang="en-US" dirty="0"/>
              <a:t>Clicks: 1: text → bytes, in code · 2: H = 72, i = 105 · 3: é needs 2 bytes · 4: the real output · 5: read vs write.</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stream is a sequence of bytes plus a Position: where the next read starts. ReadAsync copies the next bytes into your buffer, moves Position forward, and returns HOW MANY bytes it copied. That count can be smaller than the buffer (the last read gives 1 byte here), and 0 means the end of the stream. So always use the returned count, never buffer.Length. This is the loop every streaming API runs for you underneath.</a:t>
            </a:r>
          </a:p>
          <a:p>
            <a:r>
              <a:rPr lang="en-US" dirty="0"/>
              <a:t>Ask: Why must GetString use read and not buffer.Length on the last read?</a:t>
            </a:r>
          </a:p>
          <a:p>
            <a:r>
              <a:rPr lang="en-US" dirty="0"/>
              <a:t>Clicks: 1: open the stream: Length 9, Position 0 · 2: first read: 4 bytes, Position 4 · 3: second read: 4 bytes, Position 8 · 4: third read: only 1 byte left · 5: ReadAsync returns 0: end of the stream.</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most important idea of the part. A 2 GB log does not fit comfortably in memory. A stream never asks for the whole file: it reads the next small piece (here 4 KB) into a buffer, your code processes that piece, and the buffer is reused for the next one. Watch the chunks: memory used stays at 4 KB whether the file is 2 MB or 2 GB, and your code starts working on the first chunk immediately instead of waiting for the whole file. ReadAllText does the opposite: it loads all 2 GB first, and may die with OutOfMemoryException. Videos, downloads and HTTP bodies all work the same way.</a:t>
            </a:r>
          </a:p>
          <a:p>
            <a:r>
              <a:rPr lang="en-US" dirty="0"/>
              <a:t>Ask: Netflix does not download the whole movie before it starts playing. Why not?</a:t>
            </a:r>
          </a:p>
          <a:p>
            <a:r>
              <a:rPr lang="en-US" dirty="0"/>
              <a:t>Clicks: 1: chunk 1: read into the buffer, processed, buffer reused · 2: chunks 2 and 3: memory does not grow · 3: ReadAllText instead: the whole file in memory · 4: the rule.</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FileStream is the stream over a file. Three things decide how it opens. FileMode: what to do if the file exists or not: Open needs it, Create makes a new one and wipes an old one, OpenOrCreate opens or creates, Append writes at the end. FileAccess: what you may do: Read, Write or ReadWrite; CanRead and CanWrite reflect it. FileShare: what OTHER openers may do while you hold the file; None means nobody else. Length is the size in bytes, Position is where the next read or write happens, Seek moves Position. Do not memorize every enum value; understand what each one changes. Our run: 5, True, True.</a:t>
            </a:r>
          </a:p>
          <a:p>
            <a:r>
              <a:rPr lang="en-US" dirty="0"/>
              <a:t>Ask: You open a file with FileAccess.Read and call Write. What do you expect?</a:t>
            </a:r>
          </a:p>
          <a:p>
            <a:r>
              <a:rPr lang="en-US" dirty="0"/>
              <a:t>Clicks: 1: open a FileStream · 2: the real output · 3: FileMode · 4: FileAccess · 5: FileShare · 6: Length · Position · Seek().</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Every stream has a Position: the index of the next byte to read or write. We write HELLO: five bytes, and Position ends at 5, the end. Reading now would give nothing. Seek(0, SeekOrigin.Begin) jumps back to the start. ReadByte reads H and moves Position to 1. Seek(-2, SeekOrigin.End) jumps two bytes before the end, index 3; ReadByte reads L and Position becomes 4. Watch the arrow move. Not every stream can seek: a network stream cannot go back, check CanSeek. These are the real values from our run.</a:t>
            </a:r>
          </a:p>
          <a:p>
            <a:r>
              <a:rPr lang="en-US" dirty="0"/>
              <a:t>Ask: After writing, why must we Seek before reading what we just wrote?</a:t>
            </a:r>
          </a:p>
          <a:p>
            <a:r>
              <a:rPr lang="en-US" dirty="0"/>
              <a:t>Clicks: 1: the code · 2: after writing HELLO: Position = 5 · 3: Seek(0, Begin) → Position 0 · 4: ReadByte → 'H', Position 1 · 5: Seek(-2, End) → Position 3 · 6: ReadByte → 'L', Position 4 · 7: the real output · 8: CanSeek.</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first stream opens report.txt with FileShare.None: while it is open, nobody else may open the file, not even to read. The second open fails with IOException: the process cannot access the file because it is being used by another process. You have seen this message when Word has a document open. FileShare.Read would allow other readers. This is also why a stream you forget to dispose can block the file for everyone else, the topic of the next slides. Our run printed exactly this IOException.</a:t>
            </a:r>
          </a:p>
          <a:p>
            <a:r>
              <a:rPr lang="en-US" dirty="0"/>
              <a:t>Ask: A log viewer must read the log while the app keeps writing it. Which FileShare does the writer need?</a:t>
            </a:r>
          </a:p>
          <a:p>
            <a:r>
              <a:rPr lang="en-US" dirty="0"/>
              <a:t>Clicks: 1: first open: FileShare.None · 2: the second open fails · 3: the share options.</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We learned that FileStream works with bytes. But imagine writing employee names to a text file: does it make sense to convert every string to bytes yourself? No. That is why we have StreamWriter for writing text and StreamReader for reading it. Look at the example and what happens: one, it opens the file, and creates it if it is missing. Two, if it exists, it EMPTIES the old content by default: in our run the file had 48 bytes of old text, after the writer it had exactly 16 bytes, Ahmed, Sara, Omar. Three, it turns your strings into bytes with an Encoding, UTF-8 by default. Four, it writes the bytes through the FileStream under it, using a buffer. Five, when the writer is closed, Dispose flushes what is left in the buffer and frees the file. Write versus WriteLine: Write adds nothing, so Ahmed then Sara is AhmedSara; WriteLine adds an end of line after each string.</a:t>
            </a:r>
          </a:p>
          <a:p>
            <a:r>
              <a:rPr lang="en-US" dirty="0"/>
              <a:t>Ask: The file employees.txt already has 100 names. We open a new StreamWriter on it and write one name. How many names now?</a:t>
            </a:r>
          </a:p>
          <a:p>
            <a:r>
              <a:rPr lang="en-US" dirty="0"/>
              <a:t>Clicks: 1: why not FileStream? · 2: the code · 3: open or create · 4: exists → emptied · 5: text → bytes · 6: through the FileStream · 7: the layers, top to bottom · 8: dispose → flush · 9: Write: nothing added · 10: WriteLine: end of line after each.</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Now we read the same file. The using line opens the file for reading as text. reader.ReadLine reads the NEXT line and returns it as a string, without the end of line. Watch the arrow on the file: the first call returns Ahmed, the second Sara, the third Omar, and the fourth returns null: that means we reached the end of the file. That is why the loop is while line equals ReadLine is not null: as long as there is a line, keep reading. Important: an empty line returns an empty string, not null, so the loop does NOT stop there. Our run on a file with Ahmed, an empty line, and Omar printed three lines, the second one empty. And the layers in reverse: the FileStream reads bytes from the disk, the StreamReader decodes them back into text, and your code gets strings.</a:t>
            </a:r>
          </a:p>
          <a:p>
            <a:r>
              <a:rPr lang="en-US" dirty="0"/>
              <a:t>Ask: A file has 5 lines and line 3 is empty. How many times does the loop body run?</a:t>
            </a:r>
          </a:p>
          <a:p>
            <a:r>
              <a:rPr lang="en-US" dirty="0"/>
              <a:t>Clicks: 1: the code · 2: the file · 3: call 1 · 4: call 2 · 5: call 3 · 6: call 4: null, end of file · 7: why != null · 8: an empty line is "" · 9: the layers in reverse.</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kinds of things. Memory: the GC collects it automatically, some time later, you do nothing. An OS resource, like a file handle, a database connection or a network socket, is different: the GC does not know when you finished with it, so YOU must free it manually by calling Dispose. For a StreamWriter, Dispose does two things: first Flush, it pushes what is left in the buffer to the underlying stream, so it reaches the disk; then it closes the file and releases the file handle. Without Dispose: the data stays in the buffer, our run showed 0 bytes on disk, and 14 bytes only after Dispose; the handle stays open, so the file can stay locked and other code gets IOException; and under load the app leaks handles. And Dispose is different for each type: a SqlConnection goes back to the connection pool, a DbContext releases its connection and its tracked entities, an HttpResponseMessage frees the network connection.</a:t>
            </a:r>
          </a:p>
          <a:p>
            <a:r>
              <a:rPr lang="en-US" dirty="0"/>
              <a:t>Ask: Your API opens a SqlConnection per request and never disposes it. What happens after a few hundred requests?</a:t>
            </a:r>
          </a:p>
          <a:p>
            <a:r>
              <a:rPr lang="en-US" dirty="0"/>
              <a:t>Clicks: 1: memory: the GC · 2: OS resource: you · 3: what Dispose does · 4: without Dispose · 5: different for each type.</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Remember "What a Process Owns" from Part 1: memory, threads, and HANDLES. When you open a file, the OS gives your process a handle and may lock the file. The garbage collector only manages memory, and only "some time later": it does not know that a file is locked. We ran this: while the FileStream is open, a second read fails with "being used by another process". After Dispose the handle goes back to the OS and the read works. IDisposable is the contract for "I hold something that must be released on time".</a:t>
            </a:r>
          </a:p>
          <a:p>
            <a:r>
              <a:rPr lang="en-US" dirty="0"/>
              <a:t>Ask: Your app opens a log without disposing it, 1,000 times. What runs out first?</a:t>
            </a:r>
          </a:p>
          <a:p>
            <a:r>
              <a:rPr lang="en-US" dirty="0"/>
              <a:t>Clicks: 1: a process owns memory and handles · 2: open the file: a handle, the file is locked · 3: Dispose: the handle goes back · 4: the GC is not enough · 5: IDisposable · 6: the rule.</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StreamWriter does not write to the disk on every call. It collects text in a BUFFER in memory and writes it in bigger pieces, which is much faster. If you never dispose the writer, the last text can stay in the buffer: here the file is 0 bytes on disk even after WriteLine. Dispose flushes the buffer to the disk and closes the file handle; now the file has 15 bytes: "Important data" plus the new line. If the program crashed before Dispose, that text would be lost. These numbers are from our run.</a:t>
            </a:r>
          </a:p>
          <a:p>
            <a:r>
              <a:rPr lang="en-US" dirty="0"/>
              <a:t>Ask: Your app writes an order, then crashes before Dispose. What is in the file?</a:t>
            </a:r>
          </a:p>
          <a:p>
            <a:r>
              <a:rPr lang="en-US" dirty="0"/>
              <a:t>Clicks: 1: write without dispose · 2: the text waits in a buffer · 3: Dispose flushes it · 4: the real output · 5: the rule.</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using guarantees Dispose, even if an exception is thrown in the middle. The traditional using statement disposes at the closing brace of its block. The using declaration, without braces, disposes at the end of the scope that contains it, usually the end of the method. new() is target-typed new: shorter syntax to create the object, the type is taken from the left side; it changes nothing about disposal. await using is for streams that support asynchronous disposal: DisposeAsync flushes and closes without blocking a thread; useAsync: true asks the OS for real async I/O. Disposal matters because streams hold OS resources: file handles.</a:t>
            </a:r>
          </a:p>
          <a:p>
            <a:r>
              <a:rPr lang="en-US" dirty="0"/>
              <a:t>Ask: In the declaration form, when exactly is the reader disposed?</a:t>
            </a:r>
          </a:p>
          <a:p>
            <a:r>
              <a:rPr lang="en-US" dirty="0"/>
              <a:t>Clicks: 1: traditional statement · 2: declaration · 3: target-typed new · 4: await using · 5: key points.</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JSON &amp; Serialization. Turn C# objects into text you can store, and back.</a:t>
            </a:r>
          </a:p>
          <a:p>
            <a:r>
              <a:rPr lang="en-US" dirty="0"/>
              <a:t>Topics: JSON syntax  ·  serialize  ·  deserialize  ·  lists  ·  options  ·  errors  ·  streams</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Before serialization, JSON itself. JSON is a text format for structured data, readable by humans and by every programming language. Curly braces are an object: a set of key-value pairs. Square brackets are an array: an ordered list. Keys are always strings in double quotes. Values can be a string, a number, true or false, null, another object or an array, so objects can be nested. It looks like a C# object, but it is only TEXT: no types, no methods. That is why APIs send JSON over the network and apps keep settings in JSON files like appsettings.json.</a:t>
            </a:r>
          </a:p>
          <a:p>
            <a:r>
              <a:rPr lang="en-US" dirty="0"/>
              <a:t>Ask: Which part of this JSON would become a List&lt;string&gt; in C#?</a:t>
            </a:r>
          </a:p>
          <a:p>
            <a:r>
              <a:rPr lang="en-US" dirty="0"/>
              <a:t>Clicks: 1: a JSON document · 2: { }  OBJECT · 3: "key": value · 4: VALUE TYPES · 5: [ ]  ARRAY · 6: NESTED · 7: JSON vs C#, and why it is everywhere.</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 object lives in the memory of one process: references, fields, layout. It cannot be written to a file or sent over the network as it is. Serialization turns it into a format made of plain characters or bytes, today almost always JSON. That text can go to a file, an HTTP response, a cache or a queue. Deserialization reads the text and builds a NEW object with the same data. We checked it: the copy is equal to the original (same values) but it is not the same object.</a:t>
            </a:r>
          </a:p>
          <a:p>
            <a:r>
              <a:rPr lang="en-US" dirty="0"/>
              <a:t>Ask: When your browser calls an API, which side serializes and which side deserializes?</a:t>
            </a:r>
          </a:p>
          <a:p>
            <a:r>
              <a:rPr lang="en-US" dirty="0"/>
              <a:t>Clicks: 1: an object exists only in RAM · 2: serialize: object → JSON text · 3: text can go anywhere · 4: deserialize: text → a new object · 5: the rule.</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System.Text.Json is built into .NET. Serialize takes an object and returns JSON text; WriteIndented = true adds line breaks and spaces so humans can read it. Deserialize&lt;Employee&gt; goes the other way. The generic type argument, the Employee in angle brackets, tells the serializer WHICH class to create, because the text itself has no type. The result is Employee? because the JSON could be the literal null, and then you get null back: our run proves it. The property names in the JSON are the C# names, Id, Name, Salary, by default.</a:t>
            </a:r>
          </a:p>
          <a:p>
            <a:r>
              <a:rPr lang="en-US" dirty="0"/>
              <a:t>Ask: What would Deserialize&lt;Employee&gt; return for the text "null"?</a:t>
            </a:r>
          </a:p>
          <a:p>
            <a:r>
              <a:rPr lang="en-US" dirty="0"/>
              <a:t>Clicks: 1: the model · 2: serialize, then deserialize · 3: the real output · 4: the generic type argument · 5: why the result is nullable.</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list serializes to a JSON array. We write it to employees.json with File.WriteAllText, read it back with ReadAllText, and Deserialize&lt;List&lt;Employee&gt;&gt;. Deserialize can return null, so ?? new List&lt;Employee&gt;() gives us an empty list instead of null: the rest of the code never has to check. This is exactly the save and load pair of the final project. Our run printed both employees back from the file.</a:t>
            </a:r>
          </a:p>
          <a:p>
            <a:r>
              <a:rPr lang="en-US" dirty="0"/>
              <a:t>Ask: What does the file contain if the list is empty?</a:t>
            </a:r>
          </a:p>
          <a:p>
            <a:r>
              <a:rPr lang="en-US" dirty="0"/>
              <a:t>Clicks: 1: save the list · 2: the file: a JSON array · 3: load it back · 4: the real output.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Options change how names and formatting work. WriteIndented makes the output readable. By default, matching is case-sensitive: an API that sends "name" in lowercase does NOT fill a property called Name, and you silently get an empty string. PropertyNameCaseInsensitive = true fixes that: our run shows Name empty without the option and Mona with it. [JsonPropertyName] renames one property in the JSON, for example product_name for a C# property called Name. Create the options object once and reuse it.</a:t>
            </a:r>
          </a:p>
          <a:p>
            <a:r>
              <a:rPr lang="en-US" dirty="0"/>
              <a:t>Ask: An API sends "full_name". Which of the two tools do you use?</a:t>
            </a:r>
          </a:p>
          <a:p>
            <a:r>
              <a:rPr lang="en-US" dirty="0"/>
              <a:t>Clicks: 1: the three tools · 2: lowercase JSON from an API · 3: renaming one property · 4: the real output.</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Final Project. Employee Management: a console app that keeps employees in a JSON file.</a:t>
            </a:r>
          </a:p>
          <a:p>
            <a:r>
              <a:rPr lang="en-US" dirty="0"/>
              <a:t>Topics: structure  ·  model  ·  service  ·  CRUD flow  ·  menu  ·  checklist</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goal: a console application that keeps employee records in a JSON file instead of a database. Everything from the three sessions is used: paths with AppContext.BaseDirectory, Directory.CreateDirectory, File read and write, JSON serialization and error handling. The structure separates responsibilities: Program.cs is only the menu, Models/Employee.cs is the data, Services/EmployeeService.cs does the work, and Data/employees.json is the storage. The complete, tested project comes with these slides.</a:t>
            </a:r>
          </a:p>
          <a:p>
            <a:r>
              <a:rPr lang="en-US" dirty="0"/>
              <a:t>Ask: Why do we keep the file code in a service and not inside the menu switch?</a:t>
            </a:r>
          </a:p>
          <a:p>
            <a:r>
              <a:rPr lang="en-US" dirty="0"/>
              <a:t>Clicks: 1: the structure · 2: the model · 3: the menu · 4: the goal.</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Every menu option follows the same path. The menu calls a method on EmployeeService. The service reads employees.json and deserializes it into a List&lt;Employee&gt;. The operation happens in memory, on the list. Then, ONLY for Add, Update and Delete, the service serializes the list and writes it back to employees.json. Get by ID, Get all and Search only read: they never write the file. The table shows each method of the service and its one job.</a:t>
            </a:r>
          </a:p>
          <a:p>
            <a:r>
              <a:rPr lang="en-US" dirty="0"/>
              <a:t>Ask: Search runs 100 times in a row. How many times is employees.json written?</a:t>
            </a:r>
          </a:p>
          <a:p>
            <a:r>
              <a:rPr lang="en-US" dirty="0"/>
              <a:t>Clicks: 1: the menu · 2: EmployeeService · 3: Read &amp; Deserialize · 4: Operation in memory · 5: Serialize &amp; Save · 6: only for changes · 7: the service methods.</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constructor runs once at start-up: CreateDirectory makes the Data folder if it is missing, and if employees.json does not exist we save an empty list, so the file always starts as a valid empty array. GetAll reads the text, treats an empty file as no employees, and turns invalid JSON into a clear error message instead of a crash deep in the code. Save writes to a temporary file first and then moves it over the real one: if the app crashes in the middle of writing, the old employees.json is still intact. One options object is shared.</a:t>
            </a:r>
          </a:p>
          <a:p>
            <a:r>
              <a:rPr lang="en-US" dirty="0"/>
              <a:t>Ask: Why write to employees.json.tmp first instead of straight to employees.json?</a:t>
            </a:r>
          </a:p>
          <a:p>
            <a:r>
              <a:rPr lang="en-US" dirty="0"/>
              <a:t>Clicks: 1: the constructor: folder and empty file.</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Every method starts with GetAll, works on the list in memory, and only the changing methods end with Save. Add validates the employee and refuses a duplicate Id with a clear message. GetById and SearchByName are pure reads: no Save. Update finds the index of the same Id and replaces the record; Delete uses RemoveAll. Both return false when nothing matched, so the menu can print Not found. Validate keeps bad data out of the file: a positive Id, a name, no negative salary.</a:t>
            </a:r>
          </a:p>
          <a:p>
            <a:r>
              <a:rPr lang="en-US" dirty="0"/>
              <a:t>Ask: What would happen if Add forgot to call Save?</a:t>
            </a:r>
          </a:p>
          <a:p>
            <a:r>
              <a:rPr lang="en-US" dirty="0"/>
              <a:t>Clicks: 1: read methods, and Add · 2: Update and Delete.</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Program.cs builds the path with AppContext.BaseDirectory, creates the service once, and loops: print the menu, read a choice, call the service. The try/catch around the switch catches the errors we expect, validation, duplicates, file and permission problems, prints a clear message and shows the menu again: the app never crashes on bad input. Small helpers like ReadInt keep asking until the user types a valid number.</a:t>
            </a:r>
          </a:p>
          <a:p>
            <a:r>
              <a:rPr lang="en-US" dirty="0"/>
              <a:t>Ask: Why catch only these exception types and not every Exception?</a:t>
            </a:r>
          </a:p>
          <a:p>
            <a:r>
              <a:rPr lang="en-US" dirty="0"/>
              <a:t>Clicks: 1: the menu loop.</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Part 11. We have written a lot of rules; now we prove they work, automatically, after every change. We learn every idea on small standalone classes first, then apply it in many labs on the real SwiftBite repository.</a:t>
            </a:r>
          </a:p>
          <a:p>
            <a:r>
              <a:rPr lang="en-US" dirty="0"/>
              <a:t>Ask: How do you know today that the code you wrote last week still works?</a:t>
            </a:r>
          </a:p>
          <a:p>
            <a:r>
              <a:rPr lang="en-US" dirty="0"/>
              <a:t>Clicks: 1: the topics of this part.</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Six steps. The concepts use small, independent classes that we show in full on every slide: a bank account, an email validator, a grade calculator, a transfer service. Only at the end do we switch to the course repository and write many real tests against the SwiftBite business layer.</a:t>
            </a:r>
          </a:p>
          <a:p>
            <a:r>
              <a:rPr lang="en-US" dirty="0"/>
              <a:t>Ask: Who has ever fixed one bug and created another one somewhere else?</a:t>
            </a:r>
          </a:p>
          <a:p>
            <a:r>
              <a:rPr lang="en-US" dirty="0"/>
              <a:t>Clicks: 1: why test · 2: xUnit · 3: testable code · 4: test doubles · 5: libraries and TDD · 6: the lab on the repo · 7: concepts first, the repo at the end.</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You change one line in a price calculation. To be sure nothing broke, you would have to run the app and click through every rule by hand: discounts, limits, error messages. Nobody does that after every change, so bugs slip through. A unit test is code that checks code: it runs every rule in seconds, the same way every time. The later a bug is found, the more it costs.</a:t>
            </a:r>
          </a:p>
          <a:p>
            <a:r>
              <a:rPr lang="en-US" dirty="0"/>
              <a:t>Ask: How long would it take you to re-check every rule of your last project by hand?</a:t>
            </a:r>
          </a:p>
          <a:p>
            <a:r>
              <a:rPr lang="en-US" dirty="0"/>
              <a:t>Clicks: 1: checking by hand · 2: automated tests · 3: the cost of a bug grows.</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 the left, the class under test: a small BankAccount. On the right, its first test. Every test has three parts. Arrange: build what you need. Act: call the ONE thing you test. Assert: check the result. [Fact] tells xUnit "this method is a test". The name says method, scenario and expected result, so a red test in the list already tells you what broke. Good tests are FIRST: fast, isolated, repeatable, self-checking, timely.</a:t>
            </a:r>
          </a:p>
          <a:p>
            <a:r>
              <a:rPr lang="en-US" dirty="0"/>
              <a:t>Ask: If this test fails, what does its name tell you before you even open it?</a:t>
            </a:r>
          </a:p>
          <a:p>
            <a:r>
              <a:rPr lang="en-US" dirty="0"/>
              <a:t>Clicks: 1: the class under test · 2: the test class · 3: [Fact]: this method is a test · 4: Arrange · 5: Act · 6: Assert · 7: FIRST.</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Most tests should be unit tests: they are fast and point exactly at the broken rule. Integration tests check that real pieces work together, for example our FileEmployeeRepository with a real file on the disk. A few end-to-end tests drive the whole app like a user. Higher tests catch wiring mistakes but are slower and harder to debug. Today is about the base.</a:t>
            </a:r>
          </a:p>
          <a:p>
            <a:r>
              <a:rPr lang="en-US" dirty="0"/>
              <a:t>Ask: Which level would test that a score of 84 gives a B?</a:t>
            </a:r>
          </a:p>
          <a:p>
            <a:r>
              <a:rPr lang="en-US" dirty="0"/>
              <a:t>Clicks: 1: unit tests: the base · 2: integration tests · 3: end-to-end tests · 4: many fast, few slow.</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Tests live in their own project next to the code, never inside it, so they are not shipped. The xunit template already contains xUnit, its runner and the test SDK. Reference the project you test, add the helper libraries, and dotnet test builds and runs everything. Our standalone examples live in Bank.Core; in the lab we do the same for the SwiftBite repo.</a:t>
            </a:r>
          </a:p>
          <a:p>
            <a:r>
              <a:rPr lang="en-US" dirty="0"/>
              <a:t>Ask: Why should the tests not live inside Bank.Core itself?</a:t>
            </a:r>
          </a:p>
          <a:p>
            <a:r>
              <a:rPr lang="en-US" dirty="0"/>
              <a:t>Clicks: 1: a separate tests folder · 2: create, reference, add packages · 3: what the template includes · 4: dotnet test: all green.</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Withdraw refuses a non-positive amount and refuses to go below zero. Assert.Throws&lt;T&gt; runs the lambda, fails the test if no exception (or another type) is thrown, and RETURNS the exception so we can check its message. A good failure test also checks that nothing changed: the balance is still 50. We pass a lambda because xUnit must call the code inside its own try/catch.</a:t>
            </a:r>
          </a:p>
          <a:p>
            <a:r>
              <a:rPr lang="en-US" dirty="0"/>
              <a:t>Ask: Why pass () =&gt; account.Withdraw(80m) and not call account.Withdraw(80m) directly?</a:t>
            </a:r>
          </a:p>
          <a:p>
            <a:r>
              <a:rPr lang="en-US" dirty="0"/>
              <a:t>Clicks: 1: the rule in the class · 2: Assert.Throws with a lambda · 3: what a failure looks like · 4: check the reason and the state · 5: async version.</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Fact is one fixed example and takes no parameters. A Theory is a test WITH parameters, and every InlineData row is one set of arguments. xUnit runs the method once per row and lists each row as its own test, so you see exactly which input failed. Adding a case is one line, not a new method. The class under test is on the left: a small email validator.</a:t>
            </a:r>
          </a:p>
          <a:p>
            <a:r>
              <a:rPr lang="en-US" dirty="0"/>
              <a:t>Ask: You find an email the validator gets wrong. What do you add to the tests?</a:t>
            </a:r>
          </a:p>
          <a:p>
            <a:r>
              <a:rPr lang="en-US" dirty="0"/>
              <a:t>Clicks: 1: the class under test · 2: [Fact]: one fixed example · 3: [Theory]: parameters + data rows · 4: each row becomes its own test.</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invalid inputs matter even more than the valid ones: each row is one way the validator could be fooled. A comment on every row says what it tests, so the next reader learns the rule from the tests. Each of these rows was run against the class on the previous slide: all six are rejected.</a:t>
            </a:r>
          </a:p>
          <a:p>
            <a:r>
              <a:rPr lang="en-US" dirty="0"/>
              <a:t>Ask: Which row would catch a validator that forgets to check for two @ signs?</a:t>
            </a:r>
          </a:p>
          <a:p>
            <a:r>
              <a:rPr lang="en-US" dirty="0"/>
              <a:t>Clicks: 1: the bad inputs · 2: six separate results · 3: think of every way to break it.</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row can hold several values: the input and the result you expect. The grade calculator turns a score into a letter. The rows pick the lowest and highest score of each grade: 85 is the lowest A, 84 the highest B. The second theory checks the out-of-range scores. One C# limit: attribute arguments must be constants, and decimal is not allowed in attributes (next slide).</a:t>
            </a:r>
          </a:p>
          <a:p>
            <a:r>
              <a:rPr lang="en-US" dirty="0"/>
              <a:t>Ask: A developer changes "&gt;= 85" to "&gt; 85". Which row turns red?</a:t>
            </a:r>
          </a:p>
          <a:p>
            <a:r>
              <a:rPr lang="en-US" dirty="0"/>
              <a:t>Clicks: 1: the class under test · 2: a row = input + expected · 3: the rows are a table of the rule.</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Prices are decimals, and decimal cannot appear in an attribute: [InlineData(99.90m)] does not compile. Put the rows in a static property and point the theory at it with MemberData(nameof(...)). TheoryData&lt;T1, T2&gt; is a typed list of rows, so the compiler checks every row. The interesting rows are 500 (exactly at the 50 EGP cap) and 1000 (above it). ClassData is the third option, for rows kept in a separate class.</a:t>
            </a:r>
          </a:p>
          <a:p>
            <a:r>
              <a:rPr lang="en-US" dirty="0"/>
              <a:t>Ask: Which row would fail if someone forgot the Math.Min cap?</a:t>
            </a:r>
          </a:p>
          <a:p>
            <a:r>
              <a:rPr lang="en-US" dirty="0"/>
              <a:t>Clicks: 1: the class under test · 2: decimal rows in TheoryData · 3: InlineData vs MemberData vs ClassData.</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Bugs live at the edges: &lt; instead of &lt;=, 60 included or not. For every limit, test the value just inside and just outside. A cinema charges children under 12 60 EGP, seniors from 60 80 EGP, everyone else 120 EGP. So the interesting ages are 11 and 12, 59 and 60, not 5, 30 and 70.</a:t>
            </a:r>
          </a:p>
          <a:p>
            <a:r>
              <a:rPr lang="en-US" dirty="0"/>
              <a:t>Ask: A developer changes "&lt; 12" to "&lt;= 12". Which row turns red?</a:t>
            </a:r>
          </a:p>
          <a:p>
            <a:r>
              <a:rPr lang="en-US" dirty="0"/>
              <a:t>Clicks: 1: the price bands · 2: the four boundary ages · 3: the class · 4: one row per boundary · 5: the rule.</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Everything from the async part applies to tests. The class is our FileEmployeeRepository from Part 10. An async void test cannot be awaited by the runner: the xUnit analyzer warns about it and xUnit v3 refuses it. .Result blocks and wraps exceptions. A test method can simply return Task, and xUnit awaits it.</a:t>
            </a:r>
          </a:p>
          <a:p>
            <a:r>
              <a:rPr lang="en-US" dirty="0"/>
              <a:t>Ask: Why is async void even worse in a test than in normal code?</a:t>
            </a:r>
          </a:p>
          <a:p>
            <a:r>
              <a:rPr lang="en-US" dirty="0"/>
              <a:t>Clicks: 1: don't code · 2: why it fails · 3: do code · 4: when to use it.</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xUnit creates a NEW instance of the test class for every single test. So the constructor is your setup and runs before each test, and if the class implements IDisposable, Dispose is your cleanup and runs after each test. Fields are never shared between tests, which keeps them isolated. Here each test gets its own temporary folder, deleted afterwards, the IDisposable pattern from Part 10. For something expensive that should be shared, xUnit has IClassFixture.</a:t>
            </a:r>
          </a:p>
          <a:p>
            <a:r>
              <a:rPr lang="en-US" dirty="0"/>
              <a:t>Ask: If test 1 adds Mona to a field list, does test 2 see her?</a:t>
            </a:r>
          </a:p>
          <a:p>
            <a:r>
              <a:rPr lang="en-US" dirty="0"/>
              <a:t>Clicks: 1: the test class · 2: one new instance per test · 3: isolated by design · 4: sharing something expensive.</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flaky test passes or fails without any code change. The Invoice class has two hidden traps. Number comes from a static counter shared by the whole test run: the first invoice is 1 only if no other test created one before, and xUnit runs test classes in parallel and in no fixed order. PaymentCode is random. The fix: assert facts RELATIVE to the objects, check the shape of random values, and never change static or global settings inside a test.</a:t>
            </a:r>
          </a:p>
          <a:p>
            <a:r>
              <a:rPr lang="en-US" dirty="0"/>
              <a:t>Ask: The suite passes alone, but fails on the build server. What do you suspect first?</a:t>
            </a:r>
          </a:p>
          <a:p>
            <a:r>
              <a:rPr lang="en-US" dirty="0"/>
              <a:t>Clicks: 1: don't code · 2: why it fails · 3: do code · 4: when to use it.</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If a class reads DateTime.Now itself, a test of "closed at 11 PM" only passes at night: the test is not wrong, the class hides an input. Give the class the time from outside. .NET 8 has TimeProvider for exactly this: production code passes TimeProvider.System, and the test passes a FakeTimeProvider (package Microsoft.Extensions.TimeProvider.Testing) that is frozen at any moment you like and can be moved forward with Advance. For a simple method, a DateTime parameter works too.</a:t>
            </a:r>
          </a:p>
          <a:p>
            <a:r>
              <a:rPr lang="en-US" dirty="0"/>
              <a:t>Ask: Which other hidden inputs make tests flaky the same way?</a:t>
            </a:r>
          </a:p>
          <a:p>
            <a:r>
              <a:rPr lang="en-US" dirty="0"/>
              <a:t>Clicks: 1: don't code · 2: why it fails · 3: do code · 4: when to use it.</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For the next slides we test one realistic service. TransferService moves money between two BankAccounts. To do that it needs three things it does not own: a repository to find and save accounts, an email sender, and a logger. It depends on INTERFACES for all three (the Dependency Inversion Principle), which is exactly what lets a test replace them.</a:t>
            </a:r>
          </a:p>
          <a:p>
            <a:r>
              <a:rPr lang="en-US" dirty="0"/>
              <a:t>Ask: What would happen if a test used the real email sender and the real database?</a:t>
            </a:r>
          </a:p>
          <a:p>
            <a:r>
              <a:rPr lang="en-US" dirty="0"/>
              <a:t>Clicks: 1: the three interfaces · 2: the service that uses them · 3: three places for doubles.</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production, TransferService talks to a real database and a real SMTP server. In a test we do not want to send real emails or need a database, and we want to CHECK that an email would have been sent. Because the service depends on interfaces, the test can pass in stand-ins, like a stunt double in a film.</a:t>
            </a:r>
          </a:p>
          <a:p>
            <a:r>
              <a:rPr lang="en-US" dirty="0"/>
              <a:t>Ask: Which SOLID principle makes this swap possible?</a:t>
            </a:r>
          </a:p>
          <a:p>
            <a:r>
              <a:rPr lang="en-US" dirty="0"/>
              <a:t>Clicks: 1: the class under test · 2: it depends on interfaces · 3: in production: database and SMTP · 4: in the test: doubles · 5: the rule.</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"Mock" is often used for all of them, but the five names say what the double is FOR. A dummy only fills a parameter. A stub returns canned answers. A fake is a real, simplified implementation. A spy records calls so the test can look at them afterwards. A mock is set up to verify the calls. Libraries like NSubstitute create all of them; the name depends on how the test uses it.</a:t>
            </a:r>
          </a:p>
          <a:p>
            <a:r>
              <a:rPr lang="en-US" dirty="0"/>
              <a:t>Ask: A double that always returns 48.5 as the exchange rate, never checked afterwards: which kind is it?</a:t>
            </a:r>
          </a:p>
          <a:p>
            <a:r>
              <a:rPr lang="en-US" dirty="0"/>
              <a:t>Clicks: 1: dummy · 2: stub · 3: fake · 4: spy · 5: mock · 6: the rule.</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Before any library: doubles are just classes that implement the interfaces. The fake repository keeps accounts in a Dictionary, a real working implementation. The spy stores every email in a list. The dummy logger does nothing. The test runs the REAL TransferService with them and then checks the balance in the fake and the email in the spy. We ran it: Mona 400, one email "You sent 100.00 EGP to ali@bank.eg."</a:t>
            </a:r>
          </a:p>
          <a:p>
            <a:r>
              <a:rPr lang="en-US" dirty="0"/>
              <a:t>Ask: What would Assert.Single report if the service sent two emails?</a:t>
            </a:r>
          </a:p>
          <a:p>
            <a:r>
              <a:rPr lang="en-US" dirty="0"/>
              <a:t>Clicks: 1: three hand-written doubles · 2: the real service, with the doubles.</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Substitute.For&lt;T&gt;() creates an object that implements the interface at runtime: no class to write. Returns stubs an answer: when the service asks Find("mona@bank.eg"), it gets our _mona account. Received checks a call afterwards; Arg.Is matches an argument with a condition. The substitutes are fields and the stubs are set in the constructor: xUnit builds a new test class for every test, so every test starts with fresh doubles.</a:t>
            </a:r>
          </a:p>
          <a:p>
            <a:r>
              <a:rPr lang="en-US" dirty="0"/>
              <a:t>Ask: Why check Contains("100.00") and not the whole email body?</a:t>
            </a:r>
          </a:p>
          <a:p>
            <a:r>
              <a:rPr lang="en-US" dirty="0"/>
              <a:t>Clicks: 1: substitutes and stubs, once per test · 2: the NSubstitute vocabulary.</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CurrencyConverter needs today's exchange rate from an IExchangeRates service, a web API in production. Its answer changes every minute, so a test cannot predict it. A stub returns exactly what the test says: 48.5. Now 10 USD must be 485 EGP, every run. The second test checks a shortcut: converting EGP to EGP must not even ask for a rate, so we verify it was never called.</a:t>
            </a:r>
          </a:p>
          <a:p>
            <a:r>
              <a:rPr lang="en-US" dirty="0"/>
              <a:t>Ask: Why not call the real exchange-rate API in the test?</a:t>
            </a:r>
          </a:p>
          <a:p>
            <a:r>
              <a:rPr lang="en-US" dirty="0"/>
              <a:t>Clicks: 1: the class and its dependency · 2: a stub with a canned rate.</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Some behaviour has no return value. ReceiptService must LOG a failed email and must NOT throw: a failed receipt must never cancel a payment. To test that path we make the double FAIL on purpose with When(...).Do(...). Then we check the logger received exactly one Error call. On the right: when the money is not enough, TransferService must save nothing and email nothing, so we use DidNotReceive.</a:t>
            </a:r>
          </a:p>
          <a:p>
            <a:r>
              <a:rPr lang="en-US" dirty="0"/>
              <a:t>Ask: How else could you test the "email failed" path without a double that throws?</a:t>
            </a:r>
          </a:p>
          <a:p>
            <a:r>
              <a:rPr lang="en-US" dirty="0"/>
              <a:t>Clicks: 1: the class: log, never throw · 2: make the email fail, check the log · 3: not enough money: nothing saved, nothing sent · 4: the vocabulary.</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Two ways to assert. State: look at the result. After a transfer of 100, Mona has 400 and Ali has 150. Interaction: look at the calls made to a double: an email was sent. State tests survive refactoring better because they do not care HOW the result was produced. Use interaction checks at the edges, where the only visible effect is a call: an email, a log, a message to another system.</a:t>
            </a:r>
          </a:p>
          <a:p>
            <a:r>
              <a:rPr lang="en-US" dirty="0"/>
              <a:t>Ask: Is "Ali now has 150" a state check or an interaction check?</a:t>
            </a:r>
          </a:p>
          <a:p>
            <a:r>
              <a:rPr lang="en-US" dirty="0"/>
              <a:t>Clicks: 1: state: the balances · 2: interaction: the email · 3: prefer state · 4: interaction at the edges.</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 over-mocked test checks HOW the code works instead of WHAT it achieves. Checking the exact log text breaks the day someone rewords it. Checking every Find and Save call breaks when the service is refactored to load both accounts in one call. These tests go red without any bug and teach the team to ignore red tests. Check the outcome: the balances and the email. Use real objects for real logic: BankAccount is fast and deterministic, never mock it.</a:t>
            </a:r>
          </a:p>
          <a:p>
            <a:r>
              <a:rPr lang="en-US" dirty="0"/>
              <a:t>Ask: A test breaks because "Transferred" became "Sent". Bug or noise?</a:t>
            </a:r>
          </a:p>
          <a:p>
            <a:r>
              <a:rPr lang="en-US" dirty="0"/>
              <a:t>Clicks: 1: don't code · 2: why it fails · 3: do code · 4: when to use it.</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same test, three libraries: the email to Mona must be sent once. NSubstitute reads like normal code: the substitute IS the interface. Moq is the one you will meet most in existing company code: you configure a Mock&lt;T&gt; and pass mock.Object. It had a controversy in 2023 when a version briefly shipped the SponsorLink email-hashing feature, later removed. FakeItEasy uses A.Fake and A.CallTo. Learn one well; reading the others takes minutes.</a:t>
            </a:r>
          </a:p>
          <a:p>
            <a:r>
              <a:rPr lang="en-US" dirty="0"/>
              <a:t>Ask: Your new company uses Moq. What changes in the test, and what stays the same?</a:t>
            </a:r>
          </a:p>
          <a:p>
            <a:r>
              <a:rPr lang="en-US" dirty="0"/>
              <a:t>Clicks: 1: NSubstitute · 2: Moq · 3: FakeItEasy · 4: the rule.</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xUnit Assert works, but Assert.Equal(expected, actual) is easy to write backwards, and its failure message shows only values. Shouldly turns asserts into extension methods: actual.ShouldBe(expected). When it fails it prints the EXPRESSION that failed, so the message alone tells you what broke. FluentAssertions, the other popular library, needs a paid license for commercial use since version 8 (January 2025); version 7 stays free. Shouldly is free and simple.</a:t>
            </a:r>
          </a:p>
          <a:p>
            <a:r>
              <a:rPr lang="en-US" dirty="0"/>
              <a:t>Ask: Assert.Equal(account.Balance, 150m): what is wrong with the order of the arguments?</a:t>
            </a:r>
          </a:p>
          <a:p>
            <a:r>
              <a:rPr lang="en-US" dirty="0"/>
              <a:t>Clicks: 1: xUnit vs Shouldly · 2: the xUnit failure message · 3: the Shouldly failure message · 4: FluentAssertions and its license.</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Hand-typed test data is always "Mona" with one phone number. Bogus generates realistic names, emails, phones and numbers, so one test can check a hundred valid inputs. RuleFor says how to fill each property. The format "010########" replaces every # with a digit. UseSeed makes the data identical on every run, so a red test can be reproduced. Here: every generated email must pass our EmailValidator, and every generated age must get a ticket price.</a:t>
            </a:r>
          </a:p>
          <a:p>
            <a:r>
              <a:rPr lang="en-US" dirty="0"/>
              <a:t>Ask: A Bogus-based test fails once in 200 runs. What is the first thing to add?</a:t>
            </a:r>
          </a:p>
          <a:p>
            <a:r>
              <a:rPr lang="en-US" dirty="0"/>
              <a:t>Clicks: 1: a plain class · 2: a Faker with rules, then tests · 3: realistic values · 4: always seed it · 5: AutoFixture.</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TDD flips the order: write a small failing test FIRST (red), so you know exactly what "done" means and that the test can fail. Then write the simplest code that makes it pass (green), even if it is not pretty. Then clean up the code and the test while every test stays green (refactor). Repeat in tiny steps. It shines for business rules with clear inputs and outputs, like SwiftBite's; it helps less for UI layout or exploratory spikes.</a:t>
            </a:r>
          </a:p>
          <a:p>
            <a:r>
              <a:rPr lang="en-US" dirty="0"/>
              <a:t>Ask: Why must you SEE the test fail before you make it pass?</a:t>
            </a:r>
          </a:p>
          <a:p>
            <a:r>
              <a:rPr lang="en-US" dirty="0"/>
              <a:t>Clicks: 1: red: a failing test first · 2: green: just enough code · 3: refactor: clean, still green · 4: when it fits.</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new requirement: 1 point for every full 10 EGP, and a 50-point bonus for purchases of 1,000 EGP or more. Red: write the theory first, with the boundaries 9/10 and 999/1000, before LoyaltyCalculator exists. It does not even compile: that counts as red. Green: the simplest code that passes. Refactor: the magic numbers become named constants, and every test stays green. We ran all five rows against the final class.</a:t>
            </a:r>
          </a:p>
          <a:p>
            <a:r>
              <a:rPr lang="en-US" dirty="0"/>
              <a:t>Ask: Which row proves the bonus starts at exactly 1,000 and not above?</a:t>
            </a:r>
          </a:p>
          <a:p>
            <a:r>
              <a:rPr lang="en-US" dirty="0"/>
              <a:t>Clicks: 1: red: the test first · 2: it does not even compile: red · 3: green: the simplest code · 4: refactor: named constants.</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Now everything comes together on real code: the SwiftBite business layer from the course repository. We clone it, add a test project next to src, and write many tests: value objects, the wallet, fee strategies, coupons, orders and services. Every slide shows the real class from the repository on the left and its tests on the right. The full test project comes with these slides: 61 tests.</a:t>
            </a:r>
          </a:p>
          <a:p>
            <a:r>
              <a:rPr lang="en-US" dirty="0"/>
              <a:t>Ask: Which part of SwiftBite would you test first if you had only one hour?</a:t>
            </a:r>
          </a:p>
          <a:p>
            <a:r>
              <a:rPr lang="en-US" dirty="0"/>
              <a:t>Clicks: 1: the repository and the new test project · 2: clone, create, reference, add packages · 3: how the lab slides work · 4: dotnet test.</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lab adds tests/SwiftBite.Business.Tests to the course repository and tests the real rules from the SRS. Every technique of this part is used at least once: Fact and Theory, InlineData, MemberData, boundaries, Throws with RuleId, a test data helper, a hand-written spy, NSubstitute stubs and mocks, Shouldly and Bogus. One folder per business area, mirroring src. The full project comes with these slides.</a:t>
            </a:r>
          </a:p>
          <a:p>
            <a:r>
              <a:rPr lang="en-US" dirty="0"/>
              <a:t>Ask: Which business area would you test first if you could pick only one, and why?</a:t>
            </a:r>
          </a:p>
          <a:p>
            <a:r>
              <a:rPr lang="en-US" dirty="0"/>
              <a:t>Clicks: 1: value objects and the wallet · 2: pricing and promotions · 3: orders and services · 4: Bogus and your turn: 61 tests.</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 Wallet. TopUp accepts 10 to 5000 EGP (BR-04) and Pay refuses more than the balance (BR-22). Guard.Against throws a DomainException that carries the rule id, so the tests check RuleId, not just "it threw". The theory covers both limits; the failure tests also check that the balance did not change.</a:t>
            </a:r>
          </a:p>
          <a:p>
            <a:r>
              <a:rPr lang="en-US" dirty="0"/>
              <a:t>Ask: Which row would catch a developer who wrote "amount &lt;= policy.MinTopUp"?</a:t>
            </a:r>
          </a:p>
          <a:p>
            <a:r>
              <a:rPr lang="en-US" dirty="0"/>
              <a:t>Clicks: 1: the real Wallet · 2: its tests.</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value object that validates itself with a regular expression: 11 digits starting with 010, 011, 012 or 015. Two theories: every valid prefix, and every way to be wrong. All nine rows were run against the real class.</a:t>
            </a:r>
          </a:p>
          <a:p>
            <a:r>
              <a:rPr lang="en-US" dirty="0"/>
              <a:t>Ask: Add a row for a number with a space in the middle. Valid or not?</a:t>
            </a:r>
          </a:p>
          <a:p>
            <a:r>
              <a:rPr lang="en-US" dirty="0"/>
              <a:t>Clicks: 1: the real value object · 2: valid and invalid theories.</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standard delivery fee: 15 EGP for the first 3 km, plus 4 EGP for every STARTED extra kilometer: Math.Ceiling. So 3.2 km costs 19, not 15.8. The theory turns the rule into a table. Expected fees are ints because decimal cannot be used in attributes.</a:t>
            </a:r>
          </a:p>
          <a:p>
            <a:r>
              <a:rPr lang="en-US" dirty="0"/>
              <a:t>Ask: Which row catches a developer who replaced Math.Ceiling with Math.Floor?</a:t>
            </a:r>
          </a:p>
          <a:p>
            <a:r>
              <a:rPr lang="en-US" dirty="0"/>
              <a:t>Clicks: 1: the real strategy · 2: the fee table as a theory.</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Coupon calculates a percentage discount capped at MaxDiscount, and EnsureValid refuses expired coupons and too-small orders. The discount rows need decimals, so they live in TheoryData. The message tests check the real text the customer sees: "Add 20.00 EGP more to use SAVE20."</a:t>
            </a:r>
          </a:p>
          <a:p>
            <a:r>
              <a:rPr lang="en-US" dirty="0"/>
              <a:t>Ask: The coupon code was created as "save20". Why does the test expect "SAVE20"?</a:t>
            </a:r>
          </a:p>
          <a:p>
            <a:r>
              <a:rPr lang="en-US" dirty="0"/>
              <a:t>Clicks: 1: the real Coupon rules · 2: MemberData rows and message checks.</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SwiftBite is testable by design: every rule that depends on time takes the time as a PARAMETER. IsPeakHour receives a DateTime; Driver.Create receives "today". So the tests can say "it is 19:00" or "today is 11 October" at any moment. Look at the birthday boundary: born 11 October 2008 is 18 today; born one day later is still 17.</a:t>
            </a:r>
          </a:p>
          <a:p>
            <a:r>
              <a:rPr lang="en-US" dirty="0"/>
              <a:t>Ask: Why does Driver.Create take "today" as a parameter instead of using DateTime.Today?</a:t>
            </a:r>
          </a:p>
          <a:p>
            <a:r>
              <a:rPr lang="en-US" dirty="0"/>
              <a:t>Clicks: 1: time comes in as a parameter · 2: boundary theories for hours and birthdays.</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calculator asks every strategy if it applies and takes the LOWEST fee. To test that rule alone, we replace the real strategies with NSubstitute stubs that answer exactly what we say. A third test checks that a strategy that does not apply is never asked for its fee.</a:t>
            </a:r>
          </a:p>
          <a:p>
            <a:r>
              <a:rPr lang="en-US" dirty="0"/>
              <a:t>Ask: Why are stubs better here than the three real strategies?</a:t>
            </a:r>
          </a:p>
          <a:p>
            <a:r>
              <a:rPr lang="en-US" dirty="0"/>
              <a:t>Clicks: 1: the real calculator · 2: stubbed strategies.</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SwiftBite objects protect their rules, so creating a valid order needs a restaurant that is open, a menu item, a customer with a valid mobile, an address in range and a payment method. Writing that in every test buries the one line that matters. A small static helper builds valid objects with clear defaults: Zooba, Mona, Home, an order for 2 Koshary at lunch, 151.80 EGP. Each test then changes only what it is about.</a:t>
            </a:r>
          </a:p>
          <a:p>
            <a:r>
              <a:rPr lang="en-US" dirty="0"/>
              <a:t>Ask: A test is about the wallet payment. Which part of OrderFor does it change?</a:t>
            </a:r>
          </a:p>
          <a:p>
            <a:r>
              <a:rPr lang="en-US" dirty="0"/>
              <a:t>Clicks: 1: a helper that builds valid objects · 2: the test stays short · 3: valid by default · 4: fresh objects.</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OrderService coordinates an order: build it, take the payment, notify the customer. Its notifications go through INotificationSender and its logs through ILogger, so the test uses NSubstitute for those two edges and REAL objects for everything else: the builder, the wallet, the order. Two tests: one checks the notification (interaction), one checks the wallet refund after a cancel (state). We ran the real flow: 500 − 151.80, then back to 500.</a:t>
            </a:r>
          </a:p>
          <a:p>
            <a:r>
              <a:rPr lang="en-US" dirty="0"/>
              <a:t>Ask: Which assertion is a state check, and which is an interaction check?</a:t>
            </a:r>
          </a:p>
          <a:p>
            <a:r>
              <a:rPr lang="en-US" dirty="0"/>
              <a:t>Clicks: 1: the real service · 2: mocks at the edges, real objects inside.</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 failed notification must be logged and must NOT stop the order. When no notifier is registered for the customer's channel, the service throws internally, catches it, and logs. The test checks both halves: no exception escapes, and the logger received one Error that names Mona. We ran it: "Could not notify Mona Ali", InvalidOperationException.</a:t>
            </a:r>
          </a:p>
          <a:p>
            <a:r>
              <a:rPr lang="en-US" dirty="0"/>
              <a:t>Ask: What would happen to the order flow if the catch block were removed?</a:t>
            </a:r>
          </a:p>
          <a:p>
            <a:r>
              <a:rPr lang="en-US" dirty="0"/>
              <a:t>Clicks: 1: the real service with its try/catch · 2: no exception, one logged error.</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 Order class protects its own status rules. An order moves Pending, Accepted, PickedUp, Delivered, and can only be cancelled while Pending. Each test walks the order to a state with the real objects and checks one rule. Note the right-code test: it reads order.DeliveryCode instead of guessing the random code, so it is never flaky.</a:t>
            </a:r>
          </a:p>
          <a:p>
            <a:r>
              <a:rPr lang="en-US" dirty="0"/>
              <a:t>Ask: Which transition is NOT tested yet? Write that test.</a:t>
            </a:r>
          </a:p>
          <a:p>
            <a:r>
              <a:rPr lang="en-US" dirty="0"/>
              <a:t>Clicks: 1: the real Order class · 2: Accepted → Cancel is refused: BR-24 · 3: the right code: Delivered · 4: the path.</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One theory drives the real OrderBuilder with all three fee strategies. Same order, two times of day. At 13:00 the standard fee applies: 15 EGP. At 20:00 the peak strategy applies: 15 × 1.3 = 19.5 EGP. VAT is 14 percent of the subtotal: 16.80. We ran both on the real code: 151.80 and 156.30. This test crosses several classes on purpose: a small integration test inside the unit-test project. Bottom right: the real PreviewPrice method it drives. The rows are doubles because decimal cannot appear in an attribute; we cast in the assert.</a:t>
            </a:r>
          </a:p>
          <a:p>
            <a:r>
              <a:rPr lang="en-US" dirty="0"/>
              <a:t>Ask: Add a row for 19:00 exactly. What total do you expect?</a:t>
            </a:r>
          </a:p>
          <a:p>
            <a:r>
              <a:rPr lang="en-US" dirty="0"/>
              <a:t>Clicks: 1: one theory, the real builder · 2: the price breakdown · 3: the real method under test.</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SwiftBite's Customer has a private constructor and validates everything in Customer.Create. So instead of RuleFor, Bogus uses CustomInstantiator to call the factory method: the real validation runs for every generated customer. Fifty realistic customers, all with valid 010 mobile numbers, the same fifty on every run thanks to the seed.</a:t>
            </a:r>
          </a:p>
          <a:p>
            <a:r>
              <a:rPr lang="en-US" dirty="0"/>
              <a:t>Ask: Why can RuleFor not be used with SwiftBite's Customer?</a:t>
            </a:r>
          </a:p>
          <a:p>
            <a:r>
              <a:rPr lang="en-US" dirty="0"/>
              <a:t>Clicks: 1: a private constructor, a factory method · 2: CustomInstantiator calls the factory.</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Students write these four tests in pairs, about 20 minutes. Each one needs a different technique, and each rule is in the SwiftBite SRS. Reveal the hints only if a pair is stuck. The solutions are on the next slide and in ExerciseSolutionsTests.cs.</a:t>
            </a:r>
          </a:p>
          <a:p>
            <a:r>
              <a:rPr lang="en-US" dirty="0"/>
              <a:t>Ask: Which of the four needs a Theory, and which can be a Fact?</a:t>
            </a:r>
          </a:p>
          <a:p>
            <a:r>
              <a:rPr lang="en-US" dirty="0"/>
              <a:t>Clicks: 1: the four rules · 2: hint 1 · 3: hint 2 · 4: hint 3 · 5: hint 4 · 6: the rule.</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Exercise 1 is a Fact: arrange three addresses in a loop, the fourth must throw BR-03, and the list must still contain three. Exercise 2 is a Theory with the boundary: exactly 1000 is allowed, 1001 is refused. Action lets one test body check both outcomes. Exercises 3 and 4 are in ExerciseSolutionsTests.cs.</a:t>
            </a:r>
          </a:p>
          <a:p>
            <a:r>
              <a:rPr lang="en-US" dirty="0"/>
              <a:t>Ask: Why do we also assert Count == 3 after the exception?</a:t>
            </a:r>
          </a:p>
          <a:p>
            <a:r>
              <a:rPr lang="en-US" dirty="0"/>
              <a:t>Clicks: 1: exercise 1: the fourth address · 2: exercise 2: the cash limit · 3: check the state after a refusal.</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Coverage measures which lines ran during the tests. The xunit template already includes coverlet.collector, so one command collects it, and ReportGenerator turns it into an HTML page with red and green lines. It is great for finding code with NO tests. But it only proves the lines ran, not that anything was checked: the test on the right executes every line of Place and asserts nothing, so it adds coverage and catches no bugs. Use coverage as a flashlight, not a target.</a:t>
            </a:r>
          </a:p>
          <a:p>
            <a:r>
              <a:rPr lang="en-US" dirty="0"/>
              <a:t>Ask: A team is told "reach 90 percent coverage". What kind of tests will they write?</a:t>
            </a:r>
          </a:p>
          <a:p>
            <a:r>
              <a:rPr lang="en-US" dirty="0"/>
              <a:t>Clicks: 1: collect and view coverage · 2: a flashlight for untested code · 3: a test with no assert still covers · 4: the rule.</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substitute only returns a canned rate so the converter can run, and the test checks the result, not the calls: that is a stub. With rates.Received(...) at the end it would be used as a mock.</a:t>
            </a:r>
          </a:p>
          <a:p>
            <a:r>
              <a:rPr lang="en-US" dirty="0"/>
              <a:t>Ask: Which kind of test double is rates here?</a:t>
            </a:r>
          </a:p>
          <a:p>
            <a:r>
              <a:rPr lang="en-US" dirty="0"/>
              <a:t>Clicks: 1: the choices (pause and let students vote) · 2: the answer.</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catch swallows the exception and there is no assertion. If Withdraw throws, the test passes; if Withdraw wrongly lets the balance go negative, the test ALSO passes. A test that cannot fail tests nothing. Use Assert.Throws or Should.Throw.</a:t>
            </a:r>
          </a:p>
          <a:p>
            <a:r>
              <a:rPr lang="en-US" dirty="0"/>
              <a:t>Ask: What happens to this test if someone deletes the "amount &gt; Balance" check?</a:t>
            </a:r>
          </a:p>
          <a:p>
            <a:r>
              <a:rPr lang="en-US" dirty="0"/>
              <a:t>Clicks: 1: the choices (pause and let students vote) · 2: the answer.</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Invoice numbers come from a static counter shared by every test in the run, and xUnit runs test classes in parallel and in no guaranteed order. Alone, this is the first invoice: 1. With other invoice tests it may be 4. Assert relative to the objects, never a magic number.</a:t>
            </a:r>
          </a:p>
          <a:p>
            <a:r>
              <a:rPr lang="en-US" dirty="0"/>
              <a:t>Ask: The test passes alone and fails in the full run. Why?</a:t>
            </a:r>
          </a:p>
          <a:p>
            <a:r>
              <a:rPr lang="en-US" dirty="0"/>
              <a:t>Clicks: 1: the choices (pause and let students vote) · 2: the answer.</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Part 11 on one slide.</a:t>
            </a:r>
          </a:p>
          <a:p>
            <a:r>
              <a:rPr lang="en-US" dirty="0"/>
              <a:t>Ask: Point at a row and ask for the matching test from the lab.</a:t>
            </a:r>
          </a:p>
          <a:p>
            <a:r>
              <a:rPr lang="en-US" dirty="0"/>
              <a:t>Clicks: 1: xUnit basics · 2: testable code and doubles · 3: libraries and coverage.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8"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9"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0"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ADVANCED 03</a:t>
            </a:r>
            <a:endParaRPr lang="en-US" sz="850" dirty="0"/>
          </a:p>
        </p:txBody>
      </p:sp>
      <p:sp>
        <p:nvSpPr>
          <p:cNvPr id="11"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2"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01</a:t>
            </a:r>
            <a:endParaRPr lang="en-US" sz="850" dirty="0"/>
          </a:p>
        </p:txBody>
      </p:sp>
      <p:pic>
        <p:nvPicPr>
          <p:cNvPr id="13" name="Logo_cover" descr="SIMULATION logo"/>
          <p:cNvPicPr>
            <a:picLocks noChangeAspect="1"/>
          </p:cNvPicPr>
          <p:nvPr/>
        </p:nvPicPr>
        <p:blipFill>
          <a:blip r:embed="rId3"/>
          <a:stretch>
            <a:fillRect/>
          </a:stretch>
        </p:blipFill>
        <p:spPr>
          <a:xfrm>
            <a:off x="638251" y="495330"/>
            <a:ext cx="657225" cy="495330"/>
          </a:xfrm>
          <a:prstGeom prst="rect">
            <a:avLst/>
          </a:prstGeom>
        </p:spPr>
      </p:pic>
      <p:sp>
        <p:nvSpPr>
          <p:cNvPr id="14" name="Brand_name"/>
          <p:cNvSpPr txBox="1"/>
          <p:nvPr/>
        </p:nvSpPr>
        <p:spPr>
          <a:xfrm>
            <a:off x="1409730" y="523860"/>
            <a:ext cx="4572000" cy="3429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800" b="1" dirty="0">
                <a:solidFill>
                  <a:srgbClr val="FFFFFF"/>
                </a:solidFill>
                <a:latin typeface="Segoe UI"/>
                <a:ea typeface="Segoe UI"/>
                <a:cs typeface="Segoe UI"/>
              </a:rPr>
              <a:t>SIMULATION</a:t>
            </a:r>
            <a:endParaRPr lang="en-US" sz="1800" dirty="0"/>
          </a:p>
        </p:txBody>
      </p:sp>
      <p:sp>
        <p:nvSpPr>
          <p:cNvPr id="15" name="Brand_sub"/>
          <p:cNvSpPr txBox="1"/>
          <p:nvPr/>
        </p:nvSpPr>
        <p:spPr>
          <a:xfrm>
            <a:off x="1409730" y="866760"/>
            <a:ext cx="4572000" cy="2476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94A3B8"/>
                </a:solidFill>
                <a:latin typeface="Segoe UI"/>
                <a:ea typeface="Segoe UI"/>
                <a:cs typeface="Segoe UI"/>
              </a:rPr>
              <a:t>Software House &amp; Academy</a:t>
            </a:r>
            <a:endParaRPr lang="en-US" sz="1050" dirty="0"/>
          </a:p>
        </p:txBody>
      </p:sp>
      <p:sp>
        <p:nvSpPr>
          <p:cNvPr id="16" name="Tag_pill"/>
          <p:cNvSpPr/>
          <p:nvPr/>
        </p:nvSpPr>
        <p:spPr>
          <a:xfrm>
            <a:off x="9325051" y="523860"/>
            <a:ext cx="2009851" cy="285750"/>
          </a:xfrm>
          <a:prstGeom prst="roundRect">
            <a:avLst>
              <a:gd name="adj" fmla="val 23333"/>
            </a:avLst>
          </a:prstGeom>
          <a:solidFill>
            <a:srgbClr val="005EB5">
              <a:alpha val="18000"/>
            </a:srgbClr>
          </a:solidFill>
          <a:ln w="12700">
            <a:solidFill>
              <a:srgbClr val="005EB5"/>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D6E3FF"/>
                </a:solidFill>
                <a:latin typeface="Segoe UI"/>
                <a:ea typeface="Segoe UI"/>
                <a:cs typeface="Segoe UI"/>
              </a:rPr>
              <a:t>ADVANCED C#</a:t>
            </a:r>
            <a:endParaRPr lang="en-US" sz="1000" dirty="0"/>
          </a:p>
        </p:txBody>
      </p:sp>
      <p:sp>
        <p:nvSpPr>
          <p:cNvPr id="17" name="Cover_kicker"/>
          <p:cNvSpPr txBox="1"/>
          <p:nvPr/>
        </p:nvSpPr>
        <p:spPr>
          <a:xfrm>
            <a:off x="638251" y="1783080"/>
            <a:ext cx="6400800" cy="31089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50" b="1" dirty="0">
                <a:solidFill>
                  <a:srgbClr val="13D0F7"/>
                </a:solidFill>
                <a:latin typeface="Segoe UI"/>
                <a:ea typeface="Segoe UI"/>
                <a:cs typeface="Segoe UI"/>
              </a:rPr>
              <a:t>ADVANCED C#  ·  LECTURE 03  ·  REVISION</a:t>
            </a:r>
            <a:endParaRPr lang="en-US" sz="1250" dirty="0"/>
          </a:p>
        </p:txBody>
      </p:sp>
      <p:sp>
        <p:nvSpPr>
          <p:cNvPr id="18" name="Title"/>
          <p:cNvSpPr txBox="1"/>
          <p:nvPr/>
        </p:nvSpPr>
        <p:spPr>
          <a:xfrm>
            <a:off x="590702" y="2057400"/>
            <a:ext cx="6766560" cy="123444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3700" b="1" dirty="0">
                <a:solidFill>
                  <a:srgbClr val="FFFFFF"/>
                </a:solidFill>
                <a:latin typeface="Segoe UI"/>
                <a:ea typeface="Segoe UI"/>
                <a:cs typeface="Segoe UI"/>
              </a:rPr>
              <a:t>Threads, Tasks &amp; Async</a:t>
            </a:r>
            <a:endParaRPr lang="en-US" sz="3700" dirty="0"/>
          </a:p>
          <a:p>
            <a:pPr marL="0" indent="0" algn="l">
              <a:spcBef>
                <a:spcPts val="0"/>
              </a:spcBef>
              <a:spcAft>
                <a:spcPts val="0"/>
              </a:spcAft>
              <a:buNone/>
            </a:pPr>
            <a:r>
              <a:rPr lang="en-US" sz="3000" b="1" dirty="0">
                <a:solidFill>
                  <a:srgbClr val="13D0F7"/>
                </a:solidFill>
                <a:latin typeface="Segoe UI"/>
                <a:ea typeface="Segoe UI"/>
                <a:cs typeface="Segoe UI"/>
              </a:rPr>
              <a:t>Revision: Don't vs Do</a:t>
            </a:r>
            <a:endParaRPr lang="en-US" sz="3000" dirty="0"/>
          </a:p>
        </p:txBody>
      </p:sp>
      <p:sp>
        <p:nvSpPr>
          <p:cNvPr id="19" name="Cover_sub"/>
          <p:cNvSpPr txBox="1"/>
          <p:nvPr/>
        </p:nvSpPr>
        <p:spPr>
          <a:xfrm>
            <a:off x="638251" y="3429000"/>
            <a:ext cx="6583680" cy="7315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000" b="0" dirty="0">
                <a:solidFill>
                  <a:srgbClr val="CBD5E1"/>
                </a:solidFill>
                <a:latin typeface="Segoe UI"/>
                <a:ea typeface="Segoe UI"/>
                <a:cs typeface="Segoe UI"/>
              </a:rPr>
              <a:t>Every rule of the lecture as a wrong vs right pair, and when to use each tool</a:t>
            </a:r>
            <a:endParaRPr lang="en-US" sz="2000" dirty="0"/>
          </a:p>
        </p:txBody>
      </p:sp>
      <p:sp>
        <p:nvSpPr>
          <p:cNvPr id="20" name="Cover_topics"/>
          <p:cNvSpPr txBox="1"/>
          <p:nvPr/>
        </p:nvSpPr>
        <p:spPr>
          <a:xfrm>
            <a:off x="638251" y="4343400"/>
            <a:ext cx="6583680" cy="8229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0" dirty="0">
                <a:solidFill>
                  <a:srgbClr val="94A3B8"/>
                </a:solidFill>
                <a:latin typeface="Segoe UI"/>
                <a:ea typeface="Segoe UI"/>
                <a:cs typeface="Segoe UI"/>
              </a:rPr>
              <a:t>Check-then-act · lock · Interlocked · Deadlock · SemaphoreSlim · ConcurrentDictionary · ConcurrentQueue · Task.Run · .Result vs await · Task.Delay · async void · WhenAll · What to use when</a:t>
            </a:r>
            <a:endParaRPr lang="en-US" sz="1300" dirty="0"/>
          </a:p>
        </p:txBody>
      </p:sp>
      <p:sp>
        <p:nvSpPr>
          <p:cNvPr id="21" name="cw_win"/>
          <p:cNvSpPr/>
          <p:nvPr/>
        </p:nvSpPr>
        <p:spPr>
          <a:xfrm>
            <a:off x="7543800" y="1828800"/>
            <a:ext cx="4087368" cy="2023872"/>
          </a:xfrm>
          <a:prstGeom prst="roundRect">
            <a:avLst>
              <a:gd name="adj" fmla="val 3388"/>
            </a:avLst>
          </a:prstGeom>
          <a:solidFill>
            <a:srgbClr val="060D18"/>
          </a:solidFill>
          <a:ln w="12700">
            <a:solidFill>
              <a:srgbClr val="1E3A5F"/>
            </a:solidFill>
            <a:prstDash val="solid"/>
          </a:ln>
        </p:spPr>
        <p:txBody>
          <a:bodyPr/>
          <a:lstStyle/>
          <a:p>
            <a:endParaRPr lang="en-US"/>
          </a:p>
        </p:txBody>
      </p:sp>
      <p:sp>
        <p:nvSpPr>
          <p:cNvPr id="22" name="cw_bar"/>
          <p:cNvSpPr/>
          <p:nvPr/>
        </p:nvSpPr>
        <p:spPr>
          <a:xfrm>
            <a:off x="7543800" y="1828800"/>
            <a:ext cx="4087368"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23" name="cw_barfill"/>
          <p:cNvSpPr/>
          <p:nvPr/>
        </p:nvSpPr>
        <p:spPr>
          <a:xfrm>
            <a:off x="7543800" y="2000250"/>
            <a:ext cx="4087368" cy="171450"/>
          </a:xfrm>
          <a:prstGeom prst="rect">
            <a:avLst/>
          </a:prstGeom>
          <a:solidFill>
            <a:srgbClr val="0A1220"/>
          </a:solidFill>
          <a:ln w="12700">
            <a:solidFill>
              <a:srgbClr val="0A1220"/>
            </a:solidFill>
            <a:prstDash val="solid"/>
          </a:ln>
        </p:spPr>
        <p:txBody>
          <a:bodyPr/>
          <a:lstStyle/>
          <a:p>
            <a:endParaRPr lang="en-US"/>
          </a:p>
        </p:txBody>
      </p:sp>
      <p:sp>
        <p:nvSpPr>
          <p:cNvPr id="24" name="cw_dot0"/>
          <p:cNvSpPr/>
          <p:nvPr/>
        </p:nvSpPr>
        <p:spPr>
          <a:xfrm>
            <a:off x="7705649" y="1952610"/>
            <a:ext cx="95098" cy="95098"/>
          </a:xfrm>
          <a:prstGeom prst="ellipse">
            <a:avLst/>
          </a:prstGeom>
          <a:solidFill>
            <a:srgbClr val="F87171"/>
          </a:solidFill>
          <a:ln w="12700">
            <a:solidFill>
              <a:srgbClr val="F87171"/>
            </a:solidFill>
            <a:prstDash val="solid"/>
          </a:ln>
        </p:spPr>
        <p:txBody>
          <a:bodyPr/>
          <a:lstStyle/>
          <a:p>
            <a:endParaRPr lang="en-US"/>
          </a:p>
        </p:txBody>
      </p:sp>
      <p:sp>
        <p:nvSpPr>
          <p:cNvPr id="25" name="cw_dot1"/>
          <p:cNvSpPr/>
          <p:nvPr/>
        </p:nvSpPr>
        <p:spPr>
          <a:xfrm>
            <a:off x="7891272" y="1952610"/>
            <a:ext cx="95098" cy="95098"/>
          </a:xfrm>
          <a:prstGeom prst="ellipse">
            <a:avLst/>
          </a:prstGeom>
          <a:solidFill>
            <a:srgbClr val="FBBF24"/>
          </a:solidFill>
          <a:ln w="12700">
            <a:solidFill>
              <a:srgbClr val="FBBF24"/>
            </a:solidFill>
            <a:prstDash val="solid"/>
          </a:ln>
        </p:spPr>
        <p:txBody>
          <a:bodyPr/>
          <a:lstStyle/>
          <a:p>
            <a:endParaRPr lang="en-US"/>
          </a:p>
        </p:txBody>
      </p:sp>
      <p:sp>
        <p:nvSpPr>
          <p:cNvPr id="26" name="cw_dot2"/>
          <p:cNvSpPr/>
          <p:nvPr/>
        </p:nvSpPr>
        <p:spPr>
          <a:xfrm>
            <a:off x="8076895" y="1952610"/>
            <a:ext cx="95098" cy="95098"/>
          </a:xfrm>
          <a:prstGeom prst="ellipse">
            <a:avLst/>
          </a:prstGeom>
          <a:solidFill>
            <a:srgbClr val="34D399"/>
          </a:solidFill>
          <a:ln w="12700">
            <a:solidFill>
              <a:srgbClr val="34D399"/>
            </a:solidFill>
            <a:prstDash val="solid"/>
          </a:ln>
        </p:spPr>
        <p:txBody>
          <a:bodyPr/>
          <a:lstStyle/>
          <a:p>
            <a:endParaRPr lang="en-US"/>
          </a:p>
        </p:txBody>
      </p:sp>
      <p:sp>
        <p:nvSpPr>
          <p:cNvPr id="27" name="cw_tab"/>
          <p:cNvSpPr/>
          <p:nvPr/>
        </p:nvSpPr>
        <p:spPr>
          <a:xfrm>
            <a:off x="8324698" y="1876349"/>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8" name="cw_L00"/>
          <p:cNvSpPr txBox="1"/>
          <p:nvPr/>
        </p:nvSpPr>
        <p:spPr>
          <a:xfrm>
            <a:off x="7772400" y="230428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Task&lt;Menu&gt; menu = GetMenuAsync();</a:t>
            </a:r>
            <a:endParaRPr lang="en-US" sz="1150" dirty="0"/>
          </a:p>
        </p:txBody>
      </p:sp>
      <p:sp>
        <p:nvSpPr>
          <p:cNvPr id="29" name="cw_L01"/>
          <p:cNvSpPr txBox="1"/>
          <p:nvPr/>
        </p:nvSpPr>
        <p:spPr>
          <a:xfrm>
            <a:off x="7772400" y="253796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Task&lt;Reviews&gt; reviews = GetReviewsAsync();</a:t>
            </a:r>
            <a:endParaRPr lang="en-US" sz="1150" dirty="0"/>
          </a:p>
        </p:txBody>
      </p:sp>
      <p:sp>
        <p:nvSpPr>
          <p:cNvPr id="30" name="cw_hl03"/>
          <p:cNvSpPr/>
          <p:nvPr/>
        </p:nvSpPr>
        <p:spPr>
          <a:xfrm>
            <a:off x="7677302" y="2987040"/>
            <a:ext cx="3820363" cy="270256"/>
          </a:xfrm>
          <a:prstGeom prst="rect">
            <a:avLst/>
          </a:prstGeom>
          <a:solidFill>
            <a:srgbClr val="005EB5">
              <a:alpha val="25000"/>
            </a:srgbClr>
          </a:solidFill>
          <a:ln w="12700">
            <a:solidFill>
              <a:srgbClr val="13D0F7"/>
            </a:solidFill>
            <a:prstDash val="solid"/>
          </a:ln>
        </p:spPr>
        <p:txBody>
          <a:bodyPr/>
          <a:lstStyle/>
          <a:p>
            <a:endParaRPr lang="en-US"/>
          </a:p>
        </p:txBody>
      </p:sp>
      <p:sp>
        <p:nvSpPr>
          <p:cNvPr id="31" name="cw_L03"/>
          <p:cNvSpPr txBox="1"/>
          <p:nvPr/>
        </p:nvSpPr>
        <p:spPr>
          <a:xfrm>
            <a:off x="7772400" y="300532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Task.WhenAll(menu, reviews);</a:t>
            </a:r>
            <a:endParaRPr lang="en-US" sz="1150" dirty="0"/>
          </a:p>
        </p:txBody>
      </p:sp>
      <p:sp>
        <p:nvSpPr>
          <p:cNvPr id="32" name="cw_L05"/>
          <p:cNvSpPr txBox="1"/>
          <p:nvPr/>
        </p:nvSpPr>
        <p:spPr>
          <a:xfrm>
            <a:off x="7772400" y="3472688"/>
            <a:ext cx="3703320"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Show(</a:t>
            </a: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menu, </a:t>
            </a: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reviews);</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SHARED STATE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Check-Then-Act: Lock the Whole Decision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02</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Buy()</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wb_hl02"/>
          <p:cNvSpPr/>
          <p:nvPr/>
        </p:nvSpPr>
        <p:spPr>
          <a:xfrm>
            <a:off x="676656" y="24160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1"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 &lt;= 0) </a:t>
            </a: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check: OUTSIDE the lock</a:t>
            </a:r>
            <a:endParaRPr lang="en-US" sz="950" dirty="0"/>
          </a:p>
        </p:txBody>
      </p:sp>
      <p:sp>
        <p:nvSpPr>
          <p:cNvPr id="112"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Thread.Sleep(10);            </a:t>
            </a:r>
            <a:r>
              <a:rPr lang="en-US" sz="950" b="0" dirty="0">
                <a:solidFill>
                  <a:srgbClr val="6FAE7A"/>
                </a:solidFill>
                <a:latin typeface="Consolas"/>
                <a:ea typeface="Consolas"/>
                <a:cs typeface="Consolas"/>
              </a:rPr>
              <a:t>// payment</a:t>
            </a:r>
            <a:endParaRPr lang="en-US" sz="950" dirty="0"/>
          </a:p>
        </p:txBody>
      </p:sp>
      <p:sp>
        <p:nvSpPr>
          <p:cNvPr id="113"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(_sync)</a:t>
            </a:r>
            <a:endParaRPr lang="en-US" sz="950" dirty="0"/>
          </a:p>
        </p:txBody>
      </p:sp>
      <p:sp>
        <p:nvSpPr>
          <p:cNvPr id="114"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Stock--; Sold++;         </a:t>
            </a:r>
            <a:r>
              <a:rPr lang="en-US" sz="950" b="0" dirty="0">
                <a:solidFill>
                  <a:srgbClr val="6FAE7A"/>
                </a:solidFill>
                <a:latin typeface="Consolas"/>
                <a:ea typeface="Consolas"/>
                <a:cs typeface="Consolas"/>
              </a:rPr>
              <a:t>// act only</a:t>
            </a:r>
            <a:endParaRPr lang="en-US" sz="950" dirty="0"/>
          </a:p>
        </p:txBody>
      </p:sp>
      <p:sp>
        <p:nvSpPr>
          <p:cNvPr id="116"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7"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8"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50 buyers, 10 meals</a:t>
            </a:r>
            <a:endParaRPr lang="en-US" sz="950" dirty="0"/>
          </a:p>
        </p:txBody>
      </p:sp>
      <p:sp>
        <p:nvSpPr>
          <p:cNvPr id="119"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Run 1: Sold 50, Stock -40   (varies every run)</a:t>
            </a:r>
            <a:endParaRPr lang="en-US" sz="950" dirty="0"/>
          </a:p>
        </p:txBody>
      </p:sp>
      <p:sp>
        <p:nvSpPr>
          <p:cNvPr id="120"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1"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3"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127"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Buy()</a:t>
            </a:r>
            <a:endParaRPr lang="en-US" sz="950" dirty="0"/>
          </a:p>
        </p:txBody>
      </p:sp>
      <p:sp>
        <p:nvSpPr>
          <p:cNvPr id="128"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9" name="cwa_hl02"/>
          <p:cNvSpPr/>
          <p:nvPr/>
        </p:nvSpPr>
        <p:spPr>
          <a:xfrm>
            <a:off x="6323076" y="241604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0"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(_sync)                 </a:t>
            </a:r>
            <a:r>
              <a:rPr lang="en-US" sz="950" b="0" dirty="0">
                <a:solidFill>
                  <a:srgbClr val="6FAE7A"/>
                </a:solidFill>
                <a:latin typeface="Consolas"/>
                <a:ea typeface="Consolas"/>
                <a:cs typeface="Consolas"/>
              </a:rPr>
              <a:t>// check + act together</a:t>
            </a:r>
            <a:endParaRPr lang="en-US" sz="950" dirty="0"/>
          </a:p>
        </p:txBody>
      </p:sp>
      <p:sp>
        <p:nvSpPr>
          <p:cNvPr id="131"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 &lt;= 0) </a:t>
            </a: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a:t>
            </a:r>
            <a:endParaRPr lang="en-US" sz="950" dirty="0"/>
          </a:p>
        </p:txBody>
      </p:sp>
      <p:sp>
        <p:nvSpPr>
          <p:cNvPr id="133"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Stock--;</a:t>
            </a:r>
            <a:endParaRPr lang="en-US" sz="950" dirty="0"/>
          </a:p>
        </p:txBody>
      </p:sp>
      <p:sp>
        <p:nvSpPr>
          <p:cNvPr id="134"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Sold++;</a:t>
            </a:r>
            <a:endParaRPr lang="en-US" sz="950" dirty="0"/>
          </a:p>
        </p:txBody>
      </p:sp>
      <p:sp>
        <p:nvSpPr>
          <p:cNvPr id="135"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6"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Thread.Sleep(10);            </a:t>
            </a:r>
            <a:r>
              <a:rPr lang="en-US" sz="950" b="0" dirty="0">
                <a:solidFill>
                  <a:srgbClr val="6FAE7A"/>
                </a:solidFill>
                <a:latin typeface="Consolas"/>
                <a:ea typeface="Consolas"/>
                <a:cs typeface="Consolas"/>
              </a:rPr>
              <a:t>// payment: no shared state</a:t>
            </a:r>
            <a:endParaRPr lang="en-US" sz="950" dirty="0"/>
          </a:p>
        </p:txBody>
      </p:sp>
      <p:sp>
        <p:nvSpPr>
          <p:cNvPr id="137"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8"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50 buyers, 10 meals</a:t>
            </a:r>
            <a:endParaRPr lang="en-US" sz="950" dirty="0"/>
          </a:p>
        </p:txBody>
      </p:sp>
      <p:sp>
        <p:nvSpPr>
          <p:cNvPr id="139"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Always: Sold 10, Stock 0</a:t>
            </a:r>
            <a:endParaRPr lang="en-US" sz="950" dirty="0"/>
          </a:p>
        </p:txBody>
      </p:sp>
      <p:sp>
        <p:nvSpPr>
          <p:cNvPr id="140"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1"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2" name="arrow"/>
          <p:cNvCxnSpPr/>
          <p:nvPr/>
        </p:nvCxnSpPr>
        <p:spPr>
          <a:xfrm>
            <a:off x="6011266" y="3227832"/>
            <a:ext cx="150876" cy="0"/>
          </a:xfrm>
          <a:prstGeom prst="line">
            <a:avLst/>
          </a:prstGeom>
          <a:ln w="28575">
            <a:solidFill>
              <a:srgbClr val="13D0F7"/>
            </a:solidFill>
            <a:tailEnd type="triangle" w="med" len="med"/>
          </a:ln>
        </p:spPr>
      </p:cxnSp>
      <p:sp>
        <p:nvSpPr>
          <p:cNvPr id="143"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Another thread can run between the check and the act. Locking only the act stops lost updates, but every thread already passed a stale check.</a:t>
            </a:r>
            <a:endParaRPr lang="en-US" sz="1250" dirty="0"/>
          </a:p>
        </p:txBody>
      </p:sp>
      <p:sp>
        <p:nvSpPr>
          <p:cNvPr id="144"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lock: a condition + an update, or several fields that change together (the critical section). Keep it short: never wait inside a lock.</a:t>
            </a:r>
            <a:endParaRPr lang="en-US" sz="1250" dirty="0"/>
          </a:p>
        </p:txBody>
      </p:sp>
    </p:spTree>
    <p:extLst>
      <p:ext uri="{BB962C8B-B14F-4D97-AF65-F5344CB8AC3E}">
        <p14:creationId xmlns:p14="http://schemas.microsoft.com/office/powerpoint/2010/main" val="1002"/>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LOCK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lock Locks an Object, Not Your Variables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03</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Buy()</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wb_hl02"/>
          <p:cNvSpPr/>
          <p:nvPr/>
        </p:nvSpPr>
        <p:spPr>
          <a:xfrm>
            <a:off x="676656" y="24160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1"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object</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a new key every call</a:t>
            </a:r>
            <a:endParaRPr lang="en-US" sz="950" dirty="0"/>
          </a:p>
        </p:txBody>
      </p:sp>
      <p:sp>
        <p:nvSpPr>
          <p:cNvPr id="112"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3"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 &lt;= 0) </a:t>
            </a: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a:t>
            </a:r>
            <a:endParaRPr lang="en-US" sz="950" dirty="0"/>
          </a:p>
        </p:txBody>
      </p:sp>
      <p:sp>
        <p:nvSpPr>
          <p:cNvPr id="114"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Stock--; Sold++;</a:t>
            </a:r>
            <a:endParaRPr lang="en-US" sz="950" dirty="0"/>
          </a:p>
        </p:txBody>
      </p:sp>
      <p:sp>
        <p:nvSpPr>
          <p:cNvPr id="115"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6"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7" name="cwb_hl09"/>
          <p:cNvSpPr/>
          <p:nvPr/>
        </p:nvSpPr>
        <p:spPr>
          <a:xfrm>
            <a:off x="676656" y="376732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8"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Restock() =&gt; Stock += 5;    </a:t>
            </a:r>
            <a:r>
              <a:rPr lang="en-US" sz="950" b="0" dirty="0">
                <a:solidFill>
                  <a:srgbClr val="6FAE7A"/>
                </a:solidFill>
                <a:latin typeface="Consolas"/>
                <a:ea typeface="Consolas"/>
                <a:cs typeface="Consolas"/>
              </a:rPr>
              <a:t>// no lock at all</a:t>
            </a:r>
            <a:endParaRPr lang="en-US" sz="950" dirty="0"/>
          </a:p>
        </p:txBody>
      </p:sp>
      <p:sp>
        <p:nvSpPr>
          <p:cNvPr id="119"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nobody ever waits: the race is still there</a:t>
            </a:r>
            <a:endParaRPr lang="en-US" sz="950" dirty="0"/>
          </a:p>
        </p:txBody>
      </p:sp>
      <p:sp>
        <p:nvSpPr>
          <p:cNvPr id="120"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1"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3"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127" name="cwa_hl00"/>
          <p:cNvSpPr/>
          <p:nvPr/>
        </p:nvSpPr>
        <p:spPr>
          <a:xfrm>
            <a:off x="6323076" y="202996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28"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private</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readonly</a:t>
            </a:r>
            <a:r>
              <a:rPr lang="en-US" sz="950" b="0" dirty="0">
                <a:solidFill>
                  <a:srgbClr val="E2E8F0"/>
                </a:solidFill>
                <a:latin typeface="Consolas"/>
                <a:ea typeface="Consolas"/>
                <a:cs typeface="Consolas"/>
              </a:rPr>
              <a:t> Lock _sync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.NET 9</a:t>
            </a:r>
            <a:endParaRPr lang="en-US" sz="950" dirty="0"/>
          </a:p>
        </p:txBody>
      </p:sp>
      <p:sp>
        <p:nvSpPr>
          <p:cNvPr id="129"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older .NET: private readonly object _sync = new();</a:t>
            </a:r>
            <a:endParaRPr lang="en-US" sz="950" dirty="0"/>
          </a:p>
        </p:txBody>
      </p:sp>
      <p:sp>
        <p:nvSpPr>
          <p:cNvPr id="130"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Buy()</a:t>
            </a:r>
            <a:endParaRPr lang="en-US" sz="950" dirty="0"/>
          </a:p>
        </p:txBody>
      </p:sp>
      <p:sp>
        <p:nvSpPr>
          <p:cNvPr id="131"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(_sync)</a:t>
            </a:r>
            <a:endParaRPr lang="en-US" sz="950" dirty="0"/>
          </a:p>
        </p:txBody>
      </p:sp>
      <p:sp>
        <p:nvSpPr>
          <p:cNvPr id="133"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4"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 &lt;= 0) </a:t>
            </a: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a:t>
            </a:r>
            <a:endParaRPr lang="en-US" sz="950" dirty="0"/>
          </a:p>
        </p:txBody>
      </p:sp>
      <p:sp>
        <p:nvSpPr>
          <p:cNvPr id="135"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Stock--; Sold++;</a:t>
            </a:r>
            <a:endParaRPr lang="en-US" sz="950" dirty="0"/>
          </a:p>
        </p:txBody>
      </p:sp>
      <p:sp>
        <p:nvSpPr>
          <p:cNvPr id="136"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7"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8" name="cwa_hl12"/>
          <p:cNvSpPr/>
          <p:nvPr/>
        </p:nvSpPr>
        <p:spPr>
          <a:xfrm>
            <a:off x="6323076" y="434644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9"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Restock() { </a:t>
            </a: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(_sync) Stock += 5; }</a:t>
            </a:r>
            <a:endParaRPr lang="en-US" sz="950" dirty="0"/>
          </a:p>
        </p:txBody>
      </p:sp>
      <p:sp>
        <p:nvSpPr>
          <p:cNvPr id="140"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1"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2" name="arrow"/>
          <p:cNvCxnSpPr/>
          <p:nvPr/>
        </p:nvCxnSpPr>
        <p:spPr>
          <a:xfrm>
            <a:off x="6011266" y="3227832"/>
            <a:ext cx="150876" cy="0"/>
          </a:xfrm>
          <a:prstGeom prst="line">
            <a:avLst/>
          </a:prstGeom>
          <a:ln w="28575">
            <a:solidFill>
              <a:srgbClr val="13D0F7"/>
            </a:solidFill>
            <a:tailEnd type="triangle" w="med" len="med"/>
          </a:ln>
        </p:spPr>
      </p:cxnSp>
      <p:sp>
        <p:nvSpPr>
          <p:cNvPr id="143"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lock never looks at Stock or Sold. Each new object() is a different key, so threads never wait; code that skips lock is never stopped.</a:t>
            </a:r>
            <a:endParaRPr lang="en-US" sz="1250" dirty="0"/>
          </a:p>
        </p:txBody>
      </p:sp>
      <p:sp>
        <p:nvSpPr>
          <p:cNvPr id="144"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One private readonly lock object shared by every thread, and EVERY piece of code that touches the shared state takes it. lock is cooperative.</a:t>
            </a:r>
            <a:endParaRPr lang="en-US" sz="1250" dirty="0"/>
          </a:p>
        </p:txBody>
      </p:sp>
    </p:spTree>
    <p:extLst>
      <p:ext uri="{BB962C8B-B14F-4D97-AF65-F5344CB8AC3E}">
        <p14:creationId xmlns:p14="http://schemas.microsoft.com/office/powerpoint/2010/main" val="100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56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SEMAPHORESLIM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new(1) vs new(1, 1): Always Set the Maximum</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16</a:t>
            </a:r>
            <a:endParaRPr lang="en-US" sz="850" dirty="0"/>
          </a:p>
        </p:txBody>
      </p:sp>
      <p:grpSp>
        <p:nvGrpSpPr>
          <p:cNvPr id="116" name="dont"/>
          <p:cNvGrpSpPr/>
          <p:nvPr/>
        </p:nvGrpSpPr>
        <p:grpSpPr>
          <a:xfrm>
            <a:off x="543154" y="1572768"/>
            <a:ext cx="5440680" cy="3310128"/>
            <a:chOff x="543154" y="1572768"/>
            <a:chExt cx="5440680" cy="3310128"/>
          </a:xfrm>
        </p:grpSpPr>
        <p:sp>
          <p:nvSpPr>
            <p:cNvPr id="101" name="dont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SemaphoreSlim s1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(1);</a:t>
              </a:r>
              <a:endParaRPr lang="en-US" sz="950" dirty="0"/>
            </a:p>
          </p:txBody>
        </p:sp>
        <p:sp>
          <p:nvSpPr>
            <p:cNvPr id="110" name="dont_L01"/>
            <p:cNvSpPr txBox="1"/>
            <p:nvPr/>
          </p:nvSpPr>
          <p:spPr>
            <a:xfrm>
              <a:off x="77175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initialCount = 1   → one permit at the start</a:t>
              </a:r>
              <a:endParaRPr lang="en-US" sz="950" dirty="0"/>
            </a:p>
          </p:txBody>
        </p:sp>
        <p:sp>
          <p:nvSpPr>
            <p:cNvPr id="111" name="dont_L02"/>
            <p:cNvSpPr txBox="1"/>
            <p:nvPr/>
          </p:nvSpPr>
          <p:spPr>
            <a:xfrm>
              <a:off x="77175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maxCount = int.MaxValue  (not 1!)</a:t>
              </a:r>
              <a:endParaRPr lang="en-US" sz="950" dirty="0"/>
            </a:p>
          </p:txBody>
        </p:sp>
        <p:sp>
          <p:nvSpPr>
            <p:cNvPr id="112" name="dont_L04"/>
            <p:cNvSpPr txBox="1"/>
            <p:nvPr/>
          </p:nvSpPr>
          <p:spPr>
            <a:xfrm>
              <a:off x="771754" y="28208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s1.Release();                     </a:t>
              </a:r>
              <a:r>
                <a:rPr lang="en-US" sz="950" b="0" dirty="0">
                  <a:solidFill>
                    <a:srgbClr val="6FAE7A"/>
                  </a:solidFill>
                  <a:latin typeface="Consolas"/>
                  <a:ea typeface="Consolas"/>
                  <a:cs typeface="Consolas"/>
                </a:rPr>
                <a:t>// one Release too many</a:t>
              </a:r>
              <a:endParaRPr lang="en-US" sz="950" dirty="0"/>
            </a:p>
          </p:txBody>
        </p:sp>
        <p:sp>
          <p:nvSpPr>
            <p:cNvPr id="113" name="dont_L06"/>
            <p:cNvSpPr txBox="1"/>
            <p:nvPr/>
          </p:nvSpPr>
          <p:spPr>
            <a:xfrm>
              <a:off x="771754" y="32069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Console.WriteLine(s1.CurrentCount);   </a:t>
              </a:r>
              <a:r>
                <a:rPr lang="en-US" sz="950" b="0" dirty="0">
                  <a:solidFill>
                    <a:srgbClr val="6FAE7A"/>
                  </a:solidFill>
                  <a:latin typeface="Consolas"/>
                  <a:ea typeface="Consolas"/>
                  <a:cs typeface="Consolas"/>
                </a:rPr>
                <a:t>// 2</a:t>
              </a:r>
              <a:endParaRPr lang="en-US" sz="950" dirty="0"/>
            </a:p>
          </p:txBody>
        </p:sp>
        <p:sp>
          <p:nvSpPr>
            <p:cNvPr id="114" name="dont_L08"/>
            <p:cNvSpPr txBox="1"/>
            <p:nvPr/>
          </p:nvSpPr>
          <p:spPr>
            <a:xfrm>
              <a:off x="771754" y="35929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no error: now TWO callers can enter</a:t>
              </a:r>
              <a:endParaRPr lang="en-US" sz="950" dirty="0"/>
            </a:p>
          </p:txBody>
        </p:sp>
        <p:sp>
          <p:nvSpPr>
            <p:cNvPr id="115" name="dont_L09"/>
            <p:cNvSpPr txBox="1"/>
            <p:nvPr/>
          </p:nvSpPr>
          <p:spPr>
            <a:xfrm>
              <a:off x="771754" y="37860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the "one at a time" section</a:t>
              </a:r>
              <a:endParaRPr lang="en-US" sz="950" dirty="0"/>
            </a:p>
          </p:txBody>
        </p:sp>
      </p:grpSp>
      <p:sp>
        <p:nvSpPr>
          <p:cNvPr id="117" name="dont_hl4"/>
          <p:cNvSpPr/>
          <p:nvPr/>
        </p:nvSpPr>
        <p:spPr>
          <a:xfrm>
            <a:off x="676656" y="280254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8" name="dont_hl6"/>
          <p:cNvSpPr/>
          <p:nvPr/>
        </p:nvSpPr>
        <p:spPr>
          <a:xfrm>
            <a:off x="676656" y="318862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32" name="do"/>
          <p:cNvGrpSpPr/>
          <p:nvPr/>
        </p:nvGrpSpPr>
        <p:grpSpPr>
          <a:xfrm>
            <a:off x="6189574" y="1572768"/>
            <a:ext cx="5440680" cy="3310128"/>
            <a:chOff x="6189574" y="1572768"/>
            <a:chExt cx="5440680" cy="3310128"/>
          </a:xfrm>
        </p:grpSpPr>
        <p:sp>
          <p:nvSpPr>
            <p:cNvPr id="119" name="do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0" name="do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1" name="do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2" name="do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3" name="do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4" name="do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5" name="do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26" name="do_lbl"/>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27" name="do_L00"/>
            <p:cNvSpPr txBox="1"/>
            <p:nvPr/>
          </p:nvSpPr>
          <p:spPr>
            <a:xfrm>
              <a:off x="641817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SemaphoreSlim s2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(1, 1);</a:t>
              </a:r>
              <a:endParaRPr lang="en-US" sz="950" dirty="0"/>
            </a:p>
          </p:txBody>
        </p:sp>
        <p:sp>
          <p:nvSpPr>
            <p:cNvPr id="128" name="do_L01"/>
            <p:cNvSpPr txBox="1"/>
            <p:nvPr/>
          </p:nvSpPr>
          <p:spPr>
            <a:xfrm>
              <a:off x="641817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initialCount = 1   → one permit at the start</a:t>
              </a:r>
              <a:endParaRPr lang="en-US" sz="950" dirty="0"/>
            </a:p>
          </p:txBody>
        </p:sp>
        <p:sp>
          <p:nvSpPr>
            <p:cNvPr id="129" name="do_L02"/>
            <p:cNvSpPr txBox="1"/>
            <p:nvPr/>
          </p:nvSpPr>
          <p:spPr>
            <a:xfrm>
              <a:off x="641817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maxCount = 1       → never more than one</a:t>
              </a:r>
              <a:endParaRPr lang="en-US" sz="950" dirty="0"/>
            </a:p>
          </p:txBody>
        </p:sp>
        <p:sp>
          <p:nvSpPr>
            <p:cNvPr id="130" name="do_L04"/>
            <p:cNvSpPr txBox="1"/>
            <p:nvPr/>
          </p:nvSpPr>
          <p:spPr>
            <a:xfrm>
              <a:off x="6418174" y="28208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s2.Release();                     </a:t>
              </a:r>
              <a:r>
                <a:rPr lang="en-US" sz="950" b="0" dirty="0">
                  <a:solidFill>
                    <a:srgbClr val="6FAE7A"/>
                  </a:solidFill>
                  <a:latin typeface="Consolas"/>
                  <a:ea typeface="Consolas"/>
                  <a:cs typeface="Consolas"/>
                </a:rPr>
                <a:t>// SemaphoreFullException</a:t>
              </a:r>
              <a:endParaRPr lang="en-US" sz="950" dirty="0"/>
            </a:p>
          </p:txBody>
        </p:sp>
        <p:sp>
          <p:nvSpPr>
            <p:cNvPr id="131" name="do_L06"/>
            <p:cNvSpPr txBox="1"/>
            <p:nvPr/>
          </p:nvSpPr>
          <p:spPr>
            <a:xfrm>
              <a:off x="6418174" y="32069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the bug fails loudly, right where it is</a:t>
              </a:r>
              <a:endParaRPr lang="en-US" sz="950" dirty="0"/>
            </a:p>
          </p:txBody>
        </p:sp>
      </p:grpSp>
      <p:sp>
        <p:nvSpPr>
          <p:cNvPr id="133" name="do_hl4"/>
          <p:cNvSpPr/>
          <p:nvPr/>
        </p:nvSpPr>
        <p:spPr>
          <a:xfrm>
            <a:off x="6323076" y="280254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34" name="arrow"/>
          <p:cNvCxnSpPr/>
          <p:nvPr/>
        </p:nvCxnSpPr>
        <p:spPr>
          <a:xfrm>
            <a:off x="6011266" y="3227832"/>
            <a:ext cx="150876" cy="0"/>
          </a:xfrm>
          <a:prstGeom prst="line">
            <a:avLst/>
          </a:prstGeom>
          <a:ln w="28575">
            <a:solidFill>
              <a:srgbClr val="13D0F7"/>
            </a:solidFill>
            <a:tailEnd type="triangle" w="med" len="med"/>
          </a:ln>
        </p:spPr>
      </p:cxnSp>
      <p:sp>
        <p:nvSpPr>
          <p:cNvPr id="135" name="why"/>
          <p:cNvSpPr/>
          <p:nvPr/>
        </p:nvSpPr>
        <p:spPr>
          <a:xfrm>
            <a:off x="543154" y="5020056"/>
            <a:ext cx="5440680" cy="103327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WHY IT FAILS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new(1) allows up to int.MaxValue permits. An extra Release() silently gives 2, and the lock stops being a lock.</a:t>
            </a:r>
            <a:endParaRPr lang="en-US" sz="1200" dirty="0"/>
          </a:p>
        </p:txBody>
      </p:sp>
      <p:sp>
        <p:nvSpPr>
          <p:cNvPr id="136" name="when"/>
          <p:cNvSpPr/>
          <p:nvPr/>
        </p:nvSpPr>
        <p:spPr>
          <a:xfrm>
            <a:off x="6189574" y="5020056"/>
            <a:ext cx="5440680" cy="103327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USE IT WHEN</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You want exactly one caller at a time: always new(1, 1). Use new(n, n) for "at most n" at a time.</a:t>
            </a:r>
            <a:endParaRPr lang="en-US" sz="1200" dirty="0"/>
          </a:p>
        </p:txBody>
      </p:sp>
    </p:spTree>
    <p:extLst>
      <p:ext uri="{BB962C8B-B14F-4D97-AF65-F5344CB8AC3E}">
        <p14:creationId xmlns:p14="http://schemas.microsoft.com/office/powerpoint/2010/main" val="188987125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400"/>
                                        <p:tgtEl>
                                          <p:spTgt spid="1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7"/>
                                        </p:tgtEl>
                                        <p:attrNameLst>
                                          <p:attrName>style.visibility</p:attrName>
                                        </p:attrNameLst>
                                      </p:cBhvr>
                                      <p:to>
                                        <p:strVal val="visible"/>
                                      </p:to>
                                    </p:set>
                                    <p:animEffect transition="in" filter="fade">
                                      <p:cBhvr>
                                        <p:cTn id="10" dur="400"/>
                                        <p:tgtEl>
                                          <p:spTgt spid="1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animEffect transition="in" filter="fade">
                                      <p:cBhvr>
                                        <p:cTn id="13" dur="400"/>
                                        <p:tgtEl>
                                          <p:spTgt spid="1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5"/>
                                        </p:tgtEl>
                                        <p:attrNameLst>
                                          <p:attrName>style.visibility</p:attrName>
                                        </p:attrNameLst>
                                      </p:cBhvr>
                                      <p:to>
                                        <p:strVal val="visible"/>
                                      </p:to>
                                    </p:set>
                                    <p:animEffect transition="in" filter="fade">
                                      <p:cBhvr>
                                        <p:cTn id="18" dur="400"/>
                                        <p:tgtEl>
                                          <p:spTgt spid="13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4"/>
                                        </p:tgtEl>
                                        <p:attrNameLst>
                                          <p:attrName>style.visibility</p:attrName>
                                        </p:attrNameLst>
                                      </p:cBhvr>
                                      <p:to>
                                        <p:strVal val="visible"/>
                                      </p:to>
                                    </p:set>
                                    <p:animEffect transition="in" filter="fade">
                                      <p:cBhvr>
                                        <p:cTn id="23" dur="400"/>
                                        <p:tgtEl>
                                          <p:spTgt spid="134"/>
                                        </p:tgtEl>
                                      </p:cBhvr>
                                    </p:animEffect>
                                  </p:childTnLst>
                                </p:cTn>
                              </p:par>
                              <p:par>
                                <p:cTn id="24" presetID="10" presetClass="entr" presetSubtype="0" fill="hold" nodeType="withEffect">
                                  <p:stCondLst>
                                    <p:cond delay="0"/>
                                  </p:stCondLst>
                                  <p:childTnLst>
                                    <p:set>
                                      <p:cBhvr>
                                        <p:cTn id="25" dur="1" fill="hold">
                                          <p:stCondLst>
                                            <p:cond delay="0"/>
                                          </p:stCondLst>
                                        </p:cTn>
                                        <p:tgtEl>
                                          <p:spTgt spid="132"/>
                                        </p:tgtEl>
                                        <p:attrNameLst>
                                          <p:attrName>style.visibility</p:attrName>
                                        </p:attrNameLst>
                                      </p:cBhvr>
                                      <p:to>
                                        <p:strVal val="visible"/>
                                      </p:to>
                                    </p:set>
                                    <p:animEffect transition="in" filter="fade">
                                      <p:cBhvr>
                                        <p:cTn id="26" dur="400"/>
                                        <p:tgtEl>
                                          <p:spTgt spid="1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3"/>
                                        </p:tgtEl>
                                        <p:attrNameLst>
                                          <p:attrName>style.visibility</p:attrName>
                                        </p:attrNameLst>
                                      </p:cBhvr>
                                      <p:to>
                                        <p:strVal val="visible"/>
                                      </p:to>
                                    </p:set>
                                    <p:animEffect transition="in" filter="fade">
                                      <p:cBhvr>
                                        <p:cTn id="29" dur="400"/>
                                        <p:tgtEl>
                                          <p:spTgt spid="13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6"/>
                                        </p:tgtEl>
                                        <p:attrNameLst>
                                          <p:attrName>style.visibility</p:attrName>
                                        </p:attrNameLst>
                                      </p:cBhvr>
                                      <p:to>
                                        <p:strVal val="visible"/>
                                      </p:to>
                                    </p:set>
                                    <p:animEffect transition="in" filter="fade">
                                      <p:cBhvr>
                                        <p:cTn id="34" dur="4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P spid="118" grpId="0" animBg="1"/>
      <p:bldP spid="133" grpId="0" animBg="1"/>
      <p:bldP spid="135" grpId="0" animBg="1"/>
      <p:bldP spid="13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LOCK + AWAIT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You Cannot await Inside a lock: Use SemaphoreSlim</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a:t>
            </a:r>
            <a:endParaRPr lang="en-US" sz="850" dirty="0"/>
          </a:p>
        </p:txBody>
      </p:sp>
      <p:grpSp>
        <p:nvGrpSpPr>
          <p:cNvPr id="119" name="dont"/>
          <p:cNvGrpSpPr/>
          <p:nvPr/>
        </p:nvGrpSpPr>
        <p:grpSpPr>
          <a:xfrm>
            <a:off x="543154" y="1572768"/>
            <a:ext cx="5440680" cy="2333900"/>
            <a:chOff x="543154" y="1572768"/>
            <a:chExt cx="5440680" cy="2333900"/>
          </a:xfrm>
        </p:grpSpPr>
        <p:sp>
          <p:nvSpPr>
            <p:cNvPr id="101" name="dont_win"/>
            <p:cNvSpPr/>
            <p:nvPr/>
          </p:nvSpPr>
          <p:spPr>
            <a:xfrm>
              <a:off x="543154" y="1572768"/>
              <a:ext cx="5440680" cy="2333900"/>
            </a:xfrm>
            <a:prstGeom prst="roundRect">
              <a:avLst>
                <a:gd name="adj" fmla="val 2937"/>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ShopService.cs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private</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readonly</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object</a:t>
              </a:r>
              <a:r>
                <a:rPr lang="en-US" sz="860" b="0" dirty="0">
                  <a:solidFill>
                    <a:srgbClr val="E2E8F0"/>
                  </a:solidFill>
                  <a:latin typeface="Consolas"/>
                  <a:ea typeface="Consolas"/>
                  <a:cs typeface="Consolas"/>
                </a:rPr>
                <a:t> _sync = </a:t>
              </a: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a:t>
              </a:r>
              <a:endParaRPr lang="en-US" sz="860" dirty="0"/>
            </a:p>
          </p:txBody>
        </p:sp>
        <p:sp>
          <p:nvSpPr>
            <p:cNvPr id="110" name="dont_L02"/>
            <p:cNvSpPr txBox="1"/>
            <p:nvPr/>
          </p:nvSpPr>
          <p:spPr>
            <a:xfrm>
              <a:off x="771754" y="2364668"/>
              <a:ext cx="514068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public</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async</a:t>
              </a:r>
              <a:r>
                <a:rPr lang="en-US" sz="860" b="0" dirty="0">
                  <a:solidFill>
                    <a:srgbClr val="E2E8F0"/>
                  </a:solidFill>
                  <a:latin typeface="Consolas"/>
                  <a:ea typeface="Consolas"/>
                  <a:cs typeface="Consolas"/>
                </a:rPr>
                <a:t> Task&lt;</a:t>
              </a:r>
              <a:r>
                <a:rPr lang="en-US" sz="860" b="0" dirty="0">
                  <a:solidFill>
                    <a:srgbClr val="60A5FA"/>
                  </a:solidFill>
                  <a:latin typeface="Consolas"/>
                  <a:ea typeface="Consolas"/>
                  <a:cs typeface="Consolas"/>
                </a:rPr>
                <a:t>bool</a:t>
              </a:r>
              <a:r>
                <a:rPr lang="en-US" sz="860" b="0" dirty="0">
                  <a:solidFill>
                    <a:srgbClr val="E2E8F0"/>
                  </a:solidFill>
                  <a:latin typeface="Consolas"/>
                  <a:ea typeface="Consolas"/>
                  <a:cs typeface="Consolas"/>
                </a:rPr>
                <a:t>&gt; BuyAsync(</a:t>
              </a:r>
              <a:r>
                <a:rPr lang="en-US" sz="860" b="0" dirty="0">
                  <a:solidFill>
                    <a:srgbClr val="60A5FA"/>
                  </a:solidFill>
                  <a:latin typeface="Consolas"/>
                  <a:ea typeface="Consolas"/>
                  <a:cs typeface="Consolas"/>
                </a:rPr>
                <a:t>int</a:t>
              </a:r>
              <a:r>
                <a:rPr lang="en-US" sz="860" b="0" dirty="0">
                  <a:solidFill>
                    <a:srgbClr val="E2E8F0"/>
                  </a:solidFill>
                  <a:latin typeface="Consolas"/>
                  <a:ea typeface="Consolas"/>
                  <a:cs typeface="Consolas"/>
                </a:rPr>
                <a:t> productId)</a:t>
              </a:r>
              <a:endParaRPr lang="en-US" sz="860" dirty="0"/>
            </a:p>
          </p:txBody>
        </p:sp>
        <p:sp>
          <p:nvSpPr>
            <p:cNvPr id="111" name="dont_L03"/>
            <p:cNvSpPr txBox="1"/>
            <p:nvPr/>
          </p:nvSpPr>
          <p:spPr>
            <a:xfrm>
              <a:off x="771754" y="2522668"/>
              <a:ext cx="514068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2" name="dont_L04"/>
            <p:cNvSpPr txBox="1"/>
            <p:nvPr/>
          </p:nvSpPr>
          <p:spPr>
            <a:xfrm>
              <a:off x="771754" y="2680668"/>
              <a:ext cx="514068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lock</a:t>
              </a:r>
              <a:r>
                <a:rPr lang="en-US" sz="860" b="0" dirty="0">
                  <a:solidFill>
                    <a:srgbClr val="E2E8F0"/>
                  </a:solidFill>
                  <a:latin typeface="Consolas"/>
                  <a:ea typeface="Consolas"/>
                  <a:cs typeface="Consolas"/>
                </a:rPr>
                <a:t> (_sync)</a:t>
              </a:r>
              <a:endParaRPr lang="en-US" sz="860" dirty="0"/>
            </a:p>
          </p:txBody>
        </p:sp>
        <p:sp>
          <p:nvSpPr>
            <p:cNvPr id="113" name="dont_L05"/>
            <p:cNvSpPr txBox="1"/>
            <p:nvPr/>
          </p:nvSpPr>
          <p:spPr>
            <a:xfrm>
              <a:off x="771754" y="2838668"/>
              <a:ext cx="514068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4" name="dont_L06"/>
            <p:cNvSpPr txBox="1"/>
            <p:nvPr/>
          </p:nvSpPr>
          <p:spPr>
            <a:xfrm>
              <a:off x="771754" y="2996668"/>
              <a:ext cx="514068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60A5FA"/>
                  </a:solidFill>
                  <a:latin typeface="Consolas"/>
                  <a:ea typeface="Consolas"/>
                  <a:cs typeface="Consolas"/>
                </a:rPr>
                <a:t>var</a:t>
              </a:r>
              <a:r>
                <a:rPr lang="en-US" sz="860" b="0" dirty="0">
                  <a:solidFill>
                    <a:srgbClr val="E2E8F0"/>
                  </a:solidFill>
                  <a:latin typeface="Consolas"/>
                  <a:ea typeface="Consolas"/>
                  <a:cs typeface="Consolas"/>
                </a:rPr>
                <a:t> product = </a:t>
              </a: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db.Products.FindAsync(productId);</a:t>
              </a:r>
              <a:endParaRPr lang="en-US" sz="860" dirty="0"/>
            </a:p>
          </p:txBody>
        </p:sp>
        <p:sp>
          <p:nvSpPr>
            <p:cNvPr id="115" name="dont_L07"/>
            <p:cNvSpPr txBox="1"/>
            <p:nvPr/>
          </p:nvSpPr>
          <p:spPr>
            <a:xfrm>
              <a:off x="771754" y="3154668"/>
              <a:ext cx="514068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6FAE7A"/>
                  </a:solidFill>
                  <a:latin typeface="Consolas"/>
                  <a:ea typeface="Consolas"/>
                  <a:cs typeface="Consolas"/>
                </a:rPr>
                <a:t>// error CS1996: Cannot await in the body</a:t>
              </a:r>
              <a:endParaRPr lang="en-US" sz="860" dirty="0"/>
            </a:p>
          </p:txBody>
        </p:sp>
        <p:sp>
          <p:nvSpPr>
            <p:cNvPr id="116" name="dont_L08"/>
            <p:cNvSpPr txBox="1"/>
            <p:nvPr/>
          </p:nvSpPr>
          <p:spPr>
            <a:xfrm>
              <a:off x="771754" y="3312668"/>
              <a:ext cx="514068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6FAE7A"/>
                  </a:solidFill>
                  <a:latin typeface="Consolas"/>
                  <a:ea typeface="Consolas"/>
                  <a:cs typeface="Consolas"/>
                </a:rPr>
                <a:t>//               of a lock statement</a:t>
              </a:r>
              <a:endParaRPr lang="en-US" sz="860" dirty="0"/>
            </a:p>
          </p:txBody>
        </p:sp>
        <p:sp>
          <p:nvSpPr>
            <p:cNvPr id="117" name="dont_L09"/>
            <p:cNvSpPr txBox="1"/>
            <p:nvPr/>
          </p:nvSpPr>
          <p:spPr>
            <a:xfrm>
              <a:off x="771754" y="3470668"/>
              <a:ext cx="514068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8" name="dont_L10"/>
            <p:cNvSpPr txBox="1"/>
            <p:nvPr/>
          </p:nvSpPr>
          <p:spPr>
            <a:xfrm>
              <a:off x="771754" y="3628668"/>
              <a:ext cx="514068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grpSp>
      <p:sp>
        <p:nvSpPr>
          <p:cNvPr id="120" name="dont_hl6"/>
          <p:cNvSpPr/>
          <p:nvPr/>
        </p:nvSpPr>
        <p:spPr>
          <a:xfrm>
            <a:off x="676656" y="2978380"/>
            <a:ext cx="5173680" cy="19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1" name="th0"/>
          <p:cNvSpPr/>
          <p:nvPr/>
        </p:nvSpPr>
        <p:spPr>
          <a:xfrm>
            <a:off x="543154" y="3950208"/>
            <a:ext cx="1722120" cy="1024128"/>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Thread 7</a:t>
            </a:r>
            <a:endParaRPr lang="en-US" sz="1100" dirty="0"/>
          </a:p>
          <a:p>
            <a:pPr marL="0" indent="0" algn="l">
              <a:spcBef>
                <a:spcPts val="0"/>
              </a:spcBef>
              <a:spcAft>
                <a:spcPts val="0"/>
              </a:spcAft>
              <a:buNone/>
            </a:pPr>
            <a:r>
              <a:rPr lang="en-US" sz="1000" b="0" dirty="0">
                <a:solidFill>
                  <a:srgbClr val="CBD5E1"/>
                </a:solidFill>
                <a:latin typeface="Segoe UI"/>
                <a:ea typeface="Segoe UI"/>
                <a:cs typeface="Segoe UI"/>
              </a:rPr>
              <a:t>enters the lock: the lock now belongs to thread 7</a:t>
            </a:r>
            <a:endParaRPr lang="en-US" sz="1000" dirty="0"/>
          </a:p>
        </p:txBody>
      </p:sp>
      <p:sp>
        <p:nvSpPr>
          <p:cNvPr id="122" name="th1"/>
          <p:cNvSpPr/>
          <p:nvPr/>
        </p:nvSpPr>
        <p:spPr>
          <a:xfrm>
            <a:off x="2402434" y="3950208"/>
            <a:ext cx="1722120" cy="1024128"/>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await</a:t>
            </a:r>
            <a:endParaRPr lang="en-US" sz="1100" dirty="0"/>
          </a:p>
          <a:p>
            <a:pPr marL="0" indent="0" algn="l">
              <a:spcBef>
                <a:spcPts val="0"/>
              </a:spcBef>
              <a:spcAft>
                <a:spcPts val="0"/>
              </a:spcAft>
              <a:buNone/>
            </a:pPr>
            <a:r>
              <a:rPr lang="en-US" sz="1000" b="0" dirty="0">
                <a:solidFill>
                  <a:srgbClr val="CBD5E1"/>
                </a:solidFill>
                <a:latin typeface="Segoe UI"/>
                <a:ea typeface="Segoe UI"/>
                <a:cs typeface="Segoe UI"/>
              </a:rPr>
              <a:t>thread 7 goes back to the pool while the DB works</a:t>
            </a:r>
            <a:endParaRPr lang="en-US" sz="1000" dirty="0"/>
          </a:p>
        </p:txBody>
      </p:sp>
      <p:sp>
        <p:nvSpPr>
          <p:cNvPr id="123" name="th2"/>
          <p:cNvSpPr/>
          <p:nvPr/>
        </p:nvSpPr>
        <p:spPr>
          <a:xfrm>
            <a:off x="4261714" y="3950208"/>
            <a:ext cx="1722120" cy="1024128"/>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Thread 12</a:t>
            </a:r>
            <a:endParaRPr lang="en-US" sz="1100" dirty="0"/>
          </a:p>
          <a:p>
            <a:pPr marL="0" indent="0" algn="l">
              <a:spcBef>
                <a:spcPts val="0"/>
              </a:spcBef>
              <a:spcAft>
                <a:spcPts val="0"/>
              </a:spcAft>
              <a:buNone/>
            </a:pPr>
            <a:r>
              <a:rPr lang="en-US" sz="1000" b="0" dirty="0">
                <a:solidFill>
                  <a:srgbClr val="CBD5E1"/>
                </a:solidFill>
                <a:latin typeface="Segoe UI"/>
                <a:ea typeface="Segoe UI"/>
                <a:cs typeface="Segoe UI"/>
              </a:rPr>
              <a:t>continues the method and must exit a lock it does NOT own</a:t>
            </a:r>
            <a:endParaRPr lang="en-US" sz="1000" dirty="0"/>
          </a:p>
        </p:txBody>
      </p:sp>
      <p:sp>
        <p:nvSpPr>
          <p:cNvPr id="124" name="why"/>
          <p:cNvSpPr/>
          <p:nvPr/>
        </p:nvSpPr>
        <p:spPr>
          <a:xfrm>
            <a:off x="543154" y="5102352"/>
            <a:ext cx="5440680" cy="71323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A LOCK IS OWNED BY ONE THREAD</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await does not guarantee the same thread after it, so the compiler forbids it.</a:t>
            </a:r>
            <a:endParaRPr lang="en-US" sz="1050" dirty="0"/>
          </a:p>
        </p:txBody>
      </p:sp>
      <p:grpSp>
        <p:nvGrpSpPr>
          <p:cNvPr id="151" name="do"/>
          <p:cNvGrpSpPr/>
          <p:nvPr/>
        </p:nvGrpSpPr>
        <p:grpSpPr>
          <a:xfrm>
            <a:off x="6190488" y="1572768"/>
            <a:ext cx="5440680" cy="4195900"/>
            <a:chOff x="6190488" y="1572768"/>
            <a:chExt cx="5440680" cy="4195900"/>
          </a:xfrm>
        </p:grpSpPr>
        <p:sp>
          <p:nvSpPr>
            <p:cNvPr id="125" name="do_win"/>
            <p:cNvSpPr/>
            <p:nvPr/>
          </p:nvSpPr>
          <p:spPr>
            <a:xfrm>
              <a:off x="6190488" y="1572768"/>
              <a:ext cx="5440680" cy="4195900"/>
            </a:xfrm>
            <a:prstGeom prst="roundRect">
              <a:avLst>
                <a:gd name="adj" fmla="val 1633"/>
              </a:avLst>
            </a:prstGeom>
            <a:solidFill>
              <a:srgbClr val="060D18"/>
            </a:solidFill>
            <a:ln w="12700">
              <a:solidFill>
                <a:srgbClr val="1E3A5F"/>
              </a:solidFill>
              <a:prstDash val="solid"/>
            </a:ln>
          </p:spPr>
          <p:txBody>
            <a:bodyPr/>
            <a:lstStyle/>
            <a:p>
              <a:endParaRPr lang="en-US"/>
            </a:p>
          </p:txBody>
        </p:sp>
        <p:sp>
          <p:nvSpPr>
            <p:cNvPr id="126" name="do_bar"/>
            <p:cNvSpPr/>
            <p:nvPr/>
          </p:nvSpPr>
          <p:spPr>
            <a:xfrm>
              <a:off x="6190488"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7" name="do_barfill"/>
            <p:cNvSpPr/>
            <p:nvPr/>
          </p:nvSpPr>
          <p:spPr>
            <a:xfrm>
              <a:off x="6190488"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8" name="do_dot0"/>
            <p:cNvSpPr/>
            <p:nvPr/>
          </p:nvSpPr>
          <p:spPr>
            <a:xfrm>
              <a:off x="6352336"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9" name="do_dot1"/>
            <p:cNvSpPr/>
            <p:nvPr/>
          </p:nvSpPr>
          <p:spPr>
            <a:xfrm>
              <a:off x="6537960"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30" name="do_dot2"/>
            <p:cNvSpPr/>
            <p:nvPr/>
          </p:nvSpPr>
          <p:spPr>
            <a:xfrm>
              <a:off x="6723584"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31" name="do_tab"/>
            <p:cNvSpPr/>
            <p:nvPr/>
          </p:nvSpPr>
          <p:spPr>
            <a:xfrm>
              <a:off x="6971385"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ShopService.cs</a:t>
              </a:r>
              <a:endParaRPr lang="en-US" sz="950" dirty="0"/>
            </a:p>
          </p:txBody>
        </p:sp>
        <p:sp>
          <p:nvSpPr>
            <p:cNvPr id="132" name="do_lbl"/>
            <p:cNvSpPr/>
            <p:nvPr/>
          </p:nvSpPr>
          <p:spPr>
            <a:xfrm>
              <a:off x="10305288"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3" name="do_L00"/>
            <p:cNvSpPr txBox="1"/>
            <p:nvPr/>
          </p:nvSpPr>
          <p:spPr>
            <a:xfrm>
              <a:off x="6419088" y="20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private</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static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readonly</a:t>
              </a:r>
              <a:r>
                <a:rPr lang="en-US" sz="820" b="0" dirty="0">
                  <a:solidFill>
                    <a:srgbClr val="E2E8F0"/>
                  </a:solidFill>
                  <a:latin typeface="Consolas"/>
                  <a:ea typeface="Consolas"/>
                  <a:cs typeface="Consolas"/>
                </a:rPr>
                <a:t> SemaphoreSlim _semaphore = </a:t>
              </a:r>
              <a:r>
                <a:rPr lang="en-US" sz="820" b="0" dirty="0">
                  <a:solidFill>
                    <a:srgbClr val="60A5FA"/>
                  </a:solidFill>
                  <a:latin typeface="Consolas"/>
                  <a:ea typeface="Consolas"/>
                  <a:cs typeface="Consolas"/>
                </a:rPr>
                <a:t>new</a:t>
              </a:r>
              <a:r>
                <a:rPr lang="en-US" sz="820" b="0" dirty="0">
                  <a:solidFill>
                    <a:srgbClr val="E2E8F0"/>
                  </a:solidFill>
                  <a:latin typeface="Consolas"/>
                  <a:ea typeface="Consolas"/>
                  <a:cs typeface="Consolas"/>
                </a:rPr>
                <a:t>(1, 1);  </a:t>
              </a:r>
              <a:r>
                <a:rPr lang="en-US" sz="820" b="0" dirty="0">
                  <a:solidFill>
                    <a:srgbClr val="6FAE7A"/>
                  </a:solidFill>
                  <a:latin typeface="Consolas"/>
                  <a:ea typeface="Consolas"/>
                  <a:cs typeface="Consolas"/>
                </a:rPr>
                <a:t>// 1 at a time</a:t>
              </a:r>
              <a:endParaRPr lang="en-US" sz="820" dirty="0"/>
            </a:p>
          </p:txBody>
        </p:sp>
        <p:sp>
          <p:nvSpPr>
            <p:cNvPr id="134" name="do_L02"/>
            <p:cNvSpPr txBox="1"/>
            <p:nvPr/>
          </p:nvSpPr>
          <p:spPr>
            <a:xfrm>
              <a:off x="6419088" y="23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async</a:t>
              </a:r>
              <a:r>
                <a:rPr lang="en-US" sz="820" b="0" dirty="0">
                  <a:solidFill>
                    <a:srgbClr val="E2E8F0"/>
                  </a:solidFill>
                  <a:latin typeface="Consolas"/>
                  <a:ea typeface="Consolas"/>
                  <a:cs typeface="Consolas"/>
                </a:rPr>
                <a:t> Task&lt;</a:t>
              </a:r>
              <a:r>
                <a:rPr lang="en-US" sz="820" b="0" dirty="0">
                  <a:solidFill>
                    <a:srgbClr val="60A5FA"/>
                  </a:solidFill>
                  <a:latin typeface="Consolas"/>
                  <a:ea typeface="Consolas"/>
                  <a:cs typeface="Consolas"/>
                </a:rPr>
                <a:t>bool</a:t>
              </a:r>
              <a:r>
                <a:rPr lang="en-US" sz="820" b="0" dirty="0">
                  <a:solidFill>
                    <a:srgbClr val="E2E8F0"/>
                  </a:solidFill>
                  <a:latin typeface="Consolas"/>
                  <a:ea typeface="Consolas"/>
                  <a:cs typeface="Consolas"/>
                </a:rPr>
                <a:t>&gt; BuyAsync(</a:t>
              </a:r>
              <a:r>
                <a:rPr lang="en-US" sz="820" b="0" dirty="0">
                  <a:solidFill>
                    <a:srgbClr val="60A5FA"/>
                  </a:solidFill>
                  <a:latin typeface="Consolas"/>
                  <a:ea typeface="Consolas"/>
                  <a:cs typeface="Consolas"/>
                </a:rPr>
                <a:t>int</a:t>
              </a:r>
              <a:r>
                <a:rPr lang="en-US" sz="820" b="0" dirty="0">
                  <a:solidFill>
                    <a:srgbClr val="E2E8F0"/>
                  </a:solidFill>
                  <a:latin typeface="Consolas"/>
                  <a:ea typeface="Consolas"/>
                  <a:cs typeface="Consolas"/>
                </a:rPr>
                <a:t> productId)</a:t>
              </a:r>
              <a:endParaRPr lang="en-US" sz="820" dirty="0"/>
            </a:p>
          </p:txBody>
        </p:sp>
        <p:sp>
          <p:nvSpPr>
            <p:cNvPr id="135" name="do_L03"/>
            <p:cNvSpPr txBox="1"/>
            <p:nvPr/>
          </p:nvSpPr>
          <p:spPr>
            <a:xfrm>
              <a:off x="6419088" y="24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36" name="do_L04"/>
            <p:cNvSpPr txBox="1"/>
            <p:nvPr/>
          </p:nvSpPr>
          <p:spPr>
            <a:xfrm>
              <a:off x="6419088" y="264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_semaphore.WaitAsync();          </a:t>
              </a:r>
              <a:r>
                <a:rPr lang="en-US" sz="820" b="0" dirty="0">
                  <a:solidFill>
                    <a:srgbClr val="6FAE7A"/>
                  </a:solidFill>
                  <a:latin typeface="Consolas"/>
                  <a:ea typeface="Consolas"/>
                  <a:cs typeface="Consolas"/>
                </a:rPr>
                <a:t>// waits without blocking a thread</a:t>
              </a:r>
              <a:endParaRPr lang="en-US" sz="820" dirty="0"/>
            </a:p>
          </p:txBody>
        </p:sp>
        <p:sp>
          <p:nvSpPr>
            <p:cNvPr id="137" name="do_L06"/>
            <p:cNvSpPr txBox="1"/>
            <p:nvPr/>
          </p:nvSpPr>
          <p:spPr>
            <a:xfrm>
              <a:off x="6419088" y="294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try</a:t>
              </a:r>
              <a:endParaRPr lang="en-US" sz="820" dirty="0"/>
            </a:p>
          </p:txBody>
        </p:sp>
        <p:sp>
          <p:nvSpPr>
            <p:cNvPr id="138" name="do_L07"/>
            <p:cNvSpPr txBox="1"/>
            <p:nvPr/>
          </p:nvSpPr>
          <p:spPr>
            <a:xfrm>
              <a:off x="6419088" y="309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39" name="do_L08"/>
            <p:cNvSpPr txBox="1"/>
            <p:nvPr/>
          </p:nvSpPr>
          <p:spPr>
            <a:xfrm>
              <a:off x="6419088" y="3248668"/>
              <a:ext cx="5140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60A5FA"/>
                  </a:solidFill>
                  <a:latin typeface="Consolas"/>
                  <a:ea typeface="Consolas"/>
                  <a:cs typeface="Consolas"/>
                </a:rPr>
                <a:t>var</a:t>
              </a:r>
              <a:r>
                <a:rPr lang="en-US" sz="820" b="0" dirty="0">
                  <a:solidFill>
                    <a:srgbClr val="E2E8F0"/>
                  </a:solidFill>
                  <a:latin typeface="Consolas"/>
                  <a:ea typeface="Consolas"/>
                  <a:cs typeface="Consolas"/>
                </a:rPr>
                <a:t> product = </a:t>
              </a: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db.Products.FindAsync(productId);</a:t>
              </a:r>
              <a:endParaRPr lang="en-US" sz="820" dirty="0"/>
            </a:p>
          </p:txBody>
        </p:sp>
        <p:sp>
          <p:nvSpPr>
            <p:cNvPr id="140" name="do_L10"/>
            <p:cNvSpPr txBox="1"/>
            <p:nvPr/>
          </p:nvSpPr>
          <p:spPr>
            <a:xfrm>
              <a:off x="6419088" y="3548668"/>
              <a:ext cx="5140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60A5FA"/>
                  </a:solidFill>
                  <a:latin typeface="Consolas"/>
                  <a:ea typeface="Consolas"/>
                  <a:cs typeface="Consolas"/>
                </a:rPr>
                <a:t>if</a:t>
              </a:r>
              <a:r>
                <a:rPr lang="en-US" sz="820" b="0" dirty="0">
                  <a:solidFill>
                    <a:srgbClr val="E2E8F0"/>
                  </a:solidFill>
                  <a:latin typeface="Consolas"/>
                  <a:ea typeface="Consolas"/>
                  <a:cs typeface="Consolas"/>
                </a:rPr>
                <a:t> (product </a:t>
              </a:r>
              <a:r>
                <a:rPr lang="en-US" sz="820" b="0" dirty="0">
                  <a:solidFill>
                    <a:srgbClr val="60A5FA"/>
                  </a:solidFill>
                  <a:latin typeface="Consolas"/>
                  <a:ea typeface="Consolas"/>
                  <a:cs typeface="Consolas"/>
                </a:rPr>
                <a:t>is</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null</a:t>
              </a:r>
              <a:r>
                <a:rPr lang="en-US" sz="820" b="0" dirty="0">
                  <a:solidFill>
                    <a:srgbClr val="E2E8F0"/>
                  </a:solidFill>
                  <a:latin typeface="Consolas"/>
                  <a:ea typeface="Consolas"/>
                  <a:cs typeface="Consolas"/>
                </a:rPr>
                <a:t> || product.Stock &lt;= 0)</a:t>
              </a:r>
              <a:endParaRPr lang="en-US" sz="820" dirty="0"/>
            </a:p>
          </p:txBody>
        </p:sp>
        <p:sp>
          <p:nvSpPr>
            <p:cNvPr id="141" name="do_L11"/>
            <p:cNvSpPr txBox="1"/>
            <p:nvPr/>
          </p:nvSpPr>
          <p:spPr>
            <a:xfrm>
              <a:off x="6419088" y="3698668"/>
              <a:ext cx="514068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20" b="0" dirty="0">
                  <a:solidFill>
                    <a:srgbClr val="60A5FA"/>
                  </a:solidFill>
                  <a:latin typeface="Consolas"/>
                  <a:ea typeface="Consolas"/>
                  <a:cs typeface="Consolas"/>
                </a:rPr>
                <a:t>return</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false</a:t>
              </a:r>
              <a:r>
                <a:rPr lang="en-US" sz="820" b="0" dirty="0">
                  <a:solidFill>
                    <a:srgbClr val="E2E8F0"/>
                  </a:solidFill>
                  <a:latin typeface="Consolas"/>
                  <a:ea typeface="Consolas"/>
                  <a:cs typeface="Consolas"/>
                </a:rPr>
                <a:t>;</a:t>
              </a:r>
              <a:endParaRPr lang="en-US" sz="820" dirty="0"/>
            </a:p>
          </p:txBody>
        </p:sp>
        <p:sp>
          <p:nvSpPr>
            <p:cNvPr id="142" name="do_L13"/>
            <p:cNvSpPr txBox="1"/>
            <p:nvPr/>
          </p:nvSpPr>
          <p:spPr>
            <a:xfrm>
              <a:off x="6419088" y="3998668"/>
              <a:ext cx="5140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E2E8F0"/>
                  </a:solidFill>
                  <a:latin typeface="Consolas"/>
                  <a:ea typeface="Consolas"/>
                  <a:cs typeface="Consolas"/>
                </a:rPr>
                <a:t>product.Stock--;</a:t>
              </a:r>
              <a:endParaRPr lang="en-US" sz="820" dirty="0"/>
            </a:p>
          </p:txBody>
        </p:sp>
        <p:sp>
          <p:nvSpPr>
            <p:cNvPr id="143" name="do_L15"/>
            <p:cNvSpPr txBox="1"/>
            <p:nvPr/>
          </p:nvSpPr>
          <p:spPr>
            <a:xfrm>
              <a:off x="6419088" y="4298668"/>
              <a:ext cx="5140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db.SaveChangesAsync();</a:t>
              </a:r>
              <a:endParaRPr lang="en-US" sz="820" dirty="0"/>
            </a:p>
          </p:txBody>
        </p:sp>
        <p:sp>
          <p:nvSpPr>
            <p:cNvPr id="144" name="do_L17"/>
            <p:cNvSpPr txBox="1"/>
            <p:nvPr/>
          </p:nvSpPr>
          <p:spPr>
            <a:xfrm>
              <a:off x="6419088" y="4598668"/>
              <a:ext cx="5140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60A5FA"/>
                  </a:solidFill>
                  <a:latin typeface="Consolas"/>
                  <a:ea typeface="Consolas"/>
                  <a:cs typeface="Consolas"/>
                </a:rPr>
                <a:t>return</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true</a:t>
              </a:r>
              <a:r>
                <a:rPr lang="en-US" sz="820" b="0" dirty="0">
                  <a:solidFill>
                    <a:srgbClr val="E2E8F0"/>
                  </a:solidFill>
                  <a:latin typeface="Consolas"/>
                  <a:ea typeface="Consolas"/>
                  <a:cs typeface="Consolas"/>
                </a:rPr>
                <a:t>;</a:t>
              </a:r>
              <a:endParaRPr lang="en-US" sz="820" dirty="0"/>
            </a:p>
          </p:txBody>
        </p:sp>
        <p:sp>
          <p:nvSpPr>
            <p:cNvPr id="145" name="do_L18"/>
            <p:cNvSpPr txBox="1"/>
            <p:nvPr/>
          </p:nvSpPr>
          <p:spPr>
            <a:xfrm>
              <a:off x="6419088" y="474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6" name="do_L19"/>
            <p:cNvSpPr txBox="1"/>
            <p:nvPr/>
          </p:nvSpPr>
          <p:spPr>
            <a:xfrm>
              <a:off x="6419088" y="489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finally</a:t>
              </a:r>
              <a:endParaRPr lang="en-US" sz="820" dirty="0"/>
            </a:p>
          </p:txBody>
        </p:sp>
        <p:sp>
          <p:nvSpPr>
            <p:cNvPr id="147" name="do_L20"/>
            <p:cNvSpPr txBox="1"/>
            <p:nvPr/>
          </p:nvSpPr>
          <p:spPr>
            <a:xfrm>
              <a:off x="6419088" y="504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8" name="do_L21"/>
            <p:cNvSpPr txBox="1"/>
            <p:nvPr/>
          </p:nvSpPr>
          <p:spPr>
            <a:xfrm>
              <a:off x="6419088" y="5198668"/>
              <a:ext cx="5140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E2E8F0"/>
                  </a:solidFill>
                  <a:latin typeface="Consolas"/>
                  <a:ea typeface="Consolas"/>
                  <a:cs typeface="Consolas"/>
                </a:rPr>
                <a:t>_semaphore.Release();              </a:t>
              </a:r>
              <a:r>
                <a:rPr lang="en-US" sz="820" b="0" dirty="0">
                  <a:solidFill>
                    <a:srgbClr val="6FAE7A"/>
                  </a:solidFill>
                  <a:latin typeface="Consolas"/>
                  <a:ea typeface="Consolas"/>
                  <a:cs typeface="Consolas"/>
                </a:rPr>
                <a:t>// any thread may release</a:t>
              </a:r>
              <a:endParaRPr lang="en-US" sz="820" dirty="0"/>
            </a:p>
          </p:txBody>
        </p:sp>
        <p:sp>
          <p:nvSpPr>
            <p:cNvPr id="149" name="do_L22"/>
            <p:cNvSpPr txBox="1"/>
            <p:nvPr/>
          </p:nvSpPr>
          <p:spPr>
            <a:xfrm>
              <a:off x="6419088" y="534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50" name="do_L23"/>
            <p:cNvSpPr txBox="1"/>
            <p:nvPr/>
          </p:nvSpPr>
          <p:spPr>
            <a:xfrm>
              <a:off x="6419088" y="54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grpSp>
      <p:sp>
        <p:nvSpPr>
          <p:cNvPr id="152" name="do_hl4"/>
          <p:cNvSpPr/>
          <p:nvPr/>
        </p:nvSpPr>
        <p:spPr>
          <a:xfrm>
            <a:off x="6323990" y="2630380"/>
            <a:ext cx="517368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3" name="do_hl21"/>
          <p:cNvSpPr/>
          <p:nvPr/>
        </p:nvSpPr>
        <p:spPr>
          <a:xfrm>
            <a:off x="6323990" y="5180380"/>
            <a:ext cx="5173680" cy="18657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54" name="arrow"/>
          <p:cNvCxnSpPr/>
          <p:nvPr/>
        </p:nvCxnSpPr>
        <p:spPr>
          <a:xfrm>
            <a:off x="6011266" y="2743200"/>
            <a:ext cx="151790" cy="0"/>
          </a:xfrm>
          <a:prstGeom prst="line">
            <a:avLst/>
          </a:prstGeom>
          <a:ln w="28575">
            <a:solidFill>
              <a:srgbClr val="13D0F7"/>
            </a:solidFill>
            <a:tailEnd type="triangle" w="med" len="med"/>
          </a:ln>
        </p:spPr>
      </p:cxnSp>
    </p:spTree>
    <p:extLst>
      <p:ext uri="{BB962C8B-B14F-4D97-AF65-F5344CB8AC3E}">
        <p14:creationId xmlns:p14="http://schemas.microsoft.com/office/powerpoint/2010/main" val="34557343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400"/>
                                        <p:tgtEl>
                                          <p:spTgt spid="1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fade">
                                      <p:cBhvr>
                                        <p:cTn id="10" dur="400"/>
                                        <p:tgtEl>
                                          <p:spTgt spid="1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animEffect transition="in" filter="fade">
                                      <p:cBhvr>
                                        <p:cTn id="15" dur="400"/>
                                        <p:tgtEl>
                                          <p:spTgt spid="1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fade">
                                      <p:cBhvr>
                                        <p:cTn id="20" dur="400"/>
                                        <p:tgtEl>
                                          <p:spTgt spid="1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3"/>
                                        </p:tgtEl>
                                        <p:attrNameLst>
                                          <p:attrName>style.visibility</p:attrName>
                                        </p:attrNameLst>
                                      </p:cBhvr>
                                      <p:to>
                                        <p:strVal val="visible"/>
                                      </p:to>
                                    </p:set>
                                    <p:animEffect transition="in" filter="fade">
                                      <p:cBhvr>
                                        <p:cTn id="25" dur="400"/>
                                        <p:tgtEl>
                                          <p:spTgt spid="1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4"/>
                                        </p:tgtEl>
                                        <p:attrNameLst>
                                          <p:attrName>style.visibility</p:attrName>
                                        </p:attrNameLst>
                                      </p:cBhvr>
                                      <p:to>
                                        <p:strVal val="visible"/>
                                      </p:to>
                                    </p:set>
                                    <p:animEffect transition="in" filter="fade">
                                      <p:cBhvr>
                                        <p:cTn id="30" dur="400"/>
                                        <p:tgtEl>
                                          <p:spTgt spid="12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54"/>
                                        </p:tgtEl>
                                        <p:attrNameLst>
                                          <p:attrName>style.visibility</p:attrName>
                                        </p:attrNameLst>
                                      </p:cBhvr>
                                      <p:to>
                                        <p:strVal val="visible"/>
                                      </p:to>
                                    </p:set>
                                    <p:animEffect transition="in" filter="fade">
                                      <p:cBhvr>
                                        <p:cTn id="35" dur="400"/>
                                        <p:tgtEl>
                                          <p:spTgt spid="154"/>
                                        </p:tgtEl>
                                      </p:cBhvr>
                                    </p:animEffect>
                                  </p:childTnLst>
                                </p:cTn>
                              </p:par>
                              <p:par>
                                <p:cTn id="36" presetID="10" presetClass="entr" presetSubtype="0" fill="hold" nodeType="withEffect">
                                  <p:stCondLst>
                                    <p:cond delay="0"/>
                                  </p:stCondLst>
                                  <p:childTnLst>
                                    <p:set>
                                      <p:cBhvr>
                                        <p:cTn id="37" dur="1" fill="hold">
                                          <p:stCondLst>
                                            <p:cond delay="0"/>
                                          </p:stCondLst>
                                        </p:cTn>
                                        <p:tgtEl>
                                          <p:spTgt spid="151"/>
                                        </p:tgtEl>
                                        <p:attrNameLst>
                                          <p:attrName>style.visibility</p:attrName>
                                        </p:attrNameLst>
                                      </p:cBhvr>
                                      <p:to>
                                        <p:strVal val="visible"/>
                                      </p:to>
                                    </p:set>
                                    <p:animEffect transition="in" filter="fade">
                                      <p:cBhvr>
                                        <p:cTn id="38" dur="400"/>
                                        <p:tgtEl>
                                          <p:spTgt spid="15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2"/>
                                        </p:tgtEl>
                                        <p:attrNameLst>
                                          <p:attrName>style.visibility</p:attrName>
                                        </p:attrNameLst>
                                      </p:cBhvr>
                                      <p:to>
                                        <p:strVal val="visible"/>
                                      </p:to>
                                    </p:set>
                                    <p:animEffect transition="in" filter="fade">
                                      <p:cBhvr>
                                        <p:cTn id="41" dur="400"/>
                                        <p:tgtEl>
                                          <p:spTgt spid="15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3"/>
                                        </p:tgtEl>
                                        <p:attrNameLst>
                                          <p:attrName>style.visibility</p:attrName>
                                        </p:attrNameLst>
                                      </p:cBhvr>
                                      <p:to>
                                        <p:strVal val="visible"/>
                                      </p:to>
                                    </p:set>
                                    <p:animEffect transition="in" filter="fade">
                                      <p:cBhvr>
                                        <p:cTn id="44" dur="4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1" grpId="0" animBg="1"/>
      <p:bldP spid="122" grpId="0" animBg="1"/>
      <p:bldP spid="123" grpId="0" animBg="1"/>
      <p:bldP spid="124" grpId="0" animBg="1"/>
      <p:bldP spid="152" grpId="0" animBg="1"/>
      <p:bldP spid="15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DATABASE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Two Servers: lock and SemaphoreSlim Both Fail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DATABASE CONCURRENCY</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17</a:t>
            </a:r>
            <a:endParaRPr lang="en-US" sz="850" dirty="0"/>
          </a:p>
        </p:txBody>
      </p:sp>
      <p:grpSp>
        <p:nvGrpSpPr>
          <p:cNvPr id="122" name="code"/>
          <p:cNvGrpSpPr/>
          <p:nvPr/>
        </p:nvGrpSpPr>
        <p:grpSpPr>
          <a:xfrm>
            <a:off x="543154" y="1572768"/>
            <a:ext cx="5989320" cy="3070900"/>
            <a:chOff x="543154" y="1572768"/>
            <a:chExt cx="5989320" cy="3070900"/>
          </a:xfrm>
        </p:grpSpPr>
        <p:sp>
          <p:nvSpPr>
            <p:cNvPr id="101" name="code_win"/>
            <p:cNvSpPr/>
            <p:nvPr/>
          </p:nvSpPr>
          <p:spPr>
            <a:xfrm>
              <a:off x="543154" y="1572768"/>
              <a:ext cx="5989320" cy="3070900"/>
            </a:xfrm>
            <a:prstGeom prst="roundRect">
              <a:avLst>
                <a:gd name="adj" fmla="val 2232"/>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59893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598932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ShopService.cs</a:t>
              </a:r>
              <a:endParaRPr lang="en-US" sz="950" dirty="0"/>
            </a:p>
          </p:txBody>
        </p:sp>
        <p:sp>
          <p:nvSpPr>
            <p:cNvPr id="108" name="code_L00"/>
            <p:cNvSpPr txBox="1"/>
            <p:nvPr/>
          </p:nvSpPr>
          <p:spPr>
            <a:xfrm>
              <a:off x="771754" y="2048668"/>
              <a:ext cx="56893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private</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static</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readonly</a:t>
              </a:r>
              <a:r>
                <a:rPr lang="en-US" sz="860" b="0" dirty="0">
                  <a:solidFill>
                    <a:srgbClr val="E2E8F0"/>
                  </a:solidFill>
                  <a:latin typeface="Consolas"/>
                  <a:ea typeface="Consolas"/>
                  <a:cs typeface="Consolas"/>
                </a:rPr>
                <a:t> SemaphoreSlim _semaphore = </a:t>
              </a: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(1, 1);</a:t>
              </a:r>
              <a:endParaRPr lang="en-US" sz="860" dirty="0"/>
            </a:p>
          </p:txBody>
        </p:sp>
        <p:sp>
          <p:nvSpPr>
            <p:cNvPr id="109" name="code_L02"/>
            <p:cNvSpPr txBox="1"/>
            <p:nvPr/>
          </p:nvSpPr>
          <p:spPr>
            <a:xfrm>
              <a:off x="771754" y="2378668"/>
              <a:ext cx="56893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public</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async</a:t>
              </a:r>
              <a:r>
                <a:rPr lang="en-US" sz="860" b="0" dirty="0">
                  <a:solidFill>
                    <a:srgbClr val="E2E8F0"/>
                  </a:solidFill>
                  <a:latin typeface="Consolas"/>
                  <a:ea typeface="Consolas"/>
                  <a:cs typeface="Consolas"/>
                </a:rPr>
                <a:t> Task&lt;</a:t>
              </a:r>
              <a:r>
                <a:rPr lang="en-US" sz="860" b="0" dirty="0">
                  <a:solidFill>
                    <a:srgbClr val="60A5FA"/>
                  </a:solidFill>
                  <a:latin typeface="Consolas"/>
                  <a:ea typeface="Consolas"/>
                  <a:cs typeface="Consolas"/>
                </a:rPr>
                <a:t>bool</a:t>
              </a:r>
              <a:r>
                <a:rPr lang="en-US" sz="860" b="0" dirty="0">
                  <a:solidFill>
                    <a:srgbClr val="E2E8F0"/>
                  </a:solidFill>
                  <a:latin typeface="Consolas"/>
                  <a:ea typeface="Consolas"/>
                  <a:cs typeface="Consolas"/>
                </a:rPr>
                <a:t>&gt; BuyAsync(</a:t>
              </a:r>
              <a:r>
                <a:rPr lang="en-US" sz="860" b="0" dirty="0">
                  <a:solidFill>
                    <a:srgbClr val="60A5FA"/>
                  </a:solidFill>
                  <a:latin typeface="Consolas"/>
                  <a:ea typeface="Consolas"/>
                  <a:cs typeface="Consolas"/>
                </a:rPr>
                <a:t>int</a:t>
              </a:r>
              <a:r>
                <a:rPr lang="en-US" sz="860" b="0" dirty="0">
                  <a:solidFill>
                    <a:srgbClr val="E2E8F0"/>
                  </a:solidFill>
                  <a:latin typeface="Consolas"/>
                  <a:ea typeface="Consolas"/>
                  <a:cs typeface="Consolas"/>
                </a:rPr>
                <a:t> productId)</a:t>
              </a:r>
              <a:endParaRPr lang="en-US" sz="860" dirty="0"/>
            </a:p>
          </p:txBody>
        </p:sp>
        <p:sp>
          <p:nvSpPr>
            <p:cNvPr id="110" name="code_L03"/>
            <p:cNvSpPr txBox="1"/>
            <p:nvPr/>
          </p:nvSpPr>
          <p:spPr>
            <a:xfrm>
              <a:off x="771754" y="2543668"/>
              <a:ext cx="56893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1" name="code_L04"/>
            <p:cNvSpPr txBox="1"/>
            <p:nvPr/>
          </p:nvSpPr>
          <p:spPr>
            <a:xfrm>
              <a:off x="771754" y="2708668"/>
              <a:ext cx="56893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_semaphore.WaitAsync();      </a:t>
              </a:r>
              <a:r>
                <a:rPr lang="en-US" sz="860" b="0" dirty="0">
                  <a:solidFill>
                    <a:srgbClr val="6FAE7A"/>
                  </a:solidFill>
                  <a:latin typeface="Consolas"/>
                  <a:ea typeface="Consolas"/>
                  <a:cs typeface="Consolas"/>
                </a:rPr>
                <a:t>// one at a time… in THIS process</a:t>
              </a:r>
              <a:endParaRPr lang="en-US" sz="860" dirty="0"/>
            </a:p>
          </p:txBody>
        </p:sp>
        <p:sp>
          <p:nvSpPr>
            <p:cNvPr id="112" name="code_L05"/>
            <p:cNvSpPr txBox="1"/>
            <p:nvPr/>
          </p:nvSpPr>
          <p:spPr>
            <a:xfrm>
              <a:off x="771754" y="2873668"/>
              <a:ext cx="56893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try</a:t>
              </a:r>
              <a:endParaRPr lang="en-US" sz="860" dirty="0"/>
            </a:p>
          </p:txBody>
        </p:sp>
        <p:sp>
          <p:nvSpPr>
            <p:cNvPr id="113" name="code_L06"/>
            <p:cNvSpPr txBox="1"/>
            <p:nvPr/>
          </p:nvSpPr>
          <p:spPr>
            <a:xfrm>
              <a:off x="771754" y="3038668"/>
              <a:ext cx="56893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4" name="code_L07"/>
            <p:cNvSpPr txBox="1"/>
            <p:nvPr/>
          </p:nvSpPr>
          <p:spPr>
            <a:xfrm>
              <a:off x="771754" y="3203668"/>
              <a:ext cx="5689320"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60A5FA"/>
                  </a:solidFill>
                  <a:latin typeface="Consolas"/>
                  <a:ea typeface="Consolas"/>
                  <a:cs typeface="Consolas"/>
                </a:rPr>
                <a:t>var</a:t>
              </a:r>
              <a:r>
                <a:rPr lang="en-US" sz="860" b="0" dirty="0">
                  <a:solidFill>
                    <a:srgbClr val="E2E8F0"/>
                  </a:solidFill>
                  <a:latin typeface="Consolas"/>
                  <a:ea typeface="Consolas"/>
                  <a:cs typeface="Consolas"/>
                </a:rPr>
                <a:t> product = </a:t>
              </a: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db.Products.FindAsync(productId);</a:t>
              </a:r>
              <a:endParaRPr lang="en-US" sz="860" dirty="0"/>
            </a:p>
          </p:txBody>
        </p:sp>
        <p:sp>
          <p:nvSpPr>
            <p:cNvPr id="115" name="code_L08"/>
            <p:cNvSpPr txBox="1"/>
            <p:nvPr/>
          </p:nvSpPr>
          <p:spPr>
            <a:xfrm>
              <a:off x="771754" y="3368668"/>
              <a:ext cx="5689320"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60A5FA"/>
                  </a:solidFill>
                  <a:latin typeface="Consolas"/>
                  <a:ea typeface="Consolas"/>
                  <a:cs typeface="Consolas"/>
                </a:rPr>
                <a:t>if</a:t>
              </a:r>
              <a:r>
                <a:rPr lang="en-US" sz="860" b="0" dirty="0">
                  <a:solidFill>
                    <a:srgbClr val="E2E8F0"/>
                  </a:solidFill>
                  <a:latin typeface="Consolas"/>
                  <a:ea typeface="Consolas"/>
                  <a:cs typeface="Consolas"/>
                </a:rPr>
                <a:t> (product </a:t>
              </a:r>
              <a:r>
                <a:rPr lang="en-US" sz="860" b="0" dirty="0">
                  <a:solidFill>
                    <a:srgbClr val="60A5FA"/>
                  </a:solidFill>
                  <a:latin typeface="Consolas"/>
                  <a:ea typeface="Consolas"/>
                  <a:cs typeface="Consolas"/>
                </a:rPr>
                <a:t>is</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null</a:t>
              </a:r>
              <a:r>
                <a:rPr lang="en-US" sz="860" b="0" dirty="0">
                  <a:solidFill>
                    <a:srgbClr val="E2E8F0"/>
                  </a:solidFill>
                  <a:latin typeface="Consolas"/>
                  <a:ea typeface="Consolas"/>
                  <a:cs typeface="Consolas"/>
                </a:rPr>
                <a:t> || product.Stock &lt;= 0) </a:t>
              </a:r>
              <a:r>
                <a:rPr lang="en-US" sz="860" b="0" dirty="0">
                  <a:solidFill>
                    <a:srgbClr val="60A5FA"/>
                  </a:solidFill>
                  <a:latin typeface="Consolas"/>
                  <a:ea typeface="Consolas"/>
                  <a:cs typeface="Consolas"/>
                </a:rPr>
                <a:t>return</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false</a:t>
              </a:r>
              <a:r>
                <a:rPr lang="en-US" sz="860" b="0" dirty="0">
                  <a:solidFill>
                    <a:srgbClr val="E2E8F0"/>
                  </a:solidFill>
                  <a:latin typeface="Consolas"/>
                  <a:ea typeface="Consolas"/>
                  <a:cs typeface="Consolas"/>
                </a:rPr>
                <a:t>;</a:t>
              </a:r>
              <a:endParaRPr lang="en-US" sz="860" dirty="0"/>
            </a:p>
          </p:txBody>
        </p:sp>
        <p:sp>
          <p:nvSpPr>
            <p:cNvPr id="116" name="code_L09"/>
            <p:cNvSpPr txBox="1"/>
            <p:nvPr/>
          </p:nvSpPr>
          <p:spPr>
            <a:xfrm>
              <a:off x="771754" y="3533668"/>
              <a:ext cx="5689320"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product.Stock--;</a:t>
              </a:r>
              <a:endParaRPr lang="en-US" sz="860" dirty="0"/>
            </a:p>
          </p:txBody>
        </p:sp>
        <p:sp>
          <p:nvSpPr>
            <p:cNvPr id="117" name="code_L10"/>
            <p:cNvSpPr txBox="1"/>
            <p:nvPr/>
          </p:nvSpPr>
          <p:spPr>
            <a:xfrm>
              <a:off x="771754" y="3698668"/>
              <a:ext cx="5689320"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db.SaveChangesAsync();</a:t>
              </a:r>
              <a:endParaRPr lang="en-US" sz="860" dirty="0"/>
            </a:p>
          </p:txBody>
        </p:sp>
        <p:sp>
          <p:nvSpPr>
            <p:cNvPr id="118" name="code_L11"/>
            <p:cNvSpPr txBox="1"/>
            <p:nvPr/>
          </p:nvSpPr>
          <p:spPr>
            <a:xfrm>
              <a:off x="771754" y="3863668"/>
              <a:ext cx="5689320"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60A5FA"/>
                  </a:solidFill>
                  <a:latin typeface="Consolas"/>
                  <a:ea typeface="Consolas"/>
                  <a:cs typeface="Consolas"/>
                </a:rPr>
                <a:t>return</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true</a:t>
              </a:r>
              <a:r>
                <a:rPr lang="en-US" sz="860" b="0" dirty="0">
                  <a:solidFill>
                    <a:srgbClr val="E2E8F0"/>
                  </a:solidFill>
                  <a:latin typeface="Consolas"/>
                  <a:ea typeface="Consolas"/>
                  <a:cs typeface="Consolas"/>
                </a:rPr>
                <a:t>;</a:t>
              </a:r>
              <a:endParaRPr lang="en-US" sz="860" dirty="0"/>
            </a:p>
          </p:txBody>
        </p:sp>
        <p:sp>
          <p:nvSpPr>
            <p:cNvPr id="119" name="code_L12"/>
            <p:cNvSpPr txBox="1"/>
            <p:nvPr/>
          </p:nvSpPr>
          <p:spPr>
            <a:xfrm>
              <a:off x="771754" y="4028668"/>
              <a:ext cx="56893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20" name="code_L13"/>
            <p:cNvSpPr txBox="1"/>
            <p:nvPr/>
          </p:nvSpPr>
          <p:spPr>
            <a:xfrm>
              <a:off x="771754" y="4193668"/>
              <a:ext cx="56893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finally</a:t>
              </a:r>
              <a:r>
                <a:rPr lang="en-US" sz="860" b="0" dirty="0">
                  <a:solidFill>
                    <a:srgbClr val="E2E8F0"/>
                  </a:solidFill>
                  <a:latin typeface="Consolas"/>
                  <a:ea typeface="Consolas"/>
                  <a:cs typeface="Consolas"/>
                </a:rPr>
                <a:t> { _semaphore.Release(); }</a:t>
              </a:r>
              <a:endParaRPr lang="en-US" sz="860" dirty="0"/>
            </a:p>
          </p:txBody>
        </p:sp>
        <p:sp>
          <p:nvSpPr>
            <p:cNvPr id="121" name="code_L14"/>
            <p:cNvSpPr txBox="1"/>
            <p:nvPr/>
          </p:nvSpPr>
          <p:spPr>
            <a:xfrm>
              <a:off x="771754" y="4358668"/>
              <a:ext cx="56893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grpSp>
      <p:sp>
        <p:nvSpPr>
          <p:cNvPr id="123" name="code_hl4"/>
          <p:cNvSpPr/>
          <p:nvPr/>
        </p:nvSpPr>
        <p:spPr>
          <a:xfrm>
            <a:off x="676656" y="2690380"/>
            <a:ext cx="5722320" cy="201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4" name="code_hl7"/>
          <p:cNvSpPr/>
          <p:nvPr/>
        </p:nvSpPr>
        <p:spPr>
          <a:xfrm>
            <a:off x="676656" y="3185380"/>
            <a:ext cx="5722320" cy="201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5" name="code_hl8"/>
          <p:cNvSpPr/>
          <p:nvPr/>
        </p:nvSpPr>
        <p:spPr>
          <a:xfrm>
            <a:off x="676656" y="3350380"/>
            <a:ext cx="5722320" cy="201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6" name="sv0"/>
          <p:cNvSpPr/>
          <p:nvPr/>
        </p:nvSpPr>
        <p:spPr>
          <a:xfrm>
            <a:off x="6903720" y="1645920"/>
            <a:ext cx="2057400" cy="96012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FFFFFF"/>
                </a:solidFill>
                <a:latin typeface="Segoe UI"/>
                <a:ea typeface="Segoe UI"/>
                <a:cs typeface="Segoe UI"/>
              </a:rPr>
              <a:t>API server 1</a:t>
            </a:r>
            <a:endParaRPr lang="en-US" sz="1150" dirty="0"/>
          </a:p>
          <a:p>
            <a:pPr marL="0" indent="0" algn="ctr">
              <a:spcBef>
                <a:spcPts val="0"/>
              </a:spcBef>
              <a:spcAft>
                <a:spcPts val="0"/>
              </a:spcAft>
              <a:buNone/>
            </a:pPr>
            <a:r>
              <a:rPr lang="en-US" sz="950" b="0" dirty="0">
                <a:solidFill>
                  <a:srgbClr val="FBBF24"/>
                </a:solidFill>
                <a:latin typeface="Consolas"/>
                <a:ea typeface="Consolas"/>
                <a:cs typeface="Consolas"/>
              </a:rPr>
              <a:t>semaphore #1</a:t>
            </a:r>
            <a:endParaRPr lang="en-US" sz="950" dirty="0"/>
          </a:p>
          <a:p>
            <a:pPr marL="0" indent="0" algn="ctr">
              <a:spcBef>
                <a:spcPts val="0"/>
              </a:spcBef>
              <a:spcAft>
                <a:spcPts val="0"/>
              </a:spcAft>
              <a:buNone/>
            </a:pPr>
            <a:r>
              <a:rPr lang="en-US" sz="950" b="0" dirty="0">
                <a:solidFill>
                  <a:srgbClr val="94A3B8"/>
                </a:solidFill>
                <a:latin typeface="Segoe UI"/>
                <a:ea typeface="Segoe UI"/>
                <a:cs typeface="Segoe UI"/>
              </a:rPr>
              <a:t>memory #1</a:t>
            </a:r>
            <a:endParaRPr lang="en-US" sz="950" dirty="0"/>
          </a:p>
        </p:txBody>
      </p:sp>
      <p:sp>
        <p:nvSpPr>
          <p:cNvPr id="127" name="sv1"/>
          <p:cNvSpPr/>
          <p:nvPr/>
        </p:nvSpPr>
        <p:spPr>
          <a:xfrm>
            <a:off x="6903720" y="2971800"/>
            <a:ext cx="2057400" cy="96012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FFFFFF"/>
                </a:solidFill>
                <a:latin typeface="Segoe UI"/>
                <a:ea typeface="Segoe UI"/>
                <a:cs typeface="Segoe UI"/>
              </a:rPr>
              <a:t>API server 2</a:t>
            </a:r>
            <a:endParaRPr lang="en-US" sz="1150" dirty="0"/>
          </a:p>
          <a:p>
            <a:pPr marL="0" indent="0" algn="ctr">
              <a:spcBef>
                <a:spcPts val="0"/>
              </a:spcBef>
              <a:spcAft>
                <a:spcPts val="0"/>
              </a:spcAft>
              <a:buNone/>
            </a:pPr>
            <a:r>
              <a:rPr lang="en-US" sz="950" b="0" dirty="0">
                <a:solidFill>
                  <a:srgbClr val="FBBF24"/>
                </a:solidFill>
                <a:latin typeface="Consolas"/>
                <a:ea typeface="Consolas"/>
                <a:cs typeface="Consolas"/>
              </a:rPr>
              <a:t>semaphore #2</a:t>
            </a:r>
            <a:endParaRPr lang="en-US" sz="950" dirty="0"/>
          </a:p>
          <a:p>
            <a:pPr marL="0" indent="0" algn="ctr">
              <a:spcBef>
                <a:spcPts val="0"/>
              </a:spcBef>
              <a:spcAft>
                <a:spcPts val="0"/>
              </a:spcAft>
              <a:buNone/>
            </a:pPr>
            <a:r>
              <a:rPr lang="en-US" sz="950" b="0" dirty="0">
                <a:solidFill>
                  <a:srgbClr val="94A3B8"/>
                </a:solidFill>
                <a:latin typeface="Segoe UI"/>
                <a:ea typeface="Segoe UI"/>
                <a:cs typeface="Segoe UI"/>
              </a:rPr>
              <a:t>memory #2</a:t>
            </a:r>
            <a:endParaRPr lang="en-US" sz="950" dirty="0"/>
          </a:p>
        </p:txBody>
      </p:sp>
      <p:sp>
        <p:nvSpPr>
          <p:cNvPr id="128" name="db"/>
          <p:cNvSpPr/>
          <p:nvPr/>
        </p:nvSpPr>
        <p:spPr>
          <a:xfrm>
            <a:off x="9555480" y="2057400"/>
            <a:ext cx="2075688" cy="1463040"/>
          </a:xfrm>
          <a:prstGeom prst="can">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FFFFFF"/>
                </a:solidFill>
                <a:latin typeface="Segoe UI"/>
                <a:ea typeface="Segoe UI"/>
                <a:cs typeface="Segoe UI"/>
              </a:rPr>
              <a:t>SQL Server</a:t>
            </a:r>
            <a:endParaRPr lang="en-US" sz="1150" dirty="0"/>
          </a:p>
          <a:p>
            <a:pPr marL="0" indent="0" algn="ctr">
              <a:spcBef>
                <a:spcPts val="0"/>
              </a:spcBef>
              <a:spcAft>
                <a:spcPts val="0"/>
              </a:spcAft>
              <a:buNone/>
            </a:pPr>
            <a:r>
              <a:rPr lang="en-US" sz="950" b="0" dirty="0">
                <a:solidFill>
                  <a:srgbClr val="13D0F7"/>
                </a:solidFill>
                <a:latin typeface="Consolas"/>
                <a:ea typeface="Consolas"/>
                <a:cs typeface="Consolas"/>
              </a:rPr>
              <a:t>Products #5</a:t>
            </a:r>
            <a:endParaRPr lang="en-US" sz="950" dirty="0"/>
          </a:p>
          <a:p>
            <a:pPr marL="0" indent="0" algn="ctr">
              <a:spcBef>
                <a:spcPts val="0"/>
              </a:spcBef>
              <a:spcAft>
                <a:spcPts val="0"/>
              </a:spcAft>
              <a:buNone/>
            </a:pPr>
            <a:r>
              <a:rPr lang="en-US" sz="1100" b="0" dirty="0">
                <a:solidFill>
                  <a:srgbClr val="FBBF24"/>
                </a:solidFill>
                <a:latin typeface="Consolas"/>
                <a:ea typeface="Consolas"/>
                <a:cs typeface="Consolas"/>
              </a:rPr>
              <a:t>Stock = 1</a:t>
            </a:r>
            <a:endParaRPr lang="en-US" sz="1100" dirty="0"/>
          </a:p>
        </p:txBody>
      </p:sp>
      <p:cxnSp>
        <p:nvCxnSpPr>
          <p:cNvPr id="129" name="a0"/>
          <p:cNvCxnSpPr/>
          <p:nvPr/>
        </p:nvCxnSpPr>
        <p:spPr>
          <a:xfrm>
            <a:off x="8997696" y="2121408"/>
            <a:ext cx="530352" cy="484632"/>
          </a:xfrm>
          <a:prstGeom prst="line">
            <a:avLst/>
          </a:prstGeom>
          <a:ln w="28575">
            <a:solidFill>
              <a:srgbClr val="13D0F7"/>
            </a:solidFill>
            <a:tailEnd type="triangle" w="med" len="med"/>
          </a:ln>
        </p:spPr>
      </p:cxnSp>
      <p:cxnSp>
        <p:nvCxnSpPr>
          <p:cNvPr id="130" name="a1"/>
          <p:cNvCxnSpPr/>
          <p:nvPr/>
        </p:nvCxnSpPr>
        <p:spPr>
          <a:xfrm flipV="1">
            <a:off x="8997696" y="3017520"/>
            <a:ext cx="530352" cy="438912"/>
          </a:xfrm>
          <a:prstGeom prst="line">
            <a:avLst/>
          </a:prstGeom>
          <a:ln w="28575">
            <a:solidFill>
              <a:srgbClr val="13D0F7"/>
            </a:solidFill>
            <a:tailEnd type="triangle" w="med" len="med"/>
          </a:ln>
        </p:spPr>
      </p:cxnSp>
      <p:sp>
        <p:nvSpPr>
          <p:cNvPr id="131" name="k"/>
          <p:cNvSpPr/>
          <p:nvPr/>
        </p:nvSpPr>
        <p:spPr>
          <a:xfrm>
            <a:off x="6903720" y="4114800"/>
            <a:ext cx="4727448" cy="868680"/>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2 SERVERS = 2 MEMORIES</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lock and SemaphoreSlim only stop requests in the SAME process. Both servers enter at once.</a:t>
            </a:r>
            <a:endParaRPr lang="en-US" sz="1050" dirty="0"/>
          </a:p>
        </p:txBody>
      </p:sp>
      <p:sp>
        <p:nvSpPr>
          <p:cNvPr id="132" name="bn"/>
          <p:cNvSpPr/>
          <p:nvPr/>
        </p:nvSpPr>
        <p:spPr>
          <a:xfrm>
            <a:off x="543154" y="5166360"/>
            <a:ext cx="11087100" cy="640080"/>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More than one server? The shared state is a database row, so the database must decide.</a:t>
            </a:r>
            <a:endParaRPr lang="en-US" sz="1450" dirty="0"/>
          </a:p>
        </p:txBody>
      </p:sp>
    </p:spTree>
    <p:extLst>
      <p:ext uri="{BB962C8B-B14F-4D97-AF65-F5344CB8AC3E}">
        <p14:creationId xmlns:p14="http://schemas.microsoft.com/office/powerpoint/2010/main" val="6065841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400"/>
                                        <p:tgtEl>
                                          <p:spTgt spid="1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400"/>
                                        <p:tgtEl>
                                          <p:spTgt spid="1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400"/>
                                        <p:tgtEl>
                                          <p:spTgt spid="1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5"/>
                                        </p:tgtEl>
                                        <p:attrNameLst>
                                          <p:attrName>style.visibility</p:attrName>
                                        </p:attrNameLst>
                                      </p:cBhvr>
                                      <p:to>
                                        <p:strVal val="visible"/>
                                      </p:to>
                                    </p:set>
                                    <p:animEffect transition="in" filter="fade">
                                      <p:cBhvr>
                                        <p:cTn id="16" dur="400"/>
                                        <p:tgtEl>
                                          <p:spTgt spid="1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6"/>
                                        </p:tgtEl>
                                        <p:attrNameLst>
                                          <p:attrName>style.visibility</p:attrName>
                                        </p:attrNameLst>
                                      </p:cBhvr>
                                      <p:to>
                                        <p:strVal val="visible"/>
                                      </p:to>
                                    </p:set>
                                    <p:animEffect transition="in" filter="fade">
                                      <p:cBhvr>
                                        <p:cTn id="21" dur="400"/>
                                        <p:tgtEl>
                                          <p:spTgt spid="1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7"/>
                                        </p:tgtEl>
                                        <p:attrNameLst>
                                          <p:attrName>style.visibility</p:attrName>
                                        </p:attrNameLst>
                                      </p:cBhvr>
                                      <p:to>
                                        <p:strVal val="visible"/>
                                      </p:to>
                                    </p:set>
                                    <p:animEffect transition="in" filter="fade">
                                      <p:cBhvr>
                                        <p:cTn id="24" dur="400"/>
                                        <p:tgtEl>
                                          <p:spTgt spid="1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8"/>
                                        </p:tgtEl>
                                        <p:attrNameLst>
                                          <p:attrName>style.visibility</p:attrName>
                                        </p:attrNameLst>
                                      </p:cBhvr>
                                      <p:to>
                                        <p:strVal val="visible"/>
                                      </p:to>
                                    </p:set>
                                    <p:animEffect transition="in" filter="fade">
                                      <p:cBhvr>
                                        <p:cTn id="29" dur="400"/>
                                        <p:tgtEl>
                                          <p:spTgt spid="128"/>
                                        </p:tgtEl>
                                      </p:cBhvr>
                                    </p:animEffect>
                                  </p:childTnLst>
                                </p:cTn>
                              </p:par>
                            </p:childTnLst>
                          </p:cTn>
                        </p:par>
                        <p:par>
                          <p:cTn id="30" fill="hold">
                            <p:stCondLst>
                              <p:cond delay="400"/>
                            </p:stCondLst>
                            <p:childTnLst>
                              <p:par>
                                <p:cTn id="31" presetID="10" presetClass="entr" presetSubtype="0" fill="hold" nodeType="afterEffect">
                                  <p:stCondLst>
                                    <p:cond delay="0"/>
                                  </p:stCondLst>
                                  <p:childTnLst>
                                    <p:set>
                                      <p:cBhvr>
                                        <p:cTn id="32" dur="1" fill="hold">
                                          <p:stCondLst>
                                            <p:cond delay="0"/>
                                          </p:stCondLst>
                                        </p:cTn>
                                        <p:tgtEl>
                                          <p:spTgt spid="129"/>
                                        </p:tgtEl>
                                        <p:attrNameLst>
                                          <p:attrName>style.visibility</p:attrName>
                                        </p:attrNameLst>
                                      </p:cBhvr>
                                      <p:to>
                                        <p:strVal val="visible"/>
                                      </p:to>
                                    </p:set>
                                    <p:animEffect transition="in" filter="fade">
                                      <p:cBhvr>
                                        <p:cTn id="33" dur="400"/>
                                        <p:tgtEl>
                                          <p:spTgt spid="129"/>
                                        </p:tgtEl>
                                      </p:cBhvr>
                                    </p:animEffect>
                                  </p:childTnLst>
                                </p:cTn>
                              </p:par>
                              <p:par>
                                <p:cTn id="34" presetID="10" presetClass="entr" presetSubtype="0" fill="hold" nodeType="withEffect">
                                  <p:stCondLst>
                                    <p:cond delay="0"/>
                                  </p:stCondLst>
                                  <p:childTnLst>
                                    <p:set>
                                      <p:cBhvr>
                                        <p:cTn id="35" dur="1" fill="hold">
                                          <p:stCondLst>
                                            <p:cond delay="0"/>
                                          </p:stCondLst>
                                        </p:cTn>
                                        <p:tgtEl>
                                          <p:spTgt spid="130"/>
                                        </p:tgtEl>
                                        <p:attrNameLst>
                                          <p:attrName>style.visibility</p:attrName>
                                        </p:attrNameLst>
                                      </p:cBhvr>
                                      <p:to>
                                        <p:strVal val="visible"/>
                                      </p:to>
                                    </p:set>
                                    <p:animEffect transition="in" filter="fade">
                                      <p:cBhvr>
                                        <p:cTn id="36" dur="400"/>
                                        <p:tgtEl>
                                          <p:spTgt spid="13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1"/>
                                        </p:tgtEl>
                                        <p:attrNameLst>
                                          <p:attrName>style.visibility</p:attrName>
                                        </p:attrNameLst>
                                      </p:cBhvr>
                                      <p:to>
                                        <p:strVal val="visible"/>
                                      </p:to>
                                    </p:set>
                                    <p:animEffect transition="in" filter="fade">
                                      <p:cBhvr>
                                        <p:cTn id="41" dur="400"/>
                                        <p:tgtEl>
                                          <p:spTgt spid="13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32"/>
                                        </p:tgtEl>
                                        <p:attrNameLst>
                                          <p:attrName>style.visibility</p:attrName>
                                        </p:attrNameLst>
                                      </p:cBhvr>
                                      <p:to>
                                        <p:strVal val="visible"/>
                                      </p:to>
                                    </p:set>
                                    <p:animEffect transition="in" filter="fade">
                                      <p:cBhvr>
                                        <p:cTn id="46" dur="4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P spid="125" grpId="0" animBg="1"/>
      <p:bldP spid="126" grpId="0" animBg="1"/>
      <p:bldP spid="127" grpId="0" animBg="1"/>
      <p:bldP spid="128" grpId="0" animBg="1"/>
      <p:bldP spid="131" grpId="0" animBg="1"/>
      <p:bldP spid="1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ATOMIC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One Variable, One Step: Interlocked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04</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PageViews.cs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views = 0;</a:t>
            </a:r>
            <a:endParaRPr lang="en-US" sz="950" dirty="0"/>
          </a:p>
        </p:txBody>
      </p:sp>
      <p:sp>
        <p:nvSpPr>
          <p:cNvPr id="109"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called by many threads at once</a:t>
            </a:r>
            <a:endParaRPr lang="en-US" sz="950" dirty="0"/>
          </a:p>
        </p:txBody>
      </p:sp>
      <p:sp>
        <p:nvSpPr>
          <p:cNvPr id="110"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OnPageView()</a:t>
            </a:r>
            <a:endParaRPr lang="en-US" sz="950" dirty="0"/>
          </a:p>
        </p:txBody>
      </p:sp>
      <p:sp>
        <p:nvSpPr>
          <p:cNvPr id="111"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2" name="cwb_hl05"/>
          <p:cNvSpPr/>
          <p:nvPr/>
        </p:nvSpPr>
        <p:spPr>
          <a:xfrm>
            <a:off x="676656" y="299516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3"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views++;          </a:t>
            </a:r>
            <a:r>
              <a:rPr lang="en-US" sz="950" b="0" dirty="0">
                <a:solidFill>
                  <a:srgbClr val="6FAE7A"/>
                </a:solidFill>
                <a:latin typeface="Consolas"/>
                <a:ea typeface="Consolas"/>
                <a:cs typeface="Consolas"/>
              </a:rPr>
              <a:t>// READ + ADD + WRITE: 3 steps</a:t>
            </a:r>
            <a:endParaRPr lang="en-US" sz="950" dirty="0"/>
          </a:p>
        </p:txBody>
      </p:sp>
      <p:sp>
        <p:nvSpPr>
          <p:cNvPr id="114"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 reads 0, B reads 0</a:t>
            </a:r>
            <a:endParaRPr lang="en-US" sz="950" dirty="0"/>
          </a:p>
        </p:txBody>
      </p:sp>
      <p:sp>
        <p:nvSpPr>
          <p:cNvPr id="116"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 writes 1, B writes 1   → one view lost</a:t>
            </a:r>
            <a:endParaRPr lang="en-US" sz="950" dirty="0"/>
          </a:p>
        </p:txBody>
      </p:sp>
      <p:sp>
        <p:nvSpPr>
          <p:cNvPr id="117"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Expected 100000 · Actual 87412 (varies)</a:t>
            </a:r>
            <a:endParaRPr lang="en-US" sz="950" dirty="0"/>
          </a:p>
        </p:txBody>
      </p:sp>
      <p:sp>
        <p:nvSpPr>
          <p:cNvPr id="118"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19"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0"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1"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2"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3"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4"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PageViews.cs</a:t>
            </a:r>
            <a:endParaRPr lang="en-US" sz="950" dirty="0"/>
          </a:p>
        </p:txBody>
      </p:sp>
      <p:sp>
        <p:nvSpPr>
          <p:cNvPr id="125"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views = 0;</a:t>
            </a:r>
            <a:endParaRPr lang="en-US" sz="950" dirty="0"/>
          </a:p>
        </p:txBody>
      </p:sp>
      <p:sp>
        <p:nvSpPr>
          <p:cNvPr id="126"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called by many threads at once</a:t>
            </a:r>
            <a:endParaRPr lang="en-US" sz="950" dirty="0"/>
          </a:p>
        </p:txBody>
      </p:sp>
      <p:sp>
        <p:nvSpPr>
          <p:cNvPr id="127"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OnPageView()</a:t>
            </a:r>
            <a:endParaRPr lang="en-US" sz="950" dirty="0"/>
          </a:p>
        </p:txBody>
      </p:sp>
      <p:sp>
        <p:nvSpPr>
          <p:cNvPr id="128"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9" name="cwa_hl05"/>
          <p:cNvSpPr/>
          <p:nvPr/>
        </p:nvSpPr>
        <p:spPr>
          <a:xfrm>
            <a:off x="6323076" y="299516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0"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Interlocked.Increment(</a:t>
            </a:r>
            <a:r>
              <a:rPr lang="en-US" sz="950" b="0" dirty="0">
                <a:solidFill>
                  <a:srgbClr val="60A5FA"/>
                </a:solidFill>
                <a:latin typeface="Consolas"/>
                <a:ea typeface="Consolas"/>
                <a:cs typeface="Consolas"/>
              </a:rPr>
              <a:t>ref</a:t>
            </a:r>
            <a:r>
              <a:rPr lang="en-US" sz="950" b="0" dirty="0">
                <a:solidFill>
                  <a:srgbClr val="E2E8F0"/>
                </a:solidFill>
                <a:latin typeface="Consolas"/>
                <a:ea typeface="Consolas"/>
                <a:cs typeface="Consolas"/>
              </a:rPr>
              <a:t> views);   </a:t>
            </a:r>
            <a:r>
              <a:rPr lang="en-US" sz="950" b="0" dirty="0">
                <a:solidFill>
                  <a:srgbClr val="6FAE7A"/>
                </a:solidFill>
                <a:latin typeface="Consolas"/>
                <a:ea typeface="Consolas"/>
                <a:cs typeface="Consolas"/>
              </a:rPr>
              <a:t>// ONE atomic step</a:t>
            </a:r>
            <a:endParaRPr lang="en-US" sz="950" dirty="0"/>
          </a:p>
        </p:txBody>
      </p:sp>
      <p:sp>
        <p:nvSpPr>
          <p:cNvPr id="131"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always 100000: no update is lost</a:t>
            </a:r>
            <a:endParaRPr lang="en-US" sz="950" dirty="0"/>
          </a:p>
        </p:txBody>
      </p:sp>
      <p:sp>
        <p:nvSpPr>
          <p:cNvPr id="133"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other atomic helpers:</a:t>
            </a:r>
            <a:endParaRPr lang="en-US" sz="950" dirty="0"/>
          </a:p>
        </p:txBody>
      </p:sp>
      <p:sp>
        <p:nvSpPr>
          <p:cNvPr id="134"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Decrement · Add · Exchange · CompareExchange</a:t>
            </a:r>
            <a:endParaRPr lang="en-US" sz="950" dirty="0"/>
          </a:p>
        </p:txBody>
      </p:sp>
      <p:sp>
        <p:nvSpPr>
          <p:cNvPr id="135"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36"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37" name="arrow"/>
          <p:cNvCxnSpPr/>
          <p:nvPr/>
        </p:nvCxnSpPr>
        <p:spPr>
          <a:xfrm>
            <a:off x="6011266" y="3227832"/>
            <a:ext cx="150876" cy="0"/>
          </a:xfrm>
          <a:prstGeom prst="line">
            <a:avLst/>
          </a:prstGeom>
          <a:ln w="28575">
            <a:solidFill>
              <a:srgbClr val="13D0F7"/>
            </a:solidFill>
            <a:tailEnd type="triangle" w="med" len="med"/>
          </a:ln>
        </p:spPr>
      </p:cxnSp>
      <p:sp>
        <p:nvSpPr>
          <p:cNvPr id="138"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counter++ is read, add, write. Two threads read the same value and the second write overwrites the first: a lost update.</a:t>
            </a:r>
            <a:endParaRPr lang="en-US" sz="1250" dirty="0"/>
          </a:p>
        </p:txBody>
      </p:sp>
      <p:sp>
        <p:nvSpPr>
          <p:cNvPr id="139"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Interlocked: ONE simple operation on ONE variable (counters, totals, flags, swapping a value). No lock object, nothing waits.</a:t>
            </a:r>
            <a:endParaRPr lang="en-US" sz="1250" dirty="0"/>
          </a:p>
        </p:txBody>
      </p:sp>
    </p:spTree>
    <p:extLst>
      <p:ext uri="{BB962C8B-B14F-4D97-AF65-F5344CB8AC3E}">
        <p14:creationId xmlns:p14="http://schemas.microsoft.com/office/powerpoint/2010/main" val="1004"/>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ATOMIC</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Interlocked Is Atomic. Your if Is Not.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05</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Buy()</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wb_hl02"/>
          <p:cNvSpPr/>
          <p:nvPr/>
        </p:nvSpPr>
        <p:spPr>
          <a:xfrm>
            <a:off x="676656" y="24160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1"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 &gt; 0)                          </a:t>
            </a:r>
            <a:r>
              <a:rPr lang="en-US" sz="950" b="0" dirty="0">
                <a:solidFill>
                  <a:srgbClr val="6FAE7A"/>
                </a:solidFill>
                <a:latin typeface="Consolas"/>
                <a:ea typeface="Consolas"/>
                <a:cs typeface="Consolas"/>
              </a:rPr>
              <a:t>// step 1: check</a:t>
            </a:r>
            <a:endParaRPr lang="en-US" sz="950" dirty="0"/>
          </a:p>
        </p:txBody>
      </p:sp>
      <p:sp>
        <p:nvSpPr>
          <p:cNvPr id="112" name="cwb_hl03"/>
          <p:cNvSpPr/>
          <p:nvPr/>
        </p:nvSpPr>
        <p:spPr>
          <a:xfrm>
            <a:off x="676656" y="260908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3"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Interlocked.Decrement(</a:t>
            </a:r>
            <a:r>
              <a:rPr lang="en-US" sz="950" b="0" dirty="0">
                <a:solidFill>
                  <a:srgbClr val="60A5FA"/>
                </a:solidFill>
                <a:latin typeface="Consolas"/>
                <a:ea typeface="Consolas"/>
                <a:cs typeface="Consolas"/>
              </a:rPr>
              <a:t>ref</a:t>
            </a:r>
            <a:r>
              <a:rPr lang="en-US" sz="950" b="0" dirty="0">
                <a:solidFill>
                  <a:srgbClr val="E2E8F0"/>
                </a:solidFill>
                <a:latin typeface="Consolas"/>
                <a:ea typeface="Consolas"/>
                <a:cs typeface="Consolas"/>
              </a:rPr>
              <a:t> Stock);   </a:t>
            </a:r>
            <a:r>
              <a:rPr lang="en-US" sz="950" b="0" dirty="0">
                <a:solidFill>
                  <a:srgbClr val="6FAE7A"/>
                </a:solidFill>
                <a:latin typeface="Consolas"/>
                <a:ea typeface="Consolas"/>
                <a:cs typeface="Consolas"/>
              </a:rPr>
              <a:t>// step 2: act</a:t>
            </a:r>
            <a:endParaRPr lang="en-US" sz="950" dirty="0"/>
          </a:p>
        </p:txBody>
      </p:sp>
      <p:sp>
        <p:nvSpPr>
          <p:cNvPr id="114"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one item left:</a:t>
            </a:r>
            <a:endParaRPr lang="en-US" sz="950" dirty="0"/>
          </a:p>
        </p:txBody>
      </p:sp>
      <p:sp>
        <p:nvSpPr>
          <p:cNvPr id="116"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 checks 1 &gt; 0 ✓    B checks 1 &gt; 0 ✓</a:t>
            </a:r>
            <a:endParaRPr lang="en-US" sz="950" dirty="0"/>
          </a:p>
        </p:txBody>
      </p:sp>
      <p:sp>
        <p:nvSpPr>
          <p:cNvPr id="117"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 Stock = 0        B: Stock = -1   oversold!</a:t>
            </a:r>
            <a:endParaRPr lang="en-US" sz="950" dirty="0"/>
          </a:p>
        </p:txBody>
      </p:sp>
      <p:sp>
        <p:nvSpPr>
          <p:cNvPr id="118"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19"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0"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1"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2"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3"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4"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FlashSale.cs</a:t>
            </a:r>
            <a:endParaRPr lang="en-US" sz="950" dirty="0"/>
          </a:p>
        </p:txBody>
      </p:sp>
      <p:sp>
        <p:nvSpPr>
          <p:cNvPr id="125"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Buy()</a:t>
            </a:r>
            <a:endParaRPr lang="en-US" sz="950" dirty="0"/>
          </a:p>
        </p:txBody>
      </p:sp>
      <p:sp>
        <p:nvSpPr>
          <p:cNvPr id="126"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7" name="cwa_hl02"/>
          <p:cNvSpPr/>
          <p:nvPr/>
        </p:nvSpPr>
        <p:spPr>
          <a:xfrm>
            <a:off x="6323076" y="241604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28"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(_sync)</a:t>
            </a:r>
            <a:endParaRPr lang="en-US" sz="950" dirty="0"/>
          </a:p>
        </p:txBody>
      </p:sp>
      <p:sp>
        <p:nvSpPr>
          <p:cNvPr id="129"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0"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(Stock &gt; 0)          </a:t>
            </a:r>
            <a:r>
              <a:rPr lang="en-US" sz="950" b="0" dirty="0">
                <a:solidFill>
                  <a:srgbClr val="6FAE7A"/>
                </a:solidFill>
                <a:latin typeface="Consolas"/>
                <a:ea typeface="Consolas"/>
                <a:cs typeface="Consolas"/>
              </a:rPr>
              <a:t>// condition</a:t>
            </a:r>
            <a:endParaRPr lang="en-US" sz="950" dirty="0"/>
          </a:p>
        </p:txBody>
      </p:sp>
      <p:sp>
        <p:nvSpPr>
          <p:cNvPr id="131"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Stock--;            </a:t>
            </a:r>
            <a:r>
              <a:rPr lang="en-US" sz="950" b="0" dirty="0">
                <a:solidFill>
                  <a:srgbClr val="6FAE7A"/>
                </a:solidFill>
                <a:latin typeface="Consolas"/>
                <a:ea typeface="Consolas"/>
                <a:cs typeface="Consolas"/>
              </a:rPr>
              <a:t>// operation 1</a:t>
            </a:r>
            <a:endParaRPr lang="en-US" sz="950" dirty="0"/>
          </a:p>
        </p:txBody>
      </p:sp>
      <p:sp>
        <p:nvSpPr>
          <p:cNvPr id="133"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Sold++;             </a:t>
            </a:r>
            <a:r>
              <a:rPr lang="en-US" sz="950" b="0" dirty="0">
                <a:solidFill>
                  <a:srgbClr val="6FAE7A"/>
                </a:solidFill>
                <a:latin typeface="Consolas"/>
                <a:ea typeface="Consolas"/>
                <a:cs typeface="Consolas"/>
              </a:rPr>
              <a:t>// operation 2</a:t>
            </a:r>
            <a:endParaRPr lang="en-US" sz="950" dirty="0"/>
          </a:p>
        </p:txBody>
      </p:sp>
      <p:sp>
        <p:nvSpPr>
          <p:cNvPr id="134"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5"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6"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7"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many API instances? let the database decide:</a:t>
            </a:r>
            <a:endParaRPr lang="en-US" sz="950" dirty="0"/>
          </a:p>
        </p:txBody>
      </p:sp>
      <p:sp>
        <p:nvSpPr>
          <p:cNvPr id="138"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UPDATE Products SET Stock = Stock - 1</a:t>
            </a:r>
            <a:endParaRPr lang="en-US" sz="950" dirty="0"/>
          </a:p>
        </p:txBody>
      </p:sp>
      <p:sp>
        <p:nvSpPr>
          <p:cNvPr id="139" name="cwa_L13"/>
          <p:cNvSpPr txBox="1"/>
          <p:nvPr/>
        </p:nvSpPr>
        <p:spPr>
          <a:xfrm>
            <a:off x="641817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WHERE Id = @id AND Stock &gt; 0;</a:t>
            </a:r>
            <a:endParaRPr lang="en-US" sz="950" dirty="0"/>
          </a:p>
        </p:txBody>
      </p:sp>
      <p:sp>
        <p:nvSpPr>
          <p:cNvPr id="140"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1"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2" name="arrow"/>
          <p:cNvCxnSpPr/>
          <p:nvPr/>
        </p:nvCxnSpPr>
        <p:spPr>
          <a:xfrm>
            <a:off x="6011266" y="3227832"/>
            <a:ext cx="150876" cy="0"/>
          </a:xfrm>
          <a:prstGeom prst="line">
            <a:avLst/>
          </a:prstGeom>
          <a:ln w="28575">
            <a:solidFill>
              <a:srgbClr val="13D0F7"/>
            </a:solidFill>
            <a:tailEnd type="triangle" w="med" len="med"/>
          </a:ln>
        </p:spPr>
      </p:cxnSp>
      <p:sp>
        <p:nvSpPr>
          <p:cNvPr id="143"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Each Interlocked call is atomic on its own, but a condition + update is TWO steps: another thread fits in between. The decision was wrong, not the decrement.</a:t>
            </a:r>
            <a:endParaRPr lang="en-US" sz="1250" dirty="0"/>
          </a:p>
        </p:txBody>
      </p:sp>
      <p:sp>
        <p:nvSpPr>
          <p:cNvPr id="144"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Condition + update, or several variables → lock. A C# lock only works inside ONE process; across servers use an atomic DB update or a transaction.</a:t>
            </a:r>
            <a:endParaRPr lang="en-US" sz="1250" dirty="0"/>
          </a:p>
        </p:txBody>
      </p:sp>
    </p:spTree>
    <p:extLst>
      <p:ext uri="{BB962C8B-B14F-4D97-AF65-F5344CB8AC3E}">
        <p14:creationId xmlns:p14="http://schemas.microsoft.com/office/powerpoint/2010/main" val="1005"/>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DEADLOCK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Deadlock: Take Locks in the Same Order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06</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Kitchen.cs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Thread 1</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(menuLock)</a:t>
            </a:r>
            <a:endParaRPr lang="en-US" sz="950" dirty="0"/>
          </a:p>
        </p:txBody>
      </p:sp>
      <p:sp>
        <p:nvSpPr>
          <p:cNvPr id="110"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1"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Thread.Sleep(100);</a:t>
            </a:r>
            <a:endParaRPr lang="en-US" sz="950" dirty="0"/>
          </a:p>
        </p:txBody>
      </p:sp>
      <p:sp>
        <p:nvSpPr>
          <p:cNvPr id="112" name="cwb_hl04"/>
          <p:cNvSpPr/>
          <p:nvPr/>
        </p:nvSpPr>
        <p:spPr>
          <a:xfrm>
            <a:off x="676656" y="280212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3"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(stockLock) { Cook(); }   </a:t>
            </a:r>
            <a:r>
              <a:rPr lang="en-US" sz="950" b="0" dirty="0">
                <a:solidFill>
                  <a:srgbClr val="6FAE7A"/>
                </a:solidFill>
                <a:latin typeface="Consolas"/>
                <a:ea typeface="Consolas"/>
                <a:cs typeface="Consolas"/>
              </a:rPr>
              <a:t>// waits for 2</a:t>
            </a:r>
            <a:endParaRPr lang="en-US" sz="950" dirty="0"/>
          </a:p>
        </p:txBody>
      </p:sp>
      <p:sp>
        <p:nvSpPr>
          <p:cNvPr id="114"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Thread 2: OPPOSITE order</a:t>
            </a:r>
            <a:endParaRPr lang="en-US" sz="950" dirty="0"/>
          </a:p>
        </p:txBody>
      </p:sp>
      <p:sp>
        <p:nvSpPr>
          <p:cNvPr id="116"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(stockLock)</a:t>
            </a:r>
            <a:endParaRPr lang="en-US" sz="950" dirty="0"/>
          </a:p>
        </p:txBody>
      </p:sp>
      <p:sp>
        <p:nvSpPr>
          <p:cNvPr id="117"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8"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Thread.Sleep(100);</a:t>
            </a:r>
            <a:endParaRPr lang="en-US" sz="950" dirty="0"/>
          </a:p>
        </p:txBody>
      </p:sp>
      <p:sp>
        <p:nvSpPr>
          <p:cNvPr id="119" name="cwb_hl11"/>
          <p:cNvSpPr/>
          <p:nvPr/>
        </p:nvSpPr>
        <p:spPr>
          <a:xfrm>
            <a:off x="676656" y="415340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0"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(menuLock) { Cook(); }    </a:t>
            </a:r>
            <a:r>
              <a:rPr lang="en-US" sz="950" b="0" dirty="0">
                <a:solidFill>
                  <a:srgbClr val="6FAE7A"/>
                </a:solidFill>
                <a:latin typeface="Consolas"/>
                <a:ea typeface="Consolas"/>
                <a:cs typeface="Consolas"/>
              </a:rPr>
              <a:t>// waits for 1</a:t>
            </a:r>
            <a:endParaRPr lang="en-US" sz="950" dirty="0"/>
          </a:p>
        </p:txBody>
      </p:sp>
      <p:sp>
        <p:nvSpPr>
          <p:cNvPr id="121" name="cwb_L12"/>
          <p:cNvSpPr txBox="1"/>
          <p:nvPr/>
        </p:nvSpPr>
        <p:spPr>
          <a:xfrm>
            <a:off x="77175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2" name="cwb_L13"/>
          <p:cNvSpPr txBox="1"/>
          <p:nvPr/>
        </p:nvSpPr>
        <p:spPr>
          <a:xfrm>
            <a:off x="77175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no exception, no output: hangs forever</a:t>
            </a:r>
            <a:endParaRPr lang="en-US" sz="950" dirty="0"/>
          </a:p>
        </p:txBody>
      </p:sp>
      <p:sp>
        <p:nvSpPr>
          <p:cNvPr id="123"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4"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6"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Kitchen.cs</a:t>
            </a:r>
            <a:endParaRPr lang="en-US" sz="950" dirty="0"/>
          </a:p>
        </p:txBody>
      </p:sp>
      <p:sp>
        <p:nvSpPr>
          <p:cNvPr id="130"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Thread 1</a:t>
            </a:r>
            <a:endParaRPr lang="en-US" sz="950" dirty="0"/>
          </a:p>
        </p:txBody>
      </p:sp>
      <p:sp>
        <p:nvSpPr>
          <p:cNvPr id="131"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(menuLock)</a:t>
            </a:r>
            <a:endParaRPr lang="en-US" sz="950" dirty="0"/>
          </a:p>
        </p:txBody>
      </p:sp>
      <p:sp>
        <p:nvSpPr>
          <p:cNvPr id="132"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3"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Thread.Sleep(100);</a:t>
            </a:r>
            <a:endParaRPr lang="en-US" sz="950" dirty="0"/>
          </a:p>
        </p:txBody>
      </p:sp>
      <p:sp>
        <p:nvSpPr>
          <p:cNvPr id="134"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(stockLock) { Cook(); }</a:t>
            </a:r>
            <a:endParaRPr lang="en-US" sz="950" dirty="0"/>
          </a:p>
        </p:txBody>
      </p:sp>
      <p:sp>
        <p:nvSpPr>
          <p:cNvPr id="135"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6"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Thread 2: SAME order</a:t>
            </a:r>
            <a:endParaRPr lang="en-US" sz="950" dirty="0"/>
          </a:p>
        </p:txBody>
      </p:sp>
      <p:sp>
        <p:nvSpPr>
          <p:cNvPr id="137" name="cwa_hl08"/>
          <p:cNvSpPr/>
          <p:nvPr/>
        </p:nvSpPr>
        <p:spPr>
          <a:xfrm>
            <a:off x="6323076" y="357428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8"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(menuLock)</a:t>
            </a:r>
            <a:endParaRPr lang="en-US" sz="950" dirty="0"/>
          </a:p>
        </p:txBody>
      </p:sp>
      <p:sp>
        <p:nvSpPr>
          <p:cNvPr id="139"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0"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Thread.Sleep(100);</a:t>
            </a:r>
            <a:endParaRPr lang="en-US" sz="950" dirty="0"/>
          </a:p>
        </p:txBody>
      </p:sp>
      <p:sp>
        <p:nvSpPr>
          <p:cNvPr id="141"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lock</a:t>
            </a:r>
            <a:r>
              <a:rPr lang="en-US" sz="950" b="0" dirty="0">
                <a:solidFill>
                  <a:srgbClr val="E2E8F0"/>
                </a:solidFill>
                <a:latin typeface="Consolas"/>
                <a:ea typeface="Consolas"/>
                <a:cs typeface="Consolas"/>
              </a:rPr>
              <a:t> (stockLock) { Cook(); }</a:t>
            </a:r>
            <a:endParaRPr lang="en-US" sz="950" dirty="0"/>
          </a:p>
        </p:txBody>
      </p:sp>
      <p:sp>
        <p:nvSpPr>
          <p:cNvPr id="142"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3" name="cwa_L13"/>
          <p:cNvSpPr txBox="1"/>
          <p:nvPr/>
        </p:nvSpPr>
        <p:spPr>
          <a:xfrm>
            <a:off x="641817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no cycle of waiting → no deadlock</a:t>
            </a:r>
            <a:endParaRPr lang="en-US" sz="950" dirty="0"/>
          </a:p>
        </p:txBody>
      </p:sp>
      <p:sp>
        <p:nvSpPr>
          <p:cNvPr id="144"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5"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6" name="arrow"/>
          <p:cNvCxnSpPr/>
          <p:nvPr/>
        </p:nvCxnSpPr>
        <p:spPr>
          <a:xfrm>
            <a:off x="6011266" y="3227832"/>
            <a:ext cx="150876" cy="0"/>
          </a:xfrm>
          <a:prstGeom prst="line">
            <a:avLst/>
          </a:prstGeom>
          <a:ln w="28575">
            <a:solidFill>
              <a:srgbClr val="13D0F7"/>
            </a:solidFill>
            <a:tailEnd type="triangle" w="med" len="med"/>
          </a:ln>
        </p:spPr>
      </p:cxnSp>
      <p:sp>
        <p:nvSpPr>
          <p:cNvPr id="147"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Each thread holds one lock and waits for the other's: a cycle of waiting. No progress is ever possible; waiting longer never helps.</a:t>
            </a:r>
            <a:endParaRPr lang="en-US" sz="1250" dirty="0"/>
          </a:p>
        </p:txBody>
      </p:sp>
      <p:sp>
        <p:nvSpPr>
          <p:cNvPr id="148"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Same lock order everywhere · fewer locks (less shared state) · avoid nesting · short sections. Starvation ≠ deadlock: starvation recovers.</a:t>
            </a:r>
            <a:endParaRPr lang="en-US" sz="1250" dirty="0"/>
          </a:p>
        </p:txBody>
      </p:sp>
    </p:spTree>
    <p:extLst>
      <p:ext uri="{BB962C8B-B14F-4D97-AF65-F5344CB8AC3E}">
        <p14:creationId xmlns:p14="http://schemas.microsoft.com/office/powerpoint/2010/main" val="1006"/>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56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SEMAPHORESLIM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At Most N at a Time: SemaphoreSlim</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08</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Kitchen.cs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SemaphoreSlim kitchen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(3);    </a:t>
            </a:r>
            <a:r>
              <a:rPr lang="en-US" sz="950" b="0" dirty="0">
                <a:solidFill>
                  <a:srgbClr val="6FAE7A"/>
                </a:solidFill>
                <a:latin typeface="Consolas"/>
                <a:ea typeface="Consolas"/>
                <a:cs typeface="Consolas"/>
              </a:rPr>
              <a:t>// 3 cooks</a:t>
            </a:r>
            <a:endParaRPr lang="en-US" sz="950" dirty="0"/>
          </a:p>
        </p:txBody>
      </p:sp>
      <p:sp>
        <p:nvSpPr>
          <p:cNvPr id="109"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Prepare(</a:t>
            </a:r>
            <a:r>
              <a:rPr lang="en-US" sz="950" b="0" dirty="0">
                <a:solidFill>
                  <a:srgbClr val="60A5FA"/>
                </a:solidFill>
                <a:latin typeface="Consolas"/>
                <a:ea typeface="Consolas"/>
                <a:cs typeface="Consolas"/>
              </a:rPr>
              <a:t>object</a:t>
            </a:r>
            <a:r>
              <a:rPr lang="en-US" sz="950" b="0" dirty="0">
                <a:solidFill>
                  <a:srgbClr val="E2E8F0"/>
                </a:solidFill>
                <a:latin typeface="Consolas"/>
                <a:ea typeface="Consolas"/>
                <a:cs typeface="Consolas"/>
              </a:rPr>
              <a:t>? order)</a:t>
            </a:r>
            <a:endParaRPr lang="en-US" sz="950" dirty="0"/>
          </a:p>
        </p:txBody>
      </p:sp>
      <p:sp>
        <p:nvSpPr>
          <p:cNvPr id="110"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1"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kitchen.Wait();</a:t>
            </a:r>
            <a:endParaRPr lang="en-US" sz="950" dirty="0"/>
          </a:p>
        </p:txBody>
      </p:sp>
      <p:sp>
        <p:nvSpPr>
          <p:cNvPr id="112" name="cwb_hl05"/>
          <p:cNvSpPr/>
          <p:nvPr/>
        </p:nvSpPr>
        <p:spPr>
          <a:xfrm>
            <a:off x="676656" y="299516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3"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Cook(order);           </a:t>
            </a:r>
            <a:r>
              <a:rPr lang="en-US" sz="950" b="0" dirty="0">
                <a:solidFill>
                  <a:srgbClr val="6FAE7A"/>
                </a:solidFill>
                <a:latin typeface="Consolas"/>
                <a:ea typeface="Consolas"/>
                <a:cs typeface="Consolas"/>
              </a:rPr>
              <a:t>// throws → next line skipped</a:t>
            </a:r>
            <a:endParaRPr lang="en-US" sz="950" dirty="0"/>
          </a:p>
        </p:txBody>
      </p:sp>
      <p:sp>
        <p:nvSpPr>
          <p:cNvPr id="114" name="cwb_hl06"/>
          <p:cNvSpPr/>
          <p:nvPr/>
        </p:nvSpPr>
        <p:spPr>
          <a:xfrm>
            <a:off x="676656" y="318820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5"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kitchen.Release();     </a:t>
            </a:r>
            <a:r>
              <a:rPr lang="en-US" sz="950" b="0" dirty="0">
                <a:solidFill>
                  <a:srgbClr val="6FAE7A"/>
                </a:solidFill>
                <a:latin typeface="Consolas"/>
                <a:ea typeface="Consolas"/>
                <a:cs typeface="Consolas"/>
              </a:rPr>
              <a:t>// permit lost forever</a:t>
            </a:r>
            <a:endParaRPr lang="en-US" sz="950" dirty="0"/>
          </a:p>
        </p:txBody>
      </p:sp>
      <p:sp>
        <p:nvSpPr>
          <p:cNvPr id="116"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7"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after 3 failures: every order waits forever</a:t>
            </a:r>
            <a:endParaRPr lang="en-US" sz="950" dirty="0"/>
          </a:p>
        </p:txBody>
      </p:sp>
      <p:sp>
        <p:nvSpPr>
          <p:cNvPr id="118"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19"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0"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1"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2"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3"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4"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Kitchen.cs</a:t>
            </a:r>
            <a:endParaRPr lang="en-US" sz="950" dirty="0"/>
          </a:p>
        </p:txBody>
      </p:sp>
      <p:sp>
        <p:nvSpPr>
          <p:cNvPr id="125"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SemaphoreSlim kitchen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(3);    </a:t>
            </a:r>
            <a:r>
              <a:rPr lang="en-US" sz="950" b="0" dirty="0">
                <a:solidFill>
                  <a:srgbClr val="6FAE7A"/>
                </a:solidFill>
                <a:latin typeface="Consolas"/>
                <a:ea typeface="Consolas"/>
                <a:cs typeface="Consolas"/>
              </a:rPr>
              <a:t>// 3 cooks</a:t>
            </a:r>
            <a:endParaRPr lang="en-US" sz="950" dirty="0"/>
          </a:p>
        </p:txBody>
      </p:sp>
      <p:sp>
        <p:nvSpPr>
          <p:cNvPr id="126"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Prepare(</a:t>
            </a:r>
            <a:r>
              <a:rPr lang="en-US" sz="950" b="0" dirty="0">
                <a:solidFill>
                  <a:srgbClr val="60A5FA"/>
                </a:solidFill>
                <a:latin typeface="Consolas"/>
                <a:ea typeface="Consolas"/>
                <a:cs typeface="Consolas"/>
              </a:rPr>
              <a:t>object</a:t>
            </a:r>
            <a:r>
              <a:rPr lang="en-US" sz="950" b="0" dirty="0">
                <a:solidFill>
                  <a:srgbClr val="E2E8F0"/>
                </a:solidFill>
                <a:latin typeface="Consolas"/>
                <a:ea typeface="Consolas"/>
                <a:cs typeface="Consolas"/>
              </a:rPr>
              <a:t>? order)</a:t>
            </a:r>
            <a:endParaRPr lang="en-US" sz="950" dirty="0"/>
          </a:p>
        </p:txBody>
      </p:sp>
      <p:sp>
        <p:nvSpPr>
          <p:cNvPr id="127"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8"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kitchen.Wait();            </a:t>
            </a:r>
            <a:r>
              <a:rPr lang="en-US" sz="950" b="0" dirty="0">
                <a:solidFill>
                  <a:srgbClr val="6FAE7A"/>
                </a:solidFill>
                <a:latin typeface="Consolas"/>
                <a:ea typeface="Consolas"/>
                <a:cs typeface="Consolas"/>
              </a:rPr>
              <a:t>// wait for a free cook</a:t>
            </a:r>
            <a:endParaRPr lang="en-US" sz="950" dirty="0"/>
          </a:p>
        </p:txBody>
      </p:sp>
      <p:sp>
        <p:nvSpPr>
          <p:cNvPr id="129"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130"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1"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Cook(order);</a:t>
            </a:r>
            <a:endParaRPr lang="en-US" sz="950" dirty="0"/>
          </a:p>
        </p:txBody>
      </p:sp>
      <p:sp>
        <p:nvSpPr>
          <p:cNvPr id="132"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3"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finally</a:t>
            </a:r>
            <a:endParaRPr lang="en-US" sz="950" dirty="0"/>
          </a:p>
        </p:txBody>
      </p:sp>
      <p:sp>
        <p:nvSpPr>
          <p:cNvPr id="134"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5" name="cwa_hl11"/>
          <p:cNvSpPr/>
          <p:nvPr/>
        </p:nvSpPr>
        <p:spPr>
          <a:xfrm>
            <a:off x="6323076" y="415340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6"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kitchen.Release();     </a:t>
            </a:r>
            <a:r>
              <a:rPr lang="en-US" sz="950" b="0" dirty="0">
                <a:solidFill>
                  <a:srgbClr val="6FAE7A"/>
                </a:solidFill>
                <a:latin typeface="Consolas"/>
                <a:ea typeface="Consolas"/>
                <a:cs typeface="Consolas"/>
              </a:rPr>
              <a:t>// always given back</a:t>
            </a:r>
            <a:endParaRPr lang="en-US" sz="950" dirty="0"/>
          </a:p>
        </p:txBody>
      </p:sp>
      <p:sp>
        <p:nvSpPr>
          <p:cNvPr id="137"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8" name="cwa_L13"/>
          <p:cNvSpPr txBox="1"/>
          <p:nvPr/>
        </p:nvSpPr>
        <p:spPr>
          <a:xfrm>
            <a:off x="641817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9"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0"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1" name="arrow"/>
          <p:cNvCxnSpPr/>
          <p:nvPr/>
        </p:nvCxnSpPr>
        <p:spPr>
          <a:xfrm>
            <a:off x="6011266" y="3227832"/>
            <a:ext cx="150876" cy="0"/>
          </a:xfrm>
          <a:prstGeom prst="line">
            <a:avLst/>
          </a:prstGeom>
          <a:ln w="28575">
            <a:solidFill>
              <a:srgbClr val="13D0F7"/>
            </a:solidFill>
            <a:tailEnd type="triangle" w="med" len="med"/>
          </a:ln>
        </p:spPr>
      </p:cxnSp>
      <p:sp>
        <p:nvSpPr>
          <p:cNvPr id="142"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If the work throws, Release never runs: the permit is lost and the limit shrinks until everyone blocks.</a:t>
            </a:r>
            <a:endParaRPr lang="en-US" sz="1250" dirty="0"/>
          </a:p>
        </p:txBody>
      </p:sp>
      <p:sp>
        <p:nvSpPr>
          <p:cNvPr id="143"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lock = 1 thread inside. SemaphoreSlim(N) = at most N: DB connection limits, API rate limits, file processing. Release in finally (async: await WaitAsync()).</a:t>
            </a:r>
            <a:endParaRPr lang="en-US" sz="1250" dirty="0"/>
          </a:p>
        </p:txBody>
      </p:sp>
    </p:spTree>
    <p:extLst>
      <p:ext uri="{BB962C8B-B14F-4D97-AF65-F5344CB8AC3E}">
        <p14:creationId xmlns:p14="http://schemas.microsoft.com/office/powerpoint/2010/main" val="1007"/>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COLLECTIONS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Shared Dictionary? Use ConcurrentDictionary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09</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PageViews.cs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Dictionary&lt;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views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109"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many request threads at once</a:t>
            </a:r>
            <a:endParaRPr lang="en-US" sz="950" dirty="0"/>
          </a:p>
        </p:txBody>
      </p:sp>
      <p:sp>
        <p:nvSpPr>
          <p:cNvPr id="110"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RecordView(</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product)</a:t>
            </a:r>
            <a:endParaRPr lang="en-US" sz="950" dirty="0"/>
          </a:p>
        </p:txBody>
      </p:sp>
      <p:sp>
        <p:nvSpPr>
          <p:cNvPr id="111"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2" name="cwb_hl05"/>
          <p:cNvSpPr/>
          <p:nvPr/>
        </p:nvSpPr>
        <p:spPr>
          <a:xfrm>
            <a:off x="676656" y="299516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3"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(!views.ContainsKey(product))   </a:t>
            </a:r>
            <a:r>
              <a:rPr lang="en-US" sz="950" b="0" dirty="0">
                <a:solidFill>
                  <a:srgbClr val="6FAE7A"/>
                </a:solidFill>
                <a:latin typeface="Consolas"/>
                <a:ea typeface="Consolas"/>
                <a:cs typeface="Consolas"/>
              </a:rPr>
              <a:t>// check</a:t>
            </a:r>
            <a:endParaRPr lang="en-US" sz="950" dirty="0"/>
          </a:p>
        </p:txBody>
      </p:sp>
      <p:sp>
        <p:nvSpPr>
          <p:cNvPr id="114" name="cwb_hl06"/>
          <p:cNvSpPr/>
          <p:nvPr/>
        </p:nvSpPr>
        <p:spPr>
          <a:xfrm>
            <a:off x="676656" y="318820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5"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views.Add(product, 0);         </a:t>
            </a:r>
            <a:r>
              <a:rPr lang="en-US" sz="950" b="0" dirty="0">
                <a:solidFill>
                  <a:srgbClr val="6FAE7A"/>
                </a:solidFill>
                <a:latin typeface="Consolas"/>
                <a:ea typeface="Consolas"/>
                <a:cs typeface="Consolas"/>
              </a:rPr>
              <a:t>// may throw</a:t>
            </a:r>
            <a:endParaRPr lang="en-US" sz="950" dirty="0"/>
          </a:p>
        </p:txBody>
      </p:sp>
      <p:sp>
        <p:nvSpPr>
          <p:cNvPr id="116" name="cwb_hl07"/>
          <p:cNvSpPr/>
          <p:nvPr/>
        </p:nvSpPr>
        <p:spPr>
          <a:xfrm>
            <a:off x="676656" y="33812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7"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views[product]++;                  </a:t>
            </a:r>
            <a:r>
              <a:rPr lang="en-US" sz="950" b="0" dirty="0">
                <a:solidFill>
                  <a:srgbClr val="6FAE7A"/>
                </a:solidFill>
                <a:latin typeface="Consolas"/>
                <a:ea typeface="Consolas"/>
                <a:cs typeface="Consolas"/>
              </a:rPr>
              <a:t>// lost update</a:t>
            </a:r>
            <a:endParaRPr lang="en-US" sz="950" dirty="0"/>
          </a:p>
        </p:txBody>
      </p:sp>
      <p:sp>
        <p:nvSpPr>
          <p:cNvPr id="118"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9"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phone = 87412 (varies) or:</a:t>
            </a:r>
            <a:endParaRPr lang="en-US" sz="950" dirty="0"/>
          </a:p>
        </p:txBody>
      </p:sp>
      <p:sp>
        <p:nvSpPr>
          <p:cNvPr id="120"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ArgumentException: same key already added</a:t>
            </a:r>
            <a:endParaRPr lang="en-US" sz="950" dirty="0"/>
          </a:p>
        </p:txBody>
      </p:sp>
      <p:sp>
        <p:nvSpPr>
          <p:cNvPr id="121"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2"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3"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4"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5"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6"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7"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PageViews.cs</a:t>
            </a:r>
            <a:endParaRPr lang="en-US" sz="950" dirty="0"/>
          </a:p>
        </p:txBody>
      </p:sp>
      <p:sp>
        <p:nvSpPr>
          <p:cNvPr id="128"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ConcurrentDictionary&lt;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&gt; views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129"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many request threads at once</a:t>
            </a:r>
            <a:endParaRPr lang="en-US" sz="950" dirty="0"/>
          </a:p>
        </p:txBody>
      </p:sp>
      <p:sp>
        <p:nvSpPr>
          <p:cNvPr id="130"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RecordView(</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product)</a:t>
            </a:r>
            <a:endParaRPr lang="en-US" sz="950" dirty="0"/>
          </a:p>
        </p:txBody>
      </p:sp>
      <p:sp>
        <p:nvSpPr>
          <p:cNvPr id="131"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cwa_hl05"/>
          <p:cNvSpPr/>
          <p:nvPr/>
        </p:nvSpPr>
        <p:spPr>
          <a:xfrm>
            <a:off x="6323076" y="299516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3"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views.AddOrUpdate(product,</a:t>
            </a:r>
            <a:endParaRPr lang="en-US" sz="950" dirty="0"/>
          </a:p>
        </p:txBody>
      </p:sp>
      <p:sp>
        <p:nvSpPr>
          <p:cNvPr id="134"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addValue: 1,</a:t>
            </a:r>
            <a:endParaRPr lang="en-US" sz="950" dirty="0"/>
          </a:p>
        </p:txBody>
      </p:sp>
      <p:sp>
        <p:nvSpPr>
          <p:cNvPr id="135"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updateValueFactory: (_, old) =&gt; old + 1);</a:t>
            </a:r>
            <a:endParaRPr lang="en-US" sz="950" dirty="0"/>
          </a:p>
        </p:txBody>
      </p:sp>
      <p:sp>
        <p:nvSpPr>
          <p:cNvPr id="136"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7"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phone = 100000 every run · no exceptions</a:t>
            </a:r>
            <a:endParaRPr lang="en-US" sz="950" dirty="0"/>
          </a:p>
        </p:txBody>
      </p:sp>
      <p:sp>
        <p:nvSpPr>
          <p:cNvPr id="138"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one-call methods:</a:t>
            </a:r>
            <a:endParaRPr lang="en-US" sz="950" dirty="0"/>
          </a:p>
        </p:txBody>
      </p:sp>
      <p:sp>
        <p:nvSpPr>
          <p:cNvPr id="139"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TryAdd · TryGetValue · TryRemove · GetOrAdd</a:t>
            </a:r>
            <a:endParaRPr lang="en-US" sz="950" dirty="0"/>
          </a:p>
        </p:txBody>
      </p:sp>
      <p:sp>
        <p:nvSpPr>
          <p:cNvPr id="140"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1"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2" name="arrow"/>
          <p:cNvCxnSpPr/>
          <p:nvPr/>
        </p:nvCxnSpPr>
        <p:spPr>
          <a:xfrm>
            <a:off x="6011266" y="3227832"/>
            <a:ext cx="150876" cy="0"/>
          </a:xfrm>
          <a:prstGeom prst="line">
            <a:avLst/>
          </a:prstGeom>
          <a:ln w="28575">
            <a:solidFill>
              <a:srgbClr val="13D0F7"/>
            </a:solidFill>
            <a:tailEnd type="triangle" w="med" len="med"/>
          </a:ln>
        </p:spPr>
      </p:cxnSp>
      <p:sp>
        <p:nvSpPr>
          <p:cNvPr id="143"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Dictionary is for one thread. Many threads: lost counts, duplicate-key exceptions, even corrupted internals.</a:t>
            </a:r>
            <a:endParaRPr lang="en-US" sz="1250" dirty="0"/>
          </a:p>
        </p:txBody>
      </p:sp>
      <p:sp>
        <p:nvSpPr>
          <p:cNvPr id="144"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Put the whole rule in ONE call (AddOrUpdate, TryAdd). A safe collection ≠ safe logic: check-then-act across several calls still needs a lock.</a:t>
            </a:r>
            <a:endParaRPr lang="en-US" sz="1250" dirty="0"/>
          </a:p>
        </p:txBody>
      </p:sp>
    </p:spTree>
    <p:extLst>
      <p:ext uri="{BB962C8B-B14F-4D97-AF65-F5344CB8AC3E}">
        <p14:creationId xmlns:p14="http://schemas.microsoft.com/office/powerpoint/2010/main" val="1008"/>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COLLECTIONS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Producers and Workers: ConcurrentQueue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EmailJobs.cs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Queue&lt;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jobs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PlaceOrder(</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 =&gt;          </a:t>
            </a:r>
            <a:r>
              <a:rPr lang="en-US" sz="950" b="0" dirty="0">
                <a:solidFill>
                  <a:srgbClr val="6FAE7A"/>
                </a:solidFill>
                <a:latin typeface="Consolas"/>
                <a:ea typeface="Consolas"/>
                <a:cs typeface="Consolas"/>
              </a:rPr>
              <a:t>// request threads</a:t>
            </a:r>
            <a:endParaRPr lang="en-US" sz="950" dirty="0"/>
          </a:p>
        </p:txBody>
      </p:sp>
      <p:sp>
        <p:nvSpPr>
          <p:cNvPr id="110"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jobs.Enqueue(</a:t>
            </a:r>
            <a:r>
              <a:rPr lang="en-US" sz="950" b="0" dirty="0">
                <a:solidFill>
                  <a:srgbClr val="F0A98B"/>
                </a:solidFill>
                <a:latin typeface="Consolas"/>
                <a:ea typeface="Consolas"/>
                <a:cs typeface="Consolas"/>
              </a:rPr>
              <a:t>$"Email: order {id}"</a:t>
            </a:r>
            <a:r>
              <a:rPr lang="en-US" sz="950" b="0" dirty="0">
                <a:solidFill>
                  <a:srgbClr val="E2E8F0"/>
                </a:solidFill>
                <a:latin typeface="Consolas"/>
                <a:ea typeface="Consolas"/>
                <a:cs typeface="Consolas"/>
              </a:rPr>
              <a:t>);</a:t>
            </a:r>
            <a:endParaRPr lang="en-US" sz="950" dirty="0"/>
          </a:p>
        </p:txBody>
      </p:sp>
      <p:sp>
        <p:nvSpPr>
          <p:cNvPr id="111"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Worker()                       </a:t>
            </a:r>
            <a:r>
              <a:rPr lang="en-US" sz="950" b="0" dirty="0">
                <a:solidFill>
                  <a:srgbClr val="6FAE7A"/>
                </a:solidFill>
                <a:latin typeface="Consolas"/>
                <a:ea typeface="Consolas"/>
                <a:cs typeface="Consolas"/>
              </a:rPr>
              <a:t>// 2 workers</a:t>
            </a:r>
            <a:endParaRPr lang="en-US" sz="950" dirty="0"/>
          </a:p>
        </p:txBody>
      </p:sp>
      <p:sp>
        <p:nvSpPr>
          <p:cNvPr id="112"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3"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while</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true</a:t>
            </a:r>
            <a:r>
              <a:rPr lang="en-US" sz="950" b="0" dirty="0">
                <a:solidFill>
                  <a:srgbClr val="E2E8F0"/>
                </a:solidFill>
                <a:latin typeface="Consolas"/>
                <a:ea typeface="Consolas"/>
                <a:cs typeface="Consolas"/>
              </a:rPr>
              <a:t>)</a:t>
            </a:r>
            <a:endParaRPr lang="en-US" sz="950" dirty="0"/>
          </a:p>
        </p:txBody>
      </p:sp>
      <p:sp>
        <p:nvSpPr>
          <p:cNvPr id="114"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wb_hl08"/>
          <p:cNvSpPr/>
          <p:nvPr/>
        </p:nvSpPr>
        <p:spPr>
          <a:xfrm>
            <a:off x="676656" y="357428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6"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(jobs.Count &gt; 0)              </a:t>
            </a:r>
            <a:r>
              <a:rPr lang="en-US" sz="950" b="0" dirty="0">
                <a:solidFill>
                  <a:srgbClr val="6FAE7A"/>
                </a:solidFill>
                <a:latin typeface="Consolas"/>
                <a:ea typeface="Consolas"/>
                <a:cs typeface="Consolas"/>
              </a:rPr>
              <a:t>// check</a:t>
            </a:r>
            <a:endParaRPr lang="en-US" sz="950" dirty="0"/>
          </a:p>
        </p:txBody>
      </p:sp>
      <p:sp>
        <p:nvSpPr>
          <p:cNvPr id="117" name="cwb_hl09"/>
          <p:cNvSpPr/>
          <p:nvPr/>
        </p:nvSpPr>
        <p:spPr>
          <a:xfrm>
            <a:off x="676656" y="376732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8"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SendEmail(jobs.Dequeue());   </a:t>
            </a:r>
            <a:r>
              <a:rPr lang="en-US" sz="950" b="0" dirty="0">
                <a:solidFill>
                  <a:srgbClr val="6FAE7A"/>
                </a:solidFill>
                <a:latin typeface="Consolas"/>
                <a:ea typeface="Consolas"/>
                <a:cs typeface="Consolas"/>
              </a:rPr>
              <a:t>// act</a:t>
            </a:r>
            <a:endParaRPr lang="en-US" sz="950" dirty="0"/>
          </a:p>
        </p:txBody>
      </p:sp>
      <p:sp>
        <p:nvSpPr>
          <p:cNvPr id="119"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0"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1" name="cwb_L12"/>
          <p:cNvSpPr txBox="1"/>
          <p:nvPr/>
        </p:nvSpPr>
        <p:spPr>
          <a:xfrm>
            <a:off x="771754" y="43647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lost jobs · duplicate emails · crashes</a:t>
            </a:r>
            <a:endParaRPr lang="en-US" sz="950" dirty="0"/>
          </a:p>
        </p:txBody>
      </p:sp>
      <p:sp>
        <p:nvSpPr>
          <p:cNvPr id="122"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3"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5"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EmailJobs.cs</a:t>
            </a:r>
            <a:endParaRPr lang="en-US" sz="950" dirty="0"/>
          </a:p>
        </p:txBody>
      </p:sp>
      <p:sp>
        <p:nvSpPr>
          <p:cNvPr id="129"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ConcurrentQueue&lt;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jobs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a:t>
            </a:r>
            <a:endParaRPr lang="en-US" sz="950" dirty="0"/>
          </a:p>
        </p:txBody>
      </p:sp>
      <p:sp>
        <p:nvSpPr>
          <p:cNvPr id="130"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PlaceOrder(</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 =&gt;          </a:t>
            </a:r>
            <a:r>
              <a:rPr lang="en-US" sz="950" b="0" dirty="0">
                <a:solidFill>
                  <a:srgbClr val="6FAE7A"/>
                </a:solidFill>
                <a:latin typeface="Consolas"/>
                <a:ea typeface="Consolas"/>
                <a:cs typeface="Consolas"/>
              </a:rPr>
              <a:t>// request threads</a:t>
            </a:r>
            <a:endParaRPr lang="en-US" sz="950" dirty="0"/>
          </a:p>
        </p:txBody>
      </p:sp>
      <p:sp>
        <p:nvSpPr>
          <p:cNvPr id="131"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jobs.Enqueue(</a:t>
            </a:r>
            <a:r>
              <a:rPr lang="en-US" sz="950" b="0" dirty="0">
                <a:solidFill>
                  <a:srgbClr val="F0A98B"/>
                </a:solidFill>
                <a:latin typeface="Consolas"/>
                <a:ea typeface="Consolas"/>
                <a:cs typeface="Consolas"/>
              </a:rPr>
              <a:t>$"Email: order {id}"</a:t>
            </a:r>
            <a:r>
              <a:rPr lang="en-US" sz="950" b="0" dirty="0">
                <a:solidFill>
                  <a:srgbClr val="E2E8F0"/>
                </a:solidFill>
                <a:latin typeface="Consolas"/>
                <a:ea typeface="Consolas"/>
                <a:cs typeface="Consolas"/>
              </a:rPr>
              <a:t>);</a:t>
            </a:r>
            <a:endParaRPr lang="en-US" sz="950" dirty="0"/>
          </a:p>
        </p:txBody>
      </p:sp>
      <p:sp>
        <p:nvSpPr>
          <p:cNvPr id="132"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Worker()                       </a:t>
            </a:r>
            <a:r>
              <a:rPr lang="en-US" sz="950" b="0" dirty="0">
                <a:solidFill>
                  <a:srgbClr val="6FAE7A"/>
                </a:solidFill>
                <a:latin typeface="Consolas"/>
                <a:ea typeface="Consolas"/>
                <a:cs typeface="Consolas"/>
              </a:rPr>
              <a:t>// 2 workers</a:t>
            </a:r>
            <a:endParaRPr lang="en-US" sz="950" dirty="0"/>
          </a:p>
        </p:txBody>
      </p:sp>
      <p:sp>
        <p:nvSpPr>
          <p:cNvPr id="133"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4"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while</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true</a:t>
            </a:r>
            <a:r>
              <a:rPr lang="en-US" sz="950" b="0" dirty="0">
                <a:solidFill>
                  <a:srgbClr val="E2E8F0"/>
                </a:solidFill>
                <a:latin typeface="Consolas"/>
                <a:ea typeface="Consolas"/>
                <a:cs typeface="Consolas"/>
              </a:rPr>
              <a:t>)</a:t>
            </a:r>
            <a:endParaRPr lang="en-US" sz="950" dirty="0"/>
          </a:p>
        </p:txBody>
      </p:sp>
      <p:sp>
        <p:nvSpPr>
          <p:cNvPr id="135"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6" name="cwa_hl08"/>
          <p:cNvSpPr/>
          <p:nvPr/>
        </p:nvSpPr>
        <p:spPr>
          <a:xfrm>
            <a:off x="6323076" y="357428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7"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(jobs.TryDequeue(</a:t>
            </a:r>
            <a:r>
              <a:rPr lang="en-US" sz="950" b="0" dirty="0">
                <a:solidFill>
                  <a:srgbClr val="60A5FA"/>
                </a:solidFill>
                <a:latin typeface="Consolas"/>
                <a:ea typeface="Consolas"/>
                <a:cs typeface="Consolas"/>
              </a:rPr>
              <a:t>out</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job))</a:t>
            </a:r>
            <a:endParaRPr lang="en-US" sz="950" dirty="0"/>
          </a:p>
        </p:txBody>
      </p:sp>
      <p:sp>
        <p:nvSpPr>
          <p:cNvPr id="138"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SendEmail(job);              </a:t>
            </a:r>
            <a:r>
              <a:rPr lang="en-US" sz="950" b="0" dirty="0">
                <a:solidFill>
                  <a:srgbClr val="6FAE7A"/>
                </a:solidFill>
                <a:latin typeface="Consolas"/>
                <a:ea typeface="Consolas"/>
                <a:cs typeface="Consolas"/>
              </a:rPr>
              <a:t>// yours alone</a:t>
            </a:r>
            <a:endParaRPr lang="en-US" sz="950" dirty="0"/>
          </a:p>
        </p:txBody>
      </p:sp>
      <p:sp>
        <p:nvSpPr>
          <p:cNvPr id="139"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else</a:t>
            </a:r>
            <a:endParaRPr lang="en-US" sz="950" dirty="0"/>
          </a:p>
        </p:txBody>
      </p:sp>
      <p:sp>
        <p:nvSpPr>
          <p:cNvPr id="140"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Thread.Sleep(100);           </a:t>
            </a:r>
            <a:r>
              <a:rPr lang="en-US" sz="950" b="0" dirty="0">
                <a:solidFill>
                  <a:srgbClr val="6FAE7A"/>
                </a:solidFill>
                <a:latin typeface="Consolas"/>
                <a:ea typeface="Consolas"/>
                <a:cs typeface="Consolas"/>
              </a:rPr>
              <a:t>// empty: rest</a:t>
            </a:r>
            <a:endParaRPr lang="en-US" sz="950" dirty="0"/>
          </a:p>
        </p:txBody>
      </p:sp>
      <p:sp>
        <p:nvSpPr>
          <p:cNvPr id="141"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2" name="cwa_L13"/>
          <p:cNvSpPr txBox="1"/>
          <p:nvPr/>
        </p:nvSpPr>
        <p:spPr>
          <a:xfrm>
            <a:off x="641817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3"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4"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5" name="arrow"/>
          <p:cNvCxnSpPr/>
          <p:nvPr/>
        </p:nvCxnSpPr>
        <p:spPr>
          <a:xfrm>
            <a:off x="6011266" y="3227832"/>
            <a:ext cx="150876" cy="0"/>
          </a:xfrm>
          <a:prstGeom prst="line">
            <a:avLst/>
          </a:prstGeom>
          <a:ln w="28575">
            <a:solidFill>
              <a:srgbClr val="13D0F7"/>
            </a:solidFill>
            <a:tailEnd type="triangle" w="med" len="med"/>
          </a:ln>
        </p:spPr>
      </p:cxnSp>
      <p:sp>
        <p:nvSpPr>
          <p:cNvPr id="146"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Queue&lt;T&gt; is single-threaded: two Enqueues can hit one slot, both workers can take the same job, the last Dequeue throws.</a:t>
            </a:r>
            <a:endParaRPr lang="en-US" sz="1250" dirty="0"/>
          </a:p>
        </p:txBody>
      </p:sp>
      <p:sp>
        <p:nvSpPr>
          <p:cNvPr id="147"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ConcurrentQueue for many producers + many workers. TryDequeue = check + take in one atomic step. (Production: Channel&lt;T&gt; + BackgroundService.)</a:t>
            </a:r>
            <a:endParaRPr lang="en-US" sz="1250" dirty="0"/>
          </a:p>
        </p:txBody>
      </p:sp>
    </p:spTree>
    <p:extLst>
      <p:ext uri="{BB962C8B-B14F-4D97-AF65-F5344CB8AC3E}">
        <p14:creationId xmlns:p14="http://schemas.microsoft.com/office/powerpoint/2010/main" val="1009"/>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TASKS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Don't Create a Thread per Job: Task.Run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foreach</a:t>
            </a:r>
            <a:r>
              <a:rPr lang="en-US" sz="950" b="0" dirty="0">
                <a:solidFill>
                  <a:srgbClr val="E2E8F0"/>
                </a:solidFill>
                <a:latin typeface="Consolas"/>
                <a:ea typeface="Consolas"/>
                <a:cs typeface="Consolas"/>
              </a:rPr>
              <a:t> (Order order </a:t>
            </a:r>
            <a:r>
              <a:rPr lang="en-US" sz="950" b="0" dirty="0">
                <a:solidFill>
                  <a:srgbClr val="60A5FA"/>
                </a:solidFill>
                <a:latin typeface="Consolas"/>
                <a:ea typeface="Consolas"/>
                <a:cs typeface="Consolas"/>
              </a:rPr>
              <a:t>in</a:t>
            </a:r>
            <a:r>
              <a:rPr lang="en-US" sz="950" b="0" dirty="0">
                <a:solidFill>
                  <a:srgbClr val="E2E8F0"/>
                </a:solidFill>
                <a:latin typeface="Consolas"/>
                <a:ea typeface="Consolas"/>
                <a:cs typeface="Consolas"/>
              </a:rPr>
              <a:t> orders)       </a:t>
            </a:r>
            <a:r>
              <a:rPr lang="en-US" sz="950" b="0" dirty="0">
                <a:solidFill>
                  <a:srgbClr val="6FAE7A"/>
                </a:solidFill>
                <a:latin typeface="Consolas"/>
                <a:ea typeface="Consolas"/>
                <a:cs typeface="Consolas"/>
              </a:rPr>
              <a:t>// 10,000 orders</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wb_hl02"/>
          <p:cNvSpPr/>
          <p:nvPr/>
        </p:nvSpPr>
        <p:spPr>
          <a:xfrm>
            <a:off x="676656" y="24160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1"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Thread(() =&gt; Process(order)).Start();</a:t>
            </a:r>
            <a:endParaRPr lang="en-US" sz="950" dirty="0"/>
          </a:p>
        </p:txBody>
      </p:sp>
      <p:sp>
        <p:nvSpPr>
          <p:cNvPr id="112"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3"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~1 MB stack each · create/destroy cost</a:t>
            </a:r>
            <a:endParaRPr lang="en-US" sz="950" dirty="0"/>
          </a:p>
        </p:txBody>
      </p:sp>
      <p:sp>
        <p:nvSpPr>
          <p:cNvPr id="114"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more context switching, less real work</a:t>
            </a:r>
            <a:endParaRPr lang="en-US" sz="950" dirty="0"/>
          </a:p>
        </p:txBody>
      </p:sp>
      <p:sp>
        <p:nvSpPr>
          <p:cNvPr id="115" name="cwb_hl07"/>
          <p:cNvSpPr/>
          <p:nvPr/>
        </p:nvSpPr>
        <p:spPr>
          <a:xfrm>
            <a:off x="676656" y="33812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6"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ThreadPool.QueueUserWorkItem(_ =&gt; Process(o));</a:t>
            </a:r>
            <a:endParaRPr lang="en-US" sz="950" dirty="0"/>
          </a:p>
        </p:txBody>
      </p:sp>
      <p:sp>
        <p:nvSpPr>
          <p:cNvPr id="117"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fire and hope:</a:t>
            </a:r>
            <a:endParaRPr lang="en-US" sz="950" dirty="0"/>
          </a:p>
        </p:txBody>
      </p:sp>
      <p:sp>
        <p:nvSpPr>
          <p:cNvPr id="118"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when does it end? result? exception?</a:t>
            </a:r>
            <a:endParaRPr lang="en-US" sz="950" dirty="0"/>
          </a:p>
        </p:txBody>
      </p:sp>
      <p:sp>
        <p:nvSpPr>
          <p:cNvPr id="119"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0"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1"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2"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3"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4"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5"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Orders.cs</a:t>
            </a:r>
            <a:endParaRPr lang="en-US" sz="950" dirty="0"/>
          </a:p>
        </p:txBody>
      </p:sp>
      <p:sp>
        <p:nvSpPr>
          <p:cNvPr id="126"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CPU-bound work → a pool thread, with a handle</a:t>
            </a:r>
            <a:endParaRPr lang="en-US" sz="950" dirty="0"/>
          </a:p>
        </p:txBody>
      </p:sp>
      <p:sp>
        <p:nvSpPr>
          <p:cNvPr id="127" name="cwa_hl01"/>
          <p:cNvSpPr/>
          <p:nvPr/>
        </p:nvSpPr>
        <p:spPr>
          <a:xfrm>
            <a:off x="6323076" y="222300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28"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decimal</a:t>
            </a:r>
            <a:r>
              <a:rPr lang="en-US" sz="950" b="0" dirty="0">
                <a:solidFill>
                  <a:srgbClr val="E2E8F0"/>
                </a:solidFill>
                <a:latin typeface="Consolas"/>
                <a:ea typeface="Consolas"/>
                <a:cs typeface="Consolas"/>
              </a:rPr>
              <a:t>&gt; report = Task.Run(CalculateMonthlyReport);</a:t>
            </a:r>
            <a:endParaRPr lang="en-US" sz="950" dirty="0"/>
          </a:p>
        </p:txBody>
      </p:sp>
      <p:sp>
        <p:nvSpPr>
          <p:cNvPr id="129"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"Building report... Main is free"</a:t>
            </a:r>
            <a:r>
              <a:rPr lang="en-US" sz="950" b="0" dirty="0">
                <a:solidFill>
                  <a:srgbClr val="E2E8F0"/>
                </a:solidFill>
                <a:latin typeface="Consolas"/>
                <a:ea typeface="Consolas"/>
                <a:cs typeface="Consolas"/>
              </a:rPr>
              <a:t>);</a:t>
            </a:r>
            <a:endParaRPr lang="en-US" sz="950" dirty="0"/>
          </a:p>
        </p:txBody>
      </p:sp>
      <p:sp>
        <p:nvSpPr>
          <p:cNvPr id="130" name="cwa_hl05"/>
          <p:cNvSpPr/>
          <p:nvPr/>
        </p:nvSpPr>
        <p:spPr>
          <a:xfrm>
            <a:off x="6323076" y="299516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1"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decimal</a:t>
            </a:r>
            <a:r>
              <a:rPr lang="en-US" sz="950" b="0" dirty="0">
                <a:solidFill>
                  <a:srgbClr val="E2E8F0"/>
                </a:solidFill>
                <a:latin typeface="Consolas"/>
                <a:ea typeface="Consolas"/>
                <a:cs typeface="Consolas"/>
              </a:rPr>
              <a:t> total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report;   </a:t>
            </a:r>
            <a:r>
              <a:rPr lang="en-US" sz="950" b="0" dirty="0">
                <a:solidFill>
                  <a:srgbClr val="6FAE7A"/>
                </a:solidFill>
                <a:latin typeface="Consolas"/>
                <a:ea typeface="Consolas"/>
                <a:cs typeface="Consolas"/>
              </a:rPr>
              <a:t>// completion,</a:t>
            </a:r>
            <a:endParaRPr lang="en-US" sz="950" dirty="0"/>
          </a:p>
        </p:txBody>
      </p:sp>
      <p:sp>
        <p:nvSpPr>
          <p:cNvPr id="132"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2123440" indent="0" algn="l">
              <a:spcBef>
                <a:spcPts val="0"/>
              </a:spcBef>
              <a:spcAft>
                <a:spcPts val="0"/>
              </a:spcAft>
              <a:buNone/>
            </a:pPr>
            <a:r>
              <a:rPr lang="en-US" sz="950" b="0" dirty="0">
                <a:solidFill>
                  <a:srgbClr val="6FAE7A"/>
                </a:solidFill>
                <a:latin typeface="Consolas"/>
                <a:ea typeface="Consolas"/>
                <a:cs typeface="Consolas"/>
              </a:rPr>
              <a:t>// result &amp; exception</a:t>
            </a:r>
            <a:endParaRPr lang="en-US" sz="950" dirty="0"/>
          </a:p>
        </p:txBody>
      </p:sp>
      <p:sp>
        <p:nvSpPr>
          <p:cNvPr id="133"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I/O is already async: don't wrap it</a:t>
            </a:r>
            <a:endParaRPr lang="en-US" sz="950" dirty="0"/>
          </a:p>
        </p:txBody>
      </p:sp>
      <p:sp>
        <p:nvSpPr>
          <p:cNvPr id="134"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 await Task.Run(() =&gt; DownloadAsync());</a:t>
            </a:r>
            <a:endParaRPr lang="en-US" sz="950" dirty="0"/>
          </a:p>
        </p:txBody>
      </p:sp>
      <p:sp>
        <p:nvSpPr>
          <p:cNvPr id="135"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 await DownloadAsync();</a:t>
            </a:r>
            <a:endParaRPr lang="en-US" sz="950" dirty="0"/>
          </a:p>
        </p:txBody>
      </p:sp>
      <p:sp>
        <p:nvSpPr>
          <p:cNvPr id="136"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37"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38" name="arrow"/>
          <p:cNvCxnSpPr/>
          <p:nvPr/>
        </p:nvCxnSpPr>
        <p:spPr>
          <a:xfrm>
            <a:off x="6011266" y="3227832"/>
            <a:ext cx="150876" cy="0"/>
          </a:xfrm>
          <a:prstGeom prst="line">
            <a:avLst/>
          </a:prstGeom>
          <a:ln w="28575">
            <a:solidFill>
              <a:srgbClr val="13D0F7"/>
            </a:solidFill>
            <a:tailEnd type="triangle" w="med" len="med"/>
          </a:ln>
        </p:spPr>
      </p:cxnSp>
      <p:sp>
        <p:nvSpPr>
          <p:cNvPr id="139"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Threads are expensive, and new Thread / QueueUserWorkItem give you no completion, no result and no exception handling.</a:t>
            </a:r>
            <a:endParaRPr lang="en-US" sz="1250" dirty="0"/>
          </a:p>
        </p:txBody>
      </p:sp>
      <p:sp>
        <p:nvSpPr>
          <p:cNvPr id="140"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Task.Run: move CPU-bound work (math, images, reports) off the current thread. It reuses pool workers. Not a speed boost, never a wrapper for I/O.</a:t>
            </a:r>
            <a:endParaRPr lang="en-US" sz="1250" dirty="0"/>
          </a:p>
        </p:txBody>
      </p:sp>
    </p:spTree>
    <p:extLst>
      <p:ext uri="{BB962C8B-B14F-4D97-AF65-F5344CB8AC3E}">
        <p14:creationId xmlns:p14="http://schemas.microsoft.com/office/powerpoint/2010/main" val="101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56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ASYNC / AWAIT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.Result and .Wait(): Blocking in Disguise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app.MapGet(</a:t>
            </a:r>
            <a:r>
              <a:rPr lang="en-US" sz="950" b="0" dirty="0">
                <a:solidFill>
                  <a:srgbClr val="F0A98B"/>
                </a:solidFill>
                <a:latin typeface="Consolas"/>
                <a:ea typeface="Consolas"/>
                <a:cs typeface="Consolas"/>
              </a:rPr>
              <a:t>"/employees"</a:t>
            </a:r>
            <a:r>
              <a:rPr lang="en-US" sz="950" b="0" dirty="0">
                <a:solidFill>
                  <a:srgbClr val="E2E8F0"/>
                </a:solidFill>
                <a:latin typeface="Consolas"/>
                <a:ea typeface="Consolas"/>
                <a:cs typeface="Consolas"/>
              </a:rPr>
              <a:t>, (EmployeeRepository repo) =&gt;</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wb_hl02"/>
          <p:cNvSpPr/>
          <p:nvPr/>
        </p:nvSpPr>
        <p:spPr>
          <a:xfrm>
            <a:off x="676656" y="24160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1"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List&lt;Employee&gt; all = repo.GetAllAsync().Result;</a:t>
            </a:r>
            <a:endParaRPr lang="en-US" sz="950" dirty="0"/>
          </a:p>
        </p:txBody>
      </p:sp>
      <p:sp>
        <p:nvSpPr>
          <p:cNvPr id="112"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Results.Ok(all);</a:t>
            </a:r>
            <a:endParaRPr lang="en-US" sz="950" dirty="0"/>
          </a:p>
        </p:txBody>
      </p:sp>
      <p:sp>
        <p:nvSpPr>
          <p:cNvPr id="113"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4"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all of these BLOCK the calling thread:</a:t>
            </a:r>
            <a:endParaRPr lang="en-US" sz="950" dirty="0"/>
          </a:p>
        </p:txBody>
      </p:sp>
      <p:sp>
        <p:nvSpPr>
          <p:cNvPr id="115"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task.Result              → AggregateException</a:t>
            </a:r>
            <a:endParaRPr lang="en-US" sz="950" dirty="0"/>
          </a:p>
        </p:txBody>
      </p:sp>
      <p:sp>
        <p:nvSpPr>
          <p:cNvPr id="116"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task.Wait()              → AggregateException</a:t>
            </a:r>
            <a:endParaRPr lang="en-US" sz="950" dirty="0"/>
          </a:p>
        </p:txBody>
      </p:sp>
      <p:sp>
        <p:nvSpPr>
          <p:cNvPr id="117"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task.GetAwaiter().GetResult() → original exception</a:t>
            </a:r>
            <a:endParaRPr lang="en-US" sz="950" dirty="0"/>
          </a:p>
        </p:txBody>
      </p:sp>
      <p:sp>
        <p:nvSpPr>
          <p:cNvPr id="118"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19"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0"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1"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2"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3"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4"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25"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app.MapGet(</a:t>
            </a:r>
            <a:r>
              <a:rPr lang="en-US" sz="950" b="0" dirty="0">
                <a:solidFill>
                  <a:srgbClr val="F0A98B"/>
                </a:solidFill>
                <a:latin typeface="Consolas"/>
                <a:ea typeface="Consolas"/>
                <a:cs typeface="Consolas"/>
              </a:rPr>
              <a:t>"/employees"</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(EmployeeRepository repo) =&gt;</a:t>
            </a:r>
            <a:endParaRPr lang="en-US" sz="950" dirty="0"/>
          </a:p>
        </p:txBody>
      </p:sp>
      <p:sp>
        <p:nvSpPr>
          <p:cNvPr id="126"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7" name="cwa_hl02"/>
          <p:cNvSpPr/>
          <p:nvPr/>
        </p:nvSpPr>
        <p:spPr>
          <a:xfrm>
            <a:off x="6323076" y="241604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28"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List&lt;Employee&gt; all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repo.GetAllAsync();</a:t>
            </a:r>
            <a:endParaRPr lang="en-US" sz="950" dirty="0"/>
          </a:p>
        </p:txBody>
      </p:sp>
      <p:sp>
        <p:nvSpPr>
          <p:cNvPr id="129"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Results.Ok(all);</a:t>
            </a:r>
            <a:endParaRPr lang="en-US" sz="950" dirty="0"/>
          </a:p>
        </p:txBody>
      </p:sp>
      <p:sp>
        <p:nvSpPr>
          <p:cNvPr id="130"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1"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await: pauses the METHOD, not the thread</a:t>
            </a:r>
            <a:endParaRPr lang="en-US" sz="950" dirty="0"/>
          </a:p>
        </p:txBody>
      </p:sp>
      <p:sp>
        <p:nvSpPr>
          <p:cNvPr id="132"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exceptions arrive unwrapped at the await</a:t>
            </a:r>
            <a:endParaRPr lang="en-US" sz="950" dirty="0"/>
          </a:p>
        </p:txBody>
      </p:sp>
      <p:sp>
        <p:nvSpPr>
          <p:cNvPr id="133"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async all the way: every layer awaits the next</a:t>
            </a:r>
            <a:endParaRPr lang="en-US" sz="950" dirty="0"/>
          </a:p>
        </p:txBody>
      </p:sp>
      <p:sp>
        <p:nvSpPr>
          <p:cNvPr id="134"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35"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36" name="arrow"/>
          <p:cNvCxnSpPr/>
          <p:nvPr/>
        </p:nvCxnSpPr>
        <p:spPr>
          <a:xfrm>
            <a:off x="6011266" y="3227832"/>
            <a:ext cx="150876" cy="0"/>
          </a:xfrm>
          <a:prstGeom prst="line">
            <a:avLst/>
          </a:prstGeom>
          <a:ln w="28575">
            <a:solidFill>
              <a:srgbClr val="13D0F7"/>
            </a:solidFill>
            <a:tailEnd type="triangle" w="med" len="med"/>
          </a:ln>
        </p:spPr>
      </p:cxnSp>
      <p:sp>
        <p:nvSpPr>
          <p:cNvPr id="137"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It works in a quick test, but each call holds a request thread for the whole query. Many users = many blocked pool threads = thread pool starvation.</a:t>
            </a:r>
            <a:endParaRPr lang="en-US" sz="1250" dirty="0"/>
          </a:p>
        </p:txBody>
      </p:sp>
      <p:sp>
        <p:nvSpPr>
          <p:cNvPr id="138"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I/O-bound work (DB, HTTP, files) → async / await, top to bottom. Remember: Task&lt;bool&gt; is not bool: bool ok = await repo.DeleteAsync(1);</a:t>
            </a:r>
            <a:endParaRPr lang="en-US" sz="1250" dirty="0"/>
          </a:p>
        </p:txBody>
      </p:sp>
    </p:spTree>
    <p:extLst>
      <p:ext uri="{BB962C8B-B14F-4D97-AF65-F5344CB8AC3E}">
        <p14:creationId xmlns:p14="http://schemas.microsoft.com/office/powerpoint/2010/main" val="101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56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ASYNC / AWAIT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Is Not Magic: Await Real Async Work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Kitchen.cs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PrepareOrderAsync()</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"Cooking..."</a:t>
            </a:r>
            <a:r>
              <a:rPr lang="en-US" sz="950" b="0" dirty="0">
                <a:solidFill>
                  <a:srgbClr val="E2E8F0"/>
                </a:solidFill>
                <a:latin typeface="Consolas"/>
                <a:ea typeface="Consolas"/>
                <a:cs typeface="Consolas"/>
              </a:rPr>
              <a:t>);</a:t>
            </a:r>
            <a:endParaRPr lang="en-US" sz="950" dirty="0"/>
          </a:p>
        </p:txBody>
      </p:sp>
      <p:sp>
        <p:nvSpPr>
          <p:cNvPr id="111" name="cwb_hl03"/>
          <p:cNvSpPr/>
          <p:nvPr/>
        </p:nvSpPr>
        <p:spPr>
          <a:xfrm>
            <a:off x="676656" y="260908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2"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Thread.Sleep(5000);      </a:t>
            </a:r>
            <a:r>
              <a:rPr lang="en-US" sz="950" b="0" dirty="0">
                <a:solidFill>
                  <a:srgbClr val="6FAE7A"/>
                </a:solidFill>
                <a:latin typeface="Consolas"/>
                <a:ea typeface="Consolas"/>
                <a:cs typeface="Consolas"/>
              </a:rPr>
              <a:t>// still blocks the thread!</a:t>
            </a:r>
            <a:endParaRPr lang="en-US" sz="950" dirty="0"/>
          </a:p>
        </p:txBody>
      </p:sp>
      <p:sp>
        <p:nvSpPr>
          <p:cNvPr id="113"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"Ready"</a:t>
            </a:r>
            <a:r>
              <a:rPr lang="en-US" sz="950" b="0" dirty="0">
                <a:solidFill>
                  <a:srgbClr val="E2E8F0"/>
                </a:solidFill>
                <a:latin typeface="Consolas"/>
                <a:ea typeface="Consolas"/>
                <a:cs typeface="Consolas"/>
              </a:rPr>
              <a:t>);</a:t>
            </a:r>
            <a:endParaRPr lang="en-US" sz="950" dirty="0"/>
          </a:p>
        </p:txBody>
      </p:sp>
      <p:sp>
        <p:nvSpPr>
          <p:cNvPr id="114"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warning CS1998: this async method lacks 'await'</a:t>
            </a:r>
            <a:endParaRPr lang="en-US" sz="950" dirty="0"/>
          </a:p>
        </p:txBody>
      </p:sp>
      <p:sp>
        <p:nvSpPr>
          <p:cNvPr id="116" name="cwb_L08"/>
          <p:cNvSpPr txBox="1"/>
          <p:nvPr/>
        </p:nvSpPr>
        <p:spPr>
          <a:xfrm>
            <a:off x="77175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operators and will run synchronously</a:t>
            </a:r>
            <a:endParaRPr lang="en-US" sz="950" dirty="0"/>
          </a:p>
        </p:txBody>
      </p:sp>
      <p:sp>
        <p:nvSpPr>
          <p:cNvPr id="117"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1,000 requests = 1,000 idle, blocked threads</a:t>
            </a:r>
            <a:endParaRPr lang="en-US" sz="950" dirty="0"/>
          </a:p>
        </p:txBody>
      </p:sp>
      <p:sp>
        <p:nvSpPr>
          <p:cNvPr id="118"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19"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0"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1"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2"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3"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4"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Kitchen.cs</a:t>
            </a:r>
            <a:endParaRPr lang="en-US" sz="950" dirty="0"/>
          </a:p>
        </p:txBody>
      </p:sp>
      <p:sp>
        <p:nvSpPr>
          <p:cNvPr id="125"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PrepareOrderAsync()</a:t>
            </a:r>
            <a:endParaRPr lang="en-US" sz="950" dirty="0"/>
          </a:p>
        </p:txBody>
      </p:sp>
      <p:sp>
        <p:nvSpPr>
          <p:cNvPr id="126"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7"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"Cooking..."</a:t>
            </a:r>
            <a:r>
              <a:rPr lang="en-US" sz="950" b="0" dirty="0">
                <a:solidFill>
                  <a:srgbClr val="E2E8F0"/>
                </a:solidFill>
                <a:latin typeface="Consolas"/>
                <a:ea typeface="Consolas"/>
                <a:cs typeface="Consolas"/>
              </a:rPr>
              <a:t>);</a:t>
            </a:r>
            <a:endParaRPr lang="en-US" sz="950" dirty="0"/>
          </a:p>
        </p:txBody>
      </p:sp>
      <p:sp>
        <p:nvSpPr>
          <p:cNvPr id="128" name="cwa_hl03"/>
          <p:cNvSpPr/>
          <p:nvPr/>
        </p:nvSpPr>
        <p:spPr>
          <a:xfrm>
            <a:off x="6323076" y="260908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29"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Task.Delay(5000);  </a:t>
            </a:r>
            <a:r>
              <a:rPr lang="en-US" sz="950" b="0" dirty="0">
                <a:solidFill>
                  <a:srgbClr val="6FAE7A"/>
                </a:solidFill>
                <a:latin typeface="Consolas"/>
                <a:ea typeface="Consolas"/>
                <a:cs typeface="Consolas"/>
              </a:rPr>
              <a:t>// a timer: no thread held</a:t>
            </a:r>
            <a:endParaRPr lang="en-US" sz="950" dirty="0"/>
          </a:p>
        </p:txBody>
      </p:sp>
      <p:sp>
        <p:nvSpPr>
          <p:cNvPr id="130"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"Ready"</a:t>
            </a:r>
            <a:r>
              <a:rPr lang="en-US" sz="950" b="0" dirty="0">
                <a:solidFill>
                  <a:srgbClr val="E2E8F0"/>
                </a:solidFill>
                <a:latin typeface="Consolas"/>
                <a:ea typeface="Consolas"/>
                <a:cs typeface="Consolas"/>
              </a:rPr>
              <a:t>);</a:t>
            </a:r>
            <a:endParaRPr lang="en-US" sz="950" dirty="0"/>
          </a:p>
        </p:txBody>
      </p:sp>
      <p:sp>
        <p:nvSpPr>
          <p:cNvPr id="131"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the thread serves other users for those 5 s</a:t>
            </a:r>
            <a:endParaRPr lang="en-US" sz="950" dirty="0"/>
          </a:p>
        </p:txBody>
      </p:sp>
      <p:sp>
        <p:nvSpPr>
          <p:cNvPr id="133" name="cwa_L08"/>
          <p:cNvSpPr txBox="1"/>
          <p:nvPr/>
        </p:nvSpPr>
        <p:spPr>
          <a:xfrm>
            <a:off x="6418174" y="35925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real async I/O to await:</a:t>
            </a:r>
            <a:endParaRPr lang="en-US" sz="950" dirty="0"/>
          </a:p>
        </p:txBody>
      </p:sp>
      <p:sp>
        <p:nvSpPr>
          <p:cNvPr id="134"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File.ReadAllTextAsync · httpClient.GetStringAsync</a:t>
            </a:r>
            <a:endParaRPr lang="en-US" sz="950" dirty="0"/>
          </a:p>
        </p:txBody>
      </p:sp>
      <p:sp>
        <p:nvSpPr>
          <p:cNvPr id="135"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FirstAsync · SaveChangesAsync</a:t>
            </a:r>
            <a:endParaRPr lang="en-US" sz="950" dirty="0"/>
          </a:p>
        </p:txBody>
      </p:sp>
      <p:sp>
        <p:nvSpPr>
          <p:cNvPr id="136"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37"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38" name="arrow"/>
          <p:cNvCxnSpPr/>
          <p:nvPr/>
        </p:nvCxnSpPr>
        <p:spPr>
          <a:xfrm>
            <a:off x="6011266" y="3227832"/>
            <a:ext cx="150876" cy="0"/>
          </a:xfrm>
          <a:prstGeom prst="line">
            <a:avLst/>
          </a:prstGeom>
          <a:ln w="28575">
            <a:solidFill>
              <a:srgbClr val="13D0F7"/>
            </a:solidFill>
            <a:tailEnd type="triangle" w="med" len="med"/>
          </a:ln>
        </p:spPr>
      </p:cxnSp>
      <p:sp>
        <p:nvSpPr>
          <p:cNvPr id="139"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The async keyword changes nothing by itself. Thread.Sleep holds the thread for the full time; the method runs synchronously.</a:t>
            </a:r>
            <a:endParaRPr lang="en-US" sz="1250" dirty="0"/>
          </a:p>
        </p:txBody>
      </p:sp>
      <p:sp>
        <p:nvSpPr>
          <p:cNvPr id="140"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In async code: await Task.Delay, never Thread.Sleep. Call the ...Async version of the I/O and await it. Task.FromResult only wraps a ready value.</a:t>
            </a:r>
            <a:endParaRPr lang="en-US" sz="1250" dirty="0"/>
          </a:p>
        </p:txBody>
      </p:sp>
    </p:spTree>
    <p:extLst>
      <p:ext uri="{BB962C8B-B14F-4D97-AF65-F5344CB8AC3E}">
        <p14:creationId xmlns:p14="http://schemas.microsoft.com/office/powerpoint/2010/main" val="1012"/>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ASYNC VOID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void → async Task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REVISION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a:t>
            </a:r>
            <a:endParaRPr lang="en-US" sz="850" dirty="0"/>
          </a:p>
        </p:txBody>
      </p:sp>
      <p:sp>
        <p:nvSpPr>
          <p:cNvPr id="101"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wb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Receipt.cs</a:t>
            </a:r>
            <a:endParaRPr lang="en-US" sz="950" dirty="0"/>
          </a:p>
        </p:txBody>
      </p:sp>
      <p:sp>
        <p:nvSpPr>
          <p:cNvPr id="108" name="cwb_L00"/>
          <p:cNvSpPr txBox="1"/>
          <p:nvPr/>
        </p:nvSpPr>
        <p:spPr>
          <a:xfrm>
            <a:off x="77175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109" name="cwb_L01"/>
          <p:cNvSpPr txBox="1"/>
          <p:nvPr/>
        </p:nvSpPr>
        <p:spPr>
          <a:xfrm>
            <a:off x="77175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wb_hl02"/>
          <p:cNvSpPr/>
          <p:nvPr/>
        </p:nvSpPr>
        <p:spPr>
          <a:xfrm>
            <a:off x="676656" y="241604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1" name="cwb_L02"/>
          <p:cNvSpPr txBox="1"/>
          <p:nvPr/>
        </p:nvSpPr>
        <p:spPr>
          <a:xfrm>
            <a:off x="77175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SendReceipt();          </a:t>
            </a:r>
            <a:r>
              <a:rPr lang="en-US" sz="950" b="0" dirty="0">
                <a:solidFill>
                  <a:srgbClr val="6FAE7A"/>
                </a:solidFill>
                <a:latin typeface="Consolas"/>
                <a:ea typeface="Consolas"/>
                <a:cs typeface="Consolas"/>
              </a:rPr>
              <a:t>// cannot be awaited</a:t>
            </a:r>
            <a:endParaRPr lang="en-US" sz="950" dirty="0"/>
          </a:p>
        </p:txBody>
      </p:sp>
      <p:sp>
        <p:nvSpPr>
          <p:cNvPr id="112" name="cwb_L03"/>
          <p:cNvSpPr txBox="1"/>
          <p:nvPr/>
        </p:nvSpPr>
        <p:spPr>
          <a:xfrm>
            <a:off x="77175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3" name="cwb_L04"/>
          <p:cNvSpPr txBox="1"/>
          <p:nvPr/>
        </p:nvSpPr>
        <p:spPr>
          <a:xfrm>
            <a:off x="77175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(Exception)</a:t>
            </a:r>
            <a:endParaRPr lang="en-US" sz="950" dirty="0"/>
          </a:p>
        </p:txBody>
      </p:sp>
      <p:sp>
        <p:nvSpPr>
          <p:cNvPr id="114" name="cwb_L05"/>
          <p:cNvSpPr txBox="1"/>
          <p:nvPr/>
        </p:nvSpPr>
        <p:spPr>
          <a:xfrm>
            <a:off x="77175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wb_L06"/>
          <p:cNvSpPr txBox="1"/>
          <p:nvPr/>
        </p:nvSpPr>
        <p:spPr>
          <a:xfrm>
            <a:off x="77175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"Never reached"</a:t>
            </a:r>
            <a:r>
              <a:rPr lang="en-US" sz="950" b="0" dirty="0">
                <a:solidFill>
                  <a:srgbClr val="E2E8F0"/>
                </a:solidFill>
                <a:latin typeface="Consolas"/>
                <a:ea typeface="Consolas"/>
                <a:cs typeface="Consolas"/>
              </a:rPr>
              <a:t>);</a:t>
            </a:r>
            <a:endParaRPr lang="en-US" sz="950" dirty="0"/>
          </a:p>
        </p:txBody>
      </p:sp>
      <p:sp>
        <p:nvSpPr>
          <p:cNvPr id="116" name="cwb_L07"/>
          <p:cNvSpPr txBox="1"/>
          <p:nvPr/>
        </p:nvSpPr>
        <p:spPr>
          <a:xfrm>
            <a:off x="77175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7" name="cwb_hl09"/>
          <p:cNvSpPr/>
          <p:nvPr/>
        </p:nvSpPr>
        <p:spPr>
          <a:xfrm>
            <a:off x="676656" y="3767328"/>
            <a:ext cx="5173675"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18" name="cwb_L09"/>
          <p:cNvSpPr txBox="1"/>
          <p:nvPr/>
        </p:nvSpPr>
        <p:spPr>
          <a:xfrm>
            <a:off x="77175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SendReceipt()</a:t>
            </a:r>
            <a:endParaRPr lang="en-US" sz="950" dirty="0"/>
          </a:p>
        </p:txBody>
      </p:sp>
      <p:sp>
        <p:nvSpPr>
          <p:cNvPr id="119" name="cwb_L10"/>
          <p:cNvSpPr txBox="1"/>
          <p:nvPr/>
        </p:nvSpPr>
        <p:spPr>
          <a:xfrm>
            <a:off x="77175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0" name="cwb_L11"/>
          <p:cNvSpPr txBox="1"/>
          <p:nvPr/>
        </p:nvSpPr>
        <p:spPr>
          <a:xfrm>
            <a:off x="771754" y="41716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a:t>
            </a:r>
            <a:endParaRPr lang="en-US" sz="950" dirty="0"/>
          </a:p>
        </p:txBody>
      </p:sp>
      <p:sp>
        <p:nvSpPr>
          <p:cNvPr id="121" name="cwb_L12"/>
          <p:cNvSpPr txBox="1"/>
          <p:nvPr/>
        </p:nvSpPr>
        <p:spPr>
          <a:xfrm>
            <a:off x="771754" y="43647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InvalidOperationException(</a:t>
            </a:r>
            <a:r>
              <a:rPr lang="en-US" sz="950" b="0" dirty="0">
                <a:solidFill>
                  <a:srgbClr val="F0A98B"/>
                </a:solidFill>
                <a:latin typeface="Consolas"/>
                <a:ea typeface="Consolas"/>
                <a:cs typeface="Consolas"/>
              </a:rPr>
              <a:t>"SMTP down"</a:t>
            </a:r>
            <a:r>
              <a:rPr lang="en-US" sz="950" b="0" dirty="0">
                <a:solidFill>
                  <a:srgbClr val="E2E8F0"/>
                </a:solidFill>
                <a:latin typeface="Consolas"/>
                <a:ea typeface="Consolas"/>
                <a:cs typeface="Consolas"/>
              </a:rPr>
              <a:t>);</a:t>
            </a:r>
            <a:endParaRPr lang="en-US" sz="950" dirty="0"/>
          </a:p>
        </p:txBody>
      </p:sp>
      <p:sp>
        <p:nvSpPr>
          <p:cNvPr id="122" name="cwb_L13"/>
          <p:cNvSpPr txBox="1"/>
          <p:nvPr/>
        </p:nvSpPr>
        <p:spPr>
          <a:xfrm>
            <a:off x="77175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3"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4"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6"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cwa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Receipt.cs</a:t>
            </a:r>
            <a:endParaRPr lang="en-US" sz="950" dirty="0"/>
          </a:p>
        </p:txBody>
      </p:sp>
      <p:sp>
        <p:nvSpPr>
          <p:cNvPr id="130" name="cwa_L00"/>
          <p:cNvSpPr txBox="1"/>
          <p:nvPr/>
        </p:nvSpPr>
        <p:spPr>
          <a:xfrm>
            <a:off x="6418174" y="20482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131" name="cwa_L01"/>
          <p:cNvSpPr txBox="1"/>
          <p:nvPr/>
        </p:nvSpPr>
        <p:spPr>
          <a:xfrm>
            <a:off x="6418174" y="224129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cwa_hl02"/>
          <p:cNvSpPr/>
          <p:nvPr/>
        </p:nvSpPr>
        <p:spPr>
          <a:xfrm>
            <a:off x="6323076" y="241604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33" name="cwa_L02"/>
          <p:cNvSpPr txBox="1"/>
          <p:nvPr/>
        </p:nvSpPr>
        <p:spPr>
          <a:xfrm>
            <a:off x="6418174" y="24343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SendReceiptAsync();</a:t>
            </a:r>
            <a:endParaRPr lang="en-US" sz="950" dirty="0"/>
          </a:p>
        </p:txBody>
      </p:sp>
      <p:sp>
        <p:nvSpPr>
          <p:cNvPr id="134" name="cwa_L03"/>
          <p:cNvSpPr txBox="1"/>
          <p:nvPr/>
        </p:nvSpPr>
        <p:spPr>
          <a:xfrm>
            <a:off x="6418174" y="26273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5" name="cwa_L04"/>
          <p:cNvSpPr txBox="1"/>
          <p:nvPr/>
        </p:nvSpPr>
        <p:spPr>
          <a:xfrm>
            <a:off x="6418174" y="28204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(Exception ex)</a:t>
            </a:r>
            <a:endParaRPr lang="en-US" sz="950" dirty="0"/>
          </a:p>
        </p:txBody>
      </p:sp>
      <p:sp>
        <p:nvSpPr>
          <p:cNvPr id="136" name="cwa_L05"/>
          <p:cNvSpPr txBox="1"/>
          <p:nvPr/>
        </p:nvSpPr>
        <p:spPr>
          <a:xfrm>
            <a:off x="6418174" y="30134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7" name="cwa_L06"/>
          <p:cNvSpPr txBox="1"/>
          <p:nvPr/>
        </p:nvSpPr>
        <p:spPr>
          <a:xfrm>
            <a:off x="6418174" y="32064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$"Receipt failed: {ex.Message}"</a:t>
            </a:r>
            <a:r>
              <a:rPr lang="en-US" sz="950" b="0" dirty="0">
                <a:solidFill>
                  <a:srgbClr val="E2E8F0"/>
                </a:solidFill>
                <a:latin typeface="Consolas"/>
                <a:ea typeface="Consolas"/>
                <a:cs typeface="Consolas"/>
              </a:rPr>
              <a:t>);</a:t>
            </a:r>
            <a:endParaRPr lang="en-US" sz="950" dirty="0"/>
          </a:p>
        </p:txBody>
      </p:sp>
      <p:sp>
        <p:nvSpPr>
          <p:cNvPr id="138" name="cwa_L07"/>
          <p:cNvSpPr txBox="1"/>
          <p:nvPr/>
        </p:nvSpPr>
        <p:spPr>
          <a:xfrm>
            <a:off x="6418174" y="339953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9" name="cwa_hl09"/>
          <p:cNvSpPr/>
          <p:nvPr/>
        </p:nvSpPr>
        <p:spPr>
          <a:xfrm>
            <a:off x="6323076" y="3767328"/>
            <a:ext cx="5173675"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0" name="cwa_L09"/>
          <p:cNvSpPr txBox="1"/>
          <p:nvPr/>
        </p:nvSpPr>
        <p:spPr>
          <a:xfrm>
            <a:off x="6418174" y="378561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SendReceiptAsync()</a:t>
            </a:r>
            <a:endParaRPr lang="en-US" sz="950" dirty="0"/>
          </a:p>
        </p:txBody>
      </p:sp>
      <p:sp>
        <p:nvSpPr>
          <p:cNvPr id="141" name="cwa_L10"/>
          <p:cNvSpPr txBox="1"/>
          <p:nvPr/>
        </p:nvSpPr>
        <p:spPr>
          <a:xfrm>
            <a:off x="6418174" y="397865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2" name="cwa_L11"/>
          <p:cNvSpPr txBox="1"/>
          <p:nvPr/>
        </p:nvSpPr>
        <p:spPr>
          <a:xfrm>
            <a:off x="6418174" y="417169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a:t>
            </a:r>
            <a:endParaRPr lang="en-US" sz="950" dirty="0"/>
          </a:p>
        </p:txBody>
      </p:sp>
      <p:sp>
        <p:nvSpPr>
          <p:cNvPr id="143" name="cwa_L12"/>
          <p:cNvSpPr txBox="1"/>
          <p:nvPr/>
        </p:nvSpPr>
        <p:spPr>
          <a:xfrm>
            <a:off x="6418174" y="4364736"/>
            <a:ext cx="5056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InvalidOperationException(</a:t>
            </a:r>
            <a:r>
              <a:rPr lang="en-US" sz="950" b="0" dirty="0">
                <a:solidFill>
                  <a:srgbClr val="F0A98B"/>
                </a:solidFill>
                <a:latin typeface="Consolas"/>
                <a:ea typeface="Consolas"/>
                <a:cs typeface="Consolas"/>
              </a:rPr>
              <a:t>"SMTP down"</a:t>
            </a:r>
            <a:r>
              <a:rPr lang="en-US" sz="950" b="0" dirty="0">
                <a:solidFill>
                  <a:srgbClr val="E2E8F0"/>
                </a:solidFill>
                <a:latin typeface="Consolas"/>
                <a:ea typeface="Consolas"/>
                <a:cs typeface="Consolas"/>
              </a:rPr>
              <a:t>);</a:t>
            </a:r>
            <a:endParaRPr lang="en-US" sz="950" dirty="0"/>
          </a:p>
        </p:txBody>
      </p:sp>
      <p:sp>
        <p:nvSpPr>
          <p:cNvPr id="144" name="cwa_L13"/>
          <p:cNvSpPr txBox="1"/>
          <p:nvPr/>
        </p:nvSpPr>
        <p:spPr>
          <a:xfrm>
            <a:off x="6418174" y="4557776"/>
            <a:ext cx="5056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5"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46"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cxnSp>
        <p:nvCxnSpPr>
          <p:cNvPr id="147" name="arrow"/>
          <p:cNvCxnSpPr/>
          <p:nvPr/>
        </p:nvCxnSpPr>
        <p:spPr>
          <a:xfrm>
            <a:off x="6011266" y="3227832"/>
            <a:ext cx="150876" cy="0"/>
          </a:xfrm>
          <a:prstGeom prst="line">
            <a:avLst/>
          </a:prstGeom>
          <a:ln w="28575">
            <a:solidFill>
              <a:srgbClr val="13D0F7"/>
            </a:solidFill>
            <a:tailEnd type="triangle" w="med" len="med"/>
          </a:ln>
        </p:spPr>
      </p:cxnSp>
      <p:sp>
        <p:nvSpPr>
          <p:cNvPr id="148"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WHY IT FAILS</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No Task to await: the caller can't know when it ends or catch its exception. The exception escapes and can crash the process.</a:t>
            </a:r>
            <a:endParaRPr lang="en-US" sz="1250" dirty="0"/>
          </a:p>
        </p:txBody>
      </p:sp>
      <p:sp>
        <p:nvSpPr>
          <p:cNvPr id="149"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USE IT WHEN</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Always async Task / Task&lt;T&gt; (stores the exception, can be awaited). async void ONLY for event handlers, where the signature forces it.</a:t>
            </a:r>
            <a:endParaRPr lang="en-US" sz="1250" dirty="0"/>
          </a:p>
        </p:txBody>
      </p:sp>
    </p:spTree>
    <p:extLst>
      <p:ext uri="{BB962C8B-B14F-4D97-AF65-F5344CB8AC3E}">
        <p14:creationId xmlns:p14="http://schemas.microsoft.com/office/powerpoint/2010/main" val="1013"/>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19556"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VALUETASK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Task vs ValueTask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35</a:t>
            </a:r>
            <a:endParaRPr lang="en-US" sz="850" dirty="0"/>
          </a:p>
        </p:txBody>
      </p:sp>
      <p:sp>
        <p:nvSpPr>
          <p:cNvPr id="15" name="cw_win"/>
          <p:cNvSpPr/>
          <p:nvPr/>
        </p:nvSpPr>
        <p:spPr>
          <a:xfrm>
            <a:off x="543154" y="1572768"/>
            <a:ext cx="640080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00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Dictionary&lt;</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cache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a:t>
            </a:r>
            <a:endParaRPr lang="en-US" sz="1000" dirty="0"/>
          </a:p>
        </p:txBody>
      </p:sp>
      <p:sp>
        <p:nvSpPr>
          <p:cNvPr id="23" name="cw_L01"/>
          <p:cNvSpPr txBox="1"/>
          <p:nvPr/>
        </p:nvSpPr>
        <p:spPr>
          <a:xfrm>
            <a:off x="771754" y="22514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GetNameAsync(7));   </a:t>
            </a:r>
            <a:r>
              <a:rPr lang="en-US" sz="1000" b="0" dirty="0">
                <a:solidFill>
                  <a:srgbClr val="6FAE7A"/>
                </a:solidFill>
                <a:latin typeface="Consolas"/>
                <a:ea typeface="Consolas"/>
                <a:cs typeface="Consolas"/>
              </a:rPr>
              <a:t>// slow path</a:t>
            </a:r>
            <a:endParaRPr lang="en-US" sz="1000" dirty="0"/>
          </a:p>
        </p:txBody>
      </p:sp>
      <p:sp>
        <p:nvSpPr>
          <p:cNvPr id="24" name="cw_L02"/>
          <p:cNvSpPr txBox="1"/>
          <p:nvPr/>
        </p:nvSpPr>
        <p:spPr>
          <a:xfrm>
            <a:off x="771754" y="24546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GetNameAsync(7));   </a:t>
            </a:r>
            <a:r>
              <a:rPr lang="en-US" sz="1000" b="0" dirty="0">
                <a:solidFill>
                  <a:srgbClr val="6FAE7A"/>
                </a:solidFill>
                <a:latin typeface="Consolas"/>
                <a:ea typeface="Consolas"/>
                <a:cs typeface="Consolas"/>
              </a:rPr>
              <a:t>// fast path</a:t>
            </a:r>
            <a:endParaRPr lang="en-US" sz="1000" dirty="0"/>
          </a:p>
        </p:txBody>
      </p:sp>
      <p:sp>
        <p:nvSpPr>
          <p:cNvPr id="25" name="cw_L03"/>
          <p:cNvSpPr txBox="1"/>
          <p:nvPr/>
        </p:nvSpPr>
        <p:spPr>
          <a:xfrm>
            <a:off x="771754" y="26578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ValueTask&lt;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GetNameAsync(</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id)</a:t>
            </a:r>
            <a:endParaRPr lang="en-US" sz="1000" dirty="0"/>
          </a:p>
        </p:txBody>
      </p:sp>
      <p:sp>
        <p:nvSpPr>
          <p:cNvPr id="26" name="cw_L04"/>
          <p:cNvSpPr txBox="1"/>
          <p:nvPr/>
        </p:nvSpPr>
        <p:spPr>
          <a:xfrm>
            <a:off x="771754" y="28610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7" name="cw_L05"/>
          <p:cNvSpPr txBox="1"/>
          <p:nvPr/>
        </p:nvSpPr>
        <p:spPr>
          <a:xfrm>
            <a:off x="771754" y="30642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if</a:t>
            </a:r>
            <a:r>
              <a:rPr lang="en-US" sz="1000" b="0" dirty="0">
                <a:solidFill>
                  <a:srgbClr val="E2E8F0"/>
                </a:solidFill>
                <a:latin typeface="Consolas"/>
                <a:ea typeface="Consolas"/>
                <a:cs typeface="Consolas"/>
              </a:rPr>
              <a:t> (cache.TryGetValue(id, </a:t>
            </a:r>
            <a:r>
              <a:rPr lang="en-US" sz="1000" b="0" dirty="0">
                <a:solidFill>
                  <a:srgbClr val="60A5FA"/>
                </a:solidFill>
                <a:latin typeface="Consolas"/>
                <a:ea typeface="Consolas"/>
                <a:cs typeface="Consolas"/>
              </a:rPr>
              <a:t>out</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name))</a:t>
            </a:r>
            <a:endParaRPr lang="en-US" sz="1000" dirty="0"/>
          </a:p>
        </p:txBody>
      </p:sp>
      <p:sp>
        <p:nvSpPr>
          <p:cNvPr id="28" name="cw_L06"/>
          <p:cNvSpPr txBox="1"/>
          <p:nvPr/>
        </p:nvSpPr>
        <p:spPr>
          <a:xfrm>
            <a:off x="771754" y="3267456"/>
            <a:ext cx="6016752" cy="203200"/>
          </a:xfrm>
          <a:prstGeom prst="rect">
            <a:avLst/>
          </a:prstGeom>
          <a:noFill/>
          <a:ln>
            <a:noFill/>
          </a:ln>
        </p:spPr>
        <p:txBody>
          <a:bodyPr wrap="none" lIns="0" tIns="0" rIns="0" bIns="0" rtlCol="0" anchor="ctr">
            <a:noAutofit/>
          </a:bodyPr>
          <a:lstStyle/>
          <a:p>
            <a:pPr marL="5588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name;                 </a:t>
            </a:r>
            <a:r>
              <a:rPr lang="en-US" sz="1000" b="0" dirty="0">
                <a:solidFill>
                  <a:srgbClr val="6FAE7A"/>
                </a:solidFill>
                <a:latin typeface="Consolas"/>
                <a:ea typeface="Consolas"/>
                <a:cs typeface="Consolas"/>
              </a:rPr>
              <a:t>// usually: no Task allocated</a:t>
            </a:r>
            <a:endParaRPr lang="en-US" sz="1000" dirty="0"/>
          </a:p>
        </p:txBody>
      </p:sp>
      <p:sp>
        <p:nvSpPr>
          <p:cNvPr id="29" name="cw_L08"/>
          <p:cNvSpPr txBox="1"/>
          <p:nvPr/>
        </p:nvSpPr>
        <p:spPr>
          <a:xfrm>
            <a:off x="771754" y="36738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           </a:t>
            </a:r>
            <a:r>
              <a:rPr lang="en-US" sz="1000" b="0" dirty="0">
                <a:solidFill>
                  <a:srgbClr val="6FAE7A"/>
                </a:solidFill>
                <a:latin typeface="Consolas"/>
                <a:ea typeface="Consolas"/>
                <a:cs typeface="Consolas"/>
              </a:rPr>
              <a:t>// rarely: real I/O</a:t>
            </a:r>
            <a:endParaRPr lang="en-US" sz="1000" dirty="0"/>
          </a:p>
        </p:txBody>
      </p:sp>
      <p:sp>
        <p:nvSpPr>
          <p:cNvPr id="30" name="cw_L09"/>
          <p:cNvSpPr txBox="1"/>
          <p:nvPr/>
        </p:nvSpPr>
        <p:spPr>
          <a:xfrm>
            <a:off x="771754" y="38770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name = </a:t>
            </a:r>
            <a:r>
              <a:rPr lang="en-US" sz="1000" b="0" dirty="0">
                <a:solidFill>
                  <a:srgbClr val="F0A98B"/>
                </a:solidFill>
                <a:latin typeface="Consolas"/>
                <a:ea typeface="Consolas"/>
                <a:cs typeface="Consolas"/>
              </a:rPr>
              <a:t>$"Restaurant {id}"</a:t>
            </a:r>
            <a:r>
              <a:rPr lang="en-US" sz="1000" b="0" dirty="0">
                <a:solidFill>
                  <a:srgbClr val="E2E8F0"/>
                </a:solidFill>
                <a:latin typeface="Consolas"/>
                <a:ea typeface="Consolas"/>
                <a:cs typeface="Consolas"/>
              </a:rPr>
              <a:t>;</a:t>
            </a:r>
            <a:endParaRPr lang="en-US" sz="1000" dirty="0"/>
          </a:p>
        </p:txBody>
      </p:sp>
      <p:sp>
        <p:nvSpPr>
          <p:cNvPr id="31" name="cw_L10"/>
          <p:cNvSpPr txBox="1"/>
          <p:nvPr/>
        </p:nvSpPr>
        <p:spPr>
          <a:xfrm>
            <a:off x="771754" y="40802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cache[id] = name;</a:t>
            </a:r>
            <a:endParaRPr lang="en-US" sz="1000" dirty="0"/>
          </a:p>
        </p:txBody>
      </p:sp>
      <p:sp>
        <p:nvSpPr>
          <p:cNvPr id="32" name="cw_L11"/>
          <p:cNvSpPr txBox="1"/>
          <p:nvPr/>
        </p:nvSpPr>
        <p:spPr>
          <a:xfrm>
            <a:off x="771754" y="4283456"/>
            <a:ext cx="601675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name;</a:t>
            </a:r>
            <a:endParaRPr lang="en-US" sz="1000" dirty="0"/>
          </a:p>
        </p:txBody>
      </p:sp>
      <p:sp>
        <p:nvSpPr>
          <p:cNvPr id="33" name="cw_L12"/>
          <p:cNvSpPr txBox="1"/>
          <p:nvPr/>
        </p:nvSpPr>
        <p:spPr>
          <a:xfrm>
            <a:off x="771754" y="4486656"/>
            <a:ext cx="601675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mark"/>
          <p:cNvSpPr/>
          <p:nvPr/>
        </p:nvSpPr>
        <p:spPr>
          <a:xfrm>
            <a:off x="676656" y="3249168"/>
            <a:ext cx="6133795" cy="239776"/>
          </a:xfrm>
          <a:prstGeom prst="rect">
            <a:avLst/>
          </a:prstGeom>
          <a:solidFill>
            <a:srgbClr val="34D399">
              <a:alpha val="16000"/>
            </a:srgbClr>
          </a:solidFill>
          <a:ln w="15875">
            <a:solidFill>
              <a:srgbClr val="34D399"/>
            </a:solidFill>
            <a:prstDash val="solid"/>
          </a:ln>
        </p:spPr>
        <p:txBody>
          <a:bodyPr/>
          <a:lstStyle/>
          <a:p>
            <a:endParaRPr lang="en-US"/>
          </a:p>
        </p:txBody>
      </p:sp>
      <p:sp>
        <p:nvSpPr>
          <p:cNvPr id="35" name="cmark"/>
          <p:cNvSpPr/>
          <p:nvPr/>
        </p:nvSpPr>
        <p:spPr>
          <a:xfrm>
            <a:off x="676656" y="3655568"/>
            <a:ext cx="6133795" cy="239776"/>
          </a:xfrm>
          <a:prstGeom prst="rect">
            <a:avLst/>
          </a:prstGeom>
          <a:solidFill>
            <a:srgbClr val="FBBF24">
              <a:alpha val="16000"/>
            </a:srgbClr>
          </a:solidFill>
          <a:ln w="15875">
            <a:solidFill>
              <a:srgbClr val="FBBF24"/>
            </a:solidFill>
            <a:prstDash val="solid"/>
          </a:ln>
        </p:spPr>
        <p:txBody>
          <a:bodyPr/>
          <a:lstStyle/>
          <a:p>
            <a:endParaRPr lang="en-US"/>
          </a:p>
        </p:txBody>
      </p:sp>
      <p:sp>
        <p:nvSpPr>
          <p:cNvPr id="36" name="tbl_head"/>
          <p:cNvSpPr/>
          <p:nvPr/>
        </p:nvSpPr>
        <p:spPr>
          <a:xfrm>
            <a:off x="7172554" y="1572768"/>
            <a:ext cx="4457700" cy="329184"/>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37" name="tbl_h"/>
          <p:cNvSpPr txBox="1"/>
          <p:nvPr/>
        </p:nvSpPr>
        <p:spPr>
          <a:xfrm>
            <a:off x="7300570" y="1572768"/>
            <a:ext cx="115443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000" dirty="0"/>
          </a:p>
        </p:txBody>
      </p:sp>
      <p:sp>
        <p:nvSpPr>
          <p:cNvPr id="38" name="tbl_h"/>
          <p:cNvSpPr txBox="1"/>
          <p:nvPr/>
        </p:nvSpPr>
        <p:spPr>
          <a:xfrm>
            <a:off x="8637880" y="1572768"/>
            <a:ext cx="1377315"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Task&lt;T&gt;</a:t>
            </a:r>
            <a:endParaRPr lang="en-US" sz="1000" dirty="0"/>
          </a:p>
        </p:txBody>
      </p:sp>
      <p:sp>
        <p:nvSpPr>
          <p:cNvPr id="39" name="tbl_h"/>
          <p:cNvSpPr txBox="1"/>
          <p:nvPr/>
        </p:nvSpPr>
        <p:spPr>
          <a:xfrm>
            <a:off x="10198075" y="1572768"/>
            <a:ext cx="1377315"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ValueTask&lt;T&gt;</a:t>
            </a:r>
            <a:endParaRPr lang="en-US" sz="1000" dirty="0"/>
          </a:p>
        </p:txBody>
      </p:sp>
      <p:sp>
        <p:nvSpPr>
          <p:cNvPr id="40" name="tbl_row"/>
          <p:cNvSpPr/>
          <p:nvPr/>
        </p:nvSpPr>
        <p:spPr>
          <a:xfrm>
            <a:off x="7172554" y="1965960"/>
            <a:ext cx="4457700" cy="548640"/>
          </a:xfrm>
          <a:prstGeom prst="roundRect">
            <a:avLst>
              <a:gd name="adj" fmla="val 13333"/>
            </a:avLst>
          </a:prstGeom>
          <a:solidFill>
            <a:srgbClr val="111B2E"/>
          </a:solidFill>
          <a:ln w="12700">
            <a:solidFill>
              <a:srgbClr val="34D399"/>
            </a:solidFill>
            <a:prstDash val="solid"/>
          </a:ln>
        </p:spPr>
        <p:txBody>
          <a:bodyPr/>
          <a:lstStyle/>
          <a:p>
            <a:endParaRPr lang="en-US"/>
          </a:p>
        </p:txBody>
      </p:sp>
      <p:sp>
        <p:nvSpPr>
          <p:cNvPr id="41" name="tbl_c"/>
          <p:cNvSpPr txBox="1"/>
          <p:nvPr/>
        </p:nvSpPr>
        <p:spPr>
          <a:xfrm>
            <a:off x="7300570" y="1965960"/>
            <a:ext cx="115443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Kind</a:t>
            </a:r>
            <a:endParaRPr lang="en-US" sz="1100" dirty="0"/>
          </a:p>
        </p:txBody>
      </p:sp>
      <p:sp>
        <p:nvSpPr>
          <p:cNvPr id="42" name="tbl_c"/>
          <p:cNvSpPr txBox="1"/>
          <p:nvPr/>
        </p:nvSpPr>
        <p:spPr>
          <a:xfrm>
            <a:off x="8637880" y="1965960"/>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class</a:t>
            </a:r>
            <a:endParaRPr lang="en-US" sz="1100" dirty="0"/>
          </a:p>
        </p:txBody>
      </p:sp>
      <p:sp>
        <p:nvSpPr>
          <p:cNvPr id="43" name="tbl_c"/>
          <p:cNvSpPr txBox="1"/>
          <p:nvPr/>
        </p:nvSpPr>
        <p:spPr>
          <a:xfrm>
            <a:off x="10198075" y="1965960"/>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struct</a:t>
            </a:r>
            <a:endParaRPr lang="en-US" sz="1100" dirty="0"/>
          </a:p>
        </p:txBody>
      </p:sp>
      <p:sp>
        <p:nvSpPr>
          <p:cNvPr id="44" name="tbl_row"/>
          <p:cNvSpPr/>
          <p:nvPr/>
        </p:nvSpPr>
        <p:spPr>
          <a:xfrm>
            <a:off x="7172554" y="2578608"/>
            <a:ext cx="4457700" cy="548640"/>
          </a:xfrm>
          <a:prstGeom prst="roundRect">
            <a:avLst>
              <a:gd name="adj" fmla="val 13333"/>
            </a:avLst>
          </a:prstGeom>
          <a:solidFill>
            <a:srgbClr val="111B2E"/>
          </a:solidFill>
          <a:ln w="12700">
            <a:solidFill>
              <a:srgbClr val="FBBF24"/>
            </a:solidFill>
            <a:prstDash val="solid"/>
          </a:ln>
        </p:spPr>
        <p:txBody>
          <a:bodyPr/>
          <a:lstStyle/>
          <a:p>
            <a:endParaRPr lang="en-US"/>
          </a:p>
        </p:txBody>
      </p:sp>
      <p:sp>
        <p:nvSpPr>
          <p:cNvPr id="45" name="tbl_c"/>
          <p:cNvSpPr txBox="1"/>
          <p:nvPr/>
        </p:nvSpPr>
        <p:spPr>
          <a:xfrm>
            <a:off x="7300570" y="2578608"/>
            <a:ext cx="115443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Await it</a:t>
            </a:r>
            <a:endParaRPr lang="en-US" sz="1100" dirty="0"/>
          </a:p>
        </p:txBody>
      </p:sp>
      <p:sp>
        <p:nvSpPr>
          <p:cNvPr id="46" name="tbl_c"/>
          <p:cNvSpPr txBox="1"/>
          <p:nvPr/>
        </p:nvSpPr>
        <p:spPr>
          <a:xfrm>
            <a:off x="8637880" y="2578608"/>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many times</a:t>
            </a:r>
            <a:endParaRPr lang="en-US" sz="1100" dirty="0"/>
          </a:p>
        </p:txBody>
      </p:sp>
      <p:sp>
        <p:nvSpPr>
          <p:cNvPr id="47" name="tbl_c"/>
          <p:cNvSpPr txBox="1"/>
          <p:nvPr/>
        </p:nvSpPr>
        <p:spPr>
          <a:xfrm>
            <a:off x="10198075" y="2578608"/>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once only</a:t>
            </a:r>
            <a:endParaRPr lang="en-US" sz="1100" dirty="0"/>
          </a:p>
        </p:txBody>
      </p:sp>
      <p:sp>
        <p:nvSpPr>
          <p:cNvPr id="48" name="tbl_row"/>
          <p:cNvSpPr/>
          <p:nvPr/>
        </p:nvSpPr>
        <p:spPr>
          <a:xfrm>
            <a:off x="7172554" y="3191256"/>
            <a:ext cx="4457700" cy="548640"/>
          </a:xfrm>
          <a:prstGeom prst="roundRect">
            <a:avLst>
              <a:gd name="adj" fmla="val 13333"/>
            </a:avLst>
          </a:prstGeom>
          <a:solidFill>
            <a:srgbClr val="111B2E"/>
          </a:solidFill>
          <a:ln w="12700">
            <a:solidFill>
              <a:srgbClr val="13D0F7"/>
            </a:solidFill>
            <a:prstDash val="solid"/>
          </a:ln>
        </p:spPr>
        <p:txBody>
          <a:bodyPr/>
          <a:lstStyle/>
          <a:p>
            <a:endParaRPr lang="en-US"/>
          </a:p>
        </p:txBody>
      </p:sp>
      <p:sp>
        <p:nvSpPr>
          <p:cNvPr id="49" name="tbl_c"/>
          <p:cNvSpPr txBox="1"/>
          <p:nvPr/>
        </p:nvSpPr>
        <p:spPr>
          <a:xfrm>
            <a:off x="7300570" y="3191256"/>
            <a:ext cx="115443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Choose it</a:t>
            </a:r>
            <a:endParaRPr lang="en-US" sz="1100" dirty="0"/>
          </a:p>
        </p:txBody>
      </p:sp>
      <p:sp>
        <p:nvSpPr>
          <p:cNvPr id="50" name="tbl_c"/>
          <p:cNvSpPr txBox="1"/>
          <p:nvPr/>
        </p:nvSpPr>
        <p:spPr>
          <a:xfrm>
            <a:off x="8637880" y="3191256"/>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by default</a:t>
            </a:r>
            <a:endParaRPr lang="en-US" sz="1100" dirty="0"/>
          </a:p>
        </p:txBody>
      </p:sp>
      <p:sp>
        <p:nvSpPr>
          <p:cNvPr id="51" name="tbl_c"/>
          <p:cNvSpPr txBox="1"/>
          <p:nvPr/>
        </p:nvSpPr>
        <p:spPr>
          <a:xfrm>
            <a:off x="10198075" y="3191256"/>
            <a:ext cx="1377315"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Segoe UI"/>
                <a:ea typeface="Segoe UI"/>
                <a:cs typeface="Segoe UI"/>
              </a:rPr>
              <a:t>after measuring</a:t>
            </a:r>
            <a:endParaRPr lang="en-US" sz="1100" dirty="0"/>
          </a:p>
        </p:txBody>
      </p:sp>
      <p:sp>
        <p:nvSpPr>
          <p:cNvPr id="52" name="card"/>
          <p:cNvSpPr/>
          <p:nvPr/>
        </p:nvSpPr>
        <p:spPr>
          <a:xfrm>
            <a:off x="7172554" y="3904488"/>
            <a:ext cx="4457700" cy="978408"/>
          </a:xfrm>
          <a:prstGeom prst="roundRect">
            <a:avLst>
              <a:gd name="adj" fmla="val 8411"/>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0"/>
              </a:spcAft>
              <a:buNone/>
            </a:pPr>
            <a:r>
              <a:rPr lang="en-US" sz="1200" b="0" dirty="0">
                <a:solidFill>
                  <a:srgbClr val="CBD5E1"/>
                </a:solidFill>
                <a:latin typeface="Segoe UI"/>
                <a:ea typeface="Segoe UI"/>
                <a:cs typeface="Segoe UI"/>
              </a:rPr>
              <a:t>Never store a ValueTask and await it twice.</a:t>
            </a:r>
            <a:endParaRPr lang="en-US" sz="1200" dirty="0"/>
          </a:p>
        </p:txBody>
      </p:sp>
      <p:sp>
        <p:nvSpPr>
          <p:cNvPr id="53"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Task is the default choice. ValueTask is an advanced performance optimization.</a:t>
            </a:r>
            <a:endParaRPr lang="en-US" sz="1600" dirty="0"/>
          </a:p>
        </p:txBody>
      </p:sp>
    </p:spTree>
    <p:extLst>
      <p:ext uri="{BB962C8B-B14F-4D97-AF65-F5344CB8AC3E}">
        <p14:creationId xmlns:p14="http://schemas.microsoft.com/office/powerpoint/2010/main" val="1270064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25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25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25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25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50"/>
                                        <p:tgtEl>
                                          <p:spTgt spid="3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25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25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25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25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25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25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25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25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250"/>
                                        <p:tgtEl>
                                          <p:spTgt spid="4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250"/>
                                        <p:tgtEl>
                                          <p:spTgt spid="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25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25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250"/>
                                        <p:tgtEl>
                                          <p:spTgt spid="52"/>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2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P spid="37" grpId="0"/>
      <p:bldP spid="38" grpId="0"/>
      <p:bldP spid="39" grpId="0"/>
      <p:bldP spid="40" grpId="0" animBg="1"/>
      <p:bldP spid="41" grpId="0"/>
      <p:bldP spid="42" grpId="0"/>
      <p:bldP spid="43" grpId="0"/>
      <p:bldP spid="44" grpId="0" animBg="1"/>
      <p:bldP spid="45" grpId="0"/>
      <p:bldP spid="46" grpId="0"/>
      <p:bldP spid="47" grpId="0"/>
      <p:bldP spid="48" grpId="0" animBg="1"/>
      <p:bldP spid="49" grpId="0"/>
      <p:bldP spid="50" grpId="0"/>
      <p:bldP spid="51" grpId="0"/>
      <p:bldP spid="52" grpId="0" animBg="1"/>
      <p:bldP spid="5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PART 8</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34</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08</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Async Pitfalls &amp; Good Design</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The mistakes that turn async code into slow or crashing code.</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Task vs ValueTask  ·  Blocking on async  ·  App down vs await  ·  Async all the way  ·  Fire-and-forget  ·  Async lambdas  ·  List.ForEach trap  ·  Good async API design  ·  Quiz</a:t>
            </a:r>
            <a:endParaRPr lang="en-US" sz="1350" dirty="0"/>
          </a:p>
        </p:txBody>
      </p:sp>
    </p:spTree>
    <p:extLst>
      <p:ext uri="{BB962C8B-B14F-4D97-AF65-F5344CB8AC3E}">
        <p14:creationId xmlns:p14="http://schemas.microsoft.com/office/powerpoint/2010/main" val="34640536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30452"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ASYNC LAMBDAS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Lambdas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36</a:t>
            </a:r>
            <a:endParaRPr lang="en-US" sz="850" dirty="0"/>
          </a:p>
        </p:txBody>
      </p:sp>
      <p:sp>
        <p:nvSpPr>
          <p:cNvPr id="15" name="cw_win"/>
          <p:cNvSpPr/>
          <p:nvPr/>
        </p:nvSpPr>
        <p:spPr>
          <a:xfrm>
            <a:off x="543154" y="1572768"/>
            <a:ext cx="630936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Func&lt;</a:t>
            </a:r>
            <a:r>
              <a:rPr lang="en-US" sz="1150" b="0" dirty="0">
                <a:solidFill>
                  <a:srgbClr val="60A5FA"/>
                </a:solidFill>
                <a:latin typeface="Consolas"/>
                <a:ea typeface="Consolas"/>
                <a:cs typeface="Consolas"/>
              </a:rPr>
              <a:t>int</a:t>
            </a:r>
            <a:r>
              <a:rPr lang="en-US" sz="1150" b="0" dirty="0">
                <a:solidFill>
                  <a:srgbClr val="E2E8F0"/>
                </a:solidFill>
                <a:latin typeface="Consolas"/>
                <a:ea typeface="Consolas"/>
                <a:cs typeface="Consolas"/>
              </a:rPr>
              <a:t>, Task&gt; notifyCustomer = </a:t>
            </a:r>
            <a:r>
              <a:rPr lang="en-US" sz="1150" b="0" dirty="0">
                <a:solidFill>
                  <a:srgbClr val="60A5FA"/>
                </a:solidFill>
                <a:latin typeface="Consolas"/>
                <a:ea typeface="Consolas"/>
                <a:cs typeface="Consolas"/>
              </a:rPr>
              <a:t>async</a:t>
            </a:r>
            <a:r>
              <a:rPr lang="en-US" sz="1150" b="0" dirty="0">
                <a:solidFill>
                  <a:srgbClr val="E2E8F0"/>
                </a:solidFill>
                <a:latin typeface="Consolas"/>
                <a:ea typeface="Consolas"/>
                <a:cs typeface="Consolas"/>
              </a:rPr>
              <a:t> orderId =&gt;</a:t>
            </a:r>
            <a:endParaRPr lang="en-US" sz="1150" dirty="0"/>
          </a:p>
        </p:txBody>
      </p:sp>
      <p:sp>
        <p:nvSpPr>
          <p:cNvPr id="23" name="cw_L01"/>
          <p:cNvSpPr txBox="1"/>
          <p:nvPr/>
        </p:nvSpPr>
        <p:spPr>
          <a:xfrm>
            <a:off x="771754" y="228193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4" name="cw_L02"/>
          <p:cNvSpPr txBox="1"/>
          <p:nvPr/>
        </p:nvSpPr>
        <p:spPr>
          <a:xfrm>
            <a:off x="771754" y="251561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Task.Delay(300);</a:t>
            </a:r>
            <a:endParaRPr lang="en-US" sz="1150" dirty="0"/>
          </a:p>
        </p:txBody>
      </p:sp>
      <p:sp>
        <p:nvSpPr>
          <p:cNvPr id="25" name="cw_L03"/>
          <p:cNvSpPr txBox="1"/>
          <p:nvPr/>
        </p:nvSpPr>
        <p:spPr>
          <a:xfrm>
            <a:off x="771754" y="2749296"/>
            <a:ext cx="5925312" cy="233680"/>
          </a:xfrm>
          <a:prstGeom prst="rect">
            <a:avLst/>
          </a:prstGeom>
          <a:noFill/>
          <a:ln>
            <a:noFill/>
          </a:ln>
        </p:spPr>
        <p:txBody>
          <a:bodyPr wrap="none" lIns="0" tIns="0" rIns="0" bIns="0" rtlCol="0" anchor="ctr">
            <a:noAutofit/>
          </a:bodyPr>
          <a:lstStyle/>
          <a:p>
            <a:pPr marL="321310" indent="0" algn="l">
              <a:spcBef>
                <a:spcPts val="0"/>
              </a:spcBef>
              <a:spcAft>
                <a:spcPts val="0"/>
              </a:spcAft>
              <a:buNone/>
            </a:pPr>
            <a:r>
              <a:rPr lang="en-US" sz="1150" b="0" dirty="0">
                <a:solidFill>
                  <a:srgbClr val="E2E8F0"/>
                </a:solidFill>
                <a:latin typeface="Consolas"/>
                <a:ea typeface="Consolas"/>
                <a:cs typeface="Consolas"/>
              </a:rPr>
              <a:t>Console.WriteLine(</a:t>
            </a:r>
            <a:r>
              <a:rPr lang="en-US" sz="1150" b="0" dirty="0">
                <a:solidFill>
                  <a:srgbClr val="F0A98B"/>
                </a:solidFill>
                <a:latin typeface="Consolas"/>
                <a:ea typeface="Consolas"/>
                <a:cs typeface="Consolas"/>
              </a:rPr>
              <a:t>$"Customer notified about order {orderId}"</a:t>
            </a:r>
            <a:r>
              <a:rPr lang="en-US" sz="1150" b="0" dirty="0">
                <a:solidFill>
                  <a:srgbClr val="E2E8F0"/>
                </a:solidFill>
                <a:latin typeface="Consolas"/>
                <a:ea typeface="Consolas"/>
                <a:cs typeface="Consolas"/>
              </a:rPr>
              <a:t>);</a:t>
            </a:r>
            <a:endParaRPr lang="en-US" sz="1150" dirty="0"/>
          </a:p>
        </p:txBody>
      </p:sp>
      <p:sp>
        <p:nvSpPr>
          <p:cNvPr id="26" name="cw_L04"/>
          <p:cNvSpPr txBox="1"/>
          <p:nvPr/>
        </p:nvSpPr>
        <p:spPr>
          <a:xfrm>
            <a:off x="771754" y="298297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27" name="cw_L06"/>
          <p:cNvSpPr txBox="1"/>
          <p:nvPr/>
        </p:nvSpPr>
        <p:spPr>
          <a:xfrm>
            <a:off x="771754" y="345033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notifyCustomer(15);</a:t>
            </a:r>
            <a:endParaRPr lang="en-US" sz="1150" dirty="0"/>
          </a:p>
        </p:txBody>
      </p:sp>
      <p:sp>
        <p:nvSpPr>
          <p:cNvPr id="28" name="cw_L07"/>
          <p:cNvSpPr txBox="1"/>
          <p:nvPr/>
        </p:nvSpPr>
        <p:spPr>
          <a:xfrm>
            <a:off x="771754" y="3684016"/>
            <a:ext cx="5925312" cy="23368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60A5FA"/>
                </a:solidFill>
                <a:latin typeface="Consolas"/>
                <a:ea typeface="Consolas"/>
                <a:cs typeface="Consolas"/>
              </a:rPr>
              <a:t>await</a:t>
            </a:r>
            <a:r>
              <a:rPr lang="en-US" sz="1150" b="0" dirty="0">
                <a:solidFill>
                  <a:srgbClr val="E2E8F0"/>
                </a:solidFill>
                <a:latin typeface="Consolas"/>
                <a:ea typeface="Consolas"/>
                <a:cs typeface="Consolas"/>
              </a:rPr>
              <a:t> notifyCustomer(16);</a:t>
            </a:r>
            <a:endParaRPr lang="en-US" sz="1150" dirty="0"/>
          </a:p>
        </p:txBody>
      </p:sp>
      <p:sp>
        <p:nvSpPr>
          <p:cNvPr id="29" name="card"/>
          <p:cNvSpPr/>
          <p:nvPr/>
        </p:nvSpPr>
        <p:spPr>
          <a:xfrm>
            <a:off x="7081114" y="1572768"/>
            <a:ext cx="4549140" cy="1011936"/>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A DELEGATE THAT RETURNS TASK</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Func&lt;int, Task&gt;: the lambda is async, so the caller can await it.</a:t>
            </a:r>
            <a:endParaRPr lang="en-US" sz="1200" dirty="0"/>
          </a:p>
        </p:txBody>
      </p:sp>
      <p:sp>
        <p:nvSpPr>
          <p:cNvPr id="30" name="card"/>
          <p:cNvSpPr/>
          <p:nvPr/>
        </p:nvSpPr>
        <p:spPr>
          <a:xfrm>
            <a:off x="7081114" y="2721864"/>
            <a:ext cx="4549140" cy="1011936"/>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SAME AS A METHOD</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await inside the lambda works like in any async method.</a:t>
            </a:r>
            <a:endParaRPr lang="en-US" sz="1200" dirty="0"/>
          </a:p>
        </p:txBody>
      </p:sp>
      <p:sp>
        <p:nvSpPr>
          <p:cNvPr id="31" name="card"/>
          <p:cNvSpPr/>
          <p:nvPr/>
        </p:nvSpPr>
        <p:spPr>
          <a:xfrm>
            <a:off x="7081114" y="3870960"/>
            <a:ext cx="4549140" cy="1011936"/>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WATCH THE TYPE</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If the delegate is Action&lt;T&gt;, the async lambda becomes async void.</a:t>
            </a:r>
            <a:endParaRPr lang="en-US" sz="1200" dirty="0"/>
          </a:p>
        </p:txBody>
      </p:sp>
      <p:sp>
        <p:nvSpPr>
          <p:cNvPr id="32"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An async lambda is fine when its delegate type returns Task.</a:t>
            </a:r>
            <a:endParaRPr lang="en-US" sz="1600" dirty="0"/>
          </a:p>
        </p:txBody>
      </p:sp>
    </p:spTree>
    <p:extLst>
      <p:ext uri="{BB962C8B-B14F-4D97-AF65-F5344CB8AC3E}">
        <p14:creationId xmlns:p14="http://schemas.microsoft.com/office/powerpoint/2010/main" val="6018175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25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25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25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animBg="1"/>
      <p:bldP spid="30"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52728"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FOREACH TRAP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List.ForEach Trap</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PITFALLS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37</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Before.cs</a:t>
            </a:r>
            <a:endParaRPr lang="en-US" sz="950" dirty="0"/>
          </a:p>
        </p:txBody>
      </p:sp>
      <p:sp>
        <p:nvSpPr>
          <p:cNvPr id="22" name="cwb_L00"/>
          <p:cNvSpPr txBox="1"/>
          <p:nvPr/>
        </p:nvSpPr>
        <p:spPr>
          <a:xfrm>
            <a:off x="771754" y="20482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List&lt;</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&gt; orders = [1, 2, 3];</a:t>
            </a:r>
            <a:endParaRPr lang="en-US" sz="1050" dirty="0"/>
          </a:p>
        </p:txBody>
      </p:sp>
      <p:sp>
        <p:nvSpPr>
          <p:cNvPr id="23" name="cwb_hl02"/>
          <p:cNvSpPr/>
          <p:nvPr/>
        </p:nvSpPr>
        <p:spPr>
          <a:xfrm>
            <a:off x="676656" y="245668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24" name="cwb_L02"/>
          <p:cNvSpPr txBox="1"/>
          <p:nvPr/>
        </p:nvSpPr>
        <p:spPr>
          <a:xfrm>
            <a:off x="771754" y="24749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orders.ForEach(</a:t>
            </a:r>
            <a:r>
              <a:rPr lang="en-US" sz="1050" b="0" dirty="0">
                <a:solidFill>
                  <a:srgbClr val="60A5FA"/>
                </a:solidFill>
                <a:latin typeface="Consolas"/>
                <a:ea typeface="Consolas"/>
                <a:cs typeface="Consolas"/>
              </a:rPr>
              <a:t>async</a:t>
            </a:r>
            <a:r>
              <a:rPr lang="en-US" sz="1050" b="0" dirty="0">
                <a:solidFill>
                  <a:srgbClr val="E2E8F0"/>
                </a:solidFill>
                <a:latin typeface="Consolas"/>
                <a:ea typeface="Consolas"/>
                <a:cs typeface="Consolas"/>
              </a:rPr>
              <a:t> id =&gt;      </a:t>
            </a:r>
            <a:r>
              <a:rPr lang="en-US" sz="1050" b="0" dirty="0">
                <a:solidFill>
                  <a:srgbClr val="6FAE7A"/>
                </a:solidFill>
                <a:latin typeface="Consolas"/>
                <a:ea typeface="Consolas"/>
                <a:cs typeface="Consolas"/>
              </a:rPr>
              <a:t>// Action&lt;int&gt; → async void</a:t>
            </a:r>
            <a:endParaRPr lang="en-US" sz="1050" dirty="0"/>
          </a:p>
        </p:txBody>
      </p:sp>
      <p:sp>
        <p:nvSpPr>
          <p:cNvPr id="25" name="cwb_L03"/>
          <p:cNvSpPr txBox="1"/>
          <p:nvPr/>
        </p:nvSpPr>
        <p:spPr>
          <a:xfrm>
            <a:off x="771754" y="268833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6" name="cwb_L04"/>
          <p:cNvSpPr txBox="1"/>
          <p:nvPr/>
        </p:nvSpPr>
        <p:spPr>
          <a:xfrm>
            <a:off x="771754" y="290169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Task.Delay(500);</a:t>
            </a:r>
            <a:endParaRPr lang="en-US" sz="1050" dirty="0"/>
          </a:p>
        </p:txBody>
      </p:sp>
      <p:sp>
        <p:nvSpPr>
          <p:cNvPr id="27" name="cwb_L05"/>
          <p:cNvSpPr txBox="1"/>
          <p:nvPr/>
        </p:nvSpPr>
        <p:spPr>
          <a:xfrm>
            <a:off x="771754" y="311505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$"Shipped {id}"</a:t>
            </a:r>
            <a:r>
              <a:rPr lang="en-US" sz="1050" b="0" dirty="0">
                <a:solidFill>
                  <a:srgbClr val="E2E8F0"/>
                </a:solidFill>
                <a:latin typeface="Consolas"/>
                <a:ea typeface="Consolas"/>
                <a:cs typeface="Consolas"/>
              </a:rPr>
              <a:t>);</a:t>
            </a:r>
            <a:endParaRPr lang="en-US" sz="1050" dirty="0"/>
          </a:p>
        </p:txBody>
      </p:sp>
      <p:sp>
        <p:nvSpPr>
          <p:cNvPr id="28" name="cwb_L06"/>
          <p:cNvSpPr txBox="1"/>
          <p:nvPr/>
        </p:nvSpPr>
        <p:spPr>
          <a:xfrm>
            <a:off x="771754" y="33284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9" name="cwb_hl07"/>
          <p:cNvSpPr/>
          <p:nvPr/>
        </p:nvSpPr>
        <p:spPr>
          <a:xfrm>
            <a:off x="676656" y="352348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30" name="cwb_L08"/>
          <p:cNvSpPr txBox="1"/>
          <p:nvPr/>
        </p:nvSpPr>
        <p:spPr>
          <a:xfrm>
            <a:off x="771754" y="375513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"All shipped"</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prints FIRST</a:t>
            </a:r>
            <a:endParaRPr lang="en-US" sz="1050" dirty="0"/>
          </a:p>
        </p:txBody>
      </p:sp>
      <p:sp>
        <p:nvSpPr>
          <p:cNvPr id="31" name="cwb_L09"/>
          <p:cNvSpPr txBox="1"/>
          <p:nvPr/>
        </p:nvSpPr>
        <p:spPr>
          <a:xfrm>
            <a:off x="771754" y="396849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FAE7A"/>
                </a:solidFill>
                <a:latin typeface="Consolas"/>
                <a:ea typeface="Consolas"/>
                <a:cs typeface="Consolas"/>
              </a:rPr>
              <a:t>// and the program may end before shipping</a:t>
            </a:r>
            <a:endParaRPr lang="en-US" sz="1050" dirty="0"/>
          </a:p>
        </p:txBody>
      </p:sp>
      <p:sp>
        <p:nvSpPr>
          <p:cNvPr id="32"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3"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4"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5"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6"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7"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8"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After.cs</a:t>
            </a:r>
            <a:endParaRPr lang="en-US" sz="950" dirty="0"/>
          </a:p>
        </p:txBody>
      </p:sp>
      <p:sp>
        <p:nvSpPr>
          <p:cNvPr id="39" name="cwa_L00"/>
          <p:cNvSpPr txBox="1"/>
          <p:nvPr/>
        </p:nvSpPr>
        <p:spPr>
          <a:xfrm>
            <a:off x="6418174" y="2048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List&lt;</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&gt; orders = [1, 2, 3];</a:t>
            </a:r>
            <a:endParaRPr lang="en-US" sz="1000" dirty="0"/>
          </a:p>
        </p:txBody>
      </p:sp>
      <p:sp>
        <p:nvSpPr>
          <p:cNvPr id="40" name="cwa_L02"/>
          <p:cNvSpPr txBox="1"/>
          <p:nvPr/>
        </p:nvSpPr>
        <p:spPr>
          <a:xfrm>
            <a:off x="6418174" y="24546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foreach</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id </a:t>
            </a:r>
            <a:r>
              <a:rPr lang="en-US" sz="1000" b="0" dirty="0">
                <a:solidFill>
                  <a:srgbClr val="60A5FA"/>
                </a:solidFill>
                <a:latin typeface="Consolas"/>
                <a:ea typeface="Consolas"/>
                <a:cs typeface="Consolas"/>
              </a:rPr>
              <a:t>in</a:t>
            </a:r>
            <a:r>
              <a:rPr lang="en-US" sz="1000" b="0" dirty="0">
                <a:solidFill>
                  <a:srgbClr val="E2E8F0"/>
                </a:solidFill>
                <a:latin typeface="Consolas"/>
                <a:ea typeface="Consolas"/>
                <a:cs typeface="Consolas"/>
              </a:rPr>
              <a:t> orders)</a:t>
            </a:r>
            <a:endParaRPr lang="en-US" sz="1000" dirty="0"/>
          </a:p>
        </p:txBody>
      </p:sp>
      <p:sp>
        <p:nvSpPr>
          <p:cNvPr id="41" name="cwa_L03"/>
          <p:cNvSpPr txBox="1"/>
          <p:nvPr/>
        </p:nvSpPr>
        <p:spPr>
          <a:xfrm>
            <a:off x="6418174" y="26578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42" name="cwa_hl04"/>
          <p:cNvSpPr/>
          <p:nvPr/>
        </p:nvSpPr>
        <p:spPr>
          <a:xfrm>
            <a:off x="6323076" y="2842768"/>
            <a:ext cx="5173675"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43" name="cwa_L04"/>
          <p:cNvSpPr txBox="1"/>
          <p:nvPr/>
        </p:nvSpPr>
        <p:spPr>
          <a:xfrm>
            <a:off x="6418174" y="28610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ShipAsync(id);         </a:t>
            </a:r>
            <a:r>
              <a:rPr lang="en-US" sz="1000" b="0" dirty="0">
                <a:solidFill>
                  <a:srgbClr val="6FAE7A"/>
                </a:solidFill>
                <a:latin typeface="Consolas"/>
                <a:ea typeface="Consolas"/>
                <a:cs typeface="Consolas"/>
              </a:rPr>
              <a:t>// really waits</a:t>
            </a:r>
            <a:endParaRPr lang="en-US" sz="1000" dirty="0"/>
          </a:p>
        </p:txBody>
      </p:sp>
      <p:sp>
        <p:nvSpPr>
          <p:cNvPr id="44" name="cwa_L05"/>
          <p:cNvSpPr txBox="1"/>
          <p:nvPr/>
        </p:nvSpPr>
        <p:spPr>
          <a:xfrm>
            <a:off x="6418174" y="3064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45" name="cwa_L06"/>
          <p:cNvSpPr txBox="1"/>
          <p:nvPr/>
        </p:nvSpPr>
        <p:spPr>
          <a:xfrm>
            <a:off x="6418174" y="32674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"All shipped"</a:t>
            </a:r>
            <a:r>
              <a:rPr lang="en-US" sz="1000" b="0" dirty="0">
                <a:solidFill>
                  <a:srgbClr val="E2E8F0"/>
                </a:solidFill>
                <a:latin typeface="Consolas"/>
                <a:ea typeface="Consolas"/>
                <a:cs typeface="Consolas"/>
              </a:rPr>
              <a:t>);</a:t>
            </a:r>
            <a:endParaRPr lang="en-US" sz="1000" dirty="0"/>
          </a:p>
        </p:txBody>
      </p:sp>
      <p:sp>
        <p:nvSpPr>
          <p:cNvPr id="46" name="cwa_L08"/>
          <p:cNvSpPr txBox="1"/>
          <p:nvPr/>
        </p:nvSpPr>
        <p:spPr>
          <a:xfrm>
            <a:off x="6418174" y="36738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 ShipAsync(</a:t>
            </a:r>
            <a:r>
              <a:rPr lang="en-US" sz="1000" b="0" dirty="0">
                <a:solidFill>
                  <a:srgbClr val="60A5FA"/>
                </a:solidFill>
                <a:latin typeface="Consolas"/>
                <a:ea typeface="Consolas"/>
                <a:cs typeface="Consolas"/>
              </a:rPr>
              <a:t>int</a:t>
            </a:r>
            <a:r>
              <a:rPr lang="en-US" sz="1000" b="0" dirty="0">
                <a:solidFill>
                  <a:srgbClr val="E2E8F0"/>
                </a:solidFill>
                <a:latin typeface="Consolas"/>
                <a:ea typeface="Consolas"/>
                <a:cs typeface="Consolas"/>
              </a:rPr>
              <a:t> id)</a:t>
            </a:r>
            <a:endParaRPr lang="en-US" sz="1000" dirty="0"/>
          </a:p>
        </p:txBody>
      </p:sp>
      <p:sp>
        <p:nvSpPr>
          <p:cNvPr id="47" name="cwa_L09"/>
          <p:cNvSpPr txBox="1"/>
          <p:nvPr/>
        </p:nvSpPr>
        <p:spPr>
          <a:xfrm>
            <a:off x="6418174" y="38770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48" name="cwa_L10"/>
          <p:cNvSpPr txBox="1"/>
          <p:nvPr/>
        </p:nvSpPr>
        <p:spPr>
          <a:xfrm>
            <a:off x="6418174" y="40802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a:t>
            </a:r>
            <a:endParaRPr lang="en-US" sz="1000" dirty="0"/>
          </a:p>
        </p:txBody>
      </p:sp>
      <p:sp>
        <p:nvSpPr>
          <p:cNvPr id="49" name="cwa_L11"/>
          <p:cNvSpPr txBox="1"/>
          <p:nvPr/>
        </p:nvSpPr>
        <p:spPr>
          <a:xfrm>
            <a:off x="6418174" y="4283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$"Shipped {id}"</a:t>
            </a:r>
            <a:r>
              <a:rPr lang="en-US" sz="1000" b="0" dirty="0">
                <a:solidFill>
                  <a:srgbClr val="E2E8F0"/>
                </a:solidFill>
                <a:latin typeface="Consolas"/>
                <a:ea typeface="Consolas"/>
                <a:cs typeface="Consolas"/>
              </a:rPr>
              <a:t>);</a:t>
            </a:r>
            <a:endParaRPr lang="en-US" sz="1000" dirty="0"/>
          </a:p>
        </p:txBody>
      </p:sp>
      <p:sp>
        <p:nvSpPr>
          <p:cNvPr id="50" name="cwa_L12"/>
          <p:cNvSpPr txBox="1"/>
          <p:nvPr/>
        </p:nvSpPr>
        <p:spPr>
          <a:xfrm>
            <a:off x="6418174" y="44866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51"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BEFORE</a:t>
            </a:r>
            <a:endParaRPr lang="en-US" sz="900" dirty="0"/>
          </a:p>
        </p:txBody>
      </p:sp>
      <p:sp>
        <p:nvSpPr>
          <p:cNvPr id="52"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AFTER</a:t>
            </a:r>
            <a:endParaRPr lang="en-US" sz="900" dirty="0"/>
          </a:p>
        </p:txBody>
      </p:sp>
      <p:cxnSp>
        <p:nvCxnSpPr>
          <p:cNvPr id="53" name="arrow"/>
          <p:cNvCxnSpPr/>
          <p:nvPr/>
        </p:nvCxnSpPr>
        <p:spPr>
          <a:xfrm>
            <a:off x="6011266" y="3227832"/>
            <a:ext cx="150876" cy="0"/>
          </a:xfrm>
          <a:prstGeom prst="line">
            <a:avLst/>
          </a:prstGeom>
          <a:ln w="28575">
            <a:solidFill>
              <a:srgbClr val="13D0F7"/>
            </a:solidFill>
            <a:tailEnd type="triangle" w="med" len="med"/>
          </a:ln>
        </p:spPr>
      </p:cxnSp>
      <p:sp>
        <p:nvSpPr>
          <p:cNvPr id="54"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List&lt;T&gt;.ForEach takes an Action&lt;T&gt;, so the async lambda is async void. ForEach does not wait, 'All shipped' prints first, and exceptions are lost.</a:t>
            </a:r>
            <a:endParaRPr lang="en-US" sz="1250" dirty="0"/>
          </a:p>
        </p:txBody>
      </p:sp>
      <p:sp>
        <p:nvSpPr>
          <p:cNvPr id="55"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Use a normal foreach with await (one by one), or start all the tasks and await Task.WhenAll (together).</a:t>
            </a:r>
            <a:endParaRPr lang="en-US" sz="1250" dirty="0"/>
          </a:p>
        </p:txBody>
      </p:sp>
    </p:spTree>
    <p:extLst>
      <p:ext uri="{BB962C8B-B14F-4D97-AF65-F5344CB8AC3E}">
        <p14:creationId xmlns:p14="http://schemas.microsoft.com/office/powerpoint/2010/main" val="39866080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250"/>
                                        <p:tgtEl>
                                          <p:spTgt spid="5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250"/>
                                        <p:tgtEl>
                                          <p:spTgt spid="5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25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25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25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5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25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25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25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25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25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250"/>
                                        <p:tgtEl>
                                          <p:spTgt spid="5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fade">
                                      <p:cBhvr>
                                        <p:cTn id="83" dur="250"/>
                                        <p:tgtEl>
                                          <p:spTgt spid="52"/>
                                        </p:tgtEl>
                                      </p:cBhvr>
                                    </p:animEffect>
                                  </p:childTnLst>
                                </p:cTn>
                              </p:par>
                              <p:par>
                                <p:cTn id="84" presetID="10" presetClass="entr" presetSubtype="0" fill="hold" nodeType="with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fade">
                                      <p:cBhvr>
                                        <p:cTn id="86" dur="250"/>
                                        <p:tgtEl>
                                          <p:spTgt spid="5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fade">
                                      <p:cBhvr>
                                        <p:cTn id="91" dur="2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P spid="24" grpId="0"/>
      <p:bldP spid="25" grpId="0"/>
      <p:bldP spid="26" grpId="0"/>
      <p:bldP spid="27" grpId="0"/>
      <p:bldP spid="28" grpId="0"/>
      <p:bldP spid="29" grpId="0" animBg="1"/>
      <p:bldP spid="30" grpId="0"/>
      <p:bldP spid="31" grpId="0"/>
      <p:bldP spid="39" grpId="0"/>
      <p:bldP spid="40" grpId="0"/>
      <p:bldP spid="41" grpId="0"/>
      <p:bldP spid="42" grpId="0" animBg="1"/>
      <p:bldP spid="43" grpId="0"/>
      <p:bldP spid="44" grpId="0"/>
      <p:bldP spid="45" grpId="0"/>
      <p:bldP spid="46" grpId="0"/>
      <p:bldP spid="47" grpId="0"/>
      <p:bldP spid="48" grpId="0"/>
      <p:bldP spid="49" grpId="0"/>
      <p:bldP spid="50" grpId="0"/>
      <p:bldP spid="51" grpId="0" animBg="1"/>
      <p:bldP spid="52" grpId="0" animBg="1"/>
      <p:bldP spid="54" grpId="0" animBg="1"/>
      <p:bldP spid="5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218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SYNCHRONIZATIONCONTEXT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SynchronizationContext: Back to the UI Thread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39</a:t>
            </a:r>
            <a:endParaRPr lang="en-US" sz="850" dirty="0"/>
          </a:p>
        </p:txBody>
      </p:sp>
      <p:grpSp>
        <p:nvGrpSpPr>
          <p:cNvPr id="114" name="code"/>
          <p:cNvGrpSpPr/>
          <p:nvPr/>
        </p:nvGrpSpPr>
        <p:grpSpPr>
          <a:xfrm>
            <a:off x="543154" y="1572768"/>
            <a:ext cx="5486400" cy="2195900"/>
            <a:chOff x="543154" y="1572768"/>
            <a:chExt cx="5486400" cy="2195900"/>
          </a:xfrm>
        </p:grpSpPr>
        <p:sp>
          <p:nvSpPr>
            <p:cNvPr id="101" name="code_win"/>
            <p:cNvSpPr/>
            <p:nvPr/>
          </p:nvSpPr>
          <p:spPr>
            <a:xfrm>
              <a:off x="543154" y="1572768"/>
              <a:ext cx="5486400" cy="2195900"/>
            </a:xfrm>
            <a:prstGeom prst="roundRect">
              <a:avLst>
                <a:gd name="adj" fmla="val 3121"/>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54864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MainWindow.cs</a:t>
              </a:r>
              <a:endParaRPr lang="en-US" sz="950" dirty="0"/>
            </a:p>
          </p:txBody>
        </p:sp>
        <p:sp>
          <p:nvSpPr>
            <p:cNvPr id="108" name="code_L00"/>
            <p:cNvSpPr txBox="1"/>
            <p:nvPr/>
          </p:nvSpPr>
          <p:spPr>
            <a:xfrm>
              <a:off x="771754" y="2048668"/>
              <a:ext cx="518640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private</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void</a:t>
              </a:r>
              <a:r>
                <a:rPr lang="en-US" sz="1000" b="0" dirty="0">
                  <a:solidFill>
                    <a:srgbClr val="E2E8F0"/>
                  </a:solidFill>
                  <a:latin typeface="Consolas"/>
                  <a:ea typeface="Consolas"/>
                  <a:cs typeface="Consolas"/>
                </a:rPr>
                <a:t> Button_Click(</a:t>
              </a:r>
              <a:r>
                <a:rPr lang="en-US" sz="1000" b="0" dirty="0">
                  <a:solidFill>
                    <a:srgbClr val="60A5FA"/>
                  </a:solidFill>
                  <a:latin typeface="Consolas"/>
                  <a:ea typeface="Consolas"/>
                  <a:cs typeface="Consolas"/>
                </a:rPr>
                <a:t>object</a:t>
              </a:r>
              <a:r>
                <a:rPr lang="en-US" sz="1000" b="0" dirty="0">
                  <a:solidFill>
                    <a:srgbClr val="E2E8F0"/>
                  </a:solidFill>
                  <a:latin typeface="Consolas"/>
                  <a:ea typeface="Consolas"/>
                  <a:cs typeface="Consolas"/>
                </a:rPr>
                <a:t> sender, EventArgs e)</a:t>
              </a:r>
              <a:endParaRPr lang="en-US" sz="1000" dirty="0"/>
            </a:p>
          </p:txBody>
        </p:sp>
        <p:sp>
          <p:nvSpPr>
            <p:cNvPr id="109" name="code_L01"/>
            <p:cNvSpPr txBox="1"/>
            <p:nvPr/>
          </p:nvSpPr>
          <p:spPr>
            <a:xfrm>
              <a:off x="771754" y="2248668"/>
              <a:ext cx="518640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110" name="code_L02"/>
            <p:cNvSpPr txBox="1"/>
            <p:nvPr/>
          </p:nvSpPr>
          <p:spPr>
            <a:xfrm>
              <a:off x="771754" y="2448668"/>
              <a:ext cx="5186400" cy="20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1000" b="0" dirty="0">
                  <a:solidFill>
                    <a:srgbClr val="E2E8F0"/>
                  </a:solidFill>
                  <a:latin typeface="Consolas"/>
                  <a:ea typeface="Consolas"/>
                  <a:cs typeface="Consolas"/>
                </a:rPr>
                <a:t>label1.Text = </a:t>
              </a:r>
              <a:r>
                <a:rPr lang="en-US" sz="1000" b="0" dirty="0">
                  <a:solidFill>
                    <a:srgbClr val="F0A98B"/>
                  </a:solidFill>
                  <a:latin typeface="Consolas"/>
                  <a:ea typeface="Consolas"/>
                  <a:cs typeface="Consolas"/>
                </a:rPr>
                <a:t>"Loading..."</a:t>
              </a:r>
              <a:r>
                <a:rPr lang="en-US" sz="1000" b="0" dirty="0">
                  <a:solidFill>
                    <a:srgbClr val="E2E8F0"/>
                  </a:solidFill>
                  <a:latin typeface="Consolas"/>
                  <a:ea typeface="Consolas"/>
                  <a:cs typeface="Consolas"/>
                </a:rPr>
                <a:t>;</a:t>
              </a:r>
              <a:endParaRPr lang="en-US" sz="1000" dirty="0"/>
            </a:p>
          </p:txBody>
        </p:sp>
        <p:sp>
          <p:nvSpPr>
            <p:cNvPr id="111" name="code_L04"/>
            <p:cNvSpPr txBox="1"/>
            <p:nvPr/>
          </p:nvSpPr>
          <p:spPr>
            <a:xfrm>
              <a:off x="771754" y="2848668"/>
              <a:ext cx="5186400" cy="20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1000" b="0" dirty="0">
                  <a:solidFill>
                    <a:srgbClr val="60A5FA"/>
                  </a:solidFill>
                  <a:latin typeface="Consolas"/>
                  <a:ea typeface="Consolas"/>
                  <a:cs typeface="Consolas"/>
                </a:rPr>
                <a:t>var</a:t>
              </a:r>
              <a:r>
                <a:rPr lang="en-US" sz="1000" b="0" dirty="0">
                  <a:solidFill>
                    <a:srgbClr val="E2E8F0"/>
                  </a:solidFill>
                  <a:latin typeface="Consolas"/>
                  <a:ea typeface="Consolas"/>
                  <a:cs typeface="Consolas"/>
                </a:rPr>
                <a:t> data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httpClient.GetStringAsync(url);</a:t>
              </a:r>
              <a:endParaRPr lang="en-US" sz="1000" dirty="0"/>
            </a:p>
          </p:txBody>
        </p:sp>
        <p:sp>
          <p:nvSpPr>
            <p:cNvPr id="112" name="code_L06"/>
            <p:cNvSpPr txBox="1"/>
            <p:nvPr/>
          </p:nvSpPr>
          <p:spPr>
            <a:xfrm>
              <a:off x="771754" y="3248668"/>
              <a:ext cx="5186400" cy="20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1000" b="0" dirty="0">
                  <a:solidFill>
                    <a:srgbClr val="E2E8F0"/>
                  </a:solidFill>
                  <a:latin typeface="Consolas"/>
                  <a:ea typeface="Consolas"/>
                  <a:cs typeface="Consolas"/>
                </a:rPr>
                <a:t>label1.Text = data;</a:t>
              </a:r>
              <a:endParaRPr lang="en-US" sz="1000" dirty="0"/>
            </a:p>
          </p:txBody>
        </p:sp>
        <p:sp>
          <p:nvSpPr>
            <p:cNvPr id="113" name="code_L07"/>
            <p:cNvSpPr txBox="1"/>
            <p:nvPr/>
          </p:nvSpPr>
          <p:spPr>
            <a:xfrm>
              <a:off x="771754" y="3448668"/>
              <a:ext cx="518640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grpSp>
      <p:sp>
        <p:nvSpPr>
          <p:cNvPr id="115" name="h1"/>
          <p:cNvSpPr/>
          <p:nvPr/>
        </p:nvSpPr>
        <p:spPr>
          <a:xfrm>
            <a:off x="676656" y="2430380"/>
            <a:ext cx="5219400" cy="23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16" name="h2"/>
          <p:cNvSpPr/>
          <p:nvPr/>
        </p:nvSpPr>
        <p:spPr>
          <a:xfrm>
            <a:off x="676656" y="2830380"/>
            <a:ext cx="5219400" cy="23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17" name="h5"/>
          <p:cNvSpPr/>
          <p:nvPr/>
        </p:nvSpPr>
        <p:spPr>
          <a:xfrm>
            <a:off x="676656" y="3230380"/>
            <a:ext cx="5219400" cy="23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18" name="rule"/>
          <p:cNvSpPr/>
          <p:nvPr/>
        </p:nvSpPr>
        <p:spPr>
          <a:xfrm>
            <a:off x="543154" y="4041648"/>
            <a:ext cx="5486400" cy="896112"/>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THE UI RULE</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In WPF and Windows Forms, UI controls may only be changed by the thread that owns them: the UI Thread. No other thread may touch the label.</a:t>
            </a:r>
            <a:endParaRPr lang="en-US" sz="1150" dirty="0"/>
          </a:p>
        </p:txBody>
      </p:sp>
      <p:sp>
        <p:nvSpPr>
          <p:cNvPr id="119" name="s0"/>
          <p:cNvSpPr/>
          <p:nvPr/>
        </p:nvSpPr>
        <p:spPr>
          <a:xfrm>
            <a:off x="6263640" y="1572768"/>
            <a:ext cx="5366614" cy="493776"/>
          </a:xfrm>
          <a:prstGeom prst="roundRect">
            <a:avLst>
              <a:gd name="adj" fmla="val 12000"/>
            </a:avLst>
          </a:prstGeom>
          <a:solidFill>
            <a:srgbClr val="111B2E"/>
          </a:solidFill>
          <a:ln w="12700">
            <a:solidFill>
              <a:srgbClr val="13D0F7"/>
            </a:solidFill>
            <a:prstDash val="solid"/>
          </a:ln>
        </p:spPr>
        <p:txBody>
          <a:bodyPr wrap="square" lIns="137160" tIns="27432" rIns="91440" bIns="27432" rtlCol="0" anchor="ctr">
            <a:noAutofit/>
          </a:bodyPr>
          <a:lstStyle/>
          <a:p>
            <a:pPr marL="0" indent="0" algn="l">
              <a:spcBef>
                <a:spcPts val="0"/>
              </a:spcBef>
              <a:spcAft>
                <a:spcPts val="0"/>
              </a:spcAft>
              <a:buNone/>
            </a:pPr>
            <a:r>
              <a:rPr lang="en-US" sz="1300" b="1" dirty="0">
                <a:solidFill>
                  <a:srgbClr val="13D0F7"/>
                </a:solidFill>
                <a:latin typeface="Segoe UI"/>
                <a:ea typeface="Segoe UI"/>
                <a:cs typeface="Segoe UI"/>
              </a:rPr>
              <a:t>1   </a:t>
            </a:r>
            <a:r>
              <a:rPr lang="en-US" sz="1150" b="1" dirty="0">
                <a:solidFill>
                  <a:srgbClr val="FFFFFF"/>
                </a:solidFill>
                <a:latin typeface="Segoe UI"/>
                <a:ea typeface="Segoe UI"/>
                <a:cs typeface="Segoe UI"/>
              </a:rPr>
              <a:t>The UI Thread starts Button_Click</a:t>
            </a:r>
            <a:r>
              <a:rPr lang="en-US" sz="1050" b="0" dirty="0">
                <a:solidFill>
                  <a:srgbClr val="CBD5E1"/>
                </a:solidFill>
                <a:latin typeface="Segoe UI"/>
                <a:ea typeface="Segoe UI"/>
                <a:cs typeface="Segoe UI"/>
              </a:rPr>
              <a:t>  ·  and shows "Loading..."</a:t>
            </a:r>
            <a:endParaRPr lang="en-US" sz="1300" dirty="0"/>
          </a:p>
        </p:txBody>
      </p:sp>
      <p:sp>
        <p:nvSpPr>
          <p:cNvPr id="120" name="s1"/>
          <p:cNvSpPr/>
          <p:nvPr/>
        </p:nvSpPr>
        <p:spPr>
          <a:xfrm>
            <a:off x="6263640" y="2139696"/>
            <a:ext cx="5366614" cy="493776"/>
          </a:xfrm>
          <a:prstGeom prst="roundRect">
            <a:avLst>
              <a:gd name="adj" fmla="val 12000"/>
            </a:avLst>
          </a:prstGeom>
          <a:solidFill>
            <a:srgbClr val="111B2E"/>
          </a:solidFill>
          <a:ln w="12700">
            <a:solidFill>
              <a:srgbClr val="FBBF24"/>
            </a:solidFill>
            <a:prstDash val="solid"/>
          </a:ln>
        </p:spPr>
        <p:txBody>
          <a:bodyPr wrap="square" lIns="137160" tIns="27432" rIns="91440" bIns="27432" rtlCol="0" anchor="ctr">
            <a:noAutofit/>
          </a:bodyPr>
          <a:lstStyle/>
          <a:p>
            <a:pPr marL="0" indent="0" algn="l">
              <a:spcBef>
                <a:spcPts val="0"/>
              </a:spcBef>
              <a:spcAft>
                <a:spcPts val="0"/>
              </a:spcAft>
              <a:buNone/>
            </a:pPr>
            <a:r>
              <a:rPr lang="en-US" sz="1300" b="1" dirty="0">
                <a:solidFill>
                  <a:srgbClr val="FBBF24"/>
                </a:solidFill>
                <a:latin typeface="Segoe UI"/>
                <a:ea typeface="Segoe UI"/>
                <a:cs typeface="Segoe UI"/>
              </a:rPr>
              <a:t>2   </a:t>
            </a:r>
            <a:r>
              <a:rPr lang="en-US" sz="1150" b="1" dirty="0">
                <a:solidFill>
                  <a:srgbClr val="FFFFFF"/>
                </a:solidFill>
                <a:latin typeface="Segoe UI"/>
                <a:ea typeface="Segoe UI"/>
                <a:cs typeface="Segoe UI"/>
              </a:rPr>
              <a:t>It reaches await</a:t>
            </a:r>
            <a:r>
              <a:rPr lang="en-US" sz="1050" b="0" dirty="0">
                <a:solidFill>
                  <a:srgbClr val="CBD5E1"/>
                </a:solidFill>
                <a:latin typeface="Segoe UI"/>
                <a:ea typeface="Segoe UI"/>
                <a:cs typeface="Segoe UI"/>
              </a:rPr>
              <a:t>  ·  the HTTP request is not finished yet</a:t>
            </a:r>
            <a:endParaRPr lang="en-US" sz="1300" dirty="0"/>
          </a:p>
        </p:txBody>
      </p:sp>
      <p:sp>
        <p:nvSpPr>
          <p:cNvPr id="121" name="s2"/>
          <p:cNvSpPr/>
          <p:nvPr/>
        </p:nvSpPr>
        <p:spPr>
          <a:xfrm>
            <a:off x="6263640" y="2706624"/>
            <a:ext cx="5366614" cy="493776"/>
          </a:xfrm>
          <a:prstGeom prst="roundRect">
            <a:avLst>
              <a:gd name="adj" fmla="val 12000"/>
            </a:avLst>
          </a:prstGeom>
          <a:solidFill>
            <a:srgbClr val="111B2E"/>
          </a:solidFill>
          <a:ln w="12700">
            <a:solidFill>
              <a:srgbClr val="A78BFA"/>
            </a:solidFill>
            <a:prstDash val="solid"/>
          </a:ln>
        </p:spPr>
        <p:txBody>
          <a:bodyPr wrap="square" lIns="137160" tIns="27432" rIns="91440" bIns="27432" rtlCol="0" anchor="ctr">
            <a:noAutofit/>
          </a:bodyPr>
          <a:lstStyle/>
          <a:p>
            <a:pPr marL="0" indent="0" algn="l">
              <a:spcBef>
                <a:spcPts val="0"/>
              </a:spcBef>
              <a:spcAft>
                <a:spcPts val="0"/>
              </a:spcAft>
              <a:buNone/>
            </a:pPr>
            <a:r>
              <a:rPr lang="en-US" sz="1300" b="1" dirty="0">
                <a:solidFill>
                  <a:srgbClr val="A78BFA"/>
                </a:solidFill>
                <a:latin typeface="Segoe UI"/>
                <a:ea typeface="Segoe UI"/>
                <a:cs typeface="Segoe UI"/>
              </a:rPr>
              <a:t>3   </a:t>
            </a:r>
            <a:r>
              <a:rPr lang="en-US" sz="1150" b="1" dirty="0">
                <a:solidFill>
                  <a:srgbClr val="FFFFFF"/>
                </a:solidFill>
                <a:latin typeface="Segoe UI"/>
                <a:ea typeface="Segoe UI"/>
                <a:cs typeface="Segoe UI"/>
              </a:rPr>
              <a:t>The method is suspended</a:t>
            </a:r>
            <a:r>
              <a:rPr lang="en-US" sz="1050" b="0" dirty="0">
                <a:solidFill>
                  <a:srgbClr val="CBD5E1"/>
                </a:solidFill>
                <a:latin typeface="Segoe UI"/>
                <a:ea typeface="Segoe UI"/>
                <a:cs typeface="Segoe UI"/>
              </a:rPr>
              <a:t>  ·  the UI Thread is free for other events</a:t>
            </a:r>
            <a:endParaRPr lang="en-US" sz="1300" dirty="0"/>
          </a:p>
        </p:txBody>
      </p:sp>
      <p:sp>
        <p:nvSpPr>
          <p:cNvPr id="122" name="s3"/>
          <p:cNvSpPr/>
          <p:nvPr/>
        </p:nvSpPr>
        <p:spPr>
          <a:xfrm>
            <a:off x="6263640" y="3273552"/>
            <a:ext cx="5366614" cy="493776"/>
          </a:xfrm>
          <a:prstGeom prst="roundRect">
            <a:avLst>
              <a:gd name="adj" fmla="val 12000"/>
            </a:avLst>
          </a:prstGeom>
          <a:solidFill>
            <a:srgbClr val="111B2E"/>
          </a:solidFill>
          <a:ln w="12700">
            <a:solidFill>
              <a:srgbClr val="60A5FA"/>
            </a:solidFill>
            <a:prstDash val="solid"/>
          </a:ln>
        </p:spPr>
        <p:txBody>
          <a:bodyPr wrap="square" lIns="137160" tIns="27432" rIns="91440" bIns="27432" rtlCol="0" anchor="ctr">
            <a:noAutofit/>
          </a:bodyPr>
          <a:lstStyle/>
          <a:p>
            <a:pPr marL="0" indent="0" algn="l">
              <a:spcBef>
                <a:spcPts val="0"/>
              </a:spcBef>
              <a:spcAft>
                <a:spcPts val="0"/>
              </a:spcAft>
              <a:buNone/>
            </a:pPr>
            <a:r>
              <a:rPr lang="en-US" sz="1300" b="1" dirty="0">
                <a:solidFill>
                  <a:srgbClr val="60A5FA"/>
                </a:solidFill>
                <a:latin typeface="Segoe UI"/>
                <a:ea typeface="Segoe UI"/>
                <a:cs typeface="Segoe UI"/>
              </a:rPr>
              <a:t>4   </a:t>
            </a:r>
            <a:r>
              <a:rPr lang="en-US" sz="1150" b="1" dirty="0">
                <a:solidFill>
                  <a:srgbClr val="FFFFFF"/>
                </a:solidFill>
                <a:latin typeface="Segoe UI"/>
                <a:ea typeface="Segoe UI"/>
                <a:cs typeface="Segoe UI"/>
              </a:rPr>
              <a:t>Later, the HTTP request finishes</a:t>
            </a:r>
            <a:r>
              <a:rPr lang="en-US" sz="1050" b="0" dirty="0">
                <a:solidFill>
                  <a:srgbClr val="CBD5E1"/>
                </a:solidFill>
                <a:latin typeface="Segoe UI"/>
                <a:ea typeface="Segoe UI"/>
                <a:cs typeface="Segoe UI"/>
              </a:rPr>
              <a:t>  ·  the data is ready</a:t>
            </a:r>
            <a:endParaRPr lang="en-US" sz="1300" dirty="0"/>
          </a:p>
        </p:txBody>
      </p:sp>
      <p:sp>
        <p:nvSpPr>
          <p:cNvPr id="123" name="s4"/>
          <p:cNvSpPr/>
          <p:nvPr/>
        </p:nvSpPr>
        <p:spPr>
          <a:xfrm>
            <a:off x="6263640" y="3840480"/>
            <a:ext cx="5366614" cy="493776"/>
          </a:xfrm>
          <a:prstGeom prst="roundRect">
            <a:avLst>
              <a:gd name="adj" fmla="val 12000"/>
            </a:avLst>
          </a:prstGeom>
          <a:solidFill>
            <a:srgbClr val="111B2E"/>
          </a:solidFill>
          <a:ln w="12700">
            <a:solidFill>
              <a:srgbClr val="F87171"/>
            </a:solidFill>
            <a:prstDash val="solid"/>
          </a:ln>
        </p:spPr>
        <p:txBody>
          <a:bodyPr wrap="square" lIns="137160" tIns="27432" rIns="91440" bIns="27432" rtlCol="0" anchor="ctr">
            <a:noAutofit/>
          </a:bodyPr>
          <a:lstStyle/>
          <a:p>
            <a:pPr marL="0" indent="0" algn="l">
              <a:spcBef>
                <a:spcPts val="0"/>
              </a:spcBef>
              <a:spcAft>
                <a:spcPts val="0"/>
              </a:spcAft>
              <a:buNone/>
            </a:pPr>
            <a:r>
              <a:rPr lang="en-US" sz="1300" b="1" dirty="0">
                <a:solidFill>
                  <a:srgbClr val="F87171"/>
                </a:solidFill>
                <a:latin typeface="Segoe UI"/>
                <a:ea typeface="Segoe UI"/>
                <a:cs typeface="Segoe UI"/>
              </a:rPr>
              <a:t>5   </a:t>
            </a:r>
            <a:r>
              <a:rPr lang="en-US" sz="1150" b="1" dirty="0">
                <a:solidFill>
                  <a:srgbClr val="FFFFFF"/>
                </a:solidFill>
                <a:latin typeface="Segoe UI"/>
                <a:ea typeface="Segoe UI"/>
                <a:cs typeface="Segoe UI"/>
              </a:rPr>
              <a:t>Now run  label1.Text = data</a:t>
            </a:r>
            <a:r>
              <a:rPr lang="en-US" sz="1050" b="0" dirty="0">
                <a:solidFill>
                  <a:srgbClr val="CBD5E1"/>
                </a:solidFill>
                <a:latin typeface="Segoe UI"/>
                <a:ea typeface="Segoe UI"/>
                <a:cs typeface="Segoe UI"/>
              </a:rPr>
              <a:t>  ·  but on which thread?</a:t>
            </a:r>
            <a:endParaRPr lang="en-US" sz="1300" dirty="0"/>
          </a:p>
        </p:txBody>
      </p:sp>
      <p:sp>
        <p:nvSpPr>
          <p:cNvPr id="124" name="q"/>
          <p:cNvSpPr/>
          <p:nvPr/>
        </p:nvSpPr>
        <p:spPr>
          <a:xfrm>
            <a:off x="6263640" y="4480560"/>
            <a:ext cx="5366614" cy="457200"/>
          </a:xfrm>
          <a:prstGeom prst="roundRect">
            <a:avLst>
              <a:gd name="adj" fmla="val 12000"/>
            </a:avLst>
          </a:prstGeom>
          <a:solidFill>
            <a:srgbClr val="F87171">
              <a:alpha val="14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250" b="1" dirty="0">
                <a:solidFill>
                  <a:srgbClr val="F87171"/>
                </a:solidFill>
                <a:latin typeface="Segoe UI"/>
                <a:ea typeface="Segoe UI"/>
                <a:cs typeface="Segoe UI"/>
              </a:rPr>
              <a:t>Who guarantees step 5 runs on the UI Thread?</a:t>
            </a:r>
            <a:endParaRPr lang="en-US" sz="1250" dirty="0"/>
          </a:p>
        </p:txBody>
      </p:sp>
      <p:sp>
        <p:nvSpPr>
          <p:cNvPr id="125" name="def"/>
          <p:cNvSpPr/>
          <p:nvPr/>
        </p:nvSpPr>
        <p:spPr>
          <a:xfrm>
            <a:off x="543154" y="5084064"/>
            <a:ext cx="11087100" cy="841248"/>
          </a:xfrm>
          <a:prstGeom prst="roundRect">
            <a:avLst>
              <a:gd name="adj" fmla="val 12000"/>
            </a:avLst>
          </a:prstGeom>
          <a:solidFill>
            <a:srgbClr val="0C1628"/>
          </a:solidFill>
          <a:ln w="12700">
            <a:solidFill>
              <a:srgbClr val="34D399"/>
            </a:solidFill>
            <a:prstDash val="solid"/>
          </a:ln>
        </p:spPr>
        <p:txBody>
          <a:bodyPr wrap="square" lIns="209398" tIns="45720" rIns="209398" bIns="45720" rtlCol="0" anchor="ctr">
            <a:noAutofit/>
          </a:bodyPr>
          <a:lstStyle/>
          <a:p>
            <a:pPr marL="0" indent="0" algn="ctr">
              <a:spcBef>
                <a:spcPts val="0"/>
              </a:spcBef>
              <a:spcAft>
                <a:spcPts val="0"/>
              </a:spcAft>
              <a:buNone/>
            </a:pPr>
            <a:r>
              <a:rPr lang="en-US" sz="1350" b="1" dirty="0">
                <a:solidFill>
                  <a:srgbClr val="34D399"/>
                </a:solidFill>
                <a:latin typeface="Segoe UI"/>
                <a:ea typeface="Segoe UI"/>
                <a:cs typeface="Segoe UI"/>
              </a:rPr>
              <a:t>SynchronizationContext  </a:t>
            </a:r>
            <a:r>
              <a:rPr lang="en-US" sz="1100" b="0" dirty="0">
                <a:solidFill>
                  <a:srgbClr val="13D0F7"/>
                </a:solidFill>
                <a:latin typeface="Consolas"/>
                <a:ea typeface="Consolas"/>
                <a:cs typeface="Consolas"/>
              </a:rPr>
              <a:t>System.Threading.SynchronizationContext</a:t>
            </a:r>
            <a:endParaRPr lang="en-US" sz="1350" dirty="0"/>
          </a:p>
          <a:p>
            <a:pPr marL="0" indent="0" algn="ctr">
              <a:spcBef>
                <a:spcPts val="0"/>
              </a:spcBef>
              <a:spcAft>
                <a:spcPts val="0"/>
              </a:spcAft>
              <a:buNone/>
            </a:pPr>
            <a:r>
              <a:rPr lang="en-US" sz="1100" b="0" dirty="0">
                <a:solidFill>
                  <a:srgbClr val="E2E8F0"/>
                </a:solidFill>
                <a:latin typeface="Segoe UI"/>
                <a:ea typeface="Segoe UI"/>
                <a:cs typeface="Segoe UI"/>
              </a:rPr>
              <a:t>An abstraction that decides WHERE and HOW code runs for the current environment. WPF's context knows how to schedule code onto the UI Thread, so after await the rest runs there.</a:t>
            </a:r>
            <a:endParaRPr lang="en-US" sz="1100" dirty="0"/>
          </a:p>
        </p:txBody>
      </p:sp>
    </p:spTree>
    <p:extLst>
      <p:ext uri="{BB962C8B-B14F-4D97-AF65-F5344CB8AC3E}">
        <p14:creationId xmlns:p14="http://schemas.microsoft.com/office/powerpoint/2010/main" val="503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4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fade">
                                      <p:cBhvr>
                                        <p:cTn id="12" dur="400"/>
                                        <p:tgtEl>
                                          <p:spTgt spid="1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9"/>
                                        </p:tgtEl>
                                        <p:attrNameLst>
                                          <p:attrName>style.visibility</p:attrName>
                                        </p:attrNameLst>
                                      </p:cBhvr>
                                      <p:to>
                                        <p:strVal val="visible"/>
                                      </p:to>
                                    </p:set>
                                    <p:animEffect transition="in" filter="fade">
                                      <p:cBhvr>
                                        <p:cTn id="17" dur="400"/>
                                        <p:tgtEl>
                                          <p:spTgt spid="1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5"/>
                                        </p:tgtEl>
                                        <p:attrNameLst>
                                          <p:attrName>style.visibility</p:attrName>
                                        </p:attrNameLst>
                                      </p:cBhvr>
                                      <p:to>
                                        <p:strVal val="visible"/>
                                      </p:to>
                                    </p:set>
                                    <p:animEffect transition="in" filter="fade">
                                      <p:cBhvr>
                                        <p:cTn id="20" dur="400"/>
                                        <p:tgtEl>
                                          <p:spTgt spid="1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0"/>
                                        </p:tgtEl>
                                        <p:attrNameLst>
                                          <p:attrName>style.visibility</p:attrName>
                                        </p:attrNameLst>
                                      </p:cBhvr>
                                      <p:to>
                                        <p:strVal val="visible"/>
                                      </p:to>
                                    </p:set>
                                    <p:animEffect transition="in" filter="fade">
                                      <p:cBhvr>
                                        <p:cTn id="25" dur="400"/>
                                        <p:tgtEl>
                                          <p:spTgt spid="1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fade">
                                      <p:cBhvr>
                                        <p:cTn id="28" dur="400"/>
                                        <p:tgtEl>
                                          <p:spTgt spid="1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fade">
                                      <p:cBhvr>
                                        <p:cTn id="33" dur="400"/>
                                        <p:tgtEl>
                                          <p:spTgt spid="1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2"/>
                                        </p:tgtEl>
                                        <p:attrNameLst>
                                          <p:attrName>style.visibility</p:attrName>
                                        </p:attrNameLst>
                                      </p:cBhvr>
                                      <p:to>
                                        <p:strVal val="visible"/>
                                      </p:to>
                                    </p:set>
                                    <p:animEffect transition="in" filter="fade">
                                      <p:cBhvr>
                                        <p:cTn id="38" dur="400"/>
                                        <p:tgtEl>
                                          <p:spTgt spid="1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23"/>
                                        </p:tgtEl>
                                        <p:attrNameLst>
                                          <p:attrName>style.visibility</p:attrName>
                                        </p:attrNameLst>
                                      </p:cBhvr>
                                      <p:to>
                                        <p:strVal val="visible"/>
                                      </p:to>
                                    </p:set>
                                    <p:animEffect transition="in" filter="fade">
                                      <p:cBhvr>
                                        <p:cTn id="43" dur="400"/>
                                        <p:tgtEl>
                                          <p:spTgt spid="1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17"/>
                                        </p:tgtEl>
                                        <p:attrNameLst>
                                          <p:attrName>style.visibility</p:attrName>
                                        </p:attrNameLst>
                                      </p:cBhvr>
                                      <p:to>
                                        <p:strVal val="visible"/>
                                      </p:to>
                                    </p:set>
                                    <p:animEffect transition="in" filter="fade">
                                      <p:cBhvr>
                                        <p:cTn id="46" dur="400"/>
                                        <p:tgtEl>
                                          <p:spTgt spid="1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24"/>
                                        </p:tgtEl>
                                        <p:attrNameLst>
                                          <p:attrName>style.visibility</p:attrName>
                                        </p:attrNameLst>
                                      </p:cBhvr>
                                      <p:to>
                                        <p:strVal val="visible"/>
                                      </p:to>
                                    </p:set>
                                    <p:animEffect transition="in" filter="fade">
                                      <p:cBhvr>
                                        <p:cTn id="51" dur="400"/>
                                        <p:tgtEl>
                                          <p:spTgt spid="12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25"/>
                                        </p:tgtEl>
                                        <p:attrNameLst>
                                          <p:attrName>style.visibility</p:attrName>
                                        </p:attrNameLst>
                                      </p:cBhvr>
                                      <p:to>
                                        <p:strVal val="visible"/>
                                      </p:to>
                                    </p:set>
                                    <p:animEffect transition="in" filter="fade">
                                      <p:cBhvr>
                                        <p:cTn id="56"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NO CONTEXT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No SynchronizationContext in ASP.NET Core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40</a:t>
            </a:r>
            <a:endParaRPr lang="en-US" sz="850" dirty="0"/>
          </a:p>
        </p:txBody>
      </p:sp>
      <p:grpSp>
        <p:nvGrpSpPr>
          <p:cNvPr id="104" name="t_h"/>
          <p:cNvGrpSpPr/>
          <p:nvPr/>
        </p:nvGrpSpPr>
        <p:grpSpPr>
          <a:xfrm>
            <a:off x="689458" y="1481328"/>
            <a:ext cx="10904220" cy="256032"/>
            <a:chOff x="689458" y="1481328"/>
            <a:chExt cx="10904220" cy="256032"/>
          </a:xfrm>
        </p:grpSpPr>
        <p:sp>
          <p:nvSpPr>
            <p:cNvPr id="101" name="t_h0"/>
            <p:cNvSpPr txBox="1"/>
            <p:nvPr/>
          </p:nvSpPr>
          <p:spPr>
            <a:xfrm>
              <a:off x="689458" y="1481328"/>
              <a:ext cx="347472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APP TYPE</a:t>
              </a:r>
              <a:endParaRPr lang="en-US" sz="1000" dirty="0"/>
            </a:p>
          </p:txBody>
        </p:sp>
        <p:sp>
          <p:nvSpPr>
            <p:cNvPr id="102" name="t_h1"/>
            <p:cNvSpPr txBox="1"/>
            <p:nvPr/>
          </p:nvSpPr>
          <p:spPr>
            <a:xfrm>
              <a:off x="4347058" y="1481328"/>
              <a:ext cx="365760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SynchronizationContext.Current</a:t>
              </a:r>
              <a:endParaRPr lang="en-US" sz="1000" dirty="0"/>
            </a:p>
          </p:txBody>
        </p:sp>
        <p:sp>
          <p:nvSpPr>
            <p:cNvPr id="103" name="t_h2"/>
            <p:cNvSpPr txBox="1"/>
            <p:nvPr/>
          </p:nvSpPr>
          <p:spPr>
            <a:xfrm>
              <a:off x="8187538" y="1481328"/>
              <a:ext cx="34061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AFTER await, THE REST RUNS ON…</a:t>
              </a:r>
              <a:endParaRPr lang="en-US" sz="1000" dirty="0"/>
            </a:p>
          </p:txBody>
        </p:sp>
      </p:grpSp>
      <p:grpSp>
        <p:nvGrpSpPr>
          <p:cNvPr id="109" name="t_r0"/>
          <p:cNvGrpSpPr/>
          <p:nvPr/>
        </p:nvGrpSpPr>
        <p:grpSpPr>
          <a:xfrm>
            <a:off x="543154" y="1783080"/>
            <a:ext cx="11087100" cy="420624"/>
            <a:chOff x="543154" y="1783080"/>
            <a:chExt cx="11087100" cy="420624"/>
          </a:xfrm>
        </p:grpSpPr>
        <p:sp>
          <p:nvSpPr>
            <p:cNvPr id="105" name="t_r0_bg"/>
            <p:cNvSpPr/>
            <p:nvPr/>
          </p:nvSpPr>
          <p:spPr>
            <a:xfrm>
              <a:off x="543154" y="1783080"/>
              <a:ext cx="11087100" cy="42062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6" name="t_r0_c0"/>
            <p:cNvSpPr txBox="1"/>
            <p:nvPr/>
          </p:nvSpPr>
          <p:spPr>
            <a:xfrm>
              <a:off x="689458" y="1783080"/>
              <a:ext cx="347472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E2E8F0"/>
                  </a:solidFill>
                  <a:latin typeface="Segoe UI"/>
                  <a:ea typeface="Segoe UI"/>
                  <a:cs typeface="Segoe UI"/>
                </a:rPr>
                <a:t>WPF · Windows Forms · MAUI</a:t>
              </a:r>
              <a:endParaRPr lang="en-US" sz="1150" dirty="0"/>
            </a:p>
          </p:txBody>
        </p:sp>
        <p:sp>
          <p:nvSpPr>
            <p:cNvPr id="107" name="t_r0_c1"/>
            <p:cNvSpPr txBox="1"/>
            <p:nvPr/>
          </p:nvSpPr>
          <p:spPr>
            <a:xfrm>
              <a:off x="4347058" y="1783080"/>
              <a:ext cx="365760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FBBF24"/>
                  </a:solidFill>
                  <a:latin typeface="Consolas"/>
                  <a:ea typeface="Consolas"/>
                  <a:cs typeface="Consolas"/>
                </a:rPr>
                <a:t>UI context</a:t>
              </a:r>
              <a:endParaRPr lang="en-US" sz="1100" dirty="0"/>
            </a:p>
          </p:txBody>
        </p:sp>
        <p:sp>
          <p:nvSpPr>
            <p:cNvPr id="108" name="t_r0_c2"/>
            <p:cNvSpPr txBox="1"/>
            <p:nvPr/>
          </p:nvSpPr>
          <p:spPr>
            <a:xfrm>
              <a:off x="8187538" y="1783080"/>
              <a:ext cx="340614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FBBF24"/>
                  </a:solidFill>
                  <a:latin typeface="Segoe UI"/>
                  <a:ea typeface="Segoe UI"/>
                  <a:cs typeface="Segoe UI"/>
                </a:rPr>
                <a:t>the UI Thread</a:t>
              </a:r>
              <a:endParaRPr lang="en-US" sz="1150" dirty="0"/>
            </a:p>
          </p:txBody>
        </p:sp>
      </p:grpSp>
      <p:grpSp>
        <p:nvGrpSpPr>
          <p:cNvPr id="114" name="t_r1"/>
          <p:cNvGrpSpPr/>
          <p:nvPr/>
        </p:nvGrpSpPr>
        <p:grpSpPr>
          <a:xfrm>
            <a:off x="543154" y="2267712"/>
            <a:ext cx="11087100" cy="420624"/>
            <a:chOff x="543154" y="2267712"/>
            <a:chExt cx="11087100" cy="420624"/>
          </a:xfrm>
        </p:grpSpPr>
        <p:sp>
          <p:nvSpPr>
            <p:cNvPr id="110" name="t_r1_bg"/>
            <p:cNvSpPr/>
            <p:nvPr/>
          </p:nvSpPr>
          <p:spPr>
            <a:xfrm>
              <a:off x="543154" y="2267712"/>
              <a:ext cx="11087100" cy="42062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1" name="t_r1_c0"/>
            <p:cNvSpPr txBox="1"/>
            <p:nvPr/>
          </p:nvSpPr>
          <p:spPr>
            <a:xfrm>
              <a:off x="689458" y="2267712"/>
              <a:ext cx="347472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E2E8F0"/>
                  </a:solidFill>
                  <a:latin typeface="Segoe UI"/>
                  <a:ea typeface="Segoe UI"/>
                  <a:cs typeface="Segoe UI"/>
                </a:rPr>
                <a:t>Old ASP.NET (System.Web)</a:t>
              </a:r>
              <a:endParaRPr lang="en-US" sz="1150" dirty="0"/>
            </a:p>
          </p:txBody>
        </p:sp>
        <p:sp>
          <p:nvSpPr>
            <p:cNvPr id="112" name="t_r1_c1"/>
            <p:cNvSpPr txBox="1"/>
            <p:nvPr/>
          </p:nvSpPr>
          <p:spPr>
            <a:xfrm>
              <a:off x="4347058" y="2267712"/>
              <a:ext cx="365760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AspNetSynchronizationContext</a:t>
              </a:r>
              <a:endParaRPr lang="en-US" sz="1100" dirty="0"/>
            </a:p>
          </p:txBody>
        </p:sp>
        <p:sp>
          <p:nvSpPr>
            <p:cNvPr id="113" name="t_r1_c2"/>
            <p:cNvSpPr txBox="1"/>
            <p:nvPr/>
          </p:nvSpPr>
          <p:spPr>
            <a:xfrm>
              <a:off x="8187538" y="2267712"/>
              <a:ext cx="340614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the request context</a:t>
              </a:r>
              <a:endParaRPr lang="en-US" sz="1150" dirty="0"/>
            </a:p>
          </p:txBody>
        </p:sp>
      </p:grpSp>
      <p:grpSp>
        <p:nvGrpSpPr>
          <p:cNvPr id="119" name="t_r2"/>
          <p:cNvGrpSpPr/>
          <p:nvPr/>
        </p:nvGrpSpPr>
        <p:grpSpPr>
          <a:xfrm>
            <a:off x="543154" y="2752344"/>
            <a:ext cx="11087100" cy="420624"/>
            <a:chOff x="543154" y="2752344"/>
            <a:chExt cx="11087100" cy="420624"/>
          </a:xfrm>
        </p:grpSpPr>
        <p:sp>
          <p:nvSpPr>
            <p:cNvPr id="115" name="t_r2_bg"/>
            <p:cNvSpPr/>
            <p:nvPr/>
          </p:nvSpPr>
          <p:spPr>
            <a:xfrm>
              <a:off x="543154" y="2752344"/>
              <a:ext cx="11087100" cy="42062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6" name="t_r2_c0"/>
            <p:cNvSpPr txBox="1"/>
            <p:nvPr/>
          </p:nvSpPr>
          <p:spPr>
            <a:xfrm>
              <a:off x="689458" y="2752344"/>
              <a:ext cx="347472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E2E8F0"/>
                  </a:solidFill>
                  <a:latin typeface="Segoe UI"/>
                  <a:ea typeface="Segoe UI"/>
                  <a:cs typeface="Segoe UI"/>
                </a:rPr>
                <a:t>ASP.NET Core API</a:t>
              </a:r>
              <a:endParaRPr lang="en-US" sz="1150" dirty="0"/>
            </a:p>
          </p:txBody>
        </p:sp>
        <p:sp>
          <p:nvSpPr>
            <p:cNvPr id="117" name="t_r2_c1"/>
            <p:cNvSpPr txBox="1"/>
            <p:nvPr/>
          </p:nvSpPr>
          <p:spPr>
            <a:xfrm>
              <a:off x="4347058" y="2752344"/>
              <a:ext cx="365760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34D399"/>
                  </a:solidFill>
                  <a:latin typeface="Consolas"/>
                  <a:ea typeface="Consolas"/>
                  <a:cs typeface="Consolas"/>
                </a:rPr>
                <a:t>null</a:t>
              </a:r>
              <a:endParaRPr lang="en-US" sz="1100" dirty="0"/>
            </a:p>
          </p:txBody>
        </p:sp>
        <p:sp>
          <p:nvSpPr>
            <p:cNvPr id="118" name="t_r2_c2"/>
            <p:cNvSpPr txBox="1"/>
            <p:nvPr/>
          </p:nvSpPr>
          <p:spPr>
            <a:xfrm>
              <a:off x="8187538" y="2752344"/>
              <a:ext cx="340614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34D399"/>
                  </a:solidFill>
                  <a:latin typeface="Segoe UI"/>
                  <a:ea typeface="Segoe UI"/>
                  <a:cs typeface="Segoe UI"/>
                </a:rPr>
                <a:t>any ThreadPool thread</a:t>
              </a:r>
              <a:endParaRPr lang="en-US" sz="1150" dirty="0"/>
            </a:p>
          </p:txBody>
        </p:sp>
      </p:grpSp>
      <p:grpSp>
        <p:nvGrpSpPr>
          <p:cNvPr id="124" name="t_r3"/>
          <p:cNvGrpSpPr/>
          <p:nvPr/>
        </p:nvGrpSpPr>
        <p:grpSpPr>
          <a:xfrm>
            <a:off x="543154" y="3236976"/>
            <a:ext cx="11087100" cy="420624"/>
            <a:chOff x="543154" y="3236976"/>
            <a:chExt cx="11087100" cy="420624"/>
          </a:xfrm>
        </p:grpSpPr>
        <p:sp>
          <p:nvSpPr>
            <p:cNvPr id="120" name="t_r3_bg"/>
            <p:cNvSpPr/>
            <p:nvPr/>
          </p:nvSpPr>
          <p:spPr>
            <a:xfrm>
              <a:off x="543154" y="3236976"/>
              <a:ext cx="11087100" cy="42062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1" name="t_r3_c0"/>
            <p:cNvSpPr txBox="1"/>
            <p:nvPr/>
          </p:nvSpPr>
          <p:spPr>
            <a:xfrm>
              <a:off x="689458" y="3236976"/>
              <a:ext cx="347472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E2E8F0"/>
                  </a:solidFill>
                  <a:latin typeface="Segoe UI"/>
                  <a:ea typeface="Segoe UI"/>
                  <a:cs typeface="Segoe UI"/>
                </a:rPr>
                <a:t>Console app</a:t>
              </a:r>
              <a:endParaRPr lang="en-US" sz="1150" dirty="0"/>
            </a:p>
          </p:txBody>
        </p:sp>
        <p:sp>
          <p:nvSpPr>
            <p:cNvPr id="122" name="t_r3_c1"/>
            <p:cNvSpPr txBox="1"/>
            <p:nvPr/>
          </p:nvSpPr>
          <p:spPr>
            <a:xfrm>
              <a:off x="4347058" y="3236976"/>
              <a:ext cx="365760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34D399"/>
                  </a:solidFill>
                  <a:latin typeface="Consolas"/>
                  <a:ea typeface="Consolas"/>
                  <a:cs typeface="Consolas"/>
                </a:rPr>
                <a:t>null</a:t>
              </a:r>
              <a:endParaRPr lang="en-US" sz="1100" dirty="0"/>
            </a:p>
          </p:txBody>
        </p:sp>
        <p:sp>
          <p:nvSpPr>
            <p:cNvPr id="123" name="t_r3_c2"/>
            <p:cNvSpPr txBox="1"/>
            <p:nvPr/>
          </p:nvSpPr>
          <p:spPr>
            <a:xfrm>
              <a:off x="8187538" y="3236976"/>
              <a:ext cx="340614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34D399"/>
                  </a:solidFill>
                  <a:latin typeface="Segoe UI"/>
                  <a:ea typeface="Segoe UI"/>
                  <a:cs typeface="Segoe UI"/>
                </a:rPr>
                <a:t>any ThreadPool thread</a:t>
              </a:r>
              <a:endParaRPr lang="en-US" sz="1150" dirty="0"/>
            </a:p>
          </p:txBody>
        </p:sp>
      </p:grpSp>
      <p:grpSp>
        <p:nvGrpSpPr>
          <p:cNvPr id="136" name="code"/>
          <p:cNvGrpSpPr/>
          <p:nvPr/>
        </p:nvGrpSpPr>
        <p:grpSpPr>
          <a:xfrm>
            <a:off x="543154" y="3886200"/>
            <a:ext cx="6858000" cy="1615900"/>
            <a:chOff x="543154" y="3886200"/>
            <a:chExt cx="6858000" cy="1615900"/>
          </a:xfrm>
        </p:grpSpPr>
        <p:sp>
          <p:nvSpPr>
            <p:cNvPr id="125" name="code_win"/>
            <p:cNvSpPr/>
            <p:nvPr/>
          </p:nvSpPr>
          <p:spPr>
            <a:xfrm>
              <a:off x="543154" y="3886200"/>
              <a:ext cx="6858000" cy="1615900"/>
            </a:xfrm>
            <a:prstGeom prst="roundRect">
              <a:avLst>
                <a:gd name="adj" fmla="val 4242"/>
              </a:avLst>
            </a:prstGeom>
            <a:solidFill>
              <a:srgbClr val="060D18"/>
            </a:solidFill>
            <a:ln w="12700">
              <a:solidFill>
                <a:srgbClr val="1E3A5F"/>
              </a:solidFill>
              <a:prstDash val="solid"/>
            </a:ln>
          </p:spPr>
          <p:txBody>
            <a:bodyPr/>
            <a:lstStyle/>
            <a:p>
              <a:endParaRPr lang="en-US"/>
            </a:p>
          </p:txBody>
        </p:sp>
        <p:sp>
          <p:nvSpPr>
            <p:cNvPr id="126" name="code_bar"/>
            <p:cNvSpPr/>
            <p:nvPr/>
          </p:nvSpPr>
          <p:spPr>
            <a:xfrm>
              <a:off x="543154" y="3886200"/>
              <a:ext cx="6858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7" name="code_barfill"/>
            <p:cNvSpPr/>
            <p:nvPr/>
          </p:nvSpPr>
          <p:spPr>
            <a:xfrm>
              <a:off x="543154" y="4057650"/>
              <a:ext cx="6858000" cy="171450"/>
            </a:xfrm>
            <a:prstGeom prst="rect">
              <a:avLst/>
            </a:prstGeom>
            <a:solidFill>
              <a:srgbClr val="0A1220"/>
            </a:solidFill>
            <a:ln w="12700">
              <a:solidFill>
                <a:srgbClr val="0A1220"/>
              </a:solidFill>
              <a:prstDash val="solid"/>
            </a:ln>
          </p:spPr>
          <p:txBody>
            <a:bodyPr/>
            <a:lstStyle/>
            <a:p>
              <a:endParaRPr lang="en-US"/>
            </a:p>
          </p:txBody>
        </p:sp>
        <p:sp>
          <p:nvSpPr>
            <p:cNvPr id="128" name="code_dot0"/>
            <p:cNvSpPr/>
            <p:nvPr/>
          </p:nvSpPr>
          <p:spPr>
            <a:xfrm>
              <a:off x="705002" y="4010010"/>
              <a:ext cx="95098" cy="95098"/>
            </a:xfrm>
            <a:prstGeom prst="ellipse">
              <a:avLst/>
            </a:prstGeom>
            <a:solidFill>
              <a:srgbClr val="F87171"/>
            </a:solidFill>
            <a:ln w="12700">
              <a:solidFill>
                <a:srgbClr val="F87171"/>
              </a:solidFill>
              <a:prstDash val="solid"/>
            </a:ln>
          </p:spPr>
          <p:txBody>
            <a:bodyPr/>
            <a:lstStyle/>
            <a:p>
              <a:endParaRPr lang="en-US"/>
            </a:p>
          </p:txBody>
        </p:sp>
        <p:sp>
          <p:nvSpPr>
            <p:cNvPr id="129" name="code_dot1"/>
            <p:cNvSpPr/>
            <p:nvPr/>
          </p:nvSpPr>
          <p:spPr>
            <a:xfrm>
              <a:off x="890626" y="4010010"/>
              <a:ext cx="95098" cy="95098"/>
            </a:xfrm>
            <a:prstGeom prst="ellipse">
              <a:avLst/>
            </a:prstGeom>
            <a:solidFill>
              <a:srgbClr val="FBBF24"/>
            </a:solidFill>
            <a:ln w="12700">
              <a:solidFill>
                <a:srgbClr val="FBBF24"/>
              </a:solidFill>
              <a:prstDash val="solid"/>
            </a:ln>
          </p:spPr>
          <p:txBody>
            <a:bodyPr/>
            <a:lstStyle/>
            <a:p>
              <a:endParaRPr lang="en-US"/>
            </a:p>
          </p:txBody>
        </p:sp>
        <p:sp>
          <p:nvSpPr>
            <p:cNvPr id="130" name="code_dot2"/>
            <p:cNvSpPr/>
            <p:nvPr/>
          </p:nvSpPr>
          <p:spPr>
            <a:xfrm>
              <a:off x="1076250" y="4010010"/>
              <a:ext cx="95098" cy="95098"/>
            </a:xfrm>
            <a:prstGeom prst="ellipse">
              <a:avLst/>
            </a:prstGeom>
            <a:solidFill>
              <a:srgbClr val="34D399"/>
            </a:solidFill>
            <a:ln w="12700">
              <a:solidFill>
                <a:srgbClr val="34D399"/>
              </a:solidFill>
              <a:prstDash val="solid"/>
            </a:ln>
          </p:spPr>
          <p:txBody>
            <a:bodyPr/>
            <a:lstStyle/>
            <a:p>
              <a:endParaRPr lang="en-US"/>
            </a:p>
          </p:txBody>
        </p:sp>
        <p:sp>
          <p:nvSpPr>
            <p:cNvPr id="131" name="code_tab"/>
            <p:cNvSpPr/>
            <p:nvPr/>
          </p:nvSpPr>
          <p:spPr>
            <a:xfrm>
              <a:off x="1324051" y="3933749"/>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(console app)</a:t>
              </a:r>
              <a:endParaRPr lang="en-US" sz="950" dirty="0"/>
            </a:p>
          </p:txBody>
        </p:sp>
        <p:sp>
          <p:nvSpPr>
            <p:cNvPr id="132" name="code_L00"/>
            <p:cNvSpPr txBox="1"/>
            <p:nvPr/>
          </p:nvSpPr>
          <p:spPr>
            <a:xfrm>
              <a:off x="771754" y="4362100"/>
              <a:ext cx="655800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Console.WriteLine(SynchronizationContext.Current == </a:t>
              </a:r>
              <a:r>
                <a:rPr lang="en-US" sz="880" b="0" dirty="0">
                  <a:solidFill>
                    <a:srgbClr val="60A5FA"/>
                  </a:solidFill>
                  <a:latin typeface="Consolas"/>
                  <a:ea typeface="Consolas"/>
                  <a:cs typeface="Consolas"/>
                </a:rPr>
                <a:t>null</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True</a:t>
              </a:r>
              <a:endParaRPr lang="en-US" sz="880" dirty="0"/>
            </a:p>
          </p:txBody>
        </p:sp>
        <p:sp>
          <p:nvSpPr>
            <p:cNvPr id="133" name="code_L01"/>
            <p:cNvSpPr txBox="1"/>
            <p:nvPr/>
          </p:nvSpPr>
          <p:spPr>
            <a:xfrm>
              <a:off x="771754" y="4532100"/>
              <a:ext cx="655800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$"before: T{Environment.CurrentManagedThreadId}"</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T1</a:t>
              </a:r>
              <a:endParaRPr lang="en-US" sz="880" dirty="0"/>
            </a:p>
          </p:txBody>
        </p:sp>
        <p:sp>
          <p:nvSpPr>
            <p:cNvPr id="134" name="code_L03"/>
            <p:cNvSpPr txBox="1"/>
            <p:nvPr/>
          </p:nvSpPr>
          <p:spPr>
            <a:xfrm>
              <a:off x="771754" y="4872100"/>
              <a:ext cx="655800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await</a:t>
              </a:r>
              <a:r>
                <a:rPr lang="en-US" sz="880" b="0" dirty="0">
                  <a:solidFill>
                    <a:srgbClr val="E2E8F0"/>
                  </a:solidFill>
                  <a:latin typeface="Consolas"/>
                  <a:ea typeface="Consolas"/>
                  <a:cs typeface="Consolas"/>
                </a:rPr>
                <a:t> Task.Delay(100);</a:t>
              </a:r>
              <a:endParaRPr lang="en-US" sz="880" dirty="0"/>
            </a:p>
          </p:txBody>
        </p:sp>
        <p:sp>
          <p:nvSpPr>
            <p:cNvPr id="135" name="code_L05"/>
            <p:cNvSpPr txBox="1"/>
            <p:nvPr/>
          </p:nvSpPr>
          <p:spPr>
            <a:xfrm>
              <a:off x="771754" y="5212100"/>
              <a:ext cx="655800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$"after:  T{Environment.CurrentManagedThreadId}"</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T5: a pool thread</a:t>
              </a:r>
              <a:endParaRPr lang="en-US" sz="880" dirty="0"/>
            </a:p>
          </p:txBody>
        </p:sp>
      </p:grpSp>
      <p:sp>
        <p:nvSpPr>
          <p:cNvPr id="137" name="code_hl5"/>
          <p:cNvSpPr/>
          <p:nvPr/>
        </p:nvSpPr>
        <p:spPr>
          <a:xfrm>
            <a:off x="676656" y="5193812"/>
            <a:ext cx="6591000" cy="20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8" name="k"/>
          <p:cNvSpPr/>
          <p:nvPr/>
        </p:nvSpPr>
        <p:spPr>
          <a:xfrm>
            <a:off x="7635240" y="3886200"/>
            <a:ext cx="3995014" cy="146304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NO UI THREAD TO PROTECT</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The code after await takes any free ThreadPool thread. Do not expect the same thread after await.</a:t>
            </a:r>
            <a:endParaRPr lang="en-US" sz="1100" dirty="0"/>
          </a:p>
        </p:txBody>
      </p:sp>
    </p:spTree>
    <p:extLst>
      <p:ext uri="{BB962C8B-B14F-4D97-AF65-F5344CB8AC3E}">
        <p14:creationId xmlns:p14="http://schemas.microsoft.com/office/powerpoint/2010/main" val="50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4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400"/>
                                        <p:tgtEl>
                                          <p:spTgt spid="1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4"/>
                                        </p:tgtEl>
                                        <p:attrNameLst>
                                          <p:attrName>style.visibility</p:attrName>
                                        </p:attrNameLst>
                                      </p:cBhvr>
                                      <p:to>
                                        <p:strVal val="visible"/>
                                      </p:to>
                                    </p:set>
                                    <p:animEffect transition="in" filter="fade">
                                      <p:cBhvr>
                                        <p:cTn id="17" dur="400"/>
                                        <p:tgtEl>
                                          <p:spTgt spid="1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9"/>
                                        </p:tgtEl>
                                        <p:attrNameLst>
                                          <p:attrName>style.visibility</p:attrName>
                                        </p:attrNameLst>
                                      </p:cBhvr>
                                      <p:to>
                                        <p:strVal val="visible"/>
                                      </p:to>
                                    </p:set>
                                    <p:animEffect transition="in" filter="fade">
                                      <p:cBhvr>
                                        <p:cTn id="22" dur="400"/>
                                        <p:tgtEl>
                                          <p:spTgt spid="119"/>
                                        </p:tgtEl>
                                      </p:cBhvr>
                                    </p:animEffect>
                                  </p:childTnLst>
                                </p:cTn>
                              </p:par>
                            </p:childTnLst>
                          </p:cTn>
                        </p:par>
                        <p:par>
                          <p:cTn id="23" fill="hold">
                            <p:stCondLst>
                              <p:cond delay="400"/>
                            </p:stCondLst>
                            <p:childTnLst>
                              <p:par>
                                <p:cTn id="24" presetID="10" presetClass="entr" presetSubtype="0" fill="hold" nodeType="afterEffect">
                                  <p:stCondLst>
                                    <p:cond delay="0"/>
                                  </p:stCondLst>
                                  <p:childTnLst>
                                    <p:set>
                                      <p:cBhvr>
                                        <p:cTn id="25" dur="1" fill="hold">
                                          <p:stCondLst>
                                            <p:cond delay="0"/>
                                          </p:stCondLst>
                                        </p:cTn>
                                        <p:tgtEl>
                                          <p:spTgt spid="124"/>
                                        </p:tgtEl>
                                        <p:attrNameLst>
                                          <p:attrName>style.visibility</p:attrName>
                                        </p:attrNameLst>
                                      </p:cBhvr>
                                      <p:to>
                                        <p:strVal val="visible"/>
                                      </p:to>
                                    </p:set>
                                    <p:animEffect transition="in" filter="fade">
                                      <p:cBhvr>
                                        <p:cTn id="26" dur="250"/>
                                        <p:tgtEl>
                                          <p:spTgt spid="1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6"/>
                                        </p:tgtEl>
                                        <p:attrNameLst>
                                          <p:attrName>style.visibility</p:attrName>
                                        </p:attrNameLst>
                                      </p:cBhvr>
                                      <p:to>
                                        <p:strVal val="visible"/>
                                      </p:to>
                                    </p:set>
                                    <p:animEffect transition="in" filter="fade">
                                      <p:cBhvr>
                                        <p:cTn id="31" dur="400"/>
                                        <p:tgtEl>
                                          <p:spTgt spid="1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7"/>
                                        </p:tgtEl>
                                        <p:attrNameLst>
                                          <p:attrName>style.visibility</p:attrName>
                                        </p:attrNameLst>
                                      </p:cBhvr>
                                      <p:to>
                                        <p:strVal val="visible"/>
                                      </p:to>
                                    </p:set>
                                    <p:animEffect transition="in" filter="fade">
                                      <p:cBhvr>
                                        <p:cTn id="34" dur="400"/>
                                        <p:tgtEl>
                                          <p:spTgt spid="13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8"/>
                                        </p:tgtEl>
                                        <p:attrNameLst>
                                          <p:attrName>style.visibility</p:attrName>
                                        </p:attrNameLst>
                                      </p:cBhvr>
                                      <p:to>
                                        <p:strVal val="visible"/>
                                      </p:to>
                                    </p:set>
                                    <p:animEffect transition="in" filter="fade">
                                      <p:cBhvr>
                                        <p:cTn id="39" dur="4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632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LINE BY LINE · 1</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Predict the Order: Who Runs Each Line? (1/3)</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41</a:t>
            </a:r>
            <a:endParaRPr lang="en-US" sz="850" dirty="0"/>
          </a:p>
        </p:txBody>
      </p:sp>
      <p:grpSp>
        <p:nvGrpSpPr>
          <p:cNvPr id="119" name="code"/>
          <p:cNvGrpSpPr/>
          <p:nvPr/>
        </p:nvGrpSpPr>
        <p:grpSpPr>
          <a:xfrm>
            <a:off x="543154" y="1572768"/>
            <a:ext cx="4572000" cy="2815900"/>
            <a:chOff x="543154" y="1572768"/>
            <a:chExt cx="4572000" cy="2815900"/>
          </a:xfrm>
        </p:grpSpPr>
        <p:sp>
          <p:nvSpPr>
            <p:cNvPr id="101" name="code_win"/>
            <p:cNvSpPr/>
            <p:nvPr/>
          </p:nvSpPr>
          <p:spPr>
            <a:xfrm>
              <a:off x="543154" y="1572768"/>
              <a:ext cx="4572000" cy="2815900"/>
            </a:xfrm>
            <a:prstGeom prst="roundRect">
              <a:avLst>
                <a:gd name="adj" fmla="val 2434"/>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4572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45720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(console app)</a:t>
              </a:r>
              <a:endParaRPr lang="en-US" sz="950" dirty="0"/>
            </a:p>
          </p:txBody>
        </p:sp>
        <p:sp>
          <p:nvSpPr>
            <p:cNvPr id="108" name="code_L00"/>
            <p:cNvSpPr txBox="1"/>
            <p:nvPr/>
          </p:nvSpPr>
          <p:spPr>
            <a:xfrm>
              <a:off x="771754" y="204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"1"</a:t>
              </a:r>
              <a:r>
                <a:rPr lang="en-US" sz="980" b="0" dirty="0">
                  <a:solidFill>
                    <a:srgbClr val="E2E8F0"/>
                  </a:solidFill>
                  <a:latin typeface="Consolas"/>
                  <a:ea typeface="Consolas"/>
                  <a:cs typeface="Consolas"/>
                </a:rPr>
                <a:t>);</a:t>
              </a:r>
              <a:endParaRPr lang="en-US" sz="980" dirty="0"/>
            </a:p>
          </p:txBody>
        </p:sp>
        <p:sp>
          <p:nvSpPr>
            <p:cNvPr id="109" name="code_L01"/>
            <p:cNvSpPr txBox="1"/>
            <p:nvPr/>
          </p:nvSpPr>
          <p:spPr>
            <a:xfrm>
              <a:off x="771754" y="223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Task task = PrintAsync();</a:t>
              </a:r>
              <a:endParaRPr lang="en-US" sz="980" dirty="0"/>
            </a:p>
          </p:txBody>
        </p:sp>
        <p:sp>
          <p:nvSpPr>
            <p:cNvPr id="110" name="code_L02"/>
            <p:cNvSpPr txBox="1"/>
            <p:nvPr/>
          </p:nvSpPr>
          <p:spPr>
            <a:xfrm>
              <a:off x="771754" y="241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"3"</a:t>
              </a:r>
              <a:r>
                <a:rPr lang="en-US" sz="980" b="0" dirty="0">
                  <a:solidFill>
                    <a:srgbClr val="E2E8F0"/>
                  </a:solidFill>
                  <a:latin typeface="Consolas"/>
                  <a:ea typeface="Consolas"/>
                  <a:cs typeface="Consolas"/>
                </a:rPr>
                <a:t>);</a:t>
              </a:r>
              <a:endParaRPr lang="en-US" sz="980" dirty="0"/>
            </a:p>
          </p:txBody>
        </p:sp>
        <p:sp>
          <p:nvSpPr>
            <p:cNvPr id="111" name="code_L03"/>
            <p:cNvSpPr txBox="1"/>
            <p:nvPr/>
          </p:nvSpPr>
          <p:spPr>
            <a:xfrm>
              <a:off x="771754" y="260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60A5FA"/>
                  </a:solidFill>
                  <a:latin typeface="Consolas"/>
                  <a:ea typeface="Consolas"/>
                  <a:cs typeface="Consolas"/>
                </a:rPr>
                <a:t>await</a:t>
              </a:r>
              <a:r>
                <a:rPr lang="en-US" sz="980" b="0" dirty="0">
                  <a:solidFill>
                    <a:srgbClr val="E2E8F0"/>
                  </a:solidFill>
                  <a:latin typeface="Consolas"/>
                  <a:ea typeface="Consolas"/>
                  <a:cs typeface="Consolas"/>
                </a:rPr>
                <a:t> task;</a:t>
              </a:r>
              <a:endParaRPr lang="en-US" sz="980" dirty="0"/>
            </a:p>
          </p:txBody>
        </p:sp>
        <p:sp>
          <p:nvSpPr>
            <p:cNvPr id="112" name="code_L04"/>
            <p:cNvSpPr txBox="1"/>
            <p:nvPr/>
          </p:nvSpPr>
          <p:spPr>
            <a:xfrm>
              <a:off x="771754" y="278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"5"</a:t>
              </a:r>
              <a:r>
                <a:rPr lang="en-US" sz="980" b="0" dirty="0">
                  <a:solidFill>
                    <a:srgbClr val="E2E8F0"/>
                  </a:solidFill>
                  <a:latin typeface="Consolas"/>
                  <a:ea typeface="Consolas"/>
                  <a:cs typeface="Consolas"/>
                </a:rPr>
                <a:t>);</a:t>
              </a:r>
              <a:endParaRPr lang="en-US" sz="980" dirty="0"/>
            </a:p>
          </p:txBody>
        </p:sp>
        <p:sp>
          <p:nvSpPr>
            <p:cNvPr id="113" name="code_L06"/>
            <p:cNvSpPr txBox="1"/>
            <p:nvPr/>
          </p:nvSpPr>
          <p:spPr>
            <a:xfrm>
              <a:off x="771754" y="315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60A5FA"/>
                  </a:solidFill>
                  <a:latin typeface="Consolas"/>
                  <a:ea typeface="Consolas"/>
                  <a:cs typeface="Consolas"/>
                </a:rPr>
                <a:t>async</a:t>
              </a:r>
              <a:r>
                <a:rPr lang="en-US" sz="980" b="0" dirty="0">
                  <a:solidFill>
                    <a:srgbClr val="E2E8F0"/>
                  </a:solidFill>
                  <a:latin typeface="Consolas"/>
                  <a:ea typeface="Consolas"/>
                  <a:cs typeface="Consolas"/>
                </a:rPr>
                <a:t> Task PrintAsync()</a:t>
              </a:r>
              <a:endParaRPr lang="en-US" sz="980" dirty="0"/>
            </a:p>
          </p:txBody>
        </p:sp>
        <p:sp>
          <p:nvSpPr>
            <p:cNvPr id="114" name="code_L07"/>
            <p:cNvSpPr txBox="1"/>
            <p:nvPr/>
          </p:nvSpPr>
          <p:spPr>
            <a:xfrm>
              <a:off x="771754" y="334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a:t>
              </a:r>
              <a:endParaRPr lang="en-US" sz="980" dirty="0"/>
            </a:p>
          </p:txBody>
        </p:sp>
        <p:sp>
          <p:nvSpPr>
            <p:cNvPr id="115" name="code_L08"/>
            <p:cNvSpPr txBox="1"/>
            <p:nvPr/>
          </p:nvSpPr>
          <p:spPr>
            <a:xfrm>
              <a:off x="771754" y="3528668"/>
              <a:ext cx="4272000" cy="18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"2"</a:t>
              </a:r>
              <a:r>
                <a:rPr lang="en-US" sz="980" b="0" dirty="0">
                  <a:solidFill>
                    <a:srgbClr val="E2E8F0"/>
                  </a:solidFill>
                  <a:latin typeface="Consolas"/>
                  <a:ea typeface="Consolas"/>
                  <a:cs typeface="Consolas"/>
                </a:rPr>
                <a:t>);</a:t>
              </a:r>
              <a:endParaRPr lang="en-US" sz="980" dirty="0"/>
            </a:p>
          </p:txBody>
        </p:sp>
        <p:sp>
          <p:nvSpPr>
            <p:cNvPr id="116" name="code_L09"/>
            <p:cNvSpPr txBox="1"/>
            <p:nvPr/>
          </p:nvSpPr>
          <p:spPr>
            <a:xfrm>
              <a:off x="771754" y="3713668"/>
              <a:ext cx="4272000" cy="18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80" b="0" dirty="0">
                  <a:solidFill>
                    <a:srgbClr val="60A5FA"/>
                  </a:solidFill>
                  <a:latin typeface="Consolas"/>
                  <a:ea typeface="Consolas"/>
                  <a:cs typeface="Consolas"/>
                </a:rPr>
                <a:t>await</a:t>
              </a:r>
              <a:r>
                <a:rPr lang="en-US" sz="980" b="0" dirty="0">
                  <a:solidFill>
                    <a:srgbClr val="E2E8F0"/>
                  </a:solidFill>
                  <a:latin typeface="Consolas"/>
                  <a:ea typeface="Consolas"/>
                  <a:cs typeface="Consolas"/>
                </a:rPr>
                <a:t> Task.Delay(100);</a:t>
              </a:r>
              <a:endParaRPr lang="en-US" sz="980" dirty="0"/>
            </a:p>
          </p:txBody>
        </p:sp>
        <p:sp>
          <p:nvSpPr>
            <p:cNvPr id="117" name="code_L10"/>
            <p:cNvSpPr txBox="1"/>
            <p:nvPr/>
          </p:nvSpPr>
          <p:spPr>
            <a:xfrm>
              <a:off x="771754" y="3898668"/>
              <a:ext cx="4272000" cy="18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"4"</a:t>
              </a:r>
              <a:r>
                <a:rPr lang="en-US" sz="980" b="0" dirty="0">
                  <a:solidFill>
                    <a:srgbClr val="E2E8F0"/>
                  </a:solidFill>
                  <a:latin typeface="Consolas"/>
                  <a:ea typeface="Consolas"/>
                  <a:cs typeface="Consolas"/>
                </a:rPr>
                <a:t>);</a:t>
              </a:r>
              <a:endParaRPr lang="en-US" sz="980" dirty="0"/>
            </a:p>
          </p:txBody>
        </p:sp>
        <p:sp>
          <p:nvSpPr>
            <p:cNvPr id="118" name="code_L11"/>
            <p:cNvSpPr txBox="1"/>
            <p:nvPr/>
          </p:nvSpPr>
          <p:spPr>
            <a:xfrm>
              <a:off x="771754" y="408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a:t>
              </a:r>
              <a:endParaRPr lang="en-US" sz="980" dirty="0"/>
            </a:p>
          </p:txBody>
        </p:sp>
      </p:grpSp>
      <p:sp>
        <p:nvSpPr>
          <p:cNvPr id="120" name="h0"/>
          <p:cNvSpPr/>
          <p:nvPr/>
        </p:nvSpPr>
        <p:spPr>
          <a:xfrm>
            <a:off x="676656" y="2030380"/>
            <a:ext cx="4305000" cy="22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1" name="h1"/>
          <p:cNvSpPr/>
          <p:nvPr/>
        </p:nvSpPr>
        <p:spPr>
          <a:xfrm>
            <a:off x="676656" y="2215380"/>
            <a:ext cx="4305000" cy="22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2" name="h2"/>
          <p:cNvSpPr/>
          <p:nvPr/>
        </p:nvSpPr>
        <p:spPr>
          <a:xfrm>
            <a:off x="676656" y="3510380"/>
            <a:ext cx="4305000" cy="22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3" name="h3"/>
          <p:cNvSpPr/>
          <p:nvPr/>
        </p:nvSpPr>
        <p:spPr>
          <a:xfrm>
            <a:off x="676656" y="3695380"/>
            <a:ext cx="4305000" cy="221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4" name="h4"/>
          <p:cNvSpPr/>
          <p:nvPr/>
        </p:nvSpPr>
        <p:spPr>
          <a:xfrm>
            <a:off x="676656" y="2400380"/>
            <a:ext cx="4305000" cy="22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5" name="h5"/>
          <p:cNvSpPr/>
          <p:nvPr/>
        </p:nvSpPr>
        <p:spPr>
          <a:xfrm>
            <a:off x="676656" y="2585380"/>
            <a:ext cx="4305000" cy="221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6" name="lg"/>
          <p:cNvSpPr/>
          <p:nvPr/>
        </p:nvSpPr>
        <p:spPr>
          <a:xfrm>
            <a:off x="543154" y="4434840"/>
            <a:ext cx="4572000" cy="13258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 T1 </a:t>
            </a:r>
            <a:r>
              <a:rPr lang="en-US" sz="1100" b="0" dirty="0">
                <a:solidFill>
                  <a:srgbClr val="E2E8F0"/>
                </a:solidFill>
                <a:latin typeface="Segoe UI"/>
                <a:ea typeface="Segoe UI"/>
                <a:cs typeface="Segoe UI"/>
              </a:rPr>
              <a:t>  Main Thread · foreground</a:t>
            </a:r>
            <a:endParaRPr lang="en-US" sz="1000" dirty="0"/>
          </a:p>
          <a:p>
            <a:pPr marL="0" indent="0" algn="l">
              <a:spcBef>
                <a:spcPts val="0"/>
              </a:spcBef>
              <a:spcAft>
                <a:spcPts val="0"/>
              </a:spcAft>
              <a:buNone/>
            </a:pPr>
            <a:r>
              <a:rPr lang="en-US" sz="1000" b="1" dirty="0">
                <a:solidFill>
                  <a:srgbClr val="A78BFA"/>
                </a:solidFill>
                <a:latin typeface="Consolas"/>
                <a:ea typeface="Consolas"/>
                <a:cs typeface="Consolas"/>
              </a:rPr>
              <a:t> T5 </a:t>
            </a:r>
            <a:r>
              <a:rPr lang="en-US" sz="1100" b="0" dirty="0">
                <a:solidFill>
                  <a:srgbClr val="E2E8F0"/>
                </a:solidFill>
                <a:latin typeface="Segoe UI"/>
                <a:ea typeface="Segoe UI"/>
                <a:cs typeface="Segoe UI"/>
              </a:rPr>
              <a:t>  a ThreadPool thread · background</a:t>
            </a:r>
            <a:endParaRPr lang="en-US" sz="1000" dirty="0"/>
          </a:p>
          <a:p>
            <a:pPr marL="0" indent="0" algn="l">
              <a:spcBef>
                <a:spcPts val="0"/>
              </a:spcBef>
              <a:spcAft>
                <a:spcPts val="0"/>
              </a:spcAft>
              <a:buNone/>
            </a:pPr>
            <a:r>
              <a:rPr lang="en-US" sz="1000" b="1" dirty="0">
                <a:solidFill>
                  <a:srgbClr val="FBBF24"/>
                </a:solidFill>
                <a:latin typeface="Consolas"/>
                <a:ea typeface="Consolas"/>
                <a:cs typeface="Consolas"/>
              </a:rPr>
              <a:t> ⏸ </a:t>
            </a:r>
            <a:r>
              <a:rPr lang="en-US" sz="1100" b="0" dirty="0">
                <a:solidFill>
                  <a:srgbClr val="E2E8F0"/>
                </a:solidFill>
                <a:latin typeface="Segoe UI"/>
                <a:ea typeface="Segoe UI"/>
                <a:cs typeface="Segoe UI"/>
              </a:rPr>
              <a:t>  blocked: waiting, uses no CPU</a:t>
            </a:r>
            <a:endParaRPr lang="en-US" sz="1000" dirty="0"/>
          </a:p>
        </p:txBody>
      </p:sp>
      <p:sp>
        <p:nvSpPr>
          <p:cNvPr id="127" name="s0"/>
          <p:cNvSpPr/>
          <p:nvPr/>
        </p:nvSpPr>
        <p:spPr>
          <a:xfrm>
            <a:off x="5349240" y="1572768"/>
            <a:ext cx="6281014" cy="64008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1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Console.WriteLine("1");</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T1 prints 1.</a:t>
            </a:r>
            <a:endParaRPr lang="en-US" sz="1000" dirty="0"/>
          </a:p>
        </p:txBody>
      </p:sp>
      <p:sp>
        <p:nvSpPr>
          <p:cNvPr id="128" name="s1"/>
          <p:cNvSpPr/>
          <p:nvPr/>
        </p:nvSpPr>
        <p:spPr>
          <a:xfrm>
            <a:off x="5349240" y="2267712"/>
            <a:ext cx="6281014" cy="64008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2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Task task = PrintAsync();</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T1 jumps INTO PrintAsync. No new thread: it runs until its first await.</a:t>
            </a:r>
            <a:endParaRPr lang="en-US" sz="1000" dirty="0"/>
          </a:p>
        </p:txBody>
      </p:sp>
      <p:sp>
        <p:nvSpPr>
          <p:cNvPr id="129" name="s2"/>
          <p:cNvSpPr/>
          <p:nvPr/>
        </p:nvSpPr>
        <p:spPr>
          <a:xfrm>
            <a:off x="5349240" y="2962656"/>
            <a:ext cx="6281014" cy="64008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3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Console.WriteLine("2");</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Still T1, inside PrintAsync: prints 2.</a:t>
            </a:r>
            <a:endParaRPr lang="en-US" sz="1000" dirty="0"/>
          </a:p>
        </p:txBody>
      </p:sp>
      <p:sp>
        <p:nvSpPr>
          <p:cNvPr id="130" name="s3"/>
          <p:cNvSpPr/>
          <p:nvPr/>
        </p:nvSpPr>
        <p:spPr>
          <a:xfrm>
            <a:off x="5349240" y="3657600"/>
            <a:ext cx="6281014" cy="640080"/>
          </a:xfrm>
          <a:prstGeom prst="roundRect">
            <a:avLst>
              <a:gd name="adj" fmla="val 12000"/>
            </a:avLst>
          </a:prstGeom>
          <a:solidFill>
            <a:srgbClr val="111B2E"/>
          </a:solidFill>
          <a:ln w="12700">
            <a:solidFill>
              <a:srgbClr val="FBBF24"/>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FBBF24"/>
                </a:solidFill>
                <a:latin typeface="Segoe UI"/>
                <a:ea typeface="Segoe UI"/>
                <a:cs typeface="Segoe UI"/>
              </a:rPr>
              <a:t>4  </a:t>
            </a:r>
            <a:r>
              <a:rPr lang="en-US" sz="1000" b="1" dirty="0">
                <a:solidFill>
                  <a:srgbClr val="FBBF24"/>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await Task.Delay(100);</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Starts a 100 ms timer. Not done → PrintAsync pauses, returns an unfinished Task. T1 goes back to Main.</a:t>
            </a:r>
            <a:endParaRPr lang="en-US" sz="1000" dirty="0"/>
          </a:p>
        </p:txBody>
      </p:sp>
      <p:sp>
        <p:nvSpPr>
          <p:cNvPr id="131" name="s4"/>
          <p:cNvSpPr/>
          <p:nvPr/>
        </p:nvSpPr>
        <p:spPr>
          <a:xfrm>
            <a:off x="5349240" y="4352544"/>
            <a:ext cx="6281014" cy="64008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5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Console.WriteLine("3");</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T1 prints 3.</a:t>
            </a:r>
            <a:endParaRPr lang="en-US" sz="1000" dirty="0"/>
          </a:p>
        </p:txBody>
      </p:sp>
      <p:sp>
        <p:nvSpPr>
          <p:cNvPr id="132" name="s5"/>
          <p:cNvSpPr/>
          <p:nvPr/>
        </p:nvSpPr>
        <p:spPr>
          <a:xfrm>
            <a:off x="5349240" y="5047488"/>
            <a:ext cx="6281014" cy="640080"/>
          </a:xfrm>
          <a:prstGeom prst="roundRect">
            <a:avLst>
              <a:gd name="adj" fmla="val 12000"/>
            </a:avLst>
          </a:prstGeom>
          <a:solidFill>
            <a:srgbClr val="111B2E"/>
          </a:solidFill>
          <a:ln w="12700">
            <a:solidFill>
              <a:srgbClr val="FBBF24"/>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FBBF24"/>
                </a:solidFill>
                <a:latin typeface="Segoe UI"/>
                <a:ea typeface="Segoe UI"/>
                <a:cs typeface="Segoe UI"/>
              </a:rPr>
              <a:t>6  </a:t>
            </a:r>
            <a:r>
              <a:rPr lang="en-US" sz="1000" b="1" dirty="0">
                <a:solidFill>
                  <a:srgbClr val="FBBF24"/>
                </a:solidFill>
                <a:latin typeface="Consolas"/>
                <a:ea typeface="Consolas"/>
                <a:cs typeface="Consolas"/>
              </a:rPr>
              <a:t> T1 ⏸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await task;</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task not done → Main pauses. The hidden Main waits: T1 is BLOCKED.</a:t>
            </a:r>
            <a:endParaRPr lang="en-US" sz="1000" dirty="0"/>
          </a:p>
        </p:txBody>
      </p:sp>
    </p:spTree>
    <p:extLst>
      <p:ext uri="{BB962C8B-B14F-4D97-AF65-F5344CB8AC3E}">
        <p14:creationId xmlns:p14="http://schemas.microsoft.com/office/powerpoint/2010/main" val="41834302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4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fade">
                                      <p:cBhvr>
                                        <p:cTn id="12" dur="4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fade">
                                      <p:cBhvr>
                                        <p:cTn id="17" dur="400"/>
                                        <p:tgtEl>
                                          <p:spTgt spid="1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400"/>
                                        <p:tgtEl>
                                          <p:spTgt spid="12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8"/>
                                        </p:tgtEl>
                                        <p:attrNameLst>
                                          <p:attrName>style.visibility</p:attrName>
                                        </p:attrNameLst>
                                      </p:cBhvr>
                                      <p:to>
                                        <p:strVal val="visible"/>
                                      </p:to>
                                    </p:set>
                                    <p:animEffect transition="in" filter="fade">
                                      <p:cBhvr>
                                        <p:cTn id="25" dur="400"/>
                                        <p:tgtEl>
                                          <p:spTgt spid="1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1"/>
                                        </p:tgtEl>
                                        <p:attrNameLst>
                                          <p:attrName>style.visibility</p:attrName>
                                        </p:attrNameLst>
                                      </p:cBhvr>
                                      <p:to>
                                        <p:strVal val="visible"/>
                                      </p:to>
                                    </p:set>
                                    <p:animEffect transition="in" filter="fade">
                                      <p:cBhvr>
                                        <p:cTn id="28" dur="400"/>
                                        <p:tgtEl>
                                          <p:spTgt spid="12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9"/>
                                        </p:tgtEl>
                                        <p:attrNameLst>
                                          <p:attrName>style.visibility</p:attrName>
                                        </p:attrNameLst>
                                      </p:cBhvr>
                                      <p:to>
                                        <p:strVal val="visible"/>
                                      </p:to>
                                    </p:set>
                                    <p:animEffect transition="in" filter="fade">
                                      <p:cBhvr>
                                        <p:cTn id="33" dur="400"/>
                                        <p:tgtEl>
                                          <p:spTgt spid="12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2"/>
                                        </p:tgtEl>
                                        <p:attrNameLst>
                                          <p:attrName>style.visibility</p:attrName>
                                        </p:attrNameLst>
                                      </p:cBhvr>
                                      <p:to>
                                        <p:strVal val="visible"/>
                                      </p:to>
                                    </p:set>
                                    <p:animEffect transition="in" filter="fade">
                                      <p:cBhvr>
                                        <p:cTn id="36" dur="400"/>
                                        <p:tgtEl>
                                          <p:spTgt spid="1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0"/>
                                        </p:tgtEl>
                                        <p:attrNameLst>
                                          <p:attrName>style.visibility</p:attrName>
                                        </p:attrNameLst>
                                      </p:cBhvr>
                                      <p:to>
                                        <p:strVal val="visible"/>
                                      </p:to>
                                    </p:set>
                                    <p:animEffect transition="in" filter="fade">
                                      <p:cBhvr>
                                        <p:cTn id="41" dur="400"/>
                                        <p:tgtEl>
                                          <p:spTgt spid="1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3"/>
                                        </p:tgtEl>
                                        <p:attrNameLst>
                                          <p:attrName>style.visibility</p:attrName>
                                        </p:attrNameLst>
                                      </p:cBhvr>
                                      <p:to>
                                        <p:strVal val="visible"/>
                                      </p:to>
                                    </p:set>
                                    <p:animEffect transition="in" filter="fade">
                                      <p:cBhvr>
                                        <p:cTn id="44" dur="400"/>
                                        <p:tgtEl>
                                          <p:spTgt spid="1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31"/>
                                        </p:tgtEl>
                                        <p:attrNameLst>
                                          <p:attrName>style.visibility</p:attrName>
                                        </p:attrNameLst>
                                      </p:cBhvr>
                                      <p:to>
                                        <p:strVal val="visible"/>
                                      </p:to>
                                    </p:set>
                                    <p:animEffect transition="in" filter="fade">
                                      <p:cBhvr>
                                        <p:cTn id="49" dur="400"/>
                                        <p:tgtEl>
                                          <p:spTgt spid="1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4"/>
                                        </p:tgtEl>
                                        <p:attrNameLst>
                                          <p:attrName>style.visibility</p:attrName>
                                        </p:attrNameLst>
                                      </p:cBhvr>
                                      <p:to>
                                        <p:strVal val="visible"/>
                                      </p:to>
                                    </p:set>
                                    <p:animEffect transition="in" filter="fade">
                                      <p:cBhvr>
                                        <p:cTn id="52" dur="400"/>
                                        <p:tgtEl>
                                          <p:spTgt spid="12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2"/>
                                        </p:tgtEl>
                                        <p:attrNameLst>
                                          <p:attrName>style.visibility</p:attrName>
                                        </p:attrNameLst>
                                      </p:cBhvr>
                                      <p:to>
                                        <p:strVal val="visible"/>
                                      </p:to>
                                    </p:set>
                                    <p:animEffect transition="in" filter="fade">
                                      <p:cBhvr>
                                        <p:cTn id="57" dur="400"/>
                                        <p:tgtEl>
                                          <p:spTgt spid="1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25"/>
                                        </p:tgtEl>
                                        <p:attrNameLst>
                                          <p:attrName>style.visibility</p:attrName>
                                        </p:attrNameLst>
                                      </p:cBhvr>
                                      <p:to>
                                        <p:strVal val="visible"/>
                                      </p:to>
                                    </p:set>
                                    <p:animEffect transition="in" filter="fade">
                                      <p:cBhvr>
                                        <p:cTn id="60"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632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LINE BY LINE · 2</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Who Comes Back to Finish Each Method? (2/3)</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42</a:t>
            </a:r>
            <a:endParaRPr lang="en-US" sz="850" dirty="0"/>
          </a:p>
        </p:txBody>
      </p:sp>
      <p:grpSp>
        <p:nvGrpSpPr>
          <p:cNvPr id="119" name="code"/>
          <p:cNvGrpSpPr/>
          <p:nvPr/>
        </p:nvGrpSpPr>
        <p:grpSpPr>
          <a:xfrm>
            <a:off x="543154" y="1572768"/>
            <a:ext cx="4572000" cy="2815900"/>
            <a:chOff x="543154" y="1572768"/>
            <a:chExt cx="4572000" cy="2815900"/>
          </a:xfrm>
        </p:grpSpPr>
        <p:sp>
          <p:nvSpPr>
            <p:cNvPr id="101" name="code_win"/>
            <p:cNvSpPr/>
            <p:nvPr/>
          </p:nvSpPr>
          <p:spPr>
            <a:xfrm>
              <a:off x="543154" y="1572768"/>
              <a:ext cx="4572000" cy="2815900"/>
            </a:xfrm>
            <a:prstGeom prst="roundRect">
              <a:avLst>
                <a:gd name="adj" fmla="val 2434"/>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4572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45720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(console app)</a:t>
              </a:r>
              <a:endParaRPr lang="en-US" sz="950" dirty="0"/>
            </a:p>
          </p:txBody>
        </p:sp>
        <p:sp>
          <p:nvSpPr>
            <p:cNvPr id="108" name="code_L00"/>
            <p:cNvSpPr txBox="1"/>
            <p:nvPr/>
          </p:nvSpPr>
          <p:spPr>
            <a:xfrm>
              <a:off x="771754" y="204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"1"</a:t>
              </a:r>
              <a:r>
                <a:rPr lang="en-US" sz="980" b="0" dirty="0">
                  <a:solidFill>
                    <a:srgbClr val="E2E8F0"/>
                  </a:solidFill>
                  <a:latin typeface="Consolas"/>
                  <a:ea typeface="Consolas"/>
                  <a:cs typeface="Consolas"/>
                </a:rPr>
                <a:t>);</a:t>
              </a:r>
              <a:endParaRPr lang="en-US" sz="980" dirty="0"/>
            </a:p>
          </p:txBody>
        </p:sp>
        <p:sp>
          <p:nvSpPr>
            <p:cNvPr id="109" name="code_L01"/>
            <p:cNvSpPr txBox="1"/>
            <p:nvPr/>
          </p:nvSpPr>
          <p:spPr>
            <a:xfrm>
              <a:off x="771754" y="223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Task task = PrintAsync();</a:t>
              </a:r>
              <a:endParaRPr lang="en-US" sz="980" dirty="0"/>
            </a:p>
          </p:txBody>
        </p:sp>
        <p:sp>
          <p:nvSpPr>
            <p:cNvPr id="110" name="code_L02"/>
            <p:cNvSpPr txBox="1"/>
            <p:nvPr/>
          </p:nvSpPr>
          <p:spPr>
            <a:xfrm>
              <a:off x="771754" y="241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"3"</a:t>
              </a:r>
              <a:r>
                <a:rPr lang="en-US" sz="980" b="0" dirty="0">
                  <a:solidFill>
                    <a:srgbClr val="E2E8F0"/>
                  </a:solidFill>
                  <a:latin typeface="Consolas"/>
                  <a:ea typeface="Consolas"/>
                  <a:cs typeface="Consolas"/>
                </a:rPr>
                <a:t>);</a:t>
              </a:r>
              <a:endParaRPr lang="en-US" sz="980" dirty="0"/>
            </a:p>
          </p:txBody>
        </p:sp>
        <p:sp>
          <p:nvSpPr>
            <p:cNvPr id="111" name="code_L03"/>
            <p:cNvSpPr txBox="1"/>
            <p:nvPr/>
          </p:nvSpPr>
          <p:spPr>
            <a:xfrm>
              <a:off x="771754" y="260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60A5FA"/>
                  </a:solidFill>
                  <a:latin typeface="Consolas"/>
                  <a:ea typeface="Consolas"/>
                  <a:cs typeface="Consolas"/>
                </a:rPr>
                <a:t>await</a:t>
              </a:r>
              <a:r>
                <a:rPr lang="en-US" sz="980" b="0" dirty="0">
                  <a:solidFill>
                    <a:srgbClr val="E2E8F0"/>
                  </a:solidFill>
                  <a:latin typeface="Consolas"/>
                  <a:ea typeface="Consolas"/>
                  <a:cs typeface="Consolas"/>
                </a:rPr>
                <a:t> task;</a:t>
              </a:r>
              <a:endParaRPr lang="en-US" sz="980" dirty="0"/>
            </a:p>
          </p:txBody>
        </p:sp>
        <p:sp>
          <p:nvSpPr>
            <p:cNvPr id="112" name="code_L04"/>
            <p:cNvSpPr txBox="1"/>
            <p:nvPr/>
          </p:nvSpPr>
          <p:spPr>
            <a:xfrm>
              <a:off x="771754" y="278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"5"</a:t>
              </a:r>
              <a:r>
                <a:rPr lang="en-US" sz="980" b="0" dirty="0">
                  <a:solidFill>
                    <a:srgbClr val="E2E8F0"/>
                  </a:solidFill>
                  <a:latin typeface="Consolas"/>
                  <a:ea typeface="Consolas"/>
                  <a:cs typeface="Consolas"/>
                </a:rPr>
                <a:t>);</a:t>
              </a:r>
              <a:endParaRPr lang="en-US" sz="980" dirty="0"/>
            </a:p>
          </p:txBody>
        </p:sp>
        <p:sp>
          <p:nvSpPr>
            <p:cNvPr id="113" name="code_L06"/>
            <p:cNvSpPr txBox="1"/>
            <p:nvPr/>
          </p:nvSpPr>
          <p:spPr>
            <a:xfrm>
              <a:off x="771754" y="3158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60A5FA"/>
                  </a:solidFill>
                  <a:latin typeface="Consolas"/>
                  <a:ea typeface="Consolas"/>
                  <a:cs typeface="Consolas"/>
                </a:rPr>
                <a:t>async</a:t>
              </a:r>
              <a:r>
                <a:rPr lang="en-US" sz="980" b="0" dirty="0">
                  <a:solidFill>
                    <a:srgbClr val="E2E8F0"/>
                  </a:solidFill>
                  <a:latin typeface="Consolas"/>
                  <a:ea typeface="Consolas"/>
                  <a:cs typeface="Consolas"/>
                </a:rPr>
                <a:t> Task PrintAsync()</a:t>
              </a:r>
              <a:endParaRPr lang="en-US" sz="980" dirty="0"/>
            </a:p>
          </p:txBody>
        </p:sp>
        <p:sp>
          <p:nvSpPr>
            <p:cNvPr id="114" name="code_L07"/>
            <p:cNvSpPr txBox="1"/>
            <p:nvPr/>
          </p:nvSpPr>
          <p:spPr>
            <a:xfrm>
              <a:off x="771754" y="334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a:t>
              </a:r>
              <a:endParaRPr lang="en-US" sz="980" dirty="0"/>
            </a:p>
          </p:txBody>
        </p:sp>
        <p:sp>
          <p:nvSpPr>
            <p:cNvPr id="115" name="code_L08"/>
            <p:cNvSpPr txBox="1"/>
            <p:nvPr/>
          </p:nvSpPr>
          <p:spPr>
            <a:xfrm>
              <a:off x="771754" y="3528668"/>
              <a:ext cx="4272000" cy="18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"2"</a:t>
              </a:r>
              <a:r>
                <a:rPr lang="en-US" sz="980" b="0" dirty="0">
                  <a:solidFill>
                    <a:srgbClr val="E2E8F0"/>
                  </a:solidFill>
                  <a:latin typeface="Consolas"/>
                  <a:ea typeface="Consolas"/>
                  <a:cs typeface="Consolas"/>
                </a:rPr>
                <a:t>);</a:t>
              </a:r>
              <a:endParaRPr lang="en-US" sz="980" dirty="0"/>
            </a:p>
          </p:txBody>
        </p:sp>
        <p:sp>
          <p:nvSpPr>
            <p:cNvPr id="116" name="code_L09"/>
            <p:cNvSpPr txBox="1"/>
            <p:nvPr/>
          </p:nvSpPr>
          <p:spPr>
            <a:xfrm>
              <a:off x="771754" y="3713668"/>
              <a:ext cx="4272000" cy="18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80" b="0" dirty="0">
                  <a:solidFill>
                    <a:srgbClr val="60A5FA"/>
                  </a:solidFill>
                  <a:latin typeface="Consolas"/>
                  <a:ea typeface="Consolas"/>
                  <a:cs typeface="Consolas"/>
                </a:rPr>
                <a:t>await</a:t>
              </a:r>
              <a:r>
                <a:rPr lang="en-US" sz="980" b="0" dirty="0">
                  <a:solidFill>
                    <a:srgbClr val="E2E8F0"/>
                  </a:solidFill>
                  <a:latin typeface="Consolas"/>
                  <a:ea typeface="Consolas"/>
                  <a:cs typeface="Consolas"/>
                </a:rPr>
                <a:t> Task.Delay(100);</a:t>
              </a:r>
              <a:endParaRPr lang="en-US" sz="980" dirty="0"/>
            </a:p>
          </p:txBody>
        </p:sp>
        <p:sp>
          <p:nvSpPr>
            <p:cNvPr id="117" name="code_L10"/>
            <p:cNvSpPr txBox="1"/>
            <p:nvPr/>
          </p:nvSpPr>
          <p:spPr>
            <a:xfrm>
              <a:off x="771754" y="3898668"/>
              <a:ext cx="4272000" cy="18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80" b="0" dirty="0">
                  <a:solidFill>
                    <a:srgbClr val="E2E8F0"/>
                  </a:solidFill>
                  <a:latin typeface="Consolas"/>
                  <a:ea typeface="Consolas"/>
                  <a:cs typeface="Consolas"/>
                </a:rPr>
                <a:t>Console.WriteLine(</a:t>
              </a:r>
              <a:r>
                <a:rPr lang="en-US" sz="980" b="0" dirty="0">
                  <a:solidFill>
                    <a:srgbClr val="F0A98B"/>
                  </a:solidFill>
                  <a:latin typeface="Consolas"/>
                  <a:ea typeface="Consolas"/>
                  <a:cs typeface="Consolas"/>
                </a:rPr>
                <a:t>"4"</a:t>
              </a:r>
              <a:r>
                <a:rPr lang="en-US" sz="980" b="0" dirty="0">
                  <a:solidFill>
                    <a:srgbClr val="E2E8F0"/>
                  </a:solidFill>
                  <a:latin typeface="Consolas"/>
                  <a:ea typeface="Consolas"/>
                  <a:cs typeface="Consolas"/>
                </a:rPr>
                <a:t>);</a:t>
              </a:r>
              <a:endParaRPr lang="en-US" sz="980" dirty="0"/>
            </a:p>
          </p:txBody>
        </p:sp>
        <p:sp>
          <p:nvSpPr>
            <p:cNvPr id="118" name="code_L11"/>
            <p:cNvSpPr txBox="1"/>
            <p:nvPr/>
          </p:nvSpPr>
          <p:spPr>
            <a:xfrm>
              <a:off x="771754" y="4083668"/>
              <a:ext cx="42720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80" b="0" dirty="0">
                  <a:solidFill>
                    <a:srgbClr val="E2E8F0"/>
                  </a:solidFill>
                  <a:latin typeface="Consolas"/>
                  <a:ea typeface="Consolas"/>
                  <a:cs typeface="Consolas"/>
                </a:rPr>
                <a:t>}</a:t>
              </a:r>
              <a:endParaRPr lang="en-US" sz="980" dirty="0"/>
            </a:p>
          </p:txBody>
        </p:sp>
      </p:grpSp>
      <p:sp>
        <p:nvSpPr>
          <p:cNvPr id="120" name="h0"/>
          <p:cNvSpPr/>
          <p:nvPr/>
        </p:nvSpPr>
        <p:spPr>
          <a:xfrm>
            <a:off x="676656" y="3695380"/>
            <a:ext cx="4305000" cy="221576"/>
          </a:xfrm>
          <a:prstGeom prst="rect">
            <a:avLst/>
          </a:prstGeom>
          <a:solidFill>
            <a:srgbClr val="A78BFA">
              <a:alpha val="15000"/>
            </a:srgbClr>
          </a:solidFill>
          <a:ln w="12700">
            <a:solidFill>
              <a:srgbClr val="A78BFA"/>
            </a:solidFill>
            <a:prstDash val="solid"/>
          </a:ln>
        </p:spPr>
        <p:txBody>
          <a:bodyPr/>
          <a:lstStyle/>
          <a:p>
            <a:endParaRPr lang="en-US"/>
          </a:p>
        </p:txBody>
      </p:sp>
      <p:sp>
        <p:nvSpPr>
          <p:cNvPr id="121" name="h1"/>
          <p:cNvSpPr/>
          <p:nvPr/>
        </p:nvSpPr>
        <p:spPr>
          <a:xfrm>
            <a:off x="676656" y="3880380"/>
            <a:ext cx="4305000" cy="221576"/>
          </a:xfrm>
          <a:prstGeom prst="rect">
            <a:avLst/>
          </a:prstGeom>
          <a:solidFill>
            <a:srgbClr val="A78BFA">
              <a:alpha val="15000"/>
            </a:srgbClr>
          </a:solidFill>
          <a:ln w="12700">
            <a:solidFill>
              <a:srgbClr val="A78BFA"/>
            </a:solidFill>
            <a:prstDash val="solid"/>
          </a:ln>
        </p:spPr>
        <p:txBody>
          <a:bodyPr/>
          <a:lstStyle/>
          <a:p>
            <a:endParaRPr lang="en-US"/>
          </a:p>
        </p:txBody>
      </p:sp>
      <p:sp>
        <p:nvSpPr>
          <p:cNvPr id="122" name="h2"/>
          <p:cNvSpPr/>
          <p:nvPr/>
        </p:nvSpPr>
        <p:spPr>
          <a:xfrm>
            <a:off x="676656" y="4065380"/>
            <a:ext cx="4305000" cy="221576"/>
          </a:xfrm>
          <a:prstGeom prst="rect">
            <a:avLst/>
          </a:prstGeom>
          <a:solidFill>
            <a:srgbClr val="A78BFA">
              <a:alpha val="15000"/>
            </a:srgbClr>
          </a:solidFill>
          <a:ln w="12700">
            <a:solidFill>
              <a:srgbClr val="A78BFA"/>
            </a:solidFill>
            <a:prstDash val="solid"/>
          </a:ln>
        </p:spPr>
        <p:txBody>
          <a:bodyPr/>
          <a:lstStyle/>
          <a:p>
            <a:endParaRPr lang="en-US"/>
          </a:p>
        </p:txBody>
      </p:sp>
      <p:sp>
        <p:nvSpPr>
          <p:cNvPr id="123" name="h3"/>
          <p:cNvSpPr/>
          <p:nvPr/>
        </p:nvSpPr>
        <p:spPr>
          <a:xfrm>
            <a:off x="676656" y="2585380"/>
            <a:ext cx="4305000" cy="221576"/>
          </a:xfrm>
          <a:prstGeom prst="rect">
            <a:avLst/>
          </a:prstGeom>
          <a:solidFill>
            <a:srgbClr val="A78BFA">
              <a:alpha val="15000"/>
            </a:srgbClr>
          </a:solidFill>
          <a:ln w="12700">
            <a:solidFill>
              <a:srgbClr val="A78BFA"/>
            </a:solidFill>
            <a:prstDash val="solid"/>
          </a:ln>
        </p:spPr>
        <p:txBody>
          <a:bodyPr/>
          <a:lstStyle/>
          <a:p>
            <a:endParaRPr lang="en-US"/>
          </a:p>
        </p:txBody>
      </p:sp>
      <p:sp>
        <p:nvSpPr>
          <p:cNvPr id="124" name="h4"/>
          <p:cNvSpPr/>
          <p:nvPr/>
        </p:nvSpPr>
        <p:spPr>
          <a:xfrm>
            <a:off x="676656" y="2770380"/>
            <a:ext cx="4305000" cy="221576"/>
          </a:xfrm>
          <a:prstGeom prst="rect">
            <a:avLst/>
          </a:prstGeom>
          <a:solidFill>
            <a:srgbClr val="A78BFA">
              <a:alpha val="15000"/>
            </a:srgbClr>
          </a:solidFill>
          <a:ln w="12700">
            <a:solidFill>
              <a:srgbClr val="A78BFA"/>
            </a:solidFill>
            <a:prstDash val="solid"/>
          </a:ln>
        </p:spPr>
        <p:txBody>
          <a:bodyPr/>
          <a:lstStyle/>
          <a:p>
            <a:endParaRPr lang="en-US"/>
          </a:p>
        </p:txBody>
      </p:sp>
      <p:sp>
        <p:nvSpPr>
          <p:cNvPr id="125" name="lg"/>
          <p:cNvSpPr/>
          <p:nvPr/>
        </p:nvSpPr>
        <p:spPr>
          <a:xfrm>
            <a:off x="543154" y="4434840"/>
            <a:ext cx="4572000" cy="1325880"/>
          </a:xfrm>
          <a:prstGeom prst="roundRect">
            <a:avLst>
              <a:gd name="adj" fmla="val 12000"/>
            </a:avLst>
          </a:prstGeom>
          <a:solidFill>
            <a:srgbClr val="111B2E"/>
          </a:solidFill>
          <a:ln w="12700">
            <a:solidFill>
              <a:srgbClr val="FBBF24"/>
            </a:solidFill>
            <a:prstDash val="solid"/>
          </a:ln>
        </p:spPr>
        <p:txBody>
          <a:bodyPr wrap="square" lIns="182880" tIns="45720" rIns="91440" bIns="4572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TWO METHODS ARE PAUSED</a:t>
            </a:r>
            <a:endParaRPr lang="en-US" sz="1050" dirty="0"/>
          </a:p>
          <a:p>
            <a:pPr marL="0" indent="0" algn="l">
              <a:spcBef>
                <a:spcPts val="0"/>
              </a:spcBef>
              <a:spcAft>
                <a:spcPts val="0"/>
              </a:spcAft>
              <a:buNone/>
            </a:pPr>
            <a:r>
              <a:rPr lang="en-US" sz="1050" b="1" dirty="0">
                <a:solidFill>
                  <a:srgbClr val="E2E8F0"/>
                </a:solidFill>
                <a:latin typeface="Consolas"/>
                <a:ea typeface="Consolas"/>
                <a:cs typeface="Consolas"/>
              </a:rPr>
              <a:t>PrintAsync</a:t>
            </a:r>
            <a:r>
              <a:rPr lang="en-US" sz="1000" b="0" dirty="0">
                <a:solidFill>
                  <a:srgbClr val="CBD5E1"/>
                </a:solidFill>
                <a:latin typeface="Segoe UI"/>
                <a:ea typeface="Segoe UI"/>
                <a:cs typeface="Segoe UI"/>
              </a:rPr>
              <a:t>  at await Task.Delay(100)</a:t>
            </a:r>
            <a:endParaRPr lang="en-US" sz="1050" dirty="0"/>
          </a:p>
          <a:p>
            <a:pPr marL="0" indent="0" algn="l">
              <a:spcBef>
                <a:spcPts val="0"/>
              </a:spcBef>
              <a:spcAft>
                <a:spcPts val="0"/>
              </a:spcAft>
              <a:buNone/>
            </a:pPr>
            <a:r>
              <a:rPr lang="en-US" sz="1050" b="1" dirty="0">
                <a:solidFill>
                  <a:srgbClr val="E2E8F0"/>
                </a:solidFill>
                <a:latin typeface="Consolas"/>
                <a:ea typeface="Consolas"/>
                <a:cs typeface="Consolas"/>
              </a:rPr>
              <a:t>Main      </a:t>
            </a:r>
            <a:r>
              <a:rPr lang="en-US" sz="1000" b="0" dirty="0">
                <a:solidFill>
                  <a:srgbClr val="CBD5E1"/>
                </a:solidFill>
                <a:latin typeface="Segoe UI"/>
                <a:ea typeface="Segoe UI"/>
                <a:cs typeface="Segoe UI"/>
              </a:rPr>
              <a:t>  at await task</a:t>
            </a:r>
            <a:endParaRPr lang="en-US" sz="1050" dirty="0"/>
          </a:p>
          <a:p>
            <a:pPr marL="0" indent="0" algn="l">
              <a:spcBef>
                <a:spcPts val="0"/>
              </a:spcBef>
              <a:spcAft>
                <a:spcPts val="0"/>
              </a:spcAft>
              <a:buNone/>
            </a:pPr>
            <a:r>
              <a:rPr lang="en-US" sz="1000" b="1" dirty="0">
                <a:solidFill>
                  <a:srgbClr val="FBBF24"/>
                </a:solidFill>
                <a:latin typeface="Segoe UI"/>
                <a:ea typeface="Segoe UI"/>
                <a:cs typeface="Segoe UI"/>
              </a:rPr>
              <a:t>T1 is blocked, so it cannot resume either one.</a:t>
            </a:r>
            <a:endParaRPr lang="en-US" sz="1000" dirty="0"/>
          </a:p>
        </p:txBody>
      </p:sp>
      <p:sp>
        <p:nvSpPr>
          <p:cNvPr id="126" name="s0"/>
          <p:cNvSpPr/>
          <p:nvPr/>
        </p:nvSpPr>
        <p:spPr>
          <a:xfrm>
            <a:off x="5349240" y="1572768"/>
            <a:ext cx="6281014" cy="640080"/>
          </a:xfrm>
          <a:prstGeom prst="roundRect">
            <a:avLst>
              <a:gd name="adj" fmla="val 12000"/>
            </a:avLst>
          </a:prstGeom>
          <a:solidFill>
            <a:srgbClr val="111B2E"/>
          </a:solidFill>
          <a:ln w="12700">
            <a:solidFill>
              <a:srgbClr val="F87171"/>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7  </a:t>
            </a:r>
            <a:r>
              <a:rPr lang="en-US" sz="1000" b="1" dirty="0">
                <a:solidFill>
                  <a:srgbClr val="F87171"/>
                </a:solidFill>
                <a:latin typeface="Consolas"/>
                <a:ea typeface="Consolas"/>
                <a:cs typeface="Consolas"/>
              </a:rPr>
              <a:t> ⏱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100 ms later: the timer fires</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No thread was waiting for it. No SynchronizationContext → the rest of PrintAsync is queued to the ThreadPool.</a:t>
            </a:r>
            <a:endParaRPr lang="en-US" sz="1000" dirty="0"/>
          </a:p>
        </p:txBody>
      </p:sp>
      <p:sp>
        <p:nvSpPr>
          <p:cNvPr id="127" name="s1"/>
          <p:cNvSpPr/>
          <p:nvPr/>
        </p:nvSpPr>
        <p:spPr>
          <a:xfrm>
            <a:off x="5349240" y="2267712"/>
            <a:ext cx="6281014" cy="640080"/>
          </a:xfrm>
          <a:prstGeom prst="roundRect">
            <a:avLst>
              <a:gd name="adj" fmla="val 12000"/>
            </a:avLst>
          </a:prstGeom>
          <a:solidFill>
            <a:srgbClr val="111B2E"/>
          </a:solidFill>
          <a:ln w="12700">
            <a:solidFill>
              <a:srgbClr val="A78BFA"/>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A78BFA"/>
                </a:solidFill>
                <a:latin typeface="Segoe UI"/>
                <a:ea typeface="Segoe UI"/>
                <a:cs typeface="Segoe UI"/>
              </a:rPr>
              <a:t>8  </a:t>
            </a:r>
            <a:r>
              <a:rPr lang="en-US" sz="1000" b="1" dirty="0">
                <a:solidFill>
                  <a:srgbClr val="A78BFA"/>
                </a:solidFill>
                <a:latin typeface="Consolas"/>
                <a:ea typeface="Consolas"/>
                <a:cs typeface="Consolas"/>
              </a:rPr>
              <a:t> T5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PrintAsync resumes after its await</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A free ThreadPool thread, T5, picks it up. Not T1: T1 is blocked.</a:t>
            </a:r>
            <a:endParaRPr lang="en-US" sz="1000" dirty="0"/>
          </a:p>
        </p:txBody>
      </p:sp>
      <p:sp>
        <p:nvSpPr>
          <p:cNvPr id="128" name="s2"/>
          <p:cNvSpPr/>
          <p:nvPr/>
        </p:nvSpPr>
        <p:spPr>
          <a:xfrm>
            <a:off x="5349240" y="2962656"/>
            <a:ext cx="6281014" cy="640080"/>
          </a:xfrm>
          <a:prstGeom prst="roundRect">
            <a:avLst>
              <a:gd name="adj" fmla="val 12000"/>
            </a:avLst>
          </a:prstGeom>
          <a:solidFill>
            <a:srgbClr val="111B2E"/>
          </a:solidFill>
          <a:ln w="12700">
            <a:solidFill>
              <a:srgbClr val="A78BFA"/>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A78BFA"/>
                </a:solidFill>
                <a:latin typeface="Segoe UI"/>
                <a:ea typeface="Segoe UI"/>
                <a:cs typeface="Segoe UI"/>
              </a:rPr>
              <a:t>9  </a:t>
            </a:r>
            <a:r>
              <a:rPr lang="en-US" sz="1000" b="1" dirty="0">
                <a:solidFill>
                  <a:srgbClr val="A78BFA"/>
                </a:solidFill>
                <a:latin typeface="Consolas"/>
                <a:ea typeface="Consolas"/>
                <a:cs typeface="Consolas"/>
              </a:rPr>
              <a:t> T5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Console.WriteLine("4");</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T5 prints 4.</a:t>
            </a:r>
            <a:endParaRPr lang="en-US" sz="1000" dirty="0"/>
          </a:p>
        </p:txBody>
      </p:sp>
      <p:sp>
        <p:nvSpPr>
          <p:cNvPr id="129" name="s3"/>
          <p:cNvSpPr/>
          <p:nvPr/>
        </p:nvSpPr>
        <p:spPr>
          <a:xfrm>
            <a:off x="5349240" y="3657600"/>
            <a:ext cx="6281014" cy="640080"/>
          </a:xfrm>
          <a:prstGeom prst="roundRect">
            <a:avLst>
              <a:gd name="adj" fmla="val 12000"/>
            </a:avLst>
          </a:prstGeom>
          <a:solidFill>
            <a:srgbClr val="111B2E"/>
          </a:solidFill>
          <a:ln w="12700">
            <a:solidFill>
              <a:srgbClr val="A78BFA"/>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A78BFA"/>
                </a:solidFill>
                <a:latin typeface="Segoe UI"/>
                <a:ea typeface="Segoe UI"/>
                <a:cs typeface="Segoe UI"/>
              </a:rPr>
              <a:t>10  </a:t>
            </a:r>
            <a:r>
              <a:rPr lang="en-US" sz="1000" b="1" dirty="0">
                <a:solidFill>
                  <a:srgbClr val="A78BFA"/>
                </a:solidFill>
                <a:latin typeface="Consolas"/>
                <a:ea typeface="Consolas"/>
                <a:cs typeface="Consolas"/>
              </a:rPr>
              <a:t> T5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  end of PrintAsync</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"task" is now completed, and Main was waiting for it…</a:t>
            </a:r>
            <a:endParaRPr lang="en-US" sz="1000" dirty="0"/>
          </a:p>
        </p:txBody>
      </p:sp>
      <p:sp>
        <p:nvSpPr>
          <p:cNvPr id="130" name="s4"/>
          <p:cNvSpPr/>
          <p:nvPr/>
        </p:nvSpPr>
        <p:spPr>
          <a:xfrm>
            <a:off x="5349240" y="4352544"/>
            <a:ext cx="6281014" cy="640080"/>
          </a:xfrm>
          <a:prstGeom prst="roundRect">
            <a:avLst>
              <a:gd name="adj" fmla="val 12000"/>
            </a:avLst>
          </a:prstGeom>
          <a:solidFill>
            <a:srgbClr val="111B2E"/>
          </a:solidFill>
          <a:ln w="12700">
            <a:solidFill>
              <a:srgbClr val="A78BFA"/>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A78BFA"/>
                </a:solidFill>
                <a:latin typeface="Segoe UI"/>
                <a:ea typeface="Segoe UI"/>
                <a:cs typeface="Segoe UI"/>
              </a:rPr>
              <a:t>11  </a:t>
            </a:r>
            <a:r>
              <a:rPr lang="en-US" sz="1000" b="1" dirty="0">
                <a:solidFill>
                  <a:srgbClr val="A78BFA"/>
                </a:solidFill>
                <a:latin typeface="Consolas"/>
                <a:ea typeface="Consolas"/>
                <a:cs typeface="Consolas"/>
              </a:rPr>
              <a:t> T5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Main resumes: Console.WriteLine("5");</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…so the rest of Main runs right away on the SAME T5: prints 5.</a:t>
            </a:r>
            <a:endParaRPr lang="en-US" sz="1000" dirty="0"/>
          </a:p>
        </p:txBody>
      </p:sp>
      <p:sp>
        <p:nvSpPr>
          <p:cNvPr id="131" name="s5"/>
          <p:cNvSpPr/>
          <p:nvPr/>
        </p:nvSpPr>
        <p:spPr>
          <a:xfrm>
            <a:off x="5349240" y="5047488"/>
            <a:ext cx="6281014" cy="64008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12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Main's Task completes</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T1 wakes up, the hidden Main returns, the process exits.</a:t>
            </a:r>
            <a:endParaRPr lang="en-US" sz="1000" dirty="0"/>
          </a:p>
        </p:txBody>
      </p:sp>
    </p:spTree>
    <p:extLst>
      <p:ext uri="{BB962C8B-B14F-4D97-AF65-F5344CB8AC3E}">
        <p14:creationId xmlns:p14="http://schemas.microsoft.com/office/powerpoint/2010/main" val="504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4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fade">
                                      <p:cBhvr>
                                        <p:cTn id="12" dur="400"/>
                                        <p:tgtEl>
                                          <p:spTgt spid="1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6"/>
                                        </p:tgtEl>
                                        <p:attrNameLst>
                                          <p:attrName>style.visibility</p:attrName>
                                        </p:attrNameLst>
                                      </p:cBhvr>
                                      <p:to>
                                        <p:strVal val="visible"/>
                                      </p:to>
                                    </p:set>
                                    <p:animEffect transition="in" filter="fade">
                                      <p:cBhvr>
                                        <p:cTn id="17" dur="400"/>
                                        <p:tgtEl>
                                          <p:spTgt spid="1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400"/>
                                        <p:tgtEl>
                                          <p:spTgt spid="1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0"/>
                                        </p:tgtEl>
                                        <p:attrNameLst>
                                          <p:attrName>style.visibility</p:attrName>
                                        </p:attrNameLst>
                                      </p:cBhvr>
                                      <p:to>
                                        <p:strVal val="visible"/>
                                      </p:to>
                                    </p:set>
                                    <p:animEffect transition="in" filter="fade">
                                      <p:cBhvr>
                                        <p:cTn id="25" dur="400"/>
                                        <p:tgtEl>
                                          <p:spTgt spid="1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8"/>
                                        </p:tgtEl>
                                        <p:attrNameLst>
                                          <p:attrName>style.visibility</p:attrName>
                                        </p:attrNameLst>
                                      </p:cBhvr>
                                      <p:to>
                                        <p:strVal val="visible"/>
                                      </p:to>
                                    </p:set>
                                    <p:animEffect transition="in" filter="fade">
                                      <p:cBhvr>
                                        <p:cTn id="30" dur="400"/>
                                        <p:tgtEl>
                                          <p:spTgt spid="1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fade">
                                      <p:cBhvr>
                                        <p:cTn id="33" dur="400"/>
                                        <p:tgtEl>
                                          <p:spTgt spid="1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9"/>
                                        </p:tgtEl>
                                        <p:attrNameLst>
                                          <p:attrName>style.visibility</p:attrName>
                                        </p:attrNameLst>
                                      </p:cBhvr>
                                      <p:to>
                                        <p:strVal val="visible"/>
                                      </p:to>
                                    </p:set>
                                    <p:animEffect transition="in" filter="fade">
                                      <p:cBhvr>
                                        <p:cTn id="38" dur="400"/>
                                        <p:tgtEl>
                                          <p:spTgt spid="12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2"/>
                                        </p:tgtEl>
                                        <p:attrNameLst>
                                          <p:attrName>style.visibility</p:attrName>
                                        </p:attrNameLst>
                                      </p:cBhvr>
                                      <p:to>
                                        <p:strVal val="visible"/>
                                      </p:to>
                                    </p:set>
                                    <p:animEffect transition="in" filter="fade">
                                      <p:cBhvr>
                                        <p:cTn id="41" dur="400"/>
                                        <p:tgtEl>
                                          <p:spTgt spid="1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30"/>
                                        </p:tgtEl>
                                        <p:attrNameLst>
                                          <p:attrName>style.visibility</p:attrName>
                                        </p:attrNameLst>
                                      </p:cBhvr>
                                      <p:to>
                                        <p:strVal val="visible"/>
                                      </p:to>
                                    </p:set>
                                    <p:animEffect transition="in" filter="fade">
                                      <p:cBhvr>
                                        <p:cTn id="46" dur="400"/>
                                        <p:tgtEl>
                                          <p:spTgt spid="1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fade">
                                      <p:cBhvr>
                                        <p:cTn id="49" dur="400"/>
                                        <p:tgtEl>
                                          <p:spTgt spid="1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4"/>
                                        </p:tgtEl>
                                        <p:attrNameLst>
                                          <p:attrName>style.visibility</p:attrName>
                                        </p:attrNameLst>
                                      </p:cBhvr>
                                      <p:to>
                                        <p:strVal val="visible"/>
                                      </p:to>
                                    </p:set>
                                    <p:animEffect transition="in" filter="fade">
                                      <p:cBhvr>
                                        <p:cTn id="52" dur="400"/>
                                        <p:tgtEl>
                                          <p:spTgt spid="12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1"/>
                                        </p:tgtEl>
                                        <p:attrNameLst>
                                          <p:attrName>style.visibility</p:attrName>
                                        </p:attrNameLst>
                                      </p:cBhvr>
                                      <p:to>
                                        <p:strVal val="visible"/>
                                      </p:to>
                                    </p:set>
                                    <p:animEffect transition="in" filter="fade">
                                      <p:cBhvr>
                                        <p:cTn id="57" dur="4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632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NO await: WRONG?</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Is Skipping await Always Wrong? Ignore vs Track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45</a:t>
            </a:r>
            <a:endParaRPr lang="en-US" sz="850" dirty="0"/>
          </a:p>
        </p:txBody>
      </p:sp>
      <p:sp>
        <p:nvSpPr>
          <p:cNvPr id="101" name="l1"/>
          <p:cNvSpPr txBox="1"/>
          <p:nvPr/>
        </p:nvSpPr>
        <p:spPr>
          <a:xfrm>
            <a:off x="543154" y="1463040"/>
            <a:ext cx="54406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87171"/>
                </a:solidFill>
                <a:latin typeface="Segoe UI"/>
                <a:ea typeface="Segoe UI"/>
                <a:cs typeface="Segoe UI"/>
              </a:rPr>
              <a:t>SCENARIO 1 · IGNORE THE TASK</a:t>
            </a:r>
            <a:endParaRPr lang="en-US" sz="1100" dirty="0"/>
          </a:p>
        </p:txBody>
      </p:sp>
      <p:sp>
        <p:nvSpPr>
          <p:cNvPr id="102" name="l2"/>
          <p:cNvSpPr txBox="1"/>
          <p:nvPr/>
        </p:nvSpPr>
        <p:spPr>
          <a:xfrm>
            <a:off x="6189574" y="1463040"/>
            <a:ext cx="54406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SCENARIO 2 · START NOW, AWAIT LATER</a:t>
            </a:r>
            <a:endParaRPr lang="en-US" sz="1100" dirty="0"/>
          </a:p>
        </p:txBody>
      </p:sp>
      <p:grpSp>
        <p:nvGrpSpPr>
          <p:cNvPr id="114" name="dont"/>
          <p:cNvGrpSpPr/>
          <p:nvPr/>
        </p:nvGrpSpPr>
        <p:grpSpPr>
          <a:xfrm>
            <a:off x="543154" y="1755648"/>
            <a:ext cx="5440680" cy="1600200"/>
            <a:chOff x="543154" y="1755648"/>
            <a:chExt cx="5440680" cy="1600200"/>
          </a:xfrm>
        </p:grpSpPr>
        <p:sp>
          <p:nvSpPr>
            <p:cNvPr id="103" name="dont_win"/>
            <p:cNvSpPr/>
            <p:nvPr/>
          </p:nvSpPr>
          <p:spPr>
            <a:xfrm>
              <a:off x="543154" y="1755648"/>
              <a:ext cx="5440680" cy="1600200"/>
            </a:xfrm>
            <a:prstGeom prst="roundRect">
              <a:avLst>
                <a:gd name="adj" fmla="val 4284"/>
              </a:avLst>
            </a:prstGeom>
            <a:solidFill>
              <a:srgbClr val="060D18"/>
            </a:solidFill>
            <a:ln w="12700">
              <a:solidFill>
                <a:srgbClr val="1E3A5F"/>
              </a:solidFill>
              <a:prstDash val="solid"/>
            </a:ln>
          </p:spPr>
          <p:txBody>
            <a:bodyPr/>
            <a:lstStyle/>
            <a:p>
              <a:endParaRPr lang="en-US"/>
            </a:p>
          </p:txBody>
        </p:sp>
        <p:sp>
          <p:nvSpPr>
            <p:cNvPr id="104" name="dont_bar"/>
            <p:cNvSpPr/>
            <p:nvPr/>
          </p:nvSpPr>
          <p:spPr>
            <a:xfrm>
              <a:off x="543154" y="175564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dont_barfill"/>
            <p:cNvSpPr/>
            <p:nvPr/>
          </p:nvSpPr>
          <p:spPr>
            <a:xfrm>
              <a:off x="543154" y="1927098"/>
              <a:ext cx="5440680" cy="171450"/>
            </a:xfrm>
            <a:prstGeom prst="rect">
              <a:avLst/>
            </a:prstGeom>
            <a:solidFill>
              <a:srgbClr val="0A1220"/>
            </a:solidFill>
            <a:ln w="12700">
              <a:solidFill>
                <a:srgbClr val="0A1220"/>
              </a:solidFill>
              <a:prstDash val="solid"/>
            </a:ln>
          </p:spPr>
          <p:txBody>
            <a:bodyPr/>
            <a:lstStyle/>
            <a:p>
              <a:endParaRPr lang="en-US"/>
            </a:p>
          </p:txBody>
        </p:sp>
        <p:sp>
          <p:nvSpPr>
            <p:cNvPr id="106" name="dont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dont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dont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dont_tab"/>
            <p:cNvSpPr/>
            <p:nvPr/>
          </p:nvSpPr>
          <p:spPr>
            <a:xfrm>
              <a:off x="1324051" y="180319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Orders.cs</a:t>
              </a:r>
              <a:endParaRPr lang="en-US" sz="950" dirty="0"/>
            </a:p>
          </p:txBody>
        </p:sp>
        <p:sp>
          <p:nvSpPr>
            <p:cNvPr id="110" name="dont_lbl"/>
            <p:cNvSpPr/>
            <p:nvPr/>
          </p:nvSpPr>
          <p:spPr>
            <a:xfrm>
              <a:off x="4657954" y="181965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11" name="dont_L00"/>
            <p:cNvSpPr txBox="1"/>
            <p:nvPr/>
          </p:nvSpPr>
          <p:spPr>
            <a:xfrm>
              <a:off x="771754" y="2231548"/>
              <a:ext cx="514068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SendEmailAsync();                   </a:t>
              </a:r>
              <a:r>
                <a:rPr lang="en-US" sz="900" b="0" dirty="0">
                  <a:solidFill>
                    <a:srgbClr val="6FAE7A"/>
                  </a:solidFill>
                  <a:latin typeface="Consolas"/>
                  <a:ea typeface="Consolas"/>
                  <a:cs typeface="Consolas"/>
                </a:rPr>
                <a:t>// the Task is ignored</a:t>
              </a:r>
              <a:endParaRPr lang="en-US" sz="900" dirty="0"/>
            </a:p>
          </p:txBody>
        </p:sp>
        <p:sp>
          <p:nvSpPr>
            <p:cNvPr id="112" name="dont_L02"/>
            <p:cNvSpPr txBox="1"/>
            <p:nvPr/>
          </p:nvSpPr>
          <p:spPr>
            <a:xfrm>
              <a:off x="771754" y="2581548"/>
              <a:ext cx="514068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a:t>
              </a:r>
              <a:r>
                <a:rPr lang="en-US" sz="900" b="0" dirty="0">
                  <a:solidFill>
                    <a:srgbClr val="F0A98B"/>
                  </a:solidFill>
                  <a:latin typeface="Consolas"/>
                  <a:ea typeface="Consolas"/>
                  <a:cs typeface="Consolas"/>
                </a:rPr>
                <a:t>"Email sent!"</a:t>
              </a:r>
              <a:r>
                <a:rPr lang="en-US" sz="900" b="0" dirty="0">
                  <a:solidFill>
                    <a:srgbClr val="E2E8F0"/>
                  </a:solidFill>
                  <a:latin typeface="Consolas"/>
                  <a:ea typeface="Consolas"/>
                  <a:cs typeface="Consolas"/>
                </a:rPr>
                <a:t>);   </a:t>
              </a:r>
              <a:r>
                <a:rPr lang="en-US" sz="900" b="0" dirty="0">
                  <a:solidFill>
                    <a:srgbClr val="6FAE7A"/>
                  </a:solidFill>
                  <a:latin typeface="Consolas"/>
                  <a:ea typeface="Consolas"/>
                  <a:cs typeface="Consolas"/>
                </a:rPr>
                <a:t>// not true yet,</a:t>
              </a:r>
              <a:endParaRPr lang="en-US" sz="900" dirty="0"/>
            </a:p>
          </p:txBody>
        </p:sp>
        <p:sp>
          <p:nvSpPr>
            <p:cNvPr id="113" name="dont_L03"/>
            <p:cNvSpPr txBox="1"/>
            <p:nvPr/>
          </p:nvSpPr>
          <p:spPr>
            <a:xfrm>
              <a:off x="771754" y="2756548"/>
              <a:ext cx="5140680" cy="175000"/>
            </a:xfrm>
            <a:prstGeom prst="rect">
              <a:avLst/>
            </a:prstGeom>
            <a:noFill/>
            <a:ln>
              <a:noFill/>
            </a:ln>
          </p:spPr>
          <p:txBody>
            <a:bodyPr wrap="none" lIns="0" tIns="0" rIns="0" bIns="0" rtlCol="0" anchor="ctr">
              <a:noAutofit/>
            </a:bodyPr>
            <a:lstStyle/>
            <a:p>
              <a:pPr marL="2388870" indent="0" algn="l">
                <a:spcBef>
                  <a:spcPts val="0"/>
                </a:spcBef>
                <a:spcAft>
                  <a:spcPts val="0"/>
                </a:spcAft>
                <a:buNone/>
              </a:pPr>
              <a:r>
                <a:rPr lang="en-US" sz="900" b="0" dirty="0">
                  <a:solidFill>
                    <a:srgbClr val="6FAE7A"/>
                  </a:solidFill>
                  <a:latin typeface="Consolas"/>
                  <a:ea typeface="Consolas"/>
                  <a:cs typeface="Consolas"/>
                </a:rPr>
                <a:t>// and maybe it failed</a:t>
              </a:r>
              <a:endParaRPr lang="en-US" sz="900" dirty="0"/>
            </a:p>
          </p:txBody>
        </p:sp>
      </p:grpSp>
      <p:sp>
        <p:nvSpPr>
          <p:cNvPr id="115" name="dont_hl2"/>
          <p:cNvSpPr/>
          <p:nvPr/>
        </p:nvSpPr>
        <p:spPr>
          <a:xfrm>
            <a:off x="676656" y="2563260"/>
            <a:ext cx="5173680" cy="211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27" name="do"/>
          <p:cNvGrpSpPr/>
          <p:nvPr/>
        </p:nvGrpSpPr>
        <p:grpSpPr>
          <a:xfrm>
            <a:off x="6189574" y="1755648"/>
            <a:ext cx="5440680" cy="1600200"/>
            <a:chOff x="6189574" y="1755648"/>
            <a:chExt cx="5440680" cy="1600200"/>
          </a:xfrm>
        </p:grpSpPr>
        <p:sp>
          <p:nvSpPr>
            <p:cNvPr id="116" name="do_win"/>
            <p:cNvSpPr/>
            <p:nvPr/>
          </p:nvSpPr>
          <p:spPr>
            <a:xfrm>
              <a:off x="6189574" y="1755648"/>
              <a:ext cx="5440680" cy="1600200"/>
            </a:xfrm>
            <a:prstGeom prst="roundRect">
              <a:avLst>
                <a:gd name="adj" fmla="val 4284"/>
              </a:avLst>
            </a:prstGeom>
            <a:solidFill>
              <a:srgbClr val="060D18"/>
            </a:solidFill>
            <a:ln w="12700">
              <a:solidFill>
                <a:srgbClr val="1E3A5F"/>
              </a:solidFill>
              <a:prstDash val="solid"/>
            </a:ln>
          </p:spPr>
          <p:txBody>
            <a:bodyPr/>
            <a:lstStyle/>
            <a:p>
              <a:endParaRPr lang="en-US"/>
            </a:p>
          </p:txBody>
        </p:sp>
        <p:sp>
          <p:nvSpPr>
            <p:cNvPr id="117" name="do_bar"/>
            <p:cNvSpPr/>
            <p:nvPr/>
          </p:nvSpPr>
          <p:spPr>
            <a:xfrm>
              <a:off x="6189574" y="175564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8" name="do_barfill"/>
            <p:cNvSpPr/>
            <p:nvPr/>
          </p:nvSpPr>
          <p:spPr>
            <a:xfrm>
              <a:off x="6189574" y="1927098"/>
              <a:ext cx="5440680" cy="171450"/>
            </a:xfrm>
            <a:prstGeom prst="rect">
              <a:avLst/>
            </a:prstGeom>
            <a:solidFill>
              <a:srgbClr val="0A1220"/>
            </a:solidFill>
            <a:ln w="12700">
              <a:solidFill>
                <a:srgbClr val="0A1220"/>
              </a:solidFill>
              <a:prstDash val="solid"/>
            </a:ln>
          </p:spPr>
          <p:txBody>
            <a:bodyPr/>
            <a:lstStyle/>
            <a:p>
              <a:endParaRPr lang="en-US"/>
            </a:p>
          </p:txBody>
        </p:sp>
        <p:sp>
          <p:nvSpPr>
            <p:cNvPr id="119" name="do_dot0"/>
            <p:cNvSpPr/>
            <p:nvPr/>
          </p:nvSpPr>
          <p:spPr>
            <a:xfrm>
              <a:off x="635142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0" name="do_dot1"/>
            <p:cNvSpPr/>
            <p:nvPr/>
          </p:nvSpPr>
          <p:spPr>
            <a:xfrm>
              <a:off x="653704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1" name="do_dot2"/>
            <p:cNvSpPr/>
            <p:nvPr/>
          </p:nvSpPr>
          <p:spPr>
            <a:xfrm>
              <a:off x="672267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2" name="do_tab"/>
            <p:cNvSpPr/>
            <p:nvPr/>
          </p:nvSpPr>
          <p:spPr>
            <a:xfrm>
              <a:off x="6970471" y="180319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Profile.cs</a:t>
              </a:r>
              <a:endParaRPr lang="en-US" sz="950" dirty="0"/>
            </a:p>
          </p:txBody>
        </p:sp>
        <p:sp>
          <p:nvSpPr>
            <p:cNvPr id="123" name="do_lbl"/>
            <p:cNvSpPr/>
            <p:nvPr/>
          </p:nvSpPr>
          <p:spPr>
            <a:xfrm>
              <a:off x="10304374" y="181965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24" name="do_L00"/>
            <p:cNvSpPr txBox="1"/>
            <p:nvPr/>
          </p:nvSpPr>
          <p:spPr>
            <a:xfrm>
              <a:off x="6418174" y="2231548"/>
              <a:ext cx="514068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Task userTask   = GetUserAsync();     </a:t>
              </a:r>
              <a:r>
                <a:rPr lang="en-US" sz="900" b="0" dirty="0">
                  <a:solidFill>
                    <a:srgbClr val="6FAE7A"/>
                  </a:solidFill>
                  <a:latin typeface="Consolas"/>
                  <a:ea typeface="Consolas"/>
                  <a:cs typeface="Consolas"/>
                </a:rPr>
                <a:t>// start, no await yet</a:t>
              </a:r>
              <a:endParaRPr lang="en-US" sz="900" dirty="0"/>
            </a:p>
          </p:txBody>
        </p:sp>
        <p:sp>
          <p:nvSpPr>
            <p:cNvPr id="125" name="do_L01"/>
            <p:cNvSpPr txBox="1"/>
            <p:nvPr/>
          </p:nvSpPr>
          <p:spPr>
            <a:xfrm>
              <a:off x="6418174" y="2406548"/>
              <a:ext cx="514068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Task ordersTask = GetOrdersAsync();   </a:t>
              </a:r>
              <a:r>
                <a:rPr lang="en-US" sz="900" b="0" dirty="0">
                  <a:solidFill>
                    <a:srgbClr val="6FAE7A"/>
                  </a:solidFill>
                  <a:latin typeface="Consolas"/>
                  <a:ea typeface="Consolas"/>
                  <a:cs typeface="Consolas"/>
                </a:rPr>
                <a:t>// start, no await yet</a:t>
              </a:r>
              <a:endParaRPr lang="en-US" sz="900" dirty="0"/>
            </a:p>
          </p:txBody>
        </p:sp>
        <p:sp>
          <p:nvSpPr>
            <p:cNvPr id="126" name="do_L03"/>
            <p:cNvSpPr txBox="1"/>
            <p:nvPr/>
          </p:nvSpPr>
          <p:spPr>
            <a:xfrm>
              <a:off x="6418174" y="2756548"/>
              <a:ext cx="514068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await</a:t>
              </a:r>
              <a:r>
                <a:rPr lang="en-US" sz="900" b="0" dirty="0">
                  <a:solidFill>
                    <a:srgbClr val="E2E8F0"/>
                  </a:solidFill>
                  <a:latin typeface="Consolas"/>
                  <a:ea typeface="Consolas"/>
                  <a:cs typeface="Consolas"/>
                </a:rPr>
                <a:t> Task.WhenAll(userTask, ordersTask);   </a:t>
              </a:r>
              <a:r>
                <a:rPr lang="en-US" sz="900" b="0" dirty="0">
                  <a:solidFill>
                    <a:srgbClr val="6FAE7A"/>
                  </a:solidFill>
                  <a:latin typeface="Consolas"/>
                  <a:ea typeface="Consolas"/>
                  <a:cs typeface="Consolas"/>
                </a:rPr>
                <a:t>// track both</a:t>
              </a:r>
              <a:endParaRPr lang="en-US" sz="900" dirty="0"/>
            </a:p>
          </p:txBody>
        </p:sp>
      </p:grpSp>
      <p:sp>
        <p:nvSpPr>
          <p:cNvPr id="128" name="do_hl3"/>
          <p:cNvSpPr/>
          <p:nvPr/>
        </p:nvSpPr>
        <p:spPr>
          <a:xfrm>
            <a:off x="6323076" y="2738260"/>
            <a:ext cx="5173680" cy="21157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29" name="arrow"/>
          <p:cNvCxnSpPr/>
          <p:nvPr/>
        </p:nvCxnSpPr>
        <p:spPr>
          <a:xfrm>
            <a:off x="6011266" y="2560320"/>
            <a:ext cx="150876" cy="0"/>
          </a:xfrm>
          <a:prstGeom prst="line">
            <a:avLst/>
          </a:prstGeom>
          <a:ln w="28575">
            <a:solidFill>
              <a:srgbClr val="13D0F7"/>
            </a:solidFill>
            <a:tailEnd type="triangle" w="med" len="med"/>
          </a:ln>
        </p:spPr>
      </p:cxnSp>
      <p:sp>
        <p:nvSpPr>
          <p:cNvPr id="130" name="risk"/>
          <p:cNvSpPr/>
          <p:nvPr/>
        </p:nvSpPr>
        <p:spPr>
          <a:xfrm>
            <a:off x="543154" y="3520440"/>
            <a:ext cx="5440680" cy="2194560"/>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300" b="1" dirty="0">
                <a:solidFill>
                  <a:srgbClr val="F87171"/>
                </a:solidFill>
                <a:latin typeface="Segoe UI"/>
                <a:ea typeface="Segoe UI"/>
                <a:cs typeface="Segoe UI"/>
              </a:rPr>
              <a:t>FIRE-AND-FORGET CAN CAUSE</a:t>
            </a:r>
            <a:endParaRPr lang="en-US" sz="1300" dirty="0"/>
          </a:p>
          <a:p>
            <a:pPr marL="0" indent="0" algn="l">
              <a:spcBef>
                <a:spcPts val="0"/>
              </a:spcBef>
              <a:spcAft>
                <a:spcPts val="0"/>
              </a:spcAft>
              <a:buNone/>
            </a:pPr>
            <a:r>
              <a:rPr lang="en-US" sz="1350" b="0" dirty="0">
                <a:solidFill>
                  <a:srgbClr val="CBD5E1"/>
                </a:solidFill>
                <a:latin typeface="Segoe UI"/>
                <a:ea typeface="Segoe UI"/>
                <a:cs typeface="Segoe UI"/>
              </a:rPr>
              <a:t>• the app closes before the work is done</a:t>
            </a:r>
            <a:endParaRPr lang="en-US" sz="1350" dirty="0"/>
          </a:p>
          <a:p>
            <a:pPr marL="0" indent="0" algn="l">
              <a:spcBef>
                <a:spcPts val="0"/>
              </a:spcBef>
              <a:spcAft>
                <a:spcPts val="0"/>
              </a:spcAft>
              <a:buNone/>
            </a:pPr>
            <a:r>
              <a:rPr lang="en-US" sz="1350" b="0" dirty="0">
                <a:solidFill>
                  <a:srgbClr val="CBD5E1"/>
                </a:solidFill>
                <a:latin typeface="Segoe UI"/>
                <a:ea typeface="Segoe UI"/>
                <a:cs typeface="Segoe UI"/>
              </a:rPr>
              <a:t>• an exception happens and nobody handles it</a:t>
            </a:r>
            <a:endParaRPr lang="en-US" sz="1350" dirty="0"/>
          </a:p>
          <a:p>
            <a:pPr marL="0" indent="0" algn="l">
              <a:spcBef>
                <a:spcPts val="0"/>
              </a:spcBef>
              <a:spcAft>
                <a:spcPts val="0"/>
              </a:spcAft>
              <a:buNone/>
            </a:pPr>
            <a:r>
              <a:rPr lang="en-US" sz="1350" b="0" dirty="0">
                <a:solidFill>
                  <a:srgbClr val="CBD5E1"/>
                </a:solidFill>
                <a:latin typeface="Segoe UI"/>
                <a:ea typeface="Segoe UI"/>
                <a:cs typeface="Segoe UI"/>
              </a:rPr>
              <a:t>• several operations overlap without you meaning it</a:t>
            </a:r>
            <a:endParaRPr lang="en-US" sz="1350" dirty="0"/>
          </a:p>
          <a:p>
            <a:pPr marL="0" indent="0" algn="l">
              <a:spcBef>
                <a:spcPts val="0"/>
              </a:spcBef>
              <a:spcAft>
                <a:spcPts val="0"/>
              </a:spcAft>
              <a:buNone/>
            </a:pPr>
            <a:r>
              <a:rPr lang="en-US" sz="1350" b="0" dirty="0">
                <a:solidFill>
                  <a:srgbClr val="CBD5E1"/>
                </a:solidFill>
                <a:latin typeface="Segoe UI"/>
                <a:ea typeface="Segoe UI"/>
                <a:cs typeface="Segoe UI"/>
              </a:rPr>
              <a:t>• you think the data is saved, but it is not yet</a:t>
            </a:r>
            <a:endParaRPr lang="en-US" sz="1350" dirty="0"/>
          </a:p>
        </p:txBody>
      </p:sp>
      <p:sp>
        <p:nvSpPr>
          <p:cNvPr id="131" name="good"/>
          <p:cNvSpPr/>
          <p:nvPr/>
        </p:nvSpPr>
        <p:spPr>
          <a:xfrm>
            <a:off x="6189574" y="3520440"/>
            <a:ext cx="5440680" cy="219456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300" b="1" dirty="0">
                <a:solidFill>
                  <a:srgbClr val="34D399"/>
                </a:solidFill>
                <a:latin typeface="Segoe UI"/>
                <a:ea typeface="Segoe UI"/>
                <a:cs typeface="Segoe UI"/>
              </a:rPr>
              <a:t>CONCURRENT ASYNCHRONOUS OPERATIONS</a:t>
            </a:r>
            <a:endParaRPr lang="en-US" sz="1300" dirty="0"/>
          </a:p>
          <a:p>
            <a:pPr marL="0" indent="0" algn="l">
              <a:spcBef>
                <a:spcPts val="0"/>
              </a:spcBef>
              <a:spcAft>
                <a:spcPts val="0"/>
              </a:spcAft>
              <a:buNone/>
            </a:pPr>
            <a:r>
              <a:rPr lang="en-US" sz="1350" b="0" dirty="0">
                <a:solidFill>
                  <a:srgbClr val="CBD5E1"/>
                </a:solidFill>
                <a:latin typeface="Segoe UI"/>
                <a:ea typeface="Segoe UI"/>
                <a:cs typeface="Segoe UI"/>
              </a:rPr>
              <a:t>Both started together, both Tasks kept, both awaited.</a:t>
            </a:r>
            <a:endParaRPr lang="en-US" sz="1350" dirty="0"/>
          </a:p>
          <a:p>
            <a:pPr marL="0" indent="0" algn="l">
              <a:spcBef>
                <a:spcPts val="0"/>
              </a:spcBef>
              <a:spcAft>
                <a:spcPts val="0"/>
              </a:spcAft>
              <a:buNone/>
            </a:pPr>
            <a:r>
              <a:rPr lang="en-US" sz="1350" b="0" dirty="0">
                <a:solidFill>
                  <a:srgbClr val="CBD5E1"/>
                </a:solidFill>
                <a:latin typeface="Segoe UI"/>
                <a:ea typeface="Segoe UI"/>
                <a:cs typeface="Segoe UI"/>
              </a:rPr>
              <a:t>Excellent when the two are independent.</a:t>
            </a:r>
            <a:endParaRPr lang="en-US" sz="1350" dirty="0"/>
          </a:p>
          <a:p>
            <a:pPr marL="0" indent="0" algn="l">
              <a:spcBef>
                <a:spcPts val="0"/>
              </a:spcBef>
              <a:spcAft>
                <a:spcPts val="0"/>
              </a:spcAft>
              <a:buNone/>
            </a:pPr>
            <a:r>
              <a:rPr lang="en-US" sz="1350" b="0" dirty="0">
                <a:solidFill>
                  <a:srgbClr val="CBD5E1"/>
                </a:solidFill>
                <a:latin typeface="Segoe UI"/>
                <a:ea typeface="Segoe UI"/>
                <a:cs typeface="Segoe UI"/>
              </a:rPr>
              <a:t>Concurrent is not necessarily parallel: while both wait for the network, no thread is busy.</a:t>
            </a:r>
            <a:endParaRPr lang="en-US" sz="1350" dirty="0"/>
          </a:p>
        </p:txBody>
      </p:sp>
    </p:spTree>
    <p:extLst>
      <p:ext uri="{BB962C8B-B14F-4D97-AF65-F5344CB8AC3E}">
        <p14:creationId xmlns:p14="http://schemas.microsoft.com/office/powerpoint/2010/main" val="504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400"/>
                                        <p:tgtEl>
                                          <p:spTgt spid="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
                                        </p:tgtEl>
                                        <p:attrNameLst>
                                          <p:attrName>style.visibility</p:attrName>
                                        </p:attrNameLst>
                                      </p:cBhvr>
                                      <p:to>
                                        <p:strVal val="visible"/>
                                      </p:to>
                                    </p:set>
                                    <p:animEffect transition="in" filter="fade">
                                      <p:cBhvr>
                                        <p:cTn id="13" dur="400"/>
                                        <p:tgtEl>
                                          <p:spTgt spid="1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0"/>
                                        </p:tgtEl>
                                        <p:attrNameLst>
                                          <p:attrName>style.visibility</p:attrName>
                                        </p:attrNameLst>
                                      </p:cBhvr>
                                      <p:to>
                                        <p:strVal val="visible"/>
                                      </p:to>
                                    </p:set>
                                    <p:animEffect transition="in" filter="fade">
                                      <p:cBhvr>
                                        <p:cTn id="18" dur="400"/>
                                        <p:tgtEl>
                                          <p:spTgt spid="1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fade">
                                      <p:cBhvr>
                                        <p:cTn id="23" dur="400"/>
                                        <p:tgtEl>
                                          <p:spTgt spid="102"/>
                                        </p:tgtEl>
                                      </p:cBhvr>
                                    </p:animEffect>
                                  </p:childTnLst>
                                </p:cTn>
                              </p:par>
                              <p:par>
                                <p:cTn id="24" presetID="10" presetClass="entr" presetSubtype="0" fill="hold" nodeType="withEffect">
                                  <p:stCondLst>
                                    <p:cond delay="0"/>
                                  </p:stCondLst>
                                  <p:childTnLst>
                                    <p:set>
                                      <p:cBhvr>
                                        <p:cTn id="25" dur="1" fill="hold">
                                          <p:stCondLst>
                                            <p:cond delay="0"/>
                                          </p:stCondLst>
                                        </p:cTn>
                                        <p:tgtEl>
                                          <p:spTgt spid="129"/>
                                        </p:tgtEl>
                                        <p:attrNameLst>
                                          <p:attrName>style.visibility</p:attrName>
                                        </p:attrNameLst>
                                      </p:cBhvr>
                                      <p:to>
                                        <p:strVal val="visible"/>
                                      </p:to>
                                    </p:set>
                                    <p:animEffect transition="in" filter="fade">
                                      <p:cBhvr>
                                        <p:cTn id="26" dur="400"/>
                                        <p:tgtEl>
                                          <p:spTgt spid="129"/>
                                        </p:tgtEl>
                                      </p:cBhvr>
                                    </p:animEffect>
                                  </p:childTnLst>
                                </p:cTn>
                              </p:par>
                              <p:par>
                                <p:cTn id="27" presetID="10" presetClass="entr" presetSubtype="0" fill="hold" nodeType="withEffect">
                                  <p:stCondLst>
                                    <p:cond delay="0"/>
                                  </p:stCondLst>
                                  <p:childTnLst>
                                    <p:set>
                                      <p:cBhvr>
                                        <p:cTn id="28" dur="1" fill="hold">
                                          <p:stCondLst>
                                            <p:cond delay="0"/>
                                          </p:stCondLst>
                                        </p:cTn>
                                        <p:tgtEl>
                                          <p:spTgt spid="127"/>
                                        </p:tgtEl>
                                        <p:attrNameLst>
                                          <p:attrName>style.visibility</p:attrName>
                                        </p:attrNameLst>
                                      </p:cBhvr>
                                      <p:to>
                                        <p:strVal val="visible"/>
                                      </p:to>
                                    </p:set>
                                    <p:animEffect transition="in" filter="fade">
                                      <p:cBhvr>
                                        <p:cTn id="29" dur="400"/>
                                        <p:tgtEl>
                                          <p:spTgt spid="1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8"/>
                                        </p:tgtEl>
                                        <p:attrNameLst>
                                          <p:attrName>style.visibility</p:attrName>
                                        </p:attrNameLst>
                                      </p:cBhvr>
                                      <p:to>
                                        <p:strVal val="visible"/>
                                      </p:to>
                                    </p:set>
                                    <p:animEffect transition="in" filter="fade">
                                      <p:cBhvr>
                                        <p:cTn id="32" dur="400"/>
                                        <p:tgtEl>
                                          <p:spTgt spid="1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1"/>
                                        </p:tgtEl>
                                        <p:attrNameLst>
                                          <p:attrName>style.visibility</p:attrName>
                                        </p:attrNameLst>
                                      </p:cBhvr>
                                      <p:to>
                                        <p:strVal val="visible"/>
                                      </p:to>
                                    </p:set>
                                    <p:animEffect transition="in" filter="fade">
                                      <p:cBhvr>
                                        <p:cTn id="37" dur="4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15" grpId="0" animBg="1"/>
      <p:bldP spid="128" grpId="0" animBg="1"/>
      <p:bldP spid="130" grpId="0" animBg="1"/>
      <p:bldP spid="1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10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SEQUENTIAL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Zooba Page: Loading It Sequentially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40</a:t>
            </a:r>
            <a:endParaRPr lang="en-US" sz="850" dirty="0"/>
          </a:p>
        </p:txBody>
      </p:sp>
      <p:sp>
        <p:nvSpPr>
          <p:cNvPr id="15" name="tbl_head"/>
          <p:cNvSpPr/>
          <p:nvPr/>
        </p:nvSpPr>
        <p:spPr>
          <a:xfrm>
            <a:off x="543154" y="1572768"/>
            <a:ext cx="5300000" cy="292608"/>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16" name="tbl_h"/>
          <p:cNvSpPr txBox="1"/>
          <p:nvPr/>
        </p:nvSpPr>
        <p:spPr>
          <a:xfrm>
            <a:off x="671170" y="1572768"/>
            <a:ext cx="19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DATA</a:t>
            </a:r>
            <a:endParaRPr lang="en-US" sz="1000" dirty="0"/>
          </a:p>
        </p:txBody>
      </p:sp>
      <p:sp>
        <p:nvSpPr>
          <p:cNvPr id="17" name="tbl_h"/>
          <p:cNvSpPr txBox="1"/>
          <p:nvPr/>
        </p:nvSpPr>
        <p:spPr>
          <a:xfrm>
            <a:off x="2593154" y="1572768"/>
            <a:ext cx="19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METHOD</a:t>
            </a:r>
            <a:endParaRPr lang="en-US" sz="1000" dirty="0"/>
          </a:p>
        </p:txBody>
      </p:sp>
      <p:sp>
        <p:nvSpPr>
          <p:cNvPr id="18" name="tbl_h"/>
          <p:cNvSpPr txBox="1"/>
          <p:nvPr/>
        </p:nvSpPr>
        <p:spPr>
          <a:xfrm>
            <a:off x="4563154" y="1572768"/>
            <a:ext cx="12000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TIME</a:t>
            </a:r>
            <a:endParaRPr lang="en-US" sz="1000" dirty="0"/>
          </a:p>
        </p:txBody>
      </p:sp>
      <p:sp>
        <p:nvSpPr>
          <p:cNvPr id="19" name="tbl_row"/>
          <p:cNvSpPr/>
          <p:nvPr/>
        </p:nvSpPr>
        <p:spPr>
          <a:xfrm>
            <a:off x="543154" y="1920240"/>
            <a:ext cx="5300000" cy="420000"/>
          </a:xfrm>
          <a:prstGeom prst="roundRect">
            <a:avLst>
              <a:gd name="adj" fmla="val 17777"/>
            </a:avLst>
          </a:prstGeom>
          <a:solidFill>
            <a:srgbClr val="111B2E"/>
          </a:solidFill>
          <a:ln w="12700">
            <a:solidFill>
              <a:srgbClr val="4D91F0"/>
            </a:solidFill>
            <a:prstDash val="solid"/>
          </a:ln>
        </p:spPr>
        <p:txBody>
          <a:bodyPr/>
          <a:lstStyle/>
          <a:p>
            <a:endParaRPr lang="en-US"/>
          </a:p>
        </p:txBody>
      </p:sp>
      <p:sp>
        <p:nvSpPr>
          <p:cNvPr id="20" name="tbl_c"/>
          <p:cNvSpPr txBox="1"/>
          <p:nvPr/>
        </p:nvSpPr>
        <p:spPr>
          <a:xfrm>
            <a:off x="671170" y="192024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Segoe UI"/>
                <a:ea typeface="Segoe UI"/>
                <a:cs typeface="Segoe UI"/>
              </a:rPr>
              <a:t>Restaurant info</a:t>
            </a:r>
            <a:endParaRPr lang="en-US" sz="1100" dirty="0"/>
          </a:p>
        </p:txBody>
      </p:sp>
      <p:sp>
        <p:nvSpPr>
          <p:cNvPr id="21" name="tbl_c"/>
          <p:cNvSpPr txBox="1"/>
          <p:nvPr/>
        </p:nvSpPr>
        <p:spPr>
          <a:xfrm>
            <a:off x="2593154" y="192024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GetInfoAsync()</a:t>
            </a:r>
            <a:endParaRPr lang="en-US" sz="1100" dirty="0"/>
          </a:p>
        </p:txBody>
      </p:sp>
      <p:sp>
        <p:nvSpPr>
          <p:cNvPr id="22" name="tbl_c"/>
          <p:cNvSpPr txBox="1"/>
          <p:nvPr/>
        </p:nvSpPr>
        <p:spPr>
          <a:xfrm>
            <a:off x="4563154" y="1920240"/>
            <a:ext cx="12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4D91F0"/>
                </a:solidFill>
                <a:latin typeface="Consolas"/>
                <a:ea typeface="Consolas"/>
                <a:cs typeface="Consolas"/>
              </a:rPr>
              <a:t>800 ms</a:t>
            </a:r>
            <a:endParaRPr lang="en-US" sz="1100" dirty="0"/>
          </a:p>
        </p:txBody>
      </p:sp>
      <p:sp>
        <p:nvSpPr>
          <p:cNvPr id="23" name="tbl_row"/>
          <p:cNvSpPr/>
          <p:nvPr/>
        </p:nvSpPr>
        <p:spPr>
          <a:xfrm>
            <a:off x="543154" y="2385960"/>
            <a:ext cx="5300000" cy="420000"/>
          </a:xfrm>
          <a:prstGeom prst="roundRect">
            <a:avLst>
              <a:gd name="adj" fmla="val 17777"/>
            </a:avLst>
          </a:prstGeom>
          <a:solidFill>
            <a:srgbClr val="111B2E"/>
          </a:solidFill>
          <a:ln w="12700">
            <a:solidFill>
              <a:srgbClr val="FBBF24"/>
            </a:solidFill>
            <a:prstDash val="solid"/>
          </a:ln>
        </p:spPr>
        <p:txBody>
          <a:bodyPr/>
          <a:lstStyle/>
          <a:p>
            <a:endParaRPr lang="en-US"/>
          </a:p>
        </p:txBody>
      </p:sp>
      <p:sp>
        <p:nvSpPr>
          <p:cNvPr id="24" name="tbl_c"/>
          <p:cNvSpPr txBox="1"/>
          <p:nvPr/>
        </p:nvSpPr>
        <p:spPr>
          <a:xfrm>
            <a:off x="671170" y="238596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Menu</a:t>
            </a:r>
            <a:endParaRPr lang="en-US" sz="1100" dirty="0"/>
          </a:p>
        </p:txBody>
      </p:sp>
      <p:sp>
        <p:nvSpPr>
          <p:cNvPr id="25" name="tbl_c"/>
          <p:cNvSpPr txBox="1"/>
          <p:nvPr/>
        </p:nvSpPr>
        <p:spPr>
          <a:xfrm>
            <a:off x="2593154" y="238596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GetMenuAsync()</a:t>
            </a:r>
            <a:endParaRPr lang="en-US" sz="1100" dirty="0"/>
          </a:p>
        </p:txBody>
      </p:sp>
      <p:sp>
        <p:nvSpPr>
          <p:cNvPr id="26" name="tbl_c"/>
          <p:cNvSpPr txBox="1"/>
          <p:nvPr/>
        </p:nvSpPr>
        <p:spPr>
          <a:xfrm>
            <a:off x="4563154" y="2385960"/>
            <a:ext cx="12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1200 ms</a:t>
            </a:r>
            <a:endParaRPr lang="en-US" sz="1100" dirty="0"/>
          </a:p>
        </p:txBody>
      </p:sp>
      <p:sp>
        <p:nvSpPr>
          <p:cNvPr id="27" name="tbl_row"/>
          <p:cNvSpPr/>
          <p:nvPr/>
        </p:nvSpPr>
        <p:spPr>
          <a:xfrm>
            <a:off x="543154" y="2851680"/>
            <a:ext cx="5300000" cy="420000"/>
          </a:xfrm>
          <a:prstGeom prst="roundRect">
            <a:avLst>
              <a:gd name="adj" fmla="val 17777"/>
            </a:avLst>
          </a:prstGeom>
          <a:solidFill>
            <a:srgbClr val="111B2E"/>
          </a:solidFill>
          <a:ln w="12700">
            <a:solidFill>
              <a:srgbClr val="A78BFA"/>
            </a:solidFill>
            <a:prstDash val="solid"/>
          </a:ln>
        </p:spPr>
        <p:txBody>
          <a:bodyPr/>
          <a:lstStyle/>
          <a:p>
            <a:endParaRPr lang="en-US"/>
          </a:p>
        </p:txBody>
      </p:sp>
      <p:sp>
        <p:nvSpPr>
          <p:cNvPr id="28" name="tbl_c"/>
          <p:cNvSpPr txBox="1"/>
          <p:nvPr/>
        </p:nvSpPr>
        <p:spPr>
          <a:xfrm>
            <a:off x="671170" y="285168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Reviews</a:t>
            </a:r>
            <a:endParaRPr lang="en-US" sz="1100" dirty="0"/>
          </a:p>
        </p:txBody>
      </p:sp>
      <p:sp>
        <p:nvSpPr>
          <p:cNvPr id="29" name="tbl_c"/>
          <p:cNvSpPr txBox="1"/>
          <p:nvPr/>
        </p:nvSpPr>
        <p:spPr>
          <a:xfrm>
            <a:off x="2593154" y="2851680"/>
            <a:ext cx="19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GetReviewsAsync()</a:t>
            </a:r>
            <a:endParaRPr lang="en-US" sz="1100" dirty="0"/>
          </a:p>
        </p:txBody>
      </p:sp>
      <p:sp>
        <p:nvSpPr>
          <p:cNvPr id="30" name="tbl_c"/>
          <p:cNvSpPr txBox="1"/>
          <p:nvPr/>
        </p:nvSpPr>
        <p:spPr>
          <a:xfrm>
            <a:off x="4563154" y="2851680"/>
            <a:ext cx="1200000" cy="4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Consolas"/>
                <a:ea typeface="Consolas"/>
                <a:cs typeface="Consolas"/>
              </a:rPr>
              <a:t>1000 ms</a:t>
            </a:r>
            <a:endParaRPr lang="en-US" sz="1100" dirty="0"/>
          </a:p>
        </p:txBody>
      </p:sp>
      <p:sp>
        <p:nvSpPr>
          <p:cNvPr id="31" name="lab"/>
          <p:cNvSpPr txBox="1"/>
          <p:nvPr/>
        </p:nvSpPr>
        <p:spPr>
          <a:xfrm>
            <a:off x="543154" y="3292768"/>
            <a:ext cx="5300000" cy="28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94A3B8"/>
                </a:solidFill>
                <a:latin typeface="Segoe UI"/>
                <a:ea typeface="Segoe UI"/>
                <a:cs typeface="Segoe UI"/>
              </a:rPr>
              <a:t>Each comes from a different service; each takes time.</a:t>
            </a:r>
            <a:endParaRPr lang="en-US" sz="1050" dirty="0"/>
          </a:p>
        </p:txBody>
      </p:sp>
      <p:sp>
        <p:nvSpPr>
          <p:cNvPr id="32" name="caption"/>
          <p:cNvSpPr/>
          <p:nvPr/>
        </p:nvSpPr>
        <p:spPr>
          <a:xfrm>
            <a:off x="543154" y="3652768"/>
            <a:ext cx="5300000" cy="620000"/>
          </a:xfrm>
          <a:prstGeom prst="roundRect">
            <a:avLst>
              <a:gd name="adj" fmla="val 12000"/>
            </a:avLst>
          </a:prstGeom>
          <a:solidFill>
            <a:srgbClr val="0C1628"/>
          </a:solidFill>
          <a:ln w="12700">
            <a:solidFill>
              <a:srgbClr val="FBBF24"/>
            </a:solidFill>
            <a:prstDash val="solid"/>
          </a:ln>
        </p:spPr>
        <p:txBody>
          <a:bodyPr wrap="square" lIns="137160" tIns="27432" rIns="137160" bIns="27432" rtlCol="0" anchor="ctr">
            <a:noAutofit/>
          </a:bodyPr>
          <a:lstStyle/>
          <a:p>
            <a:pPr marL="0" indent="0" algn="l">
              <a:spcBef>
                <a:spcPts val="0"/>
              </a:spcBef>
              <a:spcAft>
                <a:spcPts val="0"/>
              </a:spcAft>
              <a:buNone/>
            </a:pPr>
            <a:r>
              <a:rPr lang="en-US" sz="1150" b="1" dirty="0">
                <a:solidFill>
                  <a:srgbClr val="FFFFFF"/>
                </a:solidFill>
                <a:latin typeface="Segoe UI"/>
                <a:ea typeface="Segoe UI"/>
                <a:cs typeface="Segoe UI"/>
              </a:rPr>
              <a:t>Must we get Info first, then Menu, then Reviews?</a:t>
            </a:r>
            <a:endParaRPr lang="en-US" sz="1150" dirty="0"/>
          </a:p>
        </p:txBody>
      </p:sp>
      <p:sp>
        <p:nvSpPr>
          <p:cNvPr id="33" name="card"/>
          <p:cNvSpPr/>
          <p:nvPr/>
        </p:nvSpPr>
        <p:spPr>
          <a:xfrm>
            <a:off x="543154" y="4372768"/>
            <a:ext cx="5300000" cy="577232"/>
          </a:xfrm>
          <a:prstGeom prst="roundRect">
            <a:avLst>
              <a:gd name="adj" fmla="val 8132"/>
            </a:avLst>
          </a:prstGeom>
          <a:solidFill>
            <a:srgbClr val="111B2E"/>
          </a:solidFill>
          <a:ln w="12700">
            <a:solidFill>
              <a:srgbClr val="34D399"/>
            </a:solidFill>
            <a:prstDash val="solid"/>
          </a:ln>
        </p:spPr>
        <p:txBody>
          <a:bodyPr wrap="square" lIns="182880" tIns="64008" rIns="137160" bIns="64008" rtlCol="0" anchor="ctr">
            <a:noAutofit/>
          </a:bodyPr>
          <a:lstStyle/>
          <a:p>
            <a:pPr marL="0" indent="0" algn="l">
              <a:spcBef>
                <a:spcPts val="0"/>
              </a:spcBef>
              <a:spcAft>
                <a:spcPts val="250"/>
              </a:spcAft>
              <a:buNone/>
            </a:pPr>
            <a:r>
              <a:rPr lang="en-US" sz="1050" b="1" dirty="0">
                <a:solidFill>
                  <a:srgbClr val="34D399"/>
                </a:solidFill>
                <a:latin typeface="Segoe UI"/>
                <a:ea typeface="Segoe UI"/>
                <a:cs typeface="Segoe UI"/>
              </a:rPr>
              <a:t>NO</a:t>
            </a:r>
            <a:endParaRPr lang="en-US" sz="1050" dirty="0"/>
          </a:p>
          <a:p>
            <a:pPr marL="0" indent="0" algn="l">
              <a:spcBef>
                <a:spcPts val="0"/>
              </a:spcBef>
              <a:spcAft>
                <a:spcPts val="0"/>
              </a:spcAft>
              <a:buNone/>
            </a:pPr>
            <a:r>
              <a:rPr lang="en-US" sz="1100" b="0" dirty="0">
                <a:solidFill>
                  <a:srgbClr val="CBD5E1"/>
                </a:solidFill>
                <a:latin typeface="Segoe UI"/>
                <a:ea typeface="Segoe UI"/>
                <a:cs typeface="Segoe UI"/>
              </a:rPr>
              <a:t>The three calls are independent: none needs another one's result.</a:t>
            </a:r>
            <a:endParaRPr lang="en-US" sz="1100" dirty="0"/>
          </a:p>
        </p:txBody>
      </p:sp>
      <p:sp>
        <p:nvSpPr>
          <p:cNvPr id="34" name="cw_win"/>
          <p:cNvSpPr/>
          <p:nvPr/>
        </p:nvSpPr>
        <p:spPr>
          <a:xfrm>
            <a:off x="6093154" y="1572768"/>
            <a:ext cx="5537100" cy="1100000"/>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5" name="cw_bar"/>
          <p:cNvSpPr/>
          <p:nvPr/>
        </p:nvSpPr>
        <p:spPr>
          <a:xfrm>
            <a:off x="6093154" y="1572768"/>
            <a:ext cx="553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6" name="cw_barfill"/>
          <p:cNvSpPr/>
          <p:nvPr/>
        </p:nvSpPr>
        <p:spPr>
          <a:xfrm>
            <a:off x="6093154" y="1744218"/>
            <a:ext cx="5537100" cy="171450"/>
          </a:xfrm>
          <a:prstGeom prst="rect">
            <a:avLst/>
          </a:prstGeom>
          <a:solidFill>
            <a:srgbClr val="0A1220"/>
          </a:solidFill>
          <a:ln w="12700">
            <a:solidFill>
              <a:srgbClr val="0A1220"/>
            </a:solidFill>
            <a:prstDash val="solid"/>
          </a:ln>
        </p:spPr>
        <p:txBody>
          <a:bodyPr/>
          <a:lstStyle/>
          <a:p>
            <a:endParaRPr lang="en-US"/>
          </a:p>
        </p:txBody>
      </p:sp>
      <p:sp>
        <p:nvSpPr>
          <p:cNvPr id="37" name="cw_dot0"/>
          <p:cNvSpPr/>
          <p:nvPr/>
        </p:nvSpPr>
        <p:spPr>
          <a:xfrm>
            <a:off x="625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8" name="cw_dot1"/>
          <p:cNvSpPr/>
          <p:nvPr/>
        </p:nvSpPr>
        <p:spPr>
          <a:xfrm>
            <a:off x="644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9" name="cw_dot2"/>
          <p:cNvSpPr/>
          <p:nvPr/>
        </p:nvSpPr>
        <p:spPr>
          <a:xfrm>
            <a:off x="662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0" name="cw_tab"/>
          <p:cNvSpPr/>
          <p:nvPr/>
        </p:nvSpPr>
        <p:spPr>
          <a:xfrm>
            <a:off x="6874051" y="1620317"/>
            <a:ext cx="126000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ZoobaPage.cs</a:t>
            </a:r>
            <a:endParaRPr lang="en-US" sz="950" dirty="0"/>
          </a:p>
        </p:txBody>
      </p:sp>
      <p:sp>
        <p:nvSpPr>
          <p:cNvPr id="44" name="cw_hl00"/>
          <p:cNvSpPr/>
          <p:nvPr/>
        </p:nvSpPr>
        <p:spPr>
          <a:xfrm>
            <a:off x="6226656" y="1982928"/>
            <a:ext cx="5270096" cy="249936"/>
          </a:xfrm>
          <a:prstGeom prst="rect">
            <a:avLst/>
          </a:prstGeom>
          <a:solidFill>
            <a:srgbClr val="4D91F0">
              <a:alpha val="15000"/>
            </a:srgbClr>
          </a:solidFill>
          <a:ln w="12700">
            <a:solidFill>
              <a:srgbClr val="4D91F0"/>
            </a:solidFill>
            <a:prstDash val="solid"/>
          </a:ln>
        </p:spPr>
        <p:txBody>
          <a:bodyPr/>
          <a:lstStyle/>
          <a:p>
            <a:endParaRPr lang="en-US"/>
          </a:p>
        </p:txBody>
      </p:sp>
      <p:sp>
        <p:nvSpPr>
          <p:cNvPr id="45" name="cw_hl01"/>
          <p:cNvSpPr/>
          <p:nvPr/>
        </p:nvSpPr>
        <p:spPr>
          <a:xfrm>
            <a:off x="6226656" y="2196288"/>
            <a:ext cx="5270096" cy="249936"/>
          </a:xfrm>
          <a:prstGeom prst="rect">
            <a:avLst/>
          </a:prstGeom>
          <a:solidFill>
            <a:srgbClr val="FBBF24">
              <a:alpha val="15000"/>
            </a:srgbClr>
          </a:solidFill>
          <a:ln w="12700">
            <a:solidFill>
              <a:srgbClr val="FBBF24"/>
            </a:solidFill>
            <a:prstDash val="solid"/>
          </a:ln>
        </p:spPr>
        <p:txBody>
          <a:bodyPr/>
          <a:lstStyle/>
          <a:p>
            <a:endParaRPr lang="en-US"/>
          </a:p>
        </p:txBody>
      </p:sp>
      <p:sp>
        <p:nvSpPr>
          <p:cNvPr id="46" name="cw_hl02"/>
          <p:cNvSpPr/>
          <p:nvPr/>
        </p:nvSpPr>
        <p:spPr>
          <a:xfrm>
            <a:off x="6226656" y="2409648"/>
            <a:ext cx="5270096" cy="249936"/>
          </a:xfrm>
          <a:prstGeom prst="rect">
            <a:avLst/>
          </a:prstGeom>
          <a:solidFill>
            <a:srgbClr val="A78BFA">
              <a:alpha val="15000"/>
            </a:srgbClr>
          </a:solidFill>
          <a:ln w="12700">
            <a:solidFill>
              <a:srgbClr val="A78BFA"/>
            </a:solidFill>
            <a:prstDash val="solid"/>
          </a:ln>
        </p:spPr>
        <p:txBody>
          <a:bodyPr/>
          <a:lstStyle/>
          <a:p>
            <a:endParaRPr lang="en-US"/>
          </a:p>
        </p:txBody>
      </p:sp>
      <p:sp>
        <p:nvSpPr>
          <p:cNvPr id="41" name="cw_L00"/>
          <p:cNvSpPr txBox="1"/>
          <p:nvPr/>
        </p:nvSpPr>
        <p:spPr>
          <a:xfrm>
            <a:off x="6321754" y="2001216"/>
            <a:ext cx="51530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info    = </a:t>
            </a: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GetInfoAsync(42);</a:t>
            </a:r>
            <a:endParaRPr lang="en-US" sz="1050" dirty="0"/>
          </a:p>
        </p:txBody>
      </p:sp>
      <p:sp>
        <p:nvSpPr>
          <p:cNvPr id="42" name="cw_L01"/>
          <p:cNvSpPr txBox="1"/>
          <p:nvPr/>
        </p:nvSpPr>
        <p:spPr>
          <a:xfrm>
            <a:off x="6321754" y="2214576"/>
            <a:ext cx="51530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menu    = </a:t>
            </a: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GetMenuAsync(42);</a:t>
            </a:r>
            <a:endParaRPr lang="en-US" sz="1050" dirty="0"/>
          </a:p>
        </p:txBody>
      </p:sp>
      <p:sp>
        <p:nvSpPr>
          <p:cNvPr id="43" name="cw_L02"/>
          <p:cNvSpPr txBox="1"/>
          <p:nvPr/>
        </p:nvSpPr>
        <p:spPr>
          <a:xfrm>
            <a:off x="6321754" y="2427936"/>
            <a:ext cx="51530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string </a:t>
            </a:r>
            <a:r>
              <a:rPr lang="en-US" sz="1050" b="0" dirty="0">
                <a:solidFill>
                  <a:srgbClr val="E2E8F0"/>
                </a:solidFill>
                <a:latin typeface="Consolas"/>
                <a:ea typeface="Consolas"/>
                <a:cs typeface="Consolas"/>
              </a:rPr>
              <a:t>reviews = </a:t>
            </a:r>
            <a:r>
              <a:rPr lang="en-US" sz="1050" b="0" dirty="0">
                <a:solidFill>
                  <a:srgbClr val="60A5FA"/>
                </a:solidFill>
                <a:latin typeface="Consolas"/>
                <a:ea typeface="Consolas"/>
                <a:cs typeface="Consolas"/>
              </a:rPr>
              <a:t>await </a:t>
            </a:r>
            <a:r>
              <a:rPr lang="en-US" sz="1050" b="0" dirty="0">
                <a:solidFill>
                  <a:srgbClr val="E2E8F0"/>
                </a:solidFill>
                <a:latin typeface="Consolas"/>
                <a:ea typeface="Consolas"/>
                <a:cs typeface="Consolas"/>
              </a:rPr>
              <a:t>GetReviewsAsync(42);</a:t>
            </a:r>
            <a:endParaRPr lang="en-US" sz="1050" dirty="0"/>
          </a:p>
        </p:txBody>
      </p:sp>
      <p:sp>
        <p:nvSpPr>
          <p:cNvPr id="47" name="lab"/>
          <p:cNvSpPr txBox="1"/>
          <p:nvPr/>
        </p:nvSpPr>
        <p:spPr>
          <a:xfrm>
            <a:off x="6093154" y="2792768"/>
            <a:ext cx="5537100" cy="26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Sequential execution: start, wait, then the next</a:t>
            </a:r>
            <a:endParaRPr lang="en-US" sz="1050" dirty="0"/>
          </a:p>
        </p:txBody>
      </p:sp>
      <p:sp>
        <p:nvSpPr>
          <p:cNvPr id="48" name="bar"/>
          <p:cNvSpPr/>
          <p:nvPr/>
        </p:nvSpPr>
        <p:spPr>
          <a:xfrm>
            <a:off x="6093154" y="3092768"/>
            <a:ext cx="1456560" cy="320000"/>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Info 800 ms</a:t>
            </a:r>
            <a:endParaRPr lang="en-US" sz="950" dirty="0"/>
          </a:p>
        </p:txBody>
      </p:sp>
      <p:sp>
        <p:nvSpPr>
          <p:cNvPr id="49" name="bar"/>
          <p:cNvSpPr/>
          <p:nvPr/>
        </p:nvSpPr>
        <p:spPr>
          <a:xfrm>
            <a:off x="7569714" y="3472768"/>
            <a:ext cx="2194840" cy="320000"/>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Menu 1200 ms</a:t>
            </a:r>
            <a:endParaRPr lang="en-US" sz="950" dirty="0"/>
          </a:p>
        </p:txBody>
      </p:sp>
      <p:sp>
        <p:nvSpPr>
          <p:cNvPr id="50" name="bar"/>
          <p:cNvSpPr/>
          <p:nvPr/>
        </p:nvSpPr>
        <p:spPr>
          <a:xfrm>
            <a:off x="9784554" y="3852768"/>
            <a:ext cx="1825700" cy="320000"/>
          </a:xfrm>
          <a:prstGeom prst="roundRect">
            <a:avLst>
              <a:gd name="adj" fmla="val 20000"/>
            </a:avLst>
          </a:prstGeom>
          <a:solidFill>
            <a:srgbClr val="A78BFA">
              <a:alpha val="2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Reviews 1000 ms</a:t>
            </a:r>
            <a:endParaRPr lang="en-US" sz="950" dirty="0"/>
          </a:p>
        </p:txBody>
      </p:sp>
      <p:sp>
        <p:nvSpPr>
          <p:cNvPr id="51" name="lab"/>
          <p:cNvSpPr txBox="1"/>
          <p:nvPr/>
        </p:nvSpPr>
        <p:spPr>
          <a:xfrm>
            <a:off x="6093154" y="4212768"/>
            <a:ext cx="800000" cy="220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0" dirty="0">
                <a:solidFill>
                  <a:srgbClr val="94A3B8"/>
                </a:solidFill>
                <a:latin typeface="Segoe UI"/>
                <a:ea typeface="Segoe UI"/>
                <a:cs typeface="Segoe UI"/>
              </a:rPr>
              <a:t>0 s</a:t>
            </a:r>
            <a:endParaRPr lang="en-US" sz="900" dirty="0"/>
          </a:p>
        </p:txBody>
      </p:sp>
      <p:sp>
        <p:nvSpPr>
          <p:cNvPr id="52" name="lab"/>
          <p:cNvSpPr txBox="1"/>
          <p:nvPr/>
        </p:nvSpPr>
        <p:spPr>
          <a:xfrm>
            <a:off x="10830254" y="4212768"/>
            <a:ext cx="800000" cy="2200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900" b="0" dirty="0">
                <a:solidFill>
                  <a:srgbClr val="94A3B8"/>
                </a:solidFill>
                <a:latin typeface="Segoe UI"/>
                <a:ea typeface="Segoe UI"/>
                <a:cs typeface="Segoe UI"/>
              </a:rPr>
              <a:t>3.0 s</a:t>
            </a:r>
            <a:endParaRPr lang="en-US" sz="900" dirty="0"/>
          </a:p>
        </p:txBody>
      </p:sp>
      <p:sp>
        <p:nvSpPr>
          <p:cNvPr id="53" name="total"/>
          <p:cNvSpPr/>
          <p:nvPr/>
        </p:nvSpPr>
        <p:spPr>
          <a:xfrm>
            <a:off x="6093154" y="4472768"/>
            <a:ext cx="5537100" cy="477232"/>
          </a:xfrm>
          <a:prstGeom prst="roundRect">
            <a:avLst>
              <a:gd name="adj" fmla="val 15000"/>
            </a:avLst>
          </a:prstGeom>
          <a:solidFill>
            <a:srgbClr val="2A1215"/>
          </a:solidFill>
          <a:ln w="1905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250" b="1" dirty="0">
                <a:solidFill>
                  <a:srgbClr val="F87171"/>
                </a:solidFill>
                <a:latin typeface="Consolas"/>
                <a:ea typeface="Consolas"/>
                <a:cs typeface="Consolas"/>
              </a:rPr>
              <a:t>Total ≈ 800 + 1200 + 1000 = 3000 ms</a:t>
            </a:r>
            <a:endParaRPr lang="en-US" sz="1250" dirty="0"/>
          </a:p>
        </p:txBody>
      </p:sp>
      <p:sp>
        <p:nvSpPr>
          <p:cNvPr id="54" name="banner"/>
          <p:cNvSpPr/>
          <p:nvPr/>
        </p:nvSpPr>
        <p:spPr>
          <a:xfrm>
            <a:off x="543154" y="5074920"/>
            <a:ext cx="11087100" cy="749808"/>
          </a:xfrm>
          <a:prstGeom prst="roundRect">
            <a:avLst>
              <a:gd name="adj" fmla="val 10975"/>
            </a:avLst>
          </a:prstGeom>
          <a:solidFill>
            <a:srgbClr val="0C1628"/>
          </a:solidFill>
          <a:ln w="12700">
            <a:solidFill>
              <a:srgbClr val="F87171"/>
            </a:solidFill>
            <a:prstDash val="solid"/>
          </a:ln>
        </p:spPr>
        <p:txBody>
          <a:bodyPr wrap="square" lIns="209398" tIns="75895" rIns="209398" bIns="75895" rtlCol="0" anchor="ctr">
            <a:noAutofit/>
          </a:bodyPr>
          <a:lstStyle/>
          <a:p>
            <a:pPr marL="0" indent="0" algn="ctr">
              <a:spcBef>
                <a:spcPts val="0"/>
              </a:spcBef>
              <a:spcAft>
                <a:spcPts val="0"/>
              </a:spcAft>
              <a:buNone/>
            </a:pPr>
            <a:r>
              <a:rPr lang="en-US" sz="1450" b="0" dirty="0">
                <a:solidFill>
                  <a:srgbClr val="FFFFFF"/>
                </a:solidFill>
                <a:latin typeface="Segoe UI"/>
                <a:ea typeface="Segoe UI"/>
                <a:cs typeface="Segoe UI"/>
              </a:rPr>
              <a:t>Sequential: each call waits for the previous one, even though none of them needs the others' result.</a:t>
            </a:r>
            <a:endParaRPr lang="en-US" sz="1450" dirty="0"/>
          </a:p>
        </p:txBody>
      </p:sp>
    </p:spTree>
    <p:extLst>
      <p:ext uri="{BB962C8B-B14F-4D97-AF65-F5344CB8AC3E}">
        <p14:creationId xmlns:p14="http://schemas.microsoft.com/office/powerpoint/2010/main" val="248539094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3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3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3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3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3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3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3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3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3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3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300"/>
                                        <p:tgtEl>
                                          <p:spTgt spid="3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3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3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300"/>
                                        <p:tgtEl>
                                          <p:spTgt spid="3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3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300"/>
                                        <p:tgtEl>
                                          <p:spTgt spid="3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300"/>
                                        <p:tgtEl>
                                          <p:spTgt spid="3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300"/>
                                        <p:tgtEl>
                                          <p:spTgt spid="4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fade">
                                      <p:cBhvr>
                                        <p:cTn id="91" dur="300"/>
                                        <p:tgtEl>
                                          <p:spTgt spid="4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300"/>
                                        <p:tgtEl>
                                          <p:spTgt spid="4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3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300"/>
                                        <p:tgtEl>
                                          <p:spTgt spid="4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300"/>
                                        <p:tgtEl>
                                          <p:spTgt spid="5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2"/>
                                        </p:tgtEl>
                                        <p:attrNameLst>
                                          <p:attrName>style.visibility</p:attrName>
                                        </p:attrNameLst>
                                      </p:cBhvr>
                                      <p:to>
                                        <p:strVal val="visible"/>
                                      </p:to>
                                    </p:set>
                                    <p:animEffect transition="in" filter="fade">
                                      <p:cBhvr>
                                        <p:cTn id="106" dur="300"/>
                                        <p:tgtEl>
                                          <p:spTgt spid="5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300"/>
                                        <p:tgtEl>
                                          <p:spTgt spid="44"/>
                                        </p:tgtEl>
                                      </p:cBhvr>
                                    </p:animEffect>
                                  </p:childTnLst>
                                </p:cTn>
                              </p:par>
                              <p:par>
                                <p:cTn id="112" presetID="22" presetClass="entr" presetSubtype="8" fill="hold" grpId="0" nodeType="withEffect">
                                  <p:stCondLst>
                                    <p:cond delay="200"/>
                                  </p:stCondLst>
                                  <p:childTnLst>
                                    <p:set>
                                      <p:cBhvr>
                                        <p:cTn id="113" dur="1" fill="hold">
                                          <p:stCondLst>
                                            <p:cond delay="0"/>
                                          </p:stCondLst>
                                        </p:cTn>
                                        <p:tgtEl>
                                          <p:spTgt spid="48"/>
                                        </p:tgtEl>
                                        <p:attrNameLst>
                                          <p:attrName>style.visibility</p:attrName>
                                        </p:attrNameLst>
                                      </p:cBhvr>
                                      <p:to>
                                        <p:strVal val="visible"/>
                                      </p:to>
                                    </p:set>
                                    <p:animEffect transition="in" filter="wipe(left)">
                                      <p:cBhvr>
                                        <p:cTn id="114" dur="600"/>
                                        <p:tgtEl>
                                          <p:spTgt spid="48"/>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300"/>
                                        <p:tgtEl>
                                          <p:spTgt spid="45"/>
                                        </p:tgtEl>
                                      </p:cBhvr>
                                    </p:animEffect>
                                  </p:childTnLst>
                                </p:cTn>
                              </p:par>
                              <p:par>
                                <p:cTn id="120" presetID="22" presetClass="entr" presetSubtype="8" fill="hold" grpId="0" nodeType="withEffect">
                                  <p:stCondLst>
                                    <p:cond delay="200"/>
                                  </p:stCondLst>
                                  <p:childTnLst>
                                    <p:set>
                                      <p:cBhvr>
                                        <p:cTn id="121" dur="1" fill="hold">
                                          <p:stCondLst>
                                            <p:cond delay="0"/>
                                          </p:stCondLst>
                                        </p:cTn>
                                        <p:tgtEl>
                                          <p:spTgt spid="49"/>
                                        </p:tgtEl>
                                        <p:attrNameLst>
                                          <p:attrName>style.visibility</p:attrName>
                                        </p:attrNameLst>
                                      </p:cBhvr>
                                      <p:to>
                                        <p:strVal val="visible"/>
                                      </p:to>
                                    </p:set>
                                    <p:animEffect transition="in" filter="wipe(left)">
                                      <p:cBhvr>
                                        <p:cTn id="122" dur="600"/>
                                        <p:tgtEl>
                                          <p:spTgt spid="49"/>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300"/>
                                        <p:tgtEl>
                                          <p:spTgt spid="46"/>
                                        </p:tgtEl>
                                      </p:cBhvr>
                                    </p:animEffect>
                                  </p:childTnLst>
                                </p:cTn>
                              </p:par>
                              <p:par>
                                <p:cTn id="128" presetID="22" presetClass="entr" presetSubtype="8" fill="hold" grpId="0" nodeType="withEffect">
                                  <p:stCondLst>
                                    <p:cond delay="200"/>
                                  </p:stCondLst>
                                  <p:childTnLst>
                                    <p:set>
                                      <p:cBhvr>
                                        <p:cTn id="129" dur="1" fill="hold">
                                          <p:stCondLst>
                                            <p:cond delay="0"/>
                                          </p:stCondLst>
                                        </p:cTn>
                                        <p:tgtEl>
                                          <p:spTgt spid="50"/>
                                        </p:tgtEl>
                                        <p:attrNameLst>
                                          <p:attrName>style.visibility</p:attrName>
                                        </p:attrNameLst>
                                      </p:cBhvr>
                                      <p:to>
                                        <p:strVal val="visible"/>
                                      </p:to>
                                    </p:set>
                                    <p:animEffect transition="in" filter="wipe(left)">
                                      <p:cBhvr>
                                        <p:cTn id="130" dur="600"/>
                                        <p:tgtEl>
                                          <p:spTgt spid="50"/>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53"/>
                                        </p:tgtEl>
                                        <p:attrNameLst>
                                          <p:attrName>style.visibility</p:attrName>
                                        </p:attrNameLst>
                                      </p:cBhvr>
                                      <p:to>
                                        <p:strVal val="visible"/>
                                      </p:to>
                                    </p:set>
                                    <p:animEffect transition="in" filter="fade">
                                      <p:cBhvr>
                                        <p:cTn id="135" dur="300"/>
                                        <p:tgtEl>
                                          <p:spTgt spid="5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3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4" grpId="0" animBg="1"/>
      <p:bldP spid="45" grpId="0" animBg="1"/>
      <p:bldP spid="46" grpId="0" animBg="1"/>
      <p:bldP spid="41" grpId="0" animBg="1"/>
      <p:bldP spid="42" grpId="0" animBg="1"/>
      <p:bldP spid="43"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WHENALL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Real Example: Restaurant Page with WhenAll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41</a:t>
            </a:r>
            <a:endParaRPr lang="en-US" sz="850" dirty="0"/>
          </a:p>
        </p:txBody>
      </p:sp>
      <p:sp>
        <p:nvSpPr>
          <p:cNvPr id="15" name="cw_win"/>
          <p:cNvSpPr/>
          <p:nvPr/>
        </p:nvSpPr>
        <p:spPr>
          <a:xfrm>
            <a:off x="543154" y="1572768"/>
            <a:ext cx="5760720" cy="2340864"/>
          </a:xfrm>
          <a:prstGeom prst="roundRect">
            <a:avLst>
              <a:gd name="adj" fmla="val 2929"/>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57607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infoTask = GetInfoAsync(42);</a:t>
            </a:r>
            <a:endParaRPr lang="en-US" sz="950" dirty="0"/>
          </a:p>
        </p:txBody>
      </p:sp>
      <p:sp>
        <p:nvSpPr>
          <p:cNvPr id="23" name="cw_L01"/>
          <p:cNvSpPr txBox="1"/>
          <p:nvPr/>
        </p:nvSpPr>
        <p:spPr>
          <a:xfrm>
            <a:off x="771754" y="224129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menuTask = GetMenuAsync(42);</a:t>
            </a:r>
            <a:endParaRPr lang="en-US" sz="950" dirty="0"/>
          </a:p>
        </p:txBody>
      </p:sp>
      <p:sp>
        <p:nvSpPr>
          <p:cNvPr id="24" name="cw_L02"/>
          <p:cNvSpPr txBox="1"/>
          <p:nvPr/>
        </p:nvSpPr>
        <p:spPr>
          <a:xfrm>
            <a:off x="771754" y="243433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reviewsTask = GetReviewsAsync(42);</a:t>
            </a:r>
            <a:endParaRPr lang="en-US" sz="950" dirty="0"/>
          </a:p>
        </p:txBody>
      </p:sp>
      <p:sp>
        <p:nvSpPr>
          <p:cNvPr id="25" name="cw_L04"/>
          <p:cNvSpPr txBox="1"/>
          <p:nvPr/>
        </p:nvSpPr>
        <p:spPr>
          <a:xfrm>
            <a:off x="771754" y="282041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Task.WhenAll(infoTask, menuTask, </a:t>
            </a:r>
            <a:r>
              <a:rPr lang="en-US" sz="950" b="0" dirty="0" err="1">
                <a:solidFill>
                  <a:srgbClr val="E2E8F0"/>
                </a:solidFill>
                <a:latin typeface="Consolas"/>
                <a:ea typeface="Consolas"/>
                <a:cs typeface="Consolas"/>
              </a:rPr>
              <a:t>reviewsTask</a:t>
            </a:r>
            <a:r>
              <a:rPr lang="en-US" sz="950" b="0" dirty="0">
                <a:solidFill>
                  <a:srgbClr val="E2E8F0"/>
                </a:solidFill>
                <a:latin typeface="Consolas"/>
                <a:ea typeface="Consolas"/>
                <a:cs typeface="Consolas"/>
              </a:rPr>
              <a:t>); // return task represent all</a:t>
            </a:r>
            <a:endParaRPr lang="en-US" sz="950" dirty="0"/>
          </a:p>
        </p:txBody>
      </p:sp>
      <p:sp>
        <p:nvSpPr>
          <p:cNvPr id="26" name="cw_L06"/>
          <p:cNvSpPr txBox="1"/>
          <p:nvPr/>
        </p:nvSpPr>
        <p:spPr>
          <a:xfrm>
            <a:off x="771754" y="320649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infoTask);</a:t>
            </a:r>
            <a:endParaRPr lang="en-US" sz="950" dirty="0"/>
          </a:p>
        </p:txBody>
      </p:sp>
      <p:sp>
        <p:nvSpPr>
          <p:cNvPr id="27" name="cw_L07"/>
          <p:cNvSpPr txBox="1"/>
          <p:nvPr/>
        </p:nvSpPr>
        <p:spPr>
          <a:xfrm>
            <a:off x="771754" y="339953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menuTask);</a:t>
            </a:r>
            <a:endParaRPr lang="en-US" sz="950" dirty="0"/>
          </a:p>
        </p:txBody>
      </p:sp>
      <p:sp>
        <p:nvSpPr>
          <p:cNvPr id="28" name="cw_L08"/>
          <p:cNvSpPr txBox="1"/>
          <p:nvPr/>
        </p:nvSpPr>
        <p:spPr>
          <a:xfrm>
            <a:off x="771754" y="359257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reviewsTask);</a:t>
            </a:r>
            <a:endParaRPr lang="en-US" sz="950" dirty="0"/>
          </a:p>
        </p:txBody>
      </p:sp>
      <p:sp>
        <p:nvSpPr>
          <p:cNvPr id="29" name="cmark"/>
          <p:cNvSpPr/>
          <p:nvPr/>
        </p:nvSpPr>
        <p:spPr>
          <a:xfrm>
            <a:off x="720576" y="2810256"/>
            <a:ext cx="5493715" cy="229616"/>
          </a:xfrm>
          <a:prstGeom prst="rect">
            <a:avLst/>
          </a:prstGeom>
          <a:solidFill>
            <a:srgbClr val="13D0F7">
              <a:alpha val="16000"/>
            </a:srgbClr>
          </a:solidFill>
          <a:ln w="15875">
            <a:solidFill>
              <a:srgbClr val="13D0F7"/>
            </a:solidFill>
            <a:prstDash val="solid"/>
          </a:ln>
        </p:spPr>
        <p:txBody>
          <a:bodyPr/>
          <a:lstStyle/>
          <a:p>
            <a:endParaRPr lang="en-US" dirty="0"/>
          </a:p>
        </p:txBody>
      </p:sp>
      <p:sp>
        <p:nvSpPr>
          <p:cNvPr id="30" name="cw2_win"/>
          <p:cNvSpPr/>
          <p:nvPr/>
        </p:nvSpPr>
        <p:spPr>
          <a:xfrm>
            <a:off x="6532474" y="1572768"/>
            <a:ext cx="5097780" cy="3520440"/>
          </a:xfrm>
          <a:prstGeom prst="roundRect">
            <a:avLst>
              <a:gd name="adj" fmla="val 1948"/>
            </a:avLst>
          </a:prstGeom>
          <a:solidFill>
            <a:srgbClr val="060D18"/>
          </a:solidFill>
          <a:ln w="12700">
            <a:solidFill>
              <a:srgbClr val="1E3A5F"/>
            </a:solidFill>
            <a:prstDash val="solid"/>
          </a:ln>
        </p:spPr>
        <p:txBody>
          <a:bodyPr/>
          <a:lstStyle/>
          <a:p>
            <a:endParaRPr lang="en-US"/>
          </a:p>
        </p:txBody>
      </p:sp>
      <p:sp>
        <p:nvSpPr>
          <p:cNvPr id="31" name="cw2_bar"/>
          <p:cNvSpPr/>
          <p:nvPr/>
        </p:nvSpPr>
        <p:spPr>
          <a:xfrm>
            <a:off x="6532474" y="1572768"/>
            <a:ext cx="50977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cw2_barfill"/>
          <p:cNvSpPr/>
          <p:nvPr/>
        </p:nvSpPr>
        <p:spPr>
          <a:xfrm>
            <a:off x="6532474" y="1744218"/>
            <a:ext cx="5097780" cy="171450"/>
          </a:xfrm>
          <a:prstGeom prst="rect">
            <a:avLst/>
          </a:prstGeom>
          <a:solidFill>
            <a:srgbClr val="0A1220"/>
          </a:solidFill>
          <a:ln w="12700">
            <a:solidFill>
              <a:srgbClr val="0A1220"/>
            </a:solidFill>
            <a:prstDash val="solid"/>
          </a:ln>
        </p:spPr>
        <p:txBody>
          <a:bodyPr/>
          <a:lstStyle/>
          <a:p>
            <a:endParaRPr lang="en-US"/>
          </a:p>
        </p:txBody>
      </p:sp>
      <p:sp>
        <p:nvSpPr>
          <p:cNvPr id="33" name="cw2_dot0"/>
          <p:cNvSpPr/>
          <p:nvPr/>
        </p:nvSpPr>
        <p:spPr>
          <a:xfrm>
            <a:off x="66943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cw2_dot1"/>
          <p:cNvSpPr/>
          <p:nvPr/>
        </p:nvSpPr>
        <p:spPr>
          <a:xfrm>
            <a:off x="68799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cw2_dot2"/>
          <p:cNvSpPr/>
          <p:nvPr/>
        </p:nvSpPr>
        <p:spPr>
          <a:xfrm>
            <a:off x="70655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cw2_tab"/>
          <p:cNvSpPr/>
          <p:nvPr/>
        </p:nvSpPr>
        <p:spPr>
          <a:xfrm>
            <a:off x="731337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Services.cs</a:t>
            </a:r>
            <a:endParaRPr lang="en-US" sz="950" dirty="0"/>
          </a:p>
        </p:txBody>
      </p:sp>
      <p:sp>
        <p:nvSpPr>
          <p:cNvPr id="37" name="cw2_L00"/>
          <p:cNvSpPr txBox="1"/>
          <p:nvPr/>
        </p:nvSpPr>
        <p:spPr>
          <a:xfrm>
            <a:off x="6761074" y="204825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GetInfoAsync(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38" name="cw2_L01"/>
          <p:cNvSpPr txBox="1"/>
          <p:nvPr/>
        </p:nvSpPr>
        <p:spPr>
          <a:xfrm>
            <a:off x="6761074" y="224129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9" name="cw2_L02"/>
          <p:cNvSpPr txBox="1"/>
          <p:nvPr/>
        </p:nvSpPr>
        <p:spPr>
          <a:xfrm>
            <a:off x="6761074" y="243433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Task.Delay(800);</a:t>
            </a:r>
            <a:endParaRPr lang="en-US" sz="950" dirty="0"/>
          </a:p>
        </p:txBody>
      </p:sp>
      <p:sp>
        <p:nvSpPr>
          <p:cNvPr id="40" name="cw2_L03"/>
          <p:cNvSpPr txBox="1"/>
          <p:nvPr/>
        </p:nvSpPr>
        <p:spPr>
          <a:xfrm>
            <a:off x="6761074" y="262737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"Zooba · Zamalek · open now"</a:t>
            </a:r>
            <a:r>
              <a:rPr lang="en-US" sz="950" b="0" dirty="0">
                <a:solidFill>
                  <a:srgbClr val="E2E8F0"/>
                </a:solidFill>
                <a:latin typeface="Consolas"/>
                <a:ea typeface="Consolas"/>
                <a:cs typeface="Consolas"/>
              </a:rPr>
              <a:t>;</a:t>
            </a:r>
            <a:endParaRPr lang="en-US" sz="950" dirty="0"/>
          </a:p>
        </p:txBody>
      </p:sp>
      <p:sp>
        <p:nvSpPr>
          <p:cNvPr id="41" name="cw2_L04"/>
          <p:cNvSpPr txBox="1"/>
          <p:nvPr/>
        </p:nvSpPr>
        <p:spPr>
          <a:xfrm>
            <a:off x="6761074" y="282041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2" name="cw2_L05"/>
          <p:cNvSpPr txBox="1"/>
          <p:nvPr/>
        </p:nvSpPr>
        <p:spPr>
          <a:xfrm>
            <a:off x="6761074" y="301345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GetMenuAsync(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43" name="cw2_L06"/>
          <p:cNvSpPr txBox="1"/>
          <p:nvPr/>
        </p:nvSpPr>
        <p:spPr>
          <a:xfrm>
            <a:off x="6761074" y="320649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4" name="cw2_L07"/>
          <p:cNvSpPr txBox="1"/>
          <p:nvPr/>
        </p:nvSpPr>
        <p:spPr>
          <a:xfrm>
            <a:off x="6761074" y="339953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Task.Delay(1200);</a:t>
            </a:r>
            <a:endParaRPr lang="en-US" sz="950" dirty="0"/>
          </a:p>
        </p:txBody>
      </p:sp>
      <p:sp>
        <p:nvSpPr>
          <p:cNvPr id="45" name="cw2_L08"/>
          <p:cNvSpPr txBox="1"/>
          <p:nvPr/>
        </p:nvSpPr>
        <p:spPr>
          <a:xfrm>
            <a:off x="6761074" y="359257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"Menu: 24 dishes"</a:t>
            </a:r>
            <a:r>
              <a:rPr lang="en-US" sz="950" b="0" dirty="0">
                <a:solidFill>
                  <a:srgbClr val="E2E8F0"/>
                </a:solidFill>
                <a:latin typeface="Consolas"/>
                <a:ea typeface="Consolas"/>
                <a:cs typeface="Consolas"/>
              </a:rPr>
              <a:t>;</a:t>
            </a:r>
            <a:endParaRPr lang="en-US" sz="950" dirty="0"/>
          </a:p>
        </p:txBody>
      </p:sp>
      <p:sp>
        <p:nvSpPr>
          <p:cNvPr id="46" name="cw2_L09"/>
          <p:cNvSpPr txBox="1"/>
          <p:nvPr/>
        </p:nvSpPr>
        <p:spPr>
          <a:xfrm>
            <a:off x="6761074" y="378561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7" name="cw2_L10"/>
          <p:cNvSpPr txBox="1"/>
          <p:nvPr/>
        </p:nvSpPr>
        <p:spPr>
          <a:xfrm>
            <a:off x="6761074" y="397865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 GetReviewsAsync(</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id)</a:t>
            </a:r>
            <a:endParaRPr lang="en-US" sz="950" dirty="0"/>
          </a:p>
        </p:txBody>
      </p:sp>
      <p:sp>
        <p:nvSpPr>
          <p:cNvPr id="48" name="cw2_L11"/>
          <p:cNvSpPr txBox="1"/>
          <p:nvPr/>
        </p:nvSpPr>
        <p:spPr>
          <a:xfrm>
            <a:off x="6761074" y="417169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9" name="cw2_L12"/>
          <p:cNvSpPr txBox="1"/>
          <p:nvPr/>
        </p:nvSpPr>
        <p:spPr>
          <a:xfrm>
            <a:off x="6761074" y="436473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Task.Delay(1000);</a:t>
            </a:r>
            <a:endParaRPr lang="en-US" sz="950" dirty="0"/>
          </a:p>
        </p:txBody>
      </p:sp>
      <p:sp>
        <p:nvSpPr>
          <p:cNvPr id="50" name="cw2_L13"/>
          <p:cNvSpPr txBox="1"/>
          <p:nvPr/>
        </p:nvSpPr>
        <p:spPr>
          <a:xfrm>
            <a:off x="6761074" y="4557776"/>
            <a:ext cx="47137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return</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"Reviews: 4.8 (1,240)"</a:t>
            </a:r>
            <a:r>
              <a:rPr lang="en-US" sz="950" b="0" dirty="0">
                <a:solidFill>
                  <a:srgbClr val="E2E8F0"/>
                </a:solidFill>
                <a:latin typeface="Consolas"/>
                <a:ea typeface="Consolas"/>
                <a:cs typeface="Consolas"/>
              </a:rPr>
              <a:t>;</a:t>
            </a:r>
            <a:endParaRPr lang="en-US" sz="950" dirty="0"/>
          </a:p>
        </p:txBody>
      </p:sp>
      <p:sp>
        <p:nvSpPr>
          <p:cNvPr id="51" name="cw2_L14"/>
          <p:cNvSpPr txBox="1"/>
          <p:nvPr/>
        </p:nvSpPr>
        <p:spPr>
          <a:xfrm>
            <a:off x="6761074" y="4750816"/>
            <a:ext cx="47137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52" name="lab"/>
          <p:cNvSpPr txBox="1"/>
          <p:nvPr/>
        </p:nvSpPr>
        <p:spPr>
          <a:xfrm>
            <a:off x="543154" y="4041648"/>
            <a:ext cx="0" cy="201168"/>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100" dirty="0"/>
          </a:p>
        </p:txBody>
      </p:sp>
      <p:sp>
        <p:nvSpPr>
          <p:cNvPr id="53" name="lane"/>
          <p:cNvSpPr/>
          <p:nvPr/>
        </p:nvSpPr>
        <p:spPr>
          <a:xfrm>
            <a:off x="634594" y="4224528"/>
            <a:ext cx="5669280" cy="18288"/>
          </a:xfrm>
          <a:prstGeom prst="rect">
            <a:avLst/>
          </a:prstGeom>
          <a:solidFill>
            <a:srgbClr val="1E3A5F"/>
          </a:solidFill>
          <a:ln w="12700">
            <a:solidFill>
              <a:srgbClr val="1E3A5F"/>
            </a:solidFill>
            <a:prstDash val="solid"/>
          </a:ln>
        </p:spPr>
        <p:txBody>
          <a:bodyPr/>
          <a:lstStyle/>
          <a:p>
            <a:endParaRPr lang="en-US"/>
          </a:p>
        </p:txBody>
      </p:sp>
      <p:sp>
        <p:nvSpPr>
          <p:cNvPr id="54" name="bar"/>
          <p:cNvSpPr/>
          <p:nvPr/>
        </p:nvSpPr>
        <p:spPr>
          <a:xfrm>
            <a:off x="634594" y="4041648"/>
            <a:ext cx="2804160" cy="192024"/>
          </a:xfrm>
          <a:prstGeom prst="roundRect">
            <a:avLst>
              <a:gd name="adj" fmla="val 20000"/>
            </a:avLst>
          </a:prstGeom>
          <a:solidFill>
            <a:srgbClr val="4D91F0">
              <a:alpha val="28000"/>
            </a:srgbClr>
          </a:solidFill>
          <a:ln w="12700">
            <a:solidFill>
              <a:srgbClr val="4D91F0"/>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info 800 ms</a:t>
            </a:r>
            <a:endParaRPr lang="en-US" sz="850" dirty="0"/>
          </a:p>
        </p:txBody>
      </p:sp>
      <p:sp>
        <p:nvSpPr>
          <p:cNvPr id="55" name="lab"/>
          <p:cNvSpPr txBox="1"/>
          <p:nvPr/>
        </p:nvSpPr>
        <p:spPr>
          <a:xfrm>
            <a:off x="543154" y="4261104"/>
            <a:ext cx="0" cy="201168"/>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100" dirty="0"/>
          </a:p>
        </p:txBody>
      </p:sp>
      <p:sp>
        <p:nvSpPr>
          <p:cNvPr id="56" name="lane"/>
          <p:cNvSpPr/>
          <p:nvPr/>
        </p:nvSpPr>
        <p:spPr>
          <a:xfrm>
            <a:off x="634594" y="4443984"/>
            <a:ext cx="5669280" cy="18288"/>
          </a:xfrm>
          <a:prstGeom prst="rect">
            <a:avLst/>
          </a:prstGeom>
          <a:solidFill>
            <a:srgbClr val="1E3A5F"/>
          </a:solidFill>
          <a:ln w="12700">
            <a:solidFill>
              <a:srgbClr val="1E3A5F"/>
            </a:solidFill>
            <a:prstDash val="solid"/>
          </a:ln>
        </p:spPr>
        <p:txBody>
          <a:bodyPr/>
          <a:lstStyle/>
          <a:p>
            <a:endParaRPr lang="en-US"/>
          </a:p>
        </p:txBody>
      </p:sp>
      <p:sp>
        <p:nvSpPr>
          <p:cNvPr id="57" name="bar"/>
          <p:cNvSpPr/>
          <p:nvPr/>
        </p:nvSpPr>
        <p:spPr>
          <a:xfrm>
            <a:off x="634594" y="4261104"/>
            <a:ext cx="4206240" cy="192024"/>
          </a:xfrm>
          <a:prstGeom prst="roundRect">
            <a:avLst>
              <a:gd name="adj" fmla="val 20000"/>
            </a:avLst>
          </a:prstGeom>
          <a:solidFill>
            <a:srgbClr val="34D399">
              <a:alpha val="2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menu 1200 ms</a:t>
            </a:r>
            <a:endParaRPr lang="en-US" sz="850" dirty="0"/>
          </a:p>
        </p:txBody>
      </p:sp>
      <p:sp>
        <p:nvSpPr>
          <p:cNvPr id="58" name="lab"/>
          <p:cNvSpPr txBox="1"/>
          <p:nvPr/>
        </p:nvSpPr>
        <p:spPr>
          <a:xfrm>
            <a:off x="543154" y="4480560"/>
            <a:ext cx="0" cy="201168"/>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100" dirty="0"/>
          </a:p>
        </p:txBody>
      </p:sp>
      <p:sp>
        <p:nvSpPr>
          <p:cNvPr id="59" name="lane"/>
          <p:cNvSpPr/>
          <p:nvPr/>
        </p:nvSpPr>
        <p:spPr>
          <a:xfrm>
            <a:off x="634594" y="4663440"/>
            <a:ext cx="5669280" cy="18288"/>
          </a:xfrm>
          <a:prstGeom prst="rect">
            <a:avLst/>
          </a:prstGeom>
          <a:solidFill>
            <a:srgbClr val="1E3A5F"/>
          </a:solidFill>
          <a:ln w="12700">
            <a:solidFill>
              <a:srgbClr val="1E3A5F"/>
            </a:solidFill>
            <a:prstDash val="solid"/>
          </a:ln>
        </p:spPr>
        <p:txBody>
          <a:bodyPr/>
          <a:lstStyle/>
          <a:p>
            <a:endParaRPr lang="en-US"/>
          </a:p>
        </p:txBody>
      </p:sp>
      <p:sp>
        <p:nvSpPr>
          <p:cNvPr id="60" name="bar"/>
          <p:cNvSpPr/>
          <p:nvPr/>
        </p:nvSpPr>
        <p:spPr>
          <a:xfrm>
            <a:off x="634594" y="4480560"/>
            <a:ext cx="3505200" cy="192024"/>
          </a:xfrm>
          <a:prstGeom prst="roundRect">
            <a:avLst>
              <a:gd name="adj" fmla="val 20000"/>
            </a:avLst>
          </a:prstGeom>
          <a:solidFill>
            <a:srgbClr val="FBBF24">
              <a:alpha val="2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850" b="1" dirty="0">
                <a:solidFill>
                  <a:srgbClr val="FFFFFF"/>
                </a:solidFill>
                <a:latin typeface="Segoe UI"/>
                <a:ea typeface="Segoe UI"/>
                <a:cs typeface="Segoe UI"/>
              </a:rPr>
              <a:t>reviews 1000 ms</a:t>
            </a:r>
            <a:endParaRPr lang="en-US" sz="850" dirty="0"/>
          </a:p>
        </p:txBody>
      </p:sp>
      <p:sp>
        <p:nvSpPr>
          <p:cNvPr id="61" name="lab"/>
          <p:cNvSpPr txBox="1"/>
          <p:nvPr/>
        </p:nvSpPr>
        <p:spPr>
          <a:xfrm>
            <a:off x="4977994" y="4178808"/>
            <a:ext cx="13716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 1.2 s</a:t>
            </a:r>
            <a:endParaRPr lang="en-US" sz="1200" dirty="0"/>
          </a:p>
        </p:txBody>
      </p:sp>
      <p:sp>
        <p:nvSpPr>
          <p:cNvPr id="62" name="out_win"/>
          <p:cNvSpPr/>
          <p:nvPr/>
        </p:nvSpPr>
        <p:spPr>
          <a:xfrm>
            <a:off x="543154" y="4818888"/>
            <a:ext cx="5760720" cy="1188720"/>
          </a:xfrm>
          <a:prstGeom prst="roundRect">
            <a:avLst>
              <a:gd name="adj" fmla="val 5769"/>
            </a:avLst>
          </a:prstGeom>
          <a:solidFill>
            <a:srgbClr val="060D18"/>
          </a:solidFill>
          <a:ln w="12700">
            <a:solidFill>
              <a:srgbClr val="1E3A5F"/>
            </a:solidFill>
            <a:prstDash val="solid"/>
          </a:ln>
        </p:spPr>
        <p:txBody>
          <a:bodyPr/>
          <a:lstStyle/>
          <a:p>
            <a:endParaRPr lang="en-US"/>
          </a:p>
        </p:txBody>
      </p:sp>
      <p:sp>
        <p:nvSpPr>
          <p:cNvPr id="63" name="out_bar"/>
          <p:cNvSpPr/>
          <p:nvPr/>
        </p:nvSpPr>
        <p:spPr>
          <a:xfrm>
            <a:off x="543154" y="481888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64" name="out_barfill"/>
          <p:cNvSpPr/>
          <p:nvPr/>
        </p:nvSpPr>
        <p:spPr>
          <a:xfrm>
            <a:off x="543154" y="4990338"/>
            <a:ext cx="5760720" cy="171450"/>
          </a:xfrm>
          <a:prstGeom prst="rect">
            <a:avLst/>
          </a:prstGeom>
          <a:solidFill>
            <a:srgbClr val="0A1220"/>
          </a:solidFill>
          <a:ln w="12700">
            <a:solidFill>
              <a:srgbClr val="0A1220"/>
            </a:solidFill>
            <a:prstDash val="solid"/>
          </a:ln>
        </p:spPr>
        <p:txBody>
          <a:bodyPr/>
          <a:lstStyle/>
          <a:p>
            <a:endParaRPr lang="en-US"/>
          </a:p>
        </p:txBody>
      </p:sp>
      <p:sp>
        <p:nvSpPr>
          <p:cNvPr id="65" name="out_dot0"/>
          <p:cNvSpPr/>
          <p:nvPr/>
        </p:nvSpPr>
        <p:spPr>
          <a:xfrm>
            <a:off x="705002" y="4942698"/>
            <a:ext cx="95098" cy="95098"/>
          </a:xfrm>
          <a:prstGeom prst="ellipse">
            <a:avLst/>
          </a:prstGeom>
          <a:solidFill>
            <a:srgbClr val="F87171"/>
          </a:solidFill>
          <a:ln w="12700">
            <a:solidFill>
              <a:srgbClr val="F87171"/>
            </a:solidFill>
            <a:prstDash val="solid"/>
          </a:ln>
        </p:spPr>
        <p:txBody>
          <a:bodyPr/>
          <a:lstStyle/>
          <a:p>
            <a:endParaRPr lang="en-US"/>
          </a:p>
        </p:txBody>
      </p:sp>
      <p:sp>
        <p:nvSpPr>
          <p:cNvPr id="66" name="out_dot1"/>
          <p:cNvSpPr/>
          <p:nvPr/>
        </p:nvSpPr>
        <p:spPr>
          <a:xfrm>
            <a:off x="890626" y="4942698"/>
            <a:ext cx="95098" cy="95098"/>
          </a:xfrm>
          <a:prstGeom prst="ellipse">
            <a:avLst/>
          </a:prstGeom>
          <a:solidFill>
            <a:srgbClr val="FBBF24"/>
          </a:solidFill>
          <a:ln w="12700">
            <a:solidFill>
              <a:srgbClr val="FBBF24"/>
            </a:solidFill>
            <a:prstDash val="solid"/>
          </a:ln>
        </p:spPr>
        <p:txBody>
          <a:bodyPr/>
          <a:lstStyle/>
          <a:p>
            <a:endParaRPr lang="en-US"/>
          </a:p>
        </p:txBody>
      </p:sp>
      <p:sp>
        <p:nvSpPr>
          <p:cNvPr id="67" name="out_dot2"/>
          <p:cNvSpPr/>
          <p:nvPr/>
        </p:nvSpPr>
        <p:spPr>
          <a:xfrm>
            <a:off x="1076249" y="4942698"/>
            <a:ext cx="95098" cy="95098"/>
          </a:xfrm>
          <a:prstGeom prst="ellipse">
            <a:avLst/>
          </a:prstGeom>
          <a:solidFill>
            <a:srgbClr val="34D399"/>
          </a:solidFill>
          <a:ln w="12700">
            <a:solidFill>
              <a:srgbClr val="34D399"/>
            </a:solidFill>
            <a:prstDash val="solid"/>
          </a:ln>
        </p:spPr>
        <p:txBody>
          <a:bodyPr/>
          <a:lstStyle/>
          <a:p>
            <a:endParaRPr lang="en-US"/>
          </a:p>
        </p:txBody>
      </p:sp>
      <p:sp>
        <p:nvSpPr>
          <p:cNvPr id="68" name="out_tab"/>
          <p:cNvSpPr/>
          <p:nvPr/>
        </p:nvSpPr>
        <p:spPr>
          <a:xfrm>
            <a:off x="1324051" y="486643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69" name="out_L00"/>
          <p:cNvSpPr txBox="1"/>
          <p:nvPr/>
        </p:nvSpPr>
        <p:spPr>
          <a:xfrm>
            <a:off x="771754" y="529437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Zooba · Zamalek · open now</a:t>
            </a:r>
            <a:endParaRPr lang="en-US" sz="950" dirty="0"/>
          </a:p>
        </p:txBody>
      </p:sp>
      <p:sp>
        <p:nvSpPr>
          <p:cNvPr id="70" name="out_L01"/>
          <p:cNvSpPr txBox="1"/>
          <p:nvPr/>
        </p:nvSpPr>
        <p:spPr>
          <a:xfrm>
            <a:off x="771754" y="548741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Menu: 24 dishes</a:t>
            </a:r>
            <a:endParaRPr lang="en-US" sz="950" dirty="0"/>
          </a:p>
        </p:txBody>
      </p:sp>
      <p:sp>
        <p:nvSpPr>
          <p:cNvPr id="71" name="out_L02"/>
          <p:cNvSpPr txBox="1"/>
          <p:nvPr/>
        </p:nvSpPr>
        <p:spPr>
          <a:xfrm>
            <a:off x="771754" y="5680456"/>
            <a:ext cx="537667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Reviews: 4.8 (1,240)</a:t>
            </a:r>
            <a:endParaRPr lang="en-US" sz="950" dirty="0"/>
          </a:p>
        </p:txBody>
      </p:sp>
      <p:sp>
        <p:nvSpPr>
          <p:cNvPr id="72" name="card"/>
          <p:cNvSpPr/>
          <p:nvPr/>
        </p:nvSpPr>
        <p:spPr>
          <a:xfrm>
            <a:off x="6532474" y="5230368"/>
            <a:ext cx="5097780" cy="822960"/>
          </a:xfrm>
          <a:prstGeom prst="roundRect">
            <a:avLst>
              <a:gd name="adj" fmla="val 10000"/>
            </a:avLst>
          </a:prstGeom>
          <a:solidFill>
            <a:srgbClr val="111B2E"/>
          </a:solidFill>
          <a:ln w="12700">
            <a:solidFill>
              <a:srgbClr val="13D0F7"/>
            </a:solidFill>
            <a:prstDash val="solid"/>
          </a:ln>
        </p:spPr>
        <p:txBody>
          <a:bodyPr wrap="square" lIns="182880" tIns="27432" rIns="137160" bIns="27432" rtlCol="0" anchor="ctr">
            <a:noAutofit/>
          </a:bodyPr>
          <a:lstStyle/>
          <a:p>
            <a:pPr marL="0" indent="0" algn="l">
              <a:spcBef>
                <a:spcPts val="0"/>
              </a:spcBef>
              <a:spcAft>
                <a:spcPts val="0"/>
              </a:spcAft>
              <a:buNone/>
            </a:pPr>
            <a:r>
              <a:rPr lang="en-US" sz="1200" b="0" dirty="0">
                <a:solidFill>
                  <a:srgbClr val="FFFFFF"/>
                </a:solidFill>
                <a:latin typeface="Segoe UI"/>
                <a:ea typeface="Segoe UI"/>
                <a:cs typeface="Segoe UI"/>
              </a:rPr>
              <a:t>Note : one task represent all tasks! , but the tasks already started!  </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250"/>
                                        <p:tgtEl>
                                          <p:spTgt spid="3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250"/>
                                        <p:tgtEl>
                                          <p:spTgt spid="3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250"/>
                                        <p:tgtEl>
                                          <p:spTgt spid="3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250"/>
                                        <p:tgtEl>
                                          <p:spTgt spid="4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250"/>
                                        <p:tgtEl>
                                          <p:spTgt spid="4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fade">
                                      <p:cBhvr>
                                        <p:cTn id="45" dur="250"/>
                                        <p:tgtEl>
                                          <p:spTgt spid="4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250"/>
                                        <p:tgtEl>
                                          <p:spTgt spid="4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250"/>
                                        <p:tgtEl>
                                          <p:spTgt spid="4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fade">
                                      <p:cBhvr>
                                        <p:cTn id="54" dur="250"/>
                                        <p:tgtEl>
                                          <p:spTgt spid="4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250"/>
                                        <p:tgtEl>
                                          <p:spTgt spid="4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fade">
                                      <p:cBhvr>
                                        <p:cTn id="60" dur="250"/>
                                        <p:tgtEl>
                                          <p:spTgt spid="4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250"/>
                                        <p:tgtEl>
                                          <p:spTgt spid="4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9"/>
                                        </p:tgtEl>
                                        <p:attrNameLst>
                                          <p:attrName>style.visibility</p:attrName>
                                        </p:attrNameLst>
                                      </p:cBhvr>
                                      <p:to>
                                        <p:strVal val="visible"/>
                                      </p:to>
                                    </p:set>
                                    <p:animEffect transition="in" filter="fade">
                                      <p:cBhvr>
                                        <p:cTn id="66" dur="250"/>
                                        <p:tgtEl>
                                          <p:spTgt spid="4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250"/>
                                        <p:tgtEl>
                                          <p:spTgt spid="5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250"/>
                                        <p:tgtEl>
                                          <p:spTgt spid="5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2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fade">
                                      <p:cBhvr>
                                        <p:cTn id="80" dur="250"/>
                                        <p:tgtEl>
                                          <p:spTgt spid="5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fade">
                                      <p:cBhvr>
                                        <p:cTn id="83" dur="250"/>
                                        <p:tgtEl>
                                          <p:spTgt spid="5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fade">
                                      <p:cBhvr>
                                        <p:cTn id="86" dur="250"/>
                                        <p:tgtEl>
                                          <p:spTgt spid="5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5"/>
                                        </p:tgtEl>
                                        <p:attrNameLst>
                                          <p:attrName>style.visibility</p:attrName>
                                        </p:attrNameLst>
                                      </p:cBhvr>
                                      <p:to>
                                        <p:strVal val="visible"/>
                                      </p:to>
                                    </p:set>
                                    <p:animEffect transition="in" filter="fade">
                                      <p:cBhvr>
                                        <p:cTn id="89" dur="250"/>
                                        <p:tgtEl>
                                          <p:spTgt spid="5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fade">
                                      <p:cBhvr>
                                        <p:cTn id="92" dur="250"/>
                                        <p:tgtEl>
                                          <p:spTgt spid="5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fade">
                                      <p:cBhvr>
                                        <p:cTn id="95" dur="250"/>
                                        <p:tgtEl>
                                          <p:spTgt spid="5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250"/>
                                        <p:tgtEl>
                                          <p:spTgt spid="5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250"/>
                                        <p:tgtEl>
                                          <p:spTgt spid="5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250"/>
                                        <p:tgtEl>
                                          <p:spTgt spid="6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250"/>
                                        <p:tgtEl>
                                          <p:spTgt spid="61"/>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250"/>
                                        <p:tgtEl>
                                          <p:spTgt spid="6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70"/>
                                        </p:tgtEl>
                                        <p:attrNameLst>
                                          <p:attrName>style.visibility</p:attrName>
                                        </p:attrNameLst>
                                      </p:cBhvr>
                                      <p:to>
                                        <p:strVal val="visible"/>
                                      </p:to>
                                    </p:set>
                                    <p:animEffect transition="in" filter="fade">
                                      <p:cBhvr>
                                        <p:cTn id="115" dur="250"/>
                                        <p:tgtEl>
                                          <p:spTgt spid="7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1"/>
                                        </p:tgtEl>
                                        <p:attrNameLst>
                                          <p:attrName>style.visibility</p:attrName>
                                        </p:attrNameLst>
                                      </p:cBhvr>
                                      <p:to>
                                        <p:strVal val="visible"/>
                                      </p:to>
                                    </p:set>
                                    <p:animEffect transition="in" filter="fade">
                                      <p:cBhvr>
                                        <p:cTn id="118" dur="250"/>
                                        <p:tgtEl>
                                          <p:spTgt spid="71"/>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72"/>
                                        </p:tgtEl>
                                        <p:attrNameLst>
                                          <p:attrName>style.visibility</p:attrName>
                                        </p:attrNameLst>
                                      </p:cBhvr>
                                      <p:to>
                                        <p:strVal val="visible"/>
                                      </p:to>
                                    </p:set>
                                    <p:animEffect transition="in" filter="fade">
                                      <p:cBhvr>
                                        <p:cTn id="123" dur="25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animBg="1"/>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animBg="1"/>
      <p:bldP spid="54" grpId="0" animBg="1"/>
      <p:bldP spid="55" grpId="0"/>
      <p:bldP spid="56" grpId="0" animBg="1"/>
      <p:bldP spid="57" grpId="0" animBg="1"/>
      <p:bldP spid="58" grpId="0"/>
      <p:bldP spid="59" grpId="0" animBg="1"/>
      <p:bldP spid="60" grpId="0" animBg="1"/>
      <p:bldP spid="61" grpId="0"/>
      <p:bldP spid="69" grpId="0"/>
      <p:bldP spid="70" grpId="0"/>
      <p:bldP spid="71" grpId="0"/>
      <p:bldP spid="7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WHENALL · 1</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Task.WhenAll Line by Line (1/3): The Tasks Already Run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57</a:t>
            </a:r>
            <a:endParaRPr lang="en-US" sz="850" dirty="0"/>
          </a:p>
        </p:txBody>
      </p:sp>
      <p:grpSp>
        <p:nvGrpSpPr>
          <p:cNvPr id="128" name="code"/>
          <p:cNvGrpSpPr/>
          <p:nvPr/>
        </p:nvGrpSpPr>
        <p:grpSpPr>
          <a:xfrm>
            <a:off x="543154" y="1481328"/>
            <a:ext cx="5486400" cy="4195900"/>
            <a:chOff x="543154" y="1481328"/>
            <a:chExt cx="5486400" cy="4195900"/>
          </a:xfrm>
        </p:grpSpPr>
        <p:sp>
          <p:nvSpPr>
            <p:cNvPr id="101" name="code_win"/>
            <p:cNvSpPr/>
            <p:nvPr/>
          </p:nvSpPr>
          <p:spPr>
            <a:xfrm>
              <a:off x="543154" y="1481328"/>
              <a:ext cx="5486400" cy="4195900"/>
            </a:xfrm>
            <a:prstGeom prst="roundRect">
              <a:avLst>
                <a:gd name="adj" fmla="val 1633"/>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54864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Task payment = FailAsync(</a:t>
              </a:r>
              <a:r>
                <a:rPr lang="en-US" sz="760" b="0" dirty="0">
                  <a:solidFill>
                    <a:srgbClr val="F0A98B"/>
                  </a:solidFill>
                  <a:latin typeface="Consolas"/>
                  <a:ea typeface="Consolas"/>
                  <a:cs typeface="Consolas"/>
                </a:rPr>
                <a:t>"Payment service down"</a:t>
              </a:r>
              <a:r>
                <a:rPr lang="en-US" sz="760" b="0" dirty="0">
                  <a:solidFill>
                    <a:srgbClr val="E2E8F0"/>
                  </a:solidFill>
                  <a:latin typeface="Consolas"/>
                  <a:ea typeface="Consolas"/>
                  <a:cs typeface="Consolas"/>
                </a:rPr>
                <a:t>, 300);</a:t>
              </a:r>
              <a:endParaRPr lang="en-US" sz="760" dirty="0"/>
            </a:p>
          </p:txBody>
        </p:sp>
        <p:sp>
          <p:nvSpPr>
            <p:cNvPr id="109" name="code_L01"/>
            <p:cNvSpPr txBox="1"/>
            <p:nvPr/>
          </p:nvSpPr>
          <p:spPr>
            <a:xfrm>
              <a:off x="771754" y="21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Task sms     = FailAsync(</a:t>
              </a:r>
              <a:r>
                <a:rPr lang="en-US" sz="760" b="0" dirty="0">
                  <a:solidFill>
                    <a:srgbClr val="F0A98B"/>
                  </a:solidFill>
                  <a:latin typeface="Consolas"/>
                  <a:ea typeface="Consolas"/>
                  <a:cs typeface="Consolas"/>
                </a:rPr>
                <a:t>"SMS service down"</a:t>
              </a:r>
              <a:r>
                <a:rPr lang="en-US" sz="760" b="0" dirty="0">
                  <a:solidFill>
                    <a:srgbClr val="E2E8F0"/>
                  </a:solidFill>
                  <a:latin typeface="Consolas"/>
                  <a:ea typeface="Consolas"/>
                  <a:cs typeface="Consolas"/>
                </a:rPr>
                <a:t>, 100);</a:t>
              </a:r>
              <a:endParaRPr lang="en-US" sz="760" dirty="0"/>
            </a:p>
          </p:txBody>
        </p:sp>
        <p:sp>
          <p:nvSpPr>
            <p:cNvPr id="110" name="code_L02"/>
            <p:cNvSpPr txBox="1"/>
            <p:nvPr/>
          </p:nvSpPr>
          <p:spPr>
            <a:xfrm>
              <a:off x="771754" y="225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Task kitchen = Task.Delay(200);</a:t>
              </a:r>
              <a:endParaRPr lang="en-US" sz="760" dirty="0"/>
            </a:p>
          </p:txBody>
        </p:sp>
        <p:sp>
          <p:nvSpPr>
            <p:cNvPr id="111" name="code_L04"/>
            <p:cNvSpPr txBox="1"/>
            <p:nvPr/>
          </p:nvSpPr>
          <p:spPr>
            <a:xfrm>
              <a:off x="771754" y="255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Task[] tasks = [payment, sms, kitchen];</a:t>
              </a:r>
              <a:endParaRPr lang="en-US" sz="760" dirty="0"/>
            </a:p>
          </p:txBody>
        </p:sp>
        <p:sp>
          <p:nvSpPr>
            <p:cNvPr id="112" name="code_L06"/>
            <p:cNvSpPr txBox="1"/>
            <p:nvPr/>
          </p:nvSpPr>
          <p:spPr>
            <a:xfrm>
              <a:off x="771754" y="285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try</a:t>
              </a:r>
              <a:endParaRPr lang="en-US" sz="760" dirty="0"/>
            </a:p>
          </p:txBody>
        </p:sp>
        <p:sp>
          <p:nvSpPr>
            <p:cNvPr id="113" name="code_L07"/>
            <p:cNvSpPr txBox="1"/>
            <p:nvPr/>
          </p:nvSpPr>
          <p:spPr>
            <a:xfrm>
              <a:off x="771754" y="30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4" name="code_L08"/>
            <p:cNvSpPr txBox="1"/>
            <p:nvPr/>
          </p:nvSpPr>
          <p:spPr>
            <a:xfrm>
              <a:off x="771754" y="3157228"/>
              <a:ext cx="518640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Task.WhenAll(tasks);</a:t>
              </a:r>
              <a:endParaRPr lang="en-US" sz="760" dirty="0"/>
            </a:p>
          </p:txBody>
        </p:sp>
        <p:sp>
          <p:nvSpPr>
            <p:cNvPr id="115" name="code_L09"/>
            <p:cNvSpPr txBox="1"/>
            <p:nvPr/>
          </p:nvSpPr>
          <p:spPr>
            <a:xfrm>
              <a:off x="771754" y="33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6" name="code_L10"/>
            <p:cNvSpPr txBox="1"/>
            <p:nvPr/>
          </p:nvSpPr>
          <p:spPr>
            <a:xfrm>
              <a:off x="771754" y="345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catch</a:t>
              </a:r>
              <a:r>
                <a:rPr lang="en-US" sz="760" b="0" dirty="0">
                  <a:solidFill>
                    <a:srgbClr val="E2E8F0"/>
                  </a:solidFill>
                  <a:latin typeface="Consolas"/>
                  <a:ea typeface="Consolas"/>
                  <a:cs typeface="Consolas"/>
                </a:rPr>
                <a:t> (Exception ex)</a:t>
              </a:r>
              <a:endParaRPr lang="en-US" sz="760" dirty="0"/>
            </a:p>
          </p:txBody>
        </p:sp>
        <p:sp>
          <p:nvSpPr>
            <p:cNvPr id="117" name="code_L11"/>
            <p:cNvSpPr txBox="1"/>
            <p:nvPr/>
          </p:nvSpPr>
          <p:spPr>
            <a:xfrm>
              <a:off x="771754" y="36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8" name="code_L12"/>
            <p:cNvSpPr txBox="1"/>
            <p:nvPr/>
          </p:nvSpPr>
          <p:spPr>
            <a:xfrm>
              <a:off x="771754" y="3757228"/>
              <a:ext cx="518640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Console.WriteLine(</a:t>
              </a:r>
              <a:r>
                <a:rPr lang="en-US" sz="760" b="0" dirty="0">
                  <a:solidFill>
                    <a:srgbClr val="F0A98B"/>
                  </a:solidFill>
                  <a:latin typeface="Consolas"/>
                  <a:ea typeface="Consolas"/>
                  <a:cs typeface="Consolas"/>
                </a:rPr>
                <a:t>$"Caught: {ex.Message}"</a:t>
              </a:r>
              <a:r>
                <a:rPr lang="en-US" sz="760" b="0" dirty="0">
                  <a:solidFill>
                    <a:srgbClr val="E2E8F0"/>
                  </a:solidFill>
                  <a:latin typeface="Consolas"/>
                  <a:ea typeface="Consolas"/>
                  <a:cs typeface="Consolas"/>
                </a:rPr>
                <a:t>);</a:t>
              </a:r>
              <a:endParaRPr lang="en-US" sz="760" dirty="0"/>
            </a:p>
          </p:txBody>
        </p:sp>
        <p:sp>
          <p:nvSpPr>
            <p:cNvPr id="119" name="code_L13"/>
            <p:cNvSpPr txBox="1"/>
            <p:nvPr/>
          </p:nvSpPr>
          <p:spPr>
            <a:xfrm>
              <a:off x="771754" y="39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0" name="code_L15"/>
            <p:cNvSpPr txBox="1"/>
            <p:nvPr/>
          </p:nvSpPr>
          <p:spPr>
            <a:xfrm>
              <a:off x="771754" y="42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foreach</a:t>
              </a:r>
              <a:r>
                <a:rPr lang="en-US" sz="760" b="0" dirty="0">
                  <a:solidFill>
                    <a:srgbClr val="E2E8F0"/>
                  </a:solidFill>
                  <a:latin typeface="Consolas"/>
                  <a:ea typeface="Consolas"/>
                  <a:cs typeface="Consolas"/>
                </a:rPr>
                <a:t> (Task task </a:t>
              </a:r>
              <a:r>
                <a:rPr lang="en-US" sz="760" b="0" dirty="0">
                  <a:solidFill>
                    <a:srgbClr val="60A5FA"/>
                  </a:solidFill>
                  <a:latin typeface="Consolas"/>
                  <a:ea typeface="Consolas"/>
                  <a:cs typeface="Consolas"/>
                </a:rPr>
                <a:t>in</a:t>
              </a:r>
              <a:r>
                <a:rPr lang="en-US" sz="760" b="0" dirty="0">
                  <a:solidFill>
                    <a:srgbClr val="E2E8F0"/>
                  </a:solidFill>
                  <a:latin typeface="Consolas"/>
                  <a:ea typeface="Consolas"/>
                  <a:cs typeface="Consolas"/>
                </a:rPr>
                <a:t> tasks)</a:t>
              </a:r>
              <a:endParaRPr lang="en-US" sz="760" dirty="0"/>
            </a:p>
          </p:txBody>
        </p:sp>
        <p:sp>
          <p:nvSpPr>
            <p:cNvPr id="121" name="code_L16"/>
            <p:cNvSpPr txBox="1"/>
            <p:nvPr/>
          </p:nvSpPr>
          <p:spPr>
            <a:xfrm>
              <a:off x="771754" y="4357228"/>
              <a:ext cx="518640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if</a:t>
              </a:r>
              <a:r>
                <a:rPr lang="en-US" sz="760" b="0" dirty="0">
                  <a:solidFill>
                    <a:srgbClr val="E2E8F0"/>
                  </a:solidFill>
                  <a:latin typeface="Consolas"/>
                  <a:ea typeface="Consolas"/>
                  <a:cs typeface="Consolas"/>
                </a:rPr>
                <a:t> (task.IsFaulted)</a:t>
              </a:r>
              <a:endParaRPr lang="en-US" sz="760" dirty="0"/>
            </a:p>
          </p:txBody>
        </p:sp>
        <p:sp>
          <p:nvSpPr>
            <p:cNvPr id="122" name="code_L17"/>
            <p:cNvSpPr txBox="1"/>
            <p:nvPr/>
          </p:nvSpPr>
          <p:spPr>
            <a:xfrm>
              <a:off x="771754" y="4507228"/>
              <a:ext cx="518640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Console.WriteLine(</a:t>
              </a:r>
              <a:r>
                <a:rPr lang="en-US" sz="760" b="0" dirty="0">
                  <a:solidFill>
                    <a:srgbClr val="F0A98B"/>
                  </a:solidFill>
                  <a:latin typeface="Consolas"/>
                  <a:ea typeface="Consolas"/>
                  <a:cs typeface="Consolas"/>
                </a:rPr>
                <a:t>$"Failed: {task.Exception!.InnerException!.Message}"</a:t>
              </a:r>
              <a:r>
                <a:rPr lang="en-US" sz="760" b="0" dirty="0">
                  <a:solidFill>
                    <a:srgbClr val="E2E8F0"/>
                  </a:solidFill>
                  <a:latin typeface="Consolas"/>
                  <a:ea typeface="Consolas"/>
                  <a:cs typeface="Consolas"/>
                </a:rPr>
                <a:t>);</a:t>
              </a:r>
              <a:endParaRPr lang="en-US" sz="760" dirty="0"/>
            </a:p>
          </p:txBody>
        </p:sp>
        <p:sp>
          <p:nvSpPr>
            <p:cNvPr id="123" name="code_L19"/>
            <p:cNvSpPr txBox="1"/>
            <p:nvPr/>
          </p:nvSpPr>
          <p:spPr>
            <a:xfrm>
              <a:off x="771754" y="48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async</a:t>
              </a:r>
              <a:r>
                <a:rPr lang="en-US" sz="760" b="0" dirty="0">
                  <a:solidFill>
                    <a:srgbClr val="E2E8F0"/>
                  </a:solidFill>
                  <a:latin typeface="Consolas"/>
                  <a:ea typeface="Consolas"/>
                  <a:cs typeface="Consolas"/>
                </a:rPr>
                <a:t> Task FailAsync(</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message,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ms)</a:t>
              </a:r>
              <a:endParaRPr lang="en-US" sz="760" dirty="0"/>
            </a:p>
          </p:txBody>
        </p:sp>
        <p:sp>
          <p:nvSpPr>
            <p:cNvPr id="124" name="code_L20"/>
            <p:cNvSpPr txBox="1"/>
            <p:nvPr/>
          </p:nvSpPr>
          <p:spPr>
            <a:xfrm>
              <a:off x="771754" y="495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5" name="code_L21"/>
            <p:cNvSpPr txBox="1"/>
            <p:nvPr/>
          </p:nvSpPr>
          <p:spPr>
            <a:xfrm>
              <a:off x="771754" y="5107228"/>
              <a:ext cx="518640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Task.Delay(ms);</a:t>
              </a:r>
              <a:endParaRPr lang="en-US" sz="760" dirty="0"/>
            </a:p>
          </p:txBody>
        </p:sp>
        <p:sp>
          <p:nvSpPr>
            <p:cNvPr id="126" name="code_L22"/>
            <p:cNvSpPr txBox="1"/>
            <p:nvPr/>
          </p:nvSpPr>
          <p:spPr>
            <a:xfrm>
              <a:off x="771754" y="5257228"/>
              <a:ext cx="518640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throw</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Exception(message);</a:t>
              </a:r>
              <a:endParaRPr lang="en-US" sz="760" dirty="0"/>
            </a:p>
          </p:txBody>
        </p:sp>
        <p:sp>
          <p:nvSpPr>
            <p:cNvPr id="127" name="code_L23"/>
            <p:cNvSpPr txBox="1"/>
            <p:nvPr/>
          </p:nvSpPr>
          <p:spPr>
            <a:xfrm>
              <a:off x="771754" y="5407228"/>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29" name="h0"/>
          <p:cNvSpPr/>
          <p:nvPr/>
        </p:nvSpPr>
        <p:spPr>
          <a:xfrm>
            <a:off x="676656" y="1938940"/>
            <a:ext cx="5219400" cy="18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30" name="h1"/>
          <p:cNvSpPr/>
          <p:nvPr/>
        </p:nvSpPr>
        <p:spPr>
          <a:xfrm>
            <a:off x="676656" y="2088940"/>
            <a:ext cx="5219400" cy="18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31" name="h2"/>
          <p:cNvSpPr/>
          <p:nvPr/>
        </p:nvSpPr>
        <p:spPr>
          <a:xfrm>
            <a:off x="676656" y="2238940"/>
            <a:ext cx="5219400" cy="18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32" name="s0"/>
          <p:cNvSpPr/>
          <p:nvPr/>
        </p:nvSpPr>
        <p:spPr>
          <a:xfrm>
            <a:off x="6263640" y="1481328"/>
            <a:ext cx="5366614" cy="73152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1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FailAsync("Payment…", 300)</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T1 enters, starts a 300 ms delay, hits await: not done → returns an unfinished Task. No thread blocked.</a:t>
            </a:r>
            <a:endParaRPr lang="en-US" sz="1000" dirty="0"/>
          </a:p>
        </p:txBody>
      </p:sp>
      <p:sp>
        <p:nvSpPr>
          <p:cNvPr id="133" name="s1"/>
          <p:cNvSpPr/>
          <p:nvPr/>
        </p:nvSpPr>
        <p:spPr>
          <a:xfrm>
            <a:off x="6263640" y="2267712"/>
            <a:ext cx="5366614" cy="73152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2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FailAsync("SMS…", 100)</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Same story: a 100 ms delay, the method pauses, a Task comes back.</a:t>
            </a:r>
            <a:endParaRPr lang="en-US" sz="1000" dirty="0"/>
          </a:p>
        </p:txBody>
      </p:sp>
      <p:sp>
        <p:nvSpPr>
          <p:cNvPr id="134" name="s2"/>
          <p:cNvSpPr/>
          <p:nvPr/>
        </p:nvSpPr>
        <p:spPr>
          <a:xfrm>
            <a:off x="6263640" y="3054096"/>
            <a:ext cx="5366614" cy="731520"/>
          </a:xfrm>
          <a:prstGeom prst="roundRect">
            <a:avLst>
              <a:gd name="adj" fmla="val 12000"/>
            </a:avLst>
          </a:prstGeom>
          <a:solidFill>
            <a:srgbClr val="111B2E"/>
          </a:solidFill>
          <a:ln w="12700">
            <a:solidFill>
              <a:srgbClr val="13D0F7"/>
            </a:solidFill>
            <a:prstDash val="solid"/>
          </a:ln>
        </p:spPr>
        <p:txBody>
          <a:bodyPr wrap="square" lIns="118872" tIns="27432" rIns="91440" bIns="27432"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3  </a:t>
            </a:r>
            <a:r>
              <a:rPr lang="en-US" sz="1000" b="1" dirty="0">
                <a:solidFill>
                  <a:srgbClr val="13D0F7"/>
                </a:solidFill>
                <a:latin typeface="Consolas"/>
                <a:ea typeface="Consolas"/>
                <a:cs typeface="Consolas"/>
              </a:rPr>
              <a:t> T1 </a:t>
            </a:r>
            <a:r>
              <a:rPr lang="en-US" sz="1000" b="0" dirty="0">
                <a:solidFill>
                  <a:srgbClr val="E2E8F0"/>
                </a:solidFill>
                <a:latin typeface="Segoe UI"/>
                <a:ea typeface="Segoe UI"/>
                <a:cs typeface="Segoe UI"/>
              </a:rPr>
              <a:t>  </a:t>
            </a:r>
            <a:r>
              <a:rPr lang="en-US" sz="1050" b="1" dirty="0">
                <a:solidFill>
                  <a:srgbClr val="FFFFFF"/>
                </a:solidFill>
                <a:latin typeface="Consolas"/>
                <a:ea typeface="Consolas"/>
                <a:cs typeface="Consolas"/>
              </a:rPr>
              <a:t>Task.Delay(200)</a:t>
            </a:r>
            <a:endParaRPr lang="en-US" sz="1200" dirty="0"/>
          </a:p>
          <a:p>
            <a:pPr marL="0" indent="0" algn="l">
              <a:spcBef>
                <a:spcPts val="0"/>
              </a:spcBef>
              <a:spcAft>
                <a:spcPts val="0"/>
              </a:spcAft>
              <a:buNone/>
            </a:pPr>
            <a:r>
              <a:rPr lang="en-US" sz="1000" b="0" dirty="0">
                <a:solidFill>
                  <a:srgbClr val="CBD5E1"/>
                </a:solidFill>
                <a:latin typeface="Segoe UI"/>
                <a:ea typeface="Segoe UI"/>
                <a:cs typeface="Segoe UI"/>
              </a:rPr>
              <a:t>A 200 ms timer, a Task comes back. T1 moves on.</a:t>
            </a:r>
            <a:endParaRPr lang="en-US" sz="1000" dirty="0"/>
          </a:p>
        </p:txBody>
      </p:sp>
      <p:sp>
        <p:nvSpPr>
          <p:cNvPr id="135" name="bh"/>
          <p:cNvSpPr txBox="1"/>
          <p:nvPr/>
        </p:nvSpPr>
        <p:spPr>
          <a:xfrm>
            <a:off x="6263640" y="3931920"/>
            <a:ext cx="5366614"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STATE RIGHT AFTER LINE 3</a:t>
            </a:r>
            <a:endParaRPr lang="en-US" sz="1000" dirty="0"/>
          </a:p>
        </p:txBody>
      </p:sp>
      <p:grpSp>
        <p:nvGrpSpPr>
          <p:cNvPr id="142" name="bars"/>
          <p:cNvGrpSpPr/>
          <p:nvPr/>
        </p:nvGrpSpPr>
        <p:grpSpPr>
          <a:xfrm>
            <a:off x="6263640" y="4233672"/>
            <a:ext cx="5275174" cy="932688"/>
            <a:chOff x="6263640" y="4233672"/>
            <a:chExt cx="5275174" cy="932688"/>
          </a:xfrm>
        </p:grpSpPr>
        <p:sp>
          <p:nvSpPr>
            <p:cNvPr id="136" name="bl0"/>
            <p:cNvSpPr txBox="1"/>
            <p:nvPr/>
          </p:nvSpPr>
          <p:spPr>
            <a:xfrm>
              <a:off x="6263640" y="4233672"/>
              <a:ext cx="10515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Payment</a:t>
              </a:r>
              <a:endParaRPr lang="en-US" sz="1050" dirty="0"/>
            </a:p>
          </p:txBody>
        </p:sp>
        <p:sp>
          <p:nvSpPr>
            <p:cNvPr id="137" name="bb0"/>
            <p:cNvSpPr/>
            <p:nvPr/>
          </p:nvSpPr>
          <p:spPr>
            <a:xfrm>
              <a:off x="7315200" y="4261104"/>
              <a:ext cx="4223614" cy="219456"/>
            </a:xfrm>
            <a:prstGeom prst="roundRect">
              <a:avLst>
                <a:gd name="adj" fmla="val 20000"/>
              </a:avLst>
            </a:prstGeom>
            <a:solidFill>
              <a:srgbClr val="F87171">
                <a:alpha val="30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300 ms</a:t>
              </a:r>
              <a:endParaRPr lang="en-US" sz="950" dirty="0"/>
            </a:p>
          </p:txBody>
        </p:sp>
        <p:sp>
          <p:nvSpPr>
            <p:cNvPr id="138" name="bl1"/>
            <p:cNvSpPr txBox="1"/>
            <p:nvPr/>
          </p:nvSpPr>
          <p:spPr>
            <a:xfrm>
              <a:off x="6263640" y="4562856"/>
              <a:ext cx="10515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SMS</a:t>
              </a:r>
              <a:endParaRPr lang="en-US" sz="1050" dirty="0"/>
            </a:p>
          </p:txBody>
        </p:sp>
        <p:sp>
          <p:nvSpPr>
            <p:cNvPr id="139" name="bb1"/>
            <p:cNvSpPr/>
            <p:nvPr/>
          </p:nvSpPr>
          <p:spPr>
            <a:xfrm>
              <a:off x="7315200" y="4590288"/>
              <a:ext cx="1407871" cy="219456"/>
            </a:xfrm>
            <a:prstGeom prst="roundRect">
              <a:avLst>
                <a:gd name="adj" fmla="val 20000"/>
              </a:avLst>
            </a:prstGeom>
            <a:solidFill>
              <a:srgbClr val="F87171">
                <a:alpha val="30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100 ms</a:t>
              </a:r>
              <a:endParaRPr lang="en-US" sz="950" dirty="0"/>
            </a:p>
          </p:txBody>
        </p:sp>
        <p:sp>
          <p:nvSpPr>
            <p:cNvPr id="140" name="bl2"/>
            <p:cNvSpPr txBox="1"/>
            <p:nvPr/>
          </p:nvSpPr>
          <p:spPr>
            <a:xfrm>
              <a:off x="6263640" y="4892040"/>
              <a:ext cx="10515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Kitchen</a:t>
              </a:r>
              <a:endParaRPr lang="en-US" sz="1050" dirty="0"/>
            </a:p>
          </p:txBody>
        </p:sp>
        <p:sp>
          <p:nvSpPr>
            <p:cNvPr id="141" name="bb2"/>
            <p:cNvSpPr/>
            <p:nvPr/>
          </p:nvSpPr>
          <p:spPr>
            <a:xfrm>
              <a:off x="7315200" y="4919472"/>
              <a:ext cx="2815742" cy="219456"/>
            </a:xfrm>
            <a:prstGeom prst="roundRect">
              <a:avLst>
                <a:gd name="adj" fmla="val 20000"/>
              </a:avLst>
            </a:prstGeom>
            <a:solidFill>
              <a:srgbClr val="34D399">
                <a:alpha val="30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200 ms</a:t>
              </a:r>
              <a:endParaRPr lang="en-US" sz="950" dirty="0"/>
            </a:p>
          </p:txBody>
        </p:sp>
      </p:grpSp>
      <p:sp>
        <p:nvSpPr>
          <p:cNvPr id="143" name="cap"/>
          <p:cNvSpPr txBox="1"/>
          <p:nvPr/>
        </p:nvSpPr>
        <p:spPr>
          <a:xfrm>
            <a:off x="6263640" y="5212080"/>
            <a:ext cx="5366614"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Bars = time until done, NOT threads that are busy.</a:t>
            </a:r>
            <a:endParaRPr lang="en-US" sz="1000" dirty="0"/>
          </a:p>
        </p:txBody>
      </p:sp>
      <p:sp>
        <p:nvSpPr>
          <p:cNvPr id="144" name="key"/>
          <p:cNvSpPr/>
          <p:nvPr/>
        </p:nvSpPr>
        <p:spPr>
          <a:xfrm>
            <a:off x="6263640" y="5504688"/>
            <a:ext cx="5366614" cy="457200"/>
          </a:xfrm>
          <a:prstGeom prst="roundRect">
            <a:avLst>
              <a:gd name="adj" fmla="val 12000"/>
            </a:avLst>
          </a:prstGeom>
          <a:solidFill>
            <a:srgbClr val="FBBF24">
              <a:alpha val="10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FBBF24"/>
                </a:solidFill>
                <a:latin typeface="Segoe UI"/>
                <a:ea typeface="Segoe UI"/>
                <a:cs typeface="Segoe UI"/>
              </a:rPr>
              <a:t>KEY  </a:t>
            </a:r>
            <a:r>
              <a:rPr lang="en-US" sz="1100" b="0" dirty="0">
                <a:solidFill>
                  <a:srgbClr val="E2E8F0"/>
                </a:solidFill>
                <a:latin typeface="Segoe UI"/>
                <a:ea typeface="Segoe UI"/>
                <a:cs typeface="Segoe UI"/>
              </a:rPr>
              <a:t>Task.WhenAll does NOT start the tasks. They already run.</a:t>
            </a:r>
            <a:endParaRPr lang="en-US" sz="1150" dirty="0"/>
          </a:p>
        </p:txBody>
      </p:sp>
    </p:spTree>
    <p:extLst>
      <p:ext uri="{BB962C8B-B14F-4D97-AF65-F5344CB8AC3E}">
        <p14:creationId xmlns:p14="http://schemas.microsoft.com/office/powerpoint/2010/main" val="36034611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fade">
                                      <p:cBhvr>
                                        <p:cTn id="7" dur="400"/>
                                        <p:tgtEl>
                                          <p:spTgt spid="1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fade">
                                      <p:cBhvr>
                                        <p:cTn id="12" dur="400"/>
                                        <p:tgtEl>
                                          <p:spTgt spid="13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9"/>
                                        </p:tgtEl>
                                        <p:attrNameLst>
                                          <p:attrName>style.visibility</p:attrName>
                                        </p:attrNameLst>
                                      </p:cBhvr>
                                      <p:to>
                                        <p:strVal val="visible"/>
                                      </p:to>
                                    </p:set>
                                    <p:animEffect transition="in" filter="fade">
                                      <p:cBhvr>
                                        <p:cTn id="15" dur="400"/>
                                        <p:tgtEl>
                                          <p:spTgt spid="1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3"/>
                                        </p:tgtEl>
                                        <p:attrNameLst>
                                          <p:attrName>style.visibility</p:attrName>
                                        </p:attrNameLst>
                                      </p:cBhvr>
                                      <p:to>
                                        <p:strVal val="visible"/>
                                      </p:to>
                                    </p:set>
                                    <p:animEffect transition="in" filter="fade">
                                      <p:cBhvr>
                                        <p:cTn id="20" dur="400"/>
                                        <p:tgtEl>
                                          <p:spTgt spid="1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0"/>
                                        </p:tgtEl>
                                        <p:attrNameLst>
                                          <p:attrName>style.visibility</p:attrName>
                                        </p:attrNameLst>
                                      </p:cBhvr>
                                      <p:to>
                                        <p:strVal val="visible"/>
                                      </p:to>
                                    </p:set>
                                    <p:animEffect transition="in" filter="fade">
                                      <p:cBhvr>
                                        <p:cTn id="23" dur="400"/>
                                        <p:tgtEl>
                                          <p:spTgt spid="1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4"/>
                                        </p:tgtEl>
                                        <p:attrNameLst>
                                          <p:attrName>style.visibility</p:attrName>
                                        </p:attrNameLst>
                                      </p:cBhvr>
                                      <p:to>
                                        <p:strVal val="visible"/>
                                      </p:to>
                                    </p:set>
                                    <p:animEffect transition="in" filter="fade">
                                      <p:cBhvr>
                                        <p:cTn id="28" dur="400"/>
                                        <p:tgtEl>
                                          <p:spTgt spid="1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1"/>
                                        </p:tgtEl>
                                        <p:attrNameLst>
                                          <p:attrName>style.visibility</p:attrName>
                                        </p:attrNameLst>
                                      </p:cBhvr>
                                      <p:to>
                                        <p:strVal val="visible"/>
                                      </p:to>
                                    </p:set>
                                    <p:animEffect transition="in" filter="fade">
                                      <p:cBhvr>
                                        <p:cTn id="31" dur="400"/>
                                        <p:tgtEl>
                                          <p:spTgt spid="13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5"/>
                                        </p:tgtEl>
                                        <p:attrNameLst>
                                          <p:attrName>style.visibility</p:attrName>
                                        </p:attrNameLst>
                                      </p:cBhvr>
                                      <p:to>
                                        <p:strVal val="visible"/>
                                      </p:to>
                                    </p:set>
                                    <p:animEffect transition="in" filter="fade">
                                      <p:cBhvr>
                                        <p:cTn id="36" dur="400"/>
                                        <p:tgtEl>
                                          <p:spTgt spid="135"/>
                                        </p:tgtEl>
                                      </p:cBhvr>
                                    </p:animEffect>
                                  </p:childTnLst>
                                </p:cTn>
                              </p:par>
                              <p:par>
                                <p:cTn id="37" presetID="10" presetClass="entr" presetSubtype="0" fill="hold" nodeType="withEffect">
                                  <p:stCondLst>
                                    <p:cond delay="0"/>
                                  </p:stCondLst>
                                  <p:childTnLst>
                                    <p:set>
                                      <p:cBhvr>
                                        <p:cTn id="38" dur="1" fill="hold">
                                          <p:stCondLst>
                                            <p:cond delay="0"/>
                                          </p:stCondLst>
                                        </p:cTn>
                                        <p:tgtEl>
                                          <p:spTgt spid="142"/>
                                        </p:tgtEl>
                                        <p:attrNameLst>
                                          <p:attrName>style.visibility</p:attrName>
                                        </p:attrNameLst>
                                      </p:cBhvr>
                                      <p:to>
                                        <p:strVal val="visible"/>
                                      </p:to>
                                    </p:set>
                                    <p:animEffect transition="in" filter="fade">
                                      <p:cBhvr>
                                        <p:cTn id="39" dur="400"/>
                                        <p:tgtEl>
                                          <p:spTgt spid="14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3"/>
                                        </p:tgtEl>
                                        <p:attrNameLst>
                                          <p:attrName>style.visibility</p:attrName>
                                        </p:attrNameLst>
                                      </p:cBhvr>
                                      <p:to>
                                        <p:strVal val="visible"/>
                                      </p:to>
                                    </p:set>
                                    <p:animEffect transition="in" filter="fade">
                                      <p:cBhvr>
                                        <p:cTn id="42" dur="400"/>
                                        <p:tgtEl>
                                          <p:spTgt spid="1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4"/>
                                        </p:tgtEl>
                                        <p:attrNameLst>
                                          <p:attrName>style.visibility</p:attrName>
                                        </p:attrNameLst>
                                      </p:cBhvr>
                                      <p:to>
                                        <p:strVal val="visible"/>
                                      </p:to>
                                    </p:set>
                                    <p:animEffect transition="in" filter="fade">
                                      <p:cBhvr>
                                        <p:cTn id="47" dur="4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animBg="1"/>
      <p:bldP spid="131" grpId="0" animBg="1"/>
      <p:bldP spid="132" grpId="0" animBg="1"/>
      <p:bldP spid="133" grpId="0" animBg="1"/>
      <p:bldP spid="134" grpId="0" animBg="1"/>
      <p:bldP spid="135" grpId="0" animBg="1"/>
      <p:bldP spid="143" grpId="0" animBg="1"/>
      <p:bldP spid="1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WHENALL · 2</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Task.WhenAll Line by Line (2/3): One Line, Two Operations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58</a:t>
            </a:r>
            <a:endParaRPr lang="en-US" sz="850" dirty="0"/>
          </a:p>
        </p:txBody>
      </p:sp>
      <p:sp>
        <p:nvSpPr>
          <p:cNvPr id="101" name="line"/>
          <p:cNvSpPr/>
          <p:nvPr/>
        </p:nvSpPr>
        <p:spPr>
          <a:xfrm>
            <a:off x="543154" y="1463040"/>
            <a:ext cx="11087100" cy="438912"/>
          </a:xfrm>
          <a:prstGeom prst="roundRect">
            <a:avLst>
              <a:gd name="adj" fmla="val 12000"/>
            </a:avLst>
          </a:prstGeom>
          <a:solidFill>
            <a:srgbClr val="060D18"/>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A78BFA"/>
                </a:solidFill>
                <a:latin typeface="Consolas"/>
                <a:ea typeface="Consolas"/>
                <a:cs typeface="Consolas"/>
              </a:rPr>
              <a:t>await </a:t>
            </a:r>
            <a:r>
              <a:rPr lang="en-US" sz="1300" b="1" dirty="0">
                <a:solidFill>
                  <a:srgbClr val="FFFFFF"/>
                </a:solidFill>
                <a:latin typeface="Consolas"/>
                <a:ea typeface="Consolas"/>
                <a:cs typeface="Consolas"/>
              </a:rPr>
              <a:t>Task.WhenAll(tasks);</a:t>
            </a:r>
            <a:r>
              <a:rPr lang="en-US" sz="1100" b="0" dirty="0">
                <a:solidFill>
                  <a:srgbClr val="94A3B8"/>
                </a:solidFill>
                <a:latin typeface="Segoe UI"/>
                <a:ea typeface="Segoe UI"/>
                <a:cs typeface="Segoe UI"/>
              </a:rPr>
              <a:t>      one line = two operations</a:t>
            </a:r>
            <a:endParaRPr lang="en-US" sz="1300" dirty="0"/>
          </a:p>
        </p:txBody>
      </p:sp>
      <p:sp>
        <p:nvSpPr>
          <p:cNvPr id="102" name="op1"/>
          <p:cNvSpPr/>
          <p:nvPr/>
        </p:nvSpPr>
        <p:spPr>
          <a:xfrm>
            <a:off x="543154" y="2011680"/>
            <a:ext cx="5406390" cy="1298448"/>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1  Task.WhenAll(tasks)</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Creates ONE new Task for the whole group and watches all three.</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Picture a counter: Remaining = 3, minus 1 per completed task (a model, not the real code).</a:t>
            </a:r>
            <a:endParaRPr lang="en-US" sz="1050" dirty="0"/>
          </a:p>
        </p:txBody>
      </p:sp>
      <p:sp>
        <p:nvSpPr>
          <p:cNvPr id="103" name="op2"/>
          <p:cNvSpPr/>
          <p:nvPr/>
        </p:nvSpPr>
        <p:spPr>
          <a:xfrm>
            <a:off x="6223864" y="2011680"/>
            <a:ext cx="5406390" cy="1298448"/>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2  await</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The group Task is not done → the rest of Main is registered as a continuation, Main suspends.</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Console app: the hidden entry point keeps T1 waiting.</a:t>
            </a:r>
            <a:endParaRPr lang="en-US" sz="1050" dirty="0"/>
          </a:p>
        </p:txBody>
      </p:sp>
      <p:grpSp>
        <p:nvGrpSpPr>
          <p:cNvPr id="111" name="t_h"/>
          <p:cNvGrpSpPr/>
          <p:nvPr/>
        </p:nvGrpSpPr>
        <p:grpSpPr>
          <a:xfrm>
            <a:off x="689458" y="3456432"/>
            <a:ext cx="10904220" cy="256032"/>
            <a:chOff x="689458" y="3456432"/>
            <a:chExt cx="10904220" cy="256032"/>
          </a:xfrm>
        </p:grpSpPr>
        <p:sp>
          <p:nvSpPr>
            <p:cNvPr id="104" name="t_h0"/>
            <p:cNvSpPr txBox="1"/>
            <p:nvPr/>
          </p:nvSpPr>
          <p:spPr>
            <a:xfrm>
              <a:off x="689458" y="3456432"/>
              <a:ext cx="6400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TIME</a:t>
              </a:r>
              <a:endParaRPr lang="en-US" sz="1000" dirty="0"/>
            </a:p>
          </p:txBody>
        </p:sp>
        <p:sp>
          <p:nvSpPr>
            <p:cNvPr id="105" name="t_h1"/>
            <p:cNvSpPr txBox="1"/>
            <p:nvPr/>
          </p:nvSpPr>
          <p:spPr>
            <a:xfrm>
              <a:off x="1512418" y="3456432"/>
              <a:ext cx="10515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PAYMENT</a:t>
              </a:r>
              <a:endParaRPr lang="en-US" sz="1000" dirty="0"/>
            </a:p>
          </p:txBody>
        </p:sp>
        <p:sp>
          <p:nvSpPr>
            <p:cNvPr id="106" name="t_h2"/>
            <p:cNvSpPr txBox="1"/>
            <p:nvPr/>
          </p:nvSpPr>
          <p:spPr>
            <a:xfrm>
              <a:off x="2746858" y="3456432"/>
              <a:ext cx="10515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SMS</a:t>
              </a:r>
              <a:endParaRPr lang="en-US" sz="1000" dirty="0"/>
            </a:p>
          </p:txBody>
        </p:sp>
        <p:sp>
          <p:nvSpPr>
            <p:cNvPr id="107" name="t_h3"/>
            <p:cNvSpPr txBox="1"/>
            <p:nvPr/>
          </p:nvSpPr>
          <p:spPr>
            <a:xfrm>
              <a:off x="3981298" y="3456432"/>
              <a:ext cx="96012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KITCHEN</a:t>
              </a:r>
              <a:endParaRPr lang="en-US" sz="1000" dirty="0"/>
            </a:p>
          </p:txBody>
        </p:sp>
        <p:sp>
          <p:nvSpPr>
            <p:cNvPr id="108" name="t_h4"/>
            <p:cNvSpPr txBox="1"/>
            <p:nvPr/>
          </p:nvSpPr>
          <p:spPr>
            <a:xfrm>
              <a:off x="5124298" y="3456432"/>
              <a:ext cx="45720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LEFT</a:t>
              </a:r>
              <a:endParaRPr lang="en-US" sz="1000" dirty="0"/>
            </a:p>
          </p:txBody>
        </p:sp>
        <p:sp>
          <p:nvSpPr>
            <p:cNvPr id="109" name="t_h5"/>
            <p:cNvSpPr txBox="1"/>
            <p:nvPr/>
          </p:nvSpPr>
          <p:spPr>
            <a:xfrm>
              <a:off x="5764378" y="3456432"/>
              <a:ext cx="12344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WHENALL TASK</a:t>
              </a:r>
              <a:endParaRPr lang="en-US" sz="1000" dirty="0"/>
            </a:p>
          </p:txBody>
        </p:sp>
        <p:sp>
          <p:nvSpPr>
            <p:cNvPr id="110" name="t_h6"/>
            <p:cNvSpPr txBox="1"/>
            <p:nvPr/>
          </p:nvSpPr>
          <p:spPr>
            <a:xfrm>
              <a:off x="7181698" y="3456432"/>
              <a:ext cx="44119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WHAT HAPPENS</a:t>
              </a:r>
              <a:endParaRPr lang="en-US" sz="1000" dirty="0"/>
            </a:p>
          </p:txBody>
        </p:sp>
      </p:grpSp>
      <p:grpSp>
        <p:nvGrpSpPr>
          <p:cNvPr id="120" name="t_r0"/>
          <p:cNvGrpSpPr/>
          <p:nvPr/>
        </p:nvGrpSpPr>
        <p:grpSpPr>
          <a:xfrm>
            <a:off x="543154" y="3758184"/>
            <a:ext cx="11087100" cy="457200"/>
            <a:chOff x="543154" y="3758184"/>
            <a:chExt cx="11087100" cy="457200"/>
          </a:xfrm>
        </p:grpSpPr>
        <p:sp>
          <p:nvSpPr>
            <p:cNvPr id="112" name="t_r0_bg"/>
            <p:cNvSpPr/>
            <p:nvPr/>
          </p:nvSpPr>
          <p:spPr>
            <a:xfrm>
              <a:off x="543154" y="3758184"/>
              <a:ext cx="11087100" cy="45720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3" name="t_r0_c0"/>
            <p:cNvSpPr txBox="1"/>
            <p:nvPr/>
          </p:nvSpPr>
          <p:spPr>
            <a:xfrm>
              <a:off x="689458" y="3758184"/>
              <a:ext cx="6400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Consolas"/>
                  <a:ea typeface="Consolas"/>
                  <a:cs typeface="Consolas"/>
                </a:rPr>
                <a:t>0 ms</a:t>
              </a:r>
              <a:endParaRPr lang="en-US" sz="1050" dirty="0"/>
            </a:p>
          </p:txBody>
        </p:sp>
        <p:sp>
          <p:nvSpPr>
            <p:cNvPr id="114" name="t_r0_c1"/>
            <p:cNvSpPr txBox="1"/>
            <p:nvPr/>
          </p:nvSpPr>
          <p:spPr>
            <a:xfrm>
              <a:off x="1512418" y="3758184"/>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 waiting</a:t>
              </a:r>
              <a:endParaRPr lang="en-US" sz="1000" dirty="0"/>
            </a:p>
          </p:txBody>
        </p:sp>
        <p:sp>
          <p:nvSpPr>
            <p:cNvPr id="115" name="t_r0_c2"/>
            <p:cNvSpPr txBox="1"/>
            <p:nvPr/>
          </p:nvSpPr>
          <p:spPr>
            <a:xfrm>
              <a:off x="2746858" y="3758184"/>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 waiting</a:t>
              </a:r>
              <a:endParaRPr lang="en-US" sz="1000" dirty="0"/>
            </a:p>
          </p:txBody>
        </p:sp>
        <p:sp>
          <p:nvSpPr>
            <p:cNvPr id="116" name="t_r0_c3"/>
            <p:cNvSpPr txBox="1"/>
            <p:nvPr/>
          </p:nvSpPr>
          <p:spPr>
            <a:xfrm>
              <a:off x="3981298" y="3758184"/>
              <a:ext cx="9601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 waiting</a:t>
              </a:r>
              <a:endParaRPr lang="en-US" sz="1000" dirty="0"/>
            </a:p>
          </p:txBody>
        </p:sp>
        <p:sp>
          <p:nvSpPr>
            <p:cNvPr id="117" name="t_r0_c4"/>
            <p:cNvSpPr txBox="1"/>
            <p:nvPr/>
          </p:nvSpPr>
          <p:spPr>
            <a:xfrm>
              <a:off x="5124298" y="3758184"/>
              <a:ext cx="4572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13D0F7"/>
                  </a:solidFill>
                  <a:latin typeface="Consolas"/>
                  <a:ea typeface="Consolas"/>
                  <a:cs typeface="Consolas"/>
                </a:rPr>
                <a:t>3</a:t>
              </a:r>
              <a:endParaRPr lang="en-US" sz="1150" dirty="0"/>
            </a:p>
          </p:txBody>
        </p:sp>
        <p:sp>
          <p:nvSpPr>
            <p:cNvPr id="118" name="t_r0_c5"/>
            <p:cNvSpPr txBox="1"/>
            <p:nvPr/>
          </p:nvSpPr>
          <p:spPr>
            <a:xfrm>
              <a:off x="5764378" y="3758184"/>
              <a:ext cx="123444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Waiting</a:t>
              </a:r>
              <a:endParaRPr lang="en-US" sz="1000" dirty="0"/>
            </a:p>
          </p:txBody>
        </p:sp>
        <p:sp>
          <p:nvSpPr>
            <p:cNvPr id="119" name="t_r0_c6"/>
            <p:cNvSpPr txBox="1"/>
            <p:nvPr/>
          </p:nvSpPr>
          <p:spPr>
            <a:xfrm>
              <a:off x="7181698" y="3758184"/>
              <a:ext cx="44119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T1 started all 3, Main suspends</a:t>
              </a:r>
              <a:endParaRPr lang="en-US" sz="1000" dirty="0"/>
            </a:p>
          </p:txBody>
        </p:sp>
      </p:grpSp>
      <p:grpSp>
        <p:nvGrpSpPr>
          <p:cNvPr id="129" name="t_r1"/>
          <p:cNvGrpSpPr/>
          <p:nvPr/>
        </p:nvGrpSpPr>
        <p:grpSpPr>
          <a:xfrm>
            <a:off x="543154" y="4270248"/>
            <a:ext cx="11087100" cy="457200"/>
            <a:chOff x="543154" y="4270248"/>
            <a:chExt cx="11087100" cy="457200"/>
          </a:xfrm>
        </p:grpSpPr>
        <p:sp>
          <p:nvSpPr>
            <p:cNvPr id="121" name="t_r1_bg"/>
            <p:cNvSpPr/>
            <p:nvPr/>
          </p:nvSpPr>
          <p:spPr>
            <a:xfrm>
              <a:off x="543154" y="4270248"/>
              <a:ext cx="11087100" cy="45720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2" name="t_r1_c0"/>
            <p:cNvSpPr txBox="1"/>
            <p:nvPr/>
          </p:nvSpPr>
          <p:spPr>
            <a:xfrm>
              <a:off x="689458" y="4270248"/>
              <a:ext cx="6400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Consolas"/>
                  <a:ea typeface="Consolas"/>
                  <a:cs typeface="Consolas"/>
                </a:rPr>
                <a:t>100 ms</a:t>
              </a:r>
              <a:endParaRPr lang="en-US" sz="1050" dirty="0"/>
            </a:p>
          </p:txBody>
        </p:sp>
        <p:sp>
          <p:nvSpPr>
            <p:cNvPr id="123" name="t_r1_c1"/>
            <p:cNvSpPr txBox="1"/>
            <p:nvPr/>
          </p:nvSpPr>
          <p:spPr>
            <a:xfrm>
              <a:off x="1512418" y="4270248"/>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 waiting</a:t>
              </a:r>
              <a:endParaRPr lang="en-US" sz="1000" dirty="0"/>
            </a:p>
          </p:txBody>
        </p:sp>
        <p:sp>
          <p:nvSpPr>
            <p:cNvPr id="124" name="t_r1_c2"/>
            <p:cNvSpPr txBox="1"/>
            <p:nvPr/>
          </p:nvSpPr>
          <p:spPr>
            <a:xfrm>
              <a:off x="2746858" y="4270248"/>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Segoe UI"/>
                  <a:ea typeface="Segoe UI"/>
                  <a:cs typeface="Segoe UI"/>
                </a:rPr>
                <a:t>✗ Faulted</a:t>
              </a:r>
              <a:endParaRPr lang="en-US" sz="1000" dirty="0"/>
            </a:p>
          </p:txBody>
        </p:sp>
        <p:sp>
          <p:nvSpPr>
            <p:cNvPr id="125" name="t_r1_c3"/>
            <p:cNvSpPr txBox="1"/>
            <p:nvPr/>
          </p:nvSpPr>
          <p:spPr>
            <a:xfrm>
              <a:off x="3981298" y="4270248"/>
              <a:ext cx="9601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 waiting</a:t>
              </a:r>
              <a:endParaRPr lang="en-US" sz="1000" dirty="0"/>
            </a:p>
          </p:txBody>
        </p:sp>
        <p:sp>
          <p:nvSpPr>
            <p:cNvPr id="126" name="t_r1_c4"/>
            <p:cNvSpPr txBox="1"/>
            <p:nvPr/>
          </p:nvSpPr>
          <p:spPr>
            <a:xfrm>
              <a:off x="5124298" y="4270248"/>
              <a:ext cx="4572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13D0F7"/>
                  </a:solidFill>
                  <a:latin typeface="Consolas"/>
                  <a:ea typeface="Consolas"/>
                  <a:cs typeface="Consolas"/>
                </a:rPr>
                <a:t>2</a:t>
              </a:r>
              <a:endParaRPr lang="en-US" sz="1150" dirty="0"/>
            </a:p>
          </p:txBody>
        </p:sp>
        <p:sp>
          <p:nvSpPr>
            <p:cNvPr id="127" name="t_r1_c5"/>
            <p:cNvSpPr txBox="1"/>
            <p:nvPr/>
          </p:nvSpPr>
          <p:spPr>
            <a:xfrm>
              <a:off x="5764378" y="4270248"/>
              <a:ext cx="123444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Waiting</a:t>
              </a:r>
              <a:endParaRPr lang="en-US" sz="1000" dirty="0"/>
            </a:p>
          </p:txBody>
        </p:sp>
        <p:sp>
          <p:nvSpPr>
            <p:cNvPr id="128" name="t_r1_c6"/>
            <p:cNvSpPr txBox="1"/>
            <p:nvPr/>
          </p:nvSpPr>
          <p:spPr>
            <a:xfrm>
              <a:off x="7181698" y="4270248"/>
              <a:ext cx="44119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pool thread throws; error STORED in the SMS Task, Main sleeps on</a:t>
              </a:r>
              <a:endParaRPr lang="en-US" sz="1000" dirty="0"/>
            </a:p>
          </p:txBody>
        </p:sp>
      </p:grpSp>
      <p:grpSp>
        <p:nvGrpSpPr>
          <p:cNvPr id="138" name="t_r2"/>
          <p:cNvGrpSpPr/>
          <p:nvPr/>
        </p:nvGrpSpPr>
        <p:grpSpPr>
          <a:xfrm>
            <a:off x="543154" y="4782312"/>
            <a:ext cx="11087100" cy="457200"/>
            <a:chOff x="543154" y="4782312"/>
            <a:chExt cx="11087100" cy="457200"/>
          </a:xfrm>
        </p:grpSpPr>
        <p:sp>
          <p:nvSpPr>
            <p:cNvPr id="130" name="t_r2_bg"/>
            <p:cNvSpPr/>
            <p:nvPr/>
          </p:nvSpPr>
          <p:spPr>
            <a:xfrm>
              <a:off x="543154" y="4782312"/>
              <a:ext cx="11087100" cy="45720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1" name="t_r2_c0"/>
            <p:cNvSpPr txBox="1"/>
            <p:nvPr/>
          </p:nvSpPr>
          <p:spPr>
            <a:xfrm>
              <a:off x="689458" y="4782312"/>
              <a:ext cx="6400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Consolas"/>
                  <a:ea typeface="Consolas"/>
                  <a:cs typeface="Consolas"/>
                </a:rPr>
                <a:t>200 ms</a:t>
              </a:r>
              <a:endParaRPr lang="en-US" sz="1050" dirty="0"/>
            </a:p>
          </p:txBody>
        </p:sp>
        <p:sp>
          <p:nvSpPr>
            <p:cNvPr id="132" name="t_r2_c1"/>
            <p:cNvSpPr txBox="1"/>
            <p:nvPr/>
          </p:nvSpPr>
          <p:spPr>
            <a:xfrm>
              <a:off x="1512418" y="4782312"/>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 waiting</a:t>
              </a:r>
              <a:endParaRPr lang="en-US" sz="1000" dirty="0"/>
            </a:p>
          </p:txBody>
        </p:sp>
        <p:sp>
          <p:nvSpPr>
            <p:cNvPr id="133" name="t_r2_c2"/>
            <p:cNvSpPr txBox="1"/>
            <p:nvPr/>
          </p:nvSpPr>
          <p:spPr>
            <a:xfrm>
              <a:off x="2746858" y="4782312"/>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Segoe UI"/>
                  <a:ea typeface="Segoe UI"/>
                  <a:cs typeface="Segoe UI"/>
                </a:rPr>
                <a:t>✗ Faulted</a:t>
              </a:r>
              <a:endParaRPr lang="en-US" sz="1000" dirty="0"/>
            </a:p>
          </p:txBody>
        </p:sp>
        <p:sp>
          <p:nvSpPr>
            <p:cNvPr id="134" name="t_r2_c3"/>
            <p:cNvSpPr txBox="1"/>
            <p:nvPr/>
          </p:nvSpPr>
          <p:spPr>
            <a:xfrm>
              <a:off x="3981298" y="4782312"/>
              <a:ext cx="9601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 Done</a:t>
              </a:r>
              <a:endParaRPr lang="en-US" sz="1000" dirty="0"/>
            </a:p>
          </p:txBody>
        </p:sp>
        <p:sp>
          <p:nvSpPr>
            <p:cNvPr id="135" name="t_r2_c4"/>
            <p:cNvSpPr txBox="1"/>
            <p:nvPr/>
          </p:nvSpPr>
          <p:spPr>
            <a:xfrm>
              <a:off x="5124298" y="4782312"/>
              <a:ext cx="4572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13D0F7"/>
                  </a:solidFill>
                  <a:latin typeface="Consolas"/>
                  <a:ea typeface="Consolas"/>
                  <a:cs typeface="Consolas"/>
                </a:rPr>
                <a:t>1</a:t>
              </a:r>
              <a:endParaRPr lang="en-US" sz="1150" dirty="0"/>
            </a:p>
          </p:txBody>
        </p:sp>
        <p:sp>
          <p:nvSpPr>
            <p:cNvPr id="136" name="t_r2_c5"/>
            <p:cNvSpPr txBox="1"/>
            <p:nvPr/>
          </p:nvSpPr>
          <p:spPr>
            <a:xfrm>
              <a:off x="5764378" y="4782312"/>
              <a:ext cx="123444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94A3B8"/>
                  </a:solidFill>
                  <a:latin typeface="Segoe UI"/>
                  <a:ea typeface="Segoe UI"/>
                  <a:cs typeface="Segoe UI"/>
                </a:rPr>
                <a:t>Waiting</a:t>
              </a:r>
              <a:endParaRPr lang="en-US" sz="1000" dirty="0"/>
            </a:p>
          </p:txBody>
        </p:sp>
        <p:sp>
          <p:nvSpPr>
            <p:cNvPr id="137" name="t_r2_c6"/>
            <p:cNvSpPr txBox="1"/>
            <p:nvPr/>
          </p:nvSpPr>
          <p:spPr>
            <a:xfrm>
              <a:off x="7181698" y="4782312"/>
              <a:ext cx="44119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Kitchen finishes</a:t>
              </a:r>
              <a:endParaRPr lang="en-US" sz="1000" dirty="0"/>
            </a:p>
          </p:txBody>
        </p:sp>
      </p:grpSp>
      <p:grpSp>
        <p:nvGrpSpPr>
          <p:cNvPr id="147" name="t_r3"/>
          <p:cNvGrpSpPr/>
          <p:nvPr/>
        </p:nvGrpSpPr>
        <p:grpSpPr>
          <a:xfrm>
            <a:off x="543154" y="5294376"/>
            <a:ext cx="11087100" cy="457200"/>
            <a:chOff x="543154" y="5294376"/>
            <a:chExt cx="11087100" cy="457200"/>
          </a:xfrm>
        </p:grpSpPr>
        <p:sp>
          <p:nvSpPr>
            <p:cNvPr id="139" name="t_r3_bg"/>
            <p:cNvSpPr/>
            <p:nvPr/>
          </p:nvSpPr>
          <p:spPr>
            <a:xfrm>
              <a:off x="543154" y="5294376"/>
              <a:ext cx="11087100" cy="45720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0" name="t_r3_c0"/>
            <p:cNvSpPr txBox="1"/>
            <p:nvPr/>
          </p:nvSpPr>
          <p:spPr>
            <a:xfrm>
              <a:off x="689458" y="5294376"/>
              <a:ext cx="6400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Consolas"/>
                  <a:ea typeface="Consolas"/>
                  <a:cs typeface="Consolas"/>
                </a:rPr>
                <a:t>300 ms</a:t>
              </a:r>
              <a:endParaRPr lang="en-US" sz="1050" dirty="0"/>
            </a:p>
          </p:txBody>
        </p:sp>
        <p:sp>
          <p:nvSpPr>
            <p:cNvPr id="141" name="t_r3_c1"/>
            <p:cNvSpPr txBox="1"/>
            <p:nvPr/>
          </p:nvSpPr>
          <p:spPr>
            <a:xfrm>
              <a:off x="1512418" y="5294376"/>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Segoe UI"/>
                  <a:ea typeface="Segoe UI"/>
                  <a:cs typeface="Segoe UI"/>
                </a:rPr>
                <a:t>✗ Faulted</a:t>
              </a:r>
              <a:endParaRPr lang="en-US" sz="1000" dirty="0"/>
            </a:p>
          </p:txBody>
        </p:sp>
        <p:sp>
          <p:nvSpPr>
            <p:cNvPr id="142" name="t_r3_c2"/>
            <p:cNvSpPr txBox="1"/>
            <p:nvPr/>
          </p:nvSpPr>
          <p:spPr>
            <a:xfrm>
              <a:off x="2746858" y="5294376"/>
              <a:ext cx="105156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Segoe UI"/>
                  <a:ea typeface="Segoe UI"/>
                  <a:cs typeface="Segoe UI"/>
                </a:rPr>
                <a:t>✗ Faulted</a:t>
              </a:r>
              <a:endParaRPr lang="en-US" sz="1000" dirty="0"/>
            </a:p>
          </p:txBody>
        </p:sp>
        <p:sp>
          <p:nvSpPr>
            <p:cNvPr id="143" name="t_r3_c3"/>
            <p:cNvSpPr txBox="1"/>
            <p:nvPr/>
          </p:nvSpPr>
          <p:spPr>
            <a:xfrm>
              <a:off x="3981298" y="5294376"/>
              <a:ext cx="9601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 Done</a:t>
              </a:r>
              <a:endParaRPr lang="en-US" sz="1000" dirty="0"/>
            </a:p>
          </p:txBody>
        </p:sp>
        <p:sp>
          <p:nvSpPr>
            <p:cNvPr id="144" name="t_r3_c4"/>
            <p:cNvSpPr txBox="1"/>
            <p:nvPr/>
          </p:nvSpPr>
          <p:spPr>
            <a:xfrm>
              <a:off x="5124298" y="5294376"/>
              <a:ext cx="4572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13D0F7"/>
                  </a:solidFill>
                  <a:latin typeface="Consolas"/>
                  <a:ea typeface="Consolas"/>
                  <a:cs typeface="Consolas"/>
                </a:rPr>
                <a:t>0</a:t>
              </a:r>
              <a:endParaRPr lang="en-US" sz="1150" dirty="0"/>
            </a:p>
          </p:txBody>
        </p:sp>
        <p:sp>
          <p:nvSpPr>
            <p:cNvPr id="145" name="t_r3_c5"/>
            <p:cNvSpPr txBox="1"/>
            <p:nvPr/>
          </p:nvSpPr>
          <p:spPr>
            <a:xfrm>
              <a:off x="5764378" y="5294376"/>
              <a:ext cx="123444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Segoe UI"/>
                  <a:ea typeface="Segoe UI"/>
                  <a:cs typeface="Segoe UI"/>
                </a:rPr>
                <a:t>✗ Faulted</a:t>
              </a:r>
              <a:endParaRPr lang="en-US" sz="1000" dirty="0"/>
            </a:p>
          </p:txBody>
        </p:sp>
        <p:sp>
          <p:nvSpPr>
            <p:cNvPr id="146" name="t_r3_c6"/>
            <p:cNvSpPr txBox="1"/>
            <p:nvPr/>
          </p:nvSpPr>
          <p:spPr>
            <a:xfrm>
              <a:off x="7181698" y="5294376"/>
              <a:ext cx="441198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all done → Main resumes on a pool thread (T5), not T1</a:t>
              </a:r>
              <a:endParaRPr lang="en-US" sz="1000" dirty="0"/>
            </a:p>
          </p:txBody>
        </p:sp>
      </p:grpSp>
    </p:spTree>
    <p:extLst>
      <p:ext uri="{BB962C8B-B14F-4D97-AF65-F5344CB8AC3E}">
        <p14:creationId xmlns:p14="http://schemas.microsoft.com/office/powerpoint/2010/main" val="1226013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400"/>
                                        <p:tgtEl>
                                          <p:spTgt spid="111"/>
                                        </p:tgtEl>
                                      </p:cBhvr>
                                    </p:animEffect>
                                  </p:childTnLst>
                                </p:cTn>
                              </p:par>
                              <p:par>
                                <p:cTn id="23" presetID="10" presetClass="entr" presetSubtype="0" fill="hold" nodeType="withEffect">
                                  <p:stCondLst>
                                    <p:cond delay="0"/>
                                  </p:stCondLst>
                                  <p:childTnLst>
                                    <p:set>
                                      <p:cBhvr>
                                        <p:cTn id="24" dur="1" fill="hold">
                                          <p:stCondLst>
                                            <p:cond delay="0"/>
                                          </p:stCondLst>
                                        </p:cTn>
                                        <p:tgtEl>
                                          <p:spTgt spid="120"/>
                                        </p:tgtEl>
                                        <p:attrNameLst>
                                          <p:attrName>style.visibility</p:attrName>
                                        </p:attrNameLst>
                                      </p:cBhvr>
                                      <p:to>
                                        <p:strVal val="visible"/>
                                      </p:to>
                                    </p:set>
                                    <p:animEffect transition="in" filter="fade">
                                      <p:cBhvr>
                                        <p:cTn id="25" dur="400"/>
                                        <p:tgtEl>
                                          <p:spTgt spid="1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9"/>
                                        </p:tgtEl>
                                        <p:attrNameLst>
                                          <p:attrName>style.visibility</p:attrName>
                                        </p:attrNameLst>
                                      </p:cBhvr>
                                      <p:to>
                                        <p:strVal val="visible"/>
                                      </p:to>
                                    </p:set>
                                    <p:animEffect transition="in" filter="fade">
                                      <p:cBhvr>
                                        <p:cTn id="30" dur="400"/>
                                        <p:tgtEl>
                                          <p:spTgt spid="12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8"/>
                                        </p:tgtEl>
                                        <p:attrNameLst>
                                          <p:attrName>style.visibility</p:attrName>
                                        </p:attrNameLst>
                                      </p:cBhvr>
                                      <p:to>
                                        <p:strVal val="visible"/>
                                      </p:to>
                                    </p:set>
                                    <p:animEffect transition="in" filter="fade">
                                      <p:cBhvr>
                                        <p:cTn id="35" dur="400"/>
                                        <p:tgtEl>
                                          <p:spTgt spid="13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7"/>
                                        </p:tgtEl>
                                        <p:attrNameLst>
                                          <p:attrName>style.visibility</p:attrName>
                                        </p:attrNameLst>
                                      </p:cBhvr>
                                      <p:to>
                                        <p:strVal val="visible"/>
                                      </p:to>
                                    </p:set>
                                    <p:animEffect transition="in" filter="fade">
                                      <p:cBhvr>
                                        <p:cTn id="40" dur="4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632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AWAIT ONE BY ONE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Start All, Await One by One: Errors Get Lost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41</a:t>
            </a:r>
            <a:endParaRPr lang="en-US" sz="850" dirty="0"/>
          </a:p>
        </p:txBody>
      </p:sp>
      <p:grpSp>
        <p:nvGrpSpPr>
          <p:cNvPr id="123" name="dont"/>
          <p:cNvGrpSpPr/>
          <p:nvPr/>
        </p:nvGrpSpPr>
        <p:grpSpPr>
          <a:xfrm>
            <a:off x="543154" y="1572768"/>
            <a:ext cx="5440680" cy="3310128"/>
            <a:chOff x="543154" y="1572768"/>
            <a:chExt cx="5440680" cy="3310128"/>
          </a:xfrm>
        </p:grpSpPr>
        <p:sp>
          <p:nvSpPr>
            <p:cNvPr id="101" name="dont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ZoobaPage.cs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Task&lt;</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&gt; infoTask    = GetInfoAsync(42);     </a:t>
              </a:r>
              <a:r>
                <a:rPr lang="en-US" sz="860" b="0" dirty="0">
                  <a:solidFill>
                    <a:srgbClr val="6FAE7A"/>
                  </a:solidFill>
                  <a:latin typeface="Consolas"/>
                  <a:ea typeface="Consolas"/>
                  <a:cs typeface="Consolas"/>
                </a:rPr>
                <a:t>// fails at 800 ms</a:t>
              </a:r>
              <a:endParaRPr lang="en-US" sz="860" dirty="0"/>
            </a:p>
          </p:txBody>
        </p:sp>
        <p:sp>
          <p:nvSpPr>
            <p:cNvPr id="110" name="dont_L01"/>
            <p:cNvSpPr txBox="1"/>
            <p:nvPr/>
          </p:nvSpPr>
          <p:spPr>
            <a:xfrm>
              <a:off x="771754" y="221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Task&lt;</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&gt; menuTask    = GetMenuAsync(42);</a:t>
              </a:r>
              <a:endParaRPr lang="en-US" sz="860" dirty="0"/>
            </a:p>
          </p:txBody>
        </p:sp>
        <p:sp>
          <p:nvSpPr>
            <p:cNvPr id="111" name="dont_L02"/>
            <p:cNvSpPr txBox="1"/>
            <p:nvPr/>
          </p:nvSpPr>
          <p:spPr>
            <a:xfrm>
              <a:off x="771754" y="238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Task&lt;</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&gt; reviewsTask = GetReviewsAsync(42);  </a:t>
              </a:r>
              <a:r>
                <a:rPr lang="en-US" sz="860" b="0" dirty="0">
                  <a:solidFill>
                    <a:srgbClr val="6FAE7A"/>
                  </a:solidFill>
                  <a:latin typeface="Consolas"/>
                  <a:ea typeface="Consolas"/>
                  <a:cs typeface="Consolas"/>
                </a:rPr>
                <a:t>// fails at 1000 ms</a:t>
              </a:r>
              <a:endParaRPr lang="en-US" sz="860" dirty="0"/>
            </a:p>
          </p:txBody>
        </p:sp>
        <p:sp>
          <p:nvSpPr>
            <p:cNvPr id="112" name="dont_L04"/>
            <p:cNvSpPr txBox="1"/>
            <p:nvPr/>
          </p:nvSpPr>
          <p:spPr>
            <a:xfrm>
              <a:off x="771754" y="272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try</a:t>
              </a:r>
              <a:endParaRPr lang="en-US" sz="860" dirty="0"/>
            </a:p>
          </p:txBody>
        </p:sp>
        <p:sp>
          <p:nvSpPr>
            <p:cNvPr id="113" name="dont_L05"/>
            <p:cNvSpPr txBox="1"/>
            <p:nvPr/>
          </p:nvSpPr>
          <p:spPr>
            <a:xfrm>
              <a:off x="771754" y="289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4" name="dont_L06"/>
            <p:cNvSpPr txBox="1"/>
            <p:nvPr/>
          </p:nvSpPr>
          <p:spPr>
            <a:xfrm>
              <a:off x="771754" y="3068668"/>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info    = </a:t>
              </a: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infoTask;     </a:t>
              </a:r>
              <a:r>
                <a:rPr lang="en-US" sz="860" b="0" dirty="0">
                  <a:solidFill>
                    <a:srgbClr val="6FAE7A"/>
                  </a:solidFill>
                  <a:latin typeface="Consolas"/>
                  <a:ea typeface="Consolas"/>
                  <a:cs typeface="Consolas"/>
                </a:rPr>
                <a:t>// throws → jump to catch</a:t>
              </a:r>
              <a:endParaRPr lang="en-US" sz="860" dirty="0"/>
            </a:p>
          </p:txBody>
        </p:sp>
        <p:sp>
          <p:nvSpPr>
            <p:cNvPr id="115" name="dont_L07"/>
            <p:cNvSpPr txBox="1"/>
            <p:nvPr/>
          </p:nvSpPr>
          <p:spPr>
            <a:xfrm>
              <a:off x="771754" y="3238668"/>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menu    = </a:t>
              </a: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menuTask;     </a:t>
              </a:r>
              <a:r>
                <a:rPr lang="en-US" sz="860" b="0" dirty="0">
                  <a:solidFill>
                    <a:srgbClr val="6FAE7A"/>
                  </a:solidFill>
                  <a:latin typeface="Consolas"/>
                  <a:ea typeface="Consolas"/>
                  <a:cs typeface="Consolas"/>
                </a:rPr>
                <a:t>// never awaited</a:t>
              </a:r>
              <a:endParaRPr lang="en-US" sz="860" dirty="0"/>
            </a:p>
          </p:txBody>
        </p:sp>
        <p:sp>
          <p:nvSpPr>
            <p:cNvPr id="116" name="dont_L08"/>
            <p:cNvSpPr txBox="1"/>
            <p:nvPr/>
          </p:nvSpPr>
          <p:spPr>
            <a:xfrm>
              <a:off x="771754" y="3408668"/>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reviews = </a:t>
              </a: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reviewsTask;  </a:t>
              </a:r>
              <a:r>
                <a:rPr lang="en-US" sz="860" b="0" dirty="0">
                  <a:solidFill>
                    <a:srgbClr val="6FAE7A"/>
                  </a:solidFill>
                  <a:latin typeface="Consolas"/>
                  <a:ea typeface="Consolas"/>
                  <a:cs typeface="Consolas"/>
                </a:rPr>
                <a:t>// never awaited</a:t>
              </a:r>
              <a:endParaRPr lang="en-US" sz="860" dirty="0"/>
            </a:p>
          </p:txBody>
        </p:sp>
        <p:sp>
          <p:nvSpPr>
            <p:cNvPr id="117" name="dont_L09"/>
            <p:cNvSpPr txBox="1"/>
            <p:nvPr/>
          </p:nvSpPr>
          <p:spPr>
            <a:xfrm>
              <a:off x="771754" y="357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8" name="dont_L10"/>
            <p:cNvSpPr txBox="1"/>
            <p:nvPr/>
          </p:nvSpPr>
          <p:spPr>
            <a:xfrm>
              <a:off x="771754" y="374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catch</a:t>
              </a:r>
              <a:r>
                <a:rPr lang="en-US" sz="860" b="0" dirty="0">
                  <a:solidFill>
                    <a:srgbClr val="E2E8F0"/>
                  </a:solidFill>
                  <a:latin typeface="Consolas"/>
                  <a:ea typeface="Consolas"/>
                  <a:cs typeface="Consolas"/>
                </a:rPr>
                <a:t> (Exception ex)</a:t>
              </a:r>
              <a:endParaRPr lang="en-US" sz="860" dirty="0"/>
            </a:p>
          </p:txBody>
        </p:sp>
        <p:sp>
          <p:nvSpPr>
            <p:cNvPr id="119" name="dont_L11"/>
            <p:cNvSpPr txBox="1"/>
            <p:nvPr/>
          </p:nvSpPr>
          <p:spPr>
            <a:xfrm>
              <a:off x="771754" y="391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20" name="dont_L12"/>
            <p:cNvSpPr txBox="1"/>
            <p:nvPr/>
          </p:nvSpPr>
          <p:spPr>
            <a:xfrm>
              <a:off x="771754" y="4088668"/>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Console.WriteLine(</a:t>
              </a:r>
              <a:r>
                <a:rPr lang="en-US" sz="860" b="0" dirty="0">
                  <a:solidFill>
                    <a:srgbClr val="F0A98B"/>
                  </a:solidFill>
                  <a:latin typeface="Consolas"/>
                  <a:ea typeface="Consolas"/>
                  <a:cs typeface="Consolas"/>
                </a:rPr>
                <a:t>$"Caught: {ex.Message}"</a:t>
              </a:r>
              <a:r>
                <a:rPr lang="en-US" sz="860" b="0" dirty="0">
                  <a:solidFill>
                    <a:srgbClr val="E2E8F0"/>
                  </a:solidFill>
                  <a:latin typeface="Consolas"/>
                  <a:ea typeface="Consolas"/>
                  <a:cs typeface="Consolas"/>
                </a:rPr>
                <a:t>);</a:t>
              </a:r>
              <a:endParaRPr lang="en-US" sz="860" dirty="0"/>
            </a:p>
          </p:txBody>
        </p:sp>
        <p:sp>
          <p:nvSpPr>
            <p:cNvPr id="121" name="dont_L13"/>
            <p:cNvSpPr txBox="1"/>
            <p:nvPr/>
          </p:nvSpPr>
          <p:spPr>
            <a:xfrm>
              <a:off x="771754" y="425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22" name="dont_L14"/>
            <p:cNvSpPr txBox="1"/>
            <p:nvPr/>
          </p:nvSpPr>
          <p:spPr>
            <a:xfrm>
              <a:off x="771754" y="442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FAE7A"/>
                  </a:solidFill>
                  <a:latin typeface="Consolas"/>
                  <a:ea typeface="Consolas"/>
                  <a:cs typeface="Consolas"/>
                </a:rPr>
                <a:t>// Output: Caught: Info service down     ("Reviews" is lost)</a:t>
              </a:r>
              <a:endParaRPr lang="en-US" sz="860" dirty="0"/>
            </a:p>
          </p:txBody>
        </p:sp>
      </p:grpSp>
      <p:sp>
        <p:nvSpPr>
          <p:cNvPr id="124" name="dont_hl6"/>
          <p:cNvSpPr/>
          <p:nvPr/>
        </p:nvSpPr>
        <p:spPr>
          <a:xfrm>
            <a:off x="676656" y="3050380"/>
            <a:ext cx="5173680" cy="20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5" name="dont_hl14"/>
          <p:cNvSpPr/>
          <p:nvPr/>
        </p:nvSpPr>
        <p:spPr>
          <a:xfrm>
            <a:off x="676656" y="4410380"/>
            <a:ext cx="5173680" cy="206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48" name="do"/>
          <p:cNvGrpSpPr/>
          <p:nvPr/>
        </p:nvGrpSpPr>
        <p:grpSpPr>
          <a:xfrm>
            <a:off x="6189574" y="1572768"/>
            <a:ext cx="5440680" cy="3310128"/>
            <a:chOff x="6189574" y="1572768"/>
            <a:chExt cx="5440680" cy="3310128"/>
          </a:xfrm>
        </p:grpSpPr>
        <p:sp>
          <p:nvSpPr>
            <p:cNvPr id="126" name="do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7" name="do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8" name="do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9" name="do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30" name="do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31" name="do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32" name="do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ZoobaPage.cs</a:t>
              </a:r>
              <a:endParaRPr lang="en-US" sz="950" dirty="0"/>
            </a:p>
          </p:txBody>
        </p:sp>
        <p:sp>
          <p:nvSpPr>
            <p:cNvPr id="133" name="do_lbl"/>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4" name="do_L00"/>
            <p:cNvSpPr txBox="1"/>
            <p:nvPr/>
          </p:nvSpPr>
          <p:spPr>
            <a:xfrm>
              <a:off x="6418174" y="204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Task&lt;</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&gt; infoTask    = GetInfoAsync(42);</a:t>
              </a:r>
              <a:endParaRPr lang="en-US" sz="860" dirty="0"/>
            </a:p>
          </p:txBody>
        </p:sp>
        <p:sp>
          <p:nvSpPr>
            <p:cNvPr id="135" name="do_L01"/>
            <p:cNvSpPr txBox="1"/>
            <p:nvPr/>
          </p:nvSpPr>
          <p:spPr>
            <a:xfrm>
              <a:off x="6418174" y="221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Task&lt;</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&gt; menuTask    = GetMenuAsync(42);</a:t>
              </a:r>
              <a:endParaRPr lang="en-US" sz="860" dirty="0"/>
            </a:p>
          </p:txBody>
        </p:sp>
        <p:sp>
          <p:nvSpPr>
            <p:cNvPr id="136" name="do_L02"/>
            <p:cNvSpPr txBox="1"/>
            <p:nvPr/>
          </p:nvSpPr>
          <p:spPr>
            <a:xfrm>
              <a:off x="6418174" y="238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Task&lt;</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&gt; reviewsTask = GetReviewsAsync(42);</a:t>
              </a:r>
              <a:endParaRPr lang="en-US" sz="860" dirty="0"/>
            </a:p>
          </p:txBody>
        </p:sp>
        <p:sp>
          <p:nvSpPr>
            <p:cNvPr id="137" name="do_L04"/>
            <p:cNvSpPr txBox="1"/>
            <p:nvPr/>
          </p:nvSpPr>
          <p:spPr>
            <a:xfrm>
              <a:off x="6418174" y="272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Task all = Task.WhenAll(infoTask, menuTask, reviewsTask);</a:t>
              </a:r>
              <a:endParaRPr lang="en-US" sz="860" dirty="0"/>
            </a:p>
          </p:txBody>
        </p:sp>
        <p:sp>
          <p:nvSpPr>
            <p:cNvPr id="138" name="do_L05"/>
            <p:cNvSpPr txBox="1"/>
            <p:nvPr/>
          </p:nvSpPr>
          <p:spPr>
            <a:xfrm>
              <a:off x="6418174" y="289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try</a:t>
              </a:r>
              <a:endParaRPr lang="en-US" sz="860" dirty="0"/>
            </a:p>
          </p:txBody>
        </p:sp>
        <p:sp>
          <p:nvSpPr>
            <p:cNvPr id="139" name="do_L06"/>
            <p:cNvSpPr txBox="1"/>
            <p:nvPr/>
          </p:nvSpPr>
          <p:spPr>
            <a:xfrm>
              <a:off x="6418174" y="306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40" name="do_L07"/>
            <p:cNvSpPr txBox="1"/>
            <p:nvPr/>
          </p:nvSpPr>
          <p:spPr>
            <a:xfrm>
              <a:off x="6418174" y="3238668"/>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all;                       </a:t>
              </a:r>
              <a:r>
                <a:rPr lang="en-US" sz="860" b="0" dirty="0">
                  <a:solidFill>
                    <a:srgbClr val="6FAE7A"/>
                  </a:solidFill>
                  <a:latin typeface="Consolas"/>
                  <a:ea typeface="Consolas"/>
                  <a:cs typeface="Consolas"/>
                </a:rPr>
                <a:t>// waits for ALL three</a:t>
              </a:r>
              <a:endParaRPr lang="en-US" sz="860" dirty="0"/>
            </a:p>
          </p:txBody>
        </p:sp>
        <p:sp>
          <p:nvSpPr>
            <p:cNvPr id="141" name="do_L08"/>
            <p:cNvSpPr txBox="1"/>
            <p:nvPr/>
          </p:nvSpPr>
          <p:spPr>
            <a:xfrm>
              <a:off x="6418174" y="340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42" name="do_L09"/>
            <p:cNvSpPr txBox="1"/>
            <p:nvPr/>
          </p:nvSpPr>
          <p:spPr>
            <a:xfrm>
              <a:off x="6418174" y="357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catch</a:t>
              </a:r>
              <a:endParaRPr lang="en-US" sz="860" dirty="0"/>
            </a:p>
          </p:txBody>
        </p:sp>
        <p:sp>
          <p:nvSpPr>
            <p:cNvPr id="143" name="do_L10"/>
            <p:cNvSpPr txBox="1"/>
            <p:nvPr/>
          </p:nvSpPr>
          <p:spPr>
            <a:xfrm>
              <a:off x="6418174" y="374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44" name="do_L11"/>
            <p:cNvSpPr txBox="1"/>
            <p:nvPr/>
          </p:nvSpPr>
          <p:spPr>
            <a:xfrm>
              <a:off x="6418174" y="3918668"/>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foreach</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var</a:t>
              </a:r>
              <a:r>
                <a:rPr lang="en-US" sz="860" b="0" dirty="0">
                  <a:solidFill>
                    <a:srgbClr val="E2E8F0"/>
                  </a:solidFill>
                  <a:latin typeface="Consolas"/>
                  <a:ea typeface="Consolas"/>
                  <a:cs typeface="Consolas"/>
                </a:rPr>
                <a:t> e </a:t>
              </a:r>
              <a:r>
                <a:rPr lang="en-US" sz="860" b="0" dirty="0">
                  <a:solidFill>
                    <a:srgbClr val="60A5FA"/>
                  </a:solidFill>
                  <a:latin typeface="Consolas"/>
                  <a:ea typeface="Consolas"/>
                  <a:cs typeface="Consolas"/>
                </a:rPr>
                <a:t>in</a:t>
              </a:r>
              <a:r>
                <a:rPr lang="en-US" sz="860" b="0" dirty="0">
                  <a:solidFill>
                    <a:srgbClr val="E2E8F0"/>
                  </a:solidFill>
                  <a:latin typeface="Consolas"/>
                  <a:ea typeface="Consolas"/>
                  <a:cs typeface="Consolas"/>
                </a:rPr>
                <a:t> all.Exception!.InnerExceptions)</a:t>
              </a:r>
              <a:endParaRPr lang="en-US" sz="860" dirty="0"/>
            </a:p>
          </p:txBody>
        </p:sp>
        <p:sp>
          <p:nvSpPr>
            <p:cNvPr id="145" name="do_L12"/>
            <p:cNvSpPr txBox="1"/>
            <p:nvPr/>
          </p:nvSpPr>
          <p:spPr>
            <a:xfrm>
              <a:off x="6418174" y="4088668"/>
              <a:ext cx="5140680" cy="17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Console.WriteLine(</a:t>
              </a:r>
              <a:r>
                <a:rPr lang="en-US" sz="860" b="0" dirty="0">
                  <a:solidFill>
                    <a:srgbClr val="F0A98B"/>
                  </a:solidFill>
                  <a:latin typeface="Consolas"/>
                  <a:ea typeface="Consolas"/>
                  <a:cs typeface="Consolas"/>
                </a:rPr>
                <a:t>$"Failed: {e.Message}"</a:t>
              </a:r>
              <a:r>
                <a:rPr lang="en-US" sz="860" b="0" dirty="0">
                  <a:solidFill>
                    <a:srgbClr val="E2E8F0"/>
                  </a:solidFill>
                  <a:latin typeface="Consolas"/>
                  <a:ea typeface="Consolas"/>
                  <a:cs typeface="Consolas"/>
                </a:rPr>
                <a:t>);</a:t>
              </a:r>
              <a:endParaRPr lang="en-US" sz="860" dirty="0"/>
            </a:p>
          </p:txBody>
        </p:sp>
        <p:sp>
          <p:nvSpPr>
            <p:cNvPr id="146" name="do_L13"/>
            <p:cNvSpPr txBox="1"/>
            <p:nvPr/>
          </p:nvSpPr>
          <p:spPr>
            <a:xfrm>
              <a:off x="6418174" y="425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47" name="do_L14"/>
            <p:cNvSpPr txBox="1"/>
            <p:nvPr/>
          </p:nvSpPr>
          <p:spPr>
            <a:xfrm>
              <a:off x="6418174" y="4428668"/>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FAE7A"/>
                  </a:solidFill>
                  <a:latin typeface="Consolas"/>
                  <a:ea typeface="Consolas"/>
                  <a:cs typeface="Consolas"/>
                </a:rPr>
                <a:t>// Failed: Info service down   Failed: Reviews service down</a:t>
              </a:r>
              <a:endParaRPr lang="en-US" sz="860" dirty="0"/>
            </a:p>
          </p:txBody>
        </p:sp>
      </p:grpSp>
      <p:sp>
        <p:nvSpPr>
          <p:cNvPr id="149" name="do_hl4"/>
          <p:cNvSpPr/>
          <p:nvPr/>
        </p:nvSpPr>
        <p:spPr>
          <a:xfrm>
            <a:off x="6323076" y="2710380"/>
            <a:ext cx="5173680" cy="20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0" name="do_hl11"/>
          <p:cNvSpPr/>
          <p:nvPr/>
        </p:nvSpPr>
        <p:spPr>
          <a:xfrm>
            <a:off x="6323076" y="3900380"/>
            <a:ext cx="5173680" cy="20657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51" name="arrow"/>
          <p:cNvCxnSpPr/>
          <p:nvPr/>
        </p:nvCxnSpPr>
        <p:spPr>
          <a:xfrm>
            <a:off x="6011266" y="3227832"/>
            <a:ext cx="150876" cy="0"/>
          </a:xfrm>
          <a:prstGeom prst="line">
            <a:avLst/>
          </a:prstGeom>
          <a:ln w="28575">
            <a:solidFill>
              <a:srgbClr val="13D0F7"/>
            </a:solidFill>
            <a:tailEnd type="triangle" w="med" len="med"/>
          </a:ln>
        </p:spPr>
      </p:cxnSp>
      <p:sp>
        <p:nvSpPr>
          <p:cNvPr id="152" name="why"/>
          <p:cNvSpPr/>
          <p:nvPr/>
        </p:nvSpPr>
        <p:spPr>
          <a:xfrm>
            <a:off x="543154" y="5020056"/>
            <a:ext cx="5440680" cy="103327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WHY IT FAILS</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The first await that throws ends the method. Later failures are never seen, and the other tasks run on with nobody waiting.</a:t>
            </a:r>
            <a:endParaRPr lang="en-US" sz="1150" dirty="0"/>
          </a:p>
        </p:txBody>
      </p:sp>
      <p:sp>
        <p:nvSpPr>
          <p:cNvPr id="153" name="when"/>
          <p:cNvSpPr/>
          <p:nvPr/>
        </p:nvSpPr>
        <p:spPr>
          <a:xfrm>
            <a:off x="6189574" y="5020056"/>
            <a:ext cx="5440680" cy="103327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USE IT WHEN</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You start several tasks together: await Task.WhenAll. One task that waits for all and keeps every exception.</a:t>
            </a:r>
            <a:endParaRPr lang="en-US" sz="1150" dirty="0"/>
          </a:p>
        </p:txBody>
      </p:sp>
    </p:spTree>
    <p:extLst>
      <p:ext uri="{BB962C8B-B14F-4D97-AF65-F5344CB8AC3E}">
        <p14:creationId xmlns:p14="http://schemas.microsoft.com/office/powerpoint/2010/main" val="504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400"/>
                                        <p:tgtEl>
                                          <p:spTgt spid="1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4"/>
                                        </p:tgtEl>
                                        <p:attrNameLst>
                                          <p:attrName>style.visibility</p:attrName>
                                        </p:attrNameLst>
                                      </p:cBhvr>
                                      <p:to>
                                        <p:strVal val="visible"/>
                                      </p:to>
                                    </p:set>
                                    <p:animEffect transition="in" filter="fade">
                                      <p:cBhvr>
                                        <p:cTn id="10" dur="400"/>
                                        <p:tgtEl>
                                          <p:spTgt spid="1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5"/>
                                        </p:tgtEl>
                                        <p:attrNameLst>
                                          <p:attrName>style.visibility</p:attrName>
                                        </p:attrNameLst>
                                      </p:cBhvr>
                                      <p:to>
                                        <p:strVal val="visible"/>
                                      </p:to>
                                    </p:set>
                                    <p:animEffect transition="in" filter="fade">
                                      <p:cBhvr>
                                        <p:cTn id="13" dur="400"/>
                                        <p:tgtEl>
                                          <p:spTgt spid="1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2"/>
                                        </p:tgtEl>
                                        <p:attrNameLst>
                                          <p:attrName>style.visibility</p:attrName>
                                        </p:attrNameLst>
                                      </p:cBhvr>
                                      <p:to>
                                        <p:strVal val="visible"/>
                                      </p:to>
                                    </p:set>
                                    <p:animEffect transition="in" filter="fade">
                                      <p:cBhvr>
                                        <p:cTn id="18" dur="400"/>
                                        <p:tgtEl>
                                          <p:spTgt spid="15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1"/>
                                        </p:tgtEl>
                                        <p:attrNameLst>
                                          <p:attrName>style.visibility</p:attrName>
                                        </p:attrNameLst>
                                      </p:cBhvr>
                                      <p:to>
                                        <p:strVal val="visible"/>
                                      </p:to>
                                    </p:set>
                                    <p:animEffect transition="in" filter="fade">
                                      <p:cBhvr>
                                        <p:cTn id="23" dur="400"/>
                                        <p:tgtEl>
                                          <p:spTgt spid="151"/>
                                        </p:tgtEl>
                                      </p:cBhvr>
                                    </p:animEffect>
                                  </p:childTnLst>
                                </p:cTn>
                              </p:par>
                              <p:par>
                                <p:cTn id="24" presetID="10" presetClass="entr" presetSubtype="0" fill="hold" nodeType="withEffect">
                                  <p:stCondLst>
                                    <p:cond delay="0"/>
                                  </p:stCondLst>
                                  <p:childTnLst>
                                    <p:set>
                                      <p:cBhvr>
                                        <p:cTn id="25" dur="1" fill="hold">
                                          <p:stCondLst>
                                            <p:cond delay="0"/>
                                          </p:stCondLst>
                                        </p:cTn>
                                        <p:tgtEl>
                                          <p:spTgt spid="148"/>
                                        </p:tgtEl>
                                        <p:attrNameLst>
                                          <p:attrName>style.visibility</p:attrName>
                                        </p:attrNameLst>
                                      </p:cBhvr>
                                      <p:to>
                                        <p:strVal val="visible"/>
                                      </p:to>
                                    </p:set>
                                    <p:animEffect transition="in" filter="fade">
                                      <p:cBhvr>
                                        <p:cTn id="26" dur="400"/>
                                        <p:tgtEl>
                                          <p:spTgt spid="14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9"/>
                                        </p:tgtEl>
                                        <p:attrNameLst>
                                          <p:attrName>style.visibility</p:attrName>
                                        </p:attrNameLst>
                                      </p:cBhvr>
                                      <p:to>
                                        <p:strVal val="visible"/>
                                      </p:to>
                                    </p:set>
                                    <p:animEffect transition="in" filter="fade">
                                      <p:cBhvr>
                                        <p:cTn id="29" dur="400"/>
                                        <p:tgtEl>
                                          <p:spTgt spid="14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0"/>
                                        </p:tgtEl>
                                        <p:attrNameLst>
                                          <p:attrName>style.visibility</p:attrName>
                                        </p:attrNameLst>
                                      </p:cBhvr>
                                      <p:to>
                                        <p:strVal val="visible"/>
                                      </p:to>
                                    </p:set>
                                    <p:animEffect transition="in" filter="fade">
                                      <p:cBhvr>
                                        <p:cTn id="32" dur="400"/>
                                        <p:tgtEl>
                                          <p:spTgt spid="15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3"/>
                                        </p:tgtEl>
                                        <p:attrNameLst>
                                          <p:attrName>style.visibility</p:attrName>
                                        </p:attrNameLst>
                                      </p:cBhvr>
                                      <p:to>
                                        <p:strVal val="visible"/>
                                      </p:to>
                                    </p:set>
                                    <p:animEffect transition="in" filter="fade">
                                      <p:cBhvr>
                                        <p:cTn id="37" dur="4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5" grpId="0" animBg="1"/>
      <p:bldP spid="149" grpId="0" animBg="1"/>
      <p:bldP spid="150" grpId="0" animBg="1"/>
      <p:bldP spid="152" grpId="0" animBg="1"/>
      <p:bldP spid="15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30452"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THREAD SAFETY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Concurrent Tasks Must Not Share Unsafe Objects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42</a:t>
            </a:r>
            <a:endParaRPr lang="en-US" sz="850" dirty="0"/>
          </a:p>
        </p:txBody>
      </p:sp>
      <p:sp>
        <p:nvSpPr>
          <p:cNvPr id="15" name="cwb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b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b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8" name="cwb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b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b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b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Shared.cs</a:t>
            </a:r>
            <a:endParaRPr lang="en-US" sz="950" dirty="0"/>
          </a:p>
        </p:txBody>
      </p:sp>
      <p:sp>
        <p:nvSpPr>
          <p:cNvPr id="22" name="cwb_hl00"/>
          <p:cNvSpPr/>
          <p:nvPr/>
        </p:nvSpPr>
        <p:spPr>
          <a:xfrm>
            <a:off x="676656" y="202996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23" name="cwb_L00"/>
          <p:cNvSpPr txBox="1"/>
          <p:nvPr/>
        </p:nvSpPr>
        <p:spPr>
          <a:xfrm>
            <a:off x="771754" y="204825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List&lt;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log = </a:t>
            </a:r>
            <a:r>
              <a:rPr lang="en-US" sz="1050" b="0" dirty="0">
                <a:solidFill>
                  <a:srgbClr val="60A5FA"/>
                </a:solidFill>
                <a:latin typeface="Consolas"/>
                <a:ea typeface="Consolas"/>
                <a:cs typeface="Consolas"/>
              </a:rPr>
              <a:t>new</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not thread-safe</a:t>
            </a:r>
            <a:endParaRPr lang="en-US" sz="1050" dirty="0"/>
          </a:p>
        </p:txBody>
      </p:sp>
      <p:sp>
        <p:nvSpPr>
          <p:cNvPr id="24" name="cwb_L02"/>
          <p:cNvSpPr txBox="1"/>
          <p:nvPr/>
        </p:nvSpPr>
        <p:spPr>
          <a:xfrm>
            <a:off x="771754" y="24749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Task.WhenAll(</a:t>
            </a:r>
            <a:endParaRPr lang="en-US" sz="1050" dirty="0"/>
          </a:p>
        </p:txBody>
      </p:sp>
      <p:sp>
        <p:nvSpPr>
          <p:cNvPr id="25" name="cwb_L03"/>
          <p:cNvSpPr txBox="1"/>
          <p:nvPr/>
        </p:nvSpPr>
        <p:spPr>
          <a:xfrm>
            <a:off x="771754" y="268833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LoadAsync(</a:t>
            </a:r>
            <a:r>
              <a:rPr lang="en-US" sz="1050" b="0" dirty="0">
                <a:solidFill>
                  <a:srgbClr val="F0A98B"/>
                </a:solidFill>
                <a:latin typeface="Consolas"/>
                <a:ea typeface="Consolas"/>
                <a:cs typeface="Consolas"/>
              </a:rPr>
              <a:t>"menu"</a:t>
            </a:r>
            <a:r>
              <a:rPr lang="en-US" sz="1050" b="0" dirty="0">
                <a:solidFill>
                  <a:srgbClr val="E2E8F0"/>
                </a:solidFill>
                <a:latin typeface="Consolas"/>
                <a:ea typeface="Consolas"/>
                <a:cs typeface="Consolas"/>
              </a:rPr>
              <a:t>, log),</a:t>
            </a:r>
            <a:endParaRPr lang="en-US" sz="1050" dirty="0"/>
          </a:p>
        </p:txBody>
      </p:sp>
      <p:sp>
        <p:nvSpPr>
          <p:cNvPr id="26" name="cwb_L04"/>
          <p:cNvSpPr txBox="1"/>
          <p:nvPr/>
        </p:nvSpPr>
        <p:spPr>
          <a:xfrm>
            <a:off x="771754" y="290169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LoadAsync(</a:t>
            </a:r>
            <a:r>
              <a:rPr lang="en-US" sz="1050" b="0" dirty="0">
                <a:solidFill>
                  <a:srgbClr val="F0A98B"/>
                </a:solidFill>
                <a:latin typeface="Consolas"/>
                <a:ea typeface="Consolas"/>
                <a:cs typeface="Consolas"/>
              </a:rPr>
              <a:t>"reviews"</a:t>
            </a:r>
            <a:r>
              <a:rPr lang="en-US" sz="1050" b="0" dirty="0">
                <a:solidFill>
                  <a:srgbClr val="E2E8F0"/>
                </a:solidFill>
                <a:latin typeface="Consolas"/>
                <a:ea typeface="Consolas"/>
                <a:cs typeface="Consolas"/>
              </a:rPr>
              <a:t>, log),</a:t>
            </a:r>
            <a:endParaRPr lang="en-US" sz="1050" dirty="0"/>
          </a:p>
        </p:txBody>
      </p:sp>
      <p:sp>
        <p:nvSpPr>
          <p:cNvPr id="27" name="cwb_L05"/>
          <p:cNvSpPr txBox="1"/>
          <p:nvPr/>
        </p:nvSpPr>
        <p:spPr>
          <a:xfrm>
            <a:off x="771754" y="311505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LoadAsync(</a:t>
            </a:r>
            <a:r>
              <a:rPr lang="en-US" sz="1050" b="0" dirty="0">
                <a:solidFill>
                  <a:srgbClr val="F0A98B"/>
                </a:solidFill>
                <a:latin typeface="Consolas"/>
                <a:ea typeface="Consolas"/>
                <a:cs typeface="Consolas"/>
              </a:rPr>
              <a:t>"offers"</a:t>
            </a:r>
            <a:r>
              <a:rPr lang="en-US" sz="1050" b="0" dirty="0">
                <a:solidFill>
                  <a:srgbClr val="E2E8F0"/>
                </a:solidFill>
                <a:latin typeface="Consolas"/>
                <a:ea typeface="Consolas"/>
                <a:cs typeface="Consolas"/>
              </a:rPr>
              <a:t>, log));</a:t>
            </a:r>
            <a:endParaRPr lang="en-US" sz="1050" dirty="0"/>
          </a:p>
        </p:txBody>
      </p:sp>
      <p:sp>
        <p:nvSpPr>
          <p:cNvPr id="28" name="cwb_L07"/>
          <p:cNvSpPr txBox="1"/>
          <p:nvPr/>
        </p:nvSpPr>
        <p:spPr>
          <a:xfrm>
            <a:off x="771754" y="354177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async</a:t>
            </a:r>
            <a:r>
              <a:rPr lang="en-US" sz="1050" b="0" dirty="0">
                <a:solidFill>
                  <a:srgbClr val="E2E8F0"/>
                </a:solidFill>
                <a:latin typeface="Consolas"/>
                <a:ea typeface="Consolas"/>
                <a:cs typeface="Consolas"/>
              </a:rPr>
              <a:t> Task LoadAsync(</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part, List&lt;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log)</a:t>
            </a:r>
            <a:endParaRPr lang="en-US" sz="1050" dirty="0"/>
          </a:p>
        </p:txBody>
      </p:sp>
      <p:sp>
        <p:nvSpPr>
          <p:cNvPr id="29" name="cwb_L08"/>
          <p:cNvSpPr txBox="1"/>
          <p:nvPr/>
        </p:nvSpPr>
        <p:spPr>
          <a:xfrm>
            <a:off x="771754" y="375513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0" name="cwb_L09"/>
          <p:cNvSpPr txBox="1"/>
          <p:nvPr/>
        </p:nvSpPr>
        <p:spPr>
          <a:xfrm>
            <a:off x="771754" y="396849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Task.Delay(500);</a:t>
            </a:r>
            <a:endParaRPr lang="en-US" sz="1050" dirty="0"/>
          </a:p>
        </p:txBody>
      </p:sp>
      <p:sp>
        <p:nvSpPr>
          <p:cNvPr id="31" name="cwb_hl10"/>
          <p:cNvSpPr/>
          <p:nvPr/>
        </p:nvSpPr>
        <p:spPr>
          <a:xfrm>
            <a:off x="676656" y="4163568"/>
            <a:ext cx="5173675" cy="249936"/>
          </a:xfrm>
          <a:prstGeom prst="rect">
            <a:avLst/>
          </a:prstGeom>
          <a:solidFill>
            <a:srgbClr val="F87171">
              <a:alpha val="15000"/>
            </a:srgbClr>
          </a:solidFill>
          <a:ln w="12700">
            <a:solidFill>
              <a:srgbClr val="F87171"/>
            </a:solidFill>
            <a:prstDash val="solid"/>
          </a:ln>
        </p:spPr>
        <p:txBody>
          <a:bodyPr/>
          <a:lstStyle/>
          <a:p>
            <a:endParaRPr lang="en-US"/>
          </a:p>
        </p:txBody>
      </p:sp>
      <p:sp>
        <p:nvSpPr>
          <p:cNvPr id="32" name="cwb_L10"/>
          <p:cNvSpPr txBox="1"/>
          <p:nvPr/>
        </p:nvSpPr>
        <p:spPr>
          <a:xfrm>
            <a:off x="771754" y="4181856"/>
            <a:ext cx="505663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log.Add(</a:t>
            </a:r>
            <a:r>
              <a:rPr lang="en-US" sz="1050" b="0" dirty="0">
                <a:solidFill>
                  <a:srgbClr val="F0A98B"/>
                </a:solidFill>
                <a:latin typeface="Consolas"/>
                <a:ea typeface="Consolas"/>
                <a:cs typeface="Consolas"/>
              </a:rPr>
              <a:t>$"{part} loaded"</a:t>
            </a:r>
            <a:r>
              <a:rPr lang="en-US" sz="1050" b="0" dirty="0">
                <a:solidFill>
                  <a:srgbClr val="E2E8F0"/>
                </a:solidFill>
                <a:latin typeface="Consolas"/>
                <a:ea typeface="Consolas"/>
                <a:cs typeface="Consolas"/>
              </a:rPr>
              <a:t>);     </a:t>
            </a:r>
            <a:r>
              <a:rPr lang="en-US" sz="1050" b="0" dirty="0">
                <a:solidFill>
                  <a:srgbClr val="6FAE7A"/>
                </a:solidFill>
                <a:latin typeface="Consolas"/>
                <a:ea typeface="Consolas"/>
                <a:cs typeface="Consolas"/>
              </a:rPr>
              <a:t>// may run at the same time!</a:t>
            </a:r>
            <a:endParaRPr lang="en-US" sz="1050" dirty="0"/>
          </a:p>
        </p:txBody>
      </p:sp>
      <p:sp>
        <p:nvSpPr>
          <p:cNvPr id="33" name="cwb_L11"/>
          <p:cNvSpPr txBox="1"/>
          <p:nvPr/>
        </p:nvSpPr>
        <p:spPr>
          <a:xfrm>
            <a:off x="771754" y="4395216"/>
            <a:ext cx="505663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4" name="cwa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35" name="cwa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6" name="cwa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37" name="cwa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38" name="cwa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39" name="cwa_dot2"/>
          <p:cNvSpPr/>
          <p:nvPr/>
        </p:nvSpPr>
        <p:spPr>
          <a:xfrm>
            <a:off x="672266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40" name="cwa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Results.cs</a:t>
            </a:r>
            <a:endParaRPr lang="en-US" sz="950" dirty="0"/>
          </a:p>
        </p:txBody>
      </p:sp>
      <p:sp>
        <p:nvSpPr>
          <p:cNvPr id="41" name="cwa_hl00"/>
          <p:cNvSpPr/>
          <p:nvPr/>
        </p:nvSpPr>
        <p:spPr>
          <a:xfrm>
            <a:off x="6323076" y="2029968"/>
            <a:ext cx="5173675"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42" name="cwa_L00"/>
          <p:cNvSpPr txBox="1"/>
          <p:nvPr/>
        </p:nvSpPr>
        <p:spPr>
          <a:xfrm>
            <a:off x="6418174" y="2048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parts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Task.WhenAll(</a:t>
            </a:r>
            <a:endParaRPr lang="en-US" sz="1000" dirty="0"/>
          </a:p>
        </p:txBody>
      </p:sp>
      <p:sp>
        <p:nvSpPr>
          <p:cNvPr id="43" name="cwa_L01"/>
          <p:cNvSpPr txBox="1"/>
          <p:nvPr/>
        </p:nvSpPr>
        <p:spPr>
          <a:xfrm>
            <a:off x="6418174" y="2251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LoadAsync(</a:t>
            </a:r>
            <a:r>
              <a:rPr lang="en-US" sz="1000" b="0" dirty="0">
                <a:solidFill>
                  <a:srgbClr val="F0A98B"/>
                </a:solidFill>
                <a:latin typeface="Consolas"/>
                <a:ea typeface="Consolas"/>
                <a:cs typeface="Consolas"/>
              </a:rPr>
              <a:t>"menu"</a:t>
            </a:r>
            <a:r>
              <a:rPr lang="en-US" sz="1000" b="0" dirty="0">
                <a:solidFill>
                  <a:srgbClr val="E2E8F0"/>
                </a:solidFill>
                <a:latin typeface="Consolas"/>
                <a:ea typeface="Consolas"/>
                <a:cs typeface="Consolas"/>
              </a:rPr>
              <a:t>),</a:t>
            </a:r>
            <a:endParaRPr lang="en-US" sz="1000" dirty="0"/>
          </a:p>
        </p:txBody>
      </p:sp>
      <p:sp>
        <p:nvSpPr>
          <p:cNvPr id="44" name="cwa_L02"/>
          <p:cNvSpPr txBox="1"/>
          <p:nvPr/>
        </p:nvSpPr>
        <p:spPr>
          <a:xfrm>
            <a:off x="6418174" y="24546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LoadAsync(</a:t>
            </a:r>
            <a:r>
              <a:rPr lang="en-US" sz="1000" b="0" dirty="0">
                <a:solidFill>
                  <a:srgbClr val="F0A98B"/>
                </a:solidFill>
                <a:latin typeface="Consolas"/>
                <a:ea typeface="Consolas"/>
                <a:cs typeface="Consolas"/>
              </a:rPr>
              <a:t>"reviews"</a:t>
            </a:r>
            <a:r>
              <a:rPr lang="en-US" sz="1000" b="0" dirty="0">
                <a:solidFill>
                  <a:srgbClr val="E2E8F0"/>
                </a:solidFill>
                <a:latin typeface="Consolas"/>
                <a:ea typeface="Consolas"/>
                <a:cs typeface="Consolas"/>
              </a:rPr>
              <a:t>),</a:t>
            </a:r>
            <a:endParaRPr lang="en-US" sz="1000" dirty="0"/>
          </a:p>
        </p:txBody>
      </p:sp>
      <p:sp>
        <p:nvSpPr>
          <p:cNvPr id="45" name="cwa_L03"/>
          <p:cNvSpPr txBox="1"/>
          <p:nvPr/>
        </p:nvSpPr>
        <p:spPr>
          <a:xfrm>
            <a:off x="6418174" y="26578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LoadAsync(</a:t>
            </a:r>
            <a:r>
              <a:rPr lang="en-US" sz="1000" b="0" dirty="0">
                <a:solidFill>
                  <a:srgbClr val="F0A98B"/>
                </a:solidFill>
                <a:latin typeface="Consolas"/>
                <a:ea typeface="Consolas"/>
                <a:cs typeface="Consolas"/>
              </a:rPr>
              <a:t>"offers"</a:t>
            </a:r>
            <a:r>
              <a:rPr lang="en-US" sz="1000" b="0" dirty="0">
                <a:solidFill>
                  <a:srgbClr val="E2E8F0"/>
                </a:solidFill>
                <a:latin typeface="Consolas"/>
                <a:ea typeface="Consolas"/>
                <a:cs typeface="Consolas"/>
              </a:rPr>
              <a:t>));</a:t>
            </a:r>
            <a:endParaRPr lang="en-US" sz="1000" dirty="0"/>
          </a:p>
        </p:txBody>
      </p:sp>
      <p:sp>
        <p:nvSpPr>
          <p:cNvPr id="46" name="cwa_L05"/>
          <p:cNvSpPr txBox="1"/>
          <p:nvPr/>
        </p:nvSpPr>
        <p:spPr>
          <a:xfrm>
            <a:off x="6418174" y="30642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foreach</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part </a:t>
            </a:r>
            <a:r>
              <a:rPr lang="en-US" sz="1000" b="0" dirty="0">
                <a:solidFill>
                  <a:srgbClr val="60A5FA"/>
                </a:solidFill>
                <a:latin typeface="Consolas"/>
                <a:ea typeface="Consolas"/>
                <a:cs typeface="Consolas"/>
              </a:rPr>
              <a:t>in</a:t>
            </a:r>
            <a:r>
              <a:rPr lang="en-US" sz="1000" b="0" dirty="0">
                <a:solidFill>
                  <a:srgbClr val="E2E8F0"/>
                </a:solidFill>
                <a:latin typeface="Consolas"/>
                <a:ea typeface="Consolas"/>
                <a:cs typeface="Consolas"/>
              </a:rPr>
              <a:t> parts)</a:t>
            </a:r>
            <a:endParaRPr lang="en-US" sz="1000" dirty="0"/>
          </a:p>
        </p:txBody>
      </p:sp>
      <p:sp>
        <p:nvSpPr>
          <p:cNvPr id="47" name="cwa_L06"/>
          <p:cNvSpPr txBox="1"/>
          <p:nvPr/>
        </p:nvSpPr>
        <p:spPr>
          <a:xfrm>
            <a:off x="6418174" y="3267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Console.WriteLine(part);</a:t>
            </a:r>
            <a:endParaRPr lang="en-US" sz="1000" dirty="0"/>
          </a:p>
        </p:txBody>
      </p:sp>
      <p:sp>
        <p:nvSpPr>
          <p:cNvPr id="48" name="cwa_L08"/>
          <p:cNvSpPr txBox="1"/>
          <p:nvPr/>
        </p:nvSpPr>
        <p:spPr>
          <a:xfrm>
            <a:off x="6418174" y="36738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LoadAsync(</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part)</a:t>
            </a:r>
            <a:endParaRPr lang="en-US" sz="1000" dirty="0"/>
          </a:p>
        </p:txBody>
      </p:sp>
      <p:sp>
        <p:nvSpPr>
          <p:cNvPr id="49" name="cwa_L09"/>
          <p:cNvSpPr txBox="1"/>
          <p:nvPr/>
        </p:nvSpPr>
        <p:spPr>
          <a:xfrm>
            <a:off x="6418174" y="38770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50" name="cwa_hl10"/>
          <p:cNvSpPr/>
          <p:nvPr/>
        </p:nvSpPr>
        <p:spPr>
          <a:xfrm>
            <a:off x="6323076" y="4061968"/>
            <a:ext cx="5173675" cy="239776"/>
          </a:xfrm>
          <a:prstGeom prst="rect">
            <a:avLst/>
          </a:prstGeom>
          <a:solidFill>
            <a:srgbClr val="34D399">
              <a:alpha val="15000"/>
            </a:srgbClr>
          </a:solidFill>
          <a:ln w="12700">
            <a:solidFill>
              <a:srgbClr val="34D399"/>
            </a:solidFill>
            <a:prstDash val="solid"/>
          </a:ln>
        </p:spPr>
        <p:txBody>
          <a:bodyPr/>
          <a:lstStyle/>
          <a:p>
            <a:endParaRPr lang="en-US"/>
          </a:p>
        </p:txBody>
      </p:sp>
      <p:sp>
        <p:nvSpPr>
          <p:cNvPr id="51" name="cwa_L10"/>
          <p:cNvSpPr txBox="1"/>
          <p:nvPr/>
        </p:nvSpPr>
        <p:spPr>
          <a:xfrm>
            <a:off x="6418174" y="40802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a:t>
            </a:r>
            <a:endParaRPr lang="en-US" sz="1000" dirty="0"/>
          </a:p>
        </p:txBody>
      </p:sp>
      <p:sp>
        <p:nvSpPr>
          <p:cNvPr id="52" name="cwa_L11"/>
          <p:cNvSpPr txBox="1"/>
          <p:nvPr/>
        </p:nvSpPr>
        <p:spPr>
          <a:xfrm>
            <a:off x="6418174" y="4283456"/>
            <a:ext cx="505663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a:t>
            </a:r>
            <a:r>
              <a:rPr lang="en-US" sz="1000" b="0" dirty="0">
                <a:solidFill>
                  <a:srgbClr val="F0A98B"/>
                </a:solidFill>
                <a:latin typeface="Consolas"/>
                <a:ea typeface="Consolas"/>
                <a:cs typeface="Consolas"/>
              </a:rPr>
              <a:t>$"{part} loaded"</a:t>
            </a:r>
            <a:r>
              <a:rPr lang="en-US" sz="1000" b="0" dirty="0">
                <a:solidFill>
                  <a:srgbClr val="E2E8F0"/>
                </a:solidFill>
                <a:latin typeface="Consolas"/>
                <a:ea typeface="Consolas"/>
                <a:cs typeface="Consolas"/>
              </a:rPr>
              <a:t>;        </a:t>
            </a:r>
            <a:r>
              <a:rPr lang="en-US" sz="1000" b="0" dirty="0">
                <a:solidFill>
                  <a:srgbClr val="6FAE7A"/>
                </a:solidFill>
                <a:latin typeface="Consolas"/>
                <a:ea typeface="Consolas"/>
                <a:cs typeface="Consolas"/>
              </a:rPr>
              <a:t>// nothing shared</a:t>
            </a:r>
            <a:endParaRPr lang="en-US" sz="1000" dirty="0"/>
          </a:p>
        </p:txBody>
      </p:sp>
      <p:sp>
        <p:nvSpPr>
          <p:cNvPr id="53" name="cwa_L12"/>
          <p:cNvSpPr txBox="1"/>
          <p:nvPr/>
        </p:nvSpPr>
        <p:spPr>
          <a:xfrm>
            <a:off x="6418174" y="4486656"/>
            <a:ext cx="505663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54" name="lblB"/>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SHARED</a:t>
            </a:r>
            <a:endParaRPr lang="en-US" sz="900" dirty="0"/>
          </a:p>
        </p:txBody>
      </p:sp>
      <p:sp>
        <p:nvSpPr>
          <p:cNvPr id="55" name="lblA"/>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SAFE</a:t>
            </a:r>
            <a:endParaRPr lang="en-US" sz="900" dirty="0"/>
          </a:p>
        </p:txBody>
      </p:sp>
      <p:cxnSp>
        <p:nvCxnSpPr>
          <p:cNvPr id="56" name="arrow"/>
          <p:cNvCxnSpPr/>
          <p:nvPr/>
        </p:nvCxnSpPr>
        <p:spPr>
          <a:xfrm>
            <a:off x="6011266" y="3227832"/>
            <a:ext cx="150876" cy="0"/>
          </a:xfrm>
          <a:prstGeom prst="line">
            <a:avLst/>
          </a:prstGeom>
          <a:ln w="28575">
            <a:solidFill>
              <a:srgbClr val="13D0F7"/>
            </a:solidFill>
            <a:tailEnd type="triangle" w="med" len="med"/>
          </a:ln>
        </p:spPr>
      </p:cxnSp>
      <p:sp>
        <p:nvSpPr>
          <p:cNvPr id="57" name="card"/>
          <p:cNvSpPr/>
          <p:nvPr/>
        </p:nvSpPr>
        <p:spPr>
          <a:xfrm>
            <a:off x="543154" y="5020056"/>
            <a:ext cx="5440680" cy="1033272"/>
          </a:xfrm>
          <a:prstGeom prst="roundRect">
            <a:avLst>
              <a:gd name="adj" fmla="val 7964"/>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F87171"/>
                </a:solidFill>
                <a:latin typeface="Segoe UI"/>
                <a:ea typeface="Segoe UI"/>
                <a:cs typeface="Segoe UI"/>
              </a:rPr>
              <a:t>THE PROBLEM</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After the await, the three continuations can run at the same moment on different pool threads. List&lt;T&gt; is not thread-safe, so Add can lose items or throw. WhenAll, WhenAny, WhenEach and Parallel all run work concurrently.</a:t>
            </a:r>
            <a:endParaRPr lang="en-US" sz="1250" dirty="0"/>
          </a:p>
        </p:txBody>
      </p:sp>
      <p:sp>
        <p:nvSpPr>
          <p:cNvPr id="58" name="card"/>
          <p:cNvSpPr/>
          <p:nvPr/>
        </p:nvSpPr>
        <p:spPr>
          <a:xfrm>
            <a:off x="6189574" y="5020056"/>
            <a:ext cx="5440680" cy="1033272"/>
          </a:xfrm>
          <a:prstGeom prst="roundRect">
            <a:avLst>
              <a:gd name="adj" fmla="val 7964"/>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100"/>
              </a:spcAft>
              <a:buNone/>
            </a:pPr>
            <a:r>
              <a:rPr lang="en-US" sz="1050" b="1" dirty="0">
                <a:solidFill>
                  <a:srgbClr val="34D399"/>
                </a:solidFill>
                <a:latin typeface="Segoe UI"/>
                <a:ea typeface="Segoe UI"/>
                <a:cs typeface="Segoe UI"/>
              </a:rPr>
              <a:t>THE FIX</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Let each task return its result and combine after WhenAll, or use a thread-safe type. Note for later: EF Core's DbContext is NOT thread-safe, so never run two queries on the same DbContext with WhenAll.</a:t>
            </a:r>
            <a:endParaRPr lang="en-US" sz="1250" dirty="0"/>
          </a:p>
        </p:txBody>
      </p:sp>
    </p:spTree>
    <p:extLst>
      <p:ext uri="{BB962C8B-B14F-4D97-AF65-F5344CB8AC3E}">
        <p14:creationId xmlns:p14="http://schemas.microsoft.com/office/powerpoint/2010/main" val="425563236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25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fade">
                                      <p:cBhvr>
                                        <p:cTn id="48" dur="250"/>
                                        <p:tgtEl>
                                          <p:spTgt spid="5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25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5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25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25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25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25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25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25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25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250"/>
                                        <p:tgtEl>
                                          <p:spTgt spid="5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fade">
                                      <p:cBhvr>
                                        <p:cTn id="83" dur="250"/>
                                        <p:tgtEl>
                                          <p:spTgt spid="5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fade">
                                      <p:cBhvr>
                                        <p:cTn id="86" dur="250"/>
                                        <p:tgtEl>
                                          <p:spTgt spid="5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3"/>
                                        </p:tgtEl>
                                        <p:attrNameLst>
                                          <p:attrName>style.visibility</p:attrName>
                                        </p:attrNameLst>
                                      </p:cBhvr>
                                      <p:to>
                                        <p:strVal val="visible"/>
                                      </p:to>
                                    </p:set>
                                    <p:animEffect transition="in" filter="fade">
                                      <p:cBhvr>
                                        <p:cTn id="89" dur="250"/>
                                        <p:tgtEl>
                                          <p:spTgt spid="5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5"/>
                                        </p:tgtEl>
                                        <p:attrNameLst>
                                          <p:attrName>style.visibility</p:attrName>
                                        </p:attrNameLst>
                                      </p:cBhvr>
                                      <p:to>
                                        <p:strVal val="visible"/>
                                      </p:to>
                                    </p:set>
                                    <p:animEffect transition="in" filter="fade">
                                      <p:cBhvr>
                                        <p:cTn id="92" dur="250"/>
                                        <p:tgtEl>
                                          <p:spTgt spid="55"/>
                                        </p:tgtEl>
                                      </p:cBhvr>
                                    </p:animEffect>
                                  </p:childTnLst>
                                </p:cTn>
                              </p:par>
                              <p:par>
                                <p:cTn id="93" presetID="10" presetClass="entr" presetSubtype="0"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animEffect transition="in" filter="fade">
                                      <p:cBhvr>
                                        <p:cTn id="95" dur="250"/>
                                        <p:tgtEl>
                                          <p:spTgt spid="56"/>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58"/>
                                        </p:tgtEl>
                                        <p:attrNameLst>
                                          <p:attrName>style.visibility</p:attrName>
                                        </p:attrNameLst>
                                      </p:cBhvr>
                                      <p:to>
                                        <p:strVal val="visible"/>
                                      </p:to>
                                    </p:set>
                                    <p:animEffect transition="in" filter="fade">
                                      <p:cBhvr>
                                        <p:cTn id="100" dur="2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p:bldP spid="25" grpId="0"/>
      <p:bldP spid="26" grpId="0"/>
      <p:bldP spid="27" grpId="0"/>
      <p:bldP spid="28" grpId="0"/>
      <p:bldP spid="29" grpId="0"/>
      <p:bldP spid="30" grpId="0"/>
      <p:bldP spid="31" grpId="0" animBg="1"/>
      <p:bldP spid="32" grpId="0"/>
      <p:bldP spid="33" grpId="0"/>
      <p:bldP spid="41" grpId="0" animBg="1"/>
      <p:bldP spid="42" grpId="0"/>
      <p:bldP spid="43" grpId="0"/>
      <p:bldP spid="44" grpId="0"/>
      <p:bldP spid="45" grpId="0"/>
      <p:bldP spid="46" grpId="0"/>
      <p:bldP spid="47" grpId="0"/>
      <p:bldP spid="48" grpId="0"/>
      <p:bldP spid="49" grpId="0"/>
      <p:bldP spid="50" grpId="0" animBg="1"/>
      <p:bldP spid="51" grpId="0"/>
      <p:bldP spid="52" grpId="0"/>
      <p:bldP spid="53" grpId="0"/>
      <p:bldP spid="54" grpId="0" animBg="1"/>
      <p:bldP spid="55" grpId="0" animBg="1"/>
      <p:bldP spid="57" grpId="0" animBg="1"/>
      <p:bldP spid="5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WHENALL ERRORS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Exceptions with WhenAll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47</a:t>
            </a:r>
            <a:endParaRPr lang="en-US" sz="850" dirty="0"/>
          </a:p>
        </p:txBody>
      </p:sp>
      <p:sp>
        <p:nvSpPr>
          <p:cNvPr id="15" name="cw_win"/>
          <p:cNvSpPr/>
          <p:nvPr/>
        </p:nvSpPr>
        <p:spPr>
          <a:xfrm>
            <a:off x="543154" y="1572768"/>
            <a:ext cx="658368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58368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payment = FailAsync(</a:t>
            </a:r>
            <a:r>
              <a:rPr lang="en-US" sz="950" b="0" dirty="0">
                <a:solidFill>
                  <a:srgbClr val="F0A98B"/>
                </a:solidFill>
                <a:latin typeface="Consolas"/>
                <a:ea typeface="Consolas"/>
                <a:cs typeface="Consolas"/>
              </a:rPr>
              <a:t>"Payment service down"</a:t>
            </a:r>
            <a:r>
              <a:rPr lang="en-US" sz="950" b="0" dirty="0">
                <a:solidFill>
                  <a:srgbClr val="E2E8F0"/>
                </a:solidFill>
                <a:latin typeface="Consolas"/>
                <a:ea typeface="Consolas"/>
                <a:cs typeface="Consolas"/>
              </a:rPr>
              <a:t>, 300);</a:t>
            </a:r>
            <a:endParaRPr lang="en-US" sz="950" dirty="0"/>
          </a:p>
        </p:txBody>
      </p:sp>
      <p:sp>
        <p:nvSpPr>
          <p:cNvPr id="23" name="cw_L01"/>
          <p:cNvSpPr txBox="1"/>
          <p:nvPr/>
        </p:nvSpPr>
        <p:spPr>
          <a:xfrm>
            <a:off x="771754" y="224129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sms = FailAsync(</a:t>
            </a:r>
            <a:r>
              <a:rPr lang="en-US" sz="950" b="0" dirty="0">
                <a:solidFill>
                  <a:srgbClr val="F0A98B"/>
                </a:solidFill>
                <a:latin typeface="Consolas"/>
                <a:ea typeface="Consolas"/>
                <a:cs typeface="Consolas"/>
              </a:rPr>
              <a:t>"SMS service down"</a:t>
            </a:r>
            <a:r>
              <a:rPr lang="en-US" sz="950" b="0" dirty="0">
                <a:solidFill>
                  <a:srgbClr val="E2E8F0"/>
                </a:solidFill>
                <a:latin typeface="Consolas"/>
                <a:ea typeface="Consolas"/>
                <a:cs typeface="Consolas"/>
              </a:rPr>
              <a:t>, 100);</a:t>
            </a:r>
            <a:endParaRPr lang="en-US" sz="950" dirty="0"/>
          </a:p>
        </p:txBody>
      </p:sp>
      <p:sp>
        <p:nvSpPr>
          <p:cNvPr id="24" name="cw_L02"/>
          <p:cNvSpPr txBox="1"/>
          <p:nvPr/>
        </p:nvSpPr>
        <p:spPr>
          <a:xfrm>
            <a:off x="771754" y="243433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kitchen = Task.Delay(200);</a:t>
            </a:r>
            <a:endParaRPr lang="en-US" sz="950" dirty="0"/>
          </a:p>
        </p:txBody>
      </p:sp>
      <p:sp>
        <p:nvSpPr>
          <p:cNvPr id="25" name="cw_L03"/>
          <p:cNvSpPr txBox="1"/>
          <p:nvPr/>
        </p:nvSpPr>
        <p:spPr>
          <a:xfrm>
            <a:off x="771754" y="262737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tasks = [payment, sms, kitchen];</a:t>
            </a:r>
            <a:endParaRPr lang="en-US" sz="950" dirty="0"/>
          </a:p>
        </p:txBody>
      </p:sp>
      <p:sp>
        <p:nvSpPr>
          <p:cNvPr id="26" name="cw_L04"/>
          <p:cNvSpPr txBox="1"/>
          <p:nvPr/>
        </p:nvSpPr>
        <p:spPr>
          <a:xfrm>
            <a:off x="771754" y="282041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27" name="cw_L05"/>
          <p:cNvSpPr txBox="1"/>
          <p:nvPr/>
        </p:nvSpPr>
        <p:spPr>
          <a:xfrm>
            <a:off x="771754" y="301345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28" name="cw_L06"/>
          <p:cNvSpPr txBox="1"/>
          <p:nvPr/>
        </p:nvSpPr>
        <p:spPr>
          <a:xfrm>
            <a:off x="771754" y="320649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Task.WhenAll(tasks);</a:t>
            </a:r>
            <a:endParaRPr lang="en-US" sz="950" dirty="0"/>
          </a:p>
        </p:txBody>
      </p:sp>
      <p:sp>
        <p:nvSpPr>
          <p:cNvPr id="29" name="cw_L07"/>
          <p:cNvSpPr txBox="1"/>
          <p:nvPr/>
        </p:nvSpPr>
        <p:spPr>
          <a:xfrm>
            <a:off x="771754" y="339953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0" name="cw_L08"/>
          <p:cNvSpPr txBox="1"/>
          <p:nvPr/>
        </p:nvSpPr>
        <p:spPr>
          <a:xfrm>
            <a:off x="771754" y="359257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(Exception ex)</a:t>
            </a:r>
            <a:endParaRPr lang="en-US" sz="950" dirty="0"/>
          </a:p>
        </p:txBody>
      </p:sp>
      <p:sp>
        <p:nvSpPr>
          <p:cNvPr id="31" name="cw_L09"/>
          <p:cNvSpPr txBox="1"/>
          <p:nvPr/>
        </p:nvSpPr>
        <p:spPr>
          <a:xfrm>
            <a:off x="771754" y="378561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2" name="cw_L10"/>
          <p:cNvSpPr txBox="1"/>
          <p:nvPr/>
        </p:nvSpPr>
        <p:spPr>
          <a:xfrm>
            <a:off x="771754" y="397865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$"Caught: {ex.Message}"</a:t>
            </a:r>
            <a:r>
              <a:rPr lang="en-US" sz="950" b="0" dirty="0">
                <a:solidFill>
                  <a:srgbClr val="E2E8F0"/>
                </a:solidFill>
                <a:latin typeface="Consolas"/>
                <a:ea typeface="Consolas"/>
                <a:cs typeface="Consolas"/>
              </a:rPr>
              <a:t>);</a:t>
            </a:r>
            <a:endParaRPr lang="en-US" sz="950" dirty="0"/>
          </a:p>
        </p:txBody>
      </p:sp>
      <p:sp>
        <p:nvSpPr>
          <p:cNvPr id="33" name="cw_L11"/>
          <p:cNvSpPr txBox="1"/>
          <p:nvPr/>
        </p:nvSpPr>
        <p:spPr>
          <a:xfrm>
            <a:off x="771754" y="417169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4" name="cw_L12"/>
          <p:cNvSpPr txBox="1"/>
          <p:nvPr/>
        </p:nvSpPr>
        <p:spPr>
          <a:xfrm>
            <a:off x="771754" y="436473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foreach</a:t>
            </a:r>
            <a:r>
              <a:rPr lang="en-US" sz="950" b="0" dirty="0">
                <a:solidFill>
                  <a:srgbClr val="E2E8F0"/>
                </a:solidFill>
                <a:latin typeface="Consolas"/>
                <a:ea typeface="Consolas"/>
                <a:cs typeface="Consolas"/>
              </a:rPr>
              <a:t> (Task task </a:t>
            </a:r>
            <a:r>
              <a:rPr lang="en-US" sz="950" b="0" dirty="0">
                <a:solidFill>
                  <a:srgbClr val="60A5FA"/>
                </a:solidFill>
                <a:latin typeface="Consolas"/>
                <a:ea typeface="Consolas"/>
                <a:cs typeface="Consolas"/>
              </a:rPr>
              <a:t>in</a:t>
            </a:r>
            <a:r>
              <a:rPr lang="en-US" sz="950" b="0" dirty="0">
                <a:solidFill>
                  <a:srgbClr val="E2E8F0"/>
                </a:solidFill>
                <a:latin typeface="Consolas"/>
                <a:ea typeface="Consolas"/>
                <a:cs typeface="Consolas"/>
              </a:rPr>
              <a:t> tasks)</a:t>
            </a:r>
            <a:endParaRPr lang="en-US" sz="950" dirty="0"/>
          </a:p>
        </p:txBody>
      </p:sp>
      <p:sp>
        <p:nvSpPr>
          <p:cNvPr id="35" name="cw_L13"/>
          <p:cNvSpPr txBox="1"/>
          <p:nvPr/>
        </p:nvSpPr>
        <p:spPr>
          <a:xfrm>
            <a:off x="771754" y="455777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(task.IsFaulted)</a:t>
            </a:r>
            <a:endParaRPr lang="en-US" sz="950" dirty="0"/>
          </a:p>
        </p:txBody>
      </p:sp>
      <p:sp>
        <p:nvSpPr>
          <p:cNvPr id="36" name="cw_L14"/>
          <p:cNvSpPr txBox="1"/>
          <p:nvPr/>
        </p:nvSpPr>
        <p:spPr>
          <a:xfrm>
            <a:off x="771754" y="4750816"/>
            <a:ext cx="6199632"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$"Failed: {task.Exception!.InnerException!.Message}"</a:t>
            </a:r>
            <a:r>
              <a:rPr lang="en-US" sz="950" b="0" dirty="0">
                <a:solidFill>
                  <a:srgbClr val="E2E8F0"/>
                </a:solidFill>
                <a:latin typeface="Consolas"/>
                <a:ea typeface="Consolas"/>
                <a:cs typeface="Consolas"/>
              </a:rPr>
              <a:t>);</a:t>
            </a:r>
            <a:endParaRPr lang="en-US" sz="950" dirty="0"/>
          </a:p>
        </p:txBody>
      </p:sp>
      <p:sp>
        <p:nvSpPr>
          <p:cNvPr id="37" name="cw_L15"/>
          <p:cNvSpPr txBox="1"/>
          <p:nvPr/>
        </p:nvSpPr>
        <p:spPr>
          <a:xfrm>
            <a:off x="771754" y="494385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FailAsync(</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message,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ms)</a:t>
            </a:r>
            <a:endParaRPr lang="en-US" sz="950" dirty="0"/>
          </a:p>
        </p:txBody>
      </p:sp>
      <p:sp>
        <p:nvSpPr>
          <p:cNvPr id="38" name="cw_L16"/>
          <p:cNvSpPr txBox="1"/>
          <p:nvPr/>
        </p:nvSpPr>
        <p:spPr>
          <a:xfrm>
            <a:off x="771754" y="513689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39" name="cw_L17"/>
          <p:cNvSpPr txBox="1"/>
          <p:nvPr/>
        </p:nvSpPr>
        <p:spPr>
          <a:xfrm>
            <a:off x="771754" y="532993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Task.Delay(ms);</a:t>
            </a:r>
            <a:endParaRPr lang="en-US" sz="950" dirty="0"/>
          </a:p>
        </p:txBody>
      </p:sp>
      <p:sp>
        <p:nvSpPr>
          <p:cNvPr id="40" name="cw_L18"/>
          <p:cNvSpPr txBox="1"/>
          <p:nvPr/>
        </p:nvSpPr>
        <p:spPr>
          <a:xfrm>
            <a:off x="771754" y="5522976"/>
            <a:ext cx="6199632"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Exception(message);</a:t>
            </a:r>
            <a:endParaRPr lang="en-US" sz="950" dirty="0"/>
          </a:p>
        </p:txBody>
      </p:sp>
      <p:sp>
        <p:nvSpPr>
          <p:cNvPr id="41" name="cw_L19"/>
          <p:cNvSpPr txBox="1"/>
          <p:nvPr/>
        </p:nvSpPr>
        <p:spPr>
          <a:xfrm>
            <a:off x="771754" y="5716016"/>
            <a:ext cx="619963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42" name="cmark"/>
          <p:cNvSpPr/>
          <p:nvPr/>
        </p:nvSpPr>
        <p:spPr>
          <a:xfrm>
            <a:off x="676656" y="3960368"/>
            <a:ext cx="6316675" cy="229616"/>
          </a:xfrm>
          <a:prstGeom prst="rect">
            <a:avLst/>
          </a:prstGeom>
          <a:solidFill>
            <a:srgbClr val="FBBF24">
              <a:alpha val="16000"/>
            </a:srgbClr>
          </a:solidFill>
          <a:ln w="15875">
            <a:solidFill>
              <a:srgbClr val="FBBF24"/>
            </a:solidFill>
            <a:prstDash val="solid"/>
          </a:ln>
        </p:spPr>
        <p:txBody>
          <a:bodyPr/>
          <a:lstStyle/>
          <a:p>
            <a:endParaRPr lang="en-US"/>
          </a:p>
        </p:txBody>
      </p:sp>
      <p:sp>
        <p:nvSpPr>
          <p:cNvPr id="43" name="cmark"/>
          <p:cNvSpPr/>
          <p:nvPr/>
        </p:nvSpPr>
        <p:spPr>
          <a:xfrm>
            <a:off x="676656" y="4346448"/>
            <a:ext cx="6316675" cy="229616"/>
          </a:xfrm>
          <a:prstGeom prst="rect">
            <a:avLst/>
          </a:prstGeom>
          <a:solidFill>
            <a:srgbClr val="34D399">
              <a:alpha val="16000"/>
            </a:srgbClr>
          </a:solidFill>
          <a:ln w="15875">
            <a:solidFill>
              <a:srgbClr val="34D399"/>
            </a:solidFill>
            <a:prstDash val="solid"/>
          </a:ln>
        </p:spPr>
        <p:txBody>
          <a:bodyPr/>
          <a:lstStyle/>
          <a:p>
            <a:endParaRPr lang="en-US"/>
          </a:p>
        </p:txBody>
      </p:sp>
      <p:sp>
        <p:nvSpPr>
          <p:cNvPr id="44" name="out_win"/>
          <p:cNvSpPr/>
          <p:nvPr/>
        </p:nvSpPr>
        <p:spPr>
          <a:xfrm>
            <a:off x="7355434" y="1572768"/>
            <a:ext cx="4274820" cy="822960"/>
          </a:xfrm>
          <a:prstGeom prst="roundRect">
            <a:avLst>
              <a:gd name="adj" fmla="val 8333"/>
            </a:avLst>
          </a:prstGeom>
          <a:solidFill>
            <a:srgbClr val="060D18"/>
          </a:solidFill>
          <a:ln w="12700">
            <a:solidFill>
              <a:srgbClr val="1E3A5F"/>
            </a:solidFill>
            <a:prstDash val="solid"/>
          </a:ln>
        </p:spPr>
        <p:txBody>
          <a:bodyPr/>
          <a:lstStyle/>
          <a:p>
            <a:endParaRPr lang="en-US"/>
          </a:p>
        </p:txBody>
      </p:sp>
      <p:sp>
        <p:nvSpPr>
          <p:cNvPr id="45" name="out_bar"/>
          <p:cNvSpPr/>
          <p:nvPr/>
        </p:nvSpPr>
        <p:spPr>
          <a:xfrm>
            <a:off x="7355434" y="1572768"/>
            <a:ext cx="42748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46" name="out_barfill"/>
          <p:cNvSpPr/>
          <p:nvPr/>
        </p:nvSpPr>
        <p:spPr>
          <a:xfrm>
            <a:off x="7355434" y="1744218"/>
            <a:ext cx="4274820" cy="171450"/>
          </a:xfrm>
          <a:prstGeom prst="rect">
            <a:avLst/>
          </a:prstGeom>
          <a:solidFill>
            <a:srgbClr val="0A1220"/>
          </a:solidFill>
          <a:ln w="12700">
            <a:solidFill>
              <a:srgbClr val="0A1220"/>
            </a:solidFill>
            <a:prstDash val="solid"/>
          </a:ln>
        </p:spPr>
        <p:txBody>
          <a:bodyPr/>
          <a:lstStyle/>
          <a:p>
            <a:endParaRPr lang="en-US"/>
          </a:p>
        </p:txBody>
      </p:sp>
      <p:sp>
        <p:nvSpPr>
          <p:cNvPr id="47" name="out_dot0"/>
          <p:cNvSpPr/>
          <p:nvPr/>
        </p:nvSpPr>
        <p:spPr>
          <a:xfrm>
            <a:off x="751728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48" name="out_dot1"/>
          <p:cNvSpPr/>
          <p:nvPr/>
        </p:nvSpPr>
        <p:spPr>
          <a:xfrm>
            <a:off x="770290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49" name="out_dot2"/>
          <p:cNvSpPr/>
          <p:nvPr/>
        </p:nvSpPr>
        <p:spPr>
          <a:xfrm>
            <a:off x="788852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50" name="out_tab"/>
          <p:cNvSpPr/>
          <p:nvPr/>
        </p:nvSpPr>
        <p:spPr>
          <a:xfrm>
            <a:off x="813633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51" name="out_L00"/>
          <p:cNvSpPr txBox="1"/>
          <p:nvPr/>
        </p:nvSpPr>
        <p:spPr>
          <a:xfrm>
            <a:off x="7584034" y="2048256"/>
            <a:ext cx="38907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Caught: Payment service down</a:t>
            </a:r>
            <a:endParaRPr lang="en-US" sz="1000" dirty="0"/>
          </a:p>
        </p:txBody>
      </p:sp>
      <p:sp>
        <p:nvSpPr>
          <p:cNvPr id="52" name="out_win"/>
          <p:cNvSpPr/>
          <p:nvPr/>
        </p:nvSpPr>
        <p:spPr>
          <a:xfrm>
            <a:off x="7355434" y="2532888"/>
            <a:ext cx="4274820" cy="1005840"/>
          </a:xfrm>
          <a:prstGeom prst="roundRect">
            <a:avLst>
              <a:gd name="adj" fmla="val 6818"/>
            </a:avLst>
          </a:prstGeom>
          <a:solidFill>
            <a:srgbClr val="060D18"/>
          </a:solidFill>
          <a:ln w="12700">
            <a:solidFill>
              <a:srgbClr val="1E3A5F"/>
            </a:solidFill>
            <a:prstDash val="solid"/>
          </a:ln>
        </p:spPr>
        <p:txBody>
          <a:bodyPr/>
          <a:lstStyle/>
          <a:p>
            <a:endParaRPr lang="en-US"/>
          </a:p>
        </p:txBody>
      </p:sp>
      <p:sp>
        <p:nvSpPr>
          <p:cNvPr id="53" name="out_bar"/>
          <p:cNvSpPr/>
          <p:nvPr/>
        </p:nvSpPr>
        <p:spPr>
          <a:xfrm>
            <a:off x="7355434" y="2532888"/>
            <a:ext cx="42748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54" name="out_barfill"/>
          <p:cNvSpPr/>
          <p:nvPr/>
        </p:nvSpPr>
        <p:spPr>
          <a:xfrm>
            <a:off x="7355434" y="2704338"/>
            <a:ext cx="4274820" cy="171450"/>
          </a:xfrm>
          <a:prstGeom prst="rect">
            <a:avLst/>
          </a:prstGeom>
          <a:solidFill>
            <a:srgbClr val="0A1220"/>
          </a:solidFill>
          <a:ln w="12700">
            <a:solidFill>
              <a:srgbClr val="0A1220"/>
            </a:solidFill>
            <a:prstDash val="solid"/>
          </a:ln>
        </p:spPr>
        <p:txBody>
          <a:bodyPr/>
          <a:lstStyle/>
          <a:p>
            <a:endParaRPr lang="en-US"/>
          </a:p>
        </p:txBody>
      </p:sp>
      <p:sp>
        <p:nvSpPr>
          <p:cNvPr id="55" name="out_dot0"/>
          <p:cNvSpPr/>
          <p:nvPr/>
        </p:nvSpPr>
        <p:spPr>
          <a:xfrm>
            <a:off x="7517282" y="2656698"/>
            <a:ext cx="95098" cy="95098"/>
          </a:xfrm>
          <a:prstGeom prst="ellipse">
            <a:avLst/>
          </a:prstGeom>
          <a:solidFill>
            <a:srgbClr val="F87171"/>
          </a:solidFill>
          <a:ln w="12700">
            <a:solidFill>
              <a:srgbClr val="F87171"/>
            </a:solidFill>
            <a:prstDash val="solid"/>
          </a:ln>
        </p:spPr>
        <p:txBody>
          <a:bodyPr/>
          <a:lstStyle/>
          <a:p>
            <a:endParaRPr lang="en-US"/>
          </a:p>
        </p:txBody>
      </p:sp>
      <p:sp>
        <p:nvSpPr>
          <p:cNvPr id="56" name="out_dot1"/>
          <p:cNvSpPr/>
          <p:nvPr/>
        </p:nvSpPr>
        <p:spPr>
          <a:xfrm>
            <a:off x="7702906" y="2656698"/>
            <a:ext cx="95098" cy="95098"/>
          </a:xfrm>
          <a:prstGeom prst="ellipse">
            <a:avLst/>
          </a:prstGeom>
          <a:solidFill>
            <a:srgbClr val="FBBF24"/>
          </a:solidFill>
          <a:ln w="12700">
            <a:solidFill>
              <a:srgbClr val="FBBF24"/>
            </a:solidFill>
            <a:prstDash val="solid"/>
          </a:ln>
        </p:spPr>
        <p:txBody>
          <a:bodyPr/>
          <a:lstStyle/>
          <a:p>
            <a:endParaRPr lang="en-US"/>
          </a:p>
        </p:txBody>
      </p:sp>
      <p:sp>
        <p:nvSpPr>
          <p:cNvPr id="57" name="out_dot2"/>
          <p:cNvSpPr/>
          <p:nvPr/>
        </p:nvSpPr>
        <p:spPr>
          <a:xfrm>
            <a:off x="7888529" y="2656698"/>
            <a:ext cx="95098" cy="95098"/>
          </a:xfrm>
          <a:prstGeom prst="ellipse">
            <a:avLst/>
          </a:prstGeom>
          <a:solidFill>
            <a:srgbClr val="34D399"/>
          </a:solidFill>
          <a:ln w="12700">
            <a:solidFill>
              <a:srgbClr val="34D399"/>
            </a:solidFill>
            <a:prstDash val="solid"/>
          </a:ln>
        </p:spPr>
        <p:txBody>
          <a:bodyPr/>
          <a:lstStyle/>
          <a:p>
            <a:endParaRPr lang="en-US"/>
          </a:p>
        </p:txBody>
      </p:sp>
      <p:sp>
        <p:nvSpPr>
          <p:cNvPr id="58" name="out_tab"/>
          <p:cNvSpPr/>
          <p:nvPr/>
        </p:nvSpPr>
        <p:spPr>
          <a:xfrm>
            <a:off x="8136331" y="258043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Inspecting</a:t>
            </a:r>
            <a:endParaRPr lang="en-US" sz="950" dirty="0"/>
          </a:p>
        </p:txBody>
      </p:sp>
      <p:sp>
        <p:nvSpPr>
          <p:cNvPr id="59" name="out_L00"/>
          <p:cNvSpPr txBox="1"/>
          <p:nvPr/>
        </p:nvSpPr>
        <p:spPr>
          <a:xfrm>
            <a:off x="7584034" y="3008376"/>
            <a:ext cx="38907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Failed: Payment service down</a:t>
            </a:r>
            <a:endParaRPr lang="en-US" sz="1000" dirty="0"/>
          </a:p>
        </p:txBody>
      </p:sp>
      <p:sp>
        <p:nvSpPr>
          <p:cNvPr id="60" name="out_L01"/>
          <p:cNvSpPr txBox="1"/>
          <p:nvPr/>
        </p:nvSpPr>
        <p:spPr>
          <a:xfrm>
            <a:off x="7584034" y="3211576"/>
            <a:ext cx="389077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Failed: SMS service down</a:t>
            </a:r>
            <a:endParaRPr lang="en-US" sz="1000" dirty="0"/>
          </a:p>
        </p:txBody>
      </p:sp>
      <p:sp>
        <p:nvSpPr>
          <p:cNvPr id="61" name="card"/>
          <p:cNvSpPr/>
          <p:nvPr/>
        </p:nvSpPr>
        <p:spPr>
          <a:xfrm>
            <a:off x="7355434" y="3675888"/>
            <a:ext cx="4274820" cy="1143000"/>
          </a:xfrm>
          <a:prstGeom prst="roundRect">
            <a:avLst>
              <a:gd name="adj" fmla="val 7199"/>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120"/>
              </a:spcAft>
              <a:buNone/>
            </a:pPr>
            <a:r>
              <a:rPr lang="en-US" sz="1050" b="1" dirty="0">
                <a:solidFill>
                  <a:srgbClr val="FBBF24"/>
                </a:solidFill>
                <a:latin typeface="Segoe UI"/>
                <a:ea typeface="Segoe UI"/>
                <a:cs typeface="Segoe UI"/>
              </a:rPr>
              <a:t>ONE IS THROWN</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await gives you the first failure (</a:t>
            </a:r>
            <a:r>
              <a:rPr lang="en-US" sz="1200" b="0" dirty="0">
                <a:solidFill>
                  <a:srgbClr val="FF0000"/>
                </a:solidFill>
                <a:latin typeface="Segoe UI"/>
                <a:ea typeface="Segoe UI"/>
                <a:cs typeface="Segoe UI"/>
              </a:rPr>
              <a:t>by task order).</a:t>
            </a:r>
            <a:endParaRPr lang="en-US" sz="1200" dirty="0">
              <a:solidFill>
                <a:srgbClr val="FF0000"/>
              </a:solidFill>
            </a:endParaRPr>
          </a:p>
        </p:txBody>
      </p:sp>
      <p:sp>
        <p:nvSpPr>
          <p:cNvPr id="62" name="card"/>
          <p:cNvSpPr/>
          <p:nvPr/>
        </p:nvSpPr>
        <p:spPr>
          <a:xfrm>
            <a:off x="7355434" y="4910328"/>
            <a:ext cx="4274820" cy="1143000"/>
          </a:xfrm>
          <a:prstGeom prst="roundRect">
            <a:avLst>
              <a:gd name="adj" fmla="val 7199"/>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l">
              <a:spcBef>
                <a:spcPts val="0"/>
              </a:spcBef>
              <a:spcAft>
                <a:spcPts val="120"/>
              </a:spcAft>
              <a:buNone/>
            </a:pPr>
            <a:r>
              <a:rPr lang="en-US" sz="1050" b="1" dirty="0">
                <a:solidFill>
                  <a:srgbClr val="34D399"/>
                </a:solidFill>
                <a:latin typeface="Segoe UI"/>
                <a:ea typeface="Segoe UI"/>
                <a:cs typeface="Segoe UI"/>
              </a:rPr>
              <a:t>ALL ARE KEPT</a:t>
            </a:r>
            <a:endParaRPr lang="en-US" sz="1050" dirty="0"/>
          </a:p>
          <a:p>
            <a:pPr marL="0" indent="0" algn="l">
              <a:spcBef>
                <a:spcPts val="0"/>
              </a:spcBef>
              <a:spcAft>
                <a:spcPts val="0"/>
              </a:spcAft>
              <a:buNone/>
            </a:pPr>
            <a:r>
              <a:rPr lang="en-US" sz="1200" b="0" dirty="0">
                <a:solidFill>
                  <a:srgbClr val="CBD5E1"/>
                </a:solidFill>
                <a:latin typeface="Segoe UI"/>
                <a:ea typeface="Segoe UI"/>
                <a:cs typeface="Segoe UI"/>
              </a:rPr>
              <a:t>Each faulted task still holds its own exception.</a:t>
            </a:r>
            <a:endParaRPr lang="en-US" sz="1200" dirty="0"/>
          </a:p>
        </p:txBody>
      </p:sp>
    </p:spTree>
    <p:extLst>
      <p:ext uri="{BB962C8B-B14F-4D97-AF65-F5344CB8AC3E}">
        <p14:creationId xmlns:p14="http://schemas.microsoft.com/office/powerpoint/2010/main" val="17655199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25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250"/>
                                        <p:tgtEl>
                                          <p:spTgt spid="3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250"/>
                                        <p:tgtEl>
                                          <p:spTgt spid="4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25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25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250"/>
                                        <p:tgtEl>
                                          <p:spTgt spid="5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animEffect transition="in" filter="fade">
                                      <p:cBhvr>
                                        <p:cTn id="75" dur="250"/>
                                        <p:tgtEl>
                                          <p:spTgt spid="6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250"/>
                                        <p:tgtEl>
                                          <p:spTgt spid="4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250"/>
                                        <p:tgtEl>
                                          <p:spTgt spid="5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0"/>
                                        </p:tgtEl>
                                        <p:attrNameLst>
                                          <p:attrName>style.visibility</p:attrName>
                                        </p:attrNameLst>
                                      </p:cBhvr>
                                      <p:to>
                                        <p:strVal val="visible"/>
                                      </p:to>
                                    </p:set>
                                    <p:animEffect transition="in" filter="fade">
                                      <p:cBhvr>
                                        <p:cTn id="86" dur="250"/>
                                        <p:tgtEl>
                                          <p:spTgt spid="6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2"/>
                                        </p:tgtEl>
                                        <p:attrNameLst>
                                          <p:attrName>style.visibility</p:attrName>
                                        </p:attrNameLst>
                                      </p:cBhvr>
                                      <p:to>
                                        <p:strVal val="visible"/>
                                      </p:to>
                                    </p:set>
                                    <p:animEffect transition="in" filter="fade">
                                      <p:cBhvr>
                                        <p:cTn id="89" dur="2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animBg="1"/>
      <p:bldP spid="43" grpId="0" animBg="1"/>
      <p:bldP spid="51" grpId="0"/>
      <p:bldP spid="59" grpId="0"/>
      <p:bldP spid="60" grpId="0"/>
      <p:bldP spid="61" grpId="0" animBg="1"/>
      <p:bldP spid="6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TIMEOUT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WhenAny for a Timeout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43</a:t>
            </a:r>
            <a:endParaRPr lang="en-US" sz="850" dirty="0"/>
          </a:p>
        </p:txBody>
      </p:sp>
      <p:sp>
        <p:nvSpPr>
          <p:cNvPr id="15" name="cw_win"/>
          <p:cNvSpPr/>
          <p:nvPr/>
        </p:nvSpPr>
        <p:spPr>
          <a:xfrm>
            <a:off x="543154" y="1572768"/>
            <a:ext cx="649224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92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9224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menuTask = GetMenuAsync();</a:t>
            </a:r>
            <a:endParaRPr lang="en-US" sz="1000" dirty="0"/>
          </a:p>
        </p:txBody>
      </p:sp>
      <p:sp>
        <p:nvSpPr>
          <p:cNvPr id="23" name="cw_L01"/>
          <p:cNvSpPr txBox="1"/>
          <p:nvPr/>
        </p:nvSpPr>
        <p:spPr>
          <a:xfrm>
            <a:off x="771754" y="22514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 timeout = Task.Delay(2000);</a:t>
            </a:r>
            <a:endParaRPr lang="en-US" sz="1000" dirty="0"/>
          </a:p>
        </p:txBody>
      </p:sp>
      <p:sp>
        <p:nvSpPr>
          <p:cNvPr id="24" name="cw_L03"/>
          <p:cNvSpPr txBox="1"/>
          <p:nvPr/>
        </p:nvSpPr>
        <p:spPr>
          <a:xfrm>
            <a:off x="771754" y="26578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Task finished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Task.WhenAny(menuTask, timeout);</a:t>
            </a:r>
            <a:endParaRPr lang="en-US" sz="1000" dirty="0"/>
          </a:p>
        </p:txBody>
      </p:sp>
      <p:sp>
        <p:nvSpPr>
          <p:cNvPr id="25" name="cw_L05"/>
          <p:cNvSpPr txBox="1"/>
          <p:nvPr/>
        </p:nvSpPr>
        <p:spPr>
          <a:xfrm>
            <a:off x="771754" y="30642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if</a:t>
            </a:r>
            <a:r>
              <a:rPr lang="en-US" sz="1000" b="0" dirty="0">
                <a:solidFill>
                  <a:srgbClr val="E2E8F0"/>
                </a:solidFill>
                <a:latin typeface="Consolas"/>
                <a:ea typeface="Consolas"/>
                <a:cs typeface="Consolas"/>
              </a:rPr>
              <a:t> (finished == timeout)</a:t>
            </a:r>
            <a:endParaRPr lang="en-US" sz="1000" dirty="0"/>
          </a:p>
        </p:txBody>
      </p:sp>
      <p:sp>
        <p:nvSpPr>
          <p:cNvPr id="26" name="cw_L06"/>
          <p:cNvSpPr txBox="1"/>
          <p:nvPr/>
        </p:nvSpPr>
        <p:spPr>
          <a:xfrm>
            <a:off x="771754" y="32674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"Menu is slow: showing the cached menu"</a:t>
            </a:r>
            <a:r>
              <a:rPr lang="en-US" sz="1000" b="0" dirty="0">
                <a:solidFill>
                  <a:srgbClr val="E2E8F0"/>
                </a:solidFill>
                <a:latin typeface="Consolas"/>
                <a:ea typeface="Consolas"/>
                <a:cs typeface="Consolas"/>
              </a:rPr>
              <a:t>);</a:t>
            </a:r>
            <a:endParaRPr lang="en-US" sz="1000" dirty="0"/>
          </a:p>
        </p:txBody>
      </p:sp>
      <p:sp>
        <p:nvSpPr>
          <p:cNvPr id="27" name="cw_L07"/>
          <p:cNvSpPr txBox="1"/>
          <p:nvPr/>
        </p:nvSpPr>
        <p:spPr>
          <a:xfrm>
            <a:off x="771754" y="34706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else</a:t>
            </a:r>
            <a:endParaRPr lang="en-US" sz="1000" dirty="0"/>
          </a:p>
        </p:txBody>
      </p:sp>
      <p:sp>
        <p:nvSpPr>
          <p:cNvPr id="28" name="cw_L08"/>
          <p:cNvSpPr txBox="1"/>
          <p:nvPr/>
        </p:nvSpPr>
        <p:spPr>
          <a:xfrm>
            <a:off x="771754" y="36738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menuTask);</a:t>
            </a:r>
            <a:endParaRPr lang="en-US" sz="1000" dirty="0"/>
          </a:p>
        </p:txBody>
      </p:sp>
      <p:sp>
        <p:nvSpPr>
          <p:cNvPr id="29" name="cw_L10"/>
          <p:cNvSpPr txBox="1"/>
          <p:nvPr/>
        </p:nvSpPr>
        <p:spPr>
          <a:xfrm>
            <a:off x="771754" y="40802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GetMenuAsync()</a:t>
            </a:r>
            <a:endParaRPr lang="en-US" sz="1000" dirty="0"/>
          </a:p>
        </p:txBody>
      </p:sp>
      <p:sp>
        <p:nvSpPr>
          <p:cNvPr id="30" name="cw_L11"/>
          <p:cNvSpPr txBox="1"/>
          <p:nvPr/>
        </p:nvSpPr>
        <p:spPr>
          <a:xfrm>
            <a:off x="771754" y="42834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1" name="cw_L12"/>
          <p:cNvSpPr txBox="1"/>
          <p:nvPr/>
        </p:nvSpPr>
        <p:spPr>
          <a:xfrm>
            <a:off x="771754" y="44866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Task.Delay(5000);   </a:t>
            </a:r>
            <a:r>
              <a:rPr lang="en-US" sz="1000" b="0" dirty="0">
                <a:solidFill>
                  <a:srgbClr val="6FAE7A"/>
                </a:solidFill>
                <a:latin typeface="Consolas"/>
                <a:ea typeface="Consolas"/>
                <a:cs typeface="Consolas"/>
              </a:rPr>
              <a:t>// the server is slow today</a:t>
            </a:r>
            <a:endParaRPr lang="en-US" sz="1000" dirty="0"/>
          </a:p>
        </p:txBody>
      </p:sp>
      <p:sp>
        <p:nvSpPr>
          <p:cNvPr id="32" name="cw_L13"/>
          <p:cNvSpPr txBox="1"/>
          <p:nvPr/>
        </p:nvSpPr>
        <p:spPr>
          <a:xfrm>
            <a:off x="771754" y="4689856"/>
            <a:ext cx="610819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a:t>
            </a:r>
            <a:r>
              <a:rPr lang="en-US" sz="1000" b="0" dirty="0">
                <a:solidFill>
                  <a:srgbClr val="F0A98B"/>
                </a:solidFill>
                <a:latin typeface="Consolas"/>
                <a:ea typeface="Consolas"/>
                <a:cs typeface="Consolas"/>
              </a:rPr>
              <a:t>"Fresh menu"</a:t>
            </a:r>
            <a:r>
              <a:rPr lang="en-US" sz="1000" b="0" dirty="0">
                <a:solidFill>
                  <a:srgbClr val="E2E8F0"/>
                </a:solidFill>
                <a:latin typeface="Consolas"/>
                <a:ea typeface="Consolas"/>
                <a:cs typeface="Consolas"/>
              </a:rPr>
              <a:t>;</a:t>
            </a:r>
            <a:endParaRPr lang="en-US" sz="1000" dirty="0"/>
          </a:p>
        </p:txBody>
      </p:sp>
      <p:sp>
        <p:nvSpPr>
          <p:cNvPr id="33" name="cw_L14"/>
          <p:cNvSpPr txBox="1"/>
          <p:nvPr/>
        </p:nvSpPr>
        <p:spPr>
          <a:xfrm>
            <a:off x="771754" y="4893056"/>
            <a:ext cx="610819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4" name="card"/>
          <p:cNvSpPr/>
          <p:nvPr/>
        </p:nvSpPr>
        <p:spPr>
          <a:xfrm>
            <a:off x="7263994" y="1572768"/>
            <a:ext cx="436626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RACE A TIMER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Task.Delay(2000) is the deadline.</a:t>
            </a:r>
            <a:endParaRPr lang="en-US" sz="1250" dirty="0"/>
          </a:p>
        </p:txBody>
      </p:sp>
      <p:sp>
        <p:nvSpPr>
          <p:cNvPr id="35" name="card"/>
          <p:cNvSpPr/>
          <p:nvPr/>
        </p:nvSpPr>
        <p:spPr>
          <a:xfrm>
            <a:off x="7263994" y="3112008"/>
            <a:ext cx="4366260" cy="1402080"/>
          </a:xfrm>
          <a:prstGeom prst="roundRect">
            <a:avLst>
              <a:gd name="adj" fmla="val 5869"/>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COMPARE THE WINNER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If the winner is the timer, the call was too slow.</a:t>
            </a:r>
            <a:endParaRPr lang="en-US" sz="1250" dirty="0"/>
          </a:p>
        </p:txBody>
      </p:sp>
      <p:sp>
        <p:nvSpPr>
          <p:cNvPr id="36" name="card"/>
          <p:cNvSpPr/>
          <p:nvPr/>
        </p:nvSpPr>
        <p:spPr>
          <a:xfrm>
            <a:off x="7263994" y="4651248"/>
            <a:ext cx="4366260" cy="1402080"/>
          </a:xfrm>
          <a:prstGeom prst="roundRect">
            <a:avLst>
              <a:gd name="adj" fmla="val 5869"/>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NEXT</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menuTask still runs; cancellation (Part 7) can stop it.</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25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25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41832"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WHENEACH</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WhenEach: Handle Results as They Complete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44</a:t>
            </a:r>
            <a:endParaRPr lang="en-US" sz="850" dirty="0"/>
          </a:p>
        </p:txBody>
      </p:sp>
      <p:sp>
        <p:nvSpPr>
          <p:cNvPr id="15" name="cw_win"/>
          <p:cNvSpPr/>
          <p:nvPr/>
        </p:nvSpPr>
        <p:spPr>
          <a:xfrm>
            <a:off x="543154" y="1572768"/>
            <a:ext cx="640080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40080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Task&lt;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dishes =</a:t>
            </a:r>
            <a:endParaRPr lang="en-US" sz="1050" dirty="0"/>
          </a:p>
        </p:txBody>
      </p:sp>
      <p:sp>
        <p:nvSpPr>
          <p:cNvPr id="23" name="cw_L01"/>
          <p:cNvSpPr txBox="1"/>
          <p:nvPr/>
        </p:nvSpPr>
        <p:spPr>
          <a:xfrm>
            <a:off x="771754" y="226161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4" name="cw_L02"/>
          <p:cNvSpPr txBox="1"/>
          <p:nvPr/>
        </p:nvSpPr>
        <p:spPr>
          <a:xfrm>
            <a:off x="771754" y="247497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PrepareAsync(</a:t>
            </a:r>
            <a:r>
              <a:rPr lang="en-US" sz="1050" b="0" dirty="0">
                <a:solidFill>
                  <a:srgbClr val="F0A98B"/>
                </a:solidFill>
                <a:latin typeface="Consolas"/>
                <a:ea typeface="Consolas"/>
                <a:cs typeface="Consolas"/>
              </a:rPr>
              <a:t>"Pizza"</a:t>
            </a:r>
            <a:r>
              <a:rPr lang="en-US" sz="1050" b="0" dirty="0">
                <a:solidFill>
                  <a:srgbClr val="E2E8F0"/>
                </a:solidFill>
                <a:latin typeface="Consolas"/>
                <a:ea typeface="Consolas"/>
                <a:cs typeface="Consolas"/>
              </a:rPr>
              <a:t>, 3000),</a:t>
            </a:r>
            <a:endParaRPr lang="en-US" sz="1050" dirty="0"/>
          </a:p>
        </p:txBody>
      </p:sp>
      <p:sp>
        <p:nvSpPr>
          <p:cNvPr id="25" name="cw_L03"/>
          <p:cNvSpPr txBox="1"/>
          <p:nvPr/>
        </p:nvSpPr>
        <p:spPr>
          <a:xfrm>
            <a:off x="771754" y="268833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PrepareAsync(</a:t>
            </a:r>
            <a:r>
              <a:rPr lang="en-US" sz="1050" b="0" dirty="0">
                <a:solidFill>
                  <a:srgbClr val="F0A98B"/>
                </a:solidFill>
                <a:latin typeface="Consolas"/>
                <a:ea typeface="Consolas"/>
                <a:cs typeface="Consolas"/>
              </a:rPr>
              <a:t>"Shawarma"</a:t>
            </a:r>
            <a:r>
              <a:rPr lang="en-US" sz="1050" b="0" dirty="0">
                <a:solidFill>
                  <a:srgbClr val="E2E8F0"/>
                </a:solidFill>
                <a:latin typeface="Consolas"/>
                <a:ea typeface="Consolas"/>
                <a:cs typeface="Consolas"/>
              </a:rPr>
              <a:t>, 1000),</a:t>
            </a:r>
            <a:endParaRPr lang="en-US" sz="1050" dirty="0"/>
          </a:p>
        </p:txBody>
      </p:sp>
      <p:sp>
        <p:nvSpPr>
          <p:cNvPr id="26" name="cw_L04"/>
          <p:cNvSpPr txBox="1"/>
          <p:nvPr/>
        </p:nvSpPr>
        <p:spPr>
          <a:xfrm>
            <a:off x="771754" y="290169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PrepareAsync(</a:t>
            </a:r>
            <a:r>
              <a:rPr lang="en-US" sz="1050" b="0" dirty="0">
                <a:solidFill>
                  <a:srgbClr val="F0A98B"/>
                </a:solidFill>
                <a:latin typeface="Consolas"/>
                <a:ea typeface="Consolas"/>
                <a:cs typeface="Consolas"/>
              </a:rPr>
              <a:t>"Salad"</a:t>
            </a:r>
            <a:r>
              <a:rPr lang="en-US" sz="1050" b="0" dirty="0">
                <a:solidFill>
                  <a:srgbClr val="E2E8F0"/>
                </a:solidFill>
                <a:latin typeface="Consolas"/>
                <a:ea typeface="Consolas"/>
                <a:cs typeface="Consolas"/>
              </a:rPr>
              <a:t>, 2000)</a:t>
            </a:r>
            <a:endParaRPr lang="en-US" sz="1050" dirty="0"/>
          </a:p>
        </p:txBody>
      </p:sp>
      <p:sp>
        <p:nvSpPr>
          <p:cNvPr id="27" name="cw_L05"/>
          <p:cNvSpPr txBox="1"/>
          <p:nvPr/>
        </p:nvSpPr>
        <p:spPr>
          <a:xfrm>
            <a:off x="771754" y="311505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28" name="cw_L07"/>
          <p:cNvSpPr txBox="1"/>
          <p:nvPr/>
        </p:nvSpPr>
        <p:spPr>
          <a:xfrm>
            <a:off x="771754" y="354177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a:t>
            </a:r>
            <a:r>
              <a:rPr lang="en-US" sz="1050" b="0" dirty="0">
                <a:solidFill>
                  <a:srgbClr val="60A5FA"/>
                </a:solidFill>
                <a:latin typeface="Consolas"/>
                <a:ea typeface="Consolas"/>
                <a:cs typeface="Consolas"/>
              </a:rPr>
              <a:t>foreach</a:t>
            </a:r>
            <a:r>
              <a:rPr lang="en-US" sz="1050" b="0" dirty="0">
                <a:solidFill>
                  <a:srgbClr val="E2E8F0"/>
                </a:solidFill>
                <a:latin typeface="Consolas"/>
                <a:ea typeface="Consolas"/>
                <a:cs typeface="Consolas"/>
              </a:rPr>
              <a:t> (Task&lt;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done </a:t>
            </a:r>
            <a:r>
              <a:rPr lang="en-US" sz="1050" b="0" dirty="0">
                <a:solidFill>
                  <a:srgbClr val="60A5FA"/>
                </a:solidFill>
                <a:latin typeface="Consolas"/>
                <a:ea typeface="Consolas"/>
                <a:cs typeface="Consolas"/>
              </a:rPr>
              <a:t>in</a:t>
            </a:r>
            <a:r>
              <a:rPr lang="en-US" sz="1050" b="0" dirty="0">
                <a:solidFill>
                  <a:srgbClr val="E2E8F0"/>
                </a:solidFill>
                <a:latin typeface="Consolas"/>
                <a:ea typeface="Consolas"/>
                <a:cs typeface="Consolas"/>
              </a:rPr>
              <a:t> Task.WhenEach(dishes))</a:t>
            </a:r>
            <a:endParaRPr lang="en-US" sz="1050" dirty="0"/>
          </a:p>
        </p:txBody>
      </p:sp>
      <p:sp>
        <p:nvSpPr>
          <p:cNvPr id="29" name="cw_L08"/>
          <p:cNvSpPr txBox="1"/>
          <p:nvPr/>
        </p:nvSpPr>
        <p:spPr>
          <a:xfrm>
            <a:off x="771754" y="375513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0" name="cw_L09"/>
          <p:cNvSpPr txBox="1"/>
          <p:nvPr/>
        </p:nvSpPr>
        <p:spPr>
          <a:xfrm>
            <a:off x="771754" y="396849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E2E8F0"/>
                </a:solidFill>
                <a:latin typeface="Consolas"/>
                <a:ea typeface="Consolas"/>
                <a:cs typeface="Consolas"/>
              </a:rPr>
              <a:t>Console.WriteLine(</a:t>
            </a:r>
            <a:r>
              <a:rPr lang="en-US" sz="1050" b="0" dirty="0">
                <a:solidFill>
                  <a:srgbClr val="F0A98B"/>
                </a:solidFill>
                <a:latin typeface="Consolas"/>
                <a:ea typeface="Consolas"/>
                <a:cs typeface="Consolas"/>
              </a:rPr>
              <a:t>$"Ready: {await done}"</a:t>
            </a:r>
            <a:r>
              <a:rPr lang="en-US" sz="1050" b="0" dirty="0">
                <a:solidFill>
                  <a:srgbClr val="E2E8F0"/>
                </a:solidFill>
                <a:latin typeface="Consolas"/>
                <a:ea typeface="Consolas"/>
                <a:cs typeface="Consolas"/>
              </a:rPr>
              <a:t>);</a:t>
            </a:r>
            <a:endParaRPr lang="en-US" sz="1050" dirty="0"/>
          </a:p>
        </p:txBody>
      </p:sp>
      <p:sp>
        <p:nvSpPr>
          <p:cNvPr id="31" name="cw_L10"/>
          <p:cNvSpPr txBox="1"/>
          <p:nvPr/>
        </p:nvSpPr>
        <p:spPr>
          <a:xfrm>
            <a:off x="771754" y="418185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2" name="cw_L12"/>
          <p:cNvSpPr txBox="1"/>
          <p:nvPr/>
        </p:nvSpPr>
        <p:spPr>
          <a:xfrm>
            <a:off x="771754" y="460857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60A5FA"/>
                </a:solidFill>
                <a:latin typeface="Consolas"/>
                <a:ea typeface="Consolas"/>
                <a:cs typeface="Consolas"/>
              </a:rPr>
              <a:t>async</a:t>
            </a:r>
            <a:r>
              <a:rPr lang="en-US" sz="1050" b="0" dirty="0">
                <a:solidFill>
                  <a:srgbClr val="E2E8F0"/>
                </a:solidFill>
                <a:latin typeface="Consolas"/>
                <a:ea typeface="Consolas"/>
                <a:cs typeface="Consolas"/>
              </a:rPr>
              <a:t> Task&lt;</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&gt; PrepareAsync(</a:t>
            </a:r>
            <a:r>
              <a:rPr lang="en-US" sz="1050" b="0" dirty="0">
                <a:solidFill>
                  <a:srgbClr val="60A5FA"/>
                </a:solidFill>
                <a:latin typeface="Consolas"/>
                <a:ea typeface="Consolas"/>
                <a:cs typeface="Consolas"/>
              </a:rPr>
              <a:t>string</a:t>
            </a:r>
            <a:r>
              <a:rPr lang="en-US" sz="1050" b="0" dirty="0">
                <a:solidFill>
                  <a:srgbClr val="E2E8F0"/>
                </a:solidFill>
                <a:latin typeface="Consolas"/>
                <a:ea typeface="Consolas"/>
                <a:cs typeface="Consolas"/>
              </a:rPr>
              <a:t> dish, </a:t>
            </a:r>
            <a:r>
              <a:rPr lang="en-US" sz="1050" b="0" dirty="0">
                <a:solidFill>
                  <a:srgbClr val="60A5FA"/>
                </a:solidFill>
                <a:latin typeface="Consolas"/>
                <a:ea typeface="Consolas"/>
                <a:cs typeface="Consolas"/>
              </a:rPr>
              <a:t>int</a:t>
            </a:r>
            <a:r>
              <a:rPr lang="en-US" sz="1050" b="0" dirty="0">
                <a:solidFill>
                  <a:srgbClr val="E2E8F0"/>
                </a:solidFill>
                <a:latin typeface="Consolas"/>
                <a:ea typeface="Consolas"/>
                <a:cs typeface="Consolas"/>
              </a:rPr>
              <a:t> ms)</a:t>
            </a:r>
            <a:endParaRPr lang="en-US" sz="1050" dirty="0"/>
          </a:p>
        </p:txBody>
      </p:sp>
      <p:sp>
        <p:nvSpPr>
          <p:cNvPr id="33" name="cw_L13"/>
          <p:cNvSpPr txBox="1"/>
          <p:nvPr/>
        </p:nvSpPr>
        <p:spPr>
          <a:xfrm>
            <a:off x="771754" y="482193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4" name="cw_L14"/>
          <p:cNvSpPr txBox="1"/>
          <p:nvPr/>
        </p:nvSpPr>
        <p:spPr>
          <a:xfrm>
            <a:off x="771754" y="503529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await</a:t>
            </a:r>
            <a:r>
              <a:rPr lang="en-US" sz="1050" b="0" dirty="0">
                <a:solidFill>
                  <a:srgbClr val="E2E8F0"/>
                </a:solidFill>
                <a:latin typeface="Consolas"/>
                <a:ea typeface="Consolas"/>
                <a:cs typeface="Consolas"/>
              </a:rPr>
              <a:t> Task.Delay(ms);</a:t>
            </a:r>
            <a:endParaRPr lang="en-US" sz="1050" dirty="0"/>
          </a:p>
        </p:txBody>
      </p:sp>
      <p:sp>
        <p:nvSpPr>
          <p:cNvPr id="35" name="cw_L15"/>
          <p:cNvSpPr txBox="1"/>
          <p:nvPr/>
        </p:nvSpPr>
        <p:spPr>
          <a:xfrm>
            <a:off x="771754" y="5248656"/>
            <a:ext cx="6016752" cy="213360"/>
          </a:xfrm>
          <a:prstGeom prst="rect">
            <a:avLst/>
          </a:prstGeom>
          <a:noFill/>
          <a:ln>
            <a:noFill/>
          </a:ln>
        </p:spPr>
        <p:txBody>
          <a:bodyPr wrap="none" lIns="0" tIns="0" rIns="0" bIns="0" rtlCol="0" anchor="ctr">
            <a:noAutofit/>
          </a:bodyPr>
          <a:lstStyle/>
          <a:p>
            <a:pPr marL="293370" indent="0" algn="l">
              <a:spcBef>
                <a:spcPts val="0"/>
              </a:spcBef>
              <a:spcAft>
                <a:spcPts val="0"/>
              </a:spcAft>
              <a:buNone/>
            </a:pPr>
            <a:r>
              <a:rPr lang="en-US" sz="1050" b="0" dirty="0">
                <a:solidFill>
                  <a:srgbClr val="60A5FA"/>
                </a:solidFill>
                <a:latin typeface="Consolas"/>
                <a:ea typeface="Consolas"/>
                <a:cs typeface="Consolas"/>
              </a:rPr>
              <a:t>return</a:t>
            </a:r>
            <a:r>
              <a:rPr lang="en-US" sz="1050" b="0" dirty="0">
                <a:solidFill>
                  <a:srgbClr val="E2E8F0"/>
                </a:solidFill>
                <a:latin typeface="Consolas"/>
                <a:ea typeface="Consolas"/>
                <a:cs typeface="Consolas"/>
              </a:rPr>
              <a:t> dish;</a:t>
            </a:r>
            <a:endParaRPr lang="en-US" sz="1050" dirty="0"/>
          </a:p>
        </p:txBody>
      </p:sp>
      <p:sp>
        <p:nvSpPr>
          <p:cNvPr id="36" name="cw_L16"/>
          <p:cNvSpPr txBox="1"/>
          <p:nvPr/>
        </p:nvSpPr>
        <p:spPr>
          <a:xfrm>
            <a:off x="771754" y="5462016"/>
            <a:ext cx="6016752" cy="21336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50" b="0" dirty="0">
                <a:solidFill>
                  <a:srgbClr val="E2E8F0"/>
                </a:solidFill>
                <a:latin typeface="Consolas"/>
                <a:ea typeface="Consolas"/>
                <a:cs typeface="Consolas"/>
              </a:rPr>
              <a:t>}</a:t>
            </a:r>
            <a:endParaRPr lang="en-US" sz="1050" dirty="0"/>
          </a:p>
        </p:txBody>
      </p:sp>
      <p:sp>
        <p:nvSpPr>
          <p:cNvPr id="37" name="card"/>
          <p:cNvSpPr/>
          <p:nvPr/>
        </p:nvSpPr>
        <p:spPr>
          <a:xfrm>
            <a:off x="7172554" y="1572768"/>
            <a:ext cx="4457700" cy="1402080"/>
          </a:xfrm>
          <a:prstGeom prst="roundRect">
            <a:avLst>
              <a:gd name="adj" fmla="val 5869"/>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IN COMPLETION ORDER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Ready: Shawarma, Ready: Salad, Ready: Pizza.</a:t>
            </a:r>
            <a:endParaRPr lang="en-US" sz="1250" dirty="0"/>
          </a:p>
        </p:txBody>
      </p:sp>
      <p:sp>
        <p:nvSpPr>
          <p:cNvPr id="38" name="card"/>
          <p:cNvSpPr/>
          <p:nvPr/>
        </p:nvSpPr>
        <p:spPr>
          <a:xfrm>
            <a:off x="7172554" y="3112008"/>
            <a:ext cx="4457700" cy="1402080"/>
          </a:xfrm>
          <a:prstGeom prst="roundRect">
            <a:avLst>
              <a:gd name="adj" fmla="val 5869"/>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NO WAITING FOR ALL</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Show each dish the moment it is ready.</a:t>
            </a:r>
            <a:endParaRPr lang="en-US" sz="1250" dirty="0"/>
          </a:p>
        </p:txBody>
      </p:sp>
      <p:sp>
        <p:nvSpPr>
          <p:cNvPr id="39" name="card"/>
          <p:cNvSpPr/>
          <p:nvPr/>
        </p:nvSpPr>
        <p:spPr>
          <a:xfrm>
            <a:off x="7172554" y="4651248"/>
            <a:ext cx="445770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.NET 9+</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Task.WhenEach is new; on older versions use a WhenAny loop.</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250"/>
                                        <p:tgtEl>
                                          <p:spTgt spid="3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250"/>
                                        <p:tgtEl>
                                          <p:spTgt spid="3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animBg="1"/>
      <p:bldP spid="3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5004"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COMBINATORS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WhenAll vs WhenAny vs WhenEach</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45</a:t>
            </a:r>
            <a:endParaRPr lang="en-US" sz="850" dirty="0"/>
          </a:p>
        </p:txBody>
      </p:sp>
      <p:sp>
        <p:nvSpPr>
          <p:cNvPr id="15" name="tbl_head"/>
          <p:cNvSpPr/>
          <p:nvPr/>
        </p:nvSpPr>
        <p:spPr>
          <a:xfrm>
            <a:off x="543154" y="1572768"/>
            <a:ext cx="11087100" cy="329184"/>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16" name="tbl_h"/>
          <p:cNvSpPr txBox="1"/>
          <p:nvPr/>
        </p:nvSpPr>
        <p:spPr>
          <a:xfrm>
            <a:off x="671170" y="1572768"/>
            <a:ext cx="2256282"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COMBINATOR</a:t>
            </a:r>
            <a:endParaRPr lang="en-US" sz="1000" dirty="0"/>
          </a:p>
        </p:txBody>
      </p:sp>
      <p:sp>
        <p:nvSpPr>
          <p:cNvPr id="17" name="tbl_h"/>
          <p:cNvSpPr txBox="1"/>
          <p:nvPr/>
        </p:nvSpPr>
        <p:spPr>
          <a:xfrm>
            <a:off x="3110332" y="1572768"/>
            <a:ext cx="4030218"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GIVES YOU</a:t>
            </a:r>
            <a:endParaRPr lang="en-US" sz="1000" dirty="0"/>
          </a:p>
        </p:txBody>
      </p:sp>
      <p:sp>
        <p:nvSpPr>
          <p:cNvPr id="18" name="tbl_h"/>
          <p:cNvSpPr txBox="1"/>
          <p:nvPr/>
        </p:nvSpPr>
        <p:spPr>
          <a:xfrm>
            <a:off x="7323430" y="1572768"/>
            <a:ext cx="425196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SWIFTBITE EXAMPLE</a:t>
            </a:r>
            <a:endParaRPr lang="en-US" sz="1000" dirty="0"/>
          </a:p>
        </p:txBody>
      </p:sp>
      <p:sp>
        <p:nvSpPr>
          <p:cNvPr id="19" name="tbl_row"/>
          <p:cNvSpPr/>
          <p:nvPr/>
        </p:nvSpPr>
        <p:spPr>
          <a:xfrm>
            <a:off x="543154" y="1965960"/>
            <a:ext cx="11087100" cy="685800"/>
          </a:xfrm>
          <a:prstGeom prst="roundRect">
            <a:avLst>
              <a:gd name="adj" fmla="val 10666"/>
            </a:avLst>
          </a:prstGeom>
          <a:solidFill>
            <a:srgbClr val="111B2E"/>
          </a:solidFill>
          <a:ln w="12700">
            <a:solidFill>
              <a:srgbClr val="34D399"/>
            </a:solidFill>
            <a:prstDash val="solid"/>
          </a:ln>
        </p:spPr>
        <p:txBody>
          <a:bodyPr/>
          <a:lstStyle/>
          <a:p>
            <a:endParaRPr lang="en-US"/>
          </a:p>
        </p:txBody>
      </p:sp>
      <p:sp>
        <p:nvSpPr>
          <p:cNvPr id="20" name="tbl_c"/>
          <p:cNvSpPr txBox="1"/>
          <p:nvPr/>
        </p:nvSpPr>
        <p:spPr>
          <a:xfrm>
            <a:off x="671170" y="1965960"/>
            <a:ext cx="2256282"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1" dirty="0">
                <a:solidFill>
                  <a:srgbClr val="34D399"/>
                </a:solidFill>
                <a:latin typeface="Consolas"/>
                <a:ea typeface="Consolas"/>
                <a:cs typeface="Consolas"/>
              </a:rPr>
              <a:t>Task.WhenAll</a:t>
            </a:r>
            <a:endParaRPr lang="en-US" sz="1350" dirty="0"/>
          </a:p>
        </p:txBody>
      </p:sp>
      <p:sp>
        <p:nvSpPr>
          <p:cNvPr id="21" name="tbl_c"/>
          <p:cNvSpPr txBox="1"/>
          <p:nvPr/>
        </p:nvSpPr>
        <p:spPr>
          <a:xfrm>
            <a:off x="3110332" y="1965960"/>
            <a:ext cx="4030218"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one task: all finished</a:t>
            </a:r>
            <a:endParaRPr lang="en-US" sz="1350" dirty="0"/>
          </a:p>
        </p:txBody>
      </p:sp>
      <p:sp>
        <p:nvSpPr>
          <p:cNvPr id="22" name="tbl_c"/>
          <p:cNvSpPr txBox="1"/>
          <p:nvPr/>
        </p:nvSpPr>
        <p:spPr>
          <a:xfrm>
            <a:off x="7323430" y="1965960"/>
            <a:ext cx="4251960"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restaurant page: info + menu + reviews</a:t>
            </a:r>
            <a:endParaRPr lang="en-US" sz="1350" dirty="0"/>
          </a:p>
        </p:txBody>
      </p:sp>
      <p:sp>
        <p:nvSpPr>
          <p:cNvPr id="23" name="tbl_row"/>
          <p:cNvSpPr/>
          <p:nvPr/>
        </p:nvSpPr>
        <p:spPr>
          <a:xfrm>
            <a:off x="543154" y="2715768"/>
            <a:ext cx="11087100" cy="685800"/>
          </a:xfrm>
          <a:prstGeom prst="roundRect">
            <a:avLst>
              <a:gd name="adj" fmla="val 10666"/>
            </a:avLst>
          </a:prstGeom>
          <a:solidFill>
            <a:srgbClr val="111B2E"/>
          </a:solidFill>
          <a:ln w="12700">
            <a:solidFill>
              <a:srgbClr val="13D0F7"/>
            </a:solidFill>
            <a:prstDash val="solid"/>
          </a:ln>
        </p:spPr>
        <p:txBody>
          <a:bodyPr/>
          <a:lstStyle/>
          <a:p>
            <a:endParaRPr lang="en-US"/>
          </a:p>
        </p:txBody>
      </p:sp>
      <p:sp>
        <p:nvSpPr>
          <p:cNvPr id="24" name="tbl_c"/>
          <p:cNvSpPr txBox="1"/>
          <p:nvPr/>
        </p:nvSpPr>
        <p:spPr>
          <a:xfrm>
            <a:off x="671170" y="2715768"/>
            <a:ext cx="2256282"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1" dirty="0">
                <a:solidFill>
                  <a:srgbClr val="13D0F7"/>
                </a:solidFill>
                <a:latin typeface="Consolas"/>
                <a:ea typeface="Consolas"/>
                <a:cs typeface="Consolas"/>
              </a:rPr>
              <a:t>Task.WhenAny</a:t>
            </a:r>
            <a:endParaRPr lang="en-US" sz="1350" dirty="0"/>
          </a:p>
        </p:txBody>
      </p:sp>
      <p:sp>
        <p:nvSpPr>
          <p:cNvPr id="25" name="tbl_c"/>
          <p:cNvSpPr txBox="1"/>
          <p:nvPr/>
        </p:nvSpPr>
        <p:spPr>
          <a:xfrm>
            <a:off x="3110332" y="2715768"/>
            <a:ext cx="4030218"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the first task to finish</a:t>
            </a:r>
            <a:endParaRPr lang="en-US" sz="1350" dirty="0"/>
          </a:p>
        </p:txBody>
      </p:sp>
      <p:sp>
        <p:nvSpPr>
          <p:cNvPr id="26" name="tbl_c"/>
          <p:cNvSpPr txBox="1"/>
          <p:nvPr/>
        </p:nvSpPr>
        <p:spPr>
          <a:xfrm>
            <a:off x="7323430" y="2715768"/>
            <a:ext cx="4251960"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fastest courier quote, timeout</a:t>
            </a:r>
            <a:endParaRPr lang="en-US" sz="1350" dirty="0"/>
          </a:p>
        </p:txBody>
      </p:sp>
      <p:sp>
        <p:nvSpPr>
          <p:cNvPr id="27" name="tbl_row"/>
          <p:cNvSpPr/>
          <p:nvPr/>
        </p:nvSpPr>
        <p:spPr>
          <a:xfrm>
            <a:off x="543154" y="3465576"/>
            <a:ext cx="11087100" cy="685800"/>
          </a:xfrm>
          <a:prstGeom prst="roundRect">
            <a:avLst>
              <a:gd name="adj" fmla="val 10666"/>
            </a:avLst>
          </a:prstGeom>
          <a:solidFill>
            <a:srgbClr val="111B2E"/>
          </a:solidFill>
          <a:ln w="12700">
            <a:solidFill>
              <a:srgbClr val="FBBF24"/>
            </a:solidFill>
            <a:prstDash val="solid"/>
          </a:ln>
        </p:spPr>
        <p:txBody>
          <a:bodyPr/>
          <a:lstStyle/>
          <a:p>
            <a:endParaRPr lang="en-US"/>
          </a:p>
        </p:txBody>
      </p:sp>
      <p:sp>
        <p:nvSpPr>
          <p:cNvPr id="28" name="tbl_c"/>
          <p:cNvSpPr txBox="1"/>
          <p:nvPr/>
        </p:nvSpPr>
        <p:spPr>
          <a:xfrm>
            <a:off x="671170" y="3465576"/>
            <a:ext cx="2256282"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1" dirty="0">
                <a:solidFill>
                  <a:srgbClr val="FBBF24"/>
                </a:solidFill>
                <a:latin typeface="Consolas"/>
                <a:ea typeface="Consolas"/>
                <a:cs typeface="Consolas"/>
              </a:rPr>
              <a:t>Task.WhenEach</a:t>
            </a:r>
            <a:endParaRPr lang="en-US" sz="1350" dirty="0"/>
          </a:p>
        </p:txBody>
      </p:sp>
      <p:sp>
        <p:nvSpPr>
          <p:cNvPr id="29" name="tbl_c"/>
          <p:cNvSpPr txBox="1"/>
          <p:nvPr/>
        </p:nvSpPr>
        <p:spPr>
          <a:xfrm>
            <a:off x="3110332" y="3465576"/>
            <a:ext cx="4030218"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each task, as it finishes</a:t>
            </a:r>
            <a:endParaRPr lang="en-US" sz="1350" dirty="0"/>
          </a:p>
        </p:txBody>
      </p:sp>
      <p:sp>
        <p:nvSpPr>
          <p:cNvPr id="30" name="tbl_c"/>
          <p:cNvSpPr txBox="1"/>
          <p:nvPr/>
        </p:nvSpPr>
        <p:spPr>
          <a:xfrm>
            <a:off x="7323430" y="3465576"/>
            <a:ext cx="4251960" cy="685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50" b="0" dirty="0">
                <a:solidFill>
                  <a:srgbClr val="CBD5E1"/>
                </a:solidFill>
                <a:latin typeface="Segoe UI"/>
                <a:ea typeface="Segoe UI"/>
                <a:cs typeface="Segoe UI"/>
              </a:rPr>
              <a:t>show dishes the moment they are ready</a:t>
            </a:r>
            <a:endParaRPr lang="en-US" sz="1350" dirty="0"/>
          </a:p>
        </p:txBody>
      </p:sp>
      <p:sp>
        <p:nvSpPr>
          <p:cNvPr id="31" name="banner"/>
          <p:cNvSpPr/>
          <p:nvPr/>
        </p:nvSpPr>
        <p:spPr>
          <a:xfrm>
            <a:off x="543154" y="5074920"/>
            <a:ext cx="11087100" cy="749808"/>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All three run tasks concurrently: anything the tasks share must be thread-safe.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5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25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25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25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25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25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25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25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250"/>
                                        <p:tgtEl>
                                          <p:spTgt spid="3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P spid="19" grpId="0" animBg="1"/>
      <p:bldP spid="20" grpId="0"/>
      <p:bldP spid="21" grpId="0"/>
      <p:bldP spid="22" grpId="0"/>
      <p:bldP spid="23" grpId="0" animBg="1"/>
      <p:bldP spid="24" grpId="0"/>
      <p:bldP spid="25" grpId="0"/>
      <p:bldP spid="26" grpId="0"/>
      <p:bldP spid="27" grpId="0" animBg="1"/>
      <p:bldP spid="28" grpId="0"/>
      <p:bldP spid="29" grpId="0"/>
      <p:bldP spid="30" grpId="0"/>
      <p:bldP spid="3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PART 7</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48</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BBF24"/>
                </a:solidFill>
                <a:latin typeface="Segoe UI"/>
                <a:ea typeface="Segoe UI"/>
                <a:cs typeface="Segoe UI"/>
              </a:rPr>
              <a:t>07</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Cancellation</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Ask running work to stop, politely.</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Cooperative cancellation  ·  CancellationTokenSource  ·  Passing a token  ·  Checking in your own loops  ·  CancelAfter: timeouts  ·  Canceled is not failed  ·  Real example: video upload  ·  Quiz</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WHY CANCEL?</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Why Cancellation? Stop Work Nobody Wants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50</a:t>
            </a:r>
            <a:endParaRPr lang="en-US" sz="850" dirty="0"/>
          </a:p>
        </p:txBody>
      </p:sp>
      <p:sp>
        <p:nvSpPr>
          <p:cNvPr id="101" name="r0"/>
          <p:cNvSpPr/>
          <p:nvPr/>
        </p:nvSpPr>
        <p:spPr>
          <a:xfrm>
            <a:off x="543154" y="1536192"/>
            <a:ext cx="2634615" cy="713232"/>
          </a:xfrm>
          <a:prstGeom prst="roundRect">
            <a:avLst>
              <a:gd name="adj" fmla="val 12000"/>
            </a:avLst>
          </a:prstGeom>
          <a:solidFill>
            <a:srgbClr val="111B2E"/>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F87171"/>
                </a:solidFill>
                <a:latin typeface="Segoe UI"/>
                <a:ea typeface="Segoe UI"/>
                <a:cs typeface="Segoe UI"/>
              </a:rPr>
              <a:t>THE USER LEFT</a:t>
            </a:r>
            <a:endParaRPr lang="en-US" sz="1150" dirty="0"/>
          </a:p>
          <a:p>
            <a:pPr marL="0" indent="0" algn="ctr">
              <a:spcBef>
                <a:spcPts val="0"/>
              </a:spcBef>
              <a:spcAft>
                <a:spcPts val="0"/>
              </a:spcAft>
              <a:buNone/>
            </a:pPr>
            <a:r>
              <a:rPr lang="en-US" sz="1000" b="0" dirty="0">
                <a:solidFill>
                  <a:srgbClr val="CBD5E1"/>
                </a:solidFill>
                <a:latin typeface="Segoe UI"/>
                <a:ea typeface="Segoe UI"/>
                <a:cs typeface="Segoe UI"/>
              </a:rPr>
              <a:t>closed the tab, pressed Cancel</a:t>
            </a:r>
            <a:endParaRPr lang="en-US" sz="1000" dirty="0"/>
          </a:p>
        </p:txBody>
      </p:sp>
      <p:sp>
        <p:nvSpPr>
          <p:cNvPr id="102" name="r1"/>
          <p:cNvSpPr/>
          <p:nvPr/>
        </p:nvSpPr>
        <p:spPr>
          <a:xfrm>
            <a:off x="3360649" y="1536192"/>
            <a:ext cx="2634615" cy="713232"/>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FBBF24"/>
                </a:solidFill>
                <a:latin typeface="Segoe UI"/>
                <a:ea typeface="Segoe UI"/>
                <a:cs typeface="Segoe UI"/>
              </a:rPr>
              <a:t>TOO SLOW</a:t>
            </a:r>
            <a:endParaRPr lang="en-US" sz="1150" dirty="0"/>
          </a:p>
          <a:p>
            <a:pPr marL="0" indent="0" algn="ctr">
              <a:spcBef>
                <a:spcPts val="0"/>
              </a:spcBef>
              <a:spcAft>
                <a:spcPts val="0"/>
              </a:spcAft>
              <a:buNone/>
            </a:pPr>
            <a:r>
              <a:rPr lang="en-US" sz="1000" b="0" dirty="0">
                <a:solidFill>
                  <a:srgbClr val="CBD5E1"/>
                </a:solidFill>
                <a:latin typeface="Segoe UI"/>
                <a:ea typeface="Segoe UI"/>
                <a:cs typeface="Segoe UI"/>
              </a:rPr>
              <a:t>timeout: give up after 5 s</a:t>
            </a:r>
            <a:endParaRPr lang="en-US" sz="1000" dirty="0"/>
          </a:p>
        </p:txBody>
      </p:sp>
      <p:sp>
        <p:nvSpPr>
          <p:cNvPr id="103" name="r2"/>
          <p:cNvSpPr/>
          <p:nvPr/>
        </p:nvSpPr>
        <p:spPr>
          <a:xfrm>
            <a:off x="6178144" y="1536192"/>
            <a:ext cx="2634615" cy="713232"/>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A78BFA"/>
                </a:solidFill>
                <a:latin typeface="Segoe UI"/>
                <a:ea typeface="Segoe UI"/>
                <a:cs typeface="Segoe UI"/>
              </a:rPr>
              <a:t>REPLACED</a:t>
            </a:r>
            <a:endParaRPr lang="en-US" sz="1150" dirty="0"/>
          </a:p>
          <a:p>
            <a:pPr marL="0" indent="0" algn="ctr">
              <a:spcBef>
                <a:spcPts val="0"/>
              </a:spcBef>
              <a:spcAft>
                <a:spcPts val="0"/>
              </a:spcAft>
              <a:buNone/>
            </a:pPr>
            <a:r>
              <a:rPr lang="en-US" sz="1000" b="0" dirty="0">
                <a:solidFill>
                  <a:srgbClr val="CBD5E1"/>
                </a:solidFill>
                <a:latin typeface="Segoe UI"/>
                <a:ea typeface="Segoe UI"/>
                <a:cs typeface="Segoe UI"/>
              </a:rPr>
              <a:t>search-as-you-type: "</a:t>
            </a:r>
            <a:r>
              <a:rPr lang="en-US" sz="1000" b="0" dirty="0" err="1">
                <a:solidFill>
                  <a:srgbClr val="CBD5E1"/>
                </a:solidFill>
                <a:latin typeface="Segoe UI"/>
                <a:ea typeface="Segoe UI"/>
                <a:cs typeface="Segoe UI"/>
              </a:rPr>
              <a:t>kon</a:t>
            </a:r>
            <a:r>
              <a:rPr lang="en-US" sz="1000" b="0" dirty="0">
                <a:solidFill>
                  <a:srgbClr val="CBD5E1"/>
                </a:solidFill>
                <a:latin typeface="Segoe UI"/>
                <a:ea typeface="Segoe UI"/>
                <a:cs typeface="Segoe UI"/>
              </a:rPr>
              <a:t>" → "</a:t>
            </a:r>
            <a:r>
              <a:rPr lang="en-US" sz="1000" b="0" dirty="0" err="1">
                <a:solidFill>
                  <a:srgbClr val="CBD5E1"/>
                </a:solidFill>
                <a:latin typeface="Segoe UI"/>
                <a:ea typeface="Segoe UI"/>
                <a:cs typeface="Segoe UI"/>
              </a:rPr>
              <a:t>konfa</a:t>
            </a:r>
            <a:r>
              <a:rPr lang="en-US" sz="1000" b="0" dirty="0">
                <a:solidFill>
                  <a:srgbClr val="CBD5E1"/>
                </a:solidFill>
                <a:latin typeface="Segoe UI"/>
                <a:ea typeface="Segoe UI"/>
                <a:cs typeface="Segoe UI"/>
              </a:rPr>
              <a:t>"</a:t>
            </a:r>
            <a:endParaRPr lang="en-US" sz="1000" dirty="0"/>
          </a:p>
        </p:txBody>
      </p:sp>
      <p:sp>
        <p:nvSpPr>
          <p:cNvPr id="104" name="r3"/>
          <p:cNvSpPr/>
          <p:nvPr/>
        </p:nvSpPr>
        <p:spPr>
          <a:xfrm>
            <a:off x="8995639" y="1536192"/>
            <a:ext cx="2634615" cy="713232"/>
          </a:xfrm>
          <a:prstGeom prst="roundRect">
            <a:avLst>
              <a:gd name="adj" fmla="val 12000"/>
            </a:avLst>
          </a:prstGeom>
          <a:solidFill>
            <a:srgbClr val="111B2E"/>
          </a:solidFill>
          <a:ln w="12700">
            <a:solidFill>
              <a:srgbClr val="60A5FA"/>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60A5FA"/>
                </a:solidFill>
                <a:latin typeface="Segoe UI"/>
                <a:ea typeface="Segoe UI"/>
                <a:cs typeface="Segoe UI"/>
              </a:rPr>
              <a:t>SHUTTING DOWN</a:t>
            </a:r>
            <a:endParaRPr lang="en-US" sz="1150" dirty="0"/>
          </a:p>
          <a:p>
            <a:pPr marL="0" indent="0" algn="ctr">
              <a:spcBef>
                <a:spcPts val="0"/>
              </a:spcBef>
              <a:spcAft>
                <a:spcPts val="0"/>
              </a:spcAft>
              <a:buNone/>
            </a:pPr>
            <a:r>
              <a:rPr lang="en-US" sz="1000" b="0" dirty="0">
                <a:solidFill>
                  <a:srgbClr val="CBD5E1"/>
                </a:solidFill>
                <a:latin typeface="Segoe UI"/>
                <a:ea typeface="Segoe UI"/>
                <a:cs typeface="Segoe UI"/>
              </a:rPr>
              <a:t>the app stops: finish fast</a:t>
            </a:r>
            <a:endParaRPr lang="en-US" sz="1000" dirty="0"/>
          </a:p>
        </p:txBody>
      </p:sp>
      <p:grpSp>
        <p:nvGrpSpPr>
          <p:cNvPr id="121" name="dont"/>
          <p:cNvGrpSpPr/>
          <p:nvPr/>
        </p:nvGrpSpPr>
        <p:grpSpPr>
          <a:xfrm>
            <a:off x="543154" y="2423160"/>
            <a:ext cx="5440680" cy="1955900"/>
            <a:chOff x="543154" y="2423160"/>
            <a:chExt cx="5440680" cy="1955900"/>
          </a:xfrm>
        </p:grpSpPr>
        <p:sp>
          <p:nvSpPr>
            <p:cNvPr id="105" name="dont_win"/>
            <p:cNvSpPr/>
            <p:nvPr/>
          </p:nvSpPr>
          <p:spPr>
            <a:xfrm>
              <a:off x="543154" y="2423160"/>
              <a:ext cx="5440680" cy="1955900"/>
            </a:xfrm>
            <a:prstGeom prst="roundRect">
              <a:avLst>
                <a:gd name="adj" fmla="val 3504"/>
              </a:avLst>
            </a:prstGeom>
            <a:solidFill>
              <a:srgbClr val="060D18"/>
            </a:solidFill>
            <a:ln w="12700">
              <a:solidFill>
                <a:srgbClr val="1E3A5F"/>
              </a:solidFill>
              <a:prstDash val="solid"/>
            </a:ln>
          </p:spPr>
          <p:txBody>
            <a:bodyPr/>
            <a:lstStyle/>
            <a:p>
              <a:endParaRPr lang="en-US"/>
            </a:p>
          </p:txBody>
        </p:sp>
        <p:sp>
          <p:nvSpPr>
            <p:cNvPr id="106" name="dont_bar"/>
            <p:cNvSpPr/>
            <p:nvPr/>
          </p:nvSpPr>
          <p:spPr>
            <a:xfrm>
              <a:off x="543154" y="2423160"/>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7" name="dont_barfill"/>
            <p:cNvSpPr/>
            <p:nvPr/>
          </p:nvSpPr>
          <p:spPr>
            <a:xfrm>
              <a:off x="543154" y="2594610"/>
              <a:ext cx="5440680" cy="171450"/>
            </a:xfrm>
            <a:prstGeom prst="rect">
              <a:avLst/>
            </a:prstGeom>
            <a:solidFill>
              <a:srgbClr val="0A1220"/>
            </a:solidFill>
            <a:ln w="12700">
              <a:solidFill>
                <a:srgbClr val="0A1220"/>
              </a:solidFill>
              <a:prstDash val="solid"/>
            </a:ln>
          </p:spPr>
          <p:txBody>
            <a:bodyPr/>
            <a:lstStyle/>
            <a:p>
              <a:endParaRPr lang="en-US"/>
            </a:p>
          </p:txBody>
        </p:sp>
        <p:sp>
          <p:nvSpPr>
            <p:cNvPr id="108" name="dont_dot0"/>
            <p:cNvSpPr/>
            <p:nvPr/>
          </p:nvSpPr>
          <p:spPr>
            <a:xfrm>
              <a:off x="705002" y="2546970"/>
              <a:ext cx="95098" cy="95098"/>
            </a:xfrm>
            <a:prstGeom prst="ellipse">
              <a:avLst/>
            </a:prstGeom>
            <a:solidFill>
              <a:srgbClr val="F87171"/>
            </a:solidFill>
            <a:ln w="12700">
              <a:solidFill>
                <a:srgbClr val="F87171"/>
              </a:solidFill>
              <a:prstDash val="solid"/>
            </a:ln>
          </p:spPr>
          <p:txBody>
            <a:bodyPr/>
            <a:lstStyle/>
            <a:p>
              <a:endParaRPr lang="en-US"/>
            </a:p>
          </p:txBody>
        </p:sp>
        <p:sp>
          <p:nvSpPr>
            <p:cNvPr id="109" name="dont_dot1"/>
            <p:cNvSpPr/>
            <p:nvPr/>
          </p:nvSpPr>
          <p:spPr>
            <a:xfrm>
              <a:off x="890626" y="2546970"/>
              <a:ext cx="95098" cy="95098"/>
            </a:xfrm>
            <a:prstGeom prst="ellipse">
              <a:avLst/>
            </a:prstGeom>
            <a:solidFill>
              <a:srgbClr val="FBBF24"/>
            </a:solidFill>
            <a:ln w="12700">
              <a:solidFill>
                <a:srgbClr val="FBBF24"/>
              </a:solidFill>
              <a:prstDash val="solid"/>
            </a:ln>
          </p:spPr>
          <p:txBody>
            <a:bodyPr/>
            <a:lstStyle/>
            <a:p>
              <a:endParaRPr lang="en-US"/>
            </a:p>
          </p:txBody>
        </p:sp>
        <p:sp>
          <p:nvSpPr>
            <p:cNvPr id="110" name="dont_dot2"/>
            <p:cNvSpPr/>
            <p:nvPr/>
          </p:nvSpPr>
          <p:spPr>
            <a:xfrm>
              <a:off x="1076250" y="2546970"/>
              <a:ext cx="95098" cy="95098"/>
            </a:xfrm>
            <a:prstGeom prst="ellipse">
              <a:avLst/>
            </a:prstGeom>
            <a:solidFill>
              <a:srgbClr val="34D399"/>
            </a:solidFill>
            <a:ln w="12700">
              <a:solidFill>
                <a:srgbClr val="34D399"/>
              </a:solidFill>
              <a:prstDash val="solid"/>
            </a:ln>
          </p:spPr>
          <p:txBody>
            <a:bodyPr/>
            <a:lstStyle/>
            <a:p>
              <a:endParaRPr lang="en-US"/>
            </a:p>
          </p:txBody>
        </p:sp>
        <p:sp>
          <p:nvSpPr>
            <p:cNvPr id="111" name="dont_tab"/>
            <p:cNvSpPr/>
            <p:nvPr/>
          </p:nvSpPr>
          <p:spPr>
            <a:xfrm>
              <a:off x="1324051" y="2470709"/>
              <a:ext cx="148808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SearchEndpoint.cs</a:t>
              </a:r>
              <a:endParaRPr lang="en-US" sz="950" dirty="0"/>
            </a:p>
          </p:txBody>
        </p:sp>
        <p:sp>
          <p:nvSpPr>
            <p:cNvPr id="112" name="dont_lbl"/>
            <p:cNvSpPr/>
            <p:nvPr/>
          </p:nvSpPr>
          <p:spPr>
            <a:xfrm>
              <a:off x="4657954" y="2487168"/>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13" name="dont_L00"/>
            <p:cNvSpPr txBox="1"/>
            <p:nvPr/>
          </p:nvSpPr>
          <p:spPr>
            <a:xfrm>
              <a:off x="771754" y="2899060"/>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app.MapGet(</a:t>
              </a:r>
              <a:r>
                <a:rPr lang="en-US" sz="860" b="0" dirty="0">
                  <a:solidFill>
                    <a:srgbClr val="F0A98B"/>
                  </a:solidFill>
                  <a:latin typeface="Consolas"/>
                  <a:ea typeface="Consolas"/>
                  <a:cs typeface="Consolas"/>
                </a:rPr>
                <a:t>"/search"</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async</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q, AppDb db) =&gt;</a:t>
              </a:r>
              <a:endParaRPr lang="en-US" sz="860" dirty="0"/>
            </a:p>
          </p:txBody>
        </p:sp>
        <p:sp>
          <p:nvSpPr>
            <p:cNvPr id="114" name="dont_L01"/>
            <p:cNvSpPr txBox="1"/>
            <p:nvPr/>
          </p:nvSpPr>
          <p:spPr>
            <a:xfrm>
              <a:off x="771754" y="3069060"/>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5" name="dont_L02"/>
            <p:cNvSpPr txBox="1"/>
            <p:nvPr/>
          </p:nvSpPr>
          <p:spPr>
            <a:xfrm>
              <a:off x="771754" y="3239060"/>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FAE7A"/>
                  </a:solidFill>
                  <a:latin typeface="Consolas"/>
                  <a:ea typeface="Consolas"/>
                  <a:cs typeface="Consolas"/>
                </a:rPr>
                <a:t>// the user closed the tab after 0.5 s…</a:t>
              </a:r>
              <a:endParaRPr lang="en-US" sz="860" dirty="0"/>
            </a:p>
          </p:txBody>
        </p:sp>
        <p:sp>
          <p:nvSpPr>
            <p:cNvPr id="116" name="dont_L03"/>
            <p:cNvSpPr txBox="1"/>
            <p:nvPr/>
          </p:nvSpPr>
          <p:spPr>
            <a:xfrm>
              <a:off x="771754" y="3409060"/>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var</a:t>
              </a:r>
              <a:r>
                <a:rPr lang="en-US" sz="860" b="0" dirty="0">
                  <a:solidFill>
                    <a:srgbClr val="E2E8F0"/>
                  </a:solidFill>
                  <a:latin typeface="Consolas"/>
                  <a:ea typeface="Consolas"/>
                  <a:cs typeface="Consolas"/>
                </a:rPr>
                <a:t> found = </a:t>
              </a: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db.Restaurants</a:t>
              </a:r>
              <a:endParaRPr lang="en-US" sz="860" dirty="0"/>
            </a:p>
          </p:txBody>
        </p:sp>
        <p:sp>
          <p:nvSpPr>
            <p:cNvPr id="117" name="dont_L04"/>
            <p:cNvSpPr txBox="1"/>
            <p:nvPr/>
          </p:nvSpPr>
          <p:spPr>
            <a:xfrm>
              <a:off x="771754" y="3579060"/>
              <a:ext cx="5140680" cy="17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.Where(r =&gt; r.Name.Contains(q))</a:t>
              </a:r>
              <a:endParaRPr lang="en-US" sz="860" dirty="0"/>
            </a:p>
          </p:txBody>
        </p:sp>
        <p:sp>
          <p:nvSpPr>
            <p:cNvPr id="118" name="dont_L05"/>
            <p:cNvSpPr txBox="1"/>
            <p:nvPr/>
          </p:nvSpPr>
          <p:spPr>
            <a:xfrm>
              <a:off x="771754" y="3749060"/>
              <a:ext cx="5140680" cy="17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.ToListAsync();          </a:t>
              </a:r>
              <a:r>
                <a:rPr lang="en-US" sz="860" b="0" dirty="0">
                  <a:solidFill>
                    <a:srgbClr val="6FAE7A"/>
                  </a:solidFill>
                  <a:latin typeface="Consolas"/>
                  <a:ea typeface="Consolas"/>
                  <a:cs typeface="Consolas"/>
                </a:rPr>
                <a:t>// …the query still runs 3 s</a:t>
              </a:r>
              <a:endParaRPr lang="en-US" sz="860" dirty="0"/>
            </a:p>
          </p:txBody>
        </p:sp>
        <p:sp>
          <p:nvSpPr>
            <p:cNvPr id="119" name="dont_L06"/>
            <p:cNvSpPr txBox="1"/>
            <p:nvPr/>
          </p:nvSpPr>
          <p:spPr>
            <a:xfrm>
              <a:off x="771754" y="3919060"/>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return</a:t>
              </a:r>
              <a:r>
                <a:rPr lang="en-US" sz="860" b="0" dirty="0">
                  <a:solidFill>
                    <a:srgbClr val="E2E8F0"/>
                  </a:solidFill>
                  <a:latin typeface="Consolas"/>
                  <a:ea typeface="Consolas"/>
                  <a:cs typeface="Consolas"/>
                </a:rPr>
                <a:t> Results.Ok(found);    </a:t>
              </a:r>
              <a:r>
                <a:rPr lang="en-US" sz="860" b="0" dirty="0">
                  <a:solidFill>
                    <a:srgbClr val="6FAE7A"/>
                  </a:solidFill>
                  <a:latin typeface="Consolas"/>
                  <a:ea typeface="Consolas"/>
                  <a:cs typeface="Consolas"/>
                </a:rPr>
                <a:t>// an answer nobody reads</a:t>
              </a:r>
              <a:endParaRPr lang="en-US" sz="860" dirty="0"/>
            </a:p>
          </p:txBody>
        </p:sp>
        <p:sp>
          <p:nvSpPr>
            <p:cNvPr id="120" name="dont_L07"/>
            <p:cNvSpPr txBox="1"/>
            <p:nvPr/>
          </p:nvSpPr>
          <p:spPr>
            <a:xfrm>
              <a:off x="771754" y="4089060"/>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grpSp>
      <p:sp>
        <p:nvSpPr>
          <p:cNvPr id="122" name="dont_hl5"/>
          <p:cNvSpPr/>
          <p:nvPr/>
        </p:nvSpPr>
        <p:spPr>
          <a:xfrm>
            <a:off x="676656" y="3730772"/>
            <a:ext cx="5173680" cy="20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3" name="dont_hl6"/>
          <p:cNvSpPr/>
          <p:nvPr/>
        </p:nvSpPr>
        <p:spPr>
          <a:xfrm>
            <a:off x="676656" y="3900772"/>
            <a:ext cx="5173680" cy="206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40" name="do"/>
          <p:cNvGrpSpPr/>
          <p:nvPr/>
        </p:nvGrpSpPr>
        <p:grpSpPr>
          <a:xfrm>
            <a:off x="6189574" y="2423160"/>
            <a:ext cx="5440680" cy="1955900"/>
            <a:chOff x="6189574" y="2423160"/>
            <a:chExt cx="5440680" cy="1955900"/>
          </a:xfrm>
        </p:grpSpPr>
        <p:sp>
          <p:nvSpPr>
            <p:cNvPr id="124" name="do_win"/>
            <p:cNvSpPr/>
            <p:nvPr/>
          </p:nvSpPr>
          <p:spPr>
            <a:xfrm>
              <a:off x="6189574" y="2423160"/>
              <a:ext cx="5440680" cy="1955900"/>
            </a:xfrm>
            <a:prstGeom prst="roundRect">
              <a:avLst>
                <a:gd name="adj" fmla="val 3504"/>
              </a:avLst>
            </a:prstGeom>
            <a:solidFill>
              <a:srgbClr val="060D18"/>
            </a:solidFill>
            <a:ln w="12700">
              <a:solidFill>
                <a:srgbClr val="1E3A5F"/>
              </a:solidFill>
              <a:prstDash val="solid"/>
            </a:ln>
          </p:spPr>
          <p:txBody>
            <a:bodyPr/>
            <a:lstStyle/>
            <a:p>
              <a:endParaRPr lang="en-US"/>
            </a:p>
          </p:txBody>
        </p:sp>
        <p:sp>
          <p:nvSpPr>
            <p:cNvPr id="125" name="do_bar"/>
            <p:cNvSpPr/>
            <p:nvPr/>
          </p:nvSpPr>
          <p:spPr>
            <a:xfrm>
              <a:off x="6189574" y="2423160"/>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6" name="do_barfill"/>
            <p:cNvSpPr/>
            <p:nvPr/>
          </p:nvSpPr>
          <p:spPr>
            <a:xfrm>
              <a:off x="6189574" y="2594610"/>
              <a:ext cx="5440680" cy="171450"/>
            </a:xfrm>
            <a:prstGeom prst="rect">
              <a:avLst/>
            </a:prstGeom>
            <a:solidFill>
              <a:srgbClr val="0A1220"/>
            </a:solidFill>
            <a:ln w="12700">
              <a:solidFill>
                <a:srgbClr val="0A1220"/>
              </a:solidFill>
              <a:prstDash val="solid"/>
            </a:ln>
          </p:spPr>
          <p:txBody>
            <a:bodyPr/>
            <a:lstStyle/>
            <a:p>
              <a:endParaRPr lang="en-US"/>
            </a:p>
          </p:txBody>
        </p:sp>
        <p:sp>
          <p:nvSpPr>
            <p:cNvPr id="127" name="do_dot0"/>
            <p:cNvSpPr/>
            <p:nvPr/>
          </p:nvSpPr>
          <p:spPr>
            <a:xfrm>
              <a:off x="6351422" y="2546970"/>
              <a:ext cx="95098" cy="95098"/>
            </a:xfrm>
            <a:prstGeom prst="ellipse">
              <a:avLst/>
            </a:prstGeom>
            <a:solidFill>
              <a:srgbClr val="F87171"/>
            </a:solidFill>
            <a:ln w="12700">
              <a:solidFill>
                <a:srgbClr val="F87171"/>
              </a:solidFill>
              <a:prstDash val="solid"/>
            </a:ln>
          </p:spPr>
          <p:txBody>
            <a:bodyPr/>
            <a:lstStyle/>
            <a:p>
              <a:endParaRPr lang="en-US"/>
            </a:p>
          </p:txBody>
        </p:sp>
        <p:sp>
          <p:nvSpPr>
            <p:cNvPr id="128" name="do_dot1"/>
            <p:cNvSpPr/>
            <p:nvPr/>
          </p:nvSpPr>
          <p:spPr>
            <a:xfrm>
              <a:off x="6537046" y="2546970"/>
              <a:ext cx="95098" cy="95098"/>
            </a:xfrm>
            <a:prstGeom prst="ellipse">
              <a:avLst/>
            </a:prstGeom>
            <a:solidFill>
              <a:srgbClr val="FBBF24"/>
            </a:solidFill>
            <a:ln w="12700">
              <a:solidFill>
                <a:srgbClr val="FBBF24"/>
              </a:solidFill>
              <a:prstDash val="solid"/>
            </a:ln>
          </p:spPr>
          <p:txBody>
            <a:bodyPr/>
            <a:lstStyle/>
            <a:p>
              <a:endParaRPr lang="en-US"/>
            </a:p>
          </p:txBody>
        </p:sp>
        <p:sp>
          <p:nvSpPr>
            <p:cNvPr id="129" name="do_dot2"/>
            <p:cNvSpPr/>
            <p:nvPr/>
          </p:nvSpPr>
          <p:spPr>
            <a:xfrm>
              <a:off x="6722670" y="2546970"/>
              <a:ext cx="95098" cy="95098"/>
            </a:xfrm>
            <a:prstGeom prst="ellipse">
              <a:avLst/>
            </a:prstGeom>
            <a:solidFill>
              <a:srgbClr val="34D399"/>
            </a:solidFill>
            <a:ln w="12700">
              <a:solidFill>
                <a:srgbClr val="34D399"/>
              </a:solidFill>
              <a:prstDash val="solid"/>
            </a:ln>
          </p:spPr>
          <p:txBody>
            <a:bodyPr/>
            <a:lstStyle/>
            <a:p>
              <a:endParaRPr lang="en-US"/>
            </a:p>
          </p:txBody>
        </p:sp>
        <p:sp>
          <p:nvSpPr>
            <p:cNvPr id="130" name="do_tab"/>
            <p:cNvSpPr/>
            <p:nvPr/>
          </p:nvSpPr>
          <p:spPr>
            <a:xfrm>
              <a:off x="6970471" y="2470709"/>
              <a:ext cx="148808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SearchEndpoint.cs</a:t>
              </a:r>
              <a:endParaRPr lang="en-US" sz="950" dirty="0"/>
            </a:p>
          </p:txBody>
        </p:sp>
        <p:sp>
          <p:nvSpPr>
            <p:cNvPr id="131" name="do_lbl"/>
            <p:cNvSpPr/>
            <p:nvPr/>
          </p:nvSpPr>
          <p:spPr>
            <a:xfrm>
              <a:off x="10304374" y="2487168"/>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2" name="do_L00"/>
            <p:cNvSpPr txBox="1"/>
            <p:nvPr/>
          </p:nvSpPr>
          <p:spPr>
            <a:xfrm>
              <a:off x="6418174" y="2899060"/>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app.MapGet(</a:t>
              </a:r>
              <a:r>
                <a:rPr lang="en-US" sz="860" b="0" dirty="0">
                  <a:solidFill>
                    <a:srgbClr val="F0A98B"/>
                  </a:solidFill>
                  <a:latin typeface="Consolas"/>
                  <a:ea typeface="Consolas"/>
                  <a:cs typeface="Consolas"/>
                </a:rPr>
                <a:t>"/search"</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async</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q, AppDb db, CancellationToken ct) =&gt;</a:t>
              </a:r>
              <a:endParaRPr lang="en-US" sz="860" dirty="0"/>
            </a:p>
          </p:txBody>
        </p:sp>
        <p:sp>
          <p:nvSpPr>
            <p:cNvPr id="133" name="do_L01"/>
            <p:cNvSpPr txBox="1"/>
            <p:nvPr/>
          </p:nvSpPr>
          <p:spPr>
            <a:xfrm>
              <a:off x="6418174" y="3069060"/>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34" name="do_L02"/>
            <p:cNvSpPr txBox="1"/>
            <p:nvPr/>
          </p:nvSpPr>
          <p:spPr>
            <a:xfrm>
              <a:off x="6418174" y="3239060"/>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FAE7A"/>
                  </a:solidFill>
                  <a:latin typeface="Consolas"/>
                  <a:ea typeface="Consolas"/>
                  <a:cs typeface="Consolas"/>
                </a:rPr>
                <a:t>// ASP.NET Core cancels ct when the client disconnects</a:t>
              </a:r>
              <a:endParaRPr lang="en-US" sz="860" dirty="0"/>
            </a:p>
          </p:txBody>
        </p:sp>
        <p:sp>
          <p:nvSpPr>
            <p:cNvPr id="135" name="do_L03"/>
            <p:cNvSpPr txBox="1"/>
            <p:nvPr/>
          </p:nvSpPr>
          <p:spPr>
            <a:xfrm>
              <a:off x="6418174" y="3409060"/>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var</a:t>
              </a:r>
              <a:r>
                <a:rPr lang="en-US" sz="860" b="0" dirty="0">
                  <a:solidFill>
                    <a:srgbClr val="E2E8F0"/>
                  </a:solidFill>
                  <a:latin typeface="Consolas"/>
                  <a:ea typeface="Consolas"/>
                  <a:cs typeface="Consolas"/>
                </a:rPr>
                <a:t> found = </a:t>
              </a:r>
              <a:r>
                <a:rPr lang="en-US" sz="860" b="0" dirty="0">
                  <a:solidFill>
                    <a:srgbClr val="60A5FA"/>
                  </a:solidFill>
                  <a:latin typeface="Consolas"/>
                  <a:ea typeface="Consolas"/>
                  <a:cs typeface="Consolas"/>
                </a:rPr>
                <a:t>await</a:t>
              </a:r>
              <a:r>
                <a:rPr lang="en-US" sz="860" b="0" dirty="0">
                  <a:solidFill>
                    <a:srgbClr val="E2E8F0"/>
                  </a:solidFill>
                  <a:latin typeface="Consolas"/>
                  <a:ea typeface="Consolas"/>
                  <a:cs typeface="Consolas"/>
                </a:rPr>
                <a:t> db.Restaurants</a:t>
              </a:r>
              <a:endParaRPr lang="en-US" sz="860" dirty="0"/>
            </a:p>
          </p:txBody>
        </p:sp>
        <p:sp>
          <p:nvSpPr>
            <p:cNvPr id="136" name="do_L04"/>
            <p:cNvSpPr txBox="1"/>
            <p:nvPr/>
          </p:nvSpPr>
          <p:spPr>
            <a:xfrm>
              <a:off x="6418174" y="3579060"/>
              <a:ext cx="5140680" cy="17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.Where(r =&gt; r.Name.Contains(q))</a:t>
              </a:r>
              <a:endParaRPr lang="en-US" sz="860" dirty="0"/>
            </a:p>
          </p:txBody>
        </p:sp>
        <p:sp>
          <p:nvSpPr>
            <p:cNvPr id="137" name="do_L05"/>
            <p:cNvSpPr txBox="1"/>
            <p:nvPr/>
          </p:nvSpPr>
          <p:spPr>
            <a:xfrm>
              <a:off x="6418174" y="3749060"/>
              <a:ext cx="5140680" cy="17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.ToListAsync(ct);        </a:t>
              </a:r>
              <a:r>
                <a:rPr lang="en-US" sz="860" b="0" dirty="0">
                  <a:solidFill>
                    <a:srgbClr val="6FAE7A"/>
                  </a:solidFill>
                  <a:latin typeface="Consolas"/>
                  <a:ea typeface="Consolas"/>
                  <a:cs typeface="Consolas"/>
                </a:rPr>
                <a:t>// the query stops at once</a:t>
              </a:r>
              <a:endParaRPr lang="en-US" sz="860" dirty="0"/>
            </a:p>
          </p:txBody>
        </p:sp>
        <p:sp>
          <p:nvSpPr>
            <p:cNvPr id="138" name="do_L06"/>
            <p:cNvSpPr txBox="1"/>
            <p:nvPr/>
          </p:nvSpPr>
          <p:spPr>
            <a:xfrm>
              <a:off x="6418174" y="3919060"/>
              <a:ext cx="514068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return</a:t>
              </a:r>
              <a:r>
                <a:rPr lang="en-US" sz="860" b="0" dirty="0">
                  <a:solidFill>
                    <a:srgbClr val="E2E8F0"/>
                  </a:solidFill>
                  <a:latin typeface="Consolas"/>
                  <a:ea typeface="Consolas"/>
                  <a:cs typeface="Consolas"/>
                </a:rPr>
                <a:t> Results.Ok(found);</a:t>
              </a:r>
              <a:endParaRPr lang="en-US" sz="860" dirty="0"/>
            </a:p>
          </p:txBody>
        </p:sp>
        <p:sp>
          <p:nvSpPr>
            <p:cNvPr id="139" name="do_L07"/>
            <p:cNvSpPr txBox="1"/>
            <p:nvPr/>
          </p:nvSpPr>
          <p:spPr>
            <a:xfrm>
              <a:off x="6418174" y="4089060"/>
              <a:ext cx="5140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grpSp>
      <p:sp>
        <p:nvSpPr>
          <p:cNvPr id="141" name="do_hl5"/>
          <p:cNvSpPr/>
          <p:nvPr/>
        </p:nvSpPr>
        <p:spPr>
          <a:xfrm>
            <a:off x="6323076" y="3730772"/>
            <a:ext cx="5173680" cy="20657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42" name="arrow"/>
          <p:cNvCxnSpPr/>
          <p:nvPr/>
        </p:nvCxnSpPr>
        <p:spPr>
          <a:xfrm>
            <a:off x="6011266" y="3291840"/>
            <a:ext cx="150876" cy="0"/>
          </a:xfrm>
          <a:prstGeom prst="line">
            <a:avLst/>
          </a:prstGeom>
          <a:ln w="28575">
            <a:solidFill>
              <a:srgbClr val="13D0F7"/>
            </a:solidFill>
            <a:tailEnd type="triangle" w="med" len="med"/>
          </a:ln>
        </p:spPr>
      </p:cxnSp>
      <p:sp>
        <p:nvSpPr>
          <p:cNvPr id="143" name="why"/>
          <p:cNvSpPr/>
          <p:nvPr/>
        </p:nvSpPr>
        <p:spPr>
          <a:xfrm>
            <a:off x="543154" y="4572000"/>
            <a:ext cx="5440680" cy="1097280"/>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WITHOUT A TOKEN</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The work runs to the end anyway: CPU, memory and a DB connection for nobody. 1,000 users = 1,000 wasted queries.</a:t>
            </a:r>
            <a:endParaRPr lang="en-US" sz="1100" dirty="0"/>
          </a:p>
        </p:txBody>
      </p:sp>
      <p:sp>
        <p:nvSpPr>
          <p:cNvPr id="144" name="when"/>
          <p:cNvSpPr/>
          <p:nvPr/>
        </p:nvSpPr>
        <p:spPr>
          <a:xfrm>
            <a:off x="6189574" y="4572000"/>
            <a:ext cx="5440680" cy="109728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WITH A TOKEN</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Take a CancellationToken and pass it to every async call you make. The work stops as soon as nobody needs it.</a:t>
            </a:r>
            <a:endParaRPr lang="en-US" sz="1100" dirty="0"/>
          </a:p>
        </p:txBody>
      </p:sp>
    </p:spTree>
    <p:extLst>
      <p:ext uri="{BB962C8B-B14F-4D97-AF65-F5344CB8AC3E}">
        <p14:creationId xmlns:p14="http://schemas.microsoft.com/office/powerpoint/2010/main" val="26025200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250"/>
                                        <p:tgtEl>
                                          <p:spTgt spid="101"/>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fade">
                                      <p:cBhvr>
                                        <p:cTn id="11" dur="250"/>
                                        <p:tgtEl>
                                          <p:spTgt spid="102"/>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fade">
                                      <p:cBhvr>
                                        <p:cTn id="15" dur="250"/>
                                        <p:tgtEl>
                                          <p:spTgt spid="103"/>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250"/>
                                        <p:tgtEl>
                                          <p:spTgt spid="10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fade">
                                      <p:cBhvr>
                                        <p:cTn id="24" dur="400"/>
                                        <p:tgtEl>
                                          <p:spTgt spid="1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2"/>
                                        </p:tgtEl>
                                        <p:attrNameLst>
                                          <p:attrName>style.visibility</p:attrName>
                                        </p:attrNameLst>
                                      </p:cBhvr>
                                      <p:to>
                                        <p:strVal val="visible"/>
                                      </p:to>
                                    </p:set>
                                    <p:animEffect transition="in" filter="fade">
                                      <p:cBhvr>
                                        <p:cTn id="27" dur="400"/>
                                        <p:tgtEl>
                                          <p:spTgt spid="1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3"/>
                                        </p:tgtEl>
                                        <p:attrNameLst>
                                          <p:attrName>style.visibility</p:attrName>
                                        </p:attrNameLst>
                                      </p:cBhvr>
                                      <p:to>
                                        <p:strVal val="visible"/>
                                      </p:to>
                                    </p:set>
                                    <p:animEffect transition="in" filter="fade">
                                      <p:cBhvr>
                                        <p:cTn id="30" dur="400"/>
                                        <p:tgtEl>
                                          <p:spTgt spid="1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3"/>
                                        </p:tgtEl>
                                        <p:attrNameLst>
                                          <p:attrName>style.visibility</p:attrName>
                                        </p:attrNameLst>
                                      </p:cBhvr>
                                      <p:to>
                                        <p:strVal val="visible"/>
                                      </p:to>
                                    </p:set>
                                    <p:animEffect transition="in" filter="fade">
                                      <p:cBhvr>
                                        <p:cTn id="35" dur="400"/>
                                        <p:tgtEl>
                                          <p:spTgt spid="14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2"/>
                                        </p:tgtEl>
                                        <p:attrNameLst>
                                          <p:attrName>style.visibility</p:attrName>
                                        </p:attrNameLst>
                                      </p:cBhvr>
                                      <p:to>
                                        <p:strVal val="visible"/>
                                      </p:to>
                                    </p:set>
                                    <p:animEffect transition="in" filter="fade">
                                      <p:cBhvr>
                                        <p:cTn id="40" dur="400"/>
                                        <p:tgtEl>
                                          <p:spTgt spid="142"/>
                                        </p:tgtEl>
                                      </p:cBhvr>
                                    </p:animEffect>
                                  </p:childTnLst>
                                </p:cTn>
                              </p:par>
                              <p:par>
                                <p:cTn id="41" presetID="10" presetClass="entr" presetSubtype="0" fill="hold" nodeType="withEffect">
                                  <p:stCondLst>
                                    <p:cond delay="0"/>
                                  </p:stCondLst>
                                  <p:childTnLst>
                                    <p:set>
                                      <p:cBhvr>
                                        <p:cTn id="42" dur="1" fill="hold">
                                          <p:stCondLst>
                                            <p:cond delay="0"/>
                                          </p:stCondLst>
                                        </p:cTn>
                                        <p:tgtEl>
                                          <p:spTgt spid="140"/>
                                        </p:tgtEl>
                                        <p:attrNameLst>
                                          <p:attrName>style.visibility</p:attrName>
                                        </p:attrNameLst>
                                      </p:cBhvr>
                                      <p:to>
                                        <p:strVal val="visible"/>
                                      </p:to>
                                    </p:set>
                                    <p:animEffect transition="in" filter="fade">
                                      <p:cBhvr>
                                        <p:cTn id="43" dur="400"/>
                                        <p:tgtEl>
                                          <p:spTgt spid="1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1"/>
                                        </p:tgtEl>
                                        <p:attrNameLst>
                                          <p:attrName>style.visibility</p:attrName>
                                        </p:attrNameLst>
                                      </p:cBhvr>
                                      <p:to>
                                        <p:strVal val="visible"/>
                                      </p:to>
                                    </p:set>
                                    <p:animEffect transition="in" filter="fade">
                                      <p:cBhvr>
                                        <p:cTn id="46" dur="400"/>
                                        <p:tgtEl>
                                          <p:spTgt spid="14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44"/>
                                        </p:tgtEl>
                                        <p:attrNameLst>
                                          <p:attrName>style.visibility</p:attrName>
                                        </p:attrNameLst>
                                      </p:cBhvr>
                                      <p:to>
                                        <p:strVal val="visible"/>
                                      </p:to>
                                    </p:set>
                                    <p:animEffect transition="in" filter="fade">
                                      <p:cBhvr>
                                        <p:cTn id="51" dur="4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22" grpId="0" animBg="1"/>
      <p:bldP spid="123" grpId="0" animBg="1"/>
      <p:bldP spid="141" grpId="0" animBg="1"/>
      <p:bldP spid="143" grpId="0" animBg="1"/>
      <p:bldP spid="14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IDEA</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Cancellation Is Cooperative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49</a:t>
            </a:r>
            <a:endParaRPr lang="en-US" sz="850" dirty="0"/>
          </a:p>
        </p:txBody>
      </p:sp>
      <p:sp>
        <p:nvSpPr>
          <p:cNvPr id="15" name="card"/>
          <p:cNvSpPr/>
          <p:nvPr/>
        </p:nvSpPr>
        <p:spPr>
          <a:xfrm>
            <a:off x="543154" y="1938528"/>
            <a:ext cx="3108960" cy="1280160"/>
          </a:xfrm>
          <a:prstGeom prst="roundRect">
            <a:avLst>
              <a:gd name="adj" fmla="val 6428"/>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FBBF24"/>
                </a:solidFill>
                <a:latin typeface="Segoe UI"/>
                <a:ea typeface="Segoe UI"/>
                <a:cs typeface="Segoe UI"/>
              </a:rPr>
              <a:t>CALLER</a:t>
            </a:r>
            <a:endParaRPr lang="en-US" sz="1050" dirty="0"/>
          </a:p>
          <a:p>
            <a:pPr marL="0" indent="0" algn="l">
              <a:spcBef>
                <a:spcPts val="0"/>
              </a:spcBef>
              <a:spcAft>
                <a:spcPts val="150"/>
              </a:spcAft>
              <a:buNone/>
            </a:pPr>
            <a:r>
              <a:rPr lang="en-US" sz="1100" b="1" dirty="0">
                <a:solidFill>
                  <a:srgbClr val="E2E8F0"/>
                </a:solidFill>
                <a:latin typeface="Consolas"/>
                <a:ea typeface="Consolas"/>
                <a:cs typeface="Consolas"/>
              </a:rPr>
              <a:t>CancellationTokenSource</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can call Cancel()</a:t>
            </a:r>
            <a:endParaRPr lang="en-US" sz="1150" dirty="0"/>
          </a:p>
        </p:txBody>
      </p:sp>
      <p:cxnSp>
        <p:nvCxnSpPr>
          <p:cNvPr id="16" name="arrow"/>
          <p:cNvCxnSpPr/>
          <p:nvPr/>
        </p:nvCxnSpPr>
        <p:spPr>
          <a:xfrm>
            <a:off x="3743554" y="2578608"/>
            <a:ext cx="1005840" cy="0"/>
          </a:xfrm>
          <a:prstGeom prst="line">
            <a:avLst/>
          </a:prstGeom>
          <a:ln w="28575">
            <a:solidFill>
              <a:srgbClr val="FBBF24"/>
            </a:solidFill>
            <a:tailEnd type="triangle" w="med" len="med"/>
          </a:ln>
        </p:spPr>
      </p:cxnSp>
      <p:sp>
        <p:nvSpPr>
          <p:cNvPr id="17" name="lab"/>
          <p:cNvSpPr txBox="1"/>
          <p:nvPr/>
        </p:nvSpPr>
        <p:spPr>
          <a:xfrm>
            <a:off x="3697834" y="2212848"/>
            <a:ext cx="109728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token</a:t>
            </a:r>
            <a:endParaRPr lang="en-US" sz="1050" dirty="0"/>
          </a:p>
        </p:txBody>
      </p:sp>
      <p:sp>
        <p:nvSpPr>
          <p:cNvPr id="18" name="card"/>
          <p:cNvSpPr/>
          <p:nvPr/>
        </p:nvSpPr>
        <p:spPr>
          <a:xfrm>
            <a:off x="4840834" y="1938528"/>
            <a:ext cx="3108960" cy="1280160"/>
          </a:xfrm>
          <a:prstGeom prst="roundRect">
            <a:avLst>
              <a:gd name="adj" fmla="val 6428"/>
            </a:avLst>
          </a:prstGeom>
          <a:solidFill>
            <a:srgbClr val="111B2E"/>
          </a:solidFill>
          <a:ln w="12700">
            <a:solidFill>
              <a:srgbClr val="13D0F7"/>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13D0F7"/>
                </a:solidFill>
                <a:latin typeface="Segoe UI"/>
                <a:ea typeface="Segoe UI"/>
                <a:cs typeface="Segoe UI"/>
              </a:rPr>
              <a:t>THE WORK</a:t>
            </a:r>
            <a:endParaRPr lang="en-US" sz="1050" dirty="0"/>
          </a:p>
          <a:p>
            <a:pPr marL="0" indent="0" algn="l">
              <a:spcBef>
                <a:spcPts val="0"/>
              </a:spcBef>
              <a:spcAft>
                <a:spcPts val="150"/>
              </a:spcAft>
              <a:buNone/>
            </a:pPr>
            <a:r>
              <a:rPr lang="en-US" sz="1100" b="1" dirty="0">
                <a:solidFill>
                  <a:srgbClr val="E2E8F0"/>
                </a:solidFill>
                <a:latin typeface="Consolas"/>
                <a:ea typeface="Consolas"/>
                <a:cs typeface="Consolas"/>
              </a:rPr>
              <a:t>CancellationToken</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can only observe it</a:t>
            </a:r>
            <a:endParaRPr lang="en-US" sz="1150" dirty="0"/>
          </a:p>
        </p:txBody>
      </p:sp>
      <p:sp>
        <p:nvSpPr>
          <p:cNvPr id="19" name="card"/>
          <p:cNvSpPr/>
          <p:nvPr/>
        </p:nvSpPr>
        <p:spPr>
          <a:xfrm>
            <a:off x="543154" y="3538728"/>
            <a:ext cx="3108960" cy="914400"/>
          </a:xfrm>
          <a:prstGeom prst="roundRect">
            <a:avLst>
              <a:gd name="adj" fmla="val 9000"/>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ctr">
              <a:spcBef>
                <a:spcPts val="0"/>
              </a:spcBef>
              <a:spcAft>
                <a:spcPts val="100"/>
              </a:spcAft>
              <a:buNone/>
            </a:pPr>
            <a:r>
              <a:rPr lang="en-US" sz="1300" b="1" dirty="0">
                <a:solidFill>
                  <a:srgbClr val="F87171"/>
                </a:solidFill>
                <a:latin typeface="Consolas"/>
                <a:ea typeface="Consolas"/>
                <a:cs typeface="Consolas"/>
              </a:rPr>
              <a:t>cts.Cancel()</a:t>
            </a:r>
            <a:endParaRPr lang="en-US" sz="1300" dirty="0"/>
          </a:p>
          <a:p>
            <a:pPr marL="0" indent="0" algn="ctr">
              <a:spcBef>
                <a:spcPts val="0"/>
              </a:spcBef>
              <a:spcAft>
                <a:spcPts val="0"/>
              </a:spcAft>
              <a:buNone/>
            </a:pPr>
            <a:r>
              <a:rPr lang="en-US" sz="1150" b="0" dirty="0">
                <a:solidFill>
                  <a:srgbClr val="CBD5E1"/>
                </a:solidFill>
                <a:latin typeface="Segoe UI"/>
                <a:ea typeface="Segoe UI"/>
                <a:cs typeface="Segoe UI"/>
              </a:rPr>
              <a:t>"please stop when you can"</a:t>
            </a:r>
            <a:endParaRPr lang="en-US" sz="1150" dirty="0"/>
          </a:p>
        </p:txBody>
      </p:sp>
      <p:sp>
        <p:nvSpPr>
          <p:cNvPr id="20" name="card"/>
          <p:cNvSpPr/>
          <p:nvPr/>
        </p:nvSpPr>
        <p:spPr>
          <a:xfrm>
            <a:off x="4840834" y="3538728"/>
            <a:ext cx="3108960" cy="914400"/>
          </a:xfrm>
          <a:prstGeom prst="roundRect">
            <a:avLst>
              <a:gd name="adj" fmla="val 9000"/>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ctr">
              <a:spcBef>
                <a:spcPts val="0"/>
              </a:spcBef>
              <a:spcAft>
                <a:spcPts val="0"/>
              </a:spcAft>
              <a:buNone/>
            </a:pPr>
            <a:r>
              <a:rPr lang="en-US" sz="1200" b="0" dirty="0">
                <a:solidFill>
                  <a:srgbClr val="CBD5E1"/>
                </a:solidFill>
                <a:latin typeface="Segoe UI"/>
                <a:ea typeface="Segoe UI"/>
                <a:cs typeface="Segoe UI"/>
              </a:rPr>
              <a:t>checks the token between steps and stops cleanly</a:t>
            </a:r>
            <a:endParaRPr lang="en-US" sz="1200" dirty="0"/>
          </a:p>
        </p:txBody>
      </p:sp>
      <p:sp>
        <p:nvSpPr>
          <p:cNvPr id="21" name="card"/>
          <p:cNvSpPr/>
          <p:nvPr/>
        </p:nvSpPr>
        <p:spPr>
          <a:xfrm>
            <a:off x="8269834" y="1938528"/>
            <a:ext cx="3360420" cy="2514600"/>
          </a:xfrm>
          <a:prstGeom prst="roundRect">
            <a:avLst>
              <a:gd name="adj" fmla="val 3272"/>
            </a:avLst>
          </a:prstGeom>
          <a:solidFill>
            <a:srgbClr val="111B2E"/>
          </a:solidFill>
          <a:ln w="12700">
            <a:solidFill>
              <a:srgbClr val="A78BFA"/>
            </a:solidFill>
            <a:prstDash val="solid"/>
          </a:ln>
        </p:spPr>
        <p:txBody>
          <a:bodyPr wrap="square" lIns="192024" tIns="114300" rIns="192024" bIns="114300" rtlCol="0" anchor="ctr">
            <a:noAutofit/>
          </a:bodyPr>
          <a:lstStyle/>
          <a:p>
            <a:pPr marL="0" indent="0" algn="l">
              <a:spcBef>
                <a:spcPts val="0"/>
              </a:spcBef>
              <a:spcAft>
                <a:spcPts val="200"/>
              </a:spcAft>
              <a:buNone/>
            </a:pPr>
            <a:r>
              <a:rPr lang="en-US" sz="1050" b="1" dirty="0">
                <a:solidFill>
                  <a:srgbClr val="A78BFA"/>
                </a:solidFill>
                <a:latin typeface="Segoe UI"/>
                <a:ea typeface="Segoe UI"/>
                <a:cs typeface="Segoe UI"/>
              </a:rPr>
              <a:t>ANALOGY</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The waiter tells the kitchen "table 4 canceled". The cook finishes the current step safely, then stops; no half-burnt kitchen.</a:t>
            </a:r>
            <a:endParaRPr lang="en-US" sz="1250" dirty="0"/>
          </a:p>
        </p:txBody>
      </p:sp>
      <p:sp>
        <p:nvSpPr>
          <p:cNvPr id="22"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Cancellation is a request, not a kill: the work decides where it is safe to stop.</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2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5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5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5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P spid="18" grpId="0" animBg="1"/>
      <p:bldP spid="19" grpId="0" animBg="1"/>
      <p:bldP spid="20" grpId="0" animBg="1"/>
      <p:bldP spid="21"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08176"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SOURCE &amp; TOKEN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CancellationTokenSource and Token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50</a:t>
            </a:r>
            <a:endParaRPr lang="en-US" sz="850" dirty="0"/>
          </a:p>
        </p:txBody>
      </p:sp>
      <p:sp>
        <p:nvSpPr>
          <p:cNvPr id="15" name="cw_win"/>
          <p:cNvSpPr/>
          <p:nvPr/>
        </p:nvSpPr>
        <p:spPr>
          <a:xfrm>
            <a:off x="543154" y="1572768"/>
            <a:ext cx="667512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6751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67512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60A5FA"/>
                </a:solidFill>
                <a:latin typeface="Consolas"/>
                <a:ea typeface="Consolas"/>
                <a:cs typeface="Consolas"/>
              </a:rPr>
              <a:t>using</a:t>
            </a:r>
            <a:r>
              <a:rPr lang="en-US" sz="1100" b="0" dirty="0">
                <a:solidFill>
                  <a:srgbClr val="E2E8F0"/>
                </a:solidFill>
                <a:latin typeface="Consolas"/>
                <a:ea typeface="Consolas"/>
                <a:cs typeface="Consolas"/>
              </a:rPr>
              <a:t> </a:t>
            </a:r>
            <a:r>
              <a:rPr lang="en-US" sz="1100" b="0" dirty="0">
                <a:solidFill>
                  <a:srgbClr val="60A5FA"/>
                </a:solidFill>
                <a:latin typeface="Consolas"/>
                <a:ea typeface="Consolas"/>
                <a:cs typeface="Consolas"/>
              </a:rPr>
              <a:t>var</a:t>
            </a:r>
            <a:r>
              <a:rPr lang="en-US" sz="1100" b="0" dirty="0">
                <a:solidFill>
                  <a:srgbClr val="E2E8F0"/>
                </a:solidFill>
                <a:latin typeface="Consolas"/>
                <a:ea typeface="Consolas"/>
                <a:cs typeface="Consolas"/>
              </a:rPr>
              <a:t> cts = </a:t>
            </a:r>
            <a:r>
              <a:rPr lang="en-US" sz="1100" b="0" dirty="0">
                <a:solidFill>
                  <a:srgbClr val="60A5FA"/>
                </a:solidFill>
                <a:latin typeface="Consolas"/>
                <a:ea typeface="Consolas"/>
                <a:cs typeface="Consolas"/>
              </a:rPr>
              <a:t>new</a:t>
            </a:r>
            <a:r>
              <a:rPr lang="en-US" sz="1100" b="0" dirty="0">
                <a:solidFill>
                  <a:srgbClr val="E2E8F0"/>
                </a:solidFill>
                <a:latin typeface="Consolas"/>
                <a:ea typeface="Consolas"/>
                <a:cs typeface="Consolas"/>
              </a:rPr>
              <a:t> CancellationTokenSource();</a:t>
            </a:r>
            <a:endParaRPr lang="en-US" sz="1100" dirty="0"/>
          </a:p>
        </p:txBody>
      </p:sp>
      <p:sp>
        <p:nvSpPr>
          <p:cNvPr id="23" name="cw_L02"/>
          <p:cNvSpPr txBox="1"/>
          <p:nvPr/>
        </p:nvSpPr>
        <p:spPr>
          <a:xfrm>
            <a:off x="771754" y="249529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CancellationToken token = cts.Token;   </a:t>
            </a:r>
            <a:r>
              <a:rPr lang="en-US" sz="1100" b="0" dirty="0">
                <a:solidFill>
                  <a:srgbClr val="6FAE7A"/>
                </a:solidFill>
                <a:latin typeface="Consolas"/>
                <a:ea typeface="Consolas"/>
                <a:cs typeface="Consolas"/>
              </a:rPr>
              <a:t>// give this to the work</a:t>
            </a:r>
            <a:endParaRPr lang="en-US" sz="1100" dirty="0"/>
          </a:p>
        </p:txBody>
      </p:sp>
      <p:sp>
        <p:nvSpPr>
          <p:cNvPr id="24" name="cw_L03"/>
          <p:cNvSpPr txBox="1"/>
          <p:nvPr/>
        </p:nvSpPr>
        <p:spPr>
          <a:xfrm>
            <a:off x="771754" y="271881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Console.WriteLine(token.IsCancellationRequested);   </a:t>
            </a:r>
            <a:r>
              <a:rPr lang="en-US" sz="1100" b="0" dirty="0">
                <a:solidFill>
                  <a:srgbClr val="6FAE7A"/>
                </a:solidFill>
                <a:latin typeface="Consolas"/>
                <a:ea typeface="Consolas"/>
                <a:cs typeface="Consolas"/>
              </a:rPr>
              <a:t>// False</a:t>
            </a:r>
            <a:endParaRPr lang="en-US" sz="1100" dirty="0"/>
          </a:p>
        </p:txBody>
      </p:sp>
      <p:sp>
        <p:nvSpPr>
          <p:cNvPr id="25" name="cw_L05"/>
          <p:cNvSpPr txBox="1"/>
          <p:nvPr/>
        </p:nvSpPr>
        <p:spPr>
          <a:xfrm>
            <a:off x="771754" y="316585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cts.Cancel();                          </a:t>
            </a:r>
            <a:r>
              <a:rPr lang="en-US" sz="1100" b="0" dirty="0">
                <a:solidFill>
                  <a:srgbClr val="6FAE7A"/>
                </a:solidFill>
                <a:latin typeface="Consolas"/>
                <a:ea typeface="Consolas"/>
                <a:cs typeface="Consolas"/>
              </a:rPr>
              <a:t>// ask the work to stop</a:t>
            </a:r>
            <a:endParaRPr lang="en-US" sz="1100" dirty="0"/>
          </a:p>
        </p:txBody>
      </p:sp>
      <p:sp>
        <p:nvSpPr>
          <p:cNvPr id="26" name="cw_L06"/>
          <p:cNvSpPr txBox="1"/>
          <p:nvPr/>
        </p:nvSpPr>
        <p:spPr>
          <a:xfrm>
            <a:off x="771754" y="3389376"/>
            <a:ext cx="6291072" cy="22352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00" b="0" dirty="0">
                <a:solidFill>
                  <a:srgbClr val="E2E8F0"/>
                </a:solidFill>
                <a:latin typeface="Consolas"/>
                <a:ea typeface="Consolas"/>
                <a:cs typeface="Consolas"/>
              </a:rPr>
              <a:t>Console.WriteLine(token.IsCancellationRequested);   </a:t>
            </a:r>
            <a:r>
              <a:rPr lang="en-US" sz="1100" b="0" dirty="0">
                <a:solidFill>
                  <a:srgbClr val="6FAE7A"/>
                </a:solidFill>
                <a:latin typeface="Consolas"/>
                <a:ea typeface="Consolas"/>
                <a:cs typeface="Consolas"/>
              </a:rPr>
              <a:t>// True</a:t>
            </a:r>
            <a:endParaRPr lang="en-US" sz="1100" dirty="0"/>
          </a:p>
        </p:txBody>
      </p:sp>
      <p:sp>
        <p:nvSpPr>
          <p:cNvPr id="27" name="card"/>
          <p:cNvSpPr/>
          <p:nvPr/>
        </p:nvSpPr>
        <p:spPr>
          <a:xfrm>
            <a:off x="7446874" y="1572768"/>
            <a:ext cx="4183380" cy="1011936"/>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THE SOURCE</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caller keeps it. Only the source can cancel.</a:t>
            </a:r>
            <a:endParaRPr lang="en-US" sz="1250" dirty="0"/>
          </a:p>
        </p:txBody>
      </p:sp>
      <p:sp>
        <p:nvSpPr>
          <p:cNvPr id="28" name="card"/>
          <p:cNvSpPr/>
          <p:nvPr/>
        </p:nvSpPr>
        <p:spPr>
          <a:xfrm>
            <a:off x="7446874" y="2721864"/>
            <a:ext cx="4183380" cy="1011936"/>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THE TOKEN</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Passed to the work. It can only observe: canceled yet?</a:t>
            </a:r>
            <a:endParaRPr lang="en-US" sz="1250" dirty="0"/>
          </a:p>
        </p:txBody>
      </p:sp>
      <p:sp>
        <p:nvSpPr>
          <p:cNvPr id="29" name="card"/>
          <p:cNvSpPr/>
          <p:nvPr/>
        </p:nvSpPr>
        <p:spPr>
          <a:xfrm>
            <a:off x="7446874" y="3870960"/>
            <a:ext cx="4183380" cy="1011936"/>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using var</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source holds resources: dispose it when you're done.</a:t>
            </a:r>
            <a:endParaRPr lang="en-US" sz="1250" dirty="0"/>
          </a:p>
        </p:txBody>
      </p:sp>
      <p:sp>
        <p:nvSpPr>
          <p:cNvPr id="30" name="banner"/>
          <p:cNvSpPr/>
          <p:nvPr/>
        </p:nvSpPr>
        <p:spPr>
          <a:xfrm>
            <a:off x="543154" y="5074920"/>
            <a:ext cx="11087100" cy="74980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The source cancels; the token is what you pass around.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25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25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5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animBg="1"/>
      <p:bldP spid="28" grpId="0" animBg="1"/>
      <p:bldP spid="29" grpId="0" animBg="1"/>
      <p:bldP spid="3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What Happens?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53</a:t>
            </a:r>
            <a:endParaRPr lang="en-US" sz="850" dirty="0"/>
          </a:p>
        </p:txBody>
      </p:sp>
      <p:grpSp>
        <p:nvGrpSpPr>
          <p:cNvPr id="117" name="q"/>
          <p:cNvGrpSpPr/>
          <p:nvPr/>
        </p:nvGrpSpPr>
        <p:grpSpPr>
          <a:xfrm>
            <a:off x="543154" y="1783080"/>
            <a:ext cx="5989320" cy="3017520"/>
            <a:chOff x="543154" y="1783080"/>
            <a:chExt cx="5989320" cy="3017520"/>
          </a:xfrm>
        </p:grpSpPr>
        <p:sp>
          <p:nvSpPr>
            <p:cNvPr id="101" name="q_win"/>
            <p:cNvSpPr/>
            <p:nvPr/>
          </p:nvSpPr>
          <p:spPr>
            <a:xfrm>
              <a:off x="543154" y="1783080"/>
              <a:ext cx="5989320" cy="3017520"/>
            </a:xfrm>
            <a:prstGeom prst="roundRect">
              <a:avLst>
                <a:gd name="adj" fmla="val 2271"/>
              </a:avLst>
            </a:prstGeom>
            <a:solidFill>
              <a:srgbClr val="060D18"/>
            </a:solidFill>
            <a:ln w="12700">
              <a:solidFill>
                <a:srgbClr val="1E3A5F"/>
              </a:solidFill>
              <a:prstDash val="solid"/>
            </a:ln>
          </p:spPr>
          <p:txBody>
            <a:bodyPr/>
            <a:lstStyle/>
            <a:p>
              <a:endParaRPr lang="en-US"/>
            </a:p>
          </p:txBody>
        </p:sp>
        <p:sp>
          <p:nvSpPr>
            <p:cNvPr id="102" name="q_bar"/>
            <p:cNvSpPr/>
            <p:nvPr/>
          </p:nvSpPr>
          <p:spPr>
            <a:xfrm>
              <a:off x="543154" y="1783080"/>
              <a:ext cx="59893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q_barfill"/>
            <p:cNvSpPr/>
            <p:nvPr/>
          </p:nvSpPr>
          <p:spPr>
            <a:xfrm>
              <a:off x="543154" y="1954530"/>
              <a:ext cx="5989320" cy="171450"/>
            </a:xfrm>
            <a:prstGeom prst="rect">
              <a:avLst/>
            </a:prstGeom>
            <a:solidFill>
              <a:srgbClr val="0A1220"/>
            </a:solidFill>
            <a:ln w="12700">
              <a:solidFill>
                <a:srgbClr val="0A1220"/>
              </a:solidFill>
              <a:prstDash val="solid"/>
            </a:ln>
          </p:spPr>
          <p:txBody>
            <a:bodyPr/>
            <a:lstStyle/>
            <a:p>
              <a:endParaRPr lang="en-US"/>
            </a:p>
          </p:txBody>
        </p:sp>
        <p:sp>
          <p:nvSpPr>
            <p:cNvPr id="104" name="q_dot0"/>
            <p:cNvSpPr/>
            <p:nvPr/>
          </p:nvSpPr>
          <p:spPr>
            <a:xfrm>
              <a:off x="705002" y="190689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q_dot1"/>
            <p:cNvSpPr/>
            <p:nvPr/>
          </p:nvSpPr>
          <p:spPr>
            <a:xfrm>
              <a:off x="890626" y="190689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q_dot2"/>
            <p:cNvSpPr/>
            <p:nvPr/>
          </p:nvSpPr>
          <p:spPr>
            <a:xfrm>
              <a:off x="1076250" y="190689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q_tab"/>
            <p:cNvSpPr/>
            <p:nvPr/>
          </p:nvSpPr>
          <p:spPr>
            <a:xfrm>
              <a:off x="1324051" y="183062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q_L00"/>
            <p:cNvSpPr txBox="1"/>
            <p:nvPr/>
          </p:nvSpPr>
          <p:spPr>
            <a:xfrm>
              <a:off x="771754" y="2258980"/>
              <a:ext cx="568932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using</a:t>
              </a:r>
              <a:r>
                <a:rPr lang="en-US" sz="900" b="0" dirty="0">
                  <a:solidFill>
                    <a:srgbClr val="E2E8F0"/>
                  </a:solidFill>
                  <a:latin typeface="Consolas"/>
                  <a:ea typeface="Consolas"/>
                  <a:cs typeface="Consolas"/>
                </a:rPr>
                <a:t> CancellationTokenSource cts = </a:t>
              </a:r>
              <a:r>
                <a:rPr lang="en-US" sz="900" b="0" dirty="0">
                  <a:solidFill>
                    <a:srgbClr val="60A5FA"/>
                  </a:solidFill>
                  <a:latin typeface="Consolas"/>
                  <a:ea typeface="Consolas"/>
                  <a:cs typeface="Consolas"/>
                </a:rPr>
                <a:t>new</a:t>
              </a:r>
              <a:r>
                <a:rPr lang="en-US" sz="900" b="0" dirty="0">
                  <a:solidFill>
                    <a:srgbClr val="E2E8F0"/>
                  </a:solidFill>
                  <a:latin typeface="Consolas"/>
                  <a:ea typeface="Consolas"/>
                  <a:cs typeface="Consolas"/>
                </a:rPr>
                <a:t>();</a:t>
              </a:r>
              <a:endParaRPr lang="en-US" sz="900" dirty="0"/>
            </a:p>
          </p:txBody>
        </p:sp>
        <p:sp>
          <p:nvSpPr>
            <p:cNvPr id="109" name="q_L02"/>
            <p:cNvSpPr txBox="1"/>
            <p:nvPr/>
          </p:nvSpPr>
          <p:spPr>
            <a:xfrm>
              <a:off x="771754" y="2598980"/>
              <a:ext cx="568932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Task task = DoWorkAsync(cts.Token);</a:t>
              </a:r>
              <a:endParaRPr lang="en-US" sz="900" dirty="0"/>
            </a:p>
          </p:txBody>
        </p:sp>
        <p:sp>
          <p:nvSpPr>
            <p:cNvPr id="110" name="q_L04"/>
            <p:cNvSpPr txBox="1"/>
            <p:nvPr/>
          </p:nvSpPr>
          <p:spPr>
            <a:xfrm>
              <a:off x="771754" y="2938980"/>
              <a:ext cx="568932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cts.Cancel();</a:t>
              </a:r>
              <a:endParaRPr lang="en-US" sz="900" dirty="0"/>
            </a:p>
          </p:txBody>
        </p:sp>
        <p:sp>
          <p:nvSpPr>
            <p:cNvPr id="111" name="q_L06"/>
            <p:cNvSpPr txBox="1"/>
            <p:nvPr/>
          </p:nvSpPr>
          <p:spPr>
            <a:xfrm>
              <a:off x="771754" y="3278980"/>
              <a:ext cx="568932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await</a:t>
              </a:r>
              <a:r>
                <a:rPr lang="en-US" sz="900" b="0" dirty="0">
                  <a:solidFill>
                    <a:srgbClr val="E2E8F0"/>
                  </a:solidFill>
                  <a:latin typeface="Consolas"/>
                  <a:ea typeface="Consolas"/>
                  <a:cs typeface="Consolas"/>
                </a:rPr>
                <a:t> task;</a:t>
              </a:r>
              <a:endParaRPr lang="en-US" sz="900" dirty="0"/>
            </a:p>
          </p:txBody>
        </p:sp>
        <p:sp>
          <p:nvSpPr>
            <p:cNvPr id="112" name="q_L08"/>
            <p:cNvSpPr txBox="1"/>
            <p:nvPr/>
          </p:nvSpPr>
          <p:spPr>
            <a:xfrm>
              <a:off x="771754" y="3618980"/>
              <a:ext cx="568932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static</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async</a:t>
              </a:r>
              <a:r>
                <a:rPr lang="en-US" sz="900" b="0" dirty="0">
                  <a:solidFill>
                    <a:srgbClr val="E2E8F0"/>
                  </a:solidFill>
                  <a:latin typeface="Consolas"/>
                  <a:ea typeface="Consolas"/>
                  <a:cs typeface="Consolas"/>
                </a:rPr>
                <a:t> Task DoWorkAsync(CancellationToken token)</a:t>
              </a:r>
              <a:endParaRPr lang="en-US" sz="900" dirty="0"/>
            </a:p>
          </p:txBody>
        </p:sp>
        <p:sp>
          <p:nvSpPr>
            <p:cNvPr id="113" name="q_L09"/>
            <p:cNvSpPr txBox="1"/>
            <p:nvPr/>
          </p:nvSpPr>
          <p:spPr>
            <a:xfrm>
              <a:off x="771754" y="3788980"/>
              <a:ext cx="568932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sp>
          <p:nvSpPr>
            <p:cNvPr id="114" name="q_L10"/>
            <p:cNvSpPr txBox="1"/>
            <p:nvPr/>
          </p:nvSpPr>
          <p:spPr>
            <a:xfrm>
              <a:off x="771754" y="3958980"/>
              <a:ext cx="568932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60A5FA"/>
                  </a:solidFill>
                  <a:latin typeface="Consolas"/>
                  <a:ea typeface="Consolas"/>
                  <a:cs typeface="Consolas"/>
                </a:rPr>
                <a:t>await</a:t>
              </a:r>
              <a:r>
                <a:rPr lang="en-US" sz="900" b="0" dirty="0">
                  <a:solidFill>
                    <a:srgbClr val="E2E8F0"/>
                  </a:solidFill>
                  <a:latin typeface="Consolas"/>
                  <a:ea typeface="Consolas"/>
                  <a:cs typeface="Consolas"/>
                </a:rPr>
                <a:t> Task.Delay(3000);</a:t>
              </a:r>
              <a:endParaRPr lang="en-US" sz="900" dirty="0"/>
            </a:p>
          </p:txBody>
        </p:sp>
        <p:sp>
          <p:nvSpPr>
            <p:cNvPr id="115" name="q_L12"/>
            <p:cNvSpPr txBox="1"/>
            <p:nvPr/>
          </p:nvSpPr>
          <p:spPr>
            <a:xfrm>
              <a:off x="771754" y="4298980"/>
              <a:ext cx="5689320" cy="17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Console.WriteLine(</a:t>
              </a:r>
              <a:r>
                <a:rPr lang="en-US" sz="900" b="0" dirty="0">
                  <a:solidFill>
                    <a:srgbClr val="F0A98B"/>
                  </a:solidFill>
                  <a:latin typeface="Consolas"/>
                  <a:ea typeface="Consolas"/>
                  <a:cs typeface="Consolas"/>
                </a:rPr>
                <a:t>"Completed"</a:t>
              </a:r>
              <a:r>
                <a:rPr lang="en-US" sz="900" b="0" dirty="0">
                  <a:solidFill>
                    <a:srgbClr val="E2E8F0"/>
                  </a:solidFill>
                  <a:latin typeface="Consolas"/>
                  <a:ea typeface="Consolas"/>
                  <a:cs typeface="Consolas"/>
                </a:rPr>
                <a:t>);</a:t>
              </a:r>
              <a:endParaRPr lang="en-US" sz="900" dirty="0"/>
            </a:p>
          </p:txBody>
        </p:sp>
        <p:sp>
          <p:nvSpPr>
            <p:cNvPr id="116" name="q_L13"/>
            <p:cNvSpPr txBox="1"/>
            <p:nvPr/>
          </p:nvSpPr>
          <p:spPr>
            <a:xfrm>
              <a:off x="771754" y="4468980"/>
              <a:ext cx="568932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grpSp>
      <p:sp>
        <p:nvSpPr>
          <p:cNvPr id="118" name="c0"/>
          <p:cNvSpPr/>
          <p:nvPr/>
        </p:nvSpPr>
        <p:spPr>
          <a:xfrm>
            <a:off x="6766560" y="1783080"/>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A   </a:t>
            </a:r>
            <a:r>
              <a:rPr lang="en-US" sz="1150" b="0" dirty="0">
                <a:solidFill>
                  <a:srgbClr val="E2E8F0"/>
                </a:solidFill>
                <a:latin typeface="Segoe UI"/>
                <a:ea typeface="Segoe UI"/>
                <a:cs typeface="Segoe UI"/>
              </a:rPr>
              <a:t>It throws OperationCanceledException at once</a:t>
            </a:r>
            <a:endParaRPr lang="en-US" sz="1200" dirty="0"/>
          </a:p>
        </p:txBody>
      </p:sp>
      <p:sp>
        <p:nvSpPr>
          <p:cNvPr id="119" name="c1"/>
          <p:cNvSpPr/>
          <p:nvPr/>
        </p:nvSpPr>
        <p:spPr>
          <a:xfrm>
            <a:off x="6766560" y="2551176"/>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B   </a:t>
            </a:r>
            <a:r>
              <a:rPr lang="en-US" sz="1150" b="0" dirty="0">
                <a:solidFill>
                  <a:srgbClr val="E2E8F0"/>
                </a:solidFill>
                <a:latin typeface="Segoe UI"/>
                <a:ea typeface="Segoe UI"/>
                <a:cs typeface="Segoe UI"/>
              </a:rPr>
              <a:t>It prints "Completed" after 3 seconds</a:t>
            </a:r>
            <a:endParaRPr lang="en-US" sz="1200" dirty="0"/>
          </a:p>
        </p:txBody>
      </p:sp>
      <p:sp>
        <p:nvSpPr>
          <p:cNvPr id="120" name="c2"/>
          <p:cNvSpPr/>
          <p:nvPr/>
        </p:nvSpPr>
        <p:spPr>
          <a:xfrm>
            <a:off x="6766560" y="3319272"/>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C   </a:t>
            </a:r>
            <a:r>
              <a:rPr lang="en-US" sz="1150" b="0" dirty="0">
                <a:solidFill>
                  <a:srgbClr val="E2E8F0"/>
                </a:solidFill>
                <a:latin typeface="Segoe UI"/>
                <a:ea typeface="Segoe UI"/>
                <a:cs typeface="Segoe UI"/>
              </a:rPr>
              <a:t>It prints nothing: the task stops immediately</a:t>
            </a:r>
            <a:endParaRPr lang="en-US" sz="1200" dirty="0"/>
          </a:p>
        </p:txBody>
      </p:sp>
      <p:sp>
        <p:nvSpPr>
          <p:cNvPr id="121" name="c3"/>
          <p:cNvSpPr/>
          <p:nvPr/>
        </p:nvSpPr>
        <p:spPr>
          <a:xfrm>
            <a:off x="6766560" y="4087368"/>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D   </a:t>
            </a:r>
            <a:r>
              <a:rPr lang="en-US" sz="1150" b="0" dirty="0">
                <a:solidFill>
                  <a:srgbClr val="E2E8F0"/>
                </a:solidFill>
                <a:latin typeface="Segoe UI"/>
                <a:ea typeface="Segoe UI"/>
                <a:cs typeface="Segoe UI"/>
              </a:rPr>
              <a:t>Compile error: token is never used</a:t>
            </a:r>
            <a:endParaRPr lang="en-US" sz="1200" dirty="0"/>
          </a:p>
        </p:txBody>
      </p:sp>
      <p:sp>
        <p:nvSpPr>
          <p:cNvPr id="122" name="ok"/>
          <p:cNvSpPr/>
          <p:nvPr/>
        </p:nvSpPr>
        <p:spPr>
          <a:xfrm>
            <a:off x="6766560" y="2551176"/>
            <a:ext cx="4864608" cy="640080"/>
          </a:xfrm>
          <a:prstGeom prst="roundRect">
            <a:avLst>
              <a:gd name="adj" fmla="val 12000"/>
            </a:avLst>
          </a:prstGeom>
          <a:solidFill>
            <a:srgbClr val="34D399">
              <a:alpha val="16000"/>
            </a:srgbClr>
          </a:solidFill>
          <a:ln w="28575">
            <a:solidFill>
              <a:srgbClr val="34D399"/>
            </a:solidFill>
            <a:prstDash val="solid"/>
          </a:ln>
        </p:spPr>
        <p:txBody>
          <a:bodyPr/>
          <a:lstStyle/>
          <a:p>
            <a:endParaRPr lang="en-US"/>
          </a:p>
        </p:txBody>
      </p:sp>
      <p:sp>
        <p:nvSpPr>
          <p:cNvPr id="123" name="ans"/>
          <p:cNvSpPr/>
          <p:nvPr/>
        </p:nvSpPr>
        <p:spPr>
          <a:xfrm>
            <a:off x="543154" y="4983480"/>
            <a:ext cx="11087100" cy="868680"/>
          </a:xfrm>
          <a:prstGeom prst="roundRect">
            <a:avLst>
              <a:gd name="adj" fmla="val 12000"/>
            </a:avLst>
          </a:prstGeom>
          <a:solidFill>
            <a:srgbClr val="0C1628"/>
          </a:solidFill>
          <a:ln w="12700">
            <a:solidFill>
              <a:srgbClr val="34D399"/>
            </a:solidFill>
            <a:prstDash val="solid"/>
          </a:ln>
        </p:spPr>
        <p:txBody>
          <a:bodyPr wrap="square" lIns="209398" tIns="54864" rIns="209398" bIns="54864" rtlCol="0" anchor="ctr">
            <a:noAutofit/>
          </a:bodyPr>
          <a:lstStyle/>
          <a:p>
            <a:pPr marL="0" indent="0" algn="ctr">
              <a:spcBef>
                <a:spcPts val="0"/>
              </a:spcBef>
              <a:spcAft>
                <a:spcPts val="0"/>
              </a:spcAft>
              <a:buNone/>
            </a:pPr>
            <a:r>
              <a:rPr lang="en-US" sz="1300" b="1" dirty="0">
                <a:solidFill>
                  <a:srgbClr val="34D399"/>
                </a:solidFill>
                <a:latin typeface="Segoe UI"/>
                <a:ea typeface="Segoe UI"/>
                <a:cs typeface="Segoe UI"/>
              </a:rPr>
              <a:t>ANSWER B   </a:t>
            </a:r>
            <a:r>
              <a:rPr lang="en-US" sz="1250" b="0" dirty="0">
                <a:solidFill>
                  <a:srgbClr val="E2E8F0"/>
                </a:solidFill>
                <a:latin typeface="Segoe UI"/>
                <a:ea typeface="Segoe UI"/>
                <a:cs typeface="Segoe UI"/>
              </a:rPr>
              <a:t>Nobody listens to the token: Task.Delay never got it. Cancel() only asks.</a:t>
            </a:r>
            <a:endParaRPr lang="en-US" sz="1300" dirty="0"/>
          </a:p>
          <a:p>
            <a:pPr marL="0" indent="0" algn="ctr">
              <a:spcBef>
                <a:spcPts val="0"/>
              </a:spcBef>
              <a:spcAft>
                <a:spcPts val="0"/>
              </a:spcAft>
              <a:buNone/>
            </a:pPr>
            <a:r>
              <a:rPr lang="en-US" sz="1150" b="1" dirty="0">
                <a:solidFill>
                  <a:srgbClr val="34D399"/>
                </a:solidFill>
                <a:latin typeface="Segoe UI"/>
                <a:ea typeface="Segoe UI"/>
                <a:cs typeface="Segoe UI"/>
              </a:rPr>
              <a:t>Fix:  </a:t>
            </a:r>
            <a:r>
              <a:rPr lang="en-US" sz="1150" b="0" dirty="0">
                <a:solidFill>
                  <a:srgbClr val="13D0F7"/>
                </a:solidFill>
                <a:latin typeface="Consolas"/>
                <a:ea typeface="Consolas"/>
                <a:cs typeface="Consolas"/>
              </a:rPr>
              <a:t>await Task.Delay(3000, token);</a:t>
            </a:r>
            <a:r>
              <a:rPr lang="en-US" sz="1100" b="0" dirty="0">
                <a:solidFill>
                  <a:srgbClr val="CBD5E1"/>
                </a:solidFill>
                <a:latin typeface="Segoe UI"/>
                <a:ea typeface="Segoe UI"/>
                <a:cs typeface="Segoe UI"/>
              </a:rPr>
              <a:t>   → await task throws TaskCanceledException at once</a:t>
            </a:r>
            <a:endParaRPr lang="en-US" sz="1150" dirty="0"/>
          </a:p>
        </p:txBody>
      </p:sp>
    </p:spTree>
    <p:extLst>
      <p:ext uri="{BB962C8B-B14F-4D97-AF65-F5344CB8AC3E}">
        <p14:creationId xmlns:p14="http://schemas.microsoft.com/office/powerpoint/2010/main" val="7096047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4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400"/>
                                        <p:tgtEl>
                                          <p:spTgt spid="1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2"/>
                                        </p:tgtEl>
                                        <p:attrNameLst>
                                          <p:attrName>style.visibility</p:attrName>
                                        </p:attrNameLst>
                                      </p:cBhvr>
                                      <p:to>
                                        <p:strVal val="visible"/>
                                      </p:to>
                                    </p:set>
                                    <p:animEffect transition="in" filter="fade">
                                      <p:cBhvr>
                                        <p:cTn id="21" dur="400"/>
                                        <p:tgtEl>
                                          <p:spTgt spid="1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3"/>
                                        </p:tgtEl>
                                        <p:attrNameLst>
                                          <p:attrName>style.visibility</p:attrName>
                                        </p:attrNameLst>
                                      </p:cBhvr>
                                      <p:to>
                                        <p:strVal val="visible"/>
                                      </p:to>
                                    </p:set>
                                    <p:animEffect transition="in" filter="fade">
                                      <p:cBhvr>
                                        <p:cTn id="24" dur="4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19" grpId="0" animBg="1"/>
      <p:bldP spid="120" grpId="0" animBg="1"/>
      <p:bldP spid="121" grpId="0" animBg="1"/>
      <p:bldP spid="122" grpId="0" animBg="1"/>
      <p:bldP spid="12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908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LISTEN TO THE TOKEN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Fix: Listen to the Token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54</a:t>
            </a:r>
            <a:endParaRPr lang="en-US" sz="850" dirty="0"/>
          </a:p>
        </p:txBody>
      </p:sp>
      <p:grpSp>
        <p:nvGrpSpPr>
          <p:cNvPr id="119" name="dont"/>
          <p:cNvGrpSpPr/>
          <p:nvPr/>
        </p:nvGrpSpPr>
        <p:grpSpPr>
          <a:xfrm>
            <a:off x="543154" y="1572768"/>
            <a:ext cx="5440680" cy="3310128"/>
            <a:chOff x="543154" y="1572768"/>
            <a:chExt cx="5440680" cy="3310128"/>
          </a:xfrm>
        </p:grpSpPr>
        <p:sp>
          <p:nvSpPr>
            <p:cNvPr id="101" name="dont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using</a:t>
              </a:r>
              <a:r>
                <a:rPr lang="en-US" sz="820" b="0" dirty="0">
                  <a:solidFill>
                    <a:srgbClr val="E2E8F0"/>
                  </a:solidFill>
                  <a:latin typeface="Consolas"/>
                  <a:ea typeface="Consolas"/>
                  <a:cs typeface="Consolas"/>
                </a:rPr>
                <a:t> CancellationTokenSource cts = </a:t>
              </a:r>
              <a:r>
                <a:rPr lang="en-US" sz="820" b="0" dirty="0">
                  <a:solidFill>
                    <a:srgbClr val="60A5FA"/>
                  </a:solidFill>
                  <a:latin typeface="Consolas"/>
                  <a:ea typeface="Consolas"/>
                  <a:cs typeface="Consolas"/>
                </a:rPr>
                <a:t>new</a:t>
              </a:r>
              <a:r>
                <a:rPr lang="en-US" sz="820" b="0" dirty="0">
                  <a:solidFill>
                    <a:srgbClr val="E2E8F0"/>
                  </a:solidFill>
                  <a:latin typeface="Consolas"/>
                  <a:ea typeface="Consolas"/>
                  <a:cs typeface="Consolas"/>
                </a:rPr>
                <a:t>();</a:t>
              </a:r>
              <a:endParaRPr lang="en-US" sz="820" dirty="0"/>
            </a:p>
          </p:txBody>
        </p:sp>
        <p:sp>
          <p:nvSpPr>
            <p:cNvPr id="110" name="dont_L01"/>
            <p:cNvSpPr txBox="1"/>
            <p:nvPr/>
          </p:nvSpPr>
          <p:spPr>
            <a:xfrm>
              <a:off x="771754" y="21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Task task = DoWorkAsync(cts.Token);</a:t>
              </a:r>
              <a:endParaRPr lang="en-US" sz="820" dirty="0"/>
            </a:p>
          </p:txBody>
        </p:sp>
        <p:sp>
          <p:nvSpPr>
            <p:cNvPr id="111" name="dont_L02"/>
            <p:cNvSpPr txBox="1"/>
            <p:nvPr/>
          </p:nvSpPr>
          <p:spPr>
            <a:xfrm>
              <a:off x="771754" y="23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cts.Cancel();</a:t>
              </a:r>
              <a:endParaRPr lang="en-US" sz="820" dirty="0"/>
            </a:p>
          </p:txBody>
        </p:sp>
        <p:sp>
          <p:nvSpPr>
            <p:cNvPr id="112" name="dont_L03"/>
            <p:cNvSpPr txBox="1"/>
            <p:nvPr/>
          </p:nvSpPr>
          <p:spPr>
            <a:xfrm>
              <a:off x="771754" y="24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task;</a:t>
              </a:r>
              <a:endParaRPr lang="en-US" sz="820" dirty="0"/>
            </a:p>
          </p:txBody>
        </p:sp>
        <p:sp>
          <p:nvSpPr>
            <p:cNvPr id="113" name="dont_L05"/>
            <p:cNvSpPr txBox="1"/>
            <p:nvPr/>
          </p:nvSpPr>
          <p:spPr>
            <a:xfrm>
              <a:off x="771754" y="27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static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async</a:t>
              </a:r>
              <a:r>
                <a:rPr lang="en-US" sz="820" b="0" dirty="0">
                  <a:solidFill>
                    <a:srgbClr val="E2E8F0"/>
                  </a:solidFill>
                  <a:latin typeface="Consolas"/>
                  <a:ea typeface="Consolas"/>
                  <a:cs typeface="Consolas"/>
                </a:rPr>
                <a:t> Task DoWorkAsync(CancellationToken token)</a:t>
              </a:r>
              <a:endParaRPr lang="en-US" sz="820" dirty="0"/>
            </a:p>
          </p:txBody>
        </p:sp>
        <p:sp>
          <p:nvSpPr>
            <p:cNvPr id="114" name="dont_L06"/>
            <p:cNvSpPr txBox="1"/>
            <p:nvPr/>
          </p:nvSpPr>
          <p:spPr>
            <a:xfrm>
              <a:off x="771754" y="29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15" name="dont_L07"/>
            <p:cNvSpPr txBox="1"/>
            <p:nvPr/>
          </p:nvSpPr>
          <p:spPr>
            <a:xfrm>
              <a:off x="771754" y="309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Task.Delay(3000);            </a:t>
              </a:r>
              <a:r>
                <a:rPr lang="en-US" sz="820" b="0" dirty="0">
                  <a:solidFill>
                    <a:srgbClr val="6FAE7A"/>
                  </a:solidFill>
                  <a:latin typeface="Consolas"/>
                  <a:ea typeface="Consolas"/>
                  <a:cs typeface="Consolas"/>
                </a:rPr>
                <a:t>// token not passed</a:t>
              </a:r>
              <a:endParaRPr lang="en-US" sz="820" dirty="0"/>
            </a:p>
          </p:txBody>
        </p:sp>
        <p:sp>
          <p:nvSpPr>
            <p:cNvPr id="116" name="dont_L08"/>
            <p:cNvSpPr txBox="1"/>
            <p:nvPr/>
          </p:nvSpPr>
          <p:spPr>
            <a:xfrm>
              <a:off x="771754" y="324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Console.WriteLine(</a:t>
              </a:r>
              <a:r>
                <a:rPr lang="en-US" sz="820" b="0" dirty="0">
                  <a:solidFill>
                    <a:srgbClr val="F0A98B"/>
                  </a:solidFill>
                  <a:latin typeface="Consolas"/>
                  <a:ea typeface="Consolas"/>
                  <a:cs typeface="Consolas"/>
                </a:rPr>
                <a:t>"Completed"</a:t>
              </a:r>
              <a:r>
                <a:rPr lang="en-US" sz="820" b="0" dirty="0">
                  <a:solidFill>
                    <a:srgbClr val="E2E8F0"/>
                  </a:solidFill>
                  <a:latin typeface="Consolas"/>
                  <a:ea typeface="Consolas"/>
                  <a:cs typeface="Consolas"/>
                </a:rPr>
                <a:t>);</a:t>
              </a:r>
              <a:endParaRPr lang="en-US" sz="820" dirty="0"/>
            </a:p>
          </p:txBody>
        </p:sp>
        <p:sp>
          <p:nvSpPr>
            <p:cNvPr id="117" name="dont_L09"/>
            <p:cNvSpPr txBox="1"/>
            <p:nvPr/>
          </p:nvSpPr>
          <p:spPr>
            <a:xfrm>
              <a:off x="771754" y="33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18" name="dont_L11"/>
            <p:cNvSpPr txBox="1"/>
            <p:nvPr/>
          </p:nvSpPr>
          <p:spPr>
            <a:xfrm>
              <a:off x="771754" y="36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FAE7A"/>
                  </a:solidFill>
                  <a:latin typeface="Consolas"/>
                  <a:ea typeface="Consolas"/>
                  <a:cs typeface="Consolas"/>
                </a:rPr>
                <a:t>// Output after 3 s: Completed</a:t>
              </a:r>
              <a:endParaRPr lang="en-US" sz="820" dirty="0"/>
            </a:p>
          </p:txBody>
        </p:sp>
      </p:grpSp>
      <p:sp>
        <p:nvSpPr>
          <p:cNvPr id="120" name="dont_hl7"/>
          <p:cNvSpPr/>
          <p:nvPr/>
        </p:nvSpPr>
        <p:spPr>
          <a:xfrm>
            <a:off x="676656" y="3080380"/>
            <a:ext cx="517368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1" name="dont_hl11"/>
          <p:cNvSpPr/>
          <p:nvPr/>
        </p:nvSpPr>
        <p:spPr>
          <a:xfrm>
            <a:off x="676656" y="3680380"/>
            <a:ext cx="5173680" cy="186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47" name="do"/>
          <p:cNvGrpSpPr/>
          <p:nvPr/>
        </p:nvGrpSpPr>
        <p:grpSpPr>
          <a:xfrm>
            <a:off x="6189574" y="1572768"/>
            <a:ext cx="5440680" cy="3310128"/>
            <a:chOff x="6189574" y="1572768"/>
            <a:chExt cx="5440680" cy="3310128"/>
          </a:xfrm>
        </p:grpSpPr>
        <p:sp>
          <p:nvSpPr>
            <p:cNvPr id="122" name="do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3" name="do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do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5" name="do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do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do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do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29" name="do_lbl"/>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0" name="do_L00"/>
            <p:cNvSpPr txBox="1"/>
            <p:nvPr/>
          </p:nvSpPr>
          <p:spPr>
            <a:xfrm>
              <a:off x="6418174" y="20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using</a:t>
              </a:r>
              <a:r>
                <a:rPr lang="en-US" sz="820" b="0" dirty="0">
                  <a:solidFill>
                    <a:srgbClr val="E2E8F0"/>
                  </a:solidFill>
                  <a:latin typeface="Consolas"/>
                  <a:ea typeface="Consolas"/>
                  <a:cs typeface="Consolas"/>
                </a:rPr>
                <a:t> CancellationTokenSource cts = </a:t>
              </a:r>
              <a:r>
                <a:rPr lang="en-US" sz="820" b="0" dirty="0">
                  <a:solidFill>
                    <a:srgbClr val="60A5FA"/>
                  </a:solidFill>
                  <a:latin typeface="Consolas"/>
                  <a:ea typeface="Consolas"/>
                  <a:cs typeface="Consolas"/>
                </a:rPr>
                <a:t>new</a:t>
              </a:r>
              <a:r>
                <a:rPr lang="en-US" sz="820" b="0" dirty="0">
                  <a:solidFill>
                    <a:srgbClr val="E2E8F0"/>
                  </a:solidFill>
                  <a:latin typeface="Consolas"/>
                  <a:ea typeface="Consolas"/>
                  <a:cs typeface="Consolas"/>
                </a:rPr>
                <a:t>();</a:t>
              </a:r>
              <a:endParaRPr lang="en-US" sz="820" dirty="0"/>
            </a:p>
          </p:txBody>
        </p:sp>
        <p:sp>
          <p:nvSpPr>
            <p:cNvPr id="131" name="do_L01"/>
            <p:cNvSpPr txBox="1"/>
            <p:nvPr/>
          </p:nvSpPr>
          <p:spPr>
            <a:xfrm>
              <a:off x="6418174" y="21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Task task = DoWorkAsync(cts.Token);</a:t>
              </a:r>
              <a:endParaRPr lang="en-US" sz="820" dirty="0"/>
            </a:p>
          </p:txBody>
        </p:sp>
        <p:sp>
          <p:nvSpPr>
            <p:cNvPr id="132" name="do_L02"/>
            <p:cNvSpPr txBox="1"/>
            <p:nvPr/>
          </p:nvSpPr>
          <p:spPr>
            <a:xfrm>
              <a:off x="6418174" y="23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cts.Cancel();</a:t>
              </a:r>
              <a:endParaRPr lang="en-US" sz="820" dirty="0"/>
            </a:p>
          </p:txBody>
        </p:sp>
        <p:sp>
          <p:nvSpPr>
            <p:cNvPr id="133" name="do_L03"/>
            <p:cNvSpPr txBox="1"/>
            <p:nvPr/>
          </p:nvSpPr>
          <p:spPr>
            <a:xfrm>
              <a:off x="6418174" y="24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try</a:t>
              </a:r>
              <a:endParaRPr lang="en-US" sz="820" dirty="0"/>
            </a:p>
          </p:txBody>
        </p:sp>
        <p:sp>
          <p:nvSpPr>
            <p:cNvPr id="134" name="do_L04"/>
            <p:cNvSpPr txBox="1"/>
            <p:nvPr/>
          </p:nvSpPr>
          <p:spPr>
            <a:xfrm>
              <a:off x="6418174" y="26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35" name="do_L05"/>
            <p:cNvSpPr txBox="1"/>
            <p:nvPr/>
          </p:nvSpPr>
          <p:spPr>
            <a:xfrm>
              <a:off x="6418174" y="279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task;</a:t>
              </a:r>
              <a:endParaRPr lang="en-US" sz="820" dirty="0"/>
            </a:p>
          </p:txBody>
        </p:sp>
        <p:sp>
          <p:nvSpPr>
            <p:cNvPr id="136" name="do_L06"/>
            <p:cNvSpPr txBox="1"/>
            <p:nvPr/>
          </p:nvSpPr>
          <p:spPr>
            <a:xfrm>
              <a:off x="6418174" y="29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37" name="do_L07"/>
            <p:cNvSpPr txBox="1"/>
            <p:nvPr/>
          </p:nvSpPr>
          <p:spPr>
            <a:xfrm>
              <a:off x="6418174" y="30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catch</a:t>
              </a:r>
              <a:r>
                <a:rPr lang="en-US" sz="820" b="0" dirty="0">
                  <a:solidFill>
                    <a:srgbClr val="E2E8F0"/>
                  </a:solidFill>
                  <a:latin typeface="Consolas"/>
                  <a:ea typeface="Consolas"/>
                  <a:cs typeface="Consolas"/>
                </a:rPr>
                <a:t> (OperationCanceledException)</a:t>
              </a:r>
              <a:endParaRPr lang="en-US" sz="820" dirty="0"/>
            </a:p>
          </p:txBody>
        </p:sp>
        <p:sp>
          <p:nvSpPr>
            <p:cNvPr id="138" name="do_L08"/>
            <p:cNvSpPr txBox="1"/>
            <p:nvPr/>
          </p:nvSpPr>
          <p:spPr>
            <a:xfrm>
              <a:off x="6418174" y="32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39" name="do_L09"/>
            <p:cNvSpPr txBox="1"/>
            <p:nvPr/>
          </p:nvSpPr>
          <p:spPr>
            <a:xfrm>
              <a:off x="6418174" y="339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Console.WriteLine(</a:t>
              </a:r>
              <a:r>
                <a:rPr lang="en-US" sz="820" b="0" dirty="0">
                  <a:solidFill>
                    <a:srgbClr val="F0A98B"/>
                  </a:solidFill>
                  <a:latin typeface="Consolas"/>
                  <a:ea typeface="Consolas"/>
                  <a:cs typeface="Consolas"/>
                </a:rPr>
                <a:t>"Canceled"</a:t>
              </a:r>
              <a:r>
                <a:rPr lang="en-US" sz="820" b="0" dirty="0">
                  <a:solidFill>
                    <a:srgbClr val="E2E8F0"/>
                  </a:solidFill>
                  <a:latin typeface="Consolas"/>
                  <a:ea typeface="Consolas"/>
                  <a:cs typeface="Consolas"/>
                </a:rPr>
                <a:t>);     </a:t>
              </a:r>
              <a:r>
                <a:rPr lang="en-US" sz="820" b="0" dirty="0">
                  <a:solidFill>
                    <a:srgbClr val="6FAE7A"/>
                  </a:solidFill>
                  <a:latin typeface="Consolas"/>
                  <a:ea typeface="Consolas"/>
                  <a:cs typeface="Consolas"/>
                </a:rPr>
                <a:t>// status: Canceled</a:t>
              </a:r>
              <a:endParaRPr lang="en-US" sz="820" dirty="0"/>
            </a:p>
          </p:txBody>
        </p:sp>
        <p:sp>
          <p:nvSpPr>
            <p:cNvPr id="140" name="do_L10"/>
            <p:cNvSpPr txBox="1"/>
            <p:nvPr/>
          </p:nvSpPr>
          <p:spPr>
            <a:xfrm>
              <a:off x="6418174" y="35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1" name="do_L12"/>
            <p:cNvSpPr txBox="1"/>
            <p:nvPr/>
          </p:nvSpPr>
          <p:spPr>
            <a:xfrm>
              <a:off x="6418174" y="38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static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async</a:t>
              </a:r>
              <a:r>
                <a:rPr lang="en-US" sz="820" b="0" dirty="0">
                  <a:solidFill>
                    <a:srgbClr val="E2E8F0"/>
                  </a:solidFill>
                  <a:latin typeface="Consolas"/>
                  <a:ea typeface="Consolas"/>
                  <a:cs typeface="Consolas"/>
                </a:rPr>
                <a:t> Task DoWorkAsync(CancellationToken token)</a:t>
              </a:r>
              <a:endParaRPr lang="en-US" sz="820" dirty="0"/>
            </a:p>
          </p:txBody>
        </p:sp>
        <p:sp>
          <p:nvSpPr>
            <p:cNvPr id="142" name="do_L13"/>
            <p:cNvSpPr txBox="1"/>
            <p:nvPr/>
          </p:nvSpPr>
          <p:spPr>
            <a:xfrm>
              <a:off x="6418174" y="39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3" name="do_L14"/>
            <p:cNvSpPr txBox="1"/>
            <p:nvPr/>
          </p:nvSpPr>
          <p:spPr>
            <a:xfrm>
              <a:off x="6418174" y="414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Task.Delay(3000, token);     </a:t>
              </a:r>
              <a:r>
                <a:rPr lang="en-US" sz="820" b="0" dirty="0">
                  <a:solidFill>
                    <a:srgbClr val="6FAE7A"/>
                  </a:solidFill>
                  <a:latin typeface="Consolas"/>
                  <a:ea typeface="Consolas"/>
                  <a:cs typeface="Consolas"/>
                </a:rPr>
                <a:t>// listens: stops at once</a:t>
              </a:r>
              <a:endParaRPr lang="en-US" sz="820" dirty="0"/>
            </a:p>
          </p:txBody>
        </p:sp>
        <p:sp>
          <p:nvSpPr>
            <p:cNvPr id="144" name="do_L15"/>
            <p:cNvSpPr txBox="1"/>
            <p:nvPr/>
          </p:nvSpPr>
          <p:spPr>
            <a:xfrm>
              <a:off x="6418174" y="4298668"/>
              <a:ext cx="5140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Console.WriteLine(</a:t>
              </a:r>
              <a:r>
                <a:rPr lang="en-US" sz="820" b="0" dirty="0">
                  <a:solidFill>
                    <a:srgbClr val="F0A98B"/>
                  </a:solidFill>
                  <a:latin typeface="Consolas"/>
                  <a:ea typeface="Consolas"/>
                  <a:cs typeface="Consolas"/>
                </a:rPr>
                <a:t>"Completed"</a:t>
              </a:r>
              <a:r>
                <a:rPr lang="en-US" sz="820" b="0" dirty="0">
                  <a:solidFill>
                    <a:srgbClr val="E2E8F0"/>
                  </a:solidFill>
                  <a:latin typeface="Consolas"/>
                  <a:ea typeface="Consolas"/>
                  <a:cs typeface="Consolas"/>
                </a:rPr>
                <a:t>);    </a:t>
              </a:r>
              <a:r>
                <a:rPr lang="en-US" sz="820" b="0" dirty="0">
                  <a:solidFill>
                    <a:srgbClr val="6FAE7A"/>
                  </a:solidFill>
                  <a:latin typeface="Consolas"/>
                  <a:ea typeface="Consolas"/>
                  <a:cs typeface="Consolas"/>
                </a:rPr>
                <a:t>// never reached</a:t>
              </a:r>
              <a:endParaRPr lang="en-US" sz="820" dirty="0"/>
            </a:p>
          </p:txBody>
        </p:sp>
        <p:sp>
          <p:nvSpPr>
            <p:cNvPr id="145" name="do_L16"/>
            <p:cNvSpPr txBox="1"/>
            <p:nvPr/>
          </p:nvSpPr>
          <p:spPr>
            <a:xfrm>
              <a:off x="6418174" y="444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6" name="do_L17"/>
            <p:cNvSpPr txBox="1"/>
            <p:nvPr/>
          </p:nvSpPr>
          <p:spPr>
            <a:xfrm>
              <a:off x="6418174" y="4598668"/>
              <a:ext cx="5140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FAE7A"/>
                  </a:solidFill>
                  <a:latin typeface="Consolas"/>
                  <a:ea typeface="Consolas"/>
                  <a:cs typeface="Consolas"/>
                </a:rPr>
                <a:t>// Output at once: Canceled</a:t>
              </a:r>
              <a:endParaRPr lang="en-US" sz="820" dirty="0"/>
            </a:p>
          </p:txBody>
        </p:sp>
      </p:grpSp>
      <p:sp>
        <p:nvSpPr>
          <p:cNvPr id="148" name="do_hl7"/>
          <p:cNvSpPr/>
          <p:nvPr/>
        </p:nvSpPr>
        <p:spPr>
          <a:xfrm>
            <a:off x="6323076" y="3080380"/>
            <a:ext cx="517368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9" name="do_hl14"/>
          <p:cNvSpPr/>
          <p:nvPr/>
        </p:nvSpPr>
        <p:spPr>
          <a:xfrm>
            <a:off x="6323076" y="4130380"/>
            <a:ext cx="517368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0" name="do_hl17"/>
          <p:cNvSpPr/>
          <p:nvPr/>
        </p:nvSpPr>
        <p:spPr>
          <a:xfrm>
            <a:off x="6323076" y="4580380"/>
            <a:ext cx="5173680" cy="18657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51" name="arrow"/>
          <p:cNvCxnSpPr/>
          <p:nvPr/>
        </p:nvCxnSpPr>
        <p:spPr>
          <a:xfrm>
            <a:off x="6011266" y="3227832"/>
            <a:ext cx="150876" cy="0"/>
          </a:xfrm>
          <a:prstGeom prst="line">
            <a:avLst/>
          </a:prstGeom>
          <a:ln w="28575">
            <a:solidFill>
              <a:srgbClr val="13D0F7"/>
            </a:solidFill>
            <a:tailEnd type="triangle" w="med" len="med"/>
          </a:ln>
        </p:spPr>
      </p:cxnSp>
      <p:sp>
        <p:nvSpPr>
          <p:cNvPr id="152" name="why"/>
          <p:cNvSpPr/>
          <p:nvPr/>
        </p:nvSpPr>
        <p:spPr>
          <a:xfrm>
            <a:off x="543154" y="5020056"/>
            <a:ext cx="5440680" cy="103327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WHY IT FAILS</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The token arrived but was never passed on. Cancel() only asks; nothing was listening.</a:t>
            </a:r>
            <a:endParaRPr lang="en-US" sz="1150" dirty="0"/>
          </a:p>
        </p:txBody>
      </p:sp>
      <p:sp>
        <p:nvSpPr>
          <p:cNvPr id="153" name="when"/>
          <p:cNvSpPr/>
          <p:nvPr/>
        </p:nvSpPr>
        <p:spPr>
          <a:xfrm>
            <a:off x="6189574" y="5020056"/>
            <a:ext cx="5440680" cy="103327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USE IT WHEN</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Always: give the token to every async call that accepts one, and catch OperationCanceledException at the top.</a:t>
            </a:r>
            <a:endParaRPr lang="en-US" sz="1150" dirty="0"/>
          </a:p>
        </p:txBody>
      </p:sp>
    </p:spTree>
    <p:extLst>
      <p:ext uri="{BB962C8B-B14F-4D97-AF65-F5344CB8AC3E}">
        <p14:creationId xmlns:p14="http://schemas.microsoft.com/office/powerpoint/2010/main" val="401684157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400"/>
                                        <p:tgtEl>
                                          <p:spTgt spid="1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fade">
                                      <p:cBhvr>
                                        <p:cTn id="10" dur="400"/>
                                        <p:tgtEl>
                                          <p:spTgt spid="1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1"/>
                                        </p:tgtEl>
                                        <p:attrNameLst>
                                          <p:attrName>style.visibility</p:attrName>
                                        </p:attrNameLst>
                                      </p:cBhvr>
                                      <p:to>
                                        <p:strVal val="visible"/>
                                      </p:to>
                                    </p:set>
                                    <p:animEffect transition="in" filter="fade">
                                      <p:cBhvr>
                                        <p:cTn id="13" dur="400"/>
                                        <p:tgtEl>
                                          <p:spTgt spid="1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2"/>
                                        </p:tgtEl>
                                        <p:attrNameLst>
                                          <p:attrName>style.visibility</p:attrName>
                                        </p:attrNameLst>
                                      </p:cBhvr>
                                      <p:to>
                                        <p:strVal val="visible"/>
                                      </p:to>
                                    </p:set>
                                    <p:animEffect transition="in" filter="fade">
                                      <p:cBhvr>
                                        <p:cTn id="18" dur="400"/>
                                        <p:tgtEl>
                                          <p:spTgt spid="15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1"/>
                                        </p:tgtEl>
                                        <p:attrNameLst>
                                          <p:attrName>style.visibility</p:attrName>
                                        </p:attrNameLst>
                                      </p:cBhvr>
                                      <p:to>
                                        <p:strVal val="visible"/>
                                      </p:to>
                                    </p:set>
                                    <p:animEffect transition="in" filter="fade">
                                      <p:cBhvr>
                                        <p:cTn id="23" dur="400"/>
                                        <p:tgtEl>
                                          <p:spTgt spid="151"/>
                                        </p:tgtEl>
                                      </p:cBhvr>
                                    </p:animEffect>
                                  </p:childTnLst>
                                </p:cTn>
                              </p:par>
                              <p:par>
                                <p:cTn id="24" presetID="10" presetClass="entr" presetSubtype="0" fill="hold" nodeType="withEffect">
                                  <p:stCondLst>
                                    <p:cond delay="0"/>
                                  </p:stCondLst>
                                  <p:childTnLst>
                                    <p:set>
                                      <p:cBhvr>
                                        <p:cTn id="25" dur="1" fill="hold">
                                          <p:stCondLst>
                                            <p:cond delay="0"/>
                                          </p:stCondLst>
                                        </p:cTn>
                                        <p:tgtEl>
                                          <p:spTgt spid="147"/>
                                        </p:tgtEl>
                                        <p:attrNameLst>
                                          <p:attrName>style.visibility</p:attrName>
                                        </p:attrNameLst>
                                      </p:cBhvr>
                                      <p:to>
                                        <p:strVal val="visible"/>
                                      </p:to>
                                    </p:set>
                                    <p:animEffect transition="in" filter="fade">
                                      <p:cBhvr>
                                        <p:cTn id="26" dur="400"/>
                                        <p:tgtEl>
                                          <p:spTgt spid="14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8"/>
                                        </p:tgtEl>
                                        <p:attrNameLst>
                                          <p:attrName>style.visibility</p:attrName>
                                        </p:attrNameLst>
                                      </p:cBhvr>
                                      <p:to>
                                        <p:strVal val="visible"/>
                                      </p:to>
                                    </p:set>
                                    <p:animEffect transition="in" filter="fade">
                                      <p:cBhvr>
                                        <p:cTn id="29" dur="400"/>
                                        <p:tgtEl>
                                          <p:spTgt spid="14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9"/>
                                        </p:tgtEl>
                                        <p:attrNameLst>
                                          <p:attrName>style.visibility</p:attrName>
                                        </p:attrNameLst>
                                      </p:cBhvr>
                                      <p:to>
                                        <p:strVal val="visible"/>
                                      </p:to>
                                    </p:set>
                                    <p:animEffect transition="in" filter="fade">
                                      <p:cBhvr>
                                        <p:cTn id="32" dur="400"/>
                                        <p:tgtEl>
                                          <p:spTgt spid="14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0"/>
                                        </p:tgtEl>
                                        <p:attrNameLst>
                                          <p:attrName>style.visibility</p:attrName>
                                        </p:attrNameLst>
                                      </p:cBhvr>
                                      <p:to>
                                        <p:strVal val="visible"/>
                                      </p:to>
                                    </p:set>
                                    <p:animEffect transition="in" filter="fade">
                                      <p:cBhvr>
                                        <p:cTn id="35" dur="400"/>
                                        <p:tgtEl>
                                          <p:spTgt spid="15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3"/>
                                        </p:tgtEl>
                                        <p:attrNameLst>
                                          <p:attrName>style.visibility</p:attrName>
                                        </p:attrNameLst>
                                      </p:cBhvr>
                                      <p:to>
                                        <p:strVal val="visible"/>
                                      </p:to>
                                    </p:set>
                                    <p:animEffect transition="in" filter="fade">
                                      <p:cBhvr>
                                        <p:cTn id="40" dur="4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1" grpId="0" animBg="1"/>
      <p:bldP spid="148" grpId="0" animBg="1"/>
      <p:bldP spid="149" grpId="0" animBg="1"/>
      <p:bldP spid="150" grpId="0" animBg="1"/>
      <p:bldP spid="152" grpId="0" animBg="1"/>
      <p:bldP spid="15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REAL EXAMPLE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Upload a Video: 5%, 10%, 15%… Cancel!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60</a:t>
            </a:r>
            <a:endParaRPr lang="en-US" sz="850" dirty="0"/>
          </a:p>
        </p:txBody>
      </p:sp>
      <p:grpSp>
        <p:nvGrpSpPr>
          <p:cNvPr id="130" name="code"/>
          <p:cNvGrpSpPr/>
          <p:nvPr/>
        </p:nvGrpSpPr>
        <p:grpSpPr>
          <a:xfrm>
            <a:off x="543154" y="1536192"/>
            <a:ext cx="6035040" cy="4345900"/>
            <a:chOff x="543154" y="1536192"/>
            <a:chExt cx="6035040" cy="4345900"/>
          </a:xfrm>
        </p:grpSpPr>
        <p:sp>
          <p:nvSpPr>
            <p:cNvPr id="101" name="code_win"/>
            <p:cNvSpPr/>
            <p:nvPr/>
          </p:nvSpPr>
          <p:spPr>
            <a:xfrm>
              <a:off x="543154" y="1536192"/>
              <a:ext cx="6035040" cy="4345900"/>
            </a:xfrm>
            <a:prstGeom prst="roundRect">
              <a:avLst>
                <a:gd name="adj" fmla="val 1577"/>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36192"/>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07642"/>
              <a:ext cx="603504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60002"/>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60002"/>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60002"/>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83741"/>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VideoUpload.cs</a:t>
              </a:r>
              <a:endParaRPr lang="en-US" sz="950" dirty="0"/>
            </a:p>
          </p:txBody>
        </p:sp>
        <p:sp>
          <p:nvSpPr>
            <p:cNvPr id="108" name="code_L00"/>
            <p:cNvSpPr txBox="1"/>
            <p:nvPr/>
          </p:nvSpPr>
          <p:spPr>
            <a:xfrm>
              <a:off x="771754" y="201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using</a:t>
              </a:r>
              <a:r>
                <a:rPr lang="en-US" sz="820" b="0" dirty="0">
                  <a:solidFill>
                    <a:srgbClr val="E2E8F0"/>
                  </a:solidFill>
                  <a:latin typeface="Consolas"/>
                  <a:ea typeface="Consolas"/>
                  <a:cs typeface="Consolas"/>
                </a:rPr>
                <a:t> CancellationTokenSource cts = </a:t>
              </a:r>
              <a:r>
                <a:rPr lang="en-US" sz="820" b="0" dirty="0">
                  <a:solidFill>
                    <a:srgbClr val="60A5FA"/>
                  </a:solidFill>
                  <a:latin typeface="Consolas"/>
                  <a:ea typeface="Consolas"/>
                  <a:cs typeface="Consolas"/>
                </a:rPr>
                <a:t>new</a:t>
              </a:r>
              <a:r>
                <a:rPr lang="en-US" sz="820" b="0" dirty="0">
                  <a:solidFill>
                    <a:srgbClr val="E2E8F0"/>
                  </a:solidFill>
                  <a:latin typeface="Consolas"/>
                  <a:ea typeface="Consolas"/>
                  <a:cs typeface="Consolas"/>
                </a:rPr>
                <a:t>();</a:t>
              </a:r>
              <a:endParaRPr lang="en-US" sz="820" dirty="0"/>
            </a:p>
          </p:txBody>
        </p:sp>
        <p:sp>
          <p:nvSpPr>
            <p:cNvPr id="109" name="code_L01"/>
            <p:cNvSpPr txBox="1"/>
            <p:nvPr/>
          </p:nvSpPr>
          <p:spPr>
            <a:xfrm>
              <a:off x="771754" y="216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Task upload = UploadVideoAsync(</a:t>
              </a:r>
              <a:r>
                <a:rPr lang="en-US" sz="820" b="0" dirty="0">
                  <a:solidFill>
                    <a:srgbClr val="F0A98B"/>
                  </a:solidFill>
                  <a:latin typeface="Consolas"/>
                  <a:ea typeface="Consolas"/>
                  <a:cs typeface="Consolas"/>
                </a:rPr>
                <a:t>"trip.mp4"</a:t>
              </a:r>
              <a:r>
                <a:rPr lang="en-US" sz="820" b="0" dirty="0">
                  <a:solidFill>
                    <a:srgbClr val="E2E8F0"/>
                  </a:solidFill>
                  <a:latin typeface="Consolas"/>
                  <a:ea typeface="Consolas"/>
                  <a:cs typeface="Consolas"/>
                </a:rPr>
                <a:t>, cts.Token);</a:t>
              </a:r>
              <a:endParaRPr lang="en-US" sz="820" dirty="0"/>
            </a:p>
          </p:txBody>
        </p:sp>
        <p:sp>
          <p:nvSpPr>
            <p:cNvPr id="110" name="code_L03"/>
            <p:cNvSpPr txBox="1"/>
            <p:nvPr/>
          </p:nvSpPr>
          <p:spPr>
            <a:xfrm>
              <a:off x="771754" y="246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Task cancelButton = Task.Run(() =&gt; Console.ReadKey(</a:t>
              </a:r>
              <a:r>
                <a:rPr lang="en-US" sz="820" b="0" dirty="0">
                  <a:solidFill>
                    <a:srgbClr val="60A5FA"/>
                  </a:solidFill>
                  <a:latin typeface="Consolas"/>
                  <a:ea typeface="Consolas"/>
                  <a:cs typeface="Consolas"/>
                </a:rPr>
                <a:t>true</a:t>
              </a:r>
              <a:r>
                <a:rPr lang="en-US" sz="820" b="0" dirty="0">
                  <a:solidFill>
                    <a:srgbClr val="E2E8F0"/>
                  </a:solidFill>
                  <a:latin typeface="Consolas"/>
                  <a:ea typeface="Consolas"/>
                  <a:cs typeface="Consolas"/>
                </a:rPr>
                <a:t>));</a:t>
              </a:r>
              <a:endParaRPr lang="en-US" sz="820" dirty="0"/>
            </a:p>
          </p:txBody>
        </p:sp>
        <p:sp>
          <p:nvSpPr>
            <p:cNvPr id="111" name="code_L04"/>
            <p:cNvSpPr txBox="1"/>
            <p:nvPr/>
          </p:nvSpPr>
          <p:spPr>
            <a:xfrm>
              <a:off x="771754" y="261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if</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Task.WhenAny(upload, cancelButton) == cancelButton)</a:t>
              </a:r>
              <a:endParaRPr lang="en-US" sz="820" dirty="0"/>
            </a:p>
          </p:txBody>
        </p:sp>
        <p:sp>
          <p:nvSpPr>
            <p:cNvPr id="112" name="code_L05"/>
            <p:cNvSpPr txBox="1"/>
            <p:nvPr/>
          </p:nvSpPr>
          <p:spPr>
            <a:xfrm>
              <a:off x="771754" y="2762092"/>
              <a:ext cx="57350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cts.Cancel();                        </a:t>
              </a:r>
              <a:r>
                <a:rPr lang="en-US" sz="820" b="0" dirty="0">
                  <a:solidFill>
                    <a:srgbClr val="6FAE7A"/>
                  </a:solidFill>
                  <a:latin typeface="Consolas"/>
                  <a:ea typeface="Consolas"/>
                  <a:cs typeface="Consolas"/>
                </a:rPr>
                <a:t>// the user pressed Cancel</a:t>
              </a:r>
              <a:endParaRPr lang="en-US" sz="820" dirty="0"/>
            </a:p>
          </p:txBody>
        </p:sp>
        <p:sp>
          <p:nvSpPr>
            <p:cNvPr id="113" name="code_L07"/>
            <p:cNvSpPr txBox="1"/>
            <p:nvPr/>
          </p:nvSpPr>
          <p:spPr>
            <a:xfrm>
              <a:off x="771754" y="306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try</a:t>
              </a:r>
              <a:endParaRPr lang="en-US" sz="820" dirty="0"/>
            </a:p>
          </p:txBody>
        </p:sp>
        <p:sp>
          <p:nvSpPr>
            <p:cNvPr id="114" name="code_L08"/>
            <p:cNvSpPr txBox="1"/>
            <p:nvPr/>
          </p:nvSpPr>
          <p:spPr>
            <a:xfrm>
              <a:off x="771754" y="321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15" name="code_L09"/>
            <p:cNvSpPr txBox="1"/>
            <p:nvPr/>
          </p:nvSpPr>
          <p:spPr>
            <a:xfrm>
              <a:off x="771754" y="3362092"/>
              <a:ext cx="57350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upload;</a:t>
              </a:r>
              <a:endParaRPr lang="en-US" sz="820" dirty="0"/>
            </a:p>
          </p:txBody>
        </p:sp>
        <p:sp>
          <p:nvSpPr>
            <p:cNvPr id="116" name="code_L10"/>
            <p:cNvSpPr txBox="1"/>
            <p:nvPr/>
          </p:nvSpPr>
          <p:spPr>
            <a:xfrm>
              <a:off x="771754" y="3512092"/>
              <a:ext cx="57350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Console.WriteLine(</a:t>
              </a:r>
              <a:r>
                <a:rPr lang="en-US" sz="820" b="0" dirty="0">
                  <a:solidFill>
                    <a:srgbClr val="F0A98B"/>
                  </a:solidFill>
                  <a:latin typeface="Consolas"/>
                  <a:ea typeface="Consolas"/>
                  <a:cs typeface="Consolas"/>
                </a:rPr>
                <a:t>"Upload complete"</a:t>
              </a:r>
              <a:r>
                <a:rPr lang="en-US" sz="820" b="0" dirty="0">
                  <a:solidFill>
                    <a:srgbClr val="E2E8F0"/>
                  </a:solidFill>
                  <a:latin typeface="Consolas"/>
                  <a:ea typeface="Consolas"/>
                  <a:cs typeface="Consolas"/>
                </a:rPr>
                <a:t>);</a:t>
              </a:r>
              <a:endParaRPr lang="en-US" sz="820" dirty="0"/>
            </a:p>
          </p:txBody>
        </p:sp>
        <p:sp>
          <p:nvSpPr>
            <p:cNvPr id="117" name="code_L11"/>
            <p:cNvSpPr txBox="1"/>
            <p:nvPr/>
          </p:nvSpPr>
          <p:spPr>
            <a:xfrm>
              <a:off x="771754" y="366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18" name="code_L12"/>
            <p:cNvSpPr txBox="1"/>
            <p:nvPr/>
          </p:nvSpPr>
          <p:spPr>
            <a:xfrm>
              <a:off x="771754" y="381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catch</a:t>
              </a:r>
              <a:r>
                <a:rPr lang="en-US" sz="820" b="0" dirty="0">
                  <a:solidFill>
                    <a:srgbClr val="E2E8F0"/>
                  </a:solidFill>
                  <a:latin typeface="Consolas"/>
                  <a:ea typeface="Consolas"/>
                  <a:cs typeface="Consolas"/>
                </a:rPr>
                <a:t> (OperationCanceledException)</a:t>
              </a:r>
              <a:endParaRPr lang="en-US" sz="820" dirty="0"/>
            </a:p>
          </p:txBody>
        </p:sp>
        <p:sp>
          <p:nvSpPr>
            <p:cNvPr id="119" name="code_L13"/>
            <p:cNvSpPr txBox="1"/>
            <p:nvPr/>
          </p:nvSpPr>
          <p:spPr>
            <a:xfrm>
              <a:off x="771754" y="396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20" name="code_L14"/>
            <p:cNvSpPr txBox="1"/>
            <p:nvPr/>
          </p:nvSpPr>
          <p:spPr>
            <a:xfrm>
              <a:off x="771754" y="4112092"/>
              <a:ext cx="57350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Console.WriteLine(</a:t>
              </a:r>
              <a:r>
                <a:rPr lang="en-US" sz="820" b="0" dirty="0">
                  <a:solidFill>
                    <a:srgbClr val="F0A98B"/>
                  </a:solidFill>
                  <a:latin typeface="Consolas"/>
                  <a:ea typeface="Consolas"/>
                  <a:cs typeface="Consolas"/>
                </a:rPr>
                <a:t>"Upload canceled"</a:t>
              </a:r>
              <a:r>
                <a:rPr lang="en-US" sz="820" b="0" dirty="0">
                  <a:solidFill>
                    <a:srgbClr val="E2E8F0"/>
                  </a:solidFill>
                  <a:latin typeface="Consolas"/>
                  <a:ea typeface="Consolas"/>
                  <a:cs typeface="Consolas"/>
                </a:rPr>
                <a:t>);</a:t>
              </a:r>
              <a:endParaRPr lang="en-US" sz="820" dirty="0"/>
            </a:p>
          </p:txBody>
        </p:sp>
        <p:sp>
          <p:nvSpPr>
            <p:cNvPr id="121" name="code_L15"/>
            <p:cNvSpPr txBox="1"/>
            <p:nvPr/>
          </p:nvSpPr>
          <p:spPr>
            <a:xfrm>
              <a:off x="771754" y="426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22" name="code_L17"/>
            <p:cNvSpPr txBox="1"/>
            <p:nvPr/>
          </p:nvSpPr>
          <p:spPr>
            <a:xfrm>
              <a:off x="771754" y="456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static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async</a:t>
              </a:r>
              <a:r>
                <a:rPr lang="en-US" sz="820" b="0" dirty="0">
                  <a:solidFill>
                    <a:srgbClr val="E2E8F0"/>
                  </a:solidFill>
                  <a:latin typeface="Consolas"/>
                  <a:ea typeface="Consolas"/>
                  <a:cs typeface="Consolas"/>
                </a:rPr>
                <a:t> Task UploadVideoAsync(</a:t>
              </a:r>
              <a:r>
                <a:rPr lang="en-US" sz="820" b="0" dirty="0">
                  <a:solidFill>
                    <a:srgbClr val="60A5FA"/>
                  </a:solidFill>
                  <a:latin typeface="Consolas"/>
                  <a:ea typeface="Consolas"/>
                  <a:cs typeface="Consolas"/>
                </a:rPr>
                <a:t>string</a:t>
              </a:r>
              <a:r>
                <a:rPr lang="en-US" sz="820" b="0" dirty="0">
                  <a:solidFill>
                    <a:srgbClr val="E2E8F0"/>
                  </a:solidFill>
                  <a:latin typeface="Consolas"/>
                  <a:ea typeface="Consolas"/>
                  <a:cs typeface="Consolas"/>
                </a:rPr>
                <a:t> file, CancellationToken token)</a:t>
              </a:r>
              <a:endParaRPr lang="en-US" sz="820" dirty="0"/>
            </a:p>
          </p:txBody>
        </p:sp>
        <p:sp>
          <p:nvSpPr>
            <p:cNvPr id="123" name="code_L18"/>
            <p:cNvSpPr txBox="1"/>
            <p:nvPr/>
          </p:nvSpPr>
          <p:spPr>
            <a:xfrm>
              <a:off x="771754" y="471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24" name="code_L19"/>
            <p:cNvSpPr txBox="1"/>
            <p:nvPr/>
          </p:nvSpPr>
          <p:spPr>
            <a:xfrm>
              <a:off x="771754" y="4862092"/>
              <a:ext cx="57350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for</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int</a:t>
              </a:r>
              <a:r>
                <a:rPr lang="en-US" sz="820" b="0" dirty="0">
                  <a:solidFill>
                    <a:srgbClr val="E2E8F0"/>
                  </a:solidFill>
                  <a:latin typeface="Consolas"/>
                  <a:ea typeface="Consolas"/>
                  <a:cs typeface="Consolas"/>
                </a:rPr>
                <a:t> percent = 5; percent &lt;= 100; percent += 5)</a:t>
              </a:r>
              <a:endParaRPr lang="en-US" sz="820" dirty="0"/>
            </a:p>
          </p:txBody>
        </p:sp>
        <p:sp>
          <p:nvSpPr>
            <p:cNvPr id="125" name="code_L20"/>
            <p:cNvSpPr txBox="1"/>
            <p:nvPr/>
          </p:nvSpPr>
          <p:spPr>
            <a:xfrm>
              <a:off x="771754" y="5012092"/>
              <a:ext cx="57350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26" name="code_L21"/>
            <p:cNvSpPr txBox="1"/>
            <p:nvPr/>
          </p:nvSpPr>
          <p:spPr>
            <a:xfrm>
              <a:off x="771754" y="5162092"/>
              <a:ext cx="57350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Task.Delay(300, token);    </a:t>
              </a:r>
              <a:r>
                <a:rPr lang="en-US" sz="820" b="0" dirty="0">
                  <a:solidFill>
                    <a:srgbClr val="6FAE7A"/>
                  </a:solidFill>
                  <a:latin typeface="Consolas"/>
                  <a:ea typeface="Consolas"/>
                  <a:cs typeface="Consolas"/>
                </a:rPr>
                <a:t>// send one chunk</a:t>
              </a:r>
              <a:endParaRPr lang="en-US" sz="820" dirty="0"/>
            </a:p>
          </p:txBody>
        </p:sp>
        <p:sp>
          <p:nvSpPr>
            <p:cNvPr id="127" name="code_L22"/>
            <p:cNvSpPr txBox="1"/>
            <p:nvPr/>
          </p:nvSpPr>
          <p:spPr>
            <a:xfrm>
              <a:off x="771754" y="5312092"/>
              <a:ext cx="57350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E2E8F0"/>
                  </a:solidFill>
                  <a:latin typeface="Consolas"/>
                  <a:ea typeface="Consolas"/>
                  <a:cs typeface="Consolas"/>
                </a:rPr>
                <a:t>Console.WriteLine(</a:t>
              </a:r>
              <a:r>
                <a:rPr lang="en-US" sz="820" b="0" dirty="0">
                  <a:solidFill>
                    <a:srgbClr val="F0A98B"/>
                  </a:solidFill>
                  <a:latin typeface="Consolas"/>
                  <a:ea typeface="Consolas"/>
                  <a:cs typeface="Consolas"/>
                </a:rPr>
                <a:t>$"{file}: {percent}%"</a:t>
              </a:r>
              <a:r>
                <a:rPr lang="en-US" sz="820" b="0" dirty="0">
                  <a:solidFill>
                    <a:srgbClr val="E2E8F0"/>
                  </a:solidFill>
                  <a:latin typeface="Consolas"/>
                  <a:ea typeface="Consolas"/>
                  <a:cs typeface="Consolas"/>
                </a:rPr>
                <a:t>);</a:t>
              </a:r>
              <a:endParaRPr lang="en-US" sz="820" dirty="0"/>
            </a:p>
          </p:txBody>
        </p:sp>
        <p:sp>
          <p:nvSpPr>
            <p:cNvPr id="128" name="code_L23"/>
            <p:cNvSpPr txBox="1"/>
            <p:nvPr/>
          </p:nvSpPr>
          <p:spPr>
            <a:xfrm>
              <a:off x="771754" y="5462092"/>
              <a:ext cx="57350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29" name="code_L24"/>
            <p:cNvSpPr txBox="1"/>
            <p:nvPr/>
          </p:nvSpPr>
          <p:spPr>
            <a:xfrm>
              <a:off x="771754" y="5612092"/>
              <a:ext cx="57350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grpSp>
      <p:sp>
        <p:nvSpPr>
          <p:cNvPr id="131" name="code_hl3"/>
          <p:cNvSpPr/>
          <p:nvPr/>
        </p:nvSpPr>
        <p:spPr>
          <a:xfrm>
            <a:off x="676656" y="2443804"/>
            <a:ext cx="5768040" cy="186576"/>
          </a:xfrm>
          <a:prstGeom prst="rect">
            <a:avLst/>
          </a:prstGeom>
          <a:solidFill>
            <a:srgbClr val="FBBF24">
              <a:alpha val="15000"/>
            </a:srgbClr>
          </a:solidFill>
          <a:ln w="12700">
            <a:solidFill>
              <a:srgbClr val="FBBF24"/>
            </a:solidFill>
            <a:prstDash val="solid"/>
          </a:ln>
        </p:spPr>
        <p:txBody>
          <a:bodyPr/>
          <a:lstStyle/>
          <a:p>
            <a:endParaRPr lang="en-US" dirty="0"/>
          </a:p>
        </p:txBody>
      </p:sp>
      <p:sp>
        <p:nvSpPr>
          <p:cNvPr id="132" name="code_hl5"/>
          <p:cNvSpPr/>
          <p:nvPr/>
        </p:nvSpPr>
        <p:spPr>
          <a:xfrm>
            <a:off x="676656" y="2743804"/>
            <a:ext cx="576804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33" name="code_hl12"/>
          <p:cNvSpPr/>
          <p:nvPr/>
        </p:nvSpPr>
        <p:spPr>
          <a:xfrm>
            <a:off x="676656" y="3793804"/>
            <a:ext cx="576804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4" name="code_hl21"/>
          <p:cNvSpPr/>
          <p:nvPr/>
        </p:nvSpPr>
        <p:spPr>
          <a:xfrm>
            <a:off x="676656" y="5143804"/>
            <a:ext cx="576804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5" name="fl"/>
          <p:cNvSpPr txBox="1"/>
          <p:nvPr/>
        </p:nvSpPr>
        <p:spPr>
          <a:xfrm>
            <a:off x="6812280" y="1517904"/>
            <a:ext cx="4817974"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FFFFF"/>
                </a:solidFill>
                <a:latin typeface="Consolas"/>
                <a:ea typeface="Consolas"/>
                <a:cs typeface="Consolas"/>
              </a:rPr>
              <a:t>trip.mp4</a:t>
            </a:r>
            <a:r>
              <a:rPr lang="en-US" sz="1050" b="0" dirty="0">
                <a:solidFill>
                  <a:srgbClr val="94A3B8"/>
                </a:solidFill>
                <a:latin typeface="Segoe UI"/>
                <a:ea typeface="Segoe UI"/>
                <a:cs typeface="Segoe UI"/>
              </a:rPr>
              <a:t>   uploading…</a:t>
            </a:r>
            <a:endParaRPr lang="en-US" sz="1150" dirty="0"/>
          </a:p>
        </p:txBody>
      </p:sp>
      <p:sp>
        <p:nvSpPr>
          <p:cNvPr id="136" name="bar"/>
          <p:cNvSpPr/>
          <p:nvPr/>
        </p:nvSpPr>
        <p:spPr>
          <a:xfrm>
            <a:off x="6812280" y="1828800"/>
            <a:ext cx="4817974" cy="384048"/>
          </a:xfrm>
          <a:prstGeom prst="roundRect">
            <a:avLst>
              <a:gd name="adj" fmla="val 20000"/>
            </a:avLst>
          </a:prstGeom>
          <a:solidFill>
            <a:srgbClr val="0B1424"/>
          </a:solidFill>
          <a:ln w="12700">
            <a:solidFill>
              <a:srgbClr val="1E3A5F"/>
            </a:solidFill>
            <a:prstDash val="solid"/>
          </a:ln>
        </p:spPr>
        <p:txBody>
          <a:bodyPr/>
          <a:lstStyle/>
          <a:p>
            <a:endParaRPr lang="en-US"/>
          </a:p>
        </p:txBody>
      </p:sp>
      <p:sp>
        <p:nvSpPr>
          <p:cNvPr id="137" name="g0"/>
          <p:cNvSpPr/>
          <p:nvPr/>
        </p:nvSpPr>
        <p:spPr>
          <a:xfrm>
            <a:off x="6848856" y="1874520"/>
            <a:ext cx="218953" cy="292608"/>
          </a:xfrm>
          <a:prstGeom prst="roundRect">
            <a:avLst>
              <a:gd name="adj" fmla="val 10000"/>
            </a:avLst>
          </a:prstGeom>
          <a:solidFill>
            <a:srgbClr val="34D399"/>
          </a:solidFill>
          <a:ln w="12700">
            <a:solidFill>
              <a:srgbClr val="34D399"/>
            </a:solidFill>
            <a:prstDash val="solid"/>
          </a:ln>
        </p:spPr>
        <p:txBody>
          <a:bodyPr/>
          <a:lstStyle/>
          <a:p>
            <a:endParaRPr lang="en-US"/>
          </a:p>
        </p:txBody>
      </p:sp>
      <p:sp>
        <p:nvSpPr>
          <p:cNvPr id="138" name="g1"/>
          <p:cNvSpPr/>
          <p:nvPr/>
        </p:nvSpPr>
        <p:spPr>
          <a:xfrm>
            <a:off x="7086097" y="1874520"/>
            <a:ext cx="218953" cy="292608"/>
          </a:xfrm>
          <a:prstGeom prst="roundRect">
            <a:avLst>
              <a:gd name="adj" fmla="val 10000"/>
            </a:avLst>
          </a:prstGeom>
          <a:solidFill>
            <a:srgbClr val="34D399"/>
          </a:solidFill>
          <a:ln w="12700">
            <a:solidFill>
              <a:srgbClr val="34D399"/>
            </a:solidFill>
            <a:prstDash val="solid"/>
          </a:ln>
        </p:spPr>
        <p:txBody>
          <a:bodyPr/>
          <a:lstStyle/>
          <a:p>
            <a:endParaRPr lang="en-US"/>
          </a:p>
        </p:txBody>
      </p:sp>
      <p:sp>
        <p:nvSpPr>
          <p:cNvPr id="139" name="g2"/>
          <p:cNvSpPr/>
          <p:nvPr/>
        </p:nvSpPr>
        <p:spPr>
          <a:xfrm>
            <a:off x="7323338" y="1874520"/>
            <a:ext cx="218953" cy="292608"/>
          </a:xfrm>
          <a:prstGeom prst="roundRect">
            <a:avLst>
              <a:gd name="adj" fmla="val 10000"/>
            </a:avLst>
          </a:prstGeom>
          <a:solidFill>
            <a:srgbClr val="34D399"/>
          </a:solidFill>
          <a:ln w="12700">
            <a:solidFill>
              <a:srgbClr val="34D399"/>
            </a:solidFill>
            <a:prstDash val="solid"/>
          </a:ln>
        </p:spPr>
        <p:txBody>
          <a:bodyPr/>
          <a:lstStyle/>
          <a:p>
            <a:endParaRPr lang="en-US"/>
          </a:p>
        </p:txBody>
      </p:sp>
      <p:sp>
        <p:nvSpPr>
          <p:cNvPr id="140" name="g3"/>
          <p:cNvSpPr/>
          <p:nvPr/>
        </p:nvSpPr>
        <p:spPr>
          <a:xfrm>
            <a:off x="7560579" y="1874520"/>
            <a:ext cx="218953" cy="292608"/>
          </a:xfrm>
          <a:prstGeom prst="roundRect">
            <a:avLst>
              <a:gd name="adj" fmla="val 10000"/>
            </a:avLst>
          </a:prstGeom>
          <a:solidFill>
            <a:srgbClr val="34D399"/>
          </a:solidFill>
          <a:ln w="12700">
            <a:solidFill>
              <a:srgbClr val="34D399"/>
            </a:solidFill>
            <a:prstDash val="solid"/>
          </a:ln>
        </p:spPr>
        <p:txBody>
          <a:bodyPr/>
          <a:lstStyle/>
          <a:p>
            <a:endParaRPr lang="en-US"/>
          </a:p>
        </p:txBody>
      </p:sp>
      <p:sp>
        <p:nvSpPr>
          <p:cNvPr id="141" name="g4"/>
          <p:cNvSpPr/>
          <p:nvPr/>
        </p:nvSpPr>
        <p:spPr>
          <a:xfrm>
            <a:off x="7797820" y="1874520"/>
            <a:ext cx="218953" cy="292608"/>
          </a:xfrm>
          <a:prstGeom prst="roundRect">
            <a:avLst>
              <a:gd name="adj" fmla="val 10000"/>
            </a:avLst>
          </a:prstGeom>
          <a:solidFill>
            <a:srgbClr val="34D399"/>
          </a:solidFill>
          <a:ln w="12700">
            <a:solidFill>
              <a:srgbClr val="34D399"/>
            </a:solidFill>
            <a:prstDash val="solid"/>
          </a:ln>
        </p:spPr>
        <p:txBody>
          <a:bodyPr/>
          <a:lstStyle/>
          <a:p>
            <a:endParaRPr lang="en-US"/>
          </a:p>
        </p:txBody>
      </p:sp>
      <p:sp>
        <p:nvSpPr>
          <p:cNvPr id="142" name="g5"/>
          <p:cNvSpPr/>
          <p:nvPr/>
        </p:nvSpPr>
        <p:spPr>
          <a:xfrm>
            <a:off x="8035061" y="1874520"/>
            <a:ext cx="218953" cy="292608"/>
          </a:xfrm>
          <a:prstGeom prst="roundRect">
            <a:avLst>
              <a:gd name="adj" fmla="val 10000"/>
            </a:avLst>
          </a:prstGeom>
          <a:solidFill>
            <a:srgbClr val="34D399"/>
          </a:solidFill>
          <a:ln w="12700">
            <a:solidFill>
              <a:srgbClr val="34D399"/>
            </a:solidFill>
            <a:prstDash val="solid"/>
          </a:ln>
        </p:spPr>
        <p:txBody>
          <a:bodyPr/>
          <a:lstStyle/>
          <a:p>
            <a:endParaRPr lang="en-US"/>
          </a:p>
        </p:txBody>
      </p:sp>
      <p:sp>
        <p:nvSpPr>
          <p:cNvPr id="143" name="g6"/>
          <p:cNvSpPr/>
          <p:nvPr/>
        </p:nvSpPr>
        <p:spPr>
          <a:xfrm>
            <a:off x="8272302" y="1874520"/>
            <a:ext cx="218953" cy="292608"/>
          </a:xfrm>
          <a:prstGeom prst="roundRect">
            <a:avLst>
              <a:gd name="adj" fmla="val 10000"/>
            </a:avLst>
          </a:prstGeom>
          <a:solidFill>
            <a:srgbClr val="34D399"/>
          </a:solidFill>
          <a:ln w="12700">
            <a:solidFill>
              <a:srgbClr val="34D399"/>
            </a:solidFill>
            <a:prstDash val="solid"/>
          </a:ln>
        </p:spPr>
        <p:txBody>
          <a:bodyPr/>
          <a:lstStyle/>
          <a:p>
            <a:endParaRPr lang="en-US"/>
          </a:p>
        </p:txBody>
      </p:sp>
      <p:grpSp>
        <p:nvGrpSpPr>
          <p:cNvPr id="151" name="out"/>
          <p:cNvGrpSpPr/>
          <p:nvPr/>
        </p:nvGrpSpPr>
        <p:grpSpPr>
          <a:xfrm>
            <a:off x="6812280" y="2395728"/>
            <a:ext cx="4817974" cy="2140220"/>
            <a:chOff x="6812280" y="2395728"/>
            <a:chExt cx="4817974" cy="2140220"/>
          </a:xfrm>
        </p:grpSpPr>
        <p:sp>
          <p:nvSpPr>
            <p:cNvPr id="144" name="out_win"/>
            <p:cNvSpPr/>
            <p:nvPr/>
          </p:nvSpPr>
          <p:spPr>
            <a:xfrm>
              <a:off x="6812280" y="2395728"/>
              <a:ext cx="4817974" cy="2140220"/>
            </a:xfrm>
            <a:prstGeom prst="roundRect">
              <a:avLst>
                <a:gd name="adj" fmla="val 3203"/>
              </a:avLst>
            </a:prstGeom>
            <a:solidFill>
              <a:srgbClr val="060D18"/>
            </a:solidFill>
            <a:ln w="12700">
              <a:solidFill>
                <a:srgbClr val="1E3A5F"/>
              </a:solidFill>
              <a:prstDash val="solid"/>
            </a:ln>
          </p:spPr>
          <p:txBody>
            <a:bodyPr/>
            <a:lstStyle/>
            <a:p>
              <a:endParaRPr lang="en-US"/>
            </a:p>
          </p:txBody>
        </p:sp>
        <p:sp>
          <p:nvSpPr>
            <p:cNvPr id="145" name="out_bar"/>
            <p:cNvSpPr/>
            <p:nvPr/>
          </p:nvSpPr>
          <p:spPr>
            <a:xfrm>
              <a:off x="6812280" y="2395728"/>
              <a:ext cx="48179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6" name="out_barfill"/>
            <p:cNvSpPr/>
            <p:nvPr/>
          </p:nvSpPr>
          <p:spPr>
            <a:xfrm>
              <a:off x="6812280" y="2567178"/>
              <a:ext cx="4817974" cy="171450"/>
            </a:xfrm>
            <a:prstGeom prst="rect">
              <a:avLst/>
            </a:prstGeom>
            <a:solidFill>
              <a:srgbClr val="0A1220"/>
            </a:solidFill>
            <a:ln w="12700">
              <a:solidFill>
                <a:srgbClr val="0A1220"/>
              </a:solidFill>
              <a:prstDash val="solid"/>
            </a:ln>
          </p:spPr>
          <p:txBody>
            <a:bodyPr/>
            <a:lstStyle/>
            <a:p>
              <a:endParaRPr lang="en-US"/>
            </a:p>
          </p:txBody>
        </p:sp>
        <p:sp>
          <p:nvSpPr>
            <p:cNvPr id="147" name="out_dot0"/>
            <p:cNvSpPr/>
            <p:nvPr/>
          </p:nvSpPr>
          <p:spPr>
            <a:xfrm>
              <a:off x="6974128" y="2519538"/>
              <a:ext cx="95098" cy="95098"/>
            </a:xfrm>
            <a:prstGeom prst="ellipse">
              <a:avLst/>
            </a:prstGeom>
            <a:solidFill>
              <a:srgbClr val="F87171"/>
            </a:solidFill>
            <a:ln w="12700">
              <a:solidFill>
                <a:srgbClr val="F87171"/>
              </a:solidFill>
              <a:prstDash val="solid"/>
            </a:ln>
          </p:spPr>
          <p:txBody>
            <a:bodyPr/>
            <a:lstStyle/>
            <a:p>
              <a:endParaRPr lang="en-US"/>
            </a:p>
          </p:txBody>
        </p:sp>
        <p:sp>
          <p:nvSpPr>
            <p:cNvPr id="148" name="out_dot1"/>
            <p:cNvSpPr/>
            <p:nvPr/>
          </p:nvSpPr>
          <p:spPr>
            <a:xfrm>
              <a:off x="7159752" y="2519538"/>
              <a:ext cx="95098" cy="95098"/>
            </a:xfrm>
            <a:prstGeom prst="ellipse">
              <a:avLst/>
            </a:prstGeom>
            <a:solidFill>
              <a:srgbClr val="FBBF24"/>
            </a:solidFill>
            <a:ln w="12700">
              <a:solidFill>
                <a:srgbClr val="FBBF24"/>
              </a:solidFill>
              <a:prstDash val="solid"/>
            </a:ln>
          </p:spPr>
          <p:txBody>
            <a:bodyPr/>
            <a:lstStyle/>
            <a:p>
              <a:endParaRPr lang="en-US"/>
            </a:p>
          </p:txBody>
        </p:sp>
        <p:sp>
          <p:nvSpPr>
            <p:cNvPr id="149" name="out_dot2"/>
            <p:cNvSpPr/>
            <p:nvPr/>
          </p:nvSpPr>
          <p:spPr>
            <a:xfrm>
              <a:off x="7345376" y="2519538"/>
              <a:ext cx="95098" cy="95098"/>
            </a:xfrm>
            <a:prstGeom prst="ellipse">
              <a:avLst/>
            </a:prstGeom>
            <a:solidFill>
              <a:srgbClr val="34D399"/>
            </a:solidFill>
            <a:ln w="12700">
              <a:solidFill>
                <a:srgbClr val="34D399"/>
              </a:solidFill>
              <a:prstDash val="solid"/>
            </a:ln>
          </p:spPr>
          <p:txBody>
            <a:bodyPr/>
            <a:lstStyle/>
            <a:p>
              <a:endParaRPr lang="en-US"/>
            </a:p>
          </p:txBody>
        </p:sp>
        <p:sp>
          <p:nvSpPr>
            <p:cNvPr id="150" name="out_tab"/>
            <p:cNvSpPr/>
            <p:nvPr/>
          </p:nvSpPr>
          <p:spPr>
            <a:xfrm>
              <a:off x="7593177" y="24432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grpSp>
      <p:grpSp>
        <p:nvGrpSpPr>
          <p:cNvPr id="153" name="o0"/>
          <p:cNvGrpSpPr/>
          <p:nvPr/>
        </p:nvGrpSpPr>
        <p:grpSpPr>
          <a:xfrm>
            <a:off x="7040880" y="2871628"/>
            <a:ext cx="4517974" cy="193040"/>
            <a:chOff x="7040880" y="2871628"/>
            <a:chExt cx="4517974" cy="193040"/>
          </a:xfrm>
        </p:grpSpPr>
        <p:sp>
          <p:nvSpPr>
            <p:cNvPr id="152" name="o0_0"/>
            <p:cNvSpPr txBox="1"/>
            <p:nvPr/>
          </p:nvSpPr>
          <p:spPr>
            <a:xfrm>
              <a:off x="7040880" y="2871628"/>
              <a:ext cx="4517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trip.mp4: 5%</a:t>
              </a:r>
              <a:endParaRPr lang="en-US" sz="950" dirty="0"/>
            </a:p>
          </p:txBody>
        </p:sp>
      </p:grpSp>
      <p:grpSp>
        <p:nvGrpSpPr>
          <p:cNvPr id="155" name="o1"/>
          <p:cNvGrpSpPr/>
          <p:nvPr/>
        </p:nvGrpSpPr>
        <p:grpSpPr>
          <a:xfrm>
            <a:off x="7040880" y="3064668"/>
            <a:ext cx="4517974" cy="193040"/>
            <a:chOff x="7040880" y="3064668"/>
            <a:chExt cx="4517974" cy="193040"/>
          </a:xfrm>
        </p:grpSpPr>
        <p:sp>
          <p:nvSpPr>
            <p:cNvPr id="154" name="o1_0"/>
            <p:cNvSpPr txBox="1"/>
            <p:nvPr/>
          </p:nvSpPr>
          <p:spPr>
            <a:xfrm>
              <a:off x="7040880" y="3064668"/>
              <a:ext cx="4517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trip.mp4: 10%</a:t>
              </a:r>
              <a:endParaRPr lang="en-US" sz="950" dirty="0"/>
            </a:p>
          </p:txBody>
        </p:sp>
      </p:grpSp>
      <p:grpSp>
        <p:nvGrpSpPr>
          <p:cNvPr id="157" name="o2"/>
          <p:cNvGrpSpPr/>
          <p:nvPr/>
        </p:nvGrpSpPr>
        <p:grpSpPr>
          <a:xfrm>
            <a:off x="7040880" y="3257708"/>
            <a:ext cx="4517974" cy="193040"/>
            <a:chOff x="7040880" y="3257708"/>
            <a:chExt cx="4517974" cy="193040"/>
          </a:xfrm>
        </p:grpSpPr>
        <p:sp>
          <p:nvSpPr>
            <p:cNvPr id="156" name="o2_0"/>
            <p:cNvSpPr txBox="1"/>
            <p:nvPr/>
          </p:nvSpPr>
          <p:spPr>
            <a:xfrm>
              <a:off x="7040880" y="3257708"/>
              <a:ext cx="4517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trip.mp4: 15%</a:t>
              </a:r>
              <a:endParaRPr lang="en-US" sz="950" dirty="0"/>
            </a:p>
          </p:txBody>
        </p:sp>
      </p:grpSp>
      <p:grpSp>
        <p:nvGrpSpPr>
          <p:cNvPr id="159" name="o3"/>
          <p:cNvGrpSpPr/>
          <p:nvPr/>
        </p:nvGrpSpPr>
        <p:grpSpPr>
          <a:xfrm>
            <a:off x="7040880" y="3450748"/>
            <a:ext cx="4517974" cy="193040"/>
            <a:chOff x="7040880" y="3450748"/>
            <a:chExt cx="4517974" cy="193040"/>
          </a:xfrm>
        </p:grpSpPr>
        <p:sp>
          <p:nvSpPr>
            <p:cNvPr id="158" name="o3_0"/>
            <p:cNvSpPr txBox="1"/>
            <p:nvPr/>
          </p:nvSpPr>
          <p:spPr>
            <a:xfrm>
              <a:off x="7040880" y="3450748"/>
              <a:ext cx="4517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trip.mp4: 20%</a:t>
              </a:r>
              <a:endParaRPr lang="en-US" sz="950" dirty="0"/>
            </a:p>
          </p:txBody>
        </p:sp>
      </p:grpSp>
      <p:grpSp>
        <p:nvGrpSpPr>
          <p:cNvPr id="161" name="o4"/>
          <p:cNvGrpSpPr/>
          <p:nvPr/>
        </p:nvGrpSpPr>
        <p:grpSpPr>
          <a:xfrm>
            <a:off x="7040880" y="3643788"/>
            <a:ext cx="4517974" cy="193040"/>
            <a:chOff x="7040880" y="3643788"/>
            <a:chExt cx="4517974" cy="193040"/>
          </a:xfrm>
        </p:grpSpPr>
        <p:sp>
          <p:nvSpPr>
            <p:cNvPr id="160" name="o4_0"/>
            <p:cNvSpPr txBox="1"/>
            <p:nvPr/>
          </p:nvSpPr>
          <p:spPr>
            <a:xfrm>
              <a:off x="7040880" y="3643788"/>
              <a:ext cx="4517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trip.mp4: 25%</a:t>
              </a:r>
              <a:endParaRPr lang="en-US" sz="950" dirty="0"/>
            </a:p>
          </p:txBody>
        </p:sp>
      </p:grpSp>
      <p:grpSp>
        <p:nvGrpSpPr>
          <p:cNvPr id="163" name="o5"/>
          <p:cNvGrpSpPr/>
          <p:nvPr/>
        </p:nvGrpSpPr>
        <p:grpSpPr>
          <a:xfrm>
            <a:off x="7040880" y="3836828"/>
            <a:ext cx="4517974" cy="193040"/>
            <a:chOff x="7040880" y="3836828"/>
            <a:chExt cx="4517974" cy="193040"/>
          </a:xfrm>
        </p:grpSpPr>
        <p:sp>
          <p:nvSpPr>
            <p:cNvPr id="162" name="o5_0"/>
            <p:cNvSpPr txBox="1"/>
            <p:nvPr/>
          </p:nvSpPr>
          <p:spPr>
            <a:xfrm>
              <a:off x="7040880" y="3836828"/>
              <a:ext cx="4517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trip.mp4: 30%</a:t>
              </a:r>
              <a:endParaRPr lang="en-US" sz="950" dirty="0"/>
            </a:p>
          </p:txBody>
        </p:sp>
      </p:grpSp>
      <p:grpSp>
        <p:nvGrpSpPr>
          <p:cNvPr id="165" name="o6"/>
          <p:cNvGrpSpPr/>
          <p:nvPr/>
        </p:nvGrpSpPr>
        <p:grpSpPr>
          <a:xfrm>
            <a:off x="7040880" y="4029868"/>
            <a:ext cx="4517974" cy="193040"/>
            <a:chOff x="7040880" y="4029868"/>
            <a:chExt cx="4517974" cy="193040"/>
          </a:xfrm>
        </p:grpSpPr>
        <p:sp>
          <p:nvSpPr>
            <p:cNvPr id="164" name="o6_0"/>
            <p:cNvSpPr txBox="1"/>
            <p:nvPr/>
          </p:nvSpPr>
          <p:spPr>
            <a:xfrm>
              <a:off x="7040880" y="4029868"/>
              <a:ext cx="4517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trip.mp4: 35%</a:t>
              </a:r>
              <a:endParaRPr lang="en-US" sz="950" dirty="0"/>
            </a:p>
          </p:txBody>
        </p:sp>
      </p:grpSp>
      <p:sp>
        <p:nvSpPr>
          <p:cNvPr id="166" name="cx"/>
          <p:cNvSpPr txBox="1"/>
          <p:nvPr/>
        </p:nvSpPr>
        <p:spPr>
          <a:xfrm>
            <a:off x="7022592" y="4222908"/>
            <a:ext cx="4543654" cy="19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F87171"/>
                </a:solidFill>
                <a:latin typeface="Consolas"/>
                <a:ea typeface="Consolas"/>
                <a:cs typeface="Consolas"/>
              </a:rPr>
              <a:t>Upload canceled</a:t>
            </a:r>
            <a:endParaRPr lang="en-US" sz="950" dirty="0"/>
          </a:p>
        </p:txBody>
      </p:sp>
      <p:sp>
        <p:nvSpPr>
          <p:cNvPr id="167" name="btn"/>
          <p:cNvSpPr/>
          <p:nvPr/>
        </p:nvSpPr>
        <p:spPr>
          <a:xfrm>
            <a:off x="10030054" y="1463040"/>
            <a:ext cx="1600200" cy="329184"/>
          </a:xfrm>
          <a:prstGeom prst="roundRect">
            <a:avLst>
              <a:gd name="adj" fmla="val 12000"/>
            </a:avLst>
          </a:prstGeom>
          <a:solidFill>
            <a:srgbClr val="F87171">
              <a:alpha val="16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  Cancel pressed</a:t>
            </a:r>
            <a:endParaRPr lang="en-US" sz="1000" dirty="0"/>
          </a:p>
        </p:txBody>
      </p:sp>
      <p:sp>
        <p:nvSpPr>
          <p:cNvPr id="168" name="stop"/>
          <p:cNvSpPr/>
          <p:nvPr/>
        </p:nvSpPr>
        <p:spPr>
          <a:xfrm>
            <a:off x="8582696" y="1874520"/>
            <a:ext cx="1463040" cy="292608"/>
          </a:xfrm>
          <a:prstGeom prst="roundRect">
            <a:avLst>
              <a:gd name="adj" fmla="val 12000"/>
            </a:avLst>
          </a:prstGeom>
          <a:noFill/>
          <a:ln>
            <a:noFill/>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87171"/>
                </a:solidFill>
                <a:latin typeface="Segoe UI"/>
                <a:ea typeface="Segoe UI"/>
                <a:cs typeface="Segoe UI"/>
              </a:rPr>
              <a:t>stopped at 35%</a:t>
            </a:r>
            <a:endParaRPr lang="en-US" sz="950" dirty="0"/>
          </a:p>
        </p:txBody>
      </p:sp>
      <p:sp>
        <p:nvSpPr>
          <p:cNvPr id="169" name="k"/>
          <p:cNvSpPr/>
          <p:nvPr/>
        </p:nvSpPr>
        <p:spPr>
          <a:xfrm>
            <a:off x="6812280" y="4572000"/>
            <a:ext cx="4817974" cy="91440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EVERY CHUNK LISTENS</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The token goes into each chunk, so the upload stops between chunks: 40% is never sent.</a:t>
            </a:r>
            <a:endParaRPr lang="en-US" sz="1050" dirty="0"/>
          </a:p>
        </p:txBody>
      </p:sp>
      <p:sp>
        <p:nvSpPr>
          <p:cNvPr id="16" name="TextBox 15">
            <a:extLst>
              <a:ext uri="{FF2B5EF4-FFF2-40B4-BE49-F238E27FC236}">
                <a16:creationId xmlns:a16="http://schemas.microsoft.com/office/drawing/2014/main" id="{744E1CC2-3B24-2DB0-7B16-F9D6DCD049A3}"/>
              </a:ext>
            </a:extLst>
          </p:cNvPr>
          <p:cNvSpPr txBox="1"/>
          <p:nvPr/>
        </p:nvSpPr>
        <p:spPr>
          <a:xfrm>
            <a:off x="4225681" y="2425516"/>
            <a:ext cx="2250064" cy="218521"/>
          </a:xfrm>
          <a:prstGeom prst="rect">
            <a:avLst/>
          </a:prstGeom>
          <a:noFill/>
        </p:spPr>
        <p:txBody>
          <a:bodyPr wrap="square">
            <a:spAutoFit/>
          </a:bodyPr>
          <a:lstStyle/>
          <a:p>
            <a:r>
              <a:rPr lang="en-US" sz="820" dirty="0">
                <a:solidFill>
                  <a:srgbClr val="E2E8F0"/>
                </a:solidFill>
                <a:latin typeface="Consolas"/>
              </a:rPr>
              <a:t>// Block the thread</a:t>
            </a:r>
            <a:endParaRPr lang="en-US" dirty="0"/>
          </a:p>
        </p:txBody>
      </p:sp>
    </p:spTree>
    <p:extLst>
      <p:ext uri="{BB962C8B-B14F-4D97-AF65-F5344CB8AC3E}">
        <p14:creationId xmlns:p14="http://schemas.microsoft.com/office/powerpoint/2010/main" val="26855029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400"/>
                                        <p:tgtEl>
                                          <p:spTgt spid="1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1"/>
                                        </p:tgtEl>
                                        <p:attrNameLst>
                                          <p:attrName>style.visibility</p:attrName>
                                        </p:attrNameLst>
                                      </p:cBhvr>
                                      <p:to>
                                        <p:strVal val="visible"/>
                                      </p:to>
                                    </p:set>
                                    <p:animEffect transition="in" filter="fade">
                                      <p:cBhvr>
                                        <p:cTn id="10" dur="400"/>
                                        <p:tgtEl>
                                          <p:spTgt spid="1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2"/>
                                        </p:tgtEl>
                                        <p:attrNameLst>
                                          <p:attrName>style.visibility</p:attrName>
                                        </p:attrNameLst>
                                      </p:cBhvr>
                                      <p:to>
                                        <p:strVal val="visible"/>
                                      </p:to>
                                    </p:set>
                                    <p:animEffect transition="in" filter="fade">
                                      <p:cBhvr>
                                        <p:cTn id="13" dur="400"/>
                                        <p:tgtEl>
                                          <p:spTgt spid="1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3"/>
                                        </p:tgtEl>
                                        <p:attrNameLst>
                                          <p:attrName>style.visibility</p:attrName>
                                        </p:attrNameLst>
                                      </p:cBhvr>
                                      <p:to>
                                        <p:strVal val="visible"/>
                                      </p:to>
                                    </p:set>
                                    <p:animEffect transition="in" filter="fade">
                                      <p:cBhvr>
                                        <p:cTn id="16" dur="400"/>
                                        <p:tgtEl>
                                          <p:spTgt spid="1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4"/>
                                        </p:tgtEl>
                                        <p:attrNameLst>
                                          <p:attrName>style.visibility</p:attrName>
                                        </p:attrNameLst>
                                      </p:cBhvr>
                                      <p:to>
                                        <p:strVal val="visible"/>
                                      </p:to>
                                    </p:set>
                                    <p:animEffect transition="in" filter="fade">
                                      <p:cBhvr>
                                        <p:cTn id="19" dur="400"/>
                                        <p:tgtEl>
                                          <p:spTgt spid="13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5"/>
                                        </p:tgtEl>
                                        <p:attrNameLst>
                                          <p:attrName>style.visibility</p:attrName>
                                        </p:attrNameLst>
                                      </p:cBhvr>
                                      <p:to>
                                        <p:strVal val="visible"/>
                                      </p:to>
                                    </p:set>
                                    <p:animEffect transition="in" filter="fade">
                                      <p:cBhvr>
                                        <p:cTn id="24" dur="400"/>
                                        <p:tgtEl>
                                          <p:spTgt spid="13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6"/>
                                        </p:tgtEl>
                                        <p:attrNameLst>
                                          <p:attrName>style.visibility</p:attrName>
                                        </p:attrNameLst>
                                      </p:cBhvr>
                                      <p:to>
                                        <p:strVal val="visible"/>
                                      </p:to>
                                    </p:set>
                                    <p:animEffect transition="in" filter="fade">
                                      <p:cBhvr>
                                        <p:cTn id="27" dur="400"/>
                                        <p:tgtEl>
                                          <p:spTgt spid="136"/>
                                        </p:tgtEl>
                                      </p:cBhvr>
                                    </p:animEffect>
                                  </p:childTnLst>
                                </p:cTn>
                              </p:par>
                              <p:par>
                                <p:cTn id="28" presetID="10" presetClass="entr" presetSubtype="0" fill="hold" nodeType="withEffect">
                                  <p:stCondLst>
                                    <p:cond delay="0"/>
                                  </p:stCondLst>
                                  <p:childTnLst>
                                    <p:set>
                                      <p:cBhvr>
                                        <p:cTn id="29" dur="1" fill="hold">
                                          <p:stCondLst>
                                            <p:cond delay="0"/>
                                          </p:stCondLst>
                                        </p:cTn>
                                        <p:tgtEl>
                                          <p:spTgt spid="151"/>
                                        </p:tgtEl>
                                        <p:attrNameLst>
                                          <p:attrName>style.visibility</p:attrName>
                                        </p:attrNameLst>
                                      </p:cBhvr>
                                      <p:to>
                                        <p:strVal val="visible"/>
                                      </p:to>
                                    </p:set>
                                    <p:animEffect transition="in" filter="fade">
                                      <p:cBhvr>
                                        <p:cTn id="30" dur="400"/>
                                        <p:tgtEl>
                                          <p:spTgt spid="151"/>
                                        </p:tgtEl>
                                      </p:cBhvr>
                                    </p:animEffect>
                                  </p:childTnLst>
                                </p:cTn>
                              </p:par>
                            </p:childTnLst>
                          </p:cTn>
                        </p:par>
                        <p:par>
                          <p:cTn id="31" fill="hold">
                            <p:stCondLst>
                              <p:cond delay="400"/>
                            </p:stCondLst>
                            <p:childTnLst>
                              <p:par>
                                <p:cTn id="32" presetID="10" presetClass="entr" presetSubtype="0" fill="hold" grpId="0" nodeType="afterEffect">
                                  <p:stCondLst>
                                    <p:cond delay="0"/>
                                  </p:stCondLst>
                                  <p:childTnLst>
                                    <p:set>
                                      <p:cBhvr>
                                        <p:cTn id="33" dur="1" fill="hold">
                                          <p:stCondLst>
                                            <p:cond delay="0"/>
                                          </p:stCondLst>
                                        </p:cTn>
                                        <p:tgtEl>
                                          <p:spTgt spid="137"/>
                                        </p:tgtEl>
                                        <p:attrNameLst>
                                          <p:attrName>style.visibility</p:attrName>
                                        </p:attrNameLst>
                                      </p:cBhvr>
                                      <p:to>
                                        <p:strVal val="visible"/>
                                      </p:to>
                                    </p:set>
                                    <p:animEffect transition="in" filter="fade">
                                      <p:cBhvr>
                                        <p:cTn id="34" dur="200"/>
                                        <p:tgtEl>
                                          <p:spTgt spid="137"/>
                                        </p:tgtEl>
                                      </p:cBhvr>
                                    </p:animEffect>
                                  </p:childTnLst>
                                </p:cTn>
                              </p:par>
                              <p:par>
                                <p:cTn id="35" presetID="10" presetClass="entr" presetSubtype="0" fill="hold" nodeType="withEffect">
                                  <p:stCondLst>
                                    <p:cond delay="0"/>
                                  </p:stCondLst>
                                  <p:childTnLst>
                                    <p:set>
                                      <p:cBhvr>
                                        <p:cTn id="36" dur="1" fill="hold">
                                          <p:stCondLst>
                                            <p:cond delay="0"/>
                                          </p:stCondLst>
                                        </p:cTn>
                                        <p:tgtEl>
                                          <p:spTgt spid="153"/>
                                        </p:tgtEl>
                                        <p:attrNameLst>
                                          <p:attrName>style.visibility</p:attrName>
                                        </p:attrNameLst>
                                      </p:cBhvr>
                                      <p:to>
                                        <p:strVal val="visible"/>
                                      </p:to>
                                    </p:set>
                                    <p:animEffect transition="in" filter="fade">
                                      <p:cBhvr>
                                        <p:cTn id="37" dur="200"/>
                                        <p:tgtEl>
                                          <p:spTgt spid="153"/>
                                        </p:tgtEl>
                                      </p:cBhvr>
                                    </p:animEffect>
                                  </p:childTnLst>
                                </p:cTn>
                              </p:par>
                            </p:childTnLst>
                          </p:cTn>
                        </p:par>
                        <p:par>
                          <p:cTn id="38" fill="hold">
                            <p:stCondLst>
                              <p:cond delay="600"/>
                            </p:stCondLst>
                            <p:childTnLst>
                              <p:par>
                                <p:cTn id="39" presetID="10" presetClass="entr" presetSubtype="0" fill="hold" grpId="0" nodeType="afterEffect">
                                  <p:stCondLst>
                                    <p:cond delay="0"/>
                                  </p:stCondLst>
                                  <p:childTnLst>
                                    <p:set>
                                      <p:cBhvr>
                                        <p:cTn id="40" dur="1" fill="hold">
                                          <p:stCondLst>
                                            <p:cond delay="0"/>
                                          </p:stCondLst>
                                        </p:cTn>
                                        <p:tgtEl>
                                          <p:spTgt spid="138"/>
                                        </p:tgtEl>
                                        <p:attrNameLst>
                                          <p:attrName>style.visibility</p:attrName>
                                        </p:attrNameLst>
                                      </p:cBhvr>
                                      <p:to>
                                        <p:strVal val="visible"/>
                                      </p:to>
                                    </p:set>
                                    <p:animEffect transition="in" filter="fade">
                                      <p:cBhvr>
                                        <p:cTn id="41" dur="200"/>
                                        <p:tgtEl>
                                          <p:spTgt spid="138"/>
                                        </p:tgtEl>
                                      </p:cBhvr>
                                    </p:animEffect>
                                  </p:childTnLst>
                                </p:cTn>
                              </p:par>
                              <p:par>
                                <p:cTn id="42" presetID="10" presetClass="entr" presetSubtype="0" fill="hold" nodeType="withEffect">
                                  <p:stCondLst>
                                    <p:cond delay="0"/>
                                  </p:stCondLst>
                                  <p:childTnLst>
                                    <p:set>
                                      <p:cBhvr>
                                        <p:cTn id="43" dur="1" fill="hold">
                                          <p:stCondLst>
                                            <p:cond delay="0"/>
                                          </p:stCondLst>
                                        </p:cTn>
                                        <p:tgtEl>
                                          <p:spTgt spid="155"/>
                                        </p:tgtEl>
                                        <p:attrNameLst>
                                          <p:attrName>style.visibility</p:attrName>
                                        </p:attrNameLst>
                                      </p:cBhvr>
                                      <p:to>
                                        <p:strVal val="visible"/>
                                      </p:to>
                                    </p:set>
                                    <p:animEffect transition="in" filter="fade">
                                      <p:cBhvr>
                                        <p:cTn id="44" dur="200"/>
                                        <p:tgtEl>
                                          <p:spTgt spid="155"/>
                                        </p:tgtEl>
                                      </p:cBhvr>
                                    </p:animEffect>
                                  </p:childTnLst>
                                </p:cTn>
                              </p:par>
                            </p:childTnLst>
                          </p:cTn>
                        </p:par>
                        <p:par>
                          <p:cTn id="45" fill="hold">
                            <p:stCondLst>
                              <p:cond delay="800"/>
                            </p:stCondLst>
                            <p:childTnLst>
                              <p:par>
                                <p:cTn id="46" presetID="10" presetClass="entr" presetSubtype="0" fill="hold" grpId="0" nodeType="afterEffect">
                                  <p:stCondLst>
                                    <p:cond delay="0"/>
                                  </p:stCondLst>
                                  <p:childTnLst>
                                    <p:set>
                                      <p:cBhvr>
                                        <p:cTn id="47" dur="1" fill="hold">
                                          <p:stCondLst>
                                            <p:cond delay="0"/>
                                          </p:stCondLst>
                                        </p:cTn>
                                        <p:tgtEl>
                                          <p:spTgt spid="139"/>
                                        </p:tgtEl>
                                        <p:attrNameLst>
                                          <p:attrName>style.visibility</p:attrName>
                                        </p:attrNameLst>
                                      </p:cBhvr>
                                      <p:to>
                                        <p:strVal val="visible"/>
                                      </p:to>
                                    </p:set>
                                    <p:animEffect transition="in" filter="fade">
                                      <p:cBhvr>
                                        <p:cTn id="48" dur="200"/>
                                        <p:tgtEl>
                                          <p:spTgt spid="139"/>
                                        </p:tgtEl>
                                      </p:cBhvr>
                                    </p:animEffect>
                                  </p:childTnLst>
                                </p:cTn>
                              </p:par>
                              <p:par>
                                <p:cTn id="49" presetID="10" presetClass="entr" presetSubtype="0" fill="hold" nodeType="withEffect">
                                  <p:stCondLst>
                                    <p:cond delay="0"/>
                                  </p:stCondLst>
                                  <p:childTnLst>
                                    <p:set>
                                      <p:cBhvr>
                                        <p:cTn id="50" dur="1" fill="hold">
                                          <p:stCondLst>
                                            <p:cond delay="0"/>
                                          </p:stCondLst>
                                        </p:cTn>
                                        <p:tgtEl>
                                          <p:spTgt spid="157"/>
                                        </p:tgtEl>
                                        <p:attrNameLst>
                                          <p:attrName>style.visibility</p:attrName>
                                        </p:attrNameLst>
                                      </p:cBhvr>
                                      <p:to>
                                        <p:strVal val="visible"/>
                                      </p:to>
                                    </p:set>
                                    <p:animEffect transition="in" filter="fade">
                                      <p:cBhvr>
                                        <p:cTn id="51" dur="200"/>
                                        <p:tgtEl>
                                          <p:spTgt spid="157"/>
                                        </p:tgtEl>
                                      </p:cBhvr>
                                    </p:animEffect>
                                  </p:childTnLst>
                                </p:cTn>
                              </p:par>
                            </p:childTnLst>
                          </p:cTn>
                        </p:par>
                        <p:par>
                          <p:cTn id="52" fill="hold">
                            <p:stCondLst>
                              <p:cond delay="1000"/>
                            </p:stCondLst>
                            <p:childTnLst>
                              <p:par>
                                <p:cTn id="53" presetID="10" presetClass="entr" presetSubtype="0" fill="hold" grpId="0" nodeType="afterEffect">
                                  <p:stCondLst>
                                    <p:cond delay="0"/>
                                  </p:stCondLst>
                                  <p:childTnLst>
                                    <p:set>
                                      <p:cBhvr>
                                        <p:cTn id="54" dur="1" fill="hold">
                                          <p:stCondLst>
                                            <p:cond delay="0"/>
                                          </p:stCondLst>
                                        </p:cTn>
                                        <p:tgtEl>
                                          <p:spTgt spid="140"/>
                                        </p:tgtEl>
                                        <p:attrNameLst>
                                          <p:attrName>style.visibility</p:attrName>
                                        </p:attrNameLst>
                                      </p:cBhvr>
                                      <p:to>
                                        <p:strVal val="visible"/>
                                      </p:to>
                                    </p:set>
                                    <p:animEffect transition="in" filter="fade">
                                      <p:cBhvr>
                                        <p:cTn id="55" dur="200"/>
                                        <p:tgtEl>
                                          <p:spTgt spid="140"/>
                                        </p:tgtEl>
                                      </p:cBhvr>
                                    </p:animEffect>
                                  </p:childTnLst>
                                </p:cTn>
                              </p:par>
                              <p:par>
                                <p:cTn id="56" presetID="10" presetClass="entr" presetSubtype="0" fill="hold" nodeType="withEffect">
                                  <p:stCondLst>
                                    <p:cond delay="0"/>
                                  </p:stCondLst>
                                  <p:childTnLst>
                                    <p:set>
                                      <p:cBhvr>
                                        <p:cTn id="57" dur="1" fill="hold">
                                          <p:stCondLst>
                                            <p:cond delay="0"/>
                                          </p:stCondLst>
                                        </p:cTn>
                                        <p:tgtEl>
                                          <p:spTgt spid="159"/>
                                        </p:tgtEl>
                                        <p:attrNameLst>
                                          <p:attrName>style.visibility</p:attrName>
                                        </p:attrNameLst>
                                      </p:cBhvr>
                                      <p:to>
                                        <p:strVal val="visible"/>
                                      </p:to>
                                    </p:set>
                                    <p:animEffect transition="in" filter="fade">
                                      <p:cBhvr>
                                        <p:cTn id="58" dur="200"/>
                                        <p:tgtEl>
                                          <p:spTgt spid="159"/>
                                        </p:tgtEl>
                                      </p:cBhvr>
                                    </p:animEffect>
                                  </p:childTnLst>
                                </p:cTn>
                              </p:par>
                            </p:childTnLst>
                          </p:cTn>
                        </p:par>
                        <p:par>
                          <p:cTn id="59" fill="hold">
                            <p:stCondLst>
                              <p:cond delay="1200"/>
                            </p:stCondLst>
                            <p:childTnLst>
                              <p:par>
                                <p:cTn id="60" presetID="10" presetClass="entr" presetSubtype="0" fill="hold" grpId="0" nodeType="afterEffect">
                                  <p:stCondLst>
                                    <p:cond delay="0"/>
                                  </p:stCondLst>
                                  <p:childTnLst>
                                    <p:set>
                                      <p:cBhvr>
                                        <p:cTn id="61" dur="1" fill="hold">
                                          <p:stCondLst>
                                            <p:cond delay="0"/>
                                          </p:stCondLst>
                                        </p:cTn>
                                        <p:tgtEl>
                                          <p:spTgt spid="141"/>
                                        </p:tgtEl>
                                        <p:attrNameLst>
                                          <p:attrName>style.visibility</p:attrName>
                                        </p:attrNameLst>
                                      </p:cBhvr>
                                      <p:to>
                                        <p:strVal val="visible"/>
                                      </p:to>
                                    </p:set>
                                    <p:animEffect transition="in" filter="fade">
                                      <p:cBhvr>
                                        <p:cTn id="62" dur="200"/>
                                        <p:tgtEl>
                                          <p:spTgt spid="141"/>
                                        </p:tgtEl>
                                      </p:cBhvr>
                                    </p:animEffect>
                                  </p:childTnLst>
                                </p:cTn>
                              </p:par>
                              <p:par>
                                <p:cTn id="63" presetID="10" presetClass="entr" presetSubtype="0" fill="hold" nodeType="withEffect">
                                  <p:stCondLst>
                                    <p:cond delay="0"/>
                                  </p:stCondLst>
                                  <p:childTnLst>
                                    <p:set>
                                      <p:cBhvr>
                                        <p:cTn id="64" dur="1" fill="hold">
                                          <p:stCondLst>
                                            <p:cond delay="0"/>
                                          </p:stCondLst>
                                        </p:cTn>
                                        <p:tgtEl>
                                          <p:spTgt spid="161"/>
                                        </p:tgtEl>
                                        <p:attrNameLst>
                                          <p:attrName>style.visibility</p:attrName>
                                        </p:attrNameLst>
                                      </p:cBhvr>
                                      <p:to>
                                        <p:strVal val="visible"/>
                                      </p:to>
                                    </p:set>
                                    <p:animEffect transition="in" filter="fade">
                                      <p:cBhvr>
                                        <p:cTn id="65" dur="200"/>
                                        <p:tgtEl>
                                          <p:spTgt spid="161"/>
                                        </p:tgtEl>
                                      </p:cBhvr>
                                    </p:animEffect>
                                  </p:childTnLst>
                                </p:cTn>
                              </p:par>
                            </p:childTnLst>
                          </p:cTn>
                        </p:par>
                        <p:par>
                          <p:cTn id="66" fill="hold">
                            <p:stCondLst>
                              <p:cond delay="1400"/>
                            </p:stCondLst>
                            <p:childTnLst>
                              <p:par>
                                <p:cTn id="67" presetID="10" presetClass="entr" presetSubtype="0" fill="hold" grpId="0" nodeType="afterEffect">
                                  <p:stCondLst>
                                    <p:cond delay="0"/>
                                  </p:stCondLst>
                                  <p:childTnLst>
                                    <p:set>
                                      <p:cBhvr>
                                        <p:cTn id="68" dur="1" fill="hold">
                                          <p:stCondLst>
                                            <p:cond delay="0"/>
                                          </p:stCondLst>
                                        </p:cTn>
                                        <p:tgtEl>
                                          <p:spTgt spid="142"/>
                                        </p:tgtEl>
                                        <p:attrNameLst>
                                          <p:attrName>style.visibility</p:attrName>
                                        </p:attrNameLst>
                                      </p:cBhvr>
                                      <p:to>
                                        <p:strVal val="visible"/>
                                      </p:to>
                                    </p:set>
                                    <p:animEffect transition="in" filter="fade">
                                      <p:cBhvr>
                                        <p:cTn id="69" dur="200"/>
                                        <p:tgtEl>
                                          <p:spTgt spid="142"/>
                                        </p:tgtEl>
                                      </p:cBhvr>
                                    </p:animEffect>
                                  </p:childTnLst>
                                </p:cTn>
                              </p:par>
                              <p:par>
                                <p:cTn id="70" presetID="10" presetClass="entr" presetSubtype="0" fill="hold" nodeType="withEffect">
                                  <p:stCondLst>
                                    <p:cond delay="0"/>
                                  </p:stCondLst>
                                  <p:childTnLst>
                                    <p:set>
                                      <p:cBhvr>
                                        <p:cTn id="71" dur="1" fill="hold">
                                          <p:stCondLst>
                                            <p:cond delay="0"/>
                                          </p:stCondLst>
                                        </p:cTn>
                                        <p:tgtEl>
                                          <p:spTgt spid="163"/>
                                        </p:tgtEl>
                                        <p:attrNameLst>
                                          <p:attrName>style.visibility</p:attrName>
                                        </p:attrNameLst>
                                      </p:cBhvr>
                                      <p:to>
                                        <p:strVal val="visible"/>
                                      </p:to>
                                    </p:set>
                                    <p:animEffect transition="in" filter="fade">
                                      <p:cBhvr>
                                        <p:cTn id="72" dur="200"/>
                                        <p:tgtEl>
                                          <p:spTgt spid="163"/>
                                        </p:tgtEl>
                                      </p:cBhvr>
                                    </p:animEffect>
                                  </p:childTnLst>
                                </p:cTn>
                              </p:par>
                            </p:childTnLst>
                          </p:cTn>
                        </p:par>
                        <p:par>
                          <p:cTn id="73" fill="hold">
                            <p:stCondLst>
                              <p:cond delay="1600"/>
                            </p:stCondLst>
                            <p:childTnLst>
                              <p:par>
                                <p:cTn id="74" presetID="10" presetClass="entr" presetSubtype="0" fill="hold" grpId="0" nodeType="afterEffect">
                                  <p:stCondLst>
                                    <p:cond delay="0"/>
                                  </p:stCondLst>
                                  <p:childTnLst>
                                    <p:set>
                                      <p:cBhvr>
                                        <p:cTn id="75" dur="1" fill="hold">
                                          <p:stCondLst>
                                            <p:cond delay="0"/>
                                          </p:stCondLst>
                                        </p:cTn>
                                        <p:tgtEl>
                                          <p:spTgt spid="143"/>
                                        </p:tgtEl>
                                        <p:attrNameLst>
                                          <p:attrName>style.visibility</p:attrName>
                                        </p:attrNameLst>
                                      </p:cBhvr>
                                      <p:to>
                                        <p:strVal val="visible"/>
                                      </p:to>
                                    </p:set>
                                    <p:animEffect transition="in" filter="fade">
                                      <p:cBhvr>
                                        <p:cTn id="76" dur="200"/>
                                        <p:tgtEl>
                                          <p:spTgt spid="143"/>
                                        </p:tgtEl>
                                      </p:cBhvr>
                                    </p:animEffect>
                                  </p:childTnLst>
                                </p:cTn>
                              </p:par>
                              <p:par>
                                <p:cTn id="77" presetID="10" presetClass="entr" presetSubtype="0" fill="hold" nodeType="withEffect">
                                  <p:stCondLst>
                                    <p:cond delay="0"/>
                                  </p:stCondLst>
                                  <p:childTnLst>
                                    <p:set>
                                      <p:cBhvr>
                                        <p:cTn id="78" dur="1" fill="hold">
                                          <p:stCondLst>
                                            <p:cond delay="0"/>
                                          </p:stCondLst>
                                        </p:cTn>
                                        <p:tgtEl>
                                          <p:spTgt spid="165"/>
                                        </p:tgtEl>
                                        <p:attrNameLst>
                                          <p:attrName>style.visibility</p:attrName>
                                        </p:attrNameLst>
                                      </p:cBhvr>
                                      <p:to>
                                        <p:strVal val="visible"/>
                                      </p:to>
                                    </p:set>
                                    <p:animEffect transition="in" filter="fade">
                                      <p:cBhvr>
                                        <p:cTn id="79" dur="200"/>
                                        <p:tgtEl>
                                          <p:spTgt spid="16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67"/>
                                        </p:tgtEl>
                                        <p:attrNameLst>
                                          <p:attrName>style.visibility</p:attrName>
                                        </p:attrNameLst>
                                      </p:cBhvr>
                                      <p:to>
                                        <p:strVal val="visible"/>
                                      </p:to>
                                    </p:set>
                                    <p:animEffect transition="in" filter="fade">
                                      <p:cBhvr>
                                        <p:cTn id="84" dur="400"/>
                                        <p:tgtEl>
                                          <p:spTgt spid="167"/>
                                        </p:tgtEl>
                                      </p:cBhvr>
                                    </p:animEffect>
                                  </p:childTnLst>
                                </p:cTn>
                              </p:par>
                            </p:childTnLst>
                          </p:cTn>
                        </p:par>
                        <p:par>
                          <p:cTn id="85" fill="hold">
                            <p:stCondLst>
                              <p:cond delay="400"/>
                            </p:stCondLst>
                            <p:childTnLst>
                              <p:par>
                                <p:cTn id="86" presetID="10" presetClass="entr" presetSubtype="0" fill="hold" grpId="0" nodeType="afterEffect">
                                  <p:stCondLst>
                                    <p:cond delay="0"/>
                                  </p:stCondLst>
                                  <p:childTnLst>
                                    <p:set>
                                      <p:cBhvr>
                                        <p:cTn id="87" dur="1" fill="hold">
                                          <p:stCondLst>
                                            <p:cond delay="0"/>
                                          </p:stCondLst>
                                        </p:cTn>
                                        <p:tgtEl>
                                          <p:spTgt spid="168"/>
                                        </p:tgtEl>
                                        <p:attrNameLst>
                                          <p:attrName>style.visibility</p:attrName>
                                        </p:attrNameLst>
                                      </p:cBhvr>
                                      <p:to>
                                        <p:strVal val="visible"/>
                                      </p:to>
                                    </p:set>
                                    <p:animEffect transition="in" filter="fade">
                                      <p:cBhvr>
                                        <p:cTn id="88" dur="400"/>
                                        <p:tgtEl>
                                          <p:spTgt spid="16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66"/>
                                        </p:tgtEl>
                                        <p:attrNameLst>
                                          <p:attrName>style.visibility</p:attrName>
                                        </p:attrNameLst>
                                      </p:cBhvr>
                                      <p:to>
                                        <p:strVal val="visible"/>
                                      </p:to>
                                    </p:set>
                                    <p:animEffect transition="in" filter="fade">
                                      <p:cBhvr>
                                        <p:cTn id="91" dur="400"/>
                                        <p:tgtEl>
                                          <p:spTgt spid="166"/>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169"/>
                                        </p:tgtEl>
                                        <p:attrNameLst>
                                          <p:attrName>style.visibility</p:attrName>
                                        </p:attrNameLst>
                                      </p:cBhvr>
                                      <p:to>
                                        <p:strVal val="visible"/>
                                      </p:to>
                                    </p:set>
                                    <p:animEffect transition="in" filter="fade">
                                      <p:cBhvr>
                                        <p:cTn id="96" dur="4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66" grpId="0" animBg="1"/>
      <p:bldP spid="167" grpId="0" animBg="1"/>
      <p:bldP spid="168" grpId="0" animBg="1"/>
      <p:bldP spid="16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64108"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TIMEOUT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CancelAfter: A Timeout in One Line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53</a:t>
            </a:r>
            <a:endParaRPr lang="en-US" sz="850" dirty="0"/>
          </a:p>
        </p:txBody>
      </p:sp>
      <p:sp>
        <p:nvSpPr>
          <p:cNvPr id="15" name="cw_win"/>
          <p:cNvSpPr/>
          <p:nvPr/>
        </p:nvSpPr>
        <p:spPr>
          <a:xfrm>
            <a:off x="543154" y="1572768"/>
            <a:ext cx="6766560" cy="4480560"/>
          </a:xfrm>
          <a:prstGeom prst="roundRect">
            <a:avLst>
              <a:gd name="adj" fmla="val 153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7665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7665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using</a:t>
            </a:r>
            <a:r>
              <a:rPr lang="en-US" sz="1000" b="0" dirty="0">
                <a:solidFill>
                  <a:srgbClr val="E2E8F0"/>
                </a:solidFill>
                <a:latin typeface="Consolas"/>
                <a:ea typeface="Consolas"/>
                <a:cs typeface="Consolas"/>
              </a:rPr>
              <a:t> </a:t>
            </a:r>
            <a:r>
              <a:rPr lang="en-US" sz="1000" b="0" dirty="0">
                <a:solidFill>
                  <a:srgbClr val="60A5FA"/>
                </a:solidFill>
                <a:latin typeface="Consolas"/>
                <a:ea typeface="Consolas"/>
                <a:cs typeface="Consolas"/>
              </a:rPr>
              <a:t>var</a:t>
            </a:r>
            <a:r>
              <a:rPr lang="en-US" sz="1000" b="0" dirty="0">
                <a:solidFill>
                  <a:srgbClr val="E2E8F0"/>
                </a:solidFill>
                <a:latin typeface="Consolas"/>
                <a:ea typeface="Consolas"/>
                <a:cs typeface="Consolas"/>
              </a:rPr>
              <a:t> cts = </a:t>
            </a:r>
            <a:r>
              <a:rPr lang="en-US" sz="1000" b="0" dirty="0">
                <a:solidFill>
                  <a:srgbClr val="60A5FA"/>
                </a:solidFill>
                <a:latin typeface="Consolas"/>
                <a:ea typeface="Consolas"/>
                <a:cs typeface="Consolas"/>
              </a:rPr>
              <a:t>new</a:t>
            </a:r>
            <a:r>
              <a:rPr lang="en-US" sz="1000" b="0" dirty="0">
                <a:solidFill>
                  <a:srgbClr val="E2E8F0"/>
                </a:solidFill>
                <a:latin typeface="Consolas"/>
                <a:ea typeface="Consolas"/>
                <a:cs typeface="Consolas"/>
              </a:rPr>
              <a:t> CancellationTokenSource(TimeSpan.FromSeconds(5));</a:t>
            </a:r>
            <a:endParaRPr lang="en-US" sz="1000" dirty="0"/>
          </a:p>
        </p:txBody>
      </p:sp>
      <p:sp>
        <p:nvSpPr>
          <p:cNvPr id="23" name="cw_L01"/>
          <p:cNvSpPr txBox="1"/>
          <p:nvPr/>
        </p:nvSpPr>
        <p:spPr>
          <a:xfrm>
            <a:off x="771754" y="22514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FAE7A"/>
                </a:solidFill>
                <a:latin typeface="Consolas"/>
                <a:ea typeface="Consolas"/>
                <a:cs typeface="Consolas"/>
              </a:rPr>
              <a:t>// same thing: cts.CancelAfter(TimeSpan.FromSeconds(5));</a:t>
            </a:r>
            <a:endParaRPr lang="en-US" sz="1000" dirty="0"/>
          </a:p>
        </p:txBody>
      </p:sp>
      <p:sp>
        <p:nvSpPr>
          <p:cNvPr id="24" name="cw_L03"/>
          <p:cNvSpPr txBox="1"/>
          <p:nvPr/>
        </p:nvSpPr>
        <p:spPr>
          <a:xfrm>
            <a:off x="771754" y="26578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try</a:t>
            </a:r>
            <a:endParaRPr lang="en-US" sz="1000" dirty="0"/>
          </a:p>
        </p:txBody>
      </p:sp>
      <p:sp>
        <p:nvSpPr>
          <p:cNvPr id="25" name="cw_L04"/>
          <p:cNvSpPr txBox="1"/>
          <p:nvPr/>
        </p:nvSpPr>
        <p:spPr>
          <a:xfrm>
            <a:off x="771754" y="28610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6" name="cw_L05"/>
          <p:cNvSpPr txBox="1"/>
          <p:nvPr/>
        </p:nvSpPr>
        <p:spPr>
          <a:xfrm>
            <a:off x="771754" y="30642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 menu = </a:t>
            </a: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GetMenuAsync(cts.Token);</a:t>
            </a:r>
            <a:endParaRPr lang="en-US" sz="1000" dirty="0"/>
          </a:p>
        </p:txBody>
      </p:sp>
      <p:sp>
        <p:nvSpPr>
          <p:cNvPr id="27" name="cw_L06"/>
          <p:cNvSpPr txBox="1"/>
          <p:nvPr/>
        </p:nvSpPr>
        <p:spPr>
          <a:xfrm>
            <a:off x="771754" y="32674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Console.WriteLine(menu);</a:t>
            </a:r>
            <a:endParaRPr lang="en-US" sz="1000" dirty="0"/>
          </a:p>
        </p:txBody>
      </p:sp>
      <p:sp>
        <p:nvSpPr>
          <p:cNvPr id="28" name="cw_L07"/>
          <p:cNvSpPr txBox="1"/>
          <p:nvPr/>
        </p:nvSpPr>
        <p:spPr>
          <a:xfrm>
            <a:off x="771754" y="34706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29" name="cw_L08"/>
          <p:cNvSpPr txBox="1"/>
          <p:nvPr/>
        </p:nvSpPr>
        <p:spPr>
          <a:xfrm>
            <a:off x="771754" y="36738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catch</a:t>
            </a:r>
            <a:r>
              <a:rPr lang="en-US" sz="1000" b="0" dirty="0">
                <a:solidFill>
                  <a:srgbClr val="E2E8F0"/>
                </a:solidFill>
                <a:latin typeface="Consolas"/>
                <a:ea typeface="Consolas"/>
                <a:cs typeface="Consolas"/>
              </a:rPr>
              <a:t> (OperationCanceledException)</a:t>
            </a:r>
            <a:endParaRPr lang="en-US" sz="1000" dirty="0"/>
          </a:p>
        </p:txBody>
      </p:sp>
      <p:sp>
        <p:nvSpPr>
          <p:cNvPr id="30" name="cw_L09"/>
          <p:cNvSpPr txBox="1"/>
          <p:nvPr/>
        </p:nvSpPr>
        <p:spPr>
          <a:xfrm>
            <a:off x="771754" y="38770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1" name="cw_L10"/>
          <p:cNvSpPr txBox="1"/>
          <p:nvPr/>
        </p:nvSpPr>
        <p:spPr>
          <a:xfrm>
            <a:off x="771754" y="40802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E2E8F0"/>
                </a:solidFill>
                <a:latin typeface="Consolas"/>
                <a:ea typeface="Consolas"/>
                <a:cs typeface="Consolas"/>
              </a:rPr>
              <a:t>Console.WriteLine(</a:t>
            </a:r>
            <a:r>
              <a:rPr lang="en-US" sz="1000" b="0" dirty="0">
                <a:solidFill>
                  <a:srgbClr val="F0A98B"/>
                </a:solidFill>
                <a:latin typeface="Consolas"/>
                <a:ea typeface="Consolas"/>
                <a:cs typeface="Consolas"/>
              </a:rPr>
              <a:t>"The restaurant took too long: try again"</a:t>
            </a:r>
            <a:r>
              <a:rPr lang="en-US" sz="1000" b="0" dirty="0">
                <a:solidFill>
                  <a:srgbClr val="E2E8F0"/>
                </a:solidFill>
                <a:latin typeface="Consolas"/>
                <a:ea typeface="Consolas"/>
                <a:cs typeface="Consolas"/>
              </a:rPr>
              <a:t>);</a:t>
            </a:r>
            <a:endParaRPr lang="en-US" sz="1000" dirty="0"/>
          </a:p>
        </p:txBody>
      </p:sp>
      <p:sp>
        <p:nvSpPr>
          <p:cNvPr id="32" name="cw_L11"/>
          <p:cNvSpPr txBox="1"/>
          <p:nvPr/>
        </p:nvSpPr>
        <p:spPr>
          <a:xfrm>
            <a:off x="771754" y="42834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3" name="cw_L13"/>
          <p:cNvSpPr txBox="1"/>
          <p:nvPr/>
        </p:nvSpPr>
        <p:spPr>
          <a:xfrm>
            <a:off x="771754" y="46898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60A5FA"/>
                </a:solidFill>
                <a:latin typeface="Consolas"/>
                <a:ea typeface="Consolas"/>
                <a:cs typeface="Consolas"/>
              </a:rPr>
              <a:t>async</a:t>
            </a:r>
            <a:r>
              <a:rPr lang="en-US" sz="1000" b="0" dirty="0">
                <a:solidFill>
                  <a:srgbClr val="E2E8F0"/>
                </a:solidFill>
                <a:latin typeface="Consolas"/>
                <a:ea typeface="Consolas"/>
                <a:cs typeface="Consolas"/>
              </a:rPr>
              <a:t> Task&lt;</a:t>
            </a:r>
            <a:r>
              <a:rPr lang="en-US" sz="1000" b="0" dirty="0">
                <a:solidFill>
                  <a:srgbClr val="60A5FA"/>
                </a:solidFill>
                <a:latin typeface="Consolas"/>
                <a:ea typeface="Consolas"/>
                <a:cs typeface="Consolas"/>
              </a:rPr>
              <a:t>string</a:t>
            </a:r>
            <a:r>
              <a:rPr lang="en-US" sz="1000" b="0" dirty="0">
                <a:solidFill>
                  <a:srgbClr val="E2E8F0"/>
                </a:solidFill>
                <a:latin typeface="Consolas"/>
                <a:ea typeface="Consolas"/>
                <a:cs typeface="Consolas"/>
              </a:rPr>
              <a:t>&gt; GetMenuAsync(CancellationToken token)</a:t>
            </a:r>
            <a:endParaRPr lang="en-US" sz="1000" dirty="0"/>
          </a:p>
        </p:txBody>
      </p:sp>
      <p:sp>
        <p:nvSpPr>
          <p:cNvPr id="34" name="cw_L14"/>
          <p:cNvSpPr txBox="1"/>
          <p:nvPr/>
        </p:nvSpPr>
        <p:spPr>
          <a:xfrm>
            <a:off x="771754" y="48930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5" name="cw_L15"/>
          <p:cNvSpPr txBox="1"/>
          <p:nvPr/>
        </p:nvSpPr>
        <p:spPr>
          <a:xfrm>
            <a:off x="771754" y="50962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await</a:t>
            </a:r>
            <a:r>
              <a:rPr lang="en-US" sz="1000" b="0" dirty="0">
                <a:solidFill>
                  <a:srgbClr val="E2E8F0"/>
                </a:solidFill>
                <a:latin typeface="Consolas"/>
                <a:ea typeface="Consolas"/>
                <a:cs typeface="Consolas"/>
              </a:rPr>
              <a:t> Task.Delay(8000, token);   </a:t>
            </a:r>
            <a:r>
              <a:rPr lang="en-US" sz="1000" b="0" dirty="0">
                <a:solidFill>
                  <a:srgbClr val="6FAE7A"/>
                </a:solidFill>
                <a:latin typeface="Consolas"/>
                <a:ea typeface="Consolas"/>
                <a:cs typeface="Consolas"/>
              </a:rPr>
              <a:t>// slow server</a:t>
            </a:r>
            <a:endParaRPr lang="en-US" sz="1000" dirty="0"/>
          </a:p>
        </p:txBody>
      </p:sp>
      <p:sp>
        <p:nvSpPr>
          <p:cNvPr id="36" name="cw_L16"/>
          <p:cNvSpPr txBox="1"/>
          <p:nvPr/>
        </p:nvSpPr>
        <p:spPr>
          <a:xfrm>
            <a:off x="771754" y="5299456"/>
            <a:ext cx="6382512" cy="203200"/>
          </a:xfrm>
          <a:prstGeom prst="rect">
            <a:avLst/>
          </a:prstGeom>
          <a:noFill/>
          <a:ln>
            <a:noFill/>
          </a:ln>
        </p:spPr>
        <p:txBody>
          <a:bodyPr wrap="none" lIns="0" tIns="0" rIns="0" bIns="0" rtlCol="0" anchor="ctr">
            <a:noAutofit/>
          </a:bodyPr>
          <a:lstStyle/>
          <a:p>
            <a:pPr marL="279400" indent="0" algn="l">
              <a:spcBef>
                <a:spcPts val="0"/>
              </a:spcBef>
              <a:spcAft>
                <a:spcPts val="0"/>
              </a:spcAft>
              <a:buNone/>
            </a:pPr>
            <a:r>
              <a:rPr lang="en-US" sz="1000" b="0" dirty="0">
                <a:solidFill>
                  <a:srgbClr val="60A5FA"/>
                </a:solidFill>
                <a:latin typeface="Consolas"/>
                <a:ea typeface="Consolas"/>
                <a:cs typeface="Consolas"/>
              </a:rPr>
              <a:t>return</a:t>
            </a:r>
            <a:r>
              <a:rPr lang="en-US" sz="1000" b="0" dirty="0">
                <a:solidFill>
                  <a:srgbClr val="E2E8F0"/>
                </a:solidFill>
                <a:latin typeface="Consolas"/>
                <a:ea typeface="Consolas"/>
                <a:cs typeface="Consolas"/>
              </a:rPr>
              <a:t> </a:t>
            </a:r>
            <a:r>
              <a:rPr lang="en-US" sz="1000" b="0" dirty="0">
                <a:solidFill>
                  <a:srgbClr val="F0A98B"/>
                </a:solidFill>
                <a:latin typeface="Consolas"/>
                <a:ea typeface="Consolas"/>
                <a:cs typeface="Consolas"/>
              </a:rPr>
              <a:t>"Menu"</a:t>
            </a:r>
            <a:r>
              <a:rPr lang="en-US" sz="1000" b="0" dirty="0">
                <a:solidFill>
                  <a:srgbClr val="E2E8F0"/>
                </a:solidFill>
                <a:latin typeface="Consolas"/>
                <a:ea typeface="Consolas"/>
                <a:cs typeface="Consolas"/>
              </a:rPr>
              <a:t>;</a:t>
            </a:r>
            <a:endParaRPr lang="en-US" sz="1000" dirty="0"/>
          </a:p>
        </p:txBody>
      </p:sp>
      <p:sp>
        <p:nvSpPr>
          <p:cNvPr id="37" name="cw_L17"/>
          <p:cNvSpPr txBox="1"/>
          <p:nvPr/>
        </p:nvSpPr>
        <p:spPr>
          <a:xfrm>
            <a:off x="771754" y="5502656"/>
            <a:ext cx="6382512" cy="2032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a:t>
            </a:r>
            <a:endParaRPr lang="en-US" sz="1000" dirty="0"/>
          </a:p>
        </p:txBody>
      </p:sp>
      <p:sp>
        <p:nvSpPr>
          <p:cNvPr id="38" name="card"/>
          <p:cNvSpPr/>
          <p:nvPr/>
        </p:nvSpPr>
        <p:spPr>
          <a:xfrm>
            <a:off x="7538314" y="1572768"/>
            <a:ext cx="4091940" cy="1402080"/>
          </a:xfrm>
          <a:prstGeom prst="roundRect">
            <a:avLst>
              <a:gd name="adj" fmla="val 5869"/>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AUTOMATIC CANCEL</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The source cancels itself after 5 seconds.</a:t>
            </a:r>
            <a:endParaRPr lang="en-US" sz="1250" dirty="0"/>
          </a:p>
        </p:txBody>
      </p:sp>
      <p:sp>
        <p:nvSpPr>
          <p:cNvPr id="39" name="card"/>
          <p:cNvSpPr/>
          <p:nvPr/>
        </p:nvSpPr>
        <p:spPr>
          <a:xfrm>
            <a:off x="7538314" y="3112008"/>
            <a:ext cx="4091940" cy="1402080"/>
          </a:xfrm>
          <a:prstGeom prst="roundRect">
            <a:avLst>
              <a:gd name="adj" fmla="val 5869"/>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REALLY STOPS</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Unlike the WhenAny timeout, the slow call itself is stopped.</a:t>
            </a:r>
            <a:endParaRPr lang="en-US" sz="1250" dirty="0"/>
          </a:p>
        </p:txBody>
      </p:sp>
      <p:sp>
        <p:nvSpPr>
          <p:cNvPr id="40" name="card"/>
          <p:cNvSpPr/>
          <p:nvPr/>
        </p:nvSpPr>
        <p:spPr>
          <a:xfrm>
            <a:off x="7538314" y="4651248"/>
            <a:ext cx="4091940" cy="1402080"/>
          </a:xfrm>
          <a:prstGeom prst="roundRect">
            <a:avLst>
              <a:gd name="adj" fmla="val 5869"/>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SAME CATCH</a:t>
            </a:r>
            <a:endParaRPr lang="en-US" sz="1100" dirty="0"/>
          </a:p>
          <a:p>
            <a:pPr marL="0" indent="0" algn="l">
              <a:spcBef>
                <a:spcPts val="0"/>
              </a:spcBef>
              <a:spcAft>
                <a:spcPts val="0"/>
              </a:spcAft>
              <a:buNone/>
            </a:pPr>
            <a:r>
              <a:rPr lang="en-US" sz="1250" b="0" dirty="0">
                <a:solidFill>
                  <a:srgbClr val="CBD5E1"/>
                </a:solidFill>
                <a:latin typeface="Segoe UI"/>
                <a:ea typeface="Segoe UI"/>
                <a:cs typeface="Segoe UI"/>
              </a:rPr>
              <a:t>A timeout arrives as OperationCanceledException.</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25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5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25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25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25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25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5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25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25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animBg="1"/>
      <p:bldP spid="39" grpId="0" animBg="1"/>
      <p:bldP spid="4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STATES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Canceled Is Not Failed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CANCELLATION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54</a:t>
            </a:r>
            <a:endParaRPr lang="en-US" sz="850" dirty="0"/>
          </a:p>
        </p:txBody>
      </p:sp>
      <p:sp>
        <p:nvSpPr>
          <p:cNvPr id="15" name="cw_win"/>
          <p:cNvSpPr/>
          <p:nvPr/>
        </p:nvSpPr>
        <p:spPr>
          <a:xfrm>
            <a:off x="543154" y="1572768"/>
            <a:ext cx="6309360" cy="2743200"/>
          </a:xfrm>
          <a:prstGeom prst="roundRect">
            <a:avLst>
              <a:gd name="adj" fmla="val 2500"/>
            </a:avLst>
          </a:prstGeom>
          <a:solidFill>
            <a:srgbClr val="060D18"/>
          </a:solidFill>
          <a:ln w="12700">
            <a:solidFill>
              <a:srgbClr val="1E3A5F"/>
            </a:solidFill>
            <a:prstDash val="solid"/>
          </a:ln>
        </p:spPr>
        <p:txBody>
          <a:bodyPr/>
          <a:lstStyle/>
          <a:p>
            <a:endParaRPr lang="en-US"/>
          </a:p>
        </p:txBody>
      </p:sp>
      <p:sp>
        <p:nvSpPr>
          <p:cNvPr id="16" name="cw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 name="cw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8" name="cw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9" name="cw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20" name="cw_dot2"/>
          <p:cNvSpPr/>
          <p:nvPr/>
        </p:nvSpPr>
        <p:spPr>
          <a:xfrm>
            <a:off x="1076249"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21" name="cw_tab"/>
          <p:cNvSpPr/>
          <p:nvPr/>
        </p:nvSpPr>
        <p:spPr>
          <a:xfrm>
            <a:off x="1324051" y="162031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22" name="cw_L00"/>
          <p:cNvSpPr txBox="1"/>
          <p:nvPr/>
        </p:nvSpPr>
        <p:spPr>
          <a:xfrm>
            <a:off x="771754" y="204825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using</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cts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CancellationTokenSource();</a:t>
            </a:r>
            <a:endParaRPr lang="en-US" sz="950" dirty="0"/>
          </a:p>
        </p:txBody>
      </p:sp>
      <p:sp>
        <p:nvSpPr>
          <p:cNvPr id="23" name="cw_L01"/>
          <p:cNvSpPr txBox="1"/>
          <p:nvPr/>
        </p:nvSpPr>
        <p:spPr>
          <a:xfrm>
            <a:off x="771754" y="224129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cts.Cancel();</a:t>
            </a:r>
            <a:endParaRPr lang="en-US" sz="950" dirty="0"/>
          </a:p>
        </p:txBody>
      </p:sp>
      <p:sp>
        <p:nvSpPr>
          <p:cNvPr id="24" name="cw_L03"/>
          <p:cNvSpPr txBox="1"/>
          <p:nvPr/>
        </p:nvSpPr>
        <p:spPr>
          <a:xfrm>
            <a:off x="771754" y="262737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canceled = Task.Delay(1000, cts.Token);</a:t>
            </a:r>
            <a:endParaRPr lang="en-US" sz="950" dirty="0"/>
          </a:p>
        </p:txBody>
      </p:sp>
      <p:sp>
        <p:nvSpPr>
          <p:cNvPr id="25" name="cw_L04"/>
          <p:cNvSpPr txBox="1"/>
          <p:nvPr/>
        </p:nvSpPr>
        <p:spPr>
          <a:xfrm>
            <a:off x="771754" y="282041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Task faulted = Task.Run(() =&gt; </a:t>
            </a:r>
            <a:r>
              <a:rPr lang="en-US" sz="950" b="0" dirty="0">
                <a:solidFill>
                  <a:srgbClr val="60A5FA"/>
                </a:solidFill>
                <a:latin typeface="Consolas"/>
                <a:ea typeface="Consolas"/>
                <a:cs typeface="Consolas"/>
              </a:rPr>
              <a:t>throw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InvalidOperationException());</a:t>
            </a:r>
            <a:endParaRPr lang="en-US" sz="950" dirty="0"/>
          </a:p>
        </p:txBody>
      </p:sp>
      <p:sp>
        <p:nvSpPr>
          <p:cNvPr id="26" name="cw_L06"/>
          <p:cNvSpPr txBox="1"/>
          <p:nvPr/>
        </p:nvSpPr>
        <p:spPr>
          <a:xfrm>
            <a:off x="771754" y="320649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r>
              <a:rPr lang="en-US" sz="950" b="0" dirty="0">
                <a:solidFill>
                  <a:srgbClr val="E2E8F0"/>
                </a:solidFill>
                <a:latin typeface="Consolas"/>
                <a:ea typeface="Consolas"/>
                <a:cs typeface="Consolas"/>
              </a:rPr>
              <a:t>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canceled; } </a:t>
            </a: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(OperationCanceledException) { }</a:t>
            </a:r>
            <a:endParaRPr lang="en-US" sz="950" dirty="0"/>
          </a:p>
        </p:txBody>
      </p:sp>
      <p:sp>
        <p:nvSpPr>
          <p:cNvPr id="27" name="cw_L07"/>
          <p:cNvSpPr txBox="1"/>
          <p:nvPr/>
        </p:nvSpPr>
        <p:spPr>
          <a:xfrm>
            <a:off x="771754" y="339953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try</a:t>
            </a:r>
            <a:r>
              <a:rPr lang="en-US" sz="950" b="0" dirty="0">
                <a:solidFill>
                  <a:srgbClr val="E2E8F0"/>
                </a:solidFill>
                <a:latin typeface="Consolas"/>
                <a:ea typeface="Consolas"/>
                <a:cs typeface="Consolas"/>
              </a:rPr>
              <a:t>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faulted; } </a:t>
            </a: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(InvalidOperationException) { }</a:t>
            </a:r>
            <a:endParaRPr lang="en-US" sz="950" dirty="0"/>
          </a:p>
        </p:txBody>
      </p:sp>
      <p:sp>
        <p:nvSpPr>
          <p:cNvPr id="28" name="cw_L09"/>
          <p:cNvSpPr txBox="1"/>
          <p:nvPr/>
        </p:nvSpPr>
        <p:spPr>
          <a:xfrm>
            <a:off x="771754" y="378561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Console.WriteLine(canceled.Status);   </a:t>
            </a:r>
            <a:r>
              <a:rPr lang="en-US" sz="950" b="0" dirty="0">
                <a:solidFill>
                  <a:srgbClr val="6FAE7A"/>
                </a:solidFill>
                <a:latin typeface="Consolas"/>
                <a:ea typeface="Consolas"/>
                <a:cs typeface="Consolas"/>
              </a:rPr>
              <a:t>// Canceled</a:t>
            </a:r>
            <a:endParaRPr lang="en-US" sz="950" dirty="0"/>
          </a:p>
        </p:txBody>
      </p:sp>
      <p:sp>
        <p:nvSpPr>
          <p:cNvPr id="29" name="cw_L10"/>
          <p:cNvSpPr txBox="1"/>
          <p:nvPr/>
        </p:nvSpPr>
        <p:spPr>
          <a:xfrm>
            <a:off x="771754" y="397865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Console.WriteLine(faulted.Status);    </a:t>
            </a:r>
            <a:r>
              <a:rPr lang="en-US" sz="950" b="0" dirty="0">
                <a:solidFill>
                  <a:srgbClr val="6FAE7A"/>
                </a:solidFill>
                <a:latin typeface="Consolas"/>
                <a:ea typeface="Consolas"/>
                <a:cs typeface="Consolas"/>
              </a:rPr>
              <a:t>// Faulted</a:t>
            </a:r>
            <a:endParaRPr lang="en-US" sz="950" dirty="0"/>
          </a:p>
        </p:txBody>
      </p:sp>
      <p:sp>
        <p:nvSpPr>
          <p:cNvPr id="30" name="out_win"/>
          <p:cNvSpPr/>
          <p:nvPr/>
        </p:nvSpPr>
        <p:spPr>
          <a:xfrm>
            <a:off x="543154" y="4407408"/>
            <a:ext cx="6309360" cy="978408"/>
          </a:xfrm>
          <a:prstGeom prst="roundRect">
            <a:avLst>
              <a:gd name="adj" fmla="val 7009"/>
            </a:avLst>
          </a:prstGeom>
          <a:solidFill>
            <a:srgbClr val="060D18"/>
          </a:solidFill>
          <a:ln w="12700">
            <a:solidFill>
              <a:srgbClr val="1E3A5F"/>
            </a:solidFill>
            <a:prstDash val="solid"/>
          </a:ln>
        </p:spPr>
        <p:txBody>
          <a:bodyPr/>
          <a:lstStyle/>
          <a:p>
            <a:endParaRPr lang="en-US"/>
          </a:p>
        </p:txBody>
      </p:sp>
      <p:sp>
        <p:nvSpPr>
          <p:cNvPr id="31" name="out_bar"/>
          <p:cNvSpPr/>
          <p:nvPr/>
        </p:nvSpPr>
        <p:spPr>
          <a:xfrm>
            <a:off x="543154" y="440740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32" name="out_barfill"/>
          <p:cNvSpPr/>
          <p:nvPr/>
        </p:nvSpPr>
        <p:spPr>
          <a:xfrm>
            <a:off x="543154" y="4578858"/>
            <a:ext cx="6309360" cy="171450"/>
          </a:xfrm>
          <a:prstGeom prst="rect">
            <a:avLst/>
          </a:prstGeom>
          <a:solidFill>
            <a:srgbClr val="0A1220"/>
          </a:solidFill>
          <a:ln w="12700">
            <a:solidFill>
              <a:srgbClr val="0A1220"/>
            </a:solidFill>
            <a:prstDash val="solid"/>
          </a:ln>
        </p:spPr>
        <p:txBody>
          <a:bodyPr/>
          <a:lstStyle/>
          <a:p>
            <a:endParaRPr lang="en-US"/>
          </a:p>
        </p:txBody>
      </p:sp>
      <p:sp>
        <p:nvSpPr>
          <p:cNvPr id="33" name="out_dot0"/>
          <p:cNvSpPr/>
          <p:nvPr/>
        </p:nvSpPr>
        <p:spPr>
          <a:xfrm>
            <a:off x="705002" y="4531218"/>
            <a:ext cx="95098" cy="95098"/>
          </a:xfrm>
          <a:prstGeom prst="ellipse">
            <a:avLst/>
          </a:prstGeom>
          <a:solidFill>
            <a:srgbClr val="F87171"/>
          </a:solidFill>
          <a:ln w="12700">
            <a:solidFill>
              <a:srgbClr val="F87171"/>
            </a:solidFill>
            <a:prstDash val="solid"/>
          </a:ln>
        </p:spPr>
        <p:txBody>
          <a:bodyPr/>
          <a:lstStyle/>
          <a:p>
            <a:endParaRPr lang="en-US"/>
          </a:p>
        </p:txBody>
      </p:sp>
      <p:sp>
        <p:nvSpPr>
          <p:cNvPr id="34" name="out_dot1"/>
          <p:cNvSpPr/>
          <p:nvPr/>
        </p:nvSpPr>
        <p:spPr>
          <a:xfrm>
            <a:off x="890626" y="4531218"/>
            <a:ext cx="95098" cy="95098"/>
          </a:xfrm>
          <a:prstGeom prst="ellipse">
            <a:avLst/>
          </a:prstGeom>
          <a:solidFill>
            <a:srgbClr val="FBBF24"/>
          </a:solidFill>
          <a:ln w="12700">
            <a:solidFill>
              <a:srgbClr val="FBBF24"/>
            </a:solidFill>
            <a:prstDash val="solid"/>
          </a:ln>
        </p:spPr>
        <p:txBody>
          <a:bodyPr/>
          <a:lstStyle/>
          <a:p>
            <a:endParaRPr lang="en-US"/>
          </a:p>
        </p:txBody>
      </p:sp>
      <p:sp>
        <p:nvSpPr>
          <p:cNvPr id="35" name="out_dot2"/>
          <p:cNvSpPr/>
          <p:nvPr/>
        </p:nvSpPr>
        <p:spPr>
          <a:xfrm>
            <a:off x="1076249" y="4531218"/>
            <a:ext cx="95098" cy="95098"/>
          </a:xfrm>
          <a:prstGeom prst="ellipse">
            <a:avLst/>
          </a:prstGeom>
          <a:solidFill>
            <a:srgbClr val="34D399"/>
          </a:solidFill>
          <a:ln w="12700">
            <a:solidFill>
              <a:srgbClr val="34D399"/>
            </a:solidFill>
            <a:prstDash val="solid"/>
          </a:ln>
        </p:spPr>
        <p:txBody>
          <a:bodyPr/>
          <a:lstStyle/>
          <a:p>
            <a:endParaRPr lang="en-US"/>
          </a:p>
        </p:txBody>
      </p:sp>
      <p:sp>
        <p:nvSpPr>
          <p:cNvPr id="36" name="out_tab"/>
          <p:cNvSpPr/>
          <p:nvPr/>
        </p:nvSpPr>
        <p:spPr>
          <a:xfrm>
            <a:off x="1324051" y="4454957"/>
            <a:ext cx="11887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37" name="out_L00"/>
          <p:cNvSpPr txBox="1"/>
          <p:nvPr/>
        </p:nvSpPr>
        <p:spPr>
          <a:xfrm>
            <a:off x="771754" y="488289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Canceled</a:t>
            </a:r>
            <a:endParaRPr lang="en-US" sz="950" dirty="0"/>
          </a:p>
        </p:txBody>
      </p:sp>
      <p:sp>
        <p:nvSpPr>
          <p:cNvPr id="38" name="out_L01"/>
          <p:cNvSpPr txBox="1"/>
          <p:nvPr/>
        </p:nvSpPr>
        <p:spPr>
          <a:xfrm>
            <a:off x="771754" y="5075936"/>
            <a:ext cx="5925312"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Faulted</a:t>
            </a:r>
            <a:endParaRPr lang="en-US" sz="950" dirty="0"/>
          </a:p>
        </p:txBody>
      </p:sp>
      <p:sp>
        <p:nvSpPr>
          <p:cNvPr id="39" name="tbl_head"/>
          <p:cNvSpPr/>
          <p:nvPr/>
        </p:nvSpPr>
        <p:spPr>
          <a:xfrm>
            <a:off x="7081114" y="1572768"/>
            <a:ext cx="4549140" cy="329184"/>
          </a:xfrm>
          <a:prstGeom prst="roundRect">
            <a:avLst>
              <a:gd name="adj" fmla="val 20000"/>
            </a:avLst>
          </a:prstGeom>
          <a:solidFill>
            <a:srgbClr val="0C1628"/>
          </a:solidFill>
          <a:ln w="12700">
            <a:solidFill>
              <a:srgbClr val="1E3A5F"/>
            </a:solidFill>
            <a:prstDash val="solid"/>
          </a:ln>
        </p:spPr>
        <p:txBody>
          <a:bodyPr/>
          <a:lstStyle/>
          <a:p>
            <a:endParaRPr lang="en-US"/>
          </a:p>
        </p:txBody>
      </p:sp>
      <p:sp>
        <p:nvSpPr>
          <p:cNvPr id="40" name="tbl_h"/>
          <p:cNvSpPr txBox="1"/>
          <p:nvPr/>
        </p:nvSpPr>
        <p:spPr>
          <a:xfrm>
            <a:off x="7209130" y="1572768"/>
            <a:ext cx="1727759"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STATE</a:t>
            </a:r>
            <a:endParaRPr lang="en-US" sz="1000" dirty="0"/>
          </a:p>
        </p:txBody>
      </p:sp>
      <p:sp>
        <p:nvSpPr>
          <p:cNvPr id="41" name="tbl_h"/>
          <p:cNvSpPr txBox="1"/>
          <p:nvPr/>
        </p:nvSpPr>
        <p:spPr>
          <a:xfrm>
            <a:off x="9119768" y="1572768"/>
            <a:ext cx="2455621"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MEANING</a:t>
            </a:r>
            <a:endParaRPr lang="en-US" sz="1000" dirty="0"/>
          </a:p>
        </p:txBody>
      </p:sp>
      <p:sp>
        <p:nvSpPr>
          <p:cNvPr id="42" name="tbl_row"/>
          <p:cNvSpPr/>
          <p:nvPr/>
        </p:nvSpPr>
        <p:spPr>
          <a:xfrm>
            <a:off x="7081114" y="1965960"/>
            <a:ext cx="4549140" cy="566928"/>
          </a:xfrm>
          <a:prstGeom prst="roundRect">
            <a:avLst>
              <a:gd name="adj" fmla="val 12903"/>
            </a:avLst>
          </a:prstGeom>
          <a:solidFill>
            <a:srgbClr val="111B2E"/>
          </a:solidFill>
          <a:ln w="12700">
            <a:solidFill>
              <a:srgbClr val="34D399"/>
            </a:solidFill>
            <a:prstDash val="solid"/>
          </a:ln>
        </p:spPr>
        <p:txBody>
          <a:bodyPr/>
          <a:lstStyle/>
          <a:p>
            <a:endParaRPr lang="en-US"/>
          </a:p>
        </p:txBody>
      </p:sp>
      <p:sp>
        <p:nvSpPr>
          <p:cNvPr id="43" name="tbl_c"/>
          <p:cNvSpPr txBox="1"/>
          <p:nvPr/>
        </p:nvSpPr>
        <p:spPr>
          <a:xfrm>
            <a:off x="7209130" y="1965960"/>
            <a:ext cx="1727759"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RanToCompletion</a:t>
            </a:r>
            <a:endParaRPr lang="en-US" sz="1150" dirty="0"/>
          </a:p>
        </p:txBody>
      </p:sp>
      <p:sp>
        <p:nvSpPr>
          <p:cNvPr id="44" name="tbl_c"/>
          <p:cNvSpPr txBox="1"/>
          <p:nvPr/>
        </p:nvSpPr>
        <p:spPr>
          <a:xfrm>
            <a:off x="9119768" y="1965960"/>
            <a:ext cx="2455621"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it worked</a:t>
            </a:r>
            <a:endParaRPr lang="en-US" sz="1150" dirty="0"/>
          </a:p>
        </p:txBody>
      </p:sp>
      <p:sp>
        <p:nvSpPr>
          <p:cNvPr id="45" name="tbl_row"/>
          <p:cNvSpPr/>
          <p:nvPr/>
        </p:nvSpPr>
        <p:spPr>
          <a:xfrm>
            <a:off x="7081114" y="2596896"/>
            <a:ext cx="4549140" cy="566928"/>
          </a:xfrm>
          <a:prstGeom prst="roundRect">
            <a:avLst>
              <a:gd name="adj" fmla="val 12903"/>
            </a:avLst>
          </a:prstGeom>
          <a:solidFill>
            <a:srgbClr val="111B2E"/>
          </a:solidFill>
          <a:ln w="12700">
            <a:solidFill>
              <a:srgbClr val="F87171"/>
            </a:solidFill>
            <a:prstDash val="solid"/>
          </a:ln>
        </p:spPr>
        <p:txBody>
          <a:bodyPr/>
          <a:lstStyle/>
          <a:p>
            <a:endParaRPr lang="en-US"/>
          </a:p>
        </p:txBody>
      </p:sp>
      <p:sp>
        <p:nvSpPr>
          <p:cNvPr id="46" name="tbl_c"/>
          <p:cNvSpPr txBox="1"/>
          <p:nvPr/>
        </p:nvSpPr>
        <p:spPr>
          <a:xfrm>
            <a:off x="7209130" y="2596896"/>
            <a:ext cx="1727759"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Consolas"/>
                <a:ea typeface="Consolas"/>
                <a:cs typeface="Consolas"/>
              </a:rPr>
              <a:t>Faulted</a:t>
            </a:r>
            <a:endParaRPr lang="en-US" sz="1150" dirty="0"/>
          </a:p>
        </p:txBody>
      </p:sp>
      <p:sp>
        <p:nvSpPr>
          <p:cNvPr id="47" name="tbl_c"/>
          <p:cNvSpPr txBox="1"/>
          <p:nvPr/>
        </p:nvSpPr>
        <p:spPr>
          <a:xfrm>
            <a:off x="9119768" y="2596896"/>
            <a:ext cx="2455621"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something broke: log it</a:t>
            </a:r>
            <a:endParaRPr lang="en-US" sz="1150" dirty="0"/>
          </a:p>
        </p:txBody>
      </p:sp>
      <p:sp>
        <p:nvSpPr>
          <p:cNvPr id="48" name="tbl_row"/>
          <p:cNvSpPr/>
          <p:nvPr/>
        </p:nvSpPr>
        <p:spPr>
          <a:xfrm>
            <a:off x="7081114" y="3227832"/>
            <a:ext cx="4549140" cy="566928"/>
          </a:xfrm>
          <a:prstGeom prst="roundRect">
            <a:avLst>
              <a:gd name="adj" fmla="val 12903"/>
            </a:avLst>
          </a:prstGeom>
          <a:solidFill>
            <a:srgbClr val="111B2E"/>
          </a:solidFill>
          <a:ln w="12700">
            <a:solidFill>
              <a:srgbClr val="FBBF24"/>
            </a:solidFill>
            <a:prstDash val="solid"/>
          </a:ln>
        </p:spPr>
        <p:txBody>
          <a:bodyPr/>
          <a:lstStyle/>
          <a:p>
            <a:endParaRPr lang="en-US"/>
          </a:p>
        </p:txBody>
      </p:sp>
      <p:sp>
        <p:nvSpPr>
          <p:cNvPr id="49" name="tbl_c"/>
          <p:cNvSpPr txBox="1"/>
          <p:nvPr/>
        </p:nvSpPr>
        <p:spPr>
          <a:xfrm>
            <a:off x="7209130" y="3227832"/>
            <a:ext cx="1727759"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Consolas"/>
                <a:ea typeface="Consolas"/>
                <a:cs typeface="Consolas"/>
              </a:rPr>
              <a:t>Canceled</a:t>
            </a:r>
            <a:endParaRPr lang="en-US" sz="1150" dirty="0"/>
          </a:p>
        </p:txBody>
      </p:sp>
      <p:sp>
        <p:nvSpPr>
          <p:cNvPr id="50" name="tbl_c"/>
          <p:cNvSpPr txBox="1"/>
          <p:nvPr/>
        </p:nvSpPr>
        <p:spPr>
          <a:xfrm>
            <a:off x="9119768" y="3227832"/>
            <a:ext cx="2455621" cy="56692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CBD5E1"/>
                </a:solidFill>
                <a:latin typeface="Segoe UI"/>
                <a:ea typeface="Segoe UI"/>
                <a:cs typeface="Segoe UI"/>
              </a:rPr>
              <a:t>someone asked to stop</a:t>
            </a:r>
            <a:endParaRPr lang="en-US" sz="1150" dirty="0"/>
          </a:p>
        </p:txBody>
      </p:sp>
      <p:sp>
        <p:nvSpPr>
          <p:cNvPr id="51" name="card"/>
          <p:cNvSpPr/>
          <p:nvPr/>
        </p:nvSpPr>
        <p:spPr>
          <a:xfrm>
            <a:off x="7081114" y="3950208"/>
            <a:ext cx="4549140" cy="1389888"/>
          </a:xfrm>
          <a:prstGeom prst="roundRect">
            <a:avLst>
              <a:gd name="adj" fmla="val 5921"/>
            </a:avLst>
          </a:prstGeom>
          <a:solidFill>
            <a:srgbClr val="111B2E"/>
          </a:solidFill>
          <a:ln w="12700">
            <a:solidFill>
              <a:srgbClr val="FBBF24"/>
            </a:solidFill>
            <a:prstDash val="solid"/>
          </a:ln>
        </p:spPr>
        <p:txBody>
          <a:bodyPr wrap="square" lIns="192024" tIns="114300" rIns="192024" bIns="114300" rtlCol="0" anchor="ctr">
            <a:noAutofit/>
          </a:bodyPr>
          <a:lstStyle/>
          <a:p>
            <a:pPr marL="0" indent="0" algn="l">
              <a:spcBef>
                <a:spcPts val="0"/>
              </a:spcBef>
              <a:spcAft>
                <a:spcPts val="0"/>
              </a:spcAft>
              <a:buNone/>
            </a:pPr>
            <a:r>
              <a:rPr lang="en-US" sz="1250" b="0" dirty="0">
                <a:solidFill>
                  <a:srgbClr val="CBD5E1"/>
                </a:solidFill>
                <a:latin typeface="Segoe UI"/>
                <a:ea typeface="Segoe UI"/>
                <a:cs typeface="Segoe UI"/>
              </a:rPr>
              <a:t>Catch OperationCanceledException separately from real failures.</a:t>
            </a:r>
            <a:endParaRPr lang="en-US" sz="1250" dirty="0"/>
          </a:p>
        </p:txBody>
      </p:sp>
      <p:sp>
        <p:nvSpPr>
          <p:cNvPr id="52" name="banner"/>
          <p:cNvSpPr/>
          <p:nvPr/>
        </p:nvSpPr>
        <p:spPr>
          <a:xfrm>
            <a:off x="543154" y="5440680"/>
            <a:ext cx="11087100" cy="566928"/>
          </a:xfrm>
          <a:prstGeom prst="roundRect">
            <a:avLst>
              <a:gd name="adj" fmla="val 12500"/>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Cancellation is not failure: Completed, Faulted and Canceled are different outcomes.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2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5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5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25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250"/>
                                        <p:tgtEl>
                                          <p:spTgt spid="3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250"/>
                                        <p:tgtEl>
                                          <p:spTgt spid="3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250"/>
                                        <p:tgtEl>
                                          <p:spTgt spid="3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2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2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250"/>
                                        <p:tgtEl>
                                          <p:spTgt spid="4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250"/>
                                        <p:tgtEl>
                                          <p:spTgt spid="4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250"/>
                                        <p:tgtEl>
                                          <p:spTgt spid="4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250"/>
                                        <p:tgtEl>
                                          <p:spTgt spid="4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250"/>
                                        <p:tgtEl>
                                          <p:spTgt spid="4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250"/>
                                        <p:tgtEl>
                                          <p:spTgt spid="4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fade">
                                      <p:cBhvr>
                                        <p:cTn id="68" dur="250"/>
                                        <p:tgtEl>
                                          <p:spTgt spid="4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250"/>
                                        <p:tgtEl>
                                          <p:spTgt spid="4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250"/>
                                        <p:tgtEl>
                                          <p:spTgt spid="5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25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2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7" grpId="0"/>
      <p:bldP spid="38" grpId="0"/>
      <p:bldP spid="39" grpId="0" animBg="1"/>
      <p:bldP spid="40" grpId="0"/>
      <p:bldP spid="41" grpId="0"/>
      <p:bldP spid="42" grpId="0" animBg="1"/>
      <p:bldP spid="43" grpId="0"/>
      <p:bldP spid="44" grpId="0"/>
      <p:bldP spid="45" grpId="0" animBg="1"/>
      <p:bldP spid="46" grpId="0"/>
      <p:bldP spid="47" grpId="0"/>
      <p:bldP spid="48" grpId="0" animBg="1"/>
      <p:bldP spid="49" grpId="0"/>
      <p:bldP spid="50" grpId="0"/>
      <p:bldP spid="51" grpId="0" animBg="1"/>
      <p:bldP spid="5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THREE WORDS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Concurrency vs Parallelism vs Asynchrony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ASYNC / AWAIT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47</a:t>
            </a:r>
            <a:endParaRPr lang="en-US" sz="850" dirty="0"/>
          </a:p>
        </p:txBody>
      </p:sp>
      <p:grpSp>
        <p:nvGrpSpPr>
          <p:cNvPr id="117" name="col0"/>
          <p:cNvGrpSpPr/>
          <p:nvPr/>
        </p:nvGrpSpPr>
        <p:grpSpPr>
          <a:xfrm>
            <a:off x="543154" y="1481328"/>
            <a:ext cx="3543300" cy="4069080"/>
            <a:chOff x="543154" y="1481328"/>
            <a:chExt cx="3543300" cy="4069080"/>
          </a:xfrm>
        </p:grpSpPr>
        <p:sp>
          <p:nvSpPr>
            <p:cNvPr id="101" name="bg0"/>
            <p:cNvSpPr/>
            <p:nvPr/>
          </p:nvSpPr>
          <p:spPr>
            <a:xfrm>
              <a:off x="543154" y="1481328"/>
              <a:ext cx="3543300" cy="4069080"/>
            </a:xfrm>
            <a:prstGeom prst="roundRect">
              <a:avLst>
                <a:gd name="adj" fmla="val 5000"/>
              </a:avLst>
            </a:prstGeom>
            <a:solidFill>
              <a:srgbClr val="111B2E"/>
            </a:solidFill>
            <a:ln w="12700">
              <a:solidFill>
                <a:srgbClr val="13D0F7"/>
              </a:solidFill>
              <a:prstDash val="solid"/>
            </a:ln>
          </p:spPr>
          <p:txBody>
            <a:bodyPr/>
            <a:lstStyle/>
            <a:p>
              <a:endParaRPr lang="en-US"/>
            </a:p>
          </p:txBody>
        </p:sp>
        <p:sp>
          <p:nvSpPr>
            <p:cNvPr id="102" name="t0"/>
            <p:cNvSpPr txBox="1"/>
            <p:nvPr/>
          </p:nvSpPr>
          <p:spPr>
            <a:xfrm>
              <a:off x="707746" y="1554480"/>
              <a:ext cx="326898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500" b="1" dirty="0">
                  <a:solidFill>
                    <a:srgbClr val="13D0F7"/>
                  </a:solidFill>
                  <a:latin typeface="Segoe UI"/>
                  <a:ea typeface="Segoe UI"/>
                  <a:cs typeface="Segoe UI"/>
                </a:rPr>
                <a:t>CONCURRENCY</a:t>
              </a:r>
              <a:endParaRPr lang="en-US" sz="1500" dirty="0"/>
            </a:p>
          </p:txBody>
        </p:sp>
        <p:sp>
          <p:nvSpPr>
            <p:cNvPr id="103" name="d0"/>
            <p:cNvSpPr txBox="1"/>
            <p:nvPr/>
          </p:nvSpPr>
          <p:spPr>
            <a:xfrm>
              <a:off x="707746" y="1892808"/>
              <a:ext cx="3268980" cy="6583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E2E8F0"/>
                  </a:solidFill>
                  <a:latin typeface="Segoe UI"/>
                  <a:ea typeface="Segoe UI"/>
                  <a:cs typeface="Segoe UI"/>
                </a:rPr>
                <a:t>Several operations make progress in the same period, even if not at the same instant.</a:t>
              </a:r>
              <a:endParaRPr lang="en-US" sz="1100" dirty="0"/>
            </a:p>
          </p:txBody>
        </p:sp>
        <p:sp>
          <p:nvSpPr>
            <p:cNvPr id="104" name="c0l"/>
            <p:cNvSpPr txBox="1"/>
            <p:nvPr/>
          </p:nvSpPr>
          <p:spPr>
            <a:xfrm>
              <a:off x="707746" y="2651760"/>
              <a:ext cx="3214116"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1 core, switching</a:t>
              </a:r>
              <a:endParaRPr lang="en-US" sz="900" dirty="0"/>
            </a:p>
          </p:txBody>
        </p:sp>
        <p:sp>
          <p:nvSpPr>
            <p:cNvPr id="105" name="c0s0"/>
            <p:cNvSpPr/>
            <p:nvPr/>
          </p:nvSpPr>
          <p:spPr>
            <a:xfrm>
              <a:off x="707746" y="2907792"/>
              <a:ext cx="499110" cy="310896"/>
            </a:xfrm>
            <a:prstGeom prst="roundRect">
              <a:avLst>
                <a:gd name="adj" fmla="val 15000"/>
              </a:avLst>
            </a:prstGeom>
            <a:solidFill>
              <a:srgbClr val="13D0F7">
                <a:alpha val="30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A</a:t>
              </a:r>
              <a:endParaRPr lang="en-US" sz="900" dirty="0"/>
            </a:p>
          </p:txBody>
        </p:sp>
        <p:sp>
          <p:nvSpPr>
            <p:cNvPr id="106" name="c0s1"/>
            <p:cNvSpPr/>
            <p:nvPr/>
          </p:nvSpPr>
          <p:spPr>
            <a:xfrm>
              <a:off x="1243432" y="2907792"/>
              <a:ext cx="499110" cy="310896"/>
            </a:xfrm>
            <a:prstGeom prst="roundRect">
              <a:avLst>
                <a:gd name="adj" fmla="val 15000"/>
              </a:avLst>
            </a:prstGeom>
            <a:solidFill>
              <a:srgbClr val="FBBF24">
                <a:alpha val="30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B</a:t>
              </a:r>
              <a:endParaRPr lang="en-US" sz="900" dirty="0"/>
            </a:p>
          </p:txBody>
        </p:sp>
        <p:sp>
          <p:nvSpPr>
            <p:cNvPr id="107" name="c0s2"/>
            <p:cNvSpPr/>
            <p:nvPr/>
          </p:nvSpPr>
          <p:spPr>
            <a:xfrm>
              <a:off x="1779118" y="2907792"/>
              <a:ext cx="499110" cy="310896"/>
            </a:xfrm>
            <a:prstGeom prst="roundRect">
              <a:avLst>
                <a:gd name="adj" fmla="val 15000"/>
              </a:avLst>
            </a:prstGeom>
            <a:solidFill>
              <a:srgbClr val="13D0F7">
                <a:alpha val="30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A</a:t>
              </a:r>
              <a:endParaRPr lang="en-US" sz="900" dirty="0"/>
            </a:p>
          </p:txBody>
        </p:sp>
        <p:sp>
          <p:nvSpPr>
            <p:cNvPr id="108" name="c0s3"/>
            <p:cNvSpPr/>
            <p:nvPr/>
          </p:nvSpPr>
          <p:spPr>
            <a:xfrm>
              <a:off x="2314804" y="2907792"/>
              <a:ext cx="499110" cy="310896"/>
            </a:xfrm>
            <a:prstGeom prst="roundRect">
              <a:avLst>
                <a:gd name="adj" fmla="val 15000"/>
              </a:avLst>
            </a:prstGeom>
            <a:solidFill>
              <a:srgbClr val="FBBF24">
                <a:alpha val="30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B</a:t>
              </a:r>
              <a:endParaRPr lang="en-US" sz="900" dirty="0"/>
            </a:p>
          </p:txBody>
        </p:sp>
        <p:sp>
          <p:nvSpPr>
            <p:cNvPr id="109" name="c0s4"/>
            <p:cNvSpPr/>
            <p:nvPr/>
          </p:nvSpPr>
          <p:spPr>
            <a:xfrm>
              <a:off x="2850490" y="2907792"/>
              <a:ext cx="499110" cy="310896"/>
            </a:xfrm>
            <a:prstGeom prst="roundRect">
              <a:avLst>
                <a:gd name="adj" fmla="val 15000"/>
              </a:avLst>
            </a:prstGeom>
            <a:solidFill>
              <a:srgbClr val="13D0F7">
                <a:alpha val="30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A</a:t>
              </a:r>
              <a:endParaRPr lang="en-US" sz="900" dirty="0"/>
            </a:p>
          </p:txBody>
        </p:sp>
        <p:sp>
          <p:nvSpPr>
            <p:cNvPr id="110" name="c0s5"/>
            <p:cNvSpPr/>
            <p:nvPr/>
          </p:nvSpPr>
          <p:spPr>
            <a:xfrm>
              <a:off x="3386176" y="2907792"/>
              <a:ext cx="499110" cy="310896"/>
            </a:xfrm>
            <a:prstGeom prst="roundRect">
              <a:avLst>
                <a:gd name="adj" fmla="val 15000"/>
              </a:avLst>
            </a:prstGeom>
            <a:solidFill>
              <a:srgbClr val="FBBF24">
                <a:alpha val="30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B</a:t>
              </a:r>
              <a:endParaRPr lang="en-US" sz="900" dirty="0"/>
            </a:p>
          </p:txBody>
        </p:sp>
        <p:sp>
          <p:nvSpPr>
            <p:cNvPr id="111" name="r00h"/>
            <p:cNvSpPr txBox="1"/>
            <p:nvPr/>
          </p:nvSpPr>
          <p:spPr>
            <a:xfrm>
              <a:off x="707746" y="3493008"/>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ASKS</a:t>
              </a:r>
              <a:endParaRPr lang="en-US" sz="900" dirty="0"/>
            </a:p>
          </p:txBody>
        </p:sp>
        <p:sp>
          <p:nvSpPr>
            <p:cNvPr id="112" name="r00b"/>
            <p:cNvSpPr txBox="1"/>
            <p:nvPr/>
          </p:nvSpPr>
          <p:spPr>
            <a:xfrm>
              <a:off x="707746" y="3712464"/>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1" dirty="0">
                  <a:solidFill>
                    <a:srgbClr val="13D0F7"/>
                  </a:solidFill>
                  <a:latin typeface="Segoe UI"/>
                  <a:ea typeface="Segoe UI"/>
                  <a:cs typeface="Segoe UI"/>
                </a:rPr>
                <a:t>Are several things in progress?</a:t>
              </a:r>
              <a:endParaRPr lang="en-US" sz="1050" dirty="0"/>
            </a:p>
          </p:txBody>
        </p:sp>
        <p:sp>
          <p:nvSpPr>
            <p:cNvPr id="113" name="r01h"/>
            <p:cNvSpPr txBox="1"/>
            <p:nvPr/>
          </p:nvSpPr>
          <p:spPr>
            <a:xfrm>
              <a:off x="707746" y="4151376"/>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IN C#</a:t>
              </a:r>
              <a:endParaRPr lang="en-US" sz="900" dirty="0"/>
            </a:p>
          </p:txBody>
        </p:sp>
        <p:sp>
          <p:nvSpPr>
            <p:cNvPr id="114" name="r01b"/>
            <p:cNvSpPr txBox="1"/>
            <p:nvPr/>
          </p:nvSpPr>
          <p:spPr>
            <a:xfrm>
              <a:off x="707746" y="4370832"/>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E2E8F0"/>
                  </a:solidFill>
                  <a:latin typeface="Segoe UI"/>
                  <a:ea typeface="Segoe UI"/>
                  <a:cs typeface="Segoe UI"/>
                </a:rPr>
                <a:t>Task.WhenAll on I/O · many requests in ASP.NET Core</a:t>
              </a:r>
              <a:endParaRPr lang="en-US" sz="1050" dirty="0"/>
            </a:p>
          </p:txBody>
        </p:sp>
        <p:sp>
          <p:nvSpPr>
            <p:cNvPr id="115" name="r02h"/>
            <p:cNvSpPr txBox="1"/>
            <p:nvPr/>
          </p:nvSpPr>
          <p:spPr>
            <a:xfrm>
              <a:off x="707746" y="4809744"/>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KITCHEN</a:t>
              </a:r>
              <a:endParaRPr lang="en-US" sz="900" dirty="0"/>
            </a:p>
          </p:txBody>
        </p:sp>
        <p:sp>
          <p:nvSpPr>
            <p:cNvPr id="116" name="r02b"/>
            <p:cNvSpPr txBox="1"/>
            <p:nvPr/>
          </p:nvSpPr>
          <p:spPr>
            <a:xfrm>
              <a:off x="707746" y="5029200"/>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E2E8F0"/>
                  </a:solidFill>
                  <a:latin typeface="Segoe UI"/>
                  <a:ea typeface="Segoe UI"/>
                  <a:cs typeface="Segoe UI"/>
                </a:rPr>
                <a:t>One chef cooks 3 dishes, switching between them.</a:t>
              </a:r>
              <a:endParaRPr lang="en-US" sz="1050" dirty="0"/>
            </a:p>
          </p:txBody>
        </p:sp>
      </p:grpSp>
      <p:grpSp>
        <p:nvGrpSpPr>
          <p:cNvPr id="131" name="col1"/>
          <p:cNvGrpSpPr/>
          <p:nvPr/>
        </p:nvGrpSpPr>
        <p:grpSpPr>
          <a:xfrm>
            <a:off x="4315054" y="1481328"/>
            <a:ext cx="3543300" cy="4069080"/>
            <a:chOff x="4315054" y="1481328"/>
            <a:chExt cx="3543300" cy="4069080"/>
          </a:xfrm>
        </p:grpSpPr>
        <p:sp>
          <p:nvSpPr>
            <p:cNvPr id="118" name="bg1"/>
            <p:cNvSpPr/>
            <p:nvPr/>
          </p:nvSpPr>
          <p:spPr>
            <a:xfrm>
              <a:off x="4315054" y="1481328"/>
              <a:ext cx="3543300" cy="4069080"/>
            </a:xfrm>
            <a:prstGeom prst="roundRect">
              <a:avLst>
                <a:gd name="adj" fmla="val 5000"/>
              </a:avLst>
            </a:prstGeom>
            <a:solidFill>
              <a:srgbClr val="111B2E"/>
            </a:solidFill>
            <a:ln w="12700">
              <a:solidFill>
                <a:srgbClr val="A78BFA"/>
              </a:solidFill>
              <a:prstDash val="solid"/>
            </a:ln>
          </p:spPr>
          <p:txBody>
            <a:bodyPr/>
            <a:lstStyle/>
            <a:p>
              <a:endParaRPr lang="en-US"/>
            </a:p>
          </p:txBody>
        </p:sp>
        <p:sp>
          <p:nvSpPr>
            <p:cNvPr id="119" name="t1"/>
            <p:cNvSpPr txBox="1"/>
            <p:nvPr/>
          </p:nvSpPr>
          <p:spPr>
            <a:xfrm>
              <a:off x="4479646" y="1554480"/>
              <a:ext cx="326898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500" b="1" dirty="0">
                  <a:solidFill>
                    <a:srgbClr val="A78BFA"/>
                  </a:solidFill>
                  <a:latin typeface="Segoe UI"/>
                  <a:ea typeface="Segoe UI"/>
                  <a:cs typeface="Segoe UI"/>
                </a:rPr>
                <a:t>PARALLELISM</a:t>
              </a:r>
              <a:endParaRPr lang="en-US" sz="1500" dirty="0"/>
            </a:p>
          </p:txBody>
        </p:sp>
        <p:sp>
          <p:nvSpPr>
            <p:cNvPr id="120" name="d1"/>
            <p:cNvSpPr txBox="1"/>
            <p:nvPr/>
          </p:nvSpPr>
          <p:spPr>
            <a:xfrm>
              <a:off x="4479646" y="1892808"/>
              <a:ext cx="3268980" cy="6583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E2E8F0"/>
                  </a:solidFill>
                  <a:latin typeface="Segoe UI"/>
                  <a:ea typeface="Segoe UI"/>
                  <a:cs typeface="Segoe UI"/>
                </a:rPr>
                <a:t>Several operations run at the exact same instant, on different resources like CPU cores.</a:t>
              </a:r>
              <a:endParaRPr lang="en-US" sz="1100" dirty="0"/>
            </a:p>
          </p:txBody>
        </p:sp>
        <p:sp>
          <p:nvSpPr>
            <p:cNvPr id="121" name="c1l0"/>
            <p:cNvSpPr txBox="1"/>
            <p:nvPr/>
          </p:nvSpPr>
          <p:spPr>
            <a:xfrm>
              <a:off x="4479646" y="2651760"/>
              <a:ext cx="640080" cy="31089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core 1</a:t>
              </a:r>
              <a:endParaRPr lang="en-US" sz="900" dirty="0"/>
            </a:p>
          </p:txBody>
        </p:sp>
        <p:sp>
          <p:nvSpPr>
            <p:cNvPr id="122" name="c1s0"/>
            <p:cNvSpPr/>
            <p:nvPr/>
          </p:nvSpPr>
          <p:spPr>
            <a:xfrm>
              <a:off x="5165446" y="2670048"/>
              <a:ext cx="2528316" cy="274320"/>
            </a:xfrm>
            <a:prstGeom prst="roundRect">
              <a:avLst>
                <a:gd name="adj" fmla="val 15000"/>
              </a:avLst>
            </a:prstGeom>
            <a:solidFill>
              <a:srgbClr val="13D0F7">
                <a:alpha val="30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A</a:t>
              </a:r>
              <a:endParaRPr lang="en-US" sz="900" dirty="0"/>
            </a:p>
          </p:txBody>
        </p:sp>
        <p:sp>
          <p:nvSpPr>
            <p:cNvPr id="123" name="c1l1"/>
            <p:cNvSpPr txBox="1"/>
            <p:nvPr/>
          </p:nvSpPr>
          <p:spPr>
            <a:xfrm>
              <a:off x="4479646" y="3017520"/>
              <a:ext cx="640080" cy="31089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core 2</a:t>
              </a:r>
              <a:endParaRPr lang="en-US" sz="900" dirty="0"/>
            </a:p>
          </p:txBody>
        </p:sp>
        <p:sp>
          <p:nvSpPr>
            <p:cNvPr id="124" name="c1s1"/>
            <p:cNvSpPr/>
            <p:nvPr/>
          </p:nvSpPr>
          <p:spPr>
            <a:xfrm>
              <a:off x="5165446" y="3035808"/>
              <a:ext cx="2528316" cy="274320"/>
            </a:xfrm>
            <a:prstGeom prst="roundRect">
              <a:avLst>
                <a:gd name="adj" fmla="val 15000"/>
              </a:avLst>
            </a:prstGeom>
            <a:solidFill>
              <a:srgbClr val="FBBF24">
                <a:alpha val="30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B</a:t>
              </a:r>
              <a:endParaRPr lang="en-US" sz="900" dirty="0"/>
            </a:p>
          </p:txBody>
        </p:sp>
        <p:sp>
          <p:nvSpPr>
            <p:cNvPr id="125" name="r10h"/>
            <p:cNvSpPr txBox="1"/>
            <p:nvPr/>
          </p:nvSpPr>
          <p:spPr>
            <a:xfrm>
              <a:off x="4479646" y="3493008"/>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ASKS</a:t>
              </a:r>
              <a:endParaRPr lang="en-US" sz="900" dirty="0"/>
            </a:p>
          </p:txBody>
        </p:sp>
        <p:sp>
          <p:nvSpPr>
            <p:cNvPr id="126" name="r10b"/>
            <p:cNvSpPr txBox="1"/>
            <p:nvPr/>
          </p:nvSpPr>
          <p:spPr>
            <a:xfrm>
              <a:off x="4479646" y="3712464"/>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1" dirty="0">
                  <a:solidFill>
                    <a:srgbClr val="A78BFA"/>
                  </a:solidFill>
                  <a:latin typeface="Segoe UI"/>
                  <a:ea typeface="Segoe UI"/>
                  <a:cs typeface="Segoe UI"/>
                </a:rPr>
                <a:t>Are they running at the same instant?</a:t>
              </a:r>
              <a:endParaRPr lang="en-US" sz="1050" dirty="0"/>
            </a:p>
          </p:txBody>
        </p:sp>
        <p:sp>
          <p:nvSpPr>
            <p:cNvPr id="127" name="r11h"/>
            <p:cNvSpPr txBox="1"/>
            <p:nvPr/>
          </p:nvSpPr>
          <p:spPr>
            <a:xfrm>
              <a:off x="4479646" y="4151376"/>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IN C#</a:t>
              </a:r>
              <a:endParaRPr lang="en-US" sz="900" dirty="0"/>
            </a:p>
          </p:txBody>
        </p:sp>
        <p:sp>
          <p:nvSpPr>
            <p:cNvPr id="128" name="r11b"/>
            <p:cNvSpPr txBox="1"/>
            <p:nvPr/>
          </p:nvSpPr>
          <p:spPr>
            <a:xfrm>
              <a:off x="4479646" y="4370832"/>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E2E8F0"/>
                  </a:solidFill>
                  <a:latin typeface="Segoe UI"/>
                  <a:ea typeface="Segoe UI"/>
                  <a:cs typeface="Segoe UI"/>
                </a:rPr>
                <a:t>Parallel.For / ForEach · PLINQ · Task.Run for CPU work</a:t>
              </a:r>
              <a:endParaRPr lang="en-US" sz="1050" dirty="0"/>
            </a:p>
          </p:txBody>
        </p:sp>
        <p:sp>
          <p:nvSpPr>
            <p:cNvPr id="129" name="r12h"/>
            <p:cNvSpPr txBox="1"/>
            <p:nvPr/>
          </p:nvSpPr>
          <p:spPr>
            <a:xfrm>
              <a:off x="4479646" y="4809744"/>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KITCHEN</a:t>
              </a:r>
              <a:endParaRPr lang="en-US" sz="900" dirty="0"/>
            </a:p>
          </p:txBody>
        </p:sp>
        <p:sp>
          <p:nvSpPr>
            <p:cNvPr id="130" name="r12b"/>
            <p:cNvSpPr txBox="1"/>
            <p:nvPr/>
          </p:nvSpPr>
          <p:spPr>
            <a:xfrm>
              <a:off x="4479646" y="5029200"/>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E2E8F0"/>
                  </a:solidFill>
                  <a:latin typeface="Segoe UI"/>
                  <a:ea typeface="Segoe UI"/>
                  <a:cs typeface="Segoe UI"/>
                </a:rPr>
                <a:t>3 chefs on 3 stoves, cooking at once.</a:t>
              </a:r>
              <a:endParaRPr lang="en-US" sz="1050" dirty="0"/>
            </a:p>
          </p:txBody>
        </p:sp>
      </p:grpSp>
      <p:grpSp>
        <p:nvGrpSpPr>
          <p:cNvPr id="145" name="col2"/>
          <p:cNvGrpSpPr/>
          <p:nvPr/>
        </p:nvGrpSpPr>
        <p:grpSpPr>
          <a:xfrm>
            <a:off x="8086954" y="1481328"/>
            <a:ext cx="3543300" cy="4069080"/>
            <a:chOff x="8086954" y="1481328"/>
            <a:chExt cx="3543300" cy="4069080"/>
          </a:xfrm>
        </p:grpSpPr>
        <p:sp>
          <p:nvSpPr>
            <p:cNvPr id="132" name="bg2"/>
            <p:cNvSpPr/>
            <p:nvPr/>
          </p:nvSpPr>
          <p:spPr>
            <a:xfrm>
              <a:off x="8086954" y="1481328"/>
              <a:ext cx="3543300" cy="4069080"/>
            </a:xfrm>
            <a:prstGeom prst="roundRect">
              <a:avLst>
                <a:gd name="adj" fmla="val 5000"/>
              </a:avLst>
            </a:prstGeom>
            <a:solidFill>
              <a:srgbClr val="111B2E"/>
            </a:solidFill>
            <a:ln w="12700">
              <a:solidFill>
                <a:srgbClr val="34D399"/>
              </a:solidFill>
              <a:prstDash val="solid"/>
            </a:ln>
          </p:spPr>
          <p:txBody>
            <a:bodyPr/>
            <a:lstStyle/>
            <a:p>
              <a:endParaRPr lang="en-US"/>
            </a:p>
          </p:txBody>
        </p:sp>
        <p:sp>
          <p:nvSpPr>
            <p:cNvPr id="133" name="t2"/>
            <p:cNvSpPr txBox="1"/>
            <p:nvPr/>
          </p:nvSpPr>
          <p:spPr>
            <a:xfrm>
              <a:off x="8251546" y="1554480"/>
              <a:ext cx="326898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500" b="1" dirty="0">
                  <a:solidFill>
                    <a:srgbClr val="34D399"/>
                  </a:solidFill>
                  <a:latin typeface="Segoe UI"/>
                  <a:ea typeface="Segoe UI"/>
                  <a:cs typeface="Segoe UI"/>
                </a:rPr>
                <a:t>ASYNCHRONY</a:t>
              </a:r>
              <a:endParaRPr lang="en-US" sz="1500" dirty="0"/>
            </a:p>
          </p:txBody>
        </p:sp>
        <p:sp>
          <p:nvSpPr>
            <p:cNvPr id="134" name="d2"/>
            <p:cNvSpPr txBox="1"/>
            <p:nvPr/>
          </p:nvSpPr>
          <p:spPr>
            <a:xfrm>
              <a:off x="8251546" y="1892808"/>
              <a:ext cx="3268980" cy="6583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E2E8F0"/>
                  </a:solidFill>
                  <a:latin typeface="Segoe UI"/>
                  <a:ea typeface="Segoe UI"/>
                  <a:cs typeface="Segoe UI"/>
                </a:rPr>
                <a:t>An operation waits without holding a thread the whole time, if it supports async I/O.</a:t>
              </a:r>
              <a:endParaRPr lang="en-US" sz="1100" dirty="0"/>
            </a:p>
          </p:txBody>
        </p:sp>
        <p:sp>
          <p:nvSpPr>
            <p:cNvPr id="135" name="c2l"/>
            <p:cNvSpPr txBox="1"/>
            <p:nvPr/>
          </p:nvSpPr>
          <p:spPr>
            <a:xfrm>
              <a:off x="8251546" y="2651760"/>
              <a:ext cx="3214116"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the thread</a:t>
              </a:r>
              <a:endParaRPr lang="en-US" sz="900" dirty="0"/>
            </a:p>
          </p:txBody>
        </p:sp>
        <p:sp>
          <p:nvSpPr>
            <p:cNvPr id="136" name="c2a"/>
            <p:cNvSpPr/>
            <p:nvPr/>
          </p:nvSpPr>
          <p:spPr>
            <a:xfrm>
              <a:off x="8251546" y="2907792"/>
              <a:ext cx="707106" cy="310896"/>
            </a:xfrm>
            <a:prstGeom prst="roundRect">
              <a:avLst>
                <a:gd name="adj" fmla="val 15000"/>
              </a:avLst>
            </a:prstGeom>
            <a:solidFill>
              <a:srgbClr val="34D399">
                <a:alpha val="30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start</a:t>
              </a:r>
              <a:endParaRPr lang="en-US" sz="900" dirty="0"/>
            </a:p>
          </p:txBody>
        </p:sp>
        <p:sp>
          <p:nvSpPr>
            <p:cNvPr id="137" name="c2b"/>
            <p:cNvSpPr/>
            <p:nvPr/>
          </p:nvSpPr>
          <p:spPr>
            <a:xfrm>
              <a:off x="9022933" y="2907792"/>
              <a:ext cx="1671340" cy="310896"/>
            </a:xfrm>
            <a:prstGeom prst="roundRect">
              <a:avLst>
                <a:gd name="adj" fmla="val 15000"/>
              </a:avLst>
            </a:prstGeom>
            <a:noFill/>
            <a:ln w="12700">
              <a:solidFill>
                <a:srgbClr val="94A3B8"/>
              </a:solidFill>
              <a:prstDash val="dash"/>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waiting: no thread held</a:t>
              </a:r>
              <a:endParaRPr lang="en-US" sz="900" dirty="0"/>
            </a:p>
          </p:txBody>
        </p:sp>
        <p:sp>
          <p:nvSpPr>
            <p:cNvPr id="138" name="c2c"/>
            <p:cNvSpPr/>
            <p:nvPr/>
          </p:nvSpPr>
          <p:spPr>
            <a:xfrm>
              <a:off x="10758556" y="2907792"/>
              <a:ext cx="707106" cy="310896"/>
            </a:xfrm>
            <a:prstGeom prst="roundRect">
              <a:avLst>
                <a:gd name="adj" fmla="val 15000"/>
              </a:avLst>
            </a:prstGeom>
            <a:solidFill>
              <a:srgbClr val="34D399">
                <a:alpha val="30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900" b="1" dirty="0">
                  <a:solidFill>
                    <a:srgbClr val="FFFFFF"/>
                  </a:solidFill>
                  <a:latin typeface="Segoe UI"/>
                  <a:ea typeface="Segoe UI"/>
                  <a:cs typeface="Segoe UI"/>
                </a:rPr>
                <a:t>resume</a:t>
              </a:r>
              <a:endParaRPr lang="en-US" sz="900" dirty="0"/>
            </a:p>
          </p:txBody>
        </p:sp>
        <p:sp>
          <p:nvSpPr>
            <p:cNvPr id="139" name="r20h"/>
            <p:cNvSpPr txBox="1"/>
            <p:nvPr/>
          </p:nvSpPr>
          <p:spPr>
            <a:xfrm>
              <a:off x="8251546" y="3493008"/>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ASKS</a:t>
              </a:r>
              <a:endParaRPr lang="en-US" sz="900" dirty="0"/>
            </a:p>
          </p:txBody>
        </p:sp>
        <p:sp>
          <p:nvSpPr>
            <p:cNvPr id="140" name="r20b"/>
            <p:cNvSpPr txBox="1"/>
            <p:nvPr/>
          </p:nvSpPr>
          <p:spPr>
            <a:xfrm>
              <a:off x="8251546" y="3712464"/>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1" dirty="0">
                  <a:solidFill>
                    <a:srgbClr val="34D399"/>
                  </a:solidFill>
                  <a:latin typeface="Segoe UI"/>
                  <a:ea typeface="Segoe UI"/>
                  <a:cs typeface="Segoe UI"/>
                </a:rPr>
                <a:t>Is a thread held while waiting?</a:t>
              </a:r>
              <a:endParaRPr lang="en-US" sz="1050" dirty="0"/>
            </a:p>
          </p:txBody>
        </p:sp>
        <p:sp>
          <p:nvSpPr>
            <p:cNvPr id="141" name="r21h"/>
            <p:cNvSpPr txBox="1"/>
            <p:nvPr/>
          </p:nvSpPr>
          <p:spPr>
            <a:xfrm>
              <a:off x="8251546" y="4151376"/>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IN C#</a:t>
              </a:r>
              <a:endParaRPr lang="en-US" sz="900" dirty="0"/>
            </a:p>
          </p:txBody>
        </p:sp>
        <p:sp>
          <p:nvSpPr>
            <p:cNvPr id="142" name="r21b"/>
            <p:cNvSpPr txBox="1"/>
            <p:nvPr/>
          </p:nvSpPr>
          <p:spPr>
            <a:xfrm>
              <a:off x="8251546" y="4370832"/>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E2E8F0"/>
                  </a:solidFill>
                  <a:latin typeface="Segoe UI"/>
                  <a:ea typeface="Segoe UI"/>
                  <a:cs typeface="Segoe UI"/>
                </a:rPr>
                <a:t>async / await · HttpClient · ReadAsync · SaveChangesAsync</a:t>
              </a:r>
              <a:endParaRPr lang="en-US" sz="1050" dirty="0"/>
            </a:p>
          </p:txBody>
        </p:sp>
        <p:sp>
          <p:nvSpPr>
            <p:cNvPr id="143" name="r22h"/>
            <p:cNvSpPr txBox="1"/>
            <p:nvPr/>
          </p:nvSpPr>
          <p:spPr>
            <a:xfrm>
              <a:off x="8251546" y="4809744"/>
              <a:ext cx="3268980" cy="21945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00" b="1" dirty="0">
                  <a:solidFill>
                    <a:srgbClr val="94A3B8"/>
                  </a:solidFill>
                  <a:latin typeface="Segoe UI"/>
                  <a:ea typeface="Segoe UI"/>
                  <a:cs typeface="Segoe UI"/>
                </a:rPr>
                <a:t>KITCHEN</a:t>
              </a:r>
              <a:endParaRPr lang="en-US" sz="900" dirty="0"/>
            </a:p>
          </p:txBody>
        </p:sp>
        <p:sp>
          <p:nvSpPr>
            <p:cNvPr id="144" name="r22b"/>
            <p:cNvSpPr txBox="1"/>
            <p:nvPr/>
          </p:nvSpPr>
          <p:spPr>
            <a:xfrm>
              <a:off x="8251546" y="5029200"/>
              <a:ext cx="3268980" cy="457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E2E8F0"/>
                  </a:solidFill>
                  <a:latin typeface="Segoe UI"/>
                  <a:ea typeface="Segoe UI"/>
                  <a:cs typeface="Segoe UI"/>
                </a:rPr>
                <a:t>Rice on the stove: the chef does other work until the timer rings.</a:t>
              </a:r>
              <a:endParaRPr lang="en-US" sz="1050" dirty="0"/>
            </a:p>
          </p:txBody>
        </p:sp>
      </p:grpSp>
      <p:sp>
        <p:nvSpPr>
          <p:cNvPr id="146" name="bn"/>
          <p:cNvSpPr/>
          <p:nvPr/>
        </p:nvSpPr>
        <p:spPr>
          <a:xfrm>
            <a:off x="543154" y="5641848"/>
            <a:ext cx="11087100" cy="457200"/>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250" b="0" dirty="0">
                <a:solidFill>
                  <a:srgbClr val="FFFFFF"/>
                </a:solidFill>
                <a:latin typeface="Segoe UI"/>
                <a:ea typeface="Segoe UI"/>
                <a:cs typeface="Segoe UI"/>
              </a:rPr>
              <a:t>They combine: 3 HTTP calls + Task.WhenAll = concurrent AND asynchronous, with no parallel threads needed.</a:t>
            </a:r>
            <a:endParaRPr lang="en-US" sz="1250" dirty="0"/>
          </a:p>
        </p:txBody>
      </p:sp>
    </p:spTree>
    <p:extLst>
      <p:ext uri="{BB962C8B-B14F-4D97-AF65-F5344CB8AC3E}">
        <p14:creationId xmlns:p14="http://schemas.microsoft.com/office/powerpoint/2010/main" val="504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4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gtEl>
                                        <p:attrNameLst>
                                          <p:attrName>style.visibility</p:attrName>
                                        </p:attrNameLst>
                                      </p:cBhvr>
                                      <p:to>
                                        <p:strVal val="visible"/>
                                      </p:to>
                                    </p:set>
                                    <p:animEffect transition="in" filter="fade">
                                      <p:cBhvr>
                                        <p:cTn id="12" dur="400"/>
                                        <p:tgtEl>
                                          <p:spTgt spid="1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animEffect transition="in" filter="fade">
                                      <p:cBhvr>
                                        <p:cTn id="17" dur="400"/>
                                        <p:tgtEl>
                                          <p:spTgt spid="1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6"/>
                                        </p:tgtEl>
                                        <p:attrNameLst>
                                          <p:attrName>style.visibility</p:attrName>
                                        </p:attrNameLst>
                                      </p:cBhvr>
                                      <p:to>
                                        <p:strVal val="visible"/>
                                      </p:to>
                                    </p:set>
                                    <p:animEffect transition="in" filter="fade">
                                      <p:cBhvr>
                                        <p:cTn id="22" dur="4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C348E-AF79-AE16-824A-56037323BE1E}"/>
            </a:ext>
          </a:extLst>
        </p:cNvPr>
        <p:cNvGrpSpPr/>
        <p:nvPr/>
      </p:nvGrpSpPr>
      <p:grpSpPr>
        <a:xfrm>
          <a:off x="0" y="0"/>
          <a:ext cx="0" cy="0"/>
          <a:chOff x="0" y="0"/>
          <a:chExt cx="0" cy="0"/>
        </a:xfrm>
      </p:grpSpPr>
      <p:sp>
        <p:nvSpPr>
          <p:cNvPr id="2" name="Frame_bg">
            <a:extLst>
              <a:ext uri="{FF2B5EF4-FFF2-40B4-BE49-F238E27FC236}">
                <a16:creationId xmlns:a16="http://schemas.microsoft.com/office/drawing/2014/main" id="{00F4302F-EBFD-42D8-BB60-DFF719CC4A22}"/>
              </a:ext>
            </a:extLst>
          </p:cNvPr>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a:extLst>
              <a:ext uri="{FF2B5EF4-FFF2-40B4-BE49-F238E27FC236}">
                <a16:creationId xmlns:a16="http://schemas.microsoft.com/office/drawing/2014/main" id="{5119A5D7-A674-8A07-76CF-9F74F7BB419A}"/>
              </a:ext>
            </a:extLst>
          </p:cNvPr>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a:extLst>
              <a:ext uri="{FF2B5EF4-FFF2-40B4-BE49-F238E27FC236}">
                <a16:creationId xmlns:a16="http://schemas.microsoft.com/office/drawing/2014/main" id="{C1EB0E45-2A50-C578-7C1B-CFC5D2221E3B}"/>
              </a:ext>
            </a:extLst>
          </p:cNvPr>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a:extLst>
              <a:ext uri="{FF2B5EF4-FFF2-40B4-BE49-F238E27FC236}">
                <a16:creationId xmlns:a16="http://schemas.microsoft.com/office/drawing/2014/main" id="{9D95CBD0-A86B-ECA3-4EF0-7C9E8EA481FB}"/>
              </a:ext>
            </a:extLst>
          </p:cNvPr>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a:extLst>
              <a:ext uri="{FF2B5EF4-FFF2-40B4-BE49-F238E27FC236}">
                <a16:creationId xmlns:a16="http://schemas.microsoft.com/office/drawing/2014/main" id="{1D4C0015-B52B-D9B1-C8DB-0A3307CDF6AA}"/>
              </a:ext>
            </a:extLst>
          </p:cNvPr>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a:extLst>
              <a:ext uri="{FF2B5EF4-FFF2-40B4-BE49-F238E27FC236}">
                <a16:creationId xmlns:a16="http://schemas.microsoft.com/office/drawing/2014/main" id="{3ABEAF7C-CFA3-F919-63F6-0E8454893254}"/>
              </a:ext>
            </a:extLst>
          </p:cNvPr>
          <p:cNvSpPr/>
          <p:nvPr/>
        </p:nvSpPr>
        <p:spPr>
          <a:xfrm>
            <a:off x="542925" y="495300"/>
            <a:ext cx="154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PARALLEL FAMILY</a:t>
            </a:r>
            <a:endParaRPr lang="en-US" sz="1000" dirty="0"/>
          </a:p>
        </p:txBody>
      </p:sp>
      <p:sp>
        <p:nvSpPr>
          <p:cNvPr id="8" name="Title">
            <a:extLst>
              <a:ext uri="{FF2B5EF4-FFF2-40B4-BE49-F238E27FC236}">
                <a16:creationId xmlns:a16="http://schemas.microsoft.com/office/drawing/2014/main" id="{1A8BB6F4-244C-6264-769E-96B6A4556A5E}"/>
              </a:ext>
            </a:extLst>
          </p:cNvPr>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Parallel Family vs Task.WhenAll</a:t>
            </a:r>
            <a:endParaRPr lang="en-US" sz="3000" dirty="0"/>
          </a:p>
        </p:txBody>
      </p:sp>
      <p:sp>
        <p:nvSpPr>
          <p:cNvPr id="9" name="Footer_rule">
            <a:extLst>
              <a:ext uri="{FF2B5EF4-FFF2-40B4-BE49-F238E27FC236}">
                <a16:creationId xmlns:a16="http://schemas.microsoft.com/office/drawing/2014/main" id="{51A4ACBC-CA93-F905-C077-51743AAFC7B6}"/>
              </a:ext>
            </a:extLst>
          </p:cNvPr>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a:extLst>
              <a:ext uri="{FF2B5EF4-FFF2-40B4-BE49-F238E27FC236}">
                <a16:creationId xmlns:a16="http://schemas.microsoft.com/office/drawing/2014/main" id="{8A329F29-D604-720C-02FD-4442C8C9322D}"/>
              </a:ext>
            </a:extLst>
          </p:cNvPr>
          <p:cNvPicPr>
            <a:picLocks noChangeAspect="1"/>
          </p:cNvPicPr>
          <p:nvPr/>
        </p:nvPicPr>
        <p:blipFill>
          <a:blip r:embed="rId3"/>
          <a:stretch>
            <a:fillRect/>
          </a:stretch>
        </p:blipFill>
        <p:spPr>
          <a:xfrm>
            <a:off x="495300" y="6381750"/>
            <a:ext cx="342900" cy="257175"/>
          </a:xfrm>
          <a:prstGeom prst="rect">
            <a:avLst/>
          </a:prstGeom>
        </p:spPr>
      </p:pic>
      <p:sp>
        <p:nvSpPr>
          <p:cNvPr id="11" name="Footer_brand">
            <a:extLst>
              <a:ext uri="{FF2B5EF4-FFF2-40B4-BE49-F238E27FC236}">
                <a16:creationId xmlns:a16="http://schemas.microsoft.com/office/drawing/2014/main" id="{83120AF3-3918-8CFC-E5B2-90AC119A4D1B}"/>
              </a:ext>
            </a:extLst>
          </p:cNvPr>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a:extLst>
              <a:ext uri="{FF2B5EF4-FFF2-40B4-BE49-F238E27FC236}">
                <a16:creationId xmlns:a16="http://schemas.microsoft.com/office/drawing/2014/main" id="{E7EAA368-2167-BE4C-A68A-3F40A9D41D2F}"/>
              </a:ext>
            </a:extLst>
          </p:cNvPr>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a:extLst>
              <a:ext uri="{FF2B5EF4-FFF2-40B4-BE49-F238E27FC236}">
                <a16:creationId xmlns:a16="http://schemas.microsoft.com/office/drawing/2014/main" id="{2032D189-AED0-063A-D863-E3C4D0C2723F}"/>
              </a:ext>
            </a:extLst>
          </p:cNvPr>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a:extLst>
              <a:ext uri="{FF2B5EF4-FFF2-40B4-BE49-F238E27FC236}">
                <a16:creationId xmlns:a16="http://schemas.microsoft.com/office/drawing/2014/main" id="{19BA64D0-3DFF-2455-181A-0879EC44CEF4}"/>
              </a:ext>
            </a:extLst>
          </p:cNvPr>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79</a:t>
            </a:r>
            <a:endParaRPr lang="en-US" sz="850" dirty="0"/>
          </a:p>
        </p:txBody>
      </p:sp>
      <p:sp>
        <p:nvSpPr>
          <p:cNvPr id="101" name="c0">
            <a:extLst>
              <a:ext uri="{FF2B5EF4-FFF2-40B4-BE49-F238E27FC236}">
                <a16:creationId xmlns:a16="http://schemas.microsoft.com/office/drawing/2014/main" id="{30604F33-0444-056D-3621-24C365E849B8}"/>
              </a:ext>
            </a:extLst>
          </p:cNvPr>
          <p:cNvSpPr/>
          <p:nvPr/>
        </p:nvSpPr>
        <p:spPr>
          <a:xfrm>
            <a:off x="543154" y="1481328"/>
            <a:ext cx="3543300" cy="2103120"/>
          </a:xfrm>
          <a:prstGeom prst="roundRect">
            <a:avLst>
              <a:gd name="adj" fmla="val 6000"/>
            </a:avLst>
          </a:prstGeom>
          <a:solidFill>
            <a:srgbClr val="111B2E"/>
          </a:solidFill>
          <a:ln w="12700">
            <a:solidFill>
              <a:srgbClr val="13D0F7"/>
            </a:solidFill>
            <a:prstDash val="solid"/>
          </a:ln>
        </p:spPr>
        <p:txBody>
          <a:bodyPr wrap="square" lIns="164592" tIns="91440" rIns="109728" bIns="45720" rtlCol="0" anchor="t">
            <a:noAutofit/>
          </a:bodyPr>
          <a:lstStyle/>
          <a:p>
            <a:pPr marL="0" indent="0" algn="l">
              <a:spcBef>
                <a:spcPts val="0"/>
              </a:spcBef>
              <a:spcAft>
                <a:spcPts val="0"/>
              </a:spcAft>
              <a:buNone/>
            </a:pPr>
            <a:r>
              <a:rPr lang="en-US" sz="1600" b="1" dirty="0">
                <a:solidFill>
                  <a:srgbClr val="13D0F7"/>
                </a:solidFill>
                <a:latin typeface="Consolas"/>
                <a:ea typeface="Consolas"/>
                <a:cs typeface="Consolas"/>
              </a:rPr>
              <a:t>Parallel.For</a:t>
            </a:r>
            <a:endParaRPr lang="en-US" sz="1600" dirty="0"/>
          </a:p>
          <a:p>
            <a:pPr marL="0" indent="0" algn="l">
              <a:spcBef>
                <a:spcPts val="0"/>
              </a:spcBef>
              <a:spcAft>
                <a:spcPts val="0"/>
              </a:spcAft>
              <a:buNone/>
            </a:pPr>
            <a:endParaRPr lang="en-US" sz="900" dirty="0"/>
          </a:p>
          <a:p>
            <a:pPr marL="0" indent="0" algn="l">
              <a:spcBef>
                <a:spcPts val="0"/>
              </a:spcBef>
              <a:spcAft>
                <a:spcPts val="0"/>
              </a:spcAft>
              <a:buNone/>
            </a:pPr>
            <a:r>
              <a:rPr lang="en-US" sz="1150" b="0" dirty="0">
                <a:solidFill>
                  <a:srgbClr val="E2E8F0"/>
                </a:solidFill>
                <a:latin typeface="Segoe UI"/>
                <a:ea typeface="Segoe UI"/>
                <a:cs typeface="Segoe UI"/>
              </a:rPr>
              <a:t>A for loop with an index, split over the cores.</a:t>
            </a:r>
            <a:endParaRPr lang="en-US" sz="1150" dirty="0"/>
          </a:p>
          <a:p>
            <a:pPr marL="0" indent="0" algn="l">
              <a:spcBef>
                <a:spcPts val="0"/>
              </a:spcBef>
              <a:spcAft>
                <a:spcPts val="0"/>
              </a:spcAft>
              <a:buNone/>
            </a:pPr>
            <a:endParaRPr lang="en-US" sz="600" dirty="0"/>
          </a:p>
          <a:p>
            <a:pPr marL="0" indent="0" algn="l">
              <a:spcBef>
                <a:spcPts val="0"/>
              </a:spcBef>
              <a:spcAft>
                <a:spcPts val="0"/>
              </a:spcAft>
              <a:buNone/>
            </a:pPr>
            <a:r>
              <a:rPr lang="en-US" sz="1000" b="1" dirty="0">
                <a:solidFill>
                  <a:srgbClr val="94A3B8"/>
                </a:solidFill>
                <a:latin typeface="Segoe UI"/>
                <a:ea typeface="Segoe UI"/>
                <a:cs typeface="Segoe UI"/>
              </a:rPr>
              <a:t>USE FOR  </a:t>
            </a:r>
            <a:r>
              <a:rPr lang="en-US" sz="1050" b="0" dirty="0">
                <a:solidFill>
                  <a:srgbClr val="CBD5E1"/>
                </a:solidFill>
                <a:latin typeface="Segoe UI"/>
                <a:ea typeface="Segoe UI"/>
                <a:cs typeface="Segoe UI"/>
              </a:rPr>
              <a:t>CPU-bound: heavy math, image processing</a:t>
            </a:r>
            <a:endParaRPr lang="en-US" sz="1000" dirty="0"/>
          </a:p>
          <a:p>
            <a:pPr marL="0" indent="0" algn="l">
              <a:spcBef>
                <a:spcPts val="0"/>
              </a:spcBef>
              <a:spcAft>
                <a:spcPts val="0"/>
              </a:spcAft>
              <a:buNone/>
            </a:pPr>
            <a:endParaRPr lang="en-US" sz="600" dirty="0"/>
          </a:p>
          <a:p>
            <a:pPr marL="0" indent="0" algn="l">
              <a:spcBef>
                <a:spcPts val="0"/>
              </a:spcBef>
              <a:spcAft>
                <a:spcPts val="0"/>
              </a:spcAft>
              <a:buNone/>
            </a:pPr>
            <a:r>
              <a:rPr lang="en-US" sz="1000" b="0" dirty="0">
                <a:solidFill>
                  <a:srgbClr val="13D0F7"/>
                </a:solidFill>
                <a:latin typeface="Consolas"/>
                <a:ea typeface="Consolas"/>
                <a:cs typeface="Consolas"/>
              </a:rPr>
              <a:t>Parallel.For(0, n, i =&gt; Work(i));</a:t>
            </a:r>
            <a:endParaRPr lang="en-US" sz="1000" dirty="0"/>
          </a:p>
          <a:p>
            <a:pPr marL="0" indent="0" algn="l">
              <a:spcBef>
                <a:spcPts val="0"/>
              </a:spcBef>
              <a:spcAft>
                <a:spcPts val="0"/>
              </a:spcAft>
              <a:buNone/>
            </a:pPr>
            <a:endParaRPr lang="en-US" sz="600" dirty="0"/>
          </a:p>
          <a:p>
            <a:pPr marL="0" indent="0" algn="l">
              <a:spcBef>
                <a:spcPts val="0"/>
              </a:spcBef>
              <a:spcAft>
                <a:spcPts val="0"/>
              </a:spcAft>
              <a:buNone/>
            </a:pPr>
            <a:r>
              <a:rPr lang="en-US" sz="1100" b="1" dirty="0">
                <a:solidFill>
                  <a:srgbClr val="FBBF24"/>
                </a:solidFill>
                <a:latin typeface="Segoe UI"/>
                <a:ea typeface="Segoe UI"/>
                <a:cs typeface="Segoe UI"/>
              </a:rPr>
              <a:t>● blocks the caller until done</a:t>
            </a:r>
            <a:endParaRPr lang="en-US" sz="1100" dirty="0"/>
          </a:p>
        </p:txBody>
      </p:sp>
      <p:sp>
        <p:nvSpPr>
          <p:cNvPr id="102" name="c1">
            <a:extLst>
              <a:ext uri="{FF2B5EF4-FFF2-40B4-BE49-F238E27FC236}">
                <a16:creationId xmlns:a16="http://schemas.microsoft.com/office/drawing/2014/main" id="{87F29EDD-7950-590C-8594-1E19F3E2E4FD}"/>
              </a:ext>
            </a:extLst>
          </p:cNvPr>
          <p:cNvSpPr/>
          <p:nvPr/>
        </p:nvSpPr>
        <p:spPr>
          <a:xfrm>
            <a:off x="4315054" y="1481328"/>
            <a:ext cx="3543300" cy="2103120"/>
          </a:xfrm>
          <a:prstGeom prst="roundRect">
            <a:avLst>
              <a:gd name="adj" fmla="val 6000"/>
            </a:avLst>
          </a:prstGeom>
          <a:solidFill>
            <a:srgbClr val="111B2E"/>
          </a:solidFill>
          <a:ln w="12700">
            <a:solidFill>
              <a:srgbClr val="A78BFA"/>
            </a:solidFill>
            <a:prstDash val="solid"/>
          </a:ln>
        </p:spPr>
        <p:txBody>
          <a:bodyPr wrap="square" lIns="164592" tIns="91440" rIns="109728" bIns="45720" rtlCol="0" anchor="t">
            <a:noAutofit/>
          </a:bodyPr>
          <a:lstStyle/>
          <a:p>
            <a:pPr marL="0" indent="0" algn="l">
              <a:spcBef>
                <a:spcPts val="0"/>
              </a:spcBef>
              <a:spcAft>
                <a:spcPts val="0"/>
              </a:spcAft>
              <a:buNone/>
            </a:pPr>
            <a:r>
              <a:rPr lang="en-US" sz="1600" b="1" dirty="0">
                <a:solidFill>
                  <a:srgbClr val="A78BFA"/>
                </a:solidFill>
                <a:latin typeface="Consolas"/>
                <a:ea typeface="Consolas"/>
                <a:cs typeface="Consolas"/>
              </a:rPr>
              <a:t>Parallel.ForEach</a:t>
            </a:r>
            <a:endParaRPr lang="en-US" sz="1600" dirty="0"/>
          </a:p>
          <a:p>
            <a:pPr marL="0" indent="0" algn="l">
              <a:spcBef>
                <a:spcPts val="0"/>
              </a:spcBef>
              <a:spcAft>
                <a:spcPts val="0"/>
              </a:spcAft>
              <a:buNone/>
            </a:pPr>
            <a:endParaRPr lang="en-US" sz="900" dirty="0"/>
          </a:p>
          <a:p>
            <a:pPr marL="0" indent="0" algn="l">
              <a:spcBef>
                <a:spcPts val="0"/>
              </a:spcBef>
              <a:spcAft>
                <a:spcPts val="0"/>
              </a:spcAft>
              <a:buNone/>
            </a:pPr>
            <a:r>
              <a:rPr lang="en-US" sz="1150" b="0" dirty="0">
                <a:solidFill>
                  <a:srgbClr val="E2E8F0"/>
                </a:solidFill>
                <a:latin typeface="Segoe UI"/>
                <a:ea typeface="Segoe UI"/>
                <a:cs typeface="Segoe UI"/>
              </a:rPr>
              <a:t>The same, over a ready collection.</a:t>
            </a:r>
            <a:endParaRPr lang="en-US" sz="1150" dirty="0"/>
          </a:p>
          <a:p>
            <a:pPr marL="0" indent="0" algn="l">
              <a:spcBef>
                <a:spcPts val="0"/>
              </a:spcBef>
              <a:spcAft>
                <a:spcPts val="0"/>
              </a:spcAft>
              <a:buNone/>
            </a:pPr>
            <a:endParaRPr lang="en-US" sz="600" dirty="0"/>
          </a:p>
          <a:p>
            <a:pPr marL="0" indent="0" algn="l">
              <a:spcBef>
                <a:spcPts val="0"/>
              </a:spcBef>
              <a:spcAft>
                <a:spcPts val="0"/>
              </a:spcAft>
              <a:buNone/>
            </a:pPr>
            <a:r>
              <a:rPr lang="en-US" sz="1000" b="1" dirty="0">
                <a:solidFill>
                  <a:srgbClr val="94A3B8"/>
                </a:solidFill>
                <a:latin typeface="Segoe UI"/>
                <a:ea typeface="Segoe UI"/>
                <a:cs typeface="Segoe UI"/>
              </a:rPr>
              <a:t>USE FOR  </a:t>
            </a:r>
            <a:r>
              <a:rPr lang="en-US" sz="1050" b="0" dirty="0">
                <a:solidFill>
                  <a:srgbClr val="CBD5E1"/>
                </a:solidFill>
                <a:latin typeface="Segoe UI"/>
                <a:ea typeface="Segoe UI"/>
                <a:cs typeface="Segoe UI"/>
              </a:rPr>
              <a:t>CPU-bound work on each item of a list</a:t>
            </a:r>
            <a:endParaRPr lang="en-US" sz="1000" dirty="0"/>
          </a:p>
          <a:p>
            <a:pPr marL="0" indent="0" algn="l">
              <a:spcBef>
                <a:spcPts val="0"/>
              </a:spcBef>
              <a:spcAft>
                <a:spcPts val="0"/>
              </a:spcAft>
              <a:buNone/>
            </a:pPr>
            <a:endParaRPr lang="en-US" sz="600" dirty="0"/>
          </a:p>
          <a:p>
            <a:pPr marL="0" indent="0" algn="l">
              <a:spcBef>
                <a:spcPts val="0"/>
              </a:spcBef>
              <a:spcAft>
                <a:spcPts val="0"/>
              </a:spcAft>
              <a:buNone/>
            </a:pPr>
            <a:r>
              <a:rPr lang="en-US" sz="1000" b="0" dirty="0">
                <a:solidFill>
                  <a:srgbClr val="13D0F7"/>
                </a:solidFill>
                <a:latin typeface="Consolas"/>
                <a:ea typeface="Consolas"/>
                <a:cs typeface="Consolas"/>
              </a:rPr>
              <a:t>Parallel.ForEach(items, x =&gt; Work(x));</a:t>
            </a:r>
            <a:endParaRPr lang="en-US" sz="1000" dirty="0"/>
          </a:p>
          <a:p>
            <a:pPr marL="0" indent="0" algn="l">
              <a:spcBef>
                <a:spcPts val="0"/>
              </a:spcBef>
              <a:spcAft>
                <a:spcPts val="0"/>
              </a:spcAft>
              <a:buNone/>
            </a:pPr>
            <a:endParaRPr lang="en-US" sz="600" dirty="0"/>
          </a:p>
          <a:p>
            <a:pPr marL="0" indent="0" algn="l">
              <a:spcBef>
                <a:spcPts val="0"/>
              </a:spcBef>
              <a:spcAft>
                <a:spcPts val="0"/>
              </a:spcAft>
              <a:buNone/>
            </a:pPr>
            <a:r>
              <a:rPr lang="en-US" sz="1100" b="1" dirty="0">
                <a:solidFill>
                  <a:srgbClr val="FBBF24"/>
                </a:solidFill>
                <a:latin typeface="Segoe UI"/>
                <a:ea typeface="Segoe UI"/>
                <a:cs typeface="Segoe UI"/>
              </a:rPr>
              <a:t>● blocks · never an async lambda</a:t>
            </a:r>
            <a:endParaRPr lang="en-US" sz="1100" dirty="0"/>
          </a:p>
        </p:txBody>
      </p:sp>
      <p:sp>
        <p:nvSpPr>
          <p:cNvPr id="103" name="c2">
            <a:extLst>
              <a:ext uri="{FF2B5EF4-FFF2-40B4-BE49-F238E27FC236}">
                <a16:creationId xmlns:a16="http://schemas.microsoft.com/office/drawing/2014/main" id="{3EDE1168-DCDA-C90B-ABB6-C223D0F56C41}"/>
              </a:ext>
            </a:extLst>
          </p:cNvPr>
          <p:cNvSpPr/>
          <p:nvPr/>
        </p:nvSpPr>
        <p:spPr>
          <a:xfrm>
            <a:off x="8086954" y="1481328"/>
            <a:ext cx="3543300" cy="2103120"/>
          </a:xfrm>
          <a:prstGeom prst="roundRect">
            <a:avLst>
              <a:gd name="adj" fmla="val 6000"/>
            </a:avLst>
          </a:prstGeom>
          <a:solidFill>
            <a:srgbClr val="111B2E"/>
          </a:solidFill>
          <a:ln w="12700">
            <a:solidFill>
              <a:srgbClr val="34D399"/>
            </a:solidFill>
            <a:prstDash val="solid"/>
          </a:ln>
        </p:spPr>
        <p:txBody>
          <a:bodyPr wrap="square" lIns="164592" tIns="91440" rIns="109728" bIns="45720" rtlCol="0" anchor="t">
            <a:noAutofit/>
          </a:bodyPr>
          <a:lstStyle/>
          <a:p>
            <a:pPr marL="0" indent="0" algn="l">
              <a:spcBef>
                <a:spcPts val="0"/>
              </a:spcBef>
              <a:spcAft>
                <a:spcPts val="0"/>
              </a:spcAft>
              <a:buNone/>
            </a:pPr>
            <a:r>
              <a:rPr lang="en-US" sz="1600" b="1" dirty="0">
                <a:solidFill>
                  <a:srgbClr val="34D399"/>
                </a:solidFill>
                <a:latin typeface="Consolas"/>
                <a:ea typeface="Consolas"/>
                <a:cs typeface="Consolas"/>
              </a:rPr>
              <a:t>Parallel.ForEachAsync</a:t>
            </a:r>
            <a:endParaRPr lang="en-US" sz="1600" dirty="0"/>
          </a:p>
          <a:p>
            <a:pPr marL="0" indent="0" algn="l">
              <a:spcBef>
                <a:spcPts val="0"/>
              </a:spcBef>
              <a:spcAft>
                <a:spcPts val="0"/>
              </a:spcAft>
              <a:buNone/>
            </a:pPr>
            <a:endParaRPr lang="en-US" sz="900" dirty="0"/>
          </a:p>
          <a:p>
            <a:pPr marL="0" indent="0" algn="l">
              <a:spcBef>
                <a:spcPts val="0"/>
              </a:spcBef>
              <a:spcAft>
                <a:spcPts val="0"/>
              </a:spcAft>
              <a:buNone/>
            </a:pPr>
            <a:r>
              <a:rPr lang="en-US" sz="1150" b="0" dirty="0">
                <a:solidFill>
                  <a:srgbClr val="E2E8F0"/>
                </a:solidFill>
                <a:latin typeface="Segoe UI"/>
                <a:ea typeface="Segoe UI"/>
                <a:cs typeface="Segoe UI"/>
              </a:rPr>
              <a:t>Async iterations with a cap on how many run at once (.NET 6+).</a:t>
            </a:r>
            <a:endParaRPr lang="en-US" sz="1150" dirty="0"/>
          </a:p>
          <a:p>
            <a:pPr marL="0" indent="0" algn="l">
              <a:spcBef>
                <a:spcPts val="0"/>
              </a:spcBef>
              <a:spcAft>
                <a:spcPts val="0"/>
              </a:spcAft>
              <a:buNone/>
            </a:pPr>
            <a:endParaRPr lang="en-US" sz="600" dirty="0"/>
          </a:p>
          <a:p>
            <a:pPr marL="0" indent="0" algn="l">
              <a:spcBef>
                <a:spcPts val="0"/>
              </a:spcBef>
              <a:spcAft>
                <a:spcPts val="0"/>
              </a:spcAft>
              <a:buNone/>
            </a:pPr>
            <a:r>
              <a:rPr lang="en-US" sz="1000" b="1" dirty="0">
                <a:solidFill>
                  <a:srgbClr val="94A3B8"/>
                </a:solidFill>
                <a:latin typeface="Segoe UI"/>
                <a:ea typeface="Segoe UI"/>
                <a:cs typeface="Segoe UI"/>
              </a:rPr>
              <a:t>USE FOR  </a:t>
            </a:r>
            <a:r>
              <a:rPr lang="en-US" sz="1050" b="0" dirty="0">
                <a:solidFill>
                  <a:srgbClr val="CBD5E1"/>
                </a:solidFill>
                <a:latin typeface="Segoe UI"/>
                <a:ea typeface="Segoe UI"/>
                <a:cs typeface="Segoe UI"/>
              </a:rPr>
              <a:t>I/O-bound: APIs, files, database</a:t>
            </a:r>
            <a:endParaRPr lang="en-US" sz="1000" dirty="0"/>
          </a:p>
          <a:p>
            <a:pPr marL="0" indent="0" algn="l">
              <a:spcBef>
                <a:spcPts val="0"/>
              </a:spcBef>
              <a:spcAft>
                <a:spcPts val="0"/>
              </a:spcAft>
              <a:buNone/>
            </a:pPr>
            <a:endParaRPr lang="en-US" sz="600" dirty="0"/>
          </a:p>
          <a:p>
            <a:pPr marL="0" indent="0" algn="l">
              <a:spcBef>
                <a:spcPts val="0"/>
              </a:spcBef>
              <a:spcAft>
                <a:spcPts val="0"/>
              </a:spcAft>
              <a:buNone/>
            </a:pPr>
            <a:r>
              <a:rPr lang="en-US" sz="1000" b="0" dirty="0">
                <a:solidFill>
                  <a:srgbClr val="13D0F7"/>
                </a:solidFill>
                <a:latin typeface="Consolas"/>
                <a:ea typeface="Consolas"/>
                <a:cs typeface="Consolas"/>
              </a:rPr>
              <a:t>await Parallel.ForEachAsync(urls, opts, …);</a:t>
            </a:r>
            <a:endParaRPr lang="en-US" sz="1000" dirty="0"/>
          </a:p>
          <a:p>
            <a:pPr marL="0" indent="0" algn="l">
              <a:spcBef>
                <a:spcPts val="0"/>
              </a:spcBef>
              <a:spcAft>
                <a:spcPts val="0"/>
              </a:spcAft>
              <a:buNone/>
            </a:pPr>
            <a:endParaRPr lang="en-US" sz="600" dirty="0"/>
          </a:p>
          <a:p>
            <a:pPr marL="0" indent="0" algn="l">
              <a:spcBef>
                <a:spcPts val="0"/>
              </a:spcBef>
              <a:spcAft>
                <a:spcPts val="0"/>
              </a:spcAft>
              <a:buNone/>
            </a:pPr>
            <a:r>
              <a:rPr lang="en-US" sz="1100" b="1" dirty="0">
                <a:solidFill>
                  <a:srgbClr val="34D399"/>
                </a:solidFill>
                <a:latin typeface="Segoe UI"/>
                <a:ea typeface="Segoe UI"/>
                <a:cs typeface="Segoe UI"/>
              </a:rPr>
              <a:t>● awaitable · capped by MaxDegreeOfParallelism</a:t>
            </a:r>
            <a:endParaRPr lang="en-US" sz="1100" dirty="0"/>
          </a:p>
        </p:txBody>
      </p:sp>
      <p:grpSp>
        <p:nvGrpSpPr>
          <p:cNvPr id="107" name="t_h">
            <a:extLst>
              <a:ext uri="{FF2B5EF4-FFF2-40B4-BE49-F238E27FC236}">
                <a16:creationId xmlns:a16="http://schemas.microsoft.com/office/drawing/2014/main" id="{B6725553-6D1A-AE37-EE3E-7A956BB7A7DB}"/>
              </a:ext>
            </a:extLst>
          </p:cNvPr>
          <p:cNvGrpSpPr/>
          <p:nvPr/>
        </p:nvGrpSpPr>
        <p:grpSpPr>
          <a:xfrm>
            <a:off x="689458" y="3730752"/>
            <a:ext cx="6858000" cy="256032"/>
            <a:chOff x="689458" y="3730752"/>
            <a:chExt cx="6858000" cy="256032"/>
          </a:xfrm>
        </p:grpSpPr>
        <p:sp>
          <p:nvSpPr>
            <p:cNvPr id="104" name="t_h0">
              <a:extLst>
                <a:ext uri="{FF2B5EF4-FFF2-40B4-BE49-F238E27FC236}">
                  <a16:creationId xmlns:a16="http://schemas.microsoft.com/office/drawing/2014/main" id="{32FDC24F-9B94-FEC9-867A-4CEB02CD55F4}"/>
                </a:ext>
              </a:extLst>
            </p:cNvPr>
            <p:cNvSpPr txBox="1"/>
            <p:nvPr/>
          </p:nvSpPr>
          <p:spPr>
            <a:xfrm>
              <a:off x="689458" y="3730752"/>
              <a:ext cx="96012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000" dirty="0"/>
            </a:p>
          </p:txBody>
        </p:sp>
        <p:sp>
          <p:nvSpPr>
            <p:cNvPr id="105" name="t_h1">
              <a:extLst>
                <a:ext uri="{FF2B5EF4-FFF2-40B4-BE49-F238E27FC236}">
                  <a16:creationId xmlns:a16="http://schemas.microsoft.com/office/drawing/2014/main" id="{24B73A64-D907-F45F-B834-1E2D722B2F0E}"/>
                </a:ext>
              </a:extLst>
            </p:cNvPr>
            <p:cNvSpPr txBox="1"/>
            <p:nvPr/>
          </p:nvSpPr>
          <p:spPr>
            <a:xfrm>
              <a:off x="1832458" y="3730752"/>
              <a:ext cx="24231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Parallel.ForEachAsync</a:t>
              </a:r>
              <a:endParaRPr lang="en-US" sz="1000" dirty="0"/>
            </a:p>
          </p:txBody>
        </p:sp>
        <p:sp>
          <p:nvSpPr>
            <p:cNvPr id="106" name="t_h2">
              <a:extLst>
                <a:ext uri="{FF2B5EF4-FFF2-40B4-BE49-F238E27FC236}">
                  <a16:creationId xmlns:a16="http://schemas.microsoft.com/office/drawing/2014/main" id="{56CAA374-7195-0FB6-1D32-59EF2CB4AD5F}"/>
                </a:ext>
              </a:extLst>
            </p:cNvPr>
            <p:cNvSpPr txBox="1"/>
            <p:nvPr/>
          </p:nvSpPr>
          <p:spPr>
            <a:xfrm>
              <a:off x="4438498" y="3730752"/>
              <a:ext cx="31089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Segoe UI"/>
                  <a:ea typeface="Segoe UI"/>
                  <a:cs typeface="Segoe UI"/>
                </a:rPr>
                <a:t>Task.WhenAll</a:t>
              </a:r>
              <a:endParaRPr lang="en-US" sz="1000" dirty="0"/>
            </a:p>
          </p:txBody>
        </p:sp>
      </p:grpSp>
      <p:grpSp>
        <p:nvGrpSpPr>
          <p:cNvPr id="112" name="t_r0">
            <a:extLst>
              <a:ext uri="{FF2B5EF4-FFF2-40B4-BE49-F238E27FC236}">
                <a16:creationId xmlns:a16="http://schemas.microsoft.com/office/drawing/2014/main" id="{31F0D90B-A9F5-DBA9-1B1F-B49144D191BA}"/>
              </a:ext>
            </a:extLst>
          </p:cNvPr>
          <p:cNvGrpSpPr/>
          <p:nvPr/>
        </p:nvGrpSpPr>
        <p:grpSpPr>
          <a:xfrm>
            <a:off x="543154" y="4032504"/>
            <a:ext cx="7040880" cy="384048"/>
            <a:chOff x="543154" y="4032504"/>
            <a:chExt cx="7040880" cy="384048"/>
          </a:xfrm>
        </p:grpSpPr>
        <p:sp>
          <p:nvSpPr>
            <p:cNvPr id="108" name="t_r0_bg">
              <a:extLst>
                <a:ext uri="{FF2B5EF4-FFF2-40B4-BE49-F238E27FC236}">
                  <a16:creationId xmlns:a16="http://schemas.microsoft.com/office/drawing/2014/main" id="{F25B807A-2E39-ED07-AD2E-2A4A9ADDE52A}"/>
                </a:ext>
              </a:extLst>
            </p:cNvPr>
            <p:cNvSpPr/>
            <p:nvPr/>
          </p:nvSpPr>
          <p:spPr>
            <a:xfrm>
              <a:off x="543154" y="4032504"/>
              <a:ext cx="7040880" cy="3840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9" name="t_r0_c0">
              <a:extLst>
                <a:ext uri="{FF2B5EF4-FFF2-40B4-BE49-F238E27FC236}">
                  <a16:creationId xmlns:a16="http://schemas.microsoft.com/office/drawing/2014/main" id="{26304D8A-7064-4C98-2D56-D4F3F4E2C8FF}"/>
                </a:ext>
              </a:extLst>
            </p:cNvPr>
            <p:cNvSpPr txBox="1"/>
            <p:nvPr/>
          </p:nvSpPr>
          <p:spPr>
            <a:xfrm>
              <a:off x="689458" y="4032504"/>
              <a:ext cx="96012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Starts</a:t>
              </a:r>
              <a:endParaRPr lang="en-US" sz="1050" dirty="0"/>
            </a:p>
          </p:txBody>
        </p:sp>
        <p:sp>
          <p:nvSpPr>
            <p:cNvPr id="110" name="t_r0_c1">
              <a:extLst>
                <a:ext uri="{FF2B5EF4-FFF2-40B4-BE49-F238E27FC236}">
                  <a16:creationId xmlns:a16="http://schemas.microsoft.com/office/drawing/2014/main" id="{BF77D7B6-A58C-4A9D-017E-ABC26BEAB434}"/>
                </a:ext>
              </a:extLst>
            </p:cNvPr>
            <p:cNvSpPr txBox="1"/>
            <p:nvPr/>
          </p:nvSpPr>
          <p:spPr>
            <a:xfrm>
              <a:off x="1832458" y="4032504"/>
              <a:ext cx="24231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at most N at once</a:t>
              </a:r>
              <a:endParaRPr lang="en-US" sz="1000" dirty="0"/>
            </a:p>
          </p:txBody>
        </p:sp>
        <p:sp>
          <p:nvSpPr>
            <p:cNvPr id="111" name="t_r0_c2">
              <a:extLst>
                <a:ext uri="{FF2B5EF4-FFF2-40B4-BE49-F238E27FC236}">
                  <a16:creationId xmlns:a16="http://schemas.microsoft.com/office/drawing/2014/main" id="{F8F7464C-0CB9-1B43-B540-E3DEB20B2E63}"/>
                </a:ext>
              </a:extLst>
            </p:cNvPr>
            <p:cNvSpPr txBox="1"/>
            <p:nvPr/>
          </p:nvSpPr>
          <p:spPr>
            <a:xfrm>
              <a:off x="4438498" y="4032504"/>
              <a:ext cx="31089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everything at once</a:t>
              </a:r>
              <a:endParaRPr lang="en-US" sz="1000" dirty="0"/>
            </a:p>
          </p:txBody>
        </p:sp>
      </p:grpSp>
      <p:grpSp>
        <p:nvGrpSpPr>
          <p:cNvPr id="117" name="t_r1">
            <a:extLst>
              <a:ext uri="{FF2B5EF4-FFF2-40B4-BE49-F238E27FC236}">
                <a16:creationId xmlns:a16="http://schemas.microsoft.com/office/drawing/2014/main" id="{E24E5F01-57AD-1CC2-A698-E9F8239653D2}"/>
              </a:ext>
            </a:extLst>
          </p:cNvPr>
          <p:cNvGrpSpPr/>
          <p:nvPr/>
        </p:nvGrpSpPr>
        <p:grpSpPr>
          <a:xfrm>
            <a:off x="543154" y="4471416"/>
            <a:ext cx="7040880" cy="384048"/>
            <a:chOff x="543154" y="4471416"/>
            <a:chExt cx="7040880" cy="384048"/>
          </a:xfrm>
        </p:grpSpPr>
        <p:sp>
          <p:nvSpPr>
            <p:cNvPr id="113" name="t_r1_bg">
              <a:extLst>
                <a:ext uri="{FF2B5EF4-FFF2-40B4-BE49-F238E27FC236}">
                  <a16:creationId xmlns:a16="http://schemas.microsoft.com/office/drawing/2014/main" id="{4A0E5596-7261-21F9-B201-6E2160273A6C}"/>
                </a:ext>
              </a:extLst>
            </p:cNvPr>
            <p:cNvSpPr/>
            <p:nvPr/>
          </p:nvSpPr>
          <p:spPr>
            <a:xfrm>
              <a:off x="543154" y="4471416"/>
              <a:ext cx="7040880" cy="3840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4" name="t_r1_c0">
              <a:extLst>
                <a:ext uri="{FF2B5EF4-FFF2-40B4-BE49-F238E27FC236}">
                  <a16:creationId xmlns:a16="http://schemas.microsoft.com/office/drawing/2014/main" id="{C9B85349-EB88-12F3-14C0-E9E13C97B394}"/>
                </a:ext>
              </a:extLst>
            </p:cNvPr>
            <p:cNvSpPr txBox="1"/>
            <p:nvPr/>
          </p:nvSpPr>
          <p:spPr>
            <a:xfrm>
              <a:off x="689458" y="4471416"/>
              <a:ext cx="96012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Best for</a:t>
              </a:r>
              <a:endParaRPr lang="en-US" sz="1050" dirty="0"/>
            </a:p>
          </p:txBody>
        </p:sp>
        <p:sp>
          <p:nvSpPr>
            <p:cNvPr id="115" name="t_r1_c1">
              <a:extLst>
                <a:ext uri="{FF2B5EF4-FFF2-40B4-BE49-F238E27FC236}">
                  <a16:creationId xmlns:a16="http://schemas.microsoft.com/office/drawing/2014/main" id="{DB046AC7-AF37-30F0-5326-92CDEBF81931}"/>
                </a:ext>
              </a:extLst>
            </p:cNvPr>
            <p:cNvSpPr txBox="1"/>
            <p:nvPr/>
          </p:nvSpPr>
          <p:spPr>
            <a:xfrm>
              <a:off x="1832458" y="4471416"/>
              <a:ext cx="24231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a long list of similar items</a:t>
              </a:r>
              <a:endParaRPr lang="en-US" sz="1000" dirty="0"/>
            </a:p>
          </p:txBody>
        </p:sp>
        <p:sp>
          <p:nvSpPr>
            <p:cNvPr id="116" name="t_r1_c2">
              <a:extLst>
                <a:ext uri="{FF2B5EF4-FFF2-40B4-BE49-F238E27FC236}">
                  <a16:creationId xmlns:a16="http://schemas.microsoft.com/office/drawing/2014/main" id="{5647B395-DA69-53E0-23EC-B2C9D6A780B4}"/>
                </a:ext>
              </a:extLst>
            </p:cNvPr>
            <p:cNvSpPr txBox="1"/>
            <p:nvPr/>
          </p:nvSpPr>
          <p:spPr>
            <a:xfrm>
              <a:off x="4438498" y="4471416"/>
              <a:ext cx="31089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a few different tasks (weather + currency + users)</a:t>
              </a:r>
              <a:endParaRPr lang="en-US" sz="1000" dirty="0"/>
            </a:p>
          </p:txBody>
        </p:sp>
      </p:grpSp>
      <p:grpSp>
        <p:nvGrpSpPr>
          <p:cNvPr id="122" name="t_r2">
            <a:extLst>
              <a:ext uri="{FF2B5EF4-FFF2-40B4-BE49-F238E27FC236}">
                <a16:creationId xmlns:a16="http://schemas.microsoft.com/office/drawing/2014/main" id="{4D72B819-17E0-ADDB-3B36-E92BE22FC94D}"/>
              </a:ext>
            </a:extLst>
          </p:cNvPr>
          <p:cNvGrpSpPr/>
          <p:nvPr/>
        </p:nvGrpSpPr>
        <p:grpSpPr>
          <a:xfrm>
            <a:off x="543154" y="4910328"/>
            <a:ext cx="7040880" cy="384048"/>
            <a:chOff x="543154" y="4910328"/>
            <a:chExt cx="7040880" cy="384048"/>
          </a:xfrm>
        </p:grpSpPr>
        <p:sp>
          <p:nvSpPr>
            <p:cNvPr id="118" name="t_r2_bg">
              <a:extLst>
                <a:ext uri="{FF2B5EF4-FFF2-40B4-BE49-F238E27FC236}">
                  <a16:creationId xmlns:a16="http://schemas.microsoft.com/office/drawing/2014/main" id="{15FA7299-EA3B-C5FF-9626-FBD29A4D2D54}"/>
                </a:ext>
              </a:extLst>
            </p:cNvPr>
            <p:cNvSpPr/>
            <p:nvPr/>
          </p:nvSpPr>
          <p:spPr>
            <a:xfrm>
              <a:off x="543154" y="4910328"/>
              <a:ext cx="7040880" cy="3840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9" name="t_r2_c0">
              <a:extLst>
                <a:ext uri="{FF2B5EF4-FFF2-40B4-BE49-F238E27FC236}">
                  <a16:creationId xmlns:a16="http://schemas.microsoft.com/office/drawing/2014/main" id="{43822E2C-A402-792F-16E7-610E171B4DFD}"/>
                </a:ext>
              </a:extLst>
            </p:cNvPr>
            <p:cNvSpPr txBox="1"/>
            <p:nvPr/>
          </p:nvSpPr>
          <p:spPr>
            <a:xfrm>
              <a:off x="689458" y="4910328"/>
              <a:ext cx="96012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Results</a:t>
              </a:r>
              <a:endParaRPr lang="en-US" sz="1050" dirty="0"/>
            </a:p>
          </p:txBody>
        </p:sp>
        <p:sp>
          <p:nvSpPr>
            <p:cNvPr id="120" name="t_r2_c1">
              <a:extLst>
                <a:ext uri="{FF2B5EF4-FFF2-40B4-BE49-F238E27FC236}">
                  <a16:creationId xmlns:a16="http://schemas.microsoft.com/office/drawing/2014/main" id="{E17507CB-AE98-9E1D-0077-EC468D51F07F}"/>
                </a:ext>
              </a:extLst>
            </p:cNvPr>
            <p:cNvSpPr txBox="1"/>
            <p:nvPr/>
          </p:nvSpPr>
          <p:spPr>
            <a:xfrm>
              <a:off x="1832458" y="4910328"/>
              <a:ext cx="24231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collect them yourself</a:t>
              </a:r>
              <a:endParaRPr lang="en-US" sz="1000" dirty="0"/>
            </a:p>
          </p:txBody>
        </p:sp>
        <p:sp>
          <p:nvSpPr>
            <p:cNvPr id="121" name="t_r2_c2">
              <a:extLst>
                <a:ext uri="{FF2B5EF4-FFF2-40B4-BE49-F238E27FC236}">
                  <a16:creationId xmlns:a16="http://schemas.microsoft.com/office/drawing/2014/main" id="{FC1E25D6-8714-0CA3-CDAA-96A6B39AFE37}"/>
                </a:ext>
              </a:extLst>
            </p:cNvPr>
            <p:cNvSpPr txBox="1"/>
            <p:nvPr/>
          </p:nvSpPr>
          <p:spPr>
            <a:xfrm>
              <a:off x="4438498" y="4910328"/>
              <a:ext cx="31089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Task&lt;T[]&gt;: all results back</a:t>
              </a:r>
              <a:endParaRPr lang="en-US" sz="1000" dirty="0"/>
            </a:p>
          </p:txBody>
        </p:sp>
      </p:grpSp>
      <p:grpSp>
        <p:nvGrpSpPr>
          <p:cNvPr id="127" name="t_r3">
            <a:extLst>
              <a:ext uri="{FF2B5EF4-FFF2-40B4-BE49-F238E27FC236}">
                <a16:creationId xmlns:a16="http://schemas.microsoft.com/office/drawing/2014/main" id="{228F2203-95C0-C846-0B41-3AFE44C25809}"/>
              </a:ext>
            </a:extLst>
          </p:cNvPr>
          <p:cNvGrpSpPr/>
          <p:nvPr/>
        </p:nvGrpSpPr>
        <p:grpSpPr>
          <a:xfrm>
            <a:off x="543154" y="5349240"/>
            <a:ext cx="7040880" cy="384048"/>
            <a:chOff x="543154" y="5349240"/>
            <a:chExt cx="7040880" cy="384048"/>
          </a:xfrm>
        </p:grpSpPr>
        <p:sp>
          <p:nvSpPr>
            <p:cNvPr id="123" name="t_r3_bg">
              <a:extLst>
                <a:ext uri="{FF2B5EF4-FFF2-40B4-BE49-F238E27FC236}">
                  <a16:creationId xmlns:a16="http://schemas.microsoft.com/office/drawing/2014/main" id="{D8921432-44EA-BFF3-3A8C-1E76BC57DF90}"/>
                </a:ext>
              </a:extLst>
            </p:cNvPr>
            <p:cNvSpPr/>
            <p:nvPr/>
          </p:nvSpPr>
          <p:spPr>
            <a:xfrm>
              <a:off x="543154" y="5349240"/>
              <a:ext cx="7040880" cy="3840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4" name="t_r3_c0">
              <a:extLst>
                <a:ext uri="{FF2B5EF4-FFF2-40B4-BE49-F238E27FC236}">
                  <a16:creationId xmlns:a16="http://schemas.microsoft.com/office/drawing/2014/main" id="{41187980-7F8E-3FF7-4DEB-0EFD1D178AF2}"/>
                </a:ext>
              </a:extLst>
            </p:cNvPr>
            <p:cNvSpPr txBox="1"/>
            <p:nvPr/>
          </p:nvSpPr>
          <p:spPr>
            <a:xfrm>
              <a:off x="689458" y="5349240"/>
              <a:ext cx="96012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Risk</a:t>
              </a:r>
              <a:endParaRPr lang="en-US" sz="1050" dirty="0"/>
            </a:p>
          </p:txBody>
        </p:sp>
        <p:sp>
          <p:nvSpPr>
            <p:cNvPr id="125" name="t_r3_c1">
              <a:extLst>
                <a:ext uri="{FF2B5EF4-FFF2-40B4-BE49-F238E27FC236}">
                  <a16:creationId xmlns:a16="http://schemas.microsoft.com/office/drawing/2014/main" id="{B2889E1D-9AAD-1809-22B9-3E5DD8C5DB25}"/>
                </a:ext>
              </a:extLst>
            </p:cNvPr>
            <p:cNvSpPr txBox="1"/>
            <p:nvPr/>
          </p:nvSpPr>
          <p:spPr>
            <a:xfrm>
              <a:off x="1832458" y="5349240"/>
              <a:ext cx="24231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none: the cap protects you</a:t>
              </a:r>
              <a:endParaRPr lang="en-US" sz="1000" dirty="0"/>
            </a:p>
          </p:txBody>
        </p:sp>
        <p:sp>
          <p:nvSpPr>
            <p:cNvPr id="126" name="t_r3_c2">
              <a:extLst>
                <a:ext uri="{FF2B5EF4-FFF2-40B4-BE49-F238E27FC236}">
                  <a16:creationId xmlns:a16="http://schemas.microsoft.com/office/drawing/2014/main" id="{86295A9C-A2D2-879B-0E6C-D553464B58B2}"/>
                </a:ext>
              </a:extLst>
            </p:cNvPr>
            <p:cNvSpPr txBox="1"/>
            <p:nvPr/>
          </p:nvSpPr>
          <p:spPr>
            <a:xfrm>
              <a:off x="4438498" y="5349240"/>
              <a:ext cx="31089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Segoe UI"/>
                  <a:ea typeface="Segoe UI"/>
                  <a:cs typeface="Segoe UI"/>
                </a:rPr>
                <a:t>10,000 items = 10,000 calls at once</a:t>
              </a:r>
              <a:endParaRPr lang="en-US" sz="1000" dirty="0"/>
            </a:p>
          </p:txBody>
        </p:sp>
      </p:grpSp>
      <p:sp>
        <p:nvSpPr>
          <p:cNvPr id="128" name="chh">
            <a:extLst>
              <a:ext uri="{FF2B5EF4-FFF2-40B4-BE49-F238E27FC236}">
                <a16:creationId xmlns:a16="http://schemas.microsoft.com/office/drawing/2014/main" id="{224EFD9C-DCAD-F04C-3F0F-3564447F0930}"/>
              </a:ext>
            </a:extLst>
          </p:cNvPr>
          <p:cNvSpPr txBox="1"/>
          <p:nvPr/>
        </p:nvSpPr>
        <p:spPr>
          <a:xfrm>
            <a:off x="7812634" y="3730752"/>
            <a:ext cx="38176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MORE WORKERS ≠ FASTER</a:t>
            </a:r>
            <a:endParaRPr lang="en-US" sz="1050" dirty="0"/>
          </a:p>
        </p:txBody>
      </p:sp>
      <p:grpSp>
        <p:nvGrpSpPr>
          <p:cNvPr id="135" name="chart">
            <a:extLst>
              <a:ext uri="{FF2B5EF4-FFF2-40B4-BE49-F238E27FC236}">
                <a16:creationId xmlns:a16="http://schemas.microsoft.com/office/drawing/2014/main" id="{C4A247B2-2061-54D4-9EBA-D251A346DDB4}"/>
              </a:ext>
            </a:extLst>
          </p:cNvPr>
          <p:cNvGrpSpPr/>
          <p:nvPr/>
        </p:nvGrpSpPr>
        <p:grpSpPr>
          <a:xfrm>
            <a:off x="7812634" y="4096512"/>
            <a:ext cx="3771900" cy="1207008"/>
            <a:chOff x="7812634" y="4096512"/>
            <a:chExt cx="3771900" cy="1207008"/>
          </a:xfrm>
        </p:grpSpPr>
        <p:sp>
          <p:nvSpPr>
            <p:cNvPr id="129" name="bl0">
              <a:extLst>
                <a:ext uri="{FF2B5EF4-FFF2-40B4-BE49-F238E27FC236}">
                  <a16:creationId xmlns:a16="http://schemas.microsoft.com/office/drawing/2014/main" id="{3CF0B331-6004-74E2-C9A6-7C24D2562B59}"/>
                </a:ext>
              </a:extLst>
            </p:cNvPr>
            <p:cNvSpPr txBox="1"/>
            <p:nvPr/>
          </p:nvSpPr>
          <p:spPr>
            <a:xfrm>
              <a:off x="7812634" y="4096512"/>
              <a:ext cx="118872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E2E8F0"/>
                  </a:solidFill>
                  <a:latin typeface="Segoe UI"/>
                  <a:ea typeface="Segoe UI"/>
                  <a:cs typeface="Segoe UI"/>
                </a:rPr>
                <a:t>1 worker</a:t>
              </a:r>
              <a:endParaRPr lang="en-US" sz="1000" dirty="0"/>
            </a:p>
          </p:txBody>
        </p:sp>
        <p:sp>
          <p:nvSpPr>
            <p:cNvPr id="130" name="bb0">
              <a:extLst>
                <a:ext uri="{FF2B5EF4-FFF2-40B4-BE49-F238E27FC236}">
                  <a16:creationId xmlns:a16="http://schemas.microsoft.com/office/drawing/2014/main" id="{1C6B2405-04B5-4C23-AE68-43E9861163D3}"/>
                </a:ext>
              </a:extLst>
            </p:cNvPr>
            <p:cNvSpPr/>
            <p:nvPr/>
          </p:nvSpPr>
          <p:spPr>
            <a:xfrm>
              <a:off x="9001354" y="4133088"/>
              <a:ext cx="2583180" cy="256032"/>
            </a:xfrm>
            <a:prstGeom prst="roundRect">
              <a:avLst>
                <a:gd name="adj" fmla="val 20000"/>
              </a:avLst>
            </a:prstGeom>
            <a:solidFill>
              <a:srgbClr val="94A3B8">
                <a:alpha val="35000"/>
              </a:srgbClr>
            </a:solidFill>
            <a:ln w="12700">
              <a:solidFill>
                <a:srgbClr val="94A3B8"/>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80 s</a:t>
              </a:r>
              <a:endParaRPr lang="en-US" sz="950" dirty="0"/>
            </a:p>
          </p:txBody>
        </p:sp>
        <p:sp>
          <p:nvSpPr>
            <p:cNvPr id="131" name="bl1">
              <a:extLst>
                <a:ext uri="{FF2B5EF4-FFF2-40B4-BE49-F238E27FC236}">
                  <a16:creationId xmlns:a16="http://schemas.microsoft.com/office/drawing/2014/main" id="{4E03C804-FE06-CAC1-D4ED-76659A6C3736}"/>
                </a:ext>
              </a:extLst>
            </p:cNvPr>
            <p:cNvSpPr txBox="1"/>
            <p:nvPr/>
          </p:nvSpPr>
          <p:spPr>
            <a:xfrm>
              <a:off x="7812634" y="4535424"/>
              <a:ext cx="118872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E2E8F0"/>
                  </a:solidFill>
                  <a:latin typeface="Segoe UI"/>
                  <a:ea typeface="Segoe UI"/>
                  <a:cs typeface="Segoe UI"/>
                </a:rPr>
                <a:t>8 workers</a:t>
              </a:r>
              <a:endParaRPr lang="en-US" sz="1000" dirty="0"/>
            </a:p>
          </p:txBody>
        </p:sp>
        <p:sp>
          <p:nvSpPr>
            <p:cNvPr id="132" name="bb1">
              <a:extLst>
                <a:ext uri="{FF2B5EF4-FFF2-40B4-BE49-F238E27FC236}">
                  <a16:creationId xmlns:a16="http://schemas.microsoft.com/office/drawing/2014/main" id="{D928F2D0-CD0D-6BD2-088B-7D7287A12B43}"/>
                </a:ext>
              </a:extLst>
            </p:cNvPr>
            <p:cNvSpPr/>
            <p:nvPr/>
          </p:nvSpPr>
          <p:spPr>
            <a:xfrm>
              <a:off x="9001354" y="4572000"/>
              <a:ext cx="457200" cy="256032"/>
            </a:xfrm>
            <a:prstGeom prst="roundRect">
              <a:avLst>
                <a:gd name="adj" fmla="val 20000"/>
              </a:avLst>
            </a:prstGeom>
            <a:solidFill>
              <a:srgbClr val="34D399">
                <a:alpha val="35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11 s</a:t>
              </a:r>
              <a:endParaRPr lang="en-US" sz="950" dirty="0"/>
            </a:p>
          </p:txBody>
        </p:sp>
        <p:sp>
          <p:nvSpPr>
            <p:cNvPr id="133" name="bl2">
              <a:extLst>
                <a:ext uri="{FF2B5EF4-FFF2-40B4-BE49-F238E27FC236}">
                  <a16:creationId xmlns:a16="http://schemas.microsoft.com/office/drawing/2014/main" id="{0FF2EAA9-40CF-6071-64A0-9E7DCA682668}"/>
                </a:ext>
              </a:extLst>
            </p:cNvPr>
            <p:cNvSpPr txBox="1"/>
            <p:nvPr/>
          </p:nvSpPr>
          <p:spPr>
            <a:xfrm>
              <a:off x="7812634" y="4974336"/>
              <a:ext cx="118872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E2E8F0"/>
                  </a:solidFill>
                  <a:latin typeface="Segoe UI"/>
                  <a:ea typeface="Segoe UI"/>
                  <a:cs typeface="Segoe UI"/>
                </a:rPr>
                <a:t>1000 workers</a:t>
              </a:r>
              <a:endParaRPr lang="en-US" sz="1000" dirty="0"/>
            </a:p>
          </p:txBody>
        </p:sp>
        <p:sp>
          <p:nvSpPr>
            <p:cNvPr id="134" name="bb2">
              <a:extLst>
                <a:ext uri="{FF2B5EF4-FFF2-40B4-BE49-F238E27FC236}">
                  <a16:creationId xmlns:a16="http://schemas.microsoft.com/office/drawing/2014/main" id="{BEEC68BD-8C9B-AF71-7559-8DD3F123AAD4}"/>
                </a:ext>
              </a:extLst>
            </p:cNvPr>
            <p:cNvSpPr/>
            <p:nvPr/>
          </p:nvSpPr>
          <p:spPr>
            <a:xfrm>
              <a:off x="9001354" y="5010912"/>
              <a:ext cx="968692" cy="256032"/>
            </a:xfrm>
            <a:prstGeom prst="roundRect">
              <a:avLst>
                <a:gd name="adj" fmla="val 20000"/>
              </a:avLst>
            </a:prstGeom>
            <a:solidFill>
              <a:srgbClr val="F87171">
                <a:alpha val="35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30 s</a:t>
              </a:r>
              <a:endParaRPr lang="en-US" sz="950" dirty="0"/>
            </a:p>
          </p:txBody>
        </p:sp>
      </p:grpSp>
      <p:sp>
        <p:nvSpPr>
          <p:cNvPr id="136" name="chc">
            <a:extLst>
              <a:ext uri="{FF2B5EF4-FFF2-40B4-BE49-F238E27FC236}">
                <a16:creationId xmlns:a16="http://schemas.microsoft.com/office/drawing/2014/main" id="{5FCA13A6-182B-8558-93FE-02F976EC30E2}"/>
              </a:ext>
            </a:extLst>
          </p:cNvPr>
          <p:cNvSpPr txBox="1"/>
          <p:nvPr/>
        </p:nvSpPr>
        <p:spPr>
          <a:xfrm>
            <a:off x="7812634" y="5440680"/>
            <a:ext cx="381762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8 = sweet spot. </a:t>
            </a:r>
            <a:r>
              <a:rPr lang="en-US" sz="1000" b="0" dirty="0">
                <a:solidFill>
                  <a:srgbClr val="CBD5E1"/>
                </a:solidFill>
                <a:latin typeface="Segoe UI"/>
                <a:ea typeface="Segoe UI"/>
                <a:cs typeface="Segoe UI"/>
              </a:rPr>
              <a:t>Too many: context switching, memory pressure.</a:t>
            </a:r>
            <a:endParaRPr lang="en-US" sz="1000" dirty="0"/>
          </a:p>
        </p:txBody>
      </p:sp>
    </p:spTree>
    <p:extLst>
      <p:ext uri="{BB962C8B-B14F-4D97-AF65-F5344CB8AC3E}">
        <p14:creationId xmlns:p14="http://schemas.microsoft.com/office/powerpoint/2010/main" val="38168893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fade">
                                      <p:cBhvr>
                                        <p:cTn id="22" dur="400"/>
                                        <p:tgtEl>
                                          <p:spTgt spid="107"/>
                                        </p:tgtEl>
                                      </p:cBhvr>
                                    </p:animEffect>
                                  </p:childTnLst>
                                </p:cTn>
                              </p:par>
                            </p:childTnLst>
                          </p:cTn>
                        </p:par>
                        <p:par>
                          <p:cTn id="23" fill="hold">
                            <p:stCondLst>
                              <p:cond delay="400"/>
                            </p:stCondLst>
                            <p:childTnLst>
                              <p:par>
                                <p:cTn id="24" presetID="10" presetClass="entr" presetSubtype="0" fill="hold" nodeType="afterEffect">
                                  <p:stCondLst>
                                    <p:cond delay="0"/>
                                  </p:stCondLst>
                                  <p:childTnLst>
                                    <p:set>
                                      <p:cBhvr>
                                        <p:cTn id="25" dur="1" fill="hold">
                                          <p:stCondLst>
                                            <p:cond delay="0"/>
                                          </p:stCondLst>
                                        </p:cTn>
                                        <p:tgtEl>
                                          <p:spTgt spid="112"/>
                                        </p:tgtEl>
                                        <p:attrNameLst>
                                          <p:attrName>style.visibility</p:attrName>
                                        </p:attrNameLst>
                                      </p:cBhvr>
                                      <p:to>
                                        <p:strVal val="visible"/>
                                      </p:to>
                                    </p:set>
                                    <p:animEffect transition="in" filter="fade">
                                      <p:cBhvr>
                                        <p:cTn id="26" dur="200"/>
                                        <p:tgtEl>
                                          <p:spTgt spid="112"/>
                                        </p:tgtEl>
                                      </p:cBhvr>
                                    </p:animEffect>
                                  </p:childTnLst>
                                </p:cTn>
                              </p:par>
                            </p:childTnLst>
                          </p:cTn>
                        </p:par>
                        <p:par>
                          <p:cTn id="27" fill="hold">
                            <p:stCondLst>
                              <p:cond delay="600"/>
                            </p:stCondLst>
                            <p:childTnLst>
                              <p:par>
                                <p:cTn id="28" presetID="10" presetClass="entr" presetSubtype="0" fill="hold" nodeType="afterEffect">
                                  <p:stCondLst>
                                    <p:cond delay="0"/>
                                  </p:stCondLst>
                                  <p:childTnLst>
                                    <p:set>
                                      <p:cBhvr>
                                        <p:cTn id="29" dur="1" fill="hold">
                                          <p:stCondLst>
                                            <p:cond delay="0"/>
                                          </p:stCondLst>
                                        </p:cTn>
                                        <p:tgtEl>
                                          <p:spTgt spid="117"/>
                                        </p:tgtEl>
                                        <p:attrNameLst>
                                          <p:attrName>style.visibility</p:attrName>
                                        </p:attrNameLst>
                                      </p:cBhvr>
                                      <p:to>
                                        <p:strVal val="visible"/>
                                      </p:to>
                                    </p:set>
                                    <p:animEffect transition="in" filter="fade">
                                      <p:cBhvr>
                                        <p:cTn id="30" dur="200"/>
                                        <p:tgtEl>
                                          <p:spTgt spid="117"/>
                                        </p:tgtEl>
                                      </p:cBhvr>
                                    </p:animEffect>
                                  </p:childTnLst>
                                </p:cTn>
                              </p:par>
                            </p:childTnLst>
                          </p:cTn>
                        </p:par>
                        <p:par>
                          <p:cTn id="31" fill="hold">
                            <p:stCondLst>
                              <p:cond delay="800"/>
                            </p:stCondLst>
                            <p:childTnLst>
                              <p:par>
                                <p:cTn id="32" presetID="10" presetClass="entr" presetSubtype="0" fill="hold" nodeType="afterEffect">
                                  <p:stCondLst>
                                    <p:cond delay="0"/>
                                  </p:stCondLst>
                                  <p:childTnLst>
                                    <p:set>
                                      <p:cBhvr>
                                        <p:cTn id="33" dur="1" fill="hold">
                                          <p:stCondLst>
                                            <p:cond delay="0"/>
                                          </p:stCondLst>
                                        </p:cTn>
                                        <p:tgtEl>
                                          <p:spTgt spid="122"/>
                                        </p:tgtEl>
                                        <p:attrNameLst>
                                          <p:attrName>style.visibility</p:attrName>
                                        </p:attrNameLst>
                                      </p:cBhvr>
                                      <p:to>
                                        <p:strVal val="visible"/>
                                      </p:to>
                                    </p:set>
                                    <p:animEffect transition="in" filter="fade">
                                      <p:cBhvr>
                                        <p:cTn id="34" dur="200"/>
                                        <p:tgtEl>
                                          <p:spTgt spid="122"/>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27"/>
                                        </p:tgtEl>
                                        <p:attrNameLst>
                                          <p:attrName>style.visibility</p:attrName>
                                        </p:attrNameLst>
                                      </p:cBhvr>
                                      <p:to>
                                        <p:strVal val="visible"/>
                                      </p:to>
                                    </p:set>
                                    <p:animEffect transition="in" filter="fade">
                                      <p:cBhvr>
                                        <p:cTn id="38" dur="200"/>
                                        <p:tgtEl>
                                          <p:spTgt spid="12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28"/>
                                        </p:tgtEl>
                                        <p:attrNameLst>
                                          <p:attrName>style.visibility</p:attrName>
                                        </p:attrNameLst>
                                      </p:cBhvr>
                                      <p:to>
                                        <p:strVal val="visible"/>
                                      </p:to>
                                    </p:set>
                                    <p:animEffect transition="in" filter="fade">
                                      <p:cBhvr>
                                        <p:cTn id="43" dur="400"/>
                                        <p:tgtEl>
                                          <p:spTgt spid="128"/>
                                        </p:tgtEl>
                                      </p:cBhvr>
                                    </p:animEffect>
                                  </p:childTnLst>
                                </p:cTn>
                              </p:par>
                              <p:par>
                                <p:cTn id="44" presetID="10" presetClass="entr" presetSubtype="0" fill="hold" nodeType="withEffect">
                                  <p:stCondLst>
                                    <p:cond delay="0"/>
                                  </p:stCondLst>
                                  <p:childTnLst>
                                    <p:set>
                                      <p:cBhvr>
                                        <p:cTn id="45" dur="1" fill="hold">
                                          <p:stCondLst>
                                            <p:cond delay="0"/>
                                          </p:stCondLst>
                                        </p:cTn>
                                        <p:tgtEl>
                                          <p:spTgt spid="135"/>
                                        </p:tgtEl>
                                        <p:attrNameLst>
                                          <p:attrName>style.visibility</p:attrName>
                                        </p:attrNameLst>
                                      </p:cBhvr>
                                      <p:to>
                                        <p:strVal val="visible"/>
                                      </p:to>
                                    </p:set>
                                    <p:animEffect transition="in" filter="fade">
                                      <p:cBhvr>
                                        <p:cTn id="46" dur="400"/>
                                        <p:tgtEl>
                                          <p:spTgt spid="13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6"/>
                                        </p:tgtEl>
                                        <p:attrNameLst>
                                          <p:attrName>style.visibility</p:attrName>
                                        </p:attrNameLst>
                                      </p:cBhvr>
                                      <p:to>
                                        <p:strVal val="visible"/>
                                      </p:to>
                                    </p:set>
                                    <p:animEffect transition="in" filter="fade">
                                      <p:cBhvr>
                                        <p:cTn id="49" dur="4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28" grpId="0" animBg="1"/>
      <p:bldP spid="13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5FD33-964D-9682-E9C6-B0FDB9AF04CD}"/>
            </a:ext>
          </a:extLst>
        </p:cNvPr>
        <p:cNvGrpSpPr/>
        <p:nvPr/>
      </p:nvGrpSpPr>
      <p:grpSpPr>
        <a:xfrm>
          <a:off x="0" y="0"/>
          <a:ext cx="0" cy="0"/>
          <a:chOff x="0" y="0"/>
          <a:chExt cx="0" cy="0"/>
        </a:xfrm>
      </p:grpSpPr>
      <p:sp>
        <p:nvSpPr>
          <p:cNvPr id="2" name="Frame_bg">
            <a:extLst>
              <a:ext uri="{FF2B5EF4-FFF2-40B4-BE49-F238E27FC236}">
                <a16:creationId xmlns:a16="http://schemas.microsoft.com/office/drawing/2014/main" id="{44C91F40-B715-4F1E-0F81-6DDBFA87CCEB}"/>
              </a:ext>
            </a:extLst>
          </p:cNvPr>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a:extLst>
              <a:ext uri="{FF2B5EF4-FFF2-40B4-BE49-F238E27FC236}">
                <a16:creationId xmlns:a16="http://schemas.microsoft.com/office/drawing/2014/main" id="{A392D9AE-3A2B-1660-347A-C00A45CA5EA5}"/>
              </a:ext>
            </a:extLst>
          </p:cNvPr>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a:extLst>
              <a:ext uri="{FF2B5EF4-FFF2-40B4-BE49-F238E27FC236}">
                <a16:creationId xmlns:a16="http://schemas.microsoft.com/office/drawing/2014/main" id="{29C6B9C4-D089-5977-D527-95054276E189}"/>
              </a:ext>
            </a:extLst>
          </p:cNvPr>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a:extLst>
              <a:ext uri="{FF2B5EF4-FFF2-40B4-BE49-F238E27FC236}">
                <a16:creationId xmlns:a16="http://schemas.microsoft.com/office/drawing/2014/main" id="{A4378A04-E05C-C800-3537-3B0BD6E3142C}"/>
              </a:ext>
            </a:extLst>
          </p:cNvPr>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a:extLst>
              <a:ext uri="{FF2B5EF4-FFF2-40B4-BE49-F238E27FC236}">
                <a16:creationId xmlns:a16="http://schemas.microsoft.com/office/drawing/2014/main" id="{2D9A8F60-334F-B3D0-5644-3EC7120F421F}"/>
              </a:ext>
            </a:extLst>
          </p:cNvPr>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a:extLst>
              <a:ext uri="{FF2B5EF4-FFF2-40B4-BE49-F238E27FC236}">
                <a16:creationId xmlns:a16="http://schemas.microsoft.com/office/drawing/2014/main" id="{EF530939-291F-9B4C-8A53-55C0E87F8D2A}"/>
              </a:ext>
            </a:extLst>
          </p:cNvPr>
          <p:cNvSpPr/>
          <p:nvPr/>
        </p:nvSpPr>
        <p:spPr>
          <a:xfrm>
            <a:off x="542925" y="495300"/>
            <a:ext cx="988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REAL CODE</a:t>
            </a:r>
            <a:endParaRPr lang="en-US" sz="1000" dirty="0"/>
          </a:p>
        </p:txBody>
      </p:sp>
      <p:sp>
        <p:nvSpPr>
          <p:cNvPr id="8" name="Title">
            <a:extLst>
              <a:ext uri="{FF2B5EF4-FFF2-40B4-BE49-F238E27FC236}">
                <a16:creationId xmlns:a16="http://schemas.microsoft.com/office/drawing/2014/main" id="{DB1D670A-C625-3841-4757-1D1A4AB8D8C0}"/>
              </a:ext>
            </a:extLst>
          </p:cNvPr>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Four Tools in Real Code</a:t>
            </a:r>
            <a:endParaRPr lang="en-US" sz="3000" dirty="0"/>
          </a:p>
        </p:txBody>
      </p:sp>
      <p:sp>
        <p:nvSpPr>
          <p:cNvPr id="9" name="Footer_rule">
            <a:extLst>
              <a:ext uri="{FF2B5EF4-FFF2-40B4-BE49-F238E27FC236}">
                <a16:creationId xmlns:a16="http://schemas.microsoft.com/office/drawing/2014/main" id="{84EDE374-F0BD-5DD0-F954-D12C3231E6CC}"/>
              </a:ext>
            </a:extLst>
          </p:cNvPr>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a:extLst>
              <a:ext uri="{FF2B5EF4-FFF2-40B4-BE49-F238E27FC236}">
                <a16:creationId xmlns:a16="http://schemas.microsoft.com/office/drawing/2014/main" id="{2C60DF80-DCC4-B970-12DE-12EB3ED68CE7}"/>
              </a:ext>
            </a:extLst>
          </p:cNvPr>
          <p:cNvPicPr>
            <a:picLocks noChangeAspect="1"/>
          </p:cNvPicPr>
          <p:nvPr/>
        </p:nvPicPr>
        <p:blipFill>
          <a:blip r:embed="rId3"/>
          <a:stretch>
            <a:fillRect/>
          </a:stretch>
        </p:blipFill>
        <p:spPr>
          <a:xfrm>
            <a:off x="495300" y="6381750"/>
            <a:ext cx="342900" cy="257175"/>
          </a:xfrm>
          <a:prstGeom prst="rect">
            <a:avLst/>
          </a:prstGeom>
        </p:spPr>
      </p:pic>
      <p:sp>
        <p:nvSpPr>
          <p:cNvPr id="11" name="Footer_brand">
            <a:extLst>
              <a:ext uri="{FF2B5EF4-FFF2-40B4-BE49-F238E27FC236}">
                <a16:creationId xmlns:a16="http://schemas.microsoft.com/office/drawing/2014/main" id="{668F3D27-D536-0287-008F-380824CE2624}"/>
              </a:ext>
            </a:extLst>
          </p:cNvPr>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a:extLst>
              <a:ext uri="{FF2B5EF4-FFF2-40B4-BE49-F238E27FC236}">
                <a16:creationId xmlns:a16="http://schemas.microsoft.com/office/drawing/2014/main" id="{C3DAB454-08D7-4D22-5354-20A1CABC9821}"/>
              </a:ext>
            </a:extLst>
          </p:cNvPr>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a:extLst>
              <a:ext uri="{FF2B5EF4-FFF2-40B4-BE49-F238E27FC236}">
                <a16:creationId xmlns:a16="http://schemas.microsoft.com/office/drawing/2014/main" id="{4C704699-5B29-82BD-4D31-D66BB08FDB21}"/>
              </a:ext>
            </a:extLst>
          </p:cNvPr>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a:extLst>
              <a:ext uri="{FF2B5EF4-FFF2-40B4-BE49-F238E27FC236}">
                <a16:creationId xmlns:a16="http://schemas.microsoft.com/office/drawing/2014/main" id="{ECFEA53A-E5AD-9978-6611-D9BD5F613AB4}"/>
              </a:ext>
            </a:extLst>
          </p:cNvPr>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80</a:t>
            </a:r>
            <a:endParaRPr lang="en-US" sz="850" dirty="0"/>
          </a:p>
        </p:txBody>
      </p:sp>
      <p:grpSp>
        <p:nvGrpSpPr>
          <p:cNvPr id="115" name="w0">
            <a:extLst>
              <a:ext uri="{FF2B5EF4-FFF2-40B4-BE49-F238E27FC236}">
                <a16:creationId xmlns:a16="http://schemas.microsoft.com/office/drawing/2014/main" id="{EE3E4CA7-2F47-A554-F09E-70FBB6252BD5}"/>
              </a:ext>
            </a:extLst>
          </p:cNvPr>
          <p:cNvGrpSpPr/>
          <p:nvPr/>
        </p:nvGrpSpPr>
        <p:grpSpPr>
          <a:xfrm>
            <a:off x="543154" y="1463040"/>
            <a:ext cx="5429250" cy="2157984"/>
            <a:chOff x="543154" y="1463040"/>
            <a:chExt cx="5429250" cy="2157984"/>
          </a:xfrm>
        </p:grpSpPr>
        <p:sp>
          <p:nvSpPr>
            <p:cNvPr id="101" name="w0_win">
              <a:extLst>
                <a:ext uri="{FF2B5EF4-FFF2-40B4-BE49-F238E27FC236}">
                  <a16:creationId xmlns:a16="http://schemas.microsoft.com/office/drawing/2014/main" id="{6A618CB8-7500-5A64-24BD-66E9ED8DF7E2}"/>
                </a:ext>
              </a:extLst>
            </p:cNvPr>
            <p:cNvSpPr/>
            <p:nvPr/>
          </p:nvSpPr>
          <p:spPr>
            <a:xfrm>
              <a:off x="543154" y="1463040"/>
              <a:ext cx="5429250" cy="2157984"/>
            </a:xfrm>
            <a:prstGeom prst="roundRect">
              <a:avLst>
                <a:gd name="adj" fmla="val 3176"/>
              </a:avLst>
            </a:prstGeom>
            <a:solidFill>
              <a:srgbClr val="060D18"/>
            </a:solidFill>
            <a:ln w="12700">
              <a:solidFill>
                <a:srgbClr val="1E3A5F"/>
              </a:solidFill>
              <a:prstDash val="solid"/>
            </a:ln>
          </p:spPr>
          <p:txBody>
            <a:bodyPr/>
            <a:lstStyle/>
            <a:p>
              <a:endParaRPr lang="en-US"/>
            </a:p>
          </p:txBody>
        </p:sp>
        <p:sp>
          <p:nvSpPr>
            <p:cNvPr id="102" name="w0_bar">
              <a:extLst>
                <a:ext uri="{FF2B5EF4-FFF2-40B4-BE49-F238E27FC236}">
                  <a16:creationId xmlns:a16="http://schemas.microsoft.com/office/drawing/2014/main" id="{8693596A-5650-9DBF-18B1-B61ADCE3E79C}"/>
                </a:ext>
              </a:extLst>
            </p:cNvPr>
            <p:cNvSpPr/>
            <p:nvPr/>
          </p:nvSpPr>
          <p:spPr>
            <a:xfrm>
              <a:off x="543154" y="1463040"/>
              <a:ext cx="54292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w0_barfill">
              <a:extLst>
                <a:ext uri="{FF2B5EF4-FFF2-40B4-BE49-F238E27FC236}">
                  <a16:creationId xmlns:a16="http://schemas.microsoft.com/office/drawing/2014/main" id="{6B2F6D5C-AD9A-0EE7-3A6B-1E820B8C1AE1}"/>
                </a:ext>
              </a:extLst>
            </p:cNvPr>
            <p:cNvSpPr/>
            <p:nvPr/>
          </p:nvSpPr>
          <p:spPr>
            <a:xfrm>
              <a:off x="543154" y="1634490"/>
              <a:ext cx="5429250" cy="171450"/>
            </a:xfrm>
            <a:prstGeom prst="rect">
              <a:avLst/>
            </a:prstGeom>
            <a:solidFill>
              <a:srgbClr val="0A1220"/>
            </a:solidFill>
            <a:ln w="12700">
              <a:solidFill>
                <a:srgbClr val="0A1220"/>
              </a:solidFill>
              <a:prstDash val="solid"/>
            </a:ln>
          </p:spPr>
          <p:txBody>
            <a:bodyPr/>
            <a:lstStyle/>
            <a:p>
              <a:endParaRPr lang="en-US"/>
            </a:p>
          </p:txBody>
        </p:sp>
        <p:sp>
          <p:nvSpPr>
            <p:cNvPr id="104" name="w0_dot0">
              <a:extLst>
                <a:ext uri="{FF2B5EF4-FFF2-40B4-BE49-F238E27FC236}">
                  <a16:creationId xmlns:a16="http://schemas.microsoft.com/office/drawing/2014/main" id="{A4004E06-2438-4A31-31FC-A1524D9D8A3B}"/>
                </a:ext>
              </a:extLst>
            </p:cNvPr>
            <p:cNvSpPr/>
            <p:nvPr/>
          </p:nvSpPr>
          <p:spPr>
            <a:xfrm>
              <a:off x="705002" y="158685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w0_dot1">
              <a:extLst>
                <a:ext uri="{FF2B5EF4-FFF2-40B4-BE49-F238E27FC236}">
                  <a16:creationId xmlns:a16="http://schemas.microsoft.com/office/drawing/2014/main" id="{7126F522-EE27-4D72-5746-4C62F86F227F}"/>
                </a:ext>
              </a:extLst>
            </p:cNvPr>
            <p:cNvSpPr/>
            <p:nvPr/>
          </p:nvSpPr>
          <p:spPr>
            <a:xfrm>
              <a:off x="890626" y="158685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w0_dot2">
              <a:extLst>
                <a:ext uri="{FF2B5EF4-FFF2-40B4-BE49-F238E27FC236}">
                  <a16:creationId xmlns:a16="http://schemas.microsoft.com/office/drawing/2014/main" id="{CB2D948B-A43A-EA89-65B8-5AD981FE4826}"/>
                </a:ext>
              </a:extLst>
            </p:cNvPr>
            <p:cNvSpPr/>
            <p:nvPr/>
          </p:nvSpPr>
          <p:spPr>
            <a:xfrm>
              <a:off x="1076250" y="158685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w0_tab">
              <a:extLst>
                <a:ext uri="{FF2B5EF4-FFF2-40B4-BE49-F238E27FC236}">
                  <a16:creationId xmlns:a16="http://schemas.microsoft.com/office/drawing/2014/main" id="{84921BB8-58D0-727A-3577-847D8FF4438E}"/>
                </a:ext>
              </a:extLst>
            </p:cNvPr>
            <p:cNvSpPr/>
            <p:nvPr/>
          </p:nvSpPr>
          <p:spPr>
            <a:xfrm>
              <a:off x="1324051" y="1510589"/>
              <a:ext cx="2714298"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ParallelFor.cs  · CPU work by index</a:t>
              </a:r>
              <a:endParaRPr lang="en-US" sz="950" dirty="0"/>
            </a:p>
          </p:txBody>
        </p:sp>
        <p:sp>
          <p:nvSpPr>
            <p:cNvPr id="108" name="w0_L00">
              <a:extLst>
                <a:ext uri="{FF2B5EF4-FFF2-40B4-BE49-F238E27FC236}">
                  <a16:creationId xmlns:a16="http://schemas.microsoft.com/office/drawing/2014/main" id="{AE27A294-137B-B80D-B8DA-253FCC007F70}"/>
                </a:ext>
              </a:extLst>
            </p:cNvPr>
            <p:cNvSpPr txBox="1"/>
            <p:nvPr/>
          </p:nvSpPr>
          <p:spPr>
            <a:xfrm>
              <a:off x="771754" y="193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long</a:t>
              </a:r>
              <a:r>
                <a:rPr lang="en-US" sz="760" b="0" dirty="0">
                  <a:solidFill>
                    <a:srgbClr val="E2E8F0"/>
                  </a:solidFill>
                  <a:latin typeface="Consolas"/>
                  <a:ea typeface="Consolas"/>
                  <a:cs typeface="Consolas"/>
                </a:rPr>
                <a:t>[] squares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long</a:t>
              </a:r>
              <a:r>
                <a:rPr lang="en-US" sz="760" b="0" dirty="0">
                  <a:solidFill>
                    <a:srgbClr val="E2E8F0"/>
                  </a:solidFill>
                  <a:latin typeface="Consolas"/>
                  <a:ea typeface="Consolas"/>
                  <a:cs typeface="Consolas"/>
                </a:rPr>
                <a:t>[10];</a:t>
              </a:r>
              <a:endParaRPr lang="en-US" sz="760" dirty="0"/>
            </a:p>
          </p:txBody>
        </p:sp>
        <p:sp>
          <p:nvSpPr>
            <p:cNvPr id="109" name="w0_L02">
              <a:extLst>
                <a:ext uri="{FF2B5EF4-FFF2-40B4-BE49-F238E27FC236}">
                  <a16:creationId xmlns:a16="http://schemas.microsoft.com/office/drawing/2014/main" id="{7E436EA5-0F6A-0F18-D78D-FB9BC02065B6}"/>
                </a:ext>
              </a:extLst>
            </p:cNvPr>
            <p:cNvSpPr txBox="1"/>
            <p:nvPr/>
          </p:nvSpPr>
          <p:spPr>
            <a:xfrm>
              <a:off x="771754" y="223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Parallel.For(0, squares.Length, i =&gt;</a:t>
              </a:r>
              <a:endParaRPr lang="en-US" sz="760" dirty="0"/>
            </a:p>
          </p:txBody>
        </p:sp>
        <p:sp>
          <p:nvSpPr>
            <p:cNvPr id="110" name="w0_L03">
              <a:extLst>
                <a:ext uri="{FF2B5EF4-FFF2-40B4-BE49-F238E27FC236}">
                  <a16:creationId xmlns:a16="http://schemas.microsoft.com/office/drawing/2014/main" id="{4173A9C1-C28D-D965-C9AD-3DD24F7AB515}"/>
                </a:ext>
              </a:extLst>
            </p:cNvPr>
            <p:cNvSpPr txBox="1"/>
            <p:nvPr/>
          </p:nvSpPr>
          <p:spPr>
            <a:xfrm>
              <a:off x="771754" y="238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1" name="w0_L04">
              <a:extLst>
                <a:ext uri="{FF2B5EF4-FFF2-40B4-BE49-F238E27FC236}">
                  <a16:creationId xmlns:a16="http://schemas.microsoft.com/office/drawing/2014/main" id="{A307D889-22B3-3E2D-BA23-DAF4A18F9620}"/>
                </a:ext>
              </a:extLst>
            </p:cNvPr>
            <p:cNvSpPr txBox="1"/>
            <p:nvPr/>
          </p:nvSpPr>
          <p:spPr>
            <a:xfrm>
              <a:off x="771754" y="2538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squares[i] = (</a:t>
              </a:r>
              <a:r>
                <a:rPr lang="en-US" sz="760" b="0" dirty="0">
                  <a:solidFill>
                    <a:srgbClr val="60A5FA"/>
                  </a:solidFill>
                  <a:latin typeface="Consolas"/>
                  <a:ea typeface="Consolas"/>
                  <a:cs typeface="Consolas"/>
                </a:rPr>
                <a:t>long</a:t>
              </a:r>
              <a:r>
                <a:rPr lang="en-US" sz="760" b="0" dirty="0">
                  <a:solidFill>
                    <a:srgbClr val="E2E8F0"/>
                  </a:solidFill>
                  <a:latin typeface="Consolas"/>
                  <a:ea typeface="Consolas"/>
                  <a:cs typeface="Consolas"/>
                </a:rPr>
                <a:t>)i * i;          </a:t>
              </a:r>
              <a:r>
                <a:rPr lang="en-US" sz="760" b="0" dirty="0">
                  <a:solidFill>
                    <a:srgbClr val="6FAE7A"/>
                  </a:solidFill>
                  <a:latin typeface="Consolas"/>
                  <a:ea typeface="Consolas"/>
                  <a:cs typeface="Consolas"/>
                </a:rPr>
                <a:t>// each i on some core</a:t>
              </a:r>
              <a:endParaRPr lang="en-US" sz="760" dirty="0"/>
            </a:p>
          </p:txBody>
        </p:sp>
        <p:sp>
          <p:nvSpPr>
            <p:cNvPr id="112" name="w0_L05">
              <a:extLst>
                <a:ext uri="{FF2B5EF4-FFF2-40B4-BE49-F238E27FC236}">
                  <a16:creationId xmlns:a16="http://schemas.microsoft.com/office/drawing/2014/main" id="{3A530EC3-F8BD-14D0-8D71-86F268D943AC}"/>
                </a:ext>
              </a:extLst>
            </p:cNvPr>
            <p:cNvSpPr txBox="1"/>
            <p:nvPr/>
          </p:nvSpPr>
          <p:spPr>
            <a:xfrm>
              <a:off x="771754" y="268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3" name="w0_L07">
              <a:extLst>
                <a:ext uri="{FF2B5EF4-FFF2-40B4-BE49-F238E27FC236}">
                  <a16:creationId xmlns:a16="http://schemas.microsoft.com/office/drawing/2014/main" id="{3FE6457C-2D5C-9CD3-35C8-099F9D608EF7}"/>
                </a:ext>
              </a:extLst>
            </p:cNvPr>
            <p:cNvSpPr txBox="1"/>
            <p:nvPr/>
          </p:nvSpPr>
          <p:spPr>
            <a:xfrm>
              <a:off x="771754" y="298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Console.WriteLine(</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.Join(</a:t>
              </a:r>
              <a:r>
                <a:rPr lang="en-US" sz="760" b="0" dirty="0">
                  <a:solidFill>
                    <a:srgbClr val="F0A98B"/>
                  </a:solidFill>
                  <a:latin typeface="Consolas"/>
                  <a:ea typeface="Consolas"/>
                  <a:cs typeface="Consolas"/>
                </a:rPr>
                <a:t>", "</a:t>
              </a:r>
              <a:r>
                <a:rPr lang="en-US" sz="760" b="0" dirty="0">
                  <a:solidFill>
                    <a:srgbClr val="E2E8F0"/>
                  </a:solidFill>
                  <a:latin typeface="Consolas"/>
                  <a:ea typeface="Consolas"/>
                  <a:cs typeface="Consolas"/>
                </a:rPr>
                <a:t>, squares));</a:t>
              </a:r>
              <a:endParaRPr lang="en-US" sz="760" dirty="0"/>
            </a:p>
          </p:txBody>
        </p:sp>
        <p:sp>
          <p:nvSpPr>
            <p:cNvPr id="114" name="w0_L08">
              <a:extLst>
                <a:ext uri="{FF2B5EF4-FFF2-40B4-BE49-F238E27FC236}">
                  <a16:creationId xmlns:a16="http://schemas.microsoft.com/office/drawing/2014/main" id="{85C32BAD-7F28-5A2A-90CD-7050AD09DD2A}"/>
                </a:ext>
              </a:extLst>
            </p:cNvPr>
            <p:cNvSpPr txBox="1"/>
            <p:nvPr/>
          </p:nvSpPr>
          <p:spPr>
            <a:xfrm>
              <a:off x="771754" y="313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0, 1, 4, 9, 16, 25, 36, 49, 64, 81</a:t>
              </a:r>
              <a:endParaRPr lang="en-US" sz="760" dirty="0"/>
            </a:p>
          </p:txBody>
        </p:sp>
      </p:grpSp>
      <p:sp>
        <p:nvSpPr>
          <p:cNvPr id="116" name="w0_hl2">
            <a:extLst>
              <a:ext uri="{FF2B5EF4-FFF2-40B4-BE49-F238E27FC236}">
                <a16:creationId xmlns:a16="http://schemas.microsoft.com/office/drawing/2014/main" id="{4D69CC06-A6DB-0899-0EBC-013B6B699311}"/>
              </a:ext>
            </a:extLst>
          </p:cNvPr>
          <p:cNvSpPr/>
          <p:nvPr/>
        </p:nvSpPr>
        <p:spPr>
          <a:xfrm>
            <a:off x="676656" y="2220652"/>
            <a:ext cx="5162250" cy="18657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33" name="w1">
            <a:extLst>
              <a:ext uri="{FF2B5EF4-FFF2-40B4-BE49-F238E27FC236}">
                <a16:creationId xmlns:a16="http://schemas.microsoft.com/office/drawing/2014/main" id="{9C5BAF8B-0BF4-34C6-594D-428BF8B5EC9A}"/>
              </a:ext>
            </a:extLst>
          </p:cNvPr>
          <p:cNvGrpSpPr/>
          <p:nvPr/>
        </p:nvGrpSpPr>
        <p:grpSpPr>
          <a:xfrm>
            <a:off x="6201004" y="1463040"/>
            <a:ext cx="5429250" cy="2157984"/>
            <a:chOff x="6201004" y="1463040"/>
            <a:chExt cx="5429250" cy="2157984"/>
          </a:xfrm>
        </p:grpSpPr>
        <p:sp>
          <p:nvSpPr>
            <p:cNvPr id="117" name="w1_win">
              <a:extLst>
                <a:ext uri="{FF2B5EF4-FFF2-40B4-BE49-F238E27FC236}">
                  <a16:creationId xmlns:a16="http://schemas.microsoft.com/office/drawing/2014/main" id="{7A9349EE-EFF8-AB94-F147-ECE4CE4CA50C}"/>
                </a:ext>
              </a:extLst>
            </p:cNvPr>
            <p:cNvSpPr/>
            <p:nvPr/>
          </p:nvSpPr>
          <p:spPr>
            <a:xfrm>
              <a:off x="6201004" y="1463040"/>
              <a:ext cx="5429250" cy="2157984"/>
            </a:xfrm>
            <a:prstGeom prst="roundRect">
              <a:avLst>
                <a:gd name="adj" fmla="val 3176"/>
              </a:avLst>
            </a:prstGeom>
            <a:solidFill>
              <a:srgbClr val="060D18"/>
            </a:solidFill>
            <a:ln w="12700">
              <a:solidFill>
                <a:srgbClr val="1E3A5F"/>
              </a:solidFill>
              <a:prstDash val="solid"/>
            </a:ln>
          </p:spPr>
          <p:txBody>
            <a:bodyPr/>
            <a:lstStyle/>
            <a:p>
              <a:endParaRPr lang="en-US"/>
            </a:p>
          </p:txBody>
        </p:sp>
        <p:sp>
          <p:nvSpPr>
            <p:cNvPr id="118" name="w1_bar">
              <a:extLst>
                <a:ext uri="{FF2B5EF4-FFF2-40B4-BE49-F238E27FC236}">
                  <a16:creationId xmlns:a16="http://schemas.microsoft.com/office/drawing/2014/main" id="{B32DB3B9-40DB-03BD-ED1E-57C7DCAF6735}"/>
                </a:ext>
              </a:extLst>
            </p:cNvPr>
            <p:cNvSpPr/>
            <p:nvPr/>
          </p:nvSpPr>
          <p:spPr>
            <a:xfrm>
              <a:off x="6201004" y="1463040"/>
              <a:ext cx="54292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9" name="w1_barfill">
              <a:extLst>
                <a:ext uri="{FF2B5EF4-FFF2-40B4-BE49-F238E27FC236}">
                  <a16:creationId xmlns:a16="http://schemas.microsoft.com/office/drawing/2014/main" id="{75830EE6-A702-D1C1-0F73-8636A6910068}"/>
                </a:ext>
              </a:extLst>
            </p:cNvPr>
            <p:cNvSpPr/>
            <p:nvPr/>
          </p:nvSpPr>
          <p:spPr>
            <a:xfrm>
              <a:off x="6201004" y="1634490"/>
              <a:ext cx="5429250" cy="171450"/>
            </a:xfrm>
            <a:prstGeom prst="rect">
              <a:avLst/>
            </a:prstGeom>
            <a:solidFill>
              <a:srgbClr val="0A1220"/>
            </a:solidFill>
            <a:ln w="12700">
              <a:solidFill>
                <a:srgbClr val="0A1220"/>
              </a:solidFill>
              <a:prstDash val="solid"/>
            </a:ln>
          </p:spPr>
          <p:txBody>
            <a:bodyPr/>
            <a:lstStyle/>
            <a:p>
              <a:endParaRPr lang="en-US"/>
            </a:p>
          </p:txBody>
        </p:sp>
        <p:sp>
          <p:nvSpPr>
            <p:cNvPr id="120" name="w1_dot0">
              <a:extLst>
                <a:ext uri="{FF2B5EF4-FFF2-40B4-BE49-F238E27FC236}">
                  <a16:creationId xmlns:a16="http://schemas.microsoft.com/office/drawing/2014/main" id="{E7827C8F-4E33-BF7C-D288-EA5438F0C7E5}"/>
                </a:ext>
              </a:extLst>
            </p:cNvPr>
            <p:cNvSpPr/>
            <p:nvPr/>
          </p:nvSpPr>
          <p:spPr>
            <a:xfrm>
              <a:off x="6362852" y="1586850"/>
              <a:ext cx="95098" cy="95098"/>
            </a:xfrm>
            <a:prstGeom prst="ellipse">
              <a:avLst/>
            </a:prstGeom>
            <a:solidFill>
              <a:srgbClr val="F87171"/>
            </a:solidFill>
            <a:ln w="12700">
              <a:solidFill>
                <a:srgbClr val="F87171"/>
              </a:solidFill>
              <a:prstDash val="solid"/>
            </a:ln>
          </p:spPr>
          <p:txBody>
            <a:bodyPr/>
            <a:lstStyle/>
            <a:p>
              <a:endParaRPr lang="en-US"/>
            </a:p>
          </p:txBody>
        </p:sp>
        <p:sp>
          <p:nvSpPr>
            <p:cNvPr id="121" name="w1_dot1">
              <a:extLst>
                <a:ext uri="{FF2B5EF4-FFF2-40B4-BE49-F238E27FC236}">
                  <a16:creationId xmlns:a16="http://schemas.microsoft.com/office/drawing/2014/main" id="{30D756EC-17E1-8968-B6A0-39C3315661F3}"/>
                </a:ext>
              </a:extLst>
            </p:cNvPr>
            <p:cNvSpPr/>
            <p:nvPr/>
          </p:nvSpPr>
          <p:spPr>
            <a:xfrm>
              <a:off x="6548476" y="1586850"/>
              <a:ext cx="95098" cy="95098"/>
            </a:xfrm>
            <a:prstGeom prst="ellipse">
              <a:avLst/>
            </a:prstGeom>
            <a:solidFill>
              <a:srgbClr val="FBBF24"/>
            </a:solidFill>
            <a:ln w="12700">
              <a:solidFill>
                <a:srgbClr val="FBBF24"/>
              </a:solidFill>
              <a:prstDash val="solid"/>
            </a:ln>
          </p:spPr>
          <p:txBody>
            <a:bodyPr/>
            <a:lstStyle/>
            <a:p>
              <a:endParaRPr lang="en-US"/>
            </a:p>
          </p:txBody>
        </p:sp>
        <p:sp>
          <p:nvSpPr>
            <p:cNvPr id="122" name="w1_dot2">
              <a:extLst>
                <a:ext uri="{FF2B5EF4-FFF2-40B4-BE49-F238E27FC236}">
                  <a16:creationId xmlns:a16="http://schemas.microsoft.com/office/drawing/2014/main" id="{9365AAA2-F756-EDA1-DA2F-6CAC6C61FAC0}"/>
                </a:ext>
              </a:extLst>
            </p:cNvPr>
            <p:cNvSpPr/>
            <p:nvPr/>
          </p:nvSpPr>
          <p:spPr>
            <a:xfrm>
              <a:off x="6734100" y="1586850"/>
              <a:ext cx="95098" cy="95098"/>
            </a:xfrm>
            <a:prstGeom prst="ellipse">
              <a:avLst/>
            </a:prstGeom>
            <a:solidFill>
              <a:srgbClr val="34D399"/>
            </a:solidFill>
            <a:ln w="12700">
              <a:solidFill>
                <a:srgbClr val="34D399"/>
              </a:solidFill>
              <a:prstDash val="solid"/>
            </a:ln>
          </p:spPr>
          <p:txBody>
            <a:bodyPr/>
            <a:lstStyle/>
            <a:p>
              <a:endParaRPr lang="en-US"/>
            </a:p>
          </p:txBody>
        </p:sp>
        <p:sp>
          <p:nvSpPr>
            <p:cNvPr id="123" name="w1_tab">
              <a:extLst>
                <a:ext uri="{FF2B5EF4-FFF2-40B4-BE49-F238E27FC236}">
                  <a16:creationId xmlns:a16="http://schemas.microsoft.com/office/drawing/2014/main" id="{D70F816C-4948-5933-BF13-7462DE155C06}"/>
                </a:ext>
              </a:extLst>
            </p:cNvPr>
            <p:cNvSpPr/>
            <p:nvPr/>
          </p:nvSpPr>
          <p:spPr>
            <a:xfrm>
              <a:off x="6981901" y="1510589"/>
              <a:ext cx="298678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ParallelForEach.cs  · CPU work per item</a:t>
              </a:r>
              <a:endParaRPr lang="en-US" sz="950" dirty="0"/>
            </a:p>
          </p:txBody>
        </p:sp>
        <p:sp>
          <p:nvSpPr>
            <p:cNvPr id="124" name="w1_L00">
              <a:extLst>
                <a:ext uri="{FF2B5EF4-FFF2-40B4-BE49-F238E27FC236}">
                  <a16:creationId xmlns:a16="http://schemas.microsoft.com/office/drawing/2014/main" id="{4370402E-4C0C-610A-C0C8-955B71D73940}"/>
                </a:ext>
              </a:extLst>
            </p:cNvPr>
            <p:cNvSpPr txBox="1"/>
            <p:nvPr/>
          </p:nvSpPr>
          <p:spPr>
            <a:xfrm>
              <a:off x="6429604" y="193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images = [</a:t>
              </a:r>
              <a:r>
                <a:rPr lang="en-US" sz="760" b="0" dirty="0">
                  <a:solidFill>
                    <a:srgbClr val="F0A98B"/>
                  </a:solidFill>
                  <a:latin typeface="Consolas"/>
                  <a:ea typeface="Consolas"/>
                  <a:cs typeface="Consolas"/>
                </a:rPr>
                <a:t>"a.jpg"</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"b.jpg"</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"c.jpg"</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"d.jpg"</a:t>
              </a:r>
              <a:r>
                <a:rPr lang="en-US" sz="760" b="0" dirty="0">
                  <a:solidFill>
                    <a:srgbClr val="E2E8F0"/>
                  </a:solidFill>
                  <a:latin typeface="Consolas"/>
                  <a:ea typeface="Consolas"/>
                  <a:cs typeface="Consolas"/>
                </a:rPr>
                <a:t>];</a:t>
              </a:r>
              <a:endParaRPr lang="en-US" sz="760" dirty="0"/>
            </a:p>
          </p:txBody>
        </p:sp>
        <p:sp>
          <p:nvSpPr>
            <p:cNvPr id="125" name="w1_L02">
              <a:extLst>
                <a:ext uri="{FF2B5EF4-FFF2-40B4-BE49-F238E27FC236}">
                  <a16:creationId xmlns:a16="http://schemas.microsoft.com/office/drawing/2014/main" id="{848E5199-B66D-58EC-6221-3374311316FD}"/>
                </a:ext>
              </a:extLst>
            </p:cNvPr>
            <p:cNvSpPr txBox="1"/>
            <p:nvPr/>
          </p:nvSpPr>
          <p:spPr>
            <a:xfrm>
              <a:off x="6429604" y="223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Parallel.ForEach(images,</a:t>
              </a:r>
              <a:endParaRPr lang="en-US" sz="760" dirty="0"/>
            </a:p>
          </p:txBody>
        </p:sp>
        <p:sp>
          <p:nvSpPr>
            <p:cNvPr id="126" name="w1_L03">
              <a:extLst>
                <a:ext uri="{FF2B5EF4-FFF2-40B4-BE49-F238E27FC236}">
                  <a16:creationId xmlns:a16="http://schemas.microsoft.com/office/drawing/2014/main" id="{135DAB4B-CA46-CB8C-7201-8DDCA4D0E761}"/>
                </a:ext>
              </a:extLst>
            </p:cNvPr>
            <p:cNvSpPr txBox="1"/>
            <p:nvPr/>
          </p:nvSpPr>
          <p:spPr>
            <a:xfrm>
              <a:off x="6429604" y="2388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ParallelOptions { MaxDegreeOfParallelism = 2 },</a:t>
              </a:r>
              <a:endParaRPr lang="en-US" sz="760" dirty="0"/>
            </a:p>
          </p:txBody>
        </p:sp>
        <p:sp>
          <p:nvSpPr>
            <p:cNvPr id="127" name="w1_L04">
              <a:extLst>
                <a:ext uri="{FF2B5EF4-FFF2-40B4-BE49-F238E27FC236}">
                  <a16:creationId xmlns:a16="http://schemas.microsoft.com/office/drawing/2014/main" id="{E267AECA-77F8-CA18-110D-D9DB03CF6A29}"/>
                </a:ext>
              </a:extLst>
            </p:cNvPr>
            <p:cNvSpPr txBox="1"/>
            <p:nvPr/>
          </p:nvSpPr>
          <p:spPr>
            <a:xfrm>
              <a:off x="6429604" y="2538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image =&gt;</a:t>
              </a:r>
              <a:endParaRPr lang="en-US" sz="760" dirty="0"/>
            </a:p>
          </p:txBody>
        </p:sp>
        <p:sp>
          <p:nvSpPr>
            <p:cNvPr id="128" name="w1_L05">
              <a:extLst>
                <a:ext uri="{FF2B5EF4-FFF2-40B4-BE49-F238E27FC236}">
                  <a16:creationId xmlns:a16="http://schemas.microsoft.com/office/drawing/2014/main" id="{069BDFB6-F753-AE88-2E0A-05B5190F3FD4}"/>
                </a:ext>
              </a:extLst>
            </p:cNvPr>
            <p:cNvSpPr txBox="1"/>
            <p:nvPr/>
          </p:nvSpPr>
          <p:spPr>
            <a:xfrm>
              <a:off x="6429604" y="2688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9" name="w1_L06">
              <a:extLst>
                <a:ext uri="{FF2B5EF4-FFF2-40B4-BE49-F238E27FC236}">
                  <a16:creationId xmlns:a16="http://schemas.microsoft.com/office/drawing/2014/main" id="{BC86F002-ADF9-9DC8-C504-86E7E70B414C}"/>
                </a:ext>
              </a:extLst>
            </p:cNvPr>
            <p:cNvSpPr txBox="1"/>
            <p:nvPr/>
          </p:nvSpPr>
          <p:spPr>
            <a:xfrm>
              <a:off x="6429604" y="2838940"/>
              <a:ext cx="512925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Thread.Sleep(500);              </a:t>
              </a:r>
              <a:r>
                <a:rPr lang="en-US" sz="760" b="0" dirty="0">
                  <a:solidFill>
                    <a:srgbClr val="6FAE7A"/>
                  </a:solidFill>
                  <a:latin typeface="Consolas"/>
                  <a:ea typeface="Consolas"/>
                  <a:cs typeface="Consolas"/>
                </a:rPr>
                <a:t>// pretend: resize</a:t>
              </a:r>
              <a:endParaRPr lang="en-US" sz="760" dirty="0"/>
            </a:p>
          </p:txBody>
        </p:sp>
        <p:sp>
          <p:nvSpPr>
            <p:cNvPr id="130" name="w1_L07">
              <a:extLst>
                <a:ext uri="{FF2B5EF4-FFF2-40B4-BE49-F238E27FC236}">
                  <a16:creationId xmlns:a16="http://schemas.microsoft.com/office/drawing/2014/main" id="{ACA10B0B-7C16-EAE9-B0A2-A6B3E93D4CC0}"/>
                </a:ext>
              </a:extLst>
            </p:cNvPr>
            <p:cNvSpPr txBox="1"/>
            <p:nvPr/>
          </p:nvSpPr>
          <p:spPr>
            <a:xfrm>
              <a:off x="6429604" y="2988940"/>
              <a:ext cx="512925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Console.WriteLine(</a:t>
              </a:r>
              <a:r>
                <a:rPr lang="en-US" sz="760" b="0" dirty="0">
                  <a:solidFill>
                    <a:srgbClr val="F0A98B"/>
                  </a:solidFill>
                  <a:latin typeface="Consolas"/>
                  <a:ea typeface="Consolas"/>
                  <a:cs typeface="Consolas"/>
                </a:rPr>
                <a:t>$"{image} on T{Environment.CurrentManagedThreadId}"</a:t>
              </a:r>
              <a:r>
                <a:rPr lang="en-US" sz="760" b="0" dirty="0">
                  <a:solidFill>
                    <a:srgbClr val="E2E8F0"/>
                  </a:solidFill>
                  <a:latin typeface="Consolas"/>
                  <a:ea typeface="Consolas"/>
                  <a:cs typeface="Consolas"/>
                </a:rPr>
                <a:t>);</a:t>
              </a:r>
              <a:endParaRPr lang="en-US" sz="760" dirty="0"/>
            </a:p>
          </p:txBody>
        </p:sp>
        <p:sp>
          <p:nvSpPr>
            <p:cNvPr id="131" name="w1_L08">
              <a:extLst>
                <a:ext uri="{FF2B5EF4-FFF2-40B4-BE49-F238E27FC236}">
                  <a16:creationId xmlns:a16="http://schemas.microsoft.com/office/drawing/2014/main" id="{27556E32-3E5D-205D-2B50-8D769A52C060}"/>
                </a:ext>
              </a:extLst>
            </p:cNvPr>
            <p:cNvSpPr txBox="1"/>
            <p:nvPr/>
          </p:nvSpPr>
          <p:spPr>
            <a:xfrm>
              <a:off x="6429604" y="3138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32" name="w1_L09">
              <a:extLst>
                <a:ext uri="{FF2B5EF4-FFF2-40B4-BE49-F238E27FC236}">
                  <a16:creationId xmlns:a16="http://schemas.microsoft.com/office/drawing/2014/main" id="{8DC21B29-04B9-5A0E-7CB5-F575E00FC098}"/>
                </a:ext>
              </a:extLst>
            </p:cNvPr>
            <p:cNvSpPr txBox="1"/>
            <p:nvPr/>
          </p:nvSpPr>
          <p:spPr>
            <a:xfrm>
              <a:off x="6429604" y="3288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Console.WriteLine(</a:t>
              </a:r>
              <a:r>
                <a:rPr lang="en-US" sz="760" b="0" dirty="0">
                  <a:solidFill>
                    <a:srgbClr val="F0A98B"/>
                  </a:solidFill>
                  <a:latin typeface="Consolas"/>
                  <a:ea typeface="Consolas"/>
                  <a:cs typeface="Consolas"/>
                </a:rPr>
                <a:t>"All images done"</a:t>
              </a: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c on T4, a on T1, …</a:t>
              </a:r>
              <a:endParaRPr lang="en-US" sz="760" dirty="0"/>
            </a:p>
          </p:txBody>
        </p:sp>
      </p:grpSp>
      <p:sp>
        <p:nvSpPr>
          <p:cNvPr id="134" name="w1_hl2">
            <a:extLst>
              <a:ext uri="{FF2B5EF4-FFF2-40B4-BE49-F238E27FC236}">
                <a16:creationId xmlns:a16="http://schemas.microsoft.com/office/drawing/2014/main" id="{C674FBBC-9663-9913-6BBC-938862726172}"/>
              </a:ext>
            </a:extLst>
          </p:cNvPr>
          <p:cNvSpPr/>
          <p:nvPr/>
        </p:nvSpPr>
        <p:spPr>
          <a:xfrm>
            <a:off x="6334506" y="2220652"/>
            <a:ext cx="5162250" cy="186576"/>
          </a:xfrm>
          <a:prstGeom prst="rect">
            <a:avLst/>
          </a:prstGeom>
          <a:solidFill>
            <a:srgbClr val="A78BFA">
              <a:alpha val="15000"/>
            </a:srgbClr>
          </a:solidFill>
          <a:ln w="12700">
            <a:solidFill>
              <a:srgbClr val="A78BFA"/>
            </a:solidFill>
            <a:prstDash val="solid"/>
          </a:ln>
        </p:spPr>
        <p:txBody>
          <a:bodyPr/>
          <a:lstStyle/>
          <a:p>
            <a:endParaRPr lang="en-US"/>
          </a:p>
        </p:txBody>
      </p:sp>
      <p:grpSp>
        <p:nvGrpSpPr>
          <p:cNvPr id="151" name="w2">
            <a:extLst>
              <a:ext uri="{FF2B5EF4-FFF2-40B4-BE49-F238E27FC236}">
                <a16:creationId xmlns:a16="http://schemas.microsoft.com/office/drawing/2014/main" id="{DD24B538-50A8-3C82-4943-953774394F78}"/>
              </a:ext>
            </a:extLst>
          </p:cNvPr>
          <p:cNvGrpSpPr/>
          <p:nvPr/>
        </p:nvGrpSpPr>
        <p:grpSpPr>
          <a:xfrm>
            <a:off x="543154" y="3749040"/>
            <a:ext cx="5429250" cy="2157984"/>
            <a:chOff x="543154" y="3749040"/>
            <a:chExt cx="5429250" cy="2157984"/>
          </a:xfrm>
        </p:grpSpPr>
        <p:sp>
          <p:nvSpPr>
            <p:cNvPr id="135" name="w2_win">
              <a:extLst>
                <a:ext uri="{FF2B5EF4-FFF2-40B4-BE49-F238E27FC236}">
                  <a16:creationId xmlns:a16="http://schemas.microsoft.com/office/drawing/2014/main" id="{3ED47244-591B-06EC-357B-C1F1C6DE27CC}"/>
                </a:ext>
              </a:extLst>
            </p:cNvPr>
            <p:cNvSpPr/>
            <p:nvPr/>
          </p:nvSpPr>
          <p:spPr>
            <a:xfrm>
              <a:off x="543154" y="3749040"/>
              <a:ext cx="5429250" cy="2157984"/>
            </a:xfrm>
            <a:prstGeom prst="roundRect">
              <a:avLst>
                <a:gd name="adj" fmla="val 3176"/>
              </a:avLst>
            </a:prstGeom>
            <a:solidFill>
              <a:srgbClr val="060D18"/>
            </a:solidFill>
            <a:ln w="12700">
              <a:solidFill>
                <a:srgbClr val="1E3A5F"/>
              </a:solidFill>
              <a:prstDash val="solid"/>
            </a:ln>
          </p:spPr>
          <p:txBody>
            <a:bodyPr/>
            <a:lstStyle/>
            <a:p>
              <a:endParaRPr lang="en-US"/>
            </a:p>
          </p:txBody>
        </p:sp>
        <p:sp>
          <p:nvSpPr>
            <p:cNvPr id="136" name="w2_bar">
              <a:extLst>
                <a:ext uri="{FF2B5EF4-FFF2-40B4-BE49-F238E27FC236}">
                  <a16:creationId xmlns:a16="http://schemas.microsoft.com/office/drawing/2014/main" id="{A55EC014-CAC2-3331-C870-00FBE72B154F}"/>
                </a:ext>
              </a:extLst>
            </p:cNvPr>
            <p:cNvSpPr/>
            <p:nvPr/>
          </p:nvSpPr>
          <p:spPr>
            <a:xfrm>
              <a:off x="543154" y="3749040"/>
              <a:ext cx="54292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7" name="w2_barfill">
              <a:extLst>
                <a:ext uri="{FF2B5EF4-FFF2-40B4-BE49-F238E27FC236}">
                  <a16:creationId xmlns:a16="http://schemas.microsoft.com/office/drawing/2014/main" id="{6BCD03BB-D950-0A5D-093B-B0C2C3865C66}"/>
                </a:ext>
              </a:extLst>
            </p:cNvPr>
            <p:cNvSpPr/>
            <p:nvPr/>
          </p:nvSpPr>
          <p:spPr>
            <a:xfrm>
              <a:off x="543154" y="3920490"/>
              <a:ext cx="5429250" cy="171450"/>
            </a:xfrm>
            <a:prstGeom prst="rect">
              <a:avLst/>
            </a:prstGeom>
            <a:solidFill>
              <a:srgbClr val="0A1220"/>
            </a:solidFill>
            <a:ln w="12700">
              <a:solidFill>
                <a:srgbClr val="0A1220"/>
              </a:solidFill>
              <a:prstDash val="solid"/>
            </a:ln>
          </p:spPr>
          <p:txBody>
            <a:bodyPr/>
            <a:lstStyle/>
            <a:p>
              <a:endParaRPr lang="en-US"/>
            </a:p>
          </p:txBody>
        </p:sp>
        <p:sp>
          <p:nvSpPr>
            <p:cNvPr id="138" name="w2_dot0">
              <a:extLst>
                <a:ext uri="{FF2B5EF4-FFF2-40B4-BE49-F238E27FC236}">
                  <a16:creationId xmlns:a16="http://schemas.microsoft.com/office/drawing/2014/main" id="{79FEC517-ABC0-0B83-BBD6-A4C196EC4DDC}"/>
                </a:ext>
              </a:extLst>
            </p:cNvPr>
            <p:cNvSpPr/>
            <p:nvPr/>
          </p:nvSpPr>
          <p:spPr>
            <a:xfrm>
              <a:off x="705002" y="3872850"/>
              <a:ext cx="95098" cy="95098"/>
            </a:xfrm>
            <a:prstGeom prst="ellipse">
              <a:avLst/>
            </a:prstGeom>
            <a:solidFill>
              <a:srgbClr val="F87171"/>
            </a:solidFill>
            <a:ln w="12700">
              <a:solidFill>
                <a:srgbClr val="F87171"/>
              </a:solidFill>
              <a:prstDash val="solid"/>
            </a:ln>
          </p:spPr>
          <p:txBody>
            <a:bodyPr/>
            <a:lstStyle/>
            <a:p>
              <a:endParaRPr lang="en-US"/>
            </a:p>
          </p:txBody>
        </p:sp>
        <p:sp>
          <p:nvSpPr>
            <p:cNvPr id="139" name="w2_dot1">
              <a:extLst>
                <a:ext uri="{FF2B5EF4-FFF2-40B4-BE49-F238E27FC236}">
                  <a16:creationId xmlns:a16="http://schemas.microsoft.com/office/drawing/2014/main" id="{19FF1BCD-510F-EB1C-BFEF-6CA4296BAF7C}"/>
                </a:ext>
              </a:extLst>
            </p:cNvPr>
            <p:cNvSpPr/>
            <p:nvPr/>
          </p:nvSpPr>
          <p:spPr>
            <a:xfrm>
              <a:off x="890626" y="3872850"/>
              <a:ext cx="95098" cy="95098"/>
            </a:xfrm>
            <a:prstGeom prst="ellipse">
              <a:avLst/>
            </a:prstGeom>
            <a:solidFill>
              <a:srgbClr val="FBBF24"/>
            </a:solidFill>
            <a:ln w="12700">
              <a:solidFill>
                <a:srgbClr val="FBBF24"/>
              </a:solidFill>
              <a:prstDash val="solid"/>
            </a:ln>
          </p:spPr>
          <p:txBody>
            <a:bodyPr/>
            <a:lstStyle/>
            <a:p>
              <a:endParaRPr lang="en-US"/>
            </a:p>
          </p:txBody>
        </p:sp>
        <p:sp>
          <p:nvSpPr>
            <p:cNvPr id="140" name="w2_dot2">
              <a:extLst>
                <a:ext uri="{FF2B5EF4-FFF2-40B4-BE49-F238E27FC236}">
                  <a16:creationId xmlns:a16="http://schemas.microsoft.com/office/drawing/2014/main" id="{8795E9FB-237B-8DD6-6C9B-5FDA721C34A5}"/>
                </a:ext>
              </a:extLst>
            </p:cNvPr>
            <p:cNvSpPr/>
            <p:nvPr/>
          </p:nvSpPr>
          <p:spPr>
            <a:xfrm>
              <a:off x="1076250" y="3872850"/>
              <a:ext cx="95098" cy="95098"/>
            </a:xfrm>
            <a:prstGeom prst="ellipse">
              <a:avLst/>
            </a:prstGeom>
            <a:solidFill>
              <a:srgbClr val="34D399"/>
            </a:solidFill>
            <a:ln w="12700">
              <a:solidFill>
                <a:srgbClr val="34D399"/>
              </a:solidFill>
              <a:prstDash val="solid"/>
            </a:ln>
          </p:spPr>
          <p:txBody>
            <a:bodyPr/>
            <a:lstStyle/>
            <a:p>
              <a:endParaRPr lang="en-US"/>
            </a:p>
          </p:txBody>
        </p:sp>
        <p:sp>
          <p:nvSpPr>
            <p:cNvPr id="141" name="w2_tab">
              <a:extLst>
                <a:ext uri="{FF2B5EF4-FFF2-40B4-BE49-F238E27FC236}">
                  <a16:creationId xmlns:a16="http://schemas.microsoft.com/office/drawing/2014/main" id="{02120654-6C6E-C754-5052-288200E05549}"/>
                </a:ext>
              </a:extLst>
            </p:cNvPr>
            <p:cNvSpPr/>
            <p:nvPr/>
          </p:nvSpPr>
          <p:spPr>
            <a:xfrm>
              <a:off x="1324051" y="3796589"/>
              <a:ext cx="312303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ParallelForEachAsync.cs  · I/O with a cap</a:t>
              </a:r>
              <a:endParaRPr lang="en-US" sz="950" dirty="0"/>
            </a:p>
          </p:txBody>
        </p:sp>
        <p:sp>
          <p:nvSpPr>
            <p:cNvPr id="142" name="w2_L00">
              <a:extLst>
                <a:ext uri="{FF2B5EF4-FFF2-40B4-BE49-F238E27FC236}">
                  <a16:creationId xmlns:a16="http://schemas.microsoft.com/office/drawing/2014/main" id="{3581145F-1DCB-5592-263F-2B321664A6A5}"/>
                </a:ext>
              </a:extLst>
            </p:cNvPr>
            <p:cNvSpPr txBox="1"/>
            <p:nvPr/>
          </p:nvSpPr>
          <p:spPr>
            <a:xfrm>
              <a:off x="771754" y="422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using</a:t>
              </a:r>
              <a:r>
                <a:rPr lang="en-US" sz="760" b="0" dirty="0">
                  <a:solidFill>
                    <a:srgbClr val="E2E8F0"/>
                  </a:solidFill>
                  <a:latin typeface="Consolas"/>
                  <a:ea typeface="Consolas"/>
                  <a:cs typeface="Consolas"/>
                </a:rPr>
                <a:t> HttpClient http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endParaRPr lang="en-US" sz="760" dirty="0"/>
            </a:p>
          </p:txBody>
        </p:sp>
        <p:sp>
          <p:nvSpPr>
            <p:cNvPr id="143" name="w2_L01">
              <a:extLst>
                <a:ext uri="{FF2B5EF4-FFF2-40B4-BE49-F238E27FC236}">
                  <a16:creationId xmlns:a16="http://schemas.microsoft.com/office/drawing/2014/main" id="{99257A68-D366-7613-93C2-01FDF0F9451F}"/>
                </a:ext>
              </a:extLst>
            </p:cNvPr>
            <p:cNvSpPr txBox="1"/>
            <p:nvPr/>
          </p:nvSpPr>
          <p:spPr>
            <a:xfrm>
              <a:off x="771754" y="437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urls = [</a:t>
              </a:r>
              <a:r>
                <a:rPr lang="en-US" sz="760" b="0" dirty="0">
                  <a:solidFill>
                    <a:srgbClr val="F0A98B"/>
                  </a:solidFill>
                  <a:latin typeface="Consolas"/>
                  <a:ea typeface="Consolas"/>
                  <a:cs typeface="Consolas"/>
                </a:rPr>
                <a:t>"https://example.com"</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"https://github.com"</a:t>
              </a:r>
              <a:r>
                <a:rPr lang="en-US" sz="760" b="0" dirty="0">
                  <a:solidFill>
                    <a:srgbClr val="E2E8F0"/>
                  </a:solidFill>
                  <a:latin typeface="Consolas"/>
                  <a:ea typeface="Consolas"/>
                  <a:cs typeface="Consolas"/>
                </a:rPr>
                <a:t>, …];</a:t>
              </a:r>
              <a:endParaRPr lang="en-US" sz="760" dirty="0"/>
            </a:p>
          </p:txBody>
        </p:sp>
        <p:sp>
          <p:nvSpPr>
            <p:cNvPr id="144" name="w2_L03">
              <a:extLst>
                <a:ext uri="{FF2B5EF4-FFF2-40B4-BE49-F238E27FC236}">
                  <a16:creationId xmlns:a16="http://schemas.microsoft.com/office/drawing/2014/main" id="{9BDE47BD-3113-4E8E-96C6-A085A24A5489}"/>
                </a:ext>
              </a:extLst>
            </p:cNvPr>
            <p:cNvSpPr txBox="1"/>
            <p:nvPr/>
          </p:nvSpPr>
          <p:spPr>
            <a:xfrm>
              <a:off x="771754" y="467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Parallel.ForEachAsync(urls,</a:t>
              </a:r>
              <a:endParaRPr lang="en-US" sz="760" dirty="0"/>
            </a:p>
          </p:txBody>
        </p:sp>
        <p:sp>
          <p:nvSpPr>
            <p:cNvPr id="145" name="w2_L04">
              <a:extLst>
                <a:ext uri="{FF2B5EF4-FFF2-40B4-BE49-F238E27FC236}">
                  <a16:creationId xmlns:a16="http://schemas.microsoft.com/office/drawing/2014/main" id="{9136748C-A7D9-A083-4596-B05D764C23B8}"/>
                </a:ext>
              </a:extLst>
            </p:cNvPr>
            <p:cNvSpPr txBox="1"/>
            <p:nvPr/>
          </p:nvSpPr>
          <p:spPr>
            <a:xfrm>
              <a:off x="771754" y="4824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ParallelOptions { MaxDegreeOfParallelism = 2 },</a:t>
              </a:r>
              <a:endParaRPr lang="en-US" sz="760" dirty="0"/>
            </a:p>
          </p:txBody>
        </p:sp>
        <p:sp>
          <p:nvSpPr>
            <p:cNvPr id="146" name="w2_L05">
              <a:extLst>
                <a:ext uri="{FF2B5EF4-FFF2-40B4-BE49-F238E27FC236}">
                  <a16:creationId xmlns:a16="http://schemas.microsoft.com/office/drawing/2014/main" id="{631FE2BE-4695-56FF-8E56-1E7D7F8EB40C}"/>
                </a:ext>
              </a:extLst>
            </p:cNvPr>
            <p:cNvSpPr txBox="1"/>
            <p:nvPr/>
          </p:nvSpPr>
          <p:spPr>
            <a:xfrm>
              <a:off x="771754" y="4974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async</a:t>
              </a:r>
              <a:r>
                <a:rPr lang="en-US" sz="760" b="0" dirty="0">
                  <a:solidFill>
                    <a:srgbClr val="E2E8F0"/>
                  </a:solidFill>
                  <a:latin typeface="Consolas"/>
                  <a:ea typeface="Consolas"/>
                  <a:cs typeface="Consolas"/>
                </a:rPr>
                <a:t> (url, token) =&gt;</a:t>
              </a:r>
              <a:endParaRPr lang="en-US" sz="760" dirty="0"/>
            </a:p>
          </p:txBody>
        </p:sp>
        <p:sp>
          <p:nvSpPr>
            <p:cNvPr id="147" name="w2_L06">
              <a:extLst>
                <a:ext uri="{FF2B5EF4-FFF2-40B4-BE49-F238E27FC236}">
                  <a16:creationId xmlns:a16="http://schemas.microsoft.com/office/drawing/2014/main" id="{3216321B-E9F8-42E4-2A89-FBB336F193FD}"/>
                </a:ext>
              </a:extLst>
            </p:cNvPr>
            <p:cNvSpPr txBox="1"/>
            <p:nvPr/>
          </p:nvSpPr>
          <p:spPr>
            <a:xfrm>
              <a:off x="771754" y="5124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48" name="w2_L07">
              <a:extLst>
                <a:ext uri="{FF2B5EF4-FFF2-40B4-BE49-F238E27FC236}">
                  <a16:creationId xmlns:a16="http://schemas.microsoft.com/office/drawing/2014/main" id="{BDF21C0D-2682-EF90-6FEE-76B2BC4467A7}"/>
                </a:ext>
              </a:extLst>
            </p:cNvPr>
            <p:cNvSpPr txBox="1"/>
            <p:nvPr/>
          </p:nvSpPr>
          <p:spPr>
            <a:xfrm>
              <a:off x="771754" y="5274940"/>
              <a:ext cx="512925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html = </a:t>
              </a: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http.GetStringAsync(url, token);</a:t>
              </a:r>
              <a:endParaRPr lang="en-US" sz="760" dirty="0"/>
            </a:p>
          </p:txBody>
        </p:sp>
        <p:sp>
          <p:nvSpPr>
            <p:cNvPr id="149" name="w2_L08">
              <a:extLst>
                <a:ext uri="{FF2B5EF4-FFF2-40B4-BE49-F238E27FC236}">
                  <a16:creationId xmlns:a16="http://schemas.microsoft.com/office/drawing/2014/main" id="{1053AB5D-4255-0C5A-2C5F-109669116389}"/>
                </a:ext>
              </a:extLst>
            </p:cNvPr>
            <p:cNvSpPr txBox="1"/>
            <p:nvPr/>
          </p:nvSpPr>
          <p:spPr>
            <a:xfrm>
              <a:off x="771754" y="5424940"/>
              <a:ext cx="512925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Console.WriteLine(</a:t>
              </a:r>
              <a:r>
                <a:rPr lang="en-US" sz="760" b="0" dirty="0">
                  <a:solidFill>
                    <a:srgbClr val="F0A98B"/>
                  </a:solidFill>
                  <a:latin typeface="Consolas"/>
                  <a:ea typeface="Consolas"/>
                  <a:cs typeface="Consolas"/>
                </a:rPr>
                <a:t>$"{url}: {html.Length:N0} chars"</a:t>
              </a:r>
              <a:r>
                <a:rPr lang="en-US" sz="760" b="0" dirty="0">
                  <a:solidFill>
                    <a:srgbClr val="E2E8F0"/>
                  </a:solidFill>
                  <a:latin typeface="Consolas"/>
                  <a:ea typeface="Consolas"/>
                  <a:cs typeface="Consolas"/>
                </a:rPr>
                <a:t>);</a:t>
              </a:r>
              <a:endParaRPr lang="en-US" sz="760" dirty="0"/>
            </a:p>
          </p:txBody>
        </p:sp>
        <p:sp>
          <p:nvSpPr>
            <p:cNvPr id="150" name="w2_L09">
              <a:extLst>
                <a:ext uri="{FF2B5EF4-FFF2-40B4-BE49-F238E27FC236}">
                  <a16:creationId xmlns:a16="http://schemas.microsoft.com/office/drawing/2014/main" id="{36924D4C-0011-BBB0-46F8-FE29A532E7C0}"/>
                </a:ext>
              </a:extLst>
            </p:cNvPr>
            <p:cNvSpPr txBox="1"/>
            <p:nvPr/>
          </p:nvSpPr>
          <p:spPr>
            <a:xfrm>
              <a:off x="771754" y="5574940"/>
              <a:ext cx="512925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52" name="w2_hl3">
            <a:extLst>
              <a:ext uri="{FF2B5EF4-FFF2-40B4-BE49-F238E27FC236}">
                <a16:creationId xmlns:a16="http://schemas.microsoft.com/office/drawing/2014/main" id="{3E945D2B-053B-8C11-9F2F-4C42ED9496E8}"/>
              </a:ext>
            </a:extLst>
          </p:cNvPr>
          <p:cNvSpPr/>
          <p:nvPr/>
        </p:nvSpPr>
        <p:spPr>
          <a:xfrm>
            <a:off x="676656" y="4656652"/>
            <a:ext cx="5162250" cy="186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69" name="w3">
            <a:extLst>
              <a:ext uri="{FF2B5EF4-FFF2-40B4-BE49-F238E27FC236}">
                <a16:creationId xmlns:a16="http://schemas.microsoft.com/office/drawing/2014/main" id="{368ADA31-5FD5-F6E1-2D25-F1649945ADDA}"/>
              </a:ext>
            </a:extLst>
          </p:cNvPr>
          <p:cNvGrpSpPr/>
          <p:nvPr/>
        </p:nvGrpSpPr>
        <p:grpSpPr>
          <a:xfrm>
            <a:off x="6201004" y="3749040"/>
            <a:ext cx="5429250" cy="2157984"/>
            <a:chOff x="6201004" y="3749040"/>
            <a:chExt cx="5429250" cy="2157984"/>
          </a:xfrm>
        </p:grpSpPr>
        <p:sp>
          <p:nvSpPr>
            <p:cNvPr id="153" name="w3_win">
              <a:extLst>
                <a:ext uri="{FF2B5EF4-FFF2-40B4-BE49-F238E27FC236}">
                  <a16:creationId xmlns:a16="http://schemas.microsoft.com/office/drawing/2014/main" id="{42269C54-A835-AA4C-56C9-4895984C8802}"/>
                </a:ext>
              </a:extLst>
            </p:cNvPr>
            <p:cNvSpPr/>
            <p:nvPr/>
          </p:nvSpPr>
          <p:spPr>
            <a:xfrm>
              <a:off x="6201004" y="3749040"/>
              <a:ext cx="5429250" cy="2157984"/>
            </a:xfrm>
            <a:prstGeom prst="roundRect">
              <a:avLst>
                <a:gd name="adj" fmla="val 3176"/>
              </a:avLst>
            </a:prstGeom>
            <a:solidFill>
              <a:srgbClr val="060D18"/>
            </a:solidFill>
            <a:ln w="12700">
              <a:solidFill>
                <a:srgbClr val="1E3A5F"/>
              </a:solidFill>
              <a:prstDash val="solid"/>
            </a:ln>
          </p:spPr>
          <p:txBody>
            <a:bodyPr/>
            <a:lstStyle/>
            <a:p>
              <a:endParaRPr lang="en-US"/>
            </a:p>
          </p:txBody>
        </p:sp>
        <p:sp>
          <p:nvSpPr>
            <p:cNvPr id="154" name="w3_bar">
              <a:extLst>
                <a:ext uri="{FF2B5EF4-FFF2-40B4-BE49-F238E27FC236}">
                  <a16:creationId xmlns:a16="http://schemas.microsoft.com/office/drawing/2014/main" id="{63675F4D-16AE-4AE6-29F3-E26A83B93ACB}"/>
                </a:ext>
              </a:extLst>
            </p:cNvPr>
            <p:cNvSpPr/>
            <p:nvPr/>
          </p:nvSpPr>
          <p:spPr>
            <a:xfrm>
              <a:off x="6201004" y="3749040"/>
              <a:ext cx="54292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55" name="w3_barfill">
              <a:extLst>
                <a:ext uri="{FF2B5EF4-FFF2-40B4-BE49-F238E27FC236}">
                  <a16:creationId xmlns:a16="http://schemas.microsoft.com/office/drawing/2014/main" id="{6952349F-36D0-F6E7-330F-C77064BAE97F}"/>
                </a:ext>
              </a:extLst>
            </p:cNvPr>
            <p:cNvSpPr/>
            <p:nvPr/>
          </p:nvSpPr>
          <p:spPr>
            <a:xfrm>
              <a:off x="6201004" y="3920490"/>
              <a:ext cx="5429250" cy="171450"/>
            </a:xfrm>
            <a:prstGeom prst="rect">
              <a:avLst/>
            </a:prstGeom>
            <a:solidFill>
              <a:srgbClr val="0A1220"/>
            </a:solidFill>
            <a:ln w="12700">
              <a:solidFill>
                <a:srgbClr val="0A1220"/>
              </a:solidFill>
              <a:prstDash val="solid"/>
            </a:ln>
          </p:spPr>
          <p:txBody>
            <a:bodyPr/>
            <a:lstStyle/>
            <a:p>
              <a:endParaRPr lang="en-US"/>
            </a:p>
          </p:txBody>
        </p:sp>
        <p:sp>
          <p:nvSpPr>
            <p:cNvPr id="156" name="w3_dot0">
              <a:extLst>
                <a:ext uri="{FF2B5EF4-FFF2-40B4-BE49-F238E27FC236}">
                  <a16:creationId xmlns:a16="http://schemas.microsoft.com/office/drawing/2014/main" id="{810098D6-4037-217F-C9E4-200229B9C858}"/>
                </a:ext>
              </a:extLst>
            </p:cNvPr>
            <p:cNvSpPr/>
            <p:nvPr/>
          </p:nvSpPr>
          <p:spPr>
            <a:xfrm>
              <a:off x="6362852" y="3872850"/>
              <a:ext cx="95098" cy="95098"/>
            </a:xfrm>
            <a:prstGeom prst="ellipse">
              <a:avLst/>
            </a:prstGeom>
            <a:solidFill>
              <a:srgbClr val="F87171"/>
            </a:solidFill>
            <a:ln w="12700">
              <a:solidFill>
                <a:srgbClr val="F87171"/>
              </a:solidFill>
              <a:prstDash val="solid"/>
            </a:ln>
          </p:spPr>
          <p:txBody>
            <a:bodyPr/>
            <a:lstStyle/>
            <a:p>
              <a:endParaRPr lang="en-US"/>
            </a:p>
          </p:txBody>
        </p:sp>
        <p:sp>
          <p:nvSpPr>
            <p:cNvPr id="157" name="w3_dot1">
              <a:extLst>
                <a:ext uri="{FF2B5EF4-FFF2-40B4-BE49-F238E27FC236}">
                  <a16:creationId xmlns:a16="http://schemas.microsoft.com/office/drawing/2014/main" id="{FA08673E-08C5-5638-3789-7012BD34B37A}"/>
                </a:ext>
              </a:extLst>
            </p:cNvPr>
            <p:cNvSpPr/>
            <p:nvPr/>
          </p:nvSpPr>
          <p:spPr>
            <a:xfrm>
              <a:off x="6548476" y="3872850"/>
              <a:ext cx="95098" cy="95098"/>
            </a:xfrm>
            <a:prstGeom prst="ellipse">
              <a:avLst/>
            </a:prstGeom>
            <a:solidFill>
              <a:srgbClr val="FBBF24"/>
            </a:solidFill>
            <a:ln w="12700">
              <a:solidFill>
                <a:srgbClr val="FBBF24"/>
              </a:solidFill>
              <a:prstDash val="solid"/>
            </a:ln>
          </p:spPr>
          <p:txBody>
            <a:bodyPr/>
            <a:lstStyle/>
            <a:p>
              <a:endParaRPr lang="en-US"/>
            </a:p>
          </p:txBody>
        </p:sp>
        <p:sp>
          <p:nvSpPr>
            <p:cNvPr id="158" name="w3_dot2">
              <a:extLst>
                <a:ext uri="{FF2B5EF4-FFF2-40B4-BE49-F238E27FC236}">
                  <a16:creationId xmlns:a16="http://schemas.microsoft.com/office/drawing/2014/main" id="{0FD8CD4B-6804-F905-36A3-2DBC6FCC3602}"/>
                </a:ext>
              </a:extLst>
            </p:cNvPr>
            <p:cNvSpPr/>
            <p:nvPr/>
          </p:nvSpPr>
          <p:spPr>
            <a:xfrm>
              <a:off x="6734100" y="3872850"/>
              <a:ext cx="95098" cy="95098"/>
            </a:xfrm>
            <a:prstGeom prst="ellipse">
              <a:avLst/>
            </a:prstGeom>
            <a:solidFill>
              <a:srgbClr val="34D399"/>
            </a:solidFill>
            <a:ln w="12700">
              <a:solidFill>
                <a:srgbClr val="34D399"/>
              </a:solidFill>
              <a:prstDash val="solid"/>
            </a:ln>
          </p:spPr>
          <p:txBody>
            <a:bodyPr/>
            <a:lstStyle/>
            <a:p>
              <a:endParaRPr lang="en-US"/>
            </a:p>
          </p:txBody>
        </p:sp>
        <p:sp>
          <p:nvSpPr>
            <p:cNvPr id="159" name="w3_tab">
              <a:extLst>
                <a:ext uri="{FF2B5EF4-FFF2-40B4-BE49-F238E27FC236}">
                  <a16:creationId xmlns:a16="http://schemas.microsoft.com/office/drawing/2014/main" id="{5C5C567C-834A-43A3-8E1E-18FD24DC05D0}"/>
                </a:ext>
              </a:extLst>
            </p:cNvPr>
            <p:cNvSpPr/>
            <p:nvPr/>
          </p:nvSpPr>
          <p:spPr>
            <a:xfrm>
              <a:off x="6981901" y="3796589"/>
              <a:ext cx="2714298"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WhenAll.cs  · a few different calls</a:t>
              </a:r>
              <a:endParaRPr lang="en-US" sz="950" dirty="0"/>
            </a:p>
          </p:txBody>
        </p:sp>
        <p:sp>
          <p:nvSpPr>
            <p:cNvPr id="160" name="w3_L00">
              <a:extLst>
                <a:ext uri="{FF2B5EF4-FFF2-40B4-BE49-F238E27FC236}">
                  <a16:creationId xmlns:a16="http://schemas.microsoft.com/office/drawing/2014/main" id="{5560CAF1-4BE9-36D3-F45E-F4A82BDA4EFC}"/>
                </a:ext>
              </a:extLst>
            </p:cNvPr>
            <p:cNvSpPr txBox="1"/>
            <p:nvPr/>
          </p:nvSpPr>
          <p:spPr>
            <a:xfrm>
              <a:off x="6429604" y="422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Task&lt;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&gt;  weather = GetWeatherAsync();   </a:t>
              </a:r>
              <a:r>
                <a:rPr lang="en-US" sz="760" b="0" dirty="0">
                  <a:solidFill>
                    <a:srgbClr val="6FAE7A"/>
                  </a:solidFill>
                  <a:latin typeface="Consolas"/>
                  <a:ea typeface="Consolas"/>
                  <a:cs typeface="Consolas"/>
                </a:rPr>
                <a:t>// 800 ms</a:t>
              </a:r>
              <a:endParaRPr lang="en-US" sz="760" dirty="0"/>
            </a:p>
          </p:txBody>
        </p:sp>
        <p:sp>
          <p:nvSpPr>
            <p:cNvPr id="161" name="w3_L01">
              <a:extLst>
                <a:ext uri="{FF2B5EF4-FFF2-40B4-BE49-F238E27FC236}">
                  <a16:creationId xmlns:a16="http://schemas.microsoft.com/office/drawing/2014/main" id="{189169C8-D04F-FD3C-D6A2-EF448AF5DADD}"/>
                </a:ext>
              </a:extLst>
            </p:cNvPr>
            <p:cNvSpPr txBox="1"/>
            <p:nvPr/>
          </p:nvSpPr>
          <p:spPr>
            <a:xfrm>
              <a:off x="6429604" y="437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Task&lt;</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&gt; rate    = GetUsdRateAsync();   </a:t>
              </a:r>
              <a:r>
                <a:rPr lang="en-US" sz="760" b="0" dirty="0">
                  <a:solidFill>
                    <a:srgbClr val="6FAE7A"/>
                  </a:solidFill>
                  <a:latin typeface="Consolas"/>
                  <a:ea typeface="Consolas"/>
                  <a:cs typeface="Consolas"/>
                </a:rPr>
                <a:t>// 500 ms</a:t>
              </a:r>
              <a:endParaRPr lang="en-US" sz="760" dirty="0"/>
            </a:p>
          </p:txBody>
        </p:sp>
        <p:sp>
          <p:nvSpPr>
            <p:cNvPr id="162" name="w3_L02">
              <a:extLst>
                <a:ext uri="{FF2B5EF4-FFF2-40B4-BE49-F238E27FC236}">
                  <a16:creationId xmlns:a16="http://schemas.microsoft.com/office/drawing/2014/main" id="{5A8BEEF2-7186-DB08-2761-4DCF05A19312}"/>
                </a:ext>
              </a:extLst>
            </p:cNvPr>
            <p:cNvSpPr txBox="1"/>
            <p:nvPr/>
          </p:nvSpPr>
          <p:spPr>
            <a:xfrm>
              <a:off x="6429604" y="452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Task&lt;</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&gt;     users   = CountUsersAsync();   </a:t>
              </a:r>
              <a:r>
                <a:rPr lang="en-US" sz="760" b="0" dirty="0">
                  <a:solidFill>
                    <a:srgbClr val="6FAE7A"/>
                  </a:solidFill>
                  <a:latin typeface="Consolas"/>
                  <a:ea typeface="Consolas"/>
                  <a:cs typeface="Consolas"/>
                </a:rPr>
                <a:t>// 300 ms</a:t>
              </a:r>
              <a:endParaRPr lang="en-US" sz="760" dirty="0"/>
            </a:p>
          </p:txBody>
        </p:sp>
        <p:sp>
          <p:nvSpPr>
            <p:cNvPr id="163" name="w3_L03">
              <a:extLst>
                <a:ext uri="{FF2B5EF4-FFF2-40B4-BE49-F238E27FC236}">
                  <a16:creationId xmlns:a16="http://schemas.microsoft.com/office/drawing/2014/main" id="{8AC8E138-C8FA-CC6C-793D-BD839BC0B206}"/>
                </a:ext>
              </a:extLst>
            </p:cNvPr>
            <p:cNvSpPr txBox="1"/>
            <p:nvPr/>
          </p:nvSpPr>
          <p:spPr>
            <a:xfrm>
              <a:off x="6429604" y="467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Task.WhenAll(weather, rate, users);</a:t>
              </a:r>
              <a:endParaRPr lang="en-US" sz="760" dirty="0"/>
            </a:p>
          </p:txBody>
        </p:sp>
        <p:sp>
          <p:nvSpPr>
            <p:cNvPr id="164" name="w3_L04">
              <a:extLst>
                <a:ext uri="{FF2B5EF4-FFF2-40B4-BE49-F238E27FC236}">
                  <a16:creationId xmlns:a16="http://schemas.microsoft.com/office/drawing/2014/main" id="{DC37B7E7-B2E0-4707-6989-055E40DE1AE0}"/>
                </a:ext>
              </a:extLst>
            </p:cNvPr>
            <p:cNvSpPr txBox="1"/>
            <p:nvPr/>
          </p:nvSpPr>
          <p:spPr>
            <a:xfrm>
              <a:off x="6429604" y="482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Console.WriteLine(</a:t>
              </a:r>
              <a:r>
                <a:rPr lang="en-US" sz="760" b="0" dirty="0">
                  <a:solidFill>
                    <a:srgbClr val="F0A98B"/>
                  </a:solidFill>
                  <a:latin typeface="Consolas"/>
                  <a:ea typeface="Consolas"/>
                  <a:cs typeface="Consolas"/>
                </a:rPr>
                <a:t>$"{await weather} · {await rate} EGP · {await users} users"</a:t>
              </a:r>
              <a:r>
                <a:rPr lang="en-US" sz="760" b="0" dirty="0">
                  <a:solidFill>
                    <a:srgbClr val="E2E8F0"/>
                  </a:solidFill>
                  <a:latin typeface="Consolas"/>
                  <a:ea typeface="Consolas"/>
                  <a:cs typeface="Consolas"/>
                </a:rPr>
                <a:t>);</a:t>
              </a:r>
              <a:endParaRPr lang="en-US" sz="760" dirty="0"/>
            </a:p>
          </p:txBody>
        </p:sp>
        <p:sp>
          <p:nvSpPr>
            <p:cNvPr id="165" name="w3_L05">
              <a:extLst>
                <a:ext uri="{FF2B5EF4-FFF2-40B4-BE49-F238E27FC236}">
                  <a16:creationId xmlns:a16="http://schemas.microsoft.com/office/drawing/2014/main" id="{3010A2D6-680C-72A4-E992-26BE5B3E462F}"/>
                </a:ext>
              </a:extLst>
            </p:cNvPr>
            <p:cNvSpPr txBox="1"/>
            <p:nvPr/>
          </p:nvSpPr>
          <p:spPr>
            <a:xfrm>
              <a:off x="6429604" y="497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Cairo 31°C · 48.5 EGP · 1240 users   (806 ms, not 1.6 s)</a:t>
              </a:r>
              <a:endParaRPr lang="en-US" sz="760" dirty="0"/>
            </a:p>
          </p:txBody>
        </p:sp>
        <p:sp>
          <p:nvSpPr>
            <p:cNvPr id="166" name="w3_L07">
              <a:extLst>
                <a:ext uri="{FF2B5EF4-FFF2-40B4-BE49-F238E27FC236}">
                  <a16:creationId xmlns:a16="http://schemas.microsoft.com/office/drawing/2014/main" id="{92F81352-B416-9FB9-FA16-CFBBE3496466}"/>
                </a:ext>
              </a:extLst>
            </p:cNvPr>
            <p:cNvSpPr txBox="1"/>
            <p:nvPr/>
          </p:nvSpPr>
          <p:spPr>
            <a:xfrm>
              <a:off x="6429604" y="527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async</a:t>
              </a:r>
              <a:r>
                <a:rPr lang="en-US" sz="760" b="0" dirty="0">
                  <a:solidFill>
                    <a:srgbClr val="E2E8F0"/>
                  </a:solidFill>
                  <a:latin typeface="Consolas"/>
                  <a:ea typeface="Consolas"/>
                  <a:cs typeface="Consolas"/>
                </a:rPr>
                <a:t> Task&lt;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&gt;  GetWeatherAsync() { </a:t>
              </a: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Task.Delay(800); </a:t>
              </a: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"Cairo 31°C"</a:t>
              </a:r>
              <a:r>
                <a:rPr lang="en-US" sz="760" b="0" dirty="0">
                  <a:solidFill>
                    <a:srgbClr val="E2E8F0"/>
                  </a:solidFill>
                  <a:latin typeface="Consolas"/>
                  <a:ea typeface="Consolas"/>
                  <a:cs typeface="Consolas"/>
                </a:rPr>
                <a:t>; }</a:t>
              </a:r>
              <a:endParaRPr lang="en-US" sz="760" dirty="0"/>
            </a:p>
          </p:txBody>
        </p:sp>
        <p:sp>
          <p:nvSpPr>
            <p:cNvPr id="167" name="w3_L08">
              <a:extLst>
                <a:ext uri="{FF2B5EF4-FFF2-40B4-BE49-F238E27FC236}">
                  <a16:creationId xmlns:a16="http://schemas.microsoft.com/office/drawing/2014/main" id="{BC376243-0B8A-36CD-D8A6-AB212D9D36EF}"/>
                </a:ext>
              </a:extLst>
            </p:cNvPr>
            <p:cNvSpPr txBox="1"/>
            <p:nvPr/>
          </p:nvSpPr>
          <p:spPr>
            <a:xfrm>
              <a:off x="6429604" y="542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async</a:t>
              </a:r>
              <a:r>
                <a:rPr lang="en-US" sz="760" b="0" dirty="0">
                  <a:solidFill>
                    <a:srgbClr val="E2E8F0"/>
                  </a:solidFill>
                  <a:latin typeface="Consolas"/>
                  <a:ea typeface="Consolas"/>
                  <a:cs typeface="Consolas"/>
                </a:rPr>
                <a:t> Task&lt;</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&gt; GetUsdRateAsync() { </a:t>
              </a: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Task.Delay(500); </a:t>
              </a: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48.5m; }</a:t>
              </a:r>
              <a:endParaRPr lang="en-US" sz="760" dirty="0"/>
            </a:p>
          </p:txBody>
        </p:sp>
        <p:sp>
          <p:nvSpPr>
            <p:cNvPr id="168" name="w3_L09">
              <a:extLst>
                <a:ext uri="{FF2B5EF4-FFF2-40B4-BE49-F238E27FC236}">
                  <a16:creationId xmlns:a16="http://schemas.microsoft.com/office/drawing/2014/main" id="{64FF7995-D439-99CA-0776-04AB2F14C61D}"/>
                </a:ext>
              </a:extLst>
            </p:cNvPr>
            <p:cNvSpPr txBox="1"/>
            <p:nvPr/>
          </p:nvSpPr>
          <p:spPr>
            <a:xfrm>
              <a:off x="6429604" y="5574940"/>
              <a:ext cx="512925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async</a:t>
              </a:r>
              <a:r>
                <a:rPr lang="en-US" sz="760" b="0" dirty="0">
                  <a:solidFill>
                    <a:srgbClr val="E2E8F0"/>
                  </a:solidFill>
                  <a:latin typeface="Consolas"/>
                  <a:ea typeface="Consolas"/>
                  <a:cs typeface="Consolas"/>
                </a:rPr>
                <a:t> Task&lt;</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&gt;     CountUsersAsync() { </a:t>
              </a:r>
              <a:r>
                <a:rPr lang="en-US" sz="760" b="0" dirty="0">
                  <a:solidFill>
                    <a:srgbClr val="60A5FA"/>
                  </a:solidFill>
                  <a:latin typeface="Consolas"/>
                  <a:ea typeface="Consolas"/>
                  <a:cs typeface="Consolas"/>
                </a:rPr>
                <a:t>await</a:t>
              </a:r>
              <a:r>
                <a:rPr lang="en-US" sz="760" b="0" dirty="0">
                  <a:solidFill>
                    <a:srgbClr val="E2E8F0"/>
                  </a:solidFill>
                  <a:latin typeface="Consolas"/>
                  <a:ea typeface="Consolas"/>
                  <a:cs typeface="Consolas"/>
                </a:rPr>
                <a:t> Task.Delay(300); </a:t>
              </a: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1240; }</a:t>
              </a:r>
              <a:endParaRPr lang="en-US" sz="760" dirty="0"/>
            </a:p>
          </p:txBody>
        </p:sp>
      </p:grpSp>
      <p:sp>
        <p:nvSpPr>
          <p:cNvPr id="170" name="w3_hl3">
            <a:extLst>
              <a:ext uri="{FF2B5EF4-FFF2-40B4-BE49-F238E27FC236}">
                <a16:creationId xmlns:a16="http://schemas.microsoft.com/office/drawing/2014/main" id="{E31AB1BE-9358-4DC6-97F3-E4D9B461D416}"/>
              </a:ext>
            </a:extLst>
          </p:cNvPr>
          <p:cNvSpPr/>
          <p:nvPr/>
        </p:nvSpPr>
        <p:spPr>
          <a:xfrm>
            <a:off x="6334506" y="4656652"/>
            <a:ext cx="5162250" cy="186576"/>
          </a:xfrm>
          <a:prstGeom prst="rect">
            <a:avLst/>
          </a:prstGeom>
          <a:solidFill>
            <a:srgbClr val="FBBF24">
              <a:alpha val="15000"/>
            </a:srgbClr>
          </a:solidFill>
          <a:ln w="12700">
            <a:solidFill>
              <a:srgbClr val="FBBF24"/>
            </a:solidFill>
            <a:prstDash val="solid"/>
          </a:ln>
        </p:spPr>
        <p:txBody>
          <a:bodyPr/>
          <a:lstStyle/>
          <a:p>
            <a:endParaRPr lang="en-US"/>
          </a:p>
        </p:txBody>
      </p:sp>
    </p:spTree>
    <p:extLst>
      <p:ext uri="{BB962C8B-B14F-4D97-AF65-F5344CB8AC3E}">
        <p14:creationId xmlns:p14="http://schemas.microsoft.com/office/powerpoint/2010/main" val="74646575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400"/>
                                        <p:tgtEl>
                                          <p:spTgt spid="1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400"/>
                                        <p:tgtEl>
                                          <p:spTgt spid="1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3"/>
                                        </p:tgtEl>
                                        <p:attrNameLst>
                                          <p:attrName>style.visibility</p:attrName>
                                        </p:attrNameLst>
                                      </p:cBhvr>
                                      <p:to>
                                        <p:strVal val="visible"/>
                                      </p:to>
                                    </p:set>
                                    <p:animEffect transition="in" filter="fade">
                                      <p:cBhvr>
                                        <p:cTn id="15" dur="400"/>
                                        <p:tgtEl>
                                          <p:spTgt spid="13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4"/>
                                        </p:tgtEl>
                                        <p:attrNameLst>
                                          <p:attrName>style.visibility</p:attrName>
                                        </p:attrNameLst>
                                      </p:cBhvr>
                                      <p:to>
                                        <p:strVal val="visible"/>
                                      </p:to>
                                    </p:set>
                                    <p:animEffect transition="in" filter="fade">
                                      <p:cBhvr>
                                        <p:cTn id="18" dur="400"/>
                                        <p:tgtEl>
                                          <p:spTgt spid="13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1"/>
                                        </p:tgtEl>
                                        <p:attrNameLst>
                                          <p:attrName>style.visibility</p:attrName>
                                        </p:attrNameLst>
                                      </p:cBhvr>
                                      <p:to>
                                        <p:strVal val="visible"/>
                                      </p:to>
                                    </p:set>
                                    <p:animEffect transition="in" filter="fade">
                                      <p:cBhvr>
                                        <p:cTn id="23" dur="400"/>
                                        <p:tgtEl>
                                          <p:spTgt spid="15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2"/>
                                        </p:tgtEl>
                                        <p:attrNameLst>
                                          <p:attrName>style.visibility</p:attrName>
                                        </p:attrNameLst>
                                      </p:cBhvr>
                                      <p:to>
                                        <p:strVal val="visible"/>
                                      </p:to>
                                    </p:set>
                                    <p:animEffect transition="in" filter="fade">
                                      <p:cBhvr>
                                        <p:cTn id="26" dur="400"/>
                                        <p:tgtEl>
                                          <p:spTgt spid="15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9"/>
                                        </p:tgtEl>
                                        <p:attrNameLst>
                                          <p:attrName>style.visibility</p:attrName>
                                        </p:attrNameLst>
                                      </p:cBhvr>
                                      <p:to>
                                        <p:strVal val="visible"/>
                                      </p:to>
                                    </p:set>
                                    <p:animEffect transition="in" filter="fade">
                                      <p:cBhvr>
                                        <p:cTn id="31" dur="400"/>
                                        <p:tgtEl>
                                          <p:spTgt spid="16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0"/>
                                        </p:tgtEl>
                                        <p:attrNameLst>
                                          <p:attrName>style.visibility</p:attrName>
                                        </p:attrNameLst>
                                      </p:cBhvr>
                                      <p:to>
                                        <p:strVal val="visible"/>
                                      </p:to>
                                    </p:set>
                                    <p:animEffect transition="in" filter="fade">
                                      <p:cBhvr>
                                        <p:cTn id="34" dur="4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34" grpId="0" animBg="1"/>
      <p:bldP spid="152" grpId="0" animBg="1"/>
      <p:bldP spid="17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DEGREE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More Parallelism Is Not Always Faster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CONCURRENCY TOOLS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62</a:t>
            </a:r>
            <a:endParaRPr lang="en-US" sz="850" dirty="0"/>
          </a:p>
        </p:txBody>
      </p:sp>
      <p:sp>
        <p:nvSpPr>
          <p:cNvPr id="15" name="lab"/>
          <p:cNvSpPr txBox="1"/>
          <p:nvPr/>
        </p:nvSpPr>
        <p:spPr>
          <a:xfrm>
            <a:off x="543154" y="1572768"/>
            <a:ext cx="54864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TIME TO PROCESS 10,000 IMAGES ON 8 CORES (ILLUSTRATIVE)</a:t>
            </a:r>
            <a:endParaRPr lang="en-US" sz="1000" dirty="0"/>
          </a:p>
        </p:txBody>
      </p:sp>
      <p:sp>
        <p:nvSpPr>
          <p:cNvPr id="16" name="bar"/>
          <p:cNvSpPr/>
          <p:nvPr/>
        </p:nvSpPr>
        <p:spPr>
          <a:xfrm>
            <a:off x="726034" y="2121408"/>
            <a:ext cx="685800" cy="2560320"/>
          </a:xfrm>
          <a:prstGeom prst="rect">
            <a:avLst/>
          </a:prstGeom>
          <a:solidFill>
            <a:srgbClr val="4D91F0">
              <a:alpha val="45000"/>
            </a:srgbClr>
          </a:solidFill>
          <a:ln w="12700">
            <a:solidFill>
              <a:srgbClr val="4D91F0"/>
            </a:solidFill>
            <a:prstDash val="solid"/>
          </a:ln>
        </p:spPr>
        <p:txBody>
          <a:bodyPr/>
          <a:lstStyle/>
          <a:p>
            <a:endParaRPr lang="en-US"/>
          </a:p>
        </p:txBody>
      </p:sp>
      <p:sp>
        <p:nvSpPr>
          <p:cNvPr id="17" name="lab"/>
          <p:cNvSpPr txBox="1"/>
          <p:nvPr/>
        </p:nvSpPr>
        <p:spPr>
          <a:xfrm>
            <a:off x="726034"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1</a:t>
            </a:r>
            <a:endParaRPr lang="en-US" sz="1000" dirty="0"/>
          </a:p>
        </p:txBody>
      </p:sp>
      <p:sp>
        <p:nvSpPr>
          <p:cNvPr id="18" name="lab"/>
          <p:cNvSpPr txBox="1"/>
          <p:nvPr/>
        </p:nvSpPr>
        <p:spPr>
          <a:xfrm>
            <a:off x="726034" y="187452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80 s</a:t>
            </a:r>
            <a:endParaRPr lang="en-US" sz="950" dirty="0"/>
          </a:p>
        </p:txBody>
      </p:sp>
      <p:sp>
        <p:nvSpPr>
          <p:cNvPr id="19" name="bar"/>
          <p:cNvSpPr/>
          <p:nvPr/>
        </p:nvSpPr>
        <p:spPr>
          <a:xfrm>
            <a:off x="1521562" y="3369564"/>
            <a:ext cx="685800" cy="1312164"/>
          </a:xfrm>
          <a:prstGeom prst="rect">
            <a:avLst/>
          </a:prstGeom>
          <a:solidFill>
            <a:srgbClr val="4D91F0">
              <a:alpha val="45000"/>
            </a:srgbClr>
          </a:solidFill>
          <a:ln w="12700">
            <a:solidFill>
              <a:srgbClr val="4D91F0"/>
            </a:solidFill>
            <a:prstDash val="solid"/>
          </a:ln>
        </p:spPr>
        <p:txBody>
          <a:bodyPr/>
          <a:lstStyle/>
          <a:p>
            <a:endParaRPr lang="en-US"/>
          </a:p>
        </p:txBody>
      </p:sp>
      <p:sp>
        <p:nvSpPr>
          <p:cNvPr id="20" name="lab"/>
          <p:cNvSpPr txBox="1"/>
          <p:nvPr/>
        </p:nvSpPr>
        <p:spPr>
          <a:xfrm>
            <a:off x="1521562"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2</a:t>
            </a:r>
            <a:endParaRPr lang="en-US" sz="1000" dirty="0"/>
          </a:p>
        </p:txBody>
      </p:sp>
      <p:sp>
        <p:nvSpPr>
          <p:cNvPr id="21" name="lab"/>
          <p:cNvSpPr txBox="1"/>
          <p:nvPr/>
        </p:nvSpPr>
        <p:spPr>
          <a:xfrm>
            <a:off x="1521562" y="3122676"/>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41 s</a:t>
            </a:r>
            <a:endParaRPr lang="en-US" sz="950" dirty="0"/>
          </a:p>
        </p:txBody>
      </p:sp>
      <p:sp>
        <p:nvSpPr>
          <p:cNvPr id="22" name="bar"/>
          <p:cNvSpPr/>
          <p:nvPr/>
        </p:nvSpPr>
        <p:spPr>
          <a:xfrm>
            <a:off x="2317090" y="4009644"/>
            <a:ext cx="685800" cy="672084"/>
          </a:xfrm>
          <a:prstGeom prst="rect">
            <a:avLst/>
          </a:prstGeom>
          <a:solidFill>
            <a:srgbClr val="4D91F0">
              <a:alpha val="45000"/>
            </a:srgbClr>
          </a:solidFill>
          <a:ln w="12700">
            <a:solidFill>
              <a:srgbClr val="4D91F0"/>
            </a:solidFill>
            <a:prstDash val="solid"/>
          </a:ln>
        </p:spPr>
        <p:txBody>
          <a:bodyPr/>
          <a:lstStyle/>
          <a:p>
            <a:endParaRPr lang="en-US"/>
          </a:p>
        </p:txBody>
      </p:sp>
      <p:sp>
        <p:nvSpPr>
          <p:cNvPr id="23" name="lab"/>
          <p:cNvSpPr txBox="1"/>
          <p:nvPr/>
        </p:nvSpPr>
        <p:spPr>
          <a:xfrm>
            <a:off x="2317090"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4</a:t>
            </a:r>
            <a:endParaRPr lang="en-US" sz="1000" dirty="0"/>
          </a:p>
        </p:txBody>
      </p:sp>
      <p:sp>
        <p:nvSpPr>
          <p:cNvPr id="24" name="lab"/>
          <p:cNvSpPr txBox="1"/>
          <p:nvPr/>
        </p:nvSpPr>
        <p:spPr>
          <a:xfrm>
            <a:off x="2317090" y="3762756"/>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21 s</a:t>
            </a:r>
            <a:endParaRPr lang="en-US" sz="950" dirty="0"/>
          </a:p>
        </p:txBody>
      </p:sp>
      <p:sp>
        <p:nvSpPr>
          <p:cNvPr id="25" name="bar"/>
          <p:cNvSpPr/>
          <p:nvPr/>
        </p:nvSpPr>
        <p:spPr>
          <a:xfrm>
            <a:off x="3112618" y="4329684"/>
            <a:ext cx="685800" cy="352044"/>
          </a:xfrm>
          <a:prstGeom prst="rect">
            <a:avLst/>
          </a:prstGeom>
          <a:solidFill>
            <a:srgbClr val="34D399">
              <a:alpha val="45000"/>
            </a:srgbClr>
          </a:solidFill>
          <a:ln w="12700">
            <a:solidFill>
              <a:srgbClr val="34D399"/>
            </a:solidFill>
            <a:prstDash val="solid"/>
          </a:ln>
        </p:spPr>
        <p:txBody>
          <a:bodyPr/>
          <a:lstStyle/>
          <a:p>
            <a:endParaRPr lang="en-US"/>
          </a:p>
        </p:txBody>
      </p:sp>
      <p:sp>
        <p:nvSpPr>
          <p:cNvPr id="26" name="lab"/>
          <p:cNvSpPr txBox="1"/>
          <p:nvPr/>
        </p:nvSpPr>
        <p:spPr>
          <a:xfrm>
            <a:off x="3112618"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8</a:t>
            </a:r>
            <a:endParaRPr lang="en-US" sz="1000" dirty="0"/>
          </a:p>
        </p:txBody>
      </p:sp>
      <p:sp>
        <p:nvSpPr>
          <p:cNvPr id="27" name="lab"/>
          <p:cNvSpPr txBox="1"/>
          <p:nvPr/>
        </p:nvSpPr>
        <p:spPr>
          <a:xfrm>
            <a:off x="3112618" y="4082796"/>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11 s</a:t>
            </a:r>
            <a:endParaRPr lang="en-US" sz="950" dirty="0"/>
          </a:p>
        </p:txBody>
      </p:sp>
      <p:sp>
        <p:nvSpPr>
          <p:cNvPr id="28" name="bar"/>
          <p:cNvSpPr/>
          <p:nvPr/>
        </p:nvSpPr>
        <p:spPr>
          <a:xfrm>
            <a:off x="3908146" y="4297680"/>
            <a:ext cx="685800" cy="384048"/>
          </a:xfrm>
          <a:prstGeom prst="rect">
            <a:avLst/>
          </a:prstGeom>
          <a:solidFill>
            <a:srgbClr val="F87171">
              <a:alpha val="45000"/>
            </a:srgbClr>
          </a:solidFill>
          <a:ln w="12700">
            <a:solidFill>
              <a:srgbClr val="F87171"/>
            </a:solidFill>
            <a:prstDash val="solid"/>
          </a:ln>
        </p:spPr>
        <p:txBody>
          <a:bodyPr/>
          <a:lstStyle/>
          <a:p>
            <a:endParaRPr lang="en-US"/>
          </a:p>
        </p:txBody>
      </p:sp>
      <p:sp>
        <p:nvSpPr>
          <p:cNvPr id="29" name="lab"/>
          <p:cNvSpPr txBox="1"/>
          <p:nvPr/>
        </p:nvSpPr>
        <p:spPr>
          <a:xfrm>
            <a:off x="3908146"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16</a:t>
            </a:r>
            <a:endParaRPr lang="en-US" sz="1000" dirty="0"/>
          </a:p>
        </p:txBody>
      </p:sp>
      <p:sp>
        <p:nvSpPr>
          <p:cNvPr id="30" name="lab"/>
          <p:cNvSpPr txBox="1"/>
          <p:nvPr/>
        </p:nvSpPr>
        <p:spPr>
          <a:xfrm>
            <a:off x="3908146" y="4050792"/>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12 s</a:t>
            </a:r>
            <a:endParaRPr lang="en-US" sz="950" dirty="0"/>
          </a:p>
        </p:txBody>
      </p:sp>
      <p:sp>
        <p:nvSpPr>
          <p:cNvPr id="31" name="bar"/>
          <p:cNvSpPr/>
          <p:nvPr/>
        </p:nvSpPr>
        <p:spPr>
          <a:xfrm>
            <a:off x="4703674" y="4137660"/>
            <a:ext cx="685800" cy="544068"/>
          </a:xfrm>
          <a:prstGeom prst="rect">
            <a:avLst/>
          </a:prstGeom>
          <a:solidFill>
            <a:srgbClr val="F87171">
              <a:alpha val="45000"/>
            </a:srgbClr>
          </a:solidFill>
          <a:ln w="12700">
            <a:solidFill>
              <a:srgbClr val="F87171"/>
            </a:solidFill>
            <a:prstDash val="solid"/>
          </a:ln>
        </p:spPr>
        <p:txBody>
          <a:bodyPr/>
          <a:lstStyle/>
          <a:p>
            <a:endParaRPr lang="en-US"/>
          </a:p>
        </p:txBody>
      </p:sp>
      <p:sp>
        <p:nvSpPr>
          <p:cNvPr id="32" name="lab"/>
          <p:cNvSpPr txBox="1"/>
          <p:nvPr/>
        </p:nvSpPr>
        <p:spPr>
          <a:xfrm>
            <a:off x="4703674"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64</a:t>
            </a:r>
            <a:endParaRPr lang="en-US" sz="1000" dirty="0"/>
          </a:p>
        </p:txBody>
      </p:sp>
      <p:sp>
        <p:nvSpPr>
          <p:cNvPr id="33" name="lab"/>
          <p:cNvSpPr txBox="1"/>
          <p:nvPr/>
        </p:nvSpPr>
        <p:spPr>
          <a:xfrm>
            <a:off x="4703674" y="3890772"/>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17 s</a:t>
            </a:r>
            <a:endParaRPr lang="en-US" sz="950" dirty="0"/>
          </a:p>
        </p:txBody>
      </p:sp>
      <p:sp>
        <p:nvSpPr>
          <p:cNvPr id="34" name="bar"/>
          <p:cNvSpPr/>
          <p:nvPr/>
        </p:nvSpPr>
        <p:spPr>
          <a:xfrm>
            <a:off x="5499202" y="3721608"/>
            <a:ext cx="685800" cy="960120"/>
          </a:xfrm>
          <a:prstGeom prst="rect">
            <a:avLst/>
          </a:prstGeom>
          <a:solidFill>
            <a:srgbClr val="F87171">
              <a:alpha val="45000"/>
            </a:srgbClr>
          </a:solidFill>
          <a:ln w="12700">
            <a:solidFill>
              <a:srgbClr val="F87171"/>
            </a:solidFill>
            <a:prstDash val="solid"/>
          </a:ln>
        </p:spPr>
        <p:txBody>
          <a:bodyPr/>
          <a:lstStyle/>
          <a:p>
            <a:endParaRPr lang="en-US"/>
          </a:p>
        </p:txBody>
      </p:sp>
      <p:sp>
        <p:nvSpPr>
          <p:cNvPr id="35" name="lab"/>
          <p:cNvSpPr txBox="1"/>
          <p:nvPr/>
        </p:nvSpPr>
        <p:spPr>
          <a:xfrm>
            <a:off x="5499202" y="470916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1000</a:t>
            </a:r>
            <a:endParaRPr lang="en-US" sz="1000" dirty="0"/>
          </a:p>
        </p:txBody>
      </p:sp>
      <p:sp>
        <p:nvSpPr>
          <p:cNvPr id="36" name="lab"/>
          <p:cNvSpPr txBox="1"/>
          <p:nvPr/>
        </p:nvSpPr>
        <p:spPr>
          <a:xfrm>
            <a:off x="5499202" y="3474720"/>
            <a:ext cx="6858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FFFFF"/>
                </a:solidFill>
                <a:latin typeface="Segoe UI"/>
                <a:ea typeface="Segoe UI"/>
                <a:cs typeface="Segoe UI"/>
              </a:rPr>
              <a:t>30 s</a:t>
            </a:r>
            <a:endParaRPr lang="en-US" sz="950" dirty="0"/>
          </a:p>
        </p:txBody>
      </p:sp>
      <p:sp>
        <p:nvSpPr>
          <p:cNvPr id="37" name="lab"/>
          <p:cNvSpPr txBox="1"/>
          <p:nvPr/>
        </p:nvSpPr>
        <p:spPr>
          <a:xfrm>
            <a:off x="726034" y="4910328"/>
            <a:ext cx="548640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94A3B8"/>
                </a:solidFill>
                <a:latin typeface="Segoe UI"/>
                <a:ea typeface="Segoe UI"/>
                <a:cs typeface="Segoe UI"/>
              </a:rPr>
              <a:t>workers</a:t>
            </a:r>
            <a:endParaRPr lang="en-US" sz="1000" dirty="0"/>
          </a:p>
        </p:txBody>
      </p:sp>
      <p:sp>
        <p:nvSpPr>
          <p:cNvPr id="38" name="card"/>
          <p:cNvSpPr/>
          <p:nvPr/>
        </p:nvSpPr>
        <p:spPr>
          <a:xfrm>
            <a:off x="6578194" y="1572768"/>
            <a:ext cx="5052060" cy="1097280"/>
          </a:xfrm>
          <a:prstGeom prst="roundRect">
            <a:avLst>
              <a:gd name="adj" fmla="val 7500"/>
            </a:avLst>
          </a:prstGeom>
          <a:solidFill>
            <a:srgbClr val="111B2E"/>
          </a:solidFill>
          <a:ln w="12700">
            <a:solidFill>
              <a:srgbClr val="34D399"/>
            </a:solidFill>
            <a:prstDash val="solid"/>
          </a:ln>
        </p:spPr>
        <p:txBody>
          <a:bodyPr wrap="square" lIns="192024" tIns="114300" rIns="192024" bIns="114300" rtlCol="0" anchor="ctr">
            <a:noAutofit/>
          </a:bodyPr>
          <a:lstStyle/>
          <a:p>
            <a:pPr marL="0" indent="0" algn="l">
              <a:spcBef>
                <a:spcPts val="0"/>
              </a:spcBef>
              <a:spcAft>
                <a:spcPts val="120"/>
              </a:spcAft>
              <a:buNone/>
            </a:pPr>
            <a:r>
              <a:rPr lang="en-US" sz="1050" b="1" dirty="0">
                <a:solidFill>
                  <a:srgbClr val="34D399"/>
                </a:solidFill>
                <a:latin typeface="Segoe UI"/>
                <a:ea typeface="Segoe UI"/>
                <a:cs typeface="Segoe UI"/>
              </a:rPr>
              <a:t>SWEET SPOT</a:t>
            </a:r>
            <a:endParaRPr lang="en-US" sz="1050" dirty="0"/>
          </a:p>
          <a:p>
            <a:pPr marL="0" indent="0" algn="l">
              <a:spcBef>
                <a:spcPts val="0"/>
              </a:spcBef>
              <a:spcAft>
                <a:spcPts val="0"/>
              </a:spcAft>
              <a:buNone/>
            </a:pPr>
            <a:r>
              <a:rPr lang="en-US" sz="1250" b="0" dirty="0">
                <a:solidFill>
                  <a:srgbClr val="CBD5E1"/>
                </a:solidFill>
                <a:latin typeface="Segoe UI"/>
                <a:ea typeface="Segoe UI"/>
                <a:cs typeface="Segoe UI"/>
              </a:rPr>
              <a:t>about one worker per core for CPU-bound work</a:t>
            </a:r>
            <a:endParaRPr lang="en-US" sz="1250" dirty="0"/>
          </a:p>
        </p:txBody>
      </p:sp>
      <p:sp>
        <p:nvSpPr>
          <p:cNvPr id="39" name="card"/>
          <p:cNvSpPr/>
          <p:nvPr/>
        </p:nvSpPr>
        <p:spPr>
          <a:xfrm>
            <a:off x="6578194" y="2807208"/>
            <a:ext cx="5052060" cy="2075688"/>
          </a:xfrm>
          <a:prstGeom prst="roundRect">
            <a:avLst>
              <a:gd name="adj" fmla="val 3964"/>
            </a:avLst>
          </a:prstGeom>
          <a:solidFill>
            <a:srgbClr val="111B2E"/>
          </a:solidFill>
          <a:ln w="12700">
            <a:solidFill>
              <a:srgbClr val="F87171"/>
            </a:solidFill>
            <a:prstDash val="solid"/>
          </a:ln>
        </p:spPr>
        <p:txBody>
          <a:bodyPr wrap="square" lIns="192024" tIns="114300" rIns="192024" bIns="114300" rtlCol="0" anchor="ctr">
            <a:noAutofit/>
          </a:bodyPr>
          <a:lstStyle/>
          <a:p>
            <a:pPr marL="0" indent="0" algn="l">
              <a:spcBef>
                <a:spcPts val="0"/>
              </a:spcBef>
              <a:spcAft>
                <a:spcPts val="150"/>
              </a:spcAft>
              <a:buNone/>
            </a:pPr>
            <a:r>
              <a:rPr lang="en-US" sz="1050" b="1" dirty="0">
                <a:solidFill>
                  <a:srgbClr val="F87171"/>
                </a:solidFill>
                <a:latin typeface="Segoe UI"/>
                <a:ea typeface="Segoe UI"/>
                <a:cs typeface="Segoe UI"/>
              </a:rPr>
              <a:t>TOO MANY WORKERS</a:t>
            </a:r>
            <a:endParaRPr lang="en-US" sz="1050" dirty="0"/>
          </a:p>
          <a:p>
            <a:pPr marL="0" indent="0" algn="l">
              <a:spcBef>
                <a:spcPts val="0"/>
              </a:spcBef>
              <a:spcAft>
                <a:spcPts val="150"/>
              </a:spcAft>
              <a:buNone/>
            </a:pPr>
            <a:r>
              <a:rPr lang="en-US" sz="1250" b="0" dirty="0">
                <a:solidFill>
                  <a:srgbClr val="CBD5E1"/>
                </a:solidFill>
                <a:latin typeface="Segoe UI"/>
                <a:ea typeface="Segoe UI"/>
                <a:cs typeface="Segoe UI"/>
              </a:rPr>
              <a:t>context switching</a:t>
            </a:r>
            <a:endParaRPr lang="en-US" sz="1250" dirty="0"/>
          </a:p>
          <a:p>
            <a:pPr marL="0" indent="0" algn="l">
              <a:spcBef>
                <a:spcPts val="0"/>
              </a:spcBef>
              <a:spcAft>
                <a:spcPts val="150"/>
              </a:spcAft>
              <a:buNone/>
            </a:pPr>
            <a:r>
              <a:rPr lang="en-US" sz="1250" b="0" dirty="0">
                <a:solidFill>
                  <a:srgbClr val="CBD5E1"/>
                </a:solidFill>
                <a:latin typeface="Segoe UI"/>
                <a:ea typeface="Segoe UI"/>
                <a:cs typeface="Segoe UI"/>
              </a:rPr>
              <a:t>contention for locks and data</a:t>
            </a:r>
            <a:endParaRPr lang="en-US" sz="1250" dirty="0"/>
          </a:p>
          <a:p>
            <a:pPr marL="0" indent="0" algn="l">
              <a:spcBef>
                <a:spcPts val="0"/>
              </a:spcBef>
              <a:spcAft>
                <a:spcPts val="0"/>
              </a:spcAft>
              <a:buNone/>
            </a:pPr>
            <a:r>
              <a:rPr lang="en-US" sz="1250" b="0" dirty="0">
                <a:solidFill>
                  <a:srgbClr val="CBD5E1"/>
                </a:solidFill>
                <a:latin typeface="Segoe UI"/>
                <a:ea typeface="Segoe UI"/>
                <a:cs typeface="Segoe UI"/>
              </a:rPr>
              <a:t>memory pressure</a:t>
            </a:r>
            <a:endParaRPr lang="en-US" sz="1250" dirty="0"/>
          </a:p>
        </p:txBody>
      </p:sp>
      <p:sp>
        <p:nvSpPr>
          <p:cNvPr id="40" name="banner"/>
          <p:cNvSpPr/>
          <p:nvPr/>
        </p:nvSpPr>
        <p:spPr>
          <a:xfrm>
            <a:off x="543154" y="5074920"/>
            <a:ext cx="11087100" cy="74980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Match parallelism to the resource: cores for CPU work, limits for remote services.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5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25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25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5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25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25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25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5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25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25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25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250"/>
                                        <p:tgtEl>
                                          <p:spTgt spid="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250"/>
                                        <p:tgtEl>
                                          <p:spTgt spid="3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250"/>
                                        <p:tgtEl>
                                          <p:spTgt spid="3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250"/>
                                        <p:tgtEl>
                                          <p:spTgt spid="3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250"/>
                                        <p:tgtEl>
                                          <p:spTgt spid="37"/>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250"/>
                                        <p:tgtEl>
                                          <p:spTgt spid="38"/>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250"/>
                                        <p:tgtEl>
                                          <p:spTgt spid="39"/>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2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p:bldP spid="31" grpId="0" animBg="1"/>
      <p:bldP spid="32" grpId="0"/>
      <p:bldP spid="33" grpId="0"/>
      <p:bldP spid="34" grpId="0" animBg="1"/>
      <p:bldP spid="35" grpId="0"/>
      <p:bldP spid="36" grpId="0"/>
      <p:bldP spid="37" grpId="0"/>
      <p:bldP spid="38" grpId="0" animBg="1"/>
      <p:bldP spid="39" grpId="0" animBg="1"/>
      <p:bldP spid="4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PART 10</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STREAMS</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67</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10</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Files, Streams &amp; Serialization</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Data that survives a restart, huge files with tiny memory, and files always given back.</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Why files  ·  Absolute vs relative paths  ·  Path  ·  File helpers  ·  Async file I/O  ·  Streams  ·  Reading &amp; writing  ·  IDisposable &amp; using  ·  Serialization  ·  System.Text.Json  ·  Lab: employee file  ·  Quizzes</a:t>
            </a:r>
            <a:endParaRPr lang="en-US" sz="1350" dirty="0"/>
          </a:p>
        </p:txBody>
      </p:sp>
    </p:spTree>
    <p:extLst>
      <p:ext uri="{BB962C8B-B14F-4D97-AF65-F5344CB8AC3E}">
        <p14:creationId xmlns:p14="http://schemas.microsoft.com/office/powerpoint/2010/main" val="34640536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0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ROADMAP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From Memory to Disk, Safely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PATHS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68</a:t>
            </a:r>
            <a:endParaRPr lang="en-US" sz="850" dirty="0"/>
          </a:p>
        </p:txBody>
      </p:sp>
      <p:sp>
        <p:nvSpPr>
          <p:cNvPr id="101" name="c0"/>
          <p:cNvSpPr/>
          <p:nvPr/>
        </p:nvSpPr>
        <p:spPr>
          <a:xfrm>
            <a:off x="543154" y="1783080"/>
            <a:ext cx="2052828" cy="2834640"/>
          </a:xfrm>
          <a:prstGeom prst="roundRect">
            <a:avLst>
              <a:gd name="adj" fmla="val 12000"/>
            </a:avLst>
          </a:prstGeom>
          <a:solidFill>
            <a:srgbClr val="111B2E"/>
          </a:solidFill>
          <a:ln w="12700">
            <a:solidFill>
              <a:srgbClr val="13D0F7"/>
            </a:solidFill>
            <a:prstDash val="solid"/>
          </a:ln>
        </p:spPr>
        <p:txBody>
          <a:bodyPr wrap="square" lIns="137160" tIns="228600" rIns="137160" bIns="91440" rtlCol="0" anchor="t">
            <a:noAutofit/>
          </a:bodyPr>
          <a:lstStyle/>
          <a:p>
            <a:pPr marL="0" indent="0" algn="ctr">
              <a:spcBef>
                <a:spcPts val="0"/>
              </a:spcBef>
              <a:spcAft>
                <a:spcPts val="0"/>
              </a:spcAft>
              <a:buNone/>
            </a:pPr>
            <a:r>
              <a:rPr lang="en-US" sz="3600" b="1" dirty="0">
                <a:solidFill>
                  <a:srgbClr val="13D0F7"/>
                </a:solidFill>
                <a:latin typeface="Segoe UI"/>
                <a:ea typeface="Segoe UI"/>
                <a:cs typeface="Segoe UI"/>
              </a:rPr>
              <a:t>01</a:t>
            </a:r>
            <a:endParaRPr lang="en-US" sz="3600" dirty="0"/>
          </a:p>
          <a:p>
            <a:pPr marL="0" indent="0" algn="ctr">
              <a:spcBef>
                <a:spcPts val="0"/>
              </a:spcBef>
              <a:spcAft>
                <a:spcPts val="0"/>
              </a:spcAft>
              <a:buNone/>
            </a:pPr>
            <a:r>
              <a:rPr lang="en-US" sz="600" b="0" dirty="0">
                <a:solidFill>
                  <a:srgbClr val="13D0F7"/>
                </a:solidFill>
                <a:latin typeface="Segoe UI"/>
                <a:ea typeface="Segoe UI"/>
                <a:cs typeface="Segoe UI"/>
              </a:rPr>
              <a:t> </a:t>
            </a:r>
            <a:endParaRPr lang="en-US" sz="600" dirty="0"/>
          </a:p>
          <a:p>
            <a:pPr marL="0" indent="0" algn="ctr">
              <a:spcBef>
                <a:spcPts val="0"/>
              </a:spcBef>
              <a:spcAft>
                <a:spcPts val="0"/>
              </a:spcAft>
              <a:buNone/>
            </a:pPr>
            <a:r>
              <a:rPr lang="en-US" sz="1500" b="1" dirty="0">
                <a:solidFill>
                  <a:srgbClr val="FFFFFF"/>
                </a:solidFill>
                <a:latin typeface="Segoe UI"/>
                <a:ea typeface="Segoe UI"/>
                <a:cs typeface="Segoe UI"/>
              </a:rPr>
              <a:t>Files &amp; paths</a:t>
            </a:r>
            <a:endParaRPr lang="en-US" sz="1500" dirty="0"/>
          </a:p>
          <a:p>
            <a:pPr marL="0" indent="0" algn="ctr">
              <a:spcBef>
                <a:spcPts val="0"/>
              </a:spcBef>
              <a:spcAft>
                <a:spcPts val="0"/>
              </a:spcAft>
              <a:buNone/>
            </a:pPr>
            <a:r>
              <a:rPr lang="en-US" sz="600" b="0" dirty="0">
                <a:solidFill>
                  <a:srgbClr val="13D0F7"/>
                </a:solidFill>
                <a:latin typeface="Segoe UI"/>
                <a:ea typeface="Segoe UI"/>
                <a:cs typeface="Segoe UI"/>
              </a:rPr>
              <a:t> </a:t>
            </a:r>
            <a:endParaRPr lang="en-US" sz="600" dirty="0"/>
          </a:p>
          <a:p>
            <a:pPr marL="0" indent="0" algn="ctr">
              <a:spcBef>
                <a:spcPts val="0"/>
              </a:spcBef>
              <a:spcAft>
                <a:spcPts val="0"/>
              </a:spcAft>
              <a:buNone/>
            </a:pPr>
            <a:r>
              <a:rPr lang="en-US" sz="1150" b="0" dirty="0">
                <a:solidFill>
                  <a:srgbClr val="CBD5E1"/>
                </a:solidFill>
                <a:latin typeface="Segoe UI"/>
                <a:ea typeface="Segoe UI"/>
                <a:cs typeface="Segoe UI"/>
              </a:rPr>
              <a:t>absolute vs relative, Path, File helpers, async versions</a:t>
            </a:r>
            <a:endParaRPr lang="en-US" sz="1150" dirty="0"/>
          </a:p>
        </p:txBody>
      </p:sp>
      <p:sp>
        <p:nvSpPr>
          <p:cNvPr id="102" name="c1"/>
          <p:cNvSpPr/>
          <p:nvPr/>
        </p:nvSpPr>
        <p:spPr>
          <a:xfrm>
            <a:off x="2801722" y="1783080"/>
            <a:ext cx="2052828" cy="2834640"/>
          </a:xfrm>
          <a:prstGeom prst="roundRect">
            <a:avLst>
              <a:gd name="adj" fmla="val 12000"/>
            </a:avLst>
          </a:prstGeom>
          <a:solidFill>
            <a:srgbClr val="111B2E"/>
          </a:solidFill>
          <a:ln w="12700">
            <a:solidFill>
              <a:srgbClr val="A78BFA"/>
            </a:solidFill>
            <a:prstDash val="solid"/>
          </a:ln>
        </p:spPr>
        <p:txBody>
          <a:bodyPr wrap="square" lIns="137160" tIns="228600" rIns="137160" bIns="91440" rtlCol="0" anchor="t">
            <a:noAutofit/>
          </a:bodyPr>
          <a:lstStyle/>
          <a:p>
            <a:pPr marL="0" indent="0" algn="ctr">
              <a:spcBef>
                <a:spcPts val="0"/>
              </a:spcBef>
              <a:spcAft>
                <a:spcPts val="0"/>
              </a:spcAft>
              <a:buNone/>
            </a:pPr>
            <a:r>
              <a:rPr lang="en-US" sz="3600" b="1" dirty="0">
                <a:solidFill>
                  <a:srgbClr val="A78BFA"/>
                </a:solidFill>
                <a:latin typeface="Segoe UI"/>
                <a:ea typeface="Segoe UI"/>
                <a:cs typeface="Segoe UI"/>
              </a:rPr>
              <a:t>02</a:t>
            </a:r>
            <a:endParaRPr lang="en-US" sz="3600" dirty="0"/>
          </a:p>
          <a:p>
            <a:pPr marL="0" indent="0" algn="ctr">
              <a:spcBef>
                <a:spcPts val="0"/>
              </a:spcBef>
              <a:spcAft>
                <a:spcPts val="0"/>
              </a:spcAft>
              <a:buNone/>
            </a:pPr>
            <a:r>
              <a:rPr lang="en-US" sz="600" b="0" dirty="0">
                <a:solidFill>
                  <a:srgbClr val="A78BFA"/>
                </a:solidFill>
                <a:latin typeface="Segoe UI"/>
                <a:ea typeface="Segoe UI"/>
                <a:cs typeface="Segoe UI"/>
              </a:rPr>
              <a:t> </a:t>
            </a:r>
            <a:endParaRPr lang="en-US" sz="600" dirty="0"/>
          </a:p>
          <a:p>
            <a:pPr marL="0" indent="0" algn="ctr">
              <a:spcBef>
                <a:spcPts val="0"/>
              </a:spcBef>
              <a:spcAft>
                <a:spcPts val="0"/>
              </a:spcAft>
              <a:buNone/>
            </a:pPr>
            <a:r>
              <a:rPr lang="en-US" sz="1500" b="1" dirty="0">
                <a:solidFill>
                  <a:srgbClr val="FFFFFF"/>
                </a:solidFill>
                <a:latin typeface="Segoe UI"/>
                <a:ea typeface="Segoe UI"/>
                <a:cs typeface="Segoe UI"/>
              </a:rPr>
              <a:t>Streams</a:t>
            </a:r>
            <a:endParaRPr lang="en-US" sz="1500" dirty="0"/>
          </a:p>
          <a:p>
            <a:pPr marL="0" indent="0" algn="ctr">
              <a:spcBef>
                <a:spcPts val="0"/>
              </a:spcBef>
              <a:spcAft>
                <a:spcPts val="0"/>
              </a:spcAft>
              <a:buNone/>
            </a:pPr>
            <a:r>
              <a:rPr lang="en-US" sz="600" b="0" dirty="0">
                <a:solidFill>
                  <a:srgbClr val="A78BFA"/>
                </a:solidFill>
                <a:latin typeface="Segoe UI"/>
                <a:ea typeface="Segoe UI"/>
                <a:cs typeface="Segoe UI"/>
              </a:rPr>
              <a:t> </a:t>
            </a:r>
            <a:endParaRPr lang="en-US" sz="600" dirty="0"/>
          </a:p>
          <a:p>
            <a:pPr marL="0" indent="0" algn="ctr">
              <a:spcBef>
                <a:spcPts val="0"/>
              </a:spcBef>
              <a:spcAft>
                <a:spcPts val="0"/>
              </a:spcAft>
              <a:buNone/>
            </a:pPr>
            <a:r>
              <a:rPr lang="en-US" sz="1150" b="0" dirty="0">
                <a:solidFill>
                  <a:srgbClr val="CBD5E1"/>
                </a:solidFill>
                <a:latin typeface="Segoe UI"/>
                <a:ea typeface="Segoe UI"/>
                <a:cs typeface="Segoe UI"/>
              </a:rPr>
              <a:t>read a little, process, repeat: big files, small memory</a:t>
            </a:r>
            <a:endParaRPr lang="en-US" sz="1150" dirty="0"/>
          </a:p>
        </p:txBody>
      </p:sp>
      <p:sp>
        <p:nvSpPr>
          <p:cNvPr id="103" name="c2"/>
          <p:cNvSpPr/>
          <p:nvPr/>
        </p:nvSpPr>
        <p:spPr>
          <a:xfrm>
            <a:off x="5060290" y="1783080"/>
            <a:ext cx="2052828" cy="2834640"/>
          </a:xfrm>
          <a:prstGeom prst="roundRect">
            <a:avLst>
              <a:gd name="adj" fmla="val 12000"/>
            </a:avLst>
          </a:prstGeom>
          <a:solidFill>
            <a:srgbClr val="111B2E"/>
          </a:solidFill>
          <a:ln w="12700">
            <a:solidFill>
              <a:srgbClr val="FBBF24"/>
            </a:solidFill>
            <a:prstDash val="solid"/>
          </a:ln>
        </p:spPr>
        <p:txBody>
          <a:bodyPr wrap="square" lIns="137160" tIns="228600" rIns="137160" bIns="91440" rtlCol="0" anchor="t">
            <a:noAutofit/>
          </a:bodyPr>
          <a:lstStyle/>
          <a:p>
            <a:pPr marL="0" indent="0" algn="ctr">
              <a:spcBef>
                <a:spcPts val="0"/>
              </a:spcBef>
              <a:spcAft>
                <a:spcPts val="0"/>
              </a:spcAft>
              <a:buNone/>
            </a:pPr>
            <a:r>
              <a:rPr lang="en-US" sz="3600" b="1" dirty="0">
                <a:solidFill>
                  <a:srgbClr val="FBBF24"/>
                </a:solidFill>
                <a:latin typeface="Segoe UI"/>
                <a:ea typeface="Segoe UI"/>
                <a:cs typeface="Segoe UI"/>
              </a:rPr>
              <a:t>03</a:t>
            </a:r>
            <a:endParaRPr lang="en-US" sz="3600" dirty="0"/>
          </a:p>
          <a:p>
            <a:pPr marL="0" indent="0" algn="ctr">
              <a:spcBef>
                <a:spcPts val="0"/>
              </a:spcBef>
              <a:spcAft>
                <a:spcPts val="0"/>
              </a:spcAft>
              <a:buNone/>
            </a:pPr>
            <a:r>
              <a:rPr lang="en-US" sz="600" b="0" dirty="0">
                <a:solidFill>
                  <a:srgbClr val="FBBF24"/>
                </a:solidFill>
                <a:latin typeface="Segoe UI"/>
                <a:ea typeface="Segoe UI"/>
                <a:cs typeface="Segoe UI"/>
              </a:rPr>
              <a:t> </a:t>
            </a:r>
            <a:endParaRPr lang="en-US" sz="600" dirty="0"/>
          </a:p>
          <a:p>
            <a:pPr marL="0" indent="0" algn="ctr">
              <a:spcBef>
                <a:spcPts val="0"/>
              </a:spcBef>
              <a:spcAft>
                <a:spcPts val="0"/>
              </a:spcAft>
              <a:buNone/>
            </a:pPr>
            <a:r>
              <a:rPr lang="en-US" sz="1500" b="1" dirty="0">
                <a:solidFill>
                  <a:srgbClr val="FFFFFF"/>
                </a:solidFill>
                <a:latin typeface="Segoe UI"/>
                <a:ea typeface="Segoe UI"/>
                <a:cs typeface="Segoe UI"/>
              </a:rPr>
              <a:t>IDisposable</a:t>
            </a:r>
            <a:endParaRPr lang="en-US" sz="1500" dirty="0"/>
          </a:p>
          <a:p>
            <a:pPr marL="0" indent="0" algn="ctr">
              <a:spcBef>
                <a:spcPts val="0"/>
              </a:spcBef>
              <a:spcAft>
                <a:spcPts val="0"/>
              </a:spcAft>
              <a:buNone/>
            </a:pPr>
            <a:r>
              <a:rPr lang="en-US" sz="600" b="0" dirty="0">
                <a:solidFill>
                  <a:srgbClr val="FBBF24"/>
                </a:solidFill>
                <a:latin typeface="Segoe UI"/>
                <a:ea typeface="Segoe UI"/>
                <a:cs typeface="Segoe UI"/>
              </a:rPr>
              <a:t> </a:t>
            </a:r>
            <a:endParaRPr lang="en-US" sz="600" dirty="0"/>
          </a:p>
          <a:p>
            <a:pPr marL="0" indent="0" algn="ctr">
              <a:spcBef>
                <a:spcPts val="0"/>
              </a:spcBef>
              <a:spcAft>
                <a:spcPts val="0"/>
              </a:spcAft>
              <a:buNone/>
            </a:pPr>
            <a:r>
              <a:rPr lang="en-US" sz="1150" b="0" dirty="0">
                <a:solidFill>
                  <a:srgbClr val="CBD5E1"/>
                </a:solidFill>
                <a:latin typeface="Segoe UI"/>
                <a:ea typeface="Segoe UI"/>
                <a:cs typeface="Segoe UI"/>
              </a:rPr>
              <a:t>files are OS resources: using / await using</a:t>
            </a:r>
            <a:endParaRPr lang="en-US" sz="1150" dirty="0"/>
          </a:p>
        </p:txBody>
      </p:sp>
      <p:sp>
        <p:nvSpPr>
          <p:cNvPr id="104" name="c3"/>
          <p:cNvSpPr/>
          <p:nvPr/>
        </p:nvSpPr>
        <p:spPr>
          <a:xfrm>
            <a:off x="7318858" y="1783080"/>
            <a:ext cx="2052828" cy="2834640"/>
          </a:xfrm>
          <a:prstGeom prst="roundRect">
            <a:avLst>
              <a:gd name="adj" fmla="val 12000"/>
            </a:avLst>
          </a:prstGeom>
          <a:solidFill>
            <a:srgbClr val="111B2E"/>
          </a:solidFill>
          <a:ln w="12700">
            <a:solidFill>
              <a:srgbClr val="F472B6"/>
            </a:solidFill>
            <a:prstDash val="solid"/>
          </a:ln>
        </p:spPr>
        <p:txBody>
          <a:bodyPr wrap="square" lIns="137160" tIns="228600" rIns="137160" bIns="91440" rtlCol="0" anchor="t">
            <a:noAutofit/>
          </a:bodyPr>
          <a:lstStyle/>
          <a:p>
            <a:pPr marL="0" indent="0" algn="ctr">
              <a:spcBef>
                <a:spcPts val="0"/>
              </a:spcBef>
              <a:spcAft>
                <a:spcPts val="0"/>
              </a:spcAft>
              <a:buNone/>
            </a:pPr>
            <a:r>
              <a:rPr lang="en-US" sz="3600" b="1" dirty="0">
                <a:solidFill>
                  <a:srgbClr val="F472B6"/>
                </a:solidFill>
                <a:latin typeface="Segoe UI"/>
                <a:ea typeface="Segoe UI"/>
                <a:cs typeface="Segoe UI"/>
              </a:rPr>
              <a:t>04</a:t>
            </a:r>
            <a:endParaRPr lang="en-US" sz="3600" dirty="0"/>
          </a:p>
          <a:p>
            <a:pPr marL="0" indent="0" algn="ctr">
              <a:spcBef>
                <a:spcPts val="0"/>
              </a:spcBef>
              <a:spcAft>
                <a:spcPts val="0"/>
              </a:spcAft>
              <a:buNone/>
            </a:pPr>
            <a:r>
              <a:rPr lang="en-US" sz="600" b="0" dirty="0">
                <a:solidFill>
                  <a:srgbClr val="F472B6"/>
                </a:solidFill>
                <a:latin typeface="Segoe UI"/>
                <a:ea typeface="Segoe UI"/>
                <a:cs typeface="Segoe UI"/>
              </a:rPr>
              <a:t> </a:t>
            </a:r>
            <a:endParaRPr lang="en-US" sz="600" dirty="0"/>
          </a:p>
          <a:p>
            <a:pPr marL="0" indent="0" algn="ctr">
              <a:spcBef>
                <a:spcPts val="0"/>
              </a:spcBef>
              <a:spcAft>
                <a:spcPts val="0"/>
              </a:spcAft>
              <a:buNone/>
            </a:pPr>
            <a:r>
              <a:rPr lang="en-US" sz="1500" b="1" dirty="0">
                <a:solidFill>
                  <a:srgbClr val="FFFFFF"/>
                </a:solidFill>
                <a:latin typeface="Segoe UI"/>
                <a:ea typeface="Segoe UI"/>
                <a:cs typeface="Segoe UI"/>
              </a:rPr>
              <a:t>Serialization</a:t>
            </a:r>
            <a:endParaRPr lang="en-US" sz="1500" dirty="0"/>
          </a:p>
          <a:p>
            <a:pPr marL="0" indent="0" algn="ctr">
              <a:spcBef>
                <a:spcPts val="0"/>
              </a:spcBef>
              <a:spcAft>
                <a:spcPts val="0"/>
              </a:spcAft>
              <a:buNone/>
            </a:pPr>
            <a:r>
              <a:rPr lang="en-US" sz="600" b="0" dirty="0">
                <a:solidFill>
                  <a:srgbClr val="F472B6"/>
                </a:solidFill>
                <a:latin typeface="Segoe UI"/>
                <a:ea typeface="Segoe UI"/>
                <a:cs typeface="Segoe UI"/>
              </a:rPr>
              <a:t> </a:t>
            </a:r>
            <a:endParaRPr lang="en-US" sz="600" dirty="0"/>
          </a:p>
          <a:p>
            <a:pPr marL="0" indent="0" algn="ctr">
              <a:spcBef>
                <a:spcPts val="0"/>
              </a:spcBef>
              <a:spcAft>
                <a:spcPts val="0"/>
              </a:spcAft>
              <a:buNone/>
            </a:pPr>
            <a:r>
              <a:rPr lang="en-US" sz="1150" b="0" dirty="0">
                <a:solidFill>
                  <a:srgbClr val="CBD5E1"/>
                </a:solidFill>
                <a:latin typeface="Segoe UI"/>
                <a:ea typeface="Segoe UI"/>
                <a:cs typeface="Segoe UI"/>
              </a:rPr>
              <a:t>objects ⇄ JSON with System.Text.Json</a:t>
            </a:r>
            <a:endParaRPr lang="en-US" sz="1150" dirty="0"/>
          </a:p>
        </p:txBody>
      </p:sp>
      <p:sp>
        <p:nvSpPr>
          <p:cNvPr id="105" name="c4"/>
          <p:cNvSpPr/>
          <p:nvPr/>
        </p:nvSpPr>
        <p:spPr>
          <a:xfrm>
            <a:off x="9577426" y="1783080"/>
            <a:ext cx="2052828" cy="2834640"/>
          </a:xfrm>
          <a:prstGeom prst="roundRect">
            <a:avLst>
              <a:gd name="adj" fmla="val 12000"/>
            </a:avLst>
          </a:prstGeom>
          <a:solidFill>
            <a:srgbClr val="111B2E"/>
          </a:solidFill>
          <a:ln w="12700">
            <a:solidFill>
              <a:srgbClr val="60A5FA"/>
            </a:solidFill>
            <a:prstDash val="solid"/>
          </a:ln>
        </p:spPr>
        <p:txBody>
          <a:bodyPr wrap="square" lIns="137160" tIns="228600" rIns="137160" bIns="91440" rtlCol="0" anchor="t">
            <a:noAutofit/>
          </a:bodyPr>
          <a:lstStyle/>
          <a:p>
            <a:pPr marL="0" indent="0" algn="ctr">
              <a:spcBef>
                <a:spcPts val="0"/>
              </a:spcBef>
              <a:spcAft>
                <a:spcPts val="0"/>
              </a:spcAft>
              <a:buNone/>
            </a:pPr>
            <a:r>
              <a:rPr lang="en-US" sz="3600" b="1" dirty="0">
                <a:solidFill>
                  <a:srgbClr val="60A5FA"/>
                </a:solidFill>
                <a:latin typeface="Segoe UI"/>
                <a:ea typeface="Segoe UI"/>
                <a:cs typeface="Segoe UI"/>
              </a:rPr>
              <a:t>05</a:t>
            </a:r>
            <a:endParaRPr lang="en-US" sz="3600" dirty="0"/>
          </a:p>
          <a:p>
            <a:pPr marL="0" indent="0" algn="ctr">
              <a:spcBef>
                <a:spcPts val="0"/>
              </a:spcBef>
              <a:spcAft>
                <a:spcPts val="0"/>
              </a:spcAft>
              <a:buNone/>
            </a:pPr>
            <a:r>
              <a:rPr lang="en-US" sz="600" b="0" dirty="0">
                <a:solidFill>
                  <a:srgbClr val="60A5FA"/>
                </a:solidFill>
                <a:latin typeface="Segoe UI"/>
                <a:ea typeface="Segoe UI"/>
                <a:cs typeface="Segoe UI"/>
              </a:rPr>
              <a:t> </a:t>
            </a:r>
            <a:endParaRPr lang="en-US" sz="600" dirty="0"/>
          </a:p>
          <a:p>
            <a:pPr marL="0" indent="0" algn="ctr">
              <a:spcBef>
                <a:spcPts val="0"/>
              </a:spcBef>
              <a:spcAft>
                <a:spcPts val="0"/>
              </a:spcAft>
              <a:buNone/>
            </a:pPr>
            <a:r>
              <a:rPr lang="en-US" sz="1500" b="1" dirty="0">
                <a:solidFill>
                  <a:srgbClr val="FFFFFF"/>
                </a:solidFill>
                <a:latin typeface="Segoe UI"/>
                <a:ea typeface="Segoe UI"/>
                <a:cs typeface="Segoe UI"/>
              </a:rPr>
              <a:t>Lab</a:t>
            </a:r>
            <a:endParaRPr lang="en-US" sz="1500" dirty="0"/>
          </a:p>
          <a:p>
            <a:pPr marL="0" indent="0" algn="ctr">
              <a:spcBef>
                <a:spcPts val="0"/>
              </a:spcBef>
              <a:spcAft>
                <a:spcPts val="0"/>
              </a:spcAft>
              <a:buNone/>
            </a:pPr>
            <a:r>
              <a:rPr lang="en-US" sz="600" b="0" dirty="0">
                <a:solidFill>
                  <a:srgbClr val="60A5FA"/>
                </a:solidFill>
                <a:latin typeface="Segoe UI"/>
                <a:ea typeface="Segoe UI"/>
                <a:cs typeface="Segoe UI"/>
              </a:rPr>
              <a:t> </a:t>
            </a:r>
            <a:endParaRPr lang="en-US" sz="600" dirty="0"/>
          </a:p>
          <a:p>
            <a:pPr marL="0" indent="0" algn="ctr">
              <a:spcBef>
                <a:spcPts val="0"/>
              </a:spcBef>
              <a:spcAft>
                <a:spcPts val="0"/>
              </a:spcAft>
              <a:buNone/>
            </a:pPr>
            <a:r>
              <a:rPr lang="en-US" sz="1150" b="0" dirty="0">
                <a:solidFill>
                  <a:srgbClr val="CBD5E1"/>
                </a:solidFill>
                <a:latin typeface="Segoe UI"/>
                <a:ea typeface="Segoe UI"/>
                <a:cs typeface="Segoe UI"/>
              </a:rPr>
              <a:t>employees.json: add, read, update, delete, safely</a:t>
            </a:r>
            <a:endParaRPr lang="en-US" sz="1150" dirty="0"/>
          </a:p>
        </p:txBody>
      </p:sp>
      <p:sp>
        <p:nvSpPr>
          <p:cNvPr id="106" name="b"/>
          <p:cNvSpPr/>
          <p:nvPr/>
        </p:nvSpPr>
        <p:spPr>
          <a:xfrm>
            <a:off x="543154" y="5074920"/>
            <a:ext cx="11087100" cy="749808"/>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Running example: SwiftBite saves its employees to employees.json and reads them back after a restart.</a:t>
            </a:r>
            <a:endParaRPr lang="en-US" sz="1600" dirty="0"/>
          </a:p>
        </p:txBody>
      </p:sp>
    </p:spTree>
    <p:extLst>
      <p:ext uri="{BB962C8B-B14F-4D97-AF65-F5344CB8AC3E}">
        <p14:creationId xmlns:p14="http://schemas.microsoft.com/office/powerpoint/2010/main" val="505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400"/>
                                        <p:tgtEl>
                                          <p:spTgt spid="10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400"/>
                                        <p:tgtEl>
                                          <p:spTgt spid="1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fade">
                                      <p:cBhvr>
                                        <p:cTn id="32"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PATHS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Paths: Absolute, Relative and the Current Directory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PATHS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93</a:t>
            </a:r>
            <a:endParaRPr lang="en-US" sz="850" dirty="0"/>
          </a:p>
        </p:txBody>
      </p:sp>
      <p:sp>
        <p:nvSpPr>
          <p:cNvPr id="101" name="h1"/>
          <p:cNvSpPr txBox="1"/>
          <p:nvPr/>
        </p:nvSpPr>
        <p:spPr>
          <a:xfrm>
            <a:off x="543154" y="1444752"/>
            <a:ext cx="4343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Segoe UI"/>
                <a:ea typeface="Segoe UI"/>
                <a:cs typeface="Segoe UI"/>
              </a:rPr>
              <a:t>1  WHAT IS A PATH?</a:t>
            </a:r>
            <a:endParaRPr lang="en-US" sz="1150" dirty="0"/>
          </a:p>
        </p:txBody>
      </p:sp>
      <p:sp>
        <p:nvSpPr>
          <p:cNvPr id="102" name="d1"/>
          <p:cNvSpPr txBox="1"/>
          <p:nvPr/>
        </p:nvSpPr>
        <p:spPr>
          <a:xfrm>
            <a:off x="543154" y="1719072"/>
            <a:ext cx="4343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The address of a file or folder in the file system.</a:t>
            </a:r>
            <a:endParaRPr lang="en-US" sz="1000" dirty="0"/>
          </a:p>
        </p:txBody>
      </p:sp>
      <p:grpSp>
        <p:nvGrpSpPr>
          <p:cNvPr id="118" name="tree"/>
          <p:cNvGrpSpPr/>
          <p:nvPr/>
        </p:nvGrpSpPr>
        <p:grpSpPr>
          <a:xfrm>
            <a:off x="543154" y="2011680"/>
            <a:ext cx="4343400" cy="1875900"/>
            <a:chOff x="543154" y="2011680"/>
            <a:chExt cx="4343400" cy="1875900"/>
          </a:xfrm>
        </p:grpSpPr>
        <p:sp>
          <p:nvSpPr>
            <p:cNvPr id="103" name="tree_win"/>
            <p:cNvSpPr/>
            <p:nvPr/>
          </p:nvSpPr>
          <p:spPr>
            <a:xfrm>
              <a:off x="543154" y="2011680"/>
              <a:ext cx="4343400" cy="1875900"/>
            </a:xfrm>
            <a:prstGeom prst="roundRect">
              <a:avLst>
                <a:gd name="adj" fmla="val 3654"/>
              </a:avLst>
            </a:prstGeom>
            <a:solidFill>
              <a:srgbClr val="060D18"/>
            </a:solidFill>
            <a:ln w="12700">
              <a:solidFill>
                <a:srgbClr val="1E3A5F"/>
              </a:solidFill>
              <a:prstDash val="solid"/>
            </a:ln>
          </p:spPr>
          <p:txBody>
            <a:bodyPr/>
            <a:lstStyle/>
            <a:p>
              <a:endParaRPr lang="en-US"/>
            </a:p>
          </p:txBody>
        </p:sp>
        <p:sp>
          <p:nvSpPr>
            <p:cNvPr id="104" name="tree_bar"/>
            <p:cNvSpPr/>
            <p:nvPr/>
          </p:nvSpPr>
          <p:spPr>
            <a:xfrm>
              <a:off x="543154" y="2011680"/>
              <a:ext cx="4343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tree_barfill"/>
            <p:cNvSpPr/>
            <p:nvPr/>
          </p:nvSpPr>
          <p:spPr>
            <a:xfrm>
              <a:off x="543154" y="2183130"/>
              <a:ext cx="4343400" cy="171450"/>
            </a:xfrm>
            <a:prstGeom prst="rect">
              <a:avLst/>
            </a:prstGeom>
            <a:solidFill>
              <a:srgbClr val="0A1220"/>
            </a:solidFill>
            <a:ln w="12700">
              <a:solidFill>
                <a:srgbClr val="0A1220"/>
              </a:solidFill>
              <a:prstDash val="solid"/>
            </a:ln>
          </p:spPr>
          <p:txBody>
            <a:bodyPr/>
            <a:lstStyle/>
            <a:p>
              <a:endParaRPr lang="en-US"/>
            </a:p>
          </p:txBody>
        </p:sp>
        <p:sp>
          <p:nvSpPr>
            <p:cNvPr id="106" name="tree_dot0"/>
            <p:cNvSpPr/>
            <p:nvPr/>
          </p:nvSpPr>
          <p:spPr>
            <a:xfrm>
              <a:off x="705002" y="2135490"/>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tree_dot1"/>
            <p:cNvSpPr/>
            <p:nvPr/>
          </p:nvSpPr>
          <p:spPr>
            <a:xfrm>
              <a:off x="890626" y="2135490"/>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tree_dot2"/>
            <p:cNvSpPr/>
            <p:nvPr/>
          </p:nvSpPr>
          <p:spPr>
            <a:xfrm>
              <a:off x="1076250" y="2135490"/>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tree_tab"/>
            <p:cNvSpPr/>
            <p:nvPr/>
          </p:nvSpPr>
          <p:spPr>
            <a:xfrm>
              <a:off x="1324051" y="205922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Project</a:t>
              </a:r>
              <a:endParaRPr lang="en-US" sz="950" dirty="0"/>
            </a:p>
          </p:txBody>
        </p:sp>
        <p:sp>
          <p:nvSpPr>
            <p:cNvPr id="110" name="tree_L00"/>
            <p:cNvSpPr txBox="1"/>
            <p:nvPr/>
          </p:nvSpPr>
          <p:spPr>
            <a:xfrm>
              <a:off x="771754" y="2487580"/>
              <a:ext cx="40434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ConsoleApp30</a:t>
              </a:r>
              <a:endParaRPr lang="en-US" sz="880" dirty="0"/>
            </a:p>
          </p:txBody>
        </p:sp>
        <p:sp>
          <p:nvSpPr>
            <p:cNvPr id="111" name="tree_L01"/>
            <p:cNvSpPr txBox="1"/>
            <p:nvPr/>
          </p:nvSpPr>
          <p:spPr>
            <a:xfrm>
              <a:off x="771754" y="2647580"/>
              <a:ext cx="40434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Program.cs</a:t>
              </a:r>
              <a:endParaRPr lang="en-US" sz="880" dirty="0"/>
            </a:p>
          </p:txBody>
        </p:sp>
        <p:sp>
          <p:nvSpPr>
            <p:cNvPr id="112" name="tree_L02"/>
            <p:cNvSpPr txBox="1"/>
            <p:nvPr/>
          </p:nvSpPr>
          <p:spPr>
            <a:xfrm>
              <a:off x="771754" y="2807580"/>
              <a:ext cx="40434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Data</a:t>
              </a:r>
              <a:endParaRPr lang="en-US" sz="880" dirty="0"/>
            </a:p>
          </p:txBody>
        </p:sp>
        <p:sp>
          <p:nvSpPr>
            <p:cNvPr id="113" name="tree_L03"/>
            <p:cNvSpPr txBox="1"/>
            <p:nvPr/>
          </p:nvSpPr>
          <p:spPr>
            <a:xfrm>
              <a:off x="771754" y="2967580"/>
              <a:ext cx="40434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 students.json</a:t>
              </a:r>
              <a:endParaRPr lang="en-US" sz="880" dirty="0"/>
            </a:p>
          </p:txBody>
        </p:sp>
        <p:sp>
          <p:nvSpPr>
            <p:cNvPr id="114" name="tree_L04"/>
            <p:cNvSpPr txBox="1"/>
            <p:nvPr/>
          </p:nvSpPr>
          <p:spPr>
            <a:xfrm>
              <a:off x="771754" y="3127580"/>
              <a:ext cx="40434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bin</a:t>
              </a:r>
              <a:endParaRPr lang="en-US" sz="880" dirty="0"/>
            </a:p>
          </p:txBody>
        </p:sp>
        <p:sp>
          <p:nvSpPr>
            <p:cNvPr id="115" name="tree_L05"/>
            <p:cNvSpPr txBox="1"/>
            <p:nvPr/>
          </p:nvSpPr>
          <p:spPr>
            <a:xfrm>
              <a:off x="771754" y="3287580"/>
              <a:ext cx="40434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Debug</a:t>
              </a:r>
              <a:endParaRPr lang="en-US" sz="880" dirty="0"/>
            </a:p>
          </p:txBody>
        </p:sp>
        <p:sp>
          <p:nvSpPr>
            <p:cNvPr id="116" name="tree_L06"/>
            <p:cNvSpPr txBox="1"/>
            <p:nvPr/>
          </p:nvSpPr>
          <p:spPr>
            <a:xfrm>
              <a:off x="771754" y="3447580"/>
              <a:ext cx="404340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80" b="0" dirty="0">
                  <a:solidFill>
                    <a:srgbClr val="E2E8F0"/>
                  </a:solidFill>
                  <a:latin typeface="Consolas"/>
                  <a:ea typeface="Consolas"/>
                  <a:cs typeface="Consolas"/>
                </a:rPr>
                <a:t>└── net10.0</a:t>
              </a:r>
              <a:endParaRPr lang="en-US" sz="880" dirty="0"/>
            </a:p>
          </p:txBody>
        </p:sp>
        <p:sp>
          <p:nvSpPr>
            <p:cNvPr id="117" name="tree_L07"/>
            <p:cNvSpPr txBox="1"/>
            <p:nvPr/>
          </p:nvSpPr>
          <p:spPr>
            <a:xfrm>
              <a:off x="771754" y="3607580"/>
              <a:ext cx="404340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80" b="0" dirty="0">
                  <a:solidFill>
                    <a:srgbClr val="E2E8F0"/>
                  </a:solidFill>
                  <a:latin typeface="Consolas"/>
                  <a:ea typeface="Consolas"/>
                  <a:cs typeface="Consolas"/>
                </a:rPr>
                <a:t>└── ConsoleApp30.exe</a:t>
              </a:r>
              <a:endParaRPr lang="en-US" sz="880" dirty="0"/>
            </a:p>
          </p:txBody>
        </p:sp>
      </p:grpSp>
      <p:sp>
        <p:nvSpPr>
          <p:cNvPr id="119" name="tree_hl3"/>
          <p:cNvSpPr/>
          <p:nvPr/>
        </p:nvSpPr>
        <p:spPr>
          <a:xfrm>
            <a:off x="676656" y="2949292"/>
            <a:ext cx="407640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0" name="h2"/>
          <p:cNvSpPr txBox="1"/>
          <p:nvPr/>
        </p:nvSpPr>
        <p:spPr>
          <a:xfrm>
            <a:off x="543154" y="3950208"/>
            <a:ext cx="4343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BBF24"/>
                </a:solidFill>
                <a:latin typeface="Segoe UI"/>
                <a:ea typeface="Segoe UI"/>
                <a:cs typeface="Segoe UI"/>
              </a:rPr>
              <a:t>2  ABSOLUTE PATH</a:t>
            </a:r>
            <a:endParaRPr lang="en-US" sz="1150" dirty="0"/>
          </a:p>
        </p:txBody>
      </p:sp>
      <p:sp>
        <p:nvSpPr>
          <p:cNvPr id="121" name="abs"/>
          <p:cNvSpPr/>
          <p:nvPr/>
        </p:nvSpPr>
        <p:spPr>
          <a:xfrm>
            <a:off x="543154" y="4224528"/>
            <a:ext cx="4343400" cy="1481328"/>
          </a:xfrm>
          <a:prstGeom prst="roundRect">
            <a:avLst>
              <a:gd name="adj" fmla="val 12000"/>
            </a:avLst>
          </a:prstGeom>
          <a:solidFill>
            <a:srgbClr val="111B2E"/>
          </a:solidFill>
          <a:ln w="12700">
            <a:solidFill>
              <a:srgbClr val="FBBF24"/>
            </a:solidFill>
            <a:prstDash val="solid"/>
          </a:ln>
        </p:spPr>
        <p:txBody>
          <a:bodyPr wrap="square" lIns="164592" tIns="45720" rIns="91440" bIns="4572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The full path from the root</a:t>
            </a:r>
            <a:endParaRPr lang="en-US" sz="1050" dirty="0"/>
          </a:p>
          <a:p>
            <a:pPr marL="0" indent="0" algn="l">
              <a:spcBef>
                <a:spcPts val="0"/>
              </a:spcBef>
              <a:spcAft>
                <a:spcPts val="0"/>
              </a:spcAft>
              <a:buNone/>
            </a:pPr>
            <a:r>
              <a:rPr lang="en-US" sz="950" b="0" dirty="0">
                <a:solidFill>
                  <a:srgbClr val="13D0F7"/>
                </a:solidFill>
                <a:latin typeface="Consolas"/>
                <a:ea typeface="Consolas"/>
                <a:cs typeface="Consolas"/>
              </a:rPr>
              <a:t>@"C:\Projects\ConsoleApp30\Data\students.json"</a:t>
            </a:r>
            <a:endParaRPr lang="en-US" sz="950" dirty="0"/>
          </a:p>
          <a:p>
            <a:pPr marL="0" indent="0" algn="l">
              <a:spcBef>
                <a:spcPts val="0"/>
              </a:spcBef>
              <a:spcAft>
                <a:spcPts val="0"/>
              </a:spcAft>
              <a:buNone/>
            </a:pPr>
            <a:r>
              <a:rPr lang="en-US" sz="1050" b="1" dirty="0">
                <a:solidFill>
                  <a:srgbClr val="34D399"/>
                </a:solidFill>
                <a:latin typeface="Segoe UI"/>
                <a:ea typeface="Segoe UI"/>
                <a:cs typeface="Segoe UI"/>
              </a:rPr>
              <a:t>✓ </a:t>
            </a:r>
            <a:r>
              <a:rPr lang="en-US" sz="1000" b="0" dirty="0">
                <a:solidFill>
                  <a:srgbClr val="CBD5E1"/>
                </a:solidFill>
                <a:latin typeface="Segoe UI"/>
                <a:ea typeface="Segoe UI"/>
                <a:cs typeface="Segoe UI"/>
              </a:rPr>
              <a:t>does not depend on the CWD</a:t>
            </a:r>
            <a:endParaRPr lang="en-US" sz="1050" dirty="0"/>
          </a:p>
          <a:p>
            <a:pPr marL="0" indent="0" algn="l">
              <a:spcBef>
                <a:spcPts val="0"/>
              </a:spcBef>
              <a:spcAft>
                <a:spcPts val="0"/>
              </a:spcAft>
              <a:buNone/>
            </a:pPr>
            <a:r>
              <a:rPr lang="en-US" sz="1050" b="1" dirty="0">
                <a:solidFill>
                  <a:srgbClr val="F87171"/>
                </a:solidFill>
                <a:latin typeface="Segoe UI"/>
                <a:ea typeface="Segoe UI"/>
                <a:cs typeface="Segoe UI"/>
              </a:rPr>
              <a:t>✗ </a:t>
            </a:r>
            <a:r>
              <a:rPr lang="en-US" sz="1000" b="0" dirty="0">
                <a:solidFill>
                  <a:srgbClr val="CBD5E1"/>
                </a:solidFill>
                <a:latin typeface="Segoe UI"/>
                <a:ea typeface="Segoe UI"/>
                <a:cs typeface="Segoe UI"/>
              </a:rPr>
              <a:t>another machine? the path may not exist</a:t>
            </a:r>
            <a:endParaRPr lang="en-US" sz="1050" dirty="0"/>
          </a:p>
        </p:txBody>
      </p:sp>
      <p:sp>
        <p:nvSpPr>
          <p:cNvPr id="122" name="h3"/>
          <p:cNvSpPr txBox="1"/>
          <p:nvPr/>
        </p:nvSpPr>
        <p:spPr>
          <a:xfrm>
            <a:off x="5160874" y="1444752"/>
            <a:ext cx="64693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A78BFA"/>
                </a:solidFill>
                <a:latin typeface="Segoe UI"/>
                <a:ea typeface="Segoe UI"/>
                <a:cs typeface="Segoe UI"/>
              </a:rPr>
              <a:t>3  CURRENT WORKING DIRECTORY (CWD)</a:t>
            </a:r>
            <a:endParaRPr lang="en-US" sz="1150" dirty="0"/>
          </a:p>
        </p:txBody>
      </p:sp>
      <p:grpSp>
        <p:nvGrpSpPr>
          <p:cNvPr id="132" name="cwd"/>
          <p:cNvGrpSpPr/>
          <p:nvPr/>
        </p:nvGrpSpPr>
        <p:grpSpPr>
          <a:xfrm>
            <a:off x="5160874" y="1737360"/>
            <a:ext cx="6469380" cy="925900"/>
            <a:chOff x="5160874" y="1737360"/>
            <a:chExt cx="6469380" cy="925900"/>
          </a:xfrm>
        </p:grpSpPr>
        <p:sp>
          <p:nvSpPr>
            <p:cNvPr id="123" name="cwd_win"/>
            <p:cNvSpPr/>
            <p:nvPr/>
          </p:nvSpPr>
          <p:spPr>
            <a:xfrm>
              <a:off x="5160874" y="1737360"/>
              <a:ext cx="6469380" cy="925900"/>
            </a:xfrm>
            <a:prstGeom prst="roundRect">
              <a:avLst>
                <a:gd name="adj" fmla="val 7403"/>
              </a:avLst>
            </a:prstGeom>
            <a:solidFill>
              <a:srgbClr val="060D18"/>
            </a:solidFill>
            <a:ln w="12700">
              <a:solidFill>
                <a:srgbClr val="1E3A5F"/>
              </a:solidFill>
              <a:prstDash val="solid"/>
            </a:ln>
          </p:spPr>
          <p:txBody>
            <a:bodyPr/>
            <a:lstStyle/>
            <a:p>
              <a:endParaRPr lang="en-US"/>
            </a:p>
          </p:txBody>
        </p:sp>
        <p:sp>
          <p:nvSpPr>
            <p:cNvPr id="124" name="cwd_bar"/>
            <p:cNvSpPr/>
            <p:nvPr/>
          </p:nvSpPr>
          <p:spPr>
            <a:xfrm>
              <a:off x="5160874" y="1737360"/>
              <a:ext cx="64693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cwd_barfill"/>
            <p:cNvSpPr/>
            <p:nvPr/>
          </p:nvSpPr>
          <p:spPr>
            <a:xfrm>
              <a:off x="5160874" y="1908810"/>
              <a:ext cx="6469380" cy="171450"/>
            </a:xfrm>
            <a:prstGeom prst="rect">
              <a:avLst/>
            </a:prstGeom>
            <a:solidFill>
              <a:srgbClr val="0A1220"/>
            </a:solidFill>
            <a:ln w="12700">
              <a:solidFill>
                <a:srgbClr val="0A1220"/>
              </a:solidFill>
              <a:prstDash val="solid"/>
            </a:ln>
          </p:spPr>
          <p:txBody>
            <a:bodyPr/>
            <a:lstStyle/>
            <a:p>
              <a:endParaRPr lang="en-US"/>
            </a:p>
          </p:txBody>
        </p:sp>
        <p:sp>
          <p:nvSpPr>
            <p:cNvPr id="126" name="cwd_dot0"/>
            <p:cNvSpPr/>
            <p:nvPr/>
          </p:nvSpPr>
          <p:spPr>
            <a:xfrm>
              <a:off x="5322722" y="1861170"/>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cwd_dot1"/>
            <p:cNvSpPr/>
            <p:nvPr/>
          </p:nvSpPr>
          <p:spPr>
            <a:xfrm>
              <a:off x="5508346" y="1861170"/>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cwd_dot2"/>
            <p:cNvSpPr/>
            <p:nvPr/>
          </p:nvSpPr>
          <p:spPr>
            <a:xfrm>
              <a:off x="5693970" y="1861170"/>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cwd_tab"/>
            <p:cNvSpPr/>
            <p:nvPr/>
          </p:nvSpPr>
          <p:spPr>
            <a:xfrm>
              <a:off x="5941771" y="1784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30" name="cwd_L00"/>
            <p:cNvSpPr txBox="1"/>
            <p:nvPr/>
          </p:nvSpPr>
          <p:spPr>
            <a:xfrm>
              <a:off x="5389474" y="2213260"/>
              <a:ext cx="616938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Console.WriteLine(Environment.CurrentDirectory);</a:t>
              </a:r>
              <a:endParaRPr lang="en-US" sz="880" dirty="0"/>
            </a:p>
          </p:txBody>
        </p:sp>
        <p:sp>
          <p:nvSpPr>
            <p:cNvPr id="131" name="cwd_L01"/>
            <p:cNvSpPr txBox="1"/>
            <p:nvPr/>
          </p:nvSpPr>
          <p:spPr>
            <a:xfrm>
              <a:off x="5389474" y="2378260"/>
              <a:ext cx="616938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Environment.CurrentDirectory = </a:t>
              </a:r>
              <a:r>
                <a:rPr lang="en-US" sz="880" b="0" dirty="0">
                  <a:solidFill>
                    <a:srgbClr val="F0A98B"/>
                  </a:solidFill>
                  <a:latin typeface="Consolas"/>
                  <a:ea typeface="Consolas"/>
                  <a:cs typeface="Consolas"/>
                </a:rPr>
                <a:t>@"C:\Projects"</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code can even change it</a:t>
              </a:r>
              <a:endParaRPr lang="en-US" sz="880" dirty="0"/>
            </a:p>
          </p:txBody>
        </p:sp>
      </p:grpSp>
      <p:sp>
        <p:nvSpPr>
          <p:cNvPr id="133" name="cwd_hl1"/>
          <p:cNvSpPr/>
          <p:nvPr/>
        </p:nvSpPr>
        <p:spPr>
          <a:xfrm>
            <a:off x="5294376" y="2359972"/>
            <a:ext cx="6202380" cy="201576"/>
          </a:xfrm>
          <a:prstGeom prst="rect">
            <a:avLst/>
          </a:prstGeom>
          <a:solidFill>
            <a:srgbClr val="A78BFA">
              <a:alpha val="15000"/>
            </a:srgbClr>
          </a:solidFill>
          <a:ln w="12700">
            <a:solidFill>
              <a:srgbClr val="A78BFA"/>
            </a:solidFill>
            <a:prstDash val="solid"/>
          </a:ln>
        </p:spPr>
        <p:txBody>
          <a:bodyPr/>
          <a:lstStyle/>
          <a:p>
            <a:endParaRPr lang="en-US"/>
          </a:p>
        </p:txBody>
      </p:sp>
      <p:grpSp>
        <p:nvGrpSpPr>
          <p:cNvPr id="136" name="tc_h"/>
          <p:cNvGrpSpPr/>
          <p:nvPr/>
        </p:nvGrpSpPr>
        <p:grpSpPr>
          <a:xfrm>
            <a:off x="5307178" y="2670048"/>
            <a:ext cx="6286500" cy="256032"/>
            <a:chOff x="5307178" y="2670048"/>
            <a:chExt cx="6286500" cy="256032"/>
          </a:xfrm>
        </p:grpSpPr>
        <p:sp>
          <p:nvSpPr>
            <p:cNvPr id="134" name="tc_h0"/>
            <p:cNvSpPr txBox="1"/>
            <p:nvPr/>
          </p:nvSpPr>
          <p:spPr>
            <a:xfrm>
              <a:off x="5307178" y="2670048"/>
              <a:ext cx="19202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STARTED FROM</a:t>
              </a:r>
              <a:endParaRPr lang="en-US" sz="1000" dirty="0"/>
            </a:p>
          </p:txBody>
        </p:sp>
        <p:sp>
          <p:nvSpPr>
            <p:cNvPr id="135" name="tc_h1"/>
            <p:cNvSpPr txBox="1"/>
            <p:nvPr/>
          </p:nvSpPr>
          <p:spPr>
            <a:xfrm>
              <a:off x="7410298" y="2670048"/>
              <a:ext cx="41833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CWD</a:t>
              </a:r>
              <a:endParaRPr lang="en-US" sz="1000" dirty="0"/>
            </a:p>
          </p:txBody>
        </p:sp>
      </p:grpSp>
      <p:grpSp>
        <p:nvGrpSpPr>
          <p:cNvPr id="140" name="tc_r0"/>
          <p:cNvGrpSpPr/>
          <p:nvPr/>
        </p:nvGrpSpPr>
        <p:grpSpPr>
          <a:xfrm>
            <a:off x="5160874" y="2971800"/>
            <a:ext cx="6469380" cy="256032"/>
            <a:chOff x="5160874" y="2971800"/>
            <a:chExt cx="6469380" cy="256032"/>
          </a:xfrm>
        </p:grpSpPr>
        <p:sp>
          <p:nvSpPr>
            <p:cNvPr id="137" name="tc_r0_bg"/>
            <p:cNvSpPr/>
            <p:nvPr/>
          </p:nvSpPr>
          <p:spPr>
            <a:xfrm>
              <a:off x="5160874" y="2971800"/>
              <a:ext cx="6469380" cy="25603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8" name="tc_r0_c0"/>
            <p:cNvSpPr txBox="1"/>
            <p:nvPr/>
          </p:nvSpPr>
          <p:spPr>
            <a:xfrm>
              <a:off x="5307178" y="2971800"/>
              <a:ext cx="19202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E2E8F0"/>
                  </a:solidFill>
                  <a:latin typeface="Segoe UI"/>
                  <a:ea typeface="Segoe UI"/>
                  <a:cs typeface="Segoe UI"/>
                </a:rPr>
                <a:t>Visual Studio</a:t>
              </a:r>
              <a:endParaRPr lang="en-US" sz="1000" dirty="0"/>
            </a:p>
          </p:txBody>
        </p:sp>
        <p:sp>
          <p:nvSpPr>
            <p:cNvPr id="139" name="tc_r0_c1"/>
            <p:cNvSpPr txBox="1"/>
            <p:nvPr/>
          </p:nvSpPr>
          <p:spPr>
            <a:xfrm>
              <a:off x="7410298" y="2971800"/>
              <a:ext cx="41833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13D0F7"/>
                  </a:solidFill>
                  <a:latin typeface="Consolas"/>
                  <a:ea typeface="Consolas"/>
                  <a:cs typeface="Consolas"/>
                </a:rPr>
                <a:t>…\ConsoleApp30\bin\Debug\net10.0</a:t>
              </a:r>
              <a:endParaRPr lang="en-US" sz="950" dirty="0"/>
            </a:p>
          </p:txBody>
        </p:sp>
      </p:grpSp>
      <p:grpSp>
        <p:nvGrpSpPr>
          <p:cNvPr id="144" name="tc_r1"/>
          <p:cNvGrpSpPr/>
          <p:nvPr/>
        </p:nvGrpSpPr>
        <p:grpSpPr>
          <a:xfrm>
            <a:off x="5160874" y="3264408"/>
            <a:ext cx="6469380" cy="256032"/>
            <a:chOff x="5160874" y="3264408"/>
            <a:chExt cx="6469380" cy="256032"/>
          </a:xfrm>
        </p:grpSpPr>
        <p:sp>
          <p:nvSpPr>
            <p:cNvPr id="141" name="tc_r1_bg"/>
            <p:cNvSpPr/>
            <p:nvPr/>
          </p:nvSpPr>
          <p:spPr>
            <a:xfrm>
              <a:off x="5160874" y="3264408"/>
              <a:ext cx="6469380" cy="25603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2" name="tc_r1_c0"/>
            <p:cNvSpPr txBox="1"/>
            <p:nvPr/>
          </p:nvSpPr>
          <p:spPr>
            <a:xfrm>
              <a:off x="5307178" y="3264408"/>
              <a:ext cx="19202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E2E8F0"/>
                  </a:solidFill>
                  <a:latin typeface="Segoe UI"/>
                  <a:ea typeface="Segoe UI"/>
                  <a:cs typeface="Segoe UI"/>
                </a:rPr>
                <a:t>dotnet run (terminal)</a:t>
              </a:r>
              <a:endParaRPr lang="en-US" sz="1000" dirty="0"/>
            </a:p>
          </p:txBody>
        </p:sp>
        <p:sp>
          <p:nvSpPr>
            <p:cNvPr id="143" name="tc_r1_c1"/>
            <p:cNvSpPr txBox="1"/>
            <p:nvPr/>
          </p:nvSpPr>
          <p:spPr>
            <a:xfrm>
              <a:off x="7410298" y="3264408"/>
              <a:ext cx="41833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13D0F7"/>
                  </a:solidFill>
                  <a:latin typeface="Consolas"/>
                  <a:ea typeface="Consolas"/>
                  <a:cs typeface="Consolas"/>
                </a:rPr>
                <a:t>the folder you ran it from</a:t>
              </a:r>
              <a:endParaRPr lang="en-US" sz="950" dirty="0"/>
            </a:p>
          </p:txBody>
        </p:sp>
      </p:grpSp>
      <p:grpSp>
        <p:nvGrpSpPr>
          <p:cNvPr id="148" name="tc_r2"/>
          <p:cNvGrpSpPr/>
          <p:nvPr/>
        </p:nvGrpSpPr>
        <p:grpSpPr>
          <a:xfrm>
            <a:off x="5160874" y="3557016"/>
            <a:ext cx="6469380" cy="256032"/>
            <a:chOff x="5160874" y="3557016"/>
            <a:chExt cx="6469380" cy="256032"/>
          </a:xfrm>
        </p:grpSpPr>
        <p:sp>
          <p:nvSpPr>
            <p:cNvPr id="145" name="tc_r2_bg"/>
            <p:cNvSpPr/>
            <p:nvPr/>
          </p:nvSpPr>
          <p:spPr>
            <a:xfrm>
              <a:off x="5160874" y="3557016"/>
              <a:ext cx="6469380" cy="25603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6" name="tc_r2_c0"/>
            <p:cNvSpPr txBox="1"/>
            <p:nvPr/>
          </p:nvSpPr>
          <p:spPr>
            <a:xfrm>
              <a:off x="5307178" y="3557016"/>
              <a:ext cx="19202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E2E8F0"/>
                  </a:solidFill>
                  <a:latin typeface="Segoe UI"/>
                  <a:ea typeface="Segoe UI"/>
                  <a:cs typeface="Segoe UI"/>
                </a:rPr>
                <a:t>Windows Service</a:t>
              </a:r>
              <a:endParaRPr lang="en-US" sz="1000" dirty="0"/>
            </a:p>
          </p:txBody>
        </p:sp>
        <p:sp>
          <p:nvSpPr>
            <p:cNvPr id="147" name="tc_r2_c1"/>
            <p:cNvSpPr txBox="1"/>
            <p:nvPr/>
          </p:nvSpPr>
          <p:spPr>
            <a:xfrm>
              <a:off x="7410298" y="3557016"/>
              <a:ext cx="41833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87171"/>
                  </a:solidFill>
                  <a:latin typeface="Consolas"/>
                  <a:ea typeface="Consolas"/>
                  <a:cs typeface="Consolas"/>
                </a:rPr>
                <a:t>C:\Windows\System32</a:t>
              </a:r>
              <a:endParaRPr lang="en-US" sz="950" dirty="0"/>
            </a:p>
          </p:txBody>
        </p:sp>
      </p:grpSp>
      <p:grpSp>
        <p:nvGrpSpPr>
          <p:cNvPr id="152" name="tc_r3"/>
          <p:cNvGrpSpPr/>
          <p:nvPr/>
        </p:nvGrpSpPr>
        <p:grpSpPr>
          <a:xfrm>
            <a:off x="5160874" y="3849624"/>
            <a:ext cx="6469380" cy="256032"/>
            <a:chOff x="5160874" y="3849624"/>
            <a:chExt cx="6469380" cy="256032"/>
          </a:xfrm>
        </p:grpSpPr>
        <p:sp>
          <p:nvSpPr>
            <p:cNvPr id="149" name="tc_r3_bg"/>
            <p:cNvSpPr/>
            <p:nvPr/>
          </p:nvSpPr>
          <p:spPr>
            <a:xfrm>
              <a:off x="5160874" y="3849624"/>
              <a:ext cx="6469380" cy="25603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50" name="tc_r3_c0"/>
            <p:cNvSpPr txBox="1"/>
            <p:nvPr/>
          </p:nvSpPr>
          <p:spPr>
            <a:xfrm>
              <a:off x="5307178" y="3849624"/>
              <a:ext cx="19202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E2E8F0"/>
                  </a:solidFill>
                  <a:latin typeface="Segoe UI"/>
                  <a:ea typeface="Segoe UI"/>
                  <a:cs typeface="Segoe UI"/>
                </a:rPr>
                <a:t>Docker</a:t>
              </a:r>
              <a:endParaRPr lang="en-US" sz="1000" dirty="0"/>
            </a:p>
          </p:txBody>
        </p:sp>
        <p:sp>
          <p:nvSpPr>
            <p:cNvPr id="151" name="tc_r3_c1"/>
            <p:cNvSpPr txBox="1"/>
            <p:nvPr/>
          </p:nvSpPr>
          <p:spPr>
            <a:xfrm>
              <a:off x="7410298" y="3849624"/>
              <a:ext cx="41833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13D0F7"/>
                  </a:solidFill>
                  <a:latin typeface="Consolas"/>
                  <a:ea typeface="Consolas"/>
                  <a:cs typeface="Consolas"/>
                </a:rPr>
                <a:t>the image WORKDIR</a:t>
              </a:r>
              <a:endParaRPr lang="en-US" sz="950" dirty="0"/>
            </a:p>
          </p:txBody>
        </p:sp>
      </p:grpSp>
      <p:sp>
        <p:nvSpPr>
          <p:cNvPr id="153" name="h4"/>
          <p:cNvSpPr txBox="1"/>
          <p:nvPr/>
        </p:nvSpPr>
        <p:spPr>
          <a:xfrm>
            <a:off x="5160874" y="4114800"/>
            <a:ext cx="64693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Segoe UI"/>
                <a:ea typeface="Segoe UI"/>
                <a:cs typeface="Segoe UI"/>
              </a:rPr>
              <a:t>4  RELATIVE PATH = CWD + PATH</a:t>
            </a:r>
            <a:endParaRPr lang="en-US" sz="1150" dirty="0"/>
          </a:p>
        </p:txBody>
      </p:sp>
      <p:sp>
        <p:nvSpPr>
          <p:cNvPr id="154" name="f0"/>
          <p:cNvSpPr/>
          <p:nvPr/>
        </p:nvSpPr>
        <p:spPr>
          <a:xfrm>
            <a:off x="5160874" y="4407408"/>
            <a:ext cx="2004060" cy="640080"/>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CWD</a:t>
            </a:r>
            <a:endParaRPr lang="en-US" sz="1000" dirty="0"/>
          </a:p>
          <a:p>
            <a:pPr marL="0" indent="0" algn="ctr">
              <a:spcBef>
                <a:spcPts val="0"/>
              </a:spcBef>
              <a:spcAft>
                <a:spcPts val="0"/>
              </a:spcAft>
              <a:buNone/>
            </a:pPr>
            <a:r>
              <a:rPr lang="en-US" sz="850" b="0" dirty="0">
                <a:solidFill>
                  <a:srgbClr val="E2E8F0"/>
                </a:solidFill>
                <a:latin typeface="Consolas"/>
                <a:ea typeface="Consolas"/>
                <a:cs typeface="Consolas"/>
              </a:rPr>
              <a:t>…\bin\Debug\net10.0</a:t>
            </a:r>
            <a:endParaRPr lang="en-US" sz="850" dirty="0"/>
          </a:p>
        </p:txBody>
      </p:sp>
      <p:cxnSp>
        <p:nvCxnSpPr>
          <p:cNvPr id="155" name="fa0"/>
          <p:cNvCxnSpPr/>
          <p:nvPr/>
        </p:nvCxnSpPr>
        <p:spPr>
          <a:xfrm>
            <a:off x="7183222" y="4727448"/>
            <a:ext cx="192024" cy="0"/>
          </a:xfrm>
          <a:prstGeom prst="line">
            <a:avLst/>
          </a:prstGeom>
          <a:ln w="28575">
            <a:solidFill>
              <a:srgbClr val="94A3B8"/>
            </a:solidFill>
            <a:tailEnd type="triangle" w="med" len="med"/>
          </a:ln>
        </p:spPr>
      </p:cxnSp>
      <p:sp>
        <p:nvSpPr>
          <p:cNvPr id="156" name="f1"/>
          <p:cNvSpPr/>
          <p:nvPr/>
        </p:nvSpPr>
        <p:spPr>
          <a:xfrm>
            <a:off x="7393534" y="4407408"/>
            <a:ext cx="2004060" cy="64008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 relative</a:t>
            </a:r>
            <a:endParaRPr lang="en-US" sz="1000" dirty="0"/>
          </a:p>
          <a:p>
            <a:pPr marL="0" indent="0" algn="ctr">
              <a:spcBef>
                <a:spcPts val="0"/>
              </a:spcBef>
              <a:spcAft>
                <a:spcPts val="0"/>
              </a:spcAft>
              <a:buNone/>
            </a:pPr>
            <a:r>
              <a:rPr lang="en-US" sz="850" b="0" dirty="0">
                <a:solidFill>
                  <a:srgbClr val="E2E8F0"/>
                </a:solidFill>
                <a:latin typeface="Consolas"/>
                <a:ea typeface="Consolas"/>
                <a:cs typeface="Consolas"/>
              </a:rPr>
              <a:t>Data\students.json</a:t>
            </a:r>
            <a:endParaRPr lang="en-US" sz="850" dirty="0"/>
          </a:p>
        </p:txBody>
      </p:sp>
      <p:cxnSp>
        <p:nvCxnSpPr>
          <p:cNvPr id="157" name="fa1"/>
          <p:cNvCxnSpPr/>
          <p:nvPr/>
        </p:nvCxnSpPr>
        <p:spPr>
          <a:xfrm>
            <a:off x="9415882" y="4727448"/>
            <a:ext cx="192024" cy="0"/>
          </a:xfrm>
          <a:prstGeom prst="line">
            <a:avLst/>
          </a:prstGeom>
          <a:ln w="28575">
            <a:solidFill>
              <a:srgbClr val="94A3B8"/>
            </a:solidFill>
            <a:tailEnd type="triangle" w="med" len="med"/>
          </a:ln>
        </p:spPr>
      </p:cxnSp>
      <p:sp>
        <p:nvSpPr>
          <p:cNvPr id="158" name="f2"/>
          <p:cNvSpPr/>
          <p:nvPr/>
        </p:nvSpPr>
        <p:spPr>
          <a:xfrm>
            <a:off x="9626194" y="4407408"/>
            <a:ext cx="2004060" cy="64008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 full path</a:t>
            </a:r>
            <a:endParaRPr lang="en-US" sz="1000" dirty="0"/>
          </a:p>
          <a:p>
            <a:pPr marL="0" indent="0" algn="ctr">
              <a:spcBef>
                <a:spcPts val="0"/>
              </a:spcBef>
              <a:spcAft>
                <a:spcPts val="0"/>
              </a:spcAft>
              <a:buNone/>
            </a:pPr>
            <a:r>
              <a:rPr lang="en-US" sz="850" b="0" dirty="0">
                <a:solidFill>
                  <a:srgbClr val="E2E8F0"/>
                </a:solidFill>
                <a:latin typeface="Consolas"/>
                <a:ea typeface="Consolas"/>
                <a:cs typeface="Consolas"/>
              </a:rPr>
              <a:t>…\net10.0\Data\students.json</a:t>
            </a:r>
            <a:endParaRPr lang="en-US" sz="850" dirty="0"/>
          </a:p>
        </p:txBody>
      </p:sp>
      <p:sp>
        <p:nvSpPr>
          <p:cNvPr id="159" name="gf"/>
          <p:cNvSpPr/>
          <p:nvPr/>
        </p:nvSpPr>
        <p:spPr>
          <a:xfrm>
            <a:off x="5160874" y="5138928"/>
            <a:ext cx="6469380" cy="566928"/>
          </a:xfrm>
          <a:prstGeom prst="roundRect">
            <a:avLst>
              <a:gd name="adj" fmla="val 12000"/>
            </a:avLst>
          </a:prstGeom>
          <a:solidFill>
            <a:srgbClr val="111B2E"/>
          </a:solidFill>
          <a:ln w="12700">
            <a:solidFill>
              <a:srgbClr val="1E3A5F"/>
            </a:solidFill>
            <a:prstDash val="solid"/>
          </a:ln>
        </p:spPr>
        <p:txBody>
          <a:bodyPr wrap="square" lIns="137160" tIns="27432" rIns="91440" bIns="27432" rtlCol="0" anchor="ctr">
            <a:noAutofit/>
          </a:bodyPr>
          <a:lstStyle/>
          <a:p>
            <a:pPr marL="0" indent="0" algn="l">
              <a:spcBef>
                <a:spcPts val="0"/>
              </a:spcBef>
              <a:spcAft>
                <a:spcPts val="0"/>
              </a:spcAft>
              <a:buNone/>
            </a:pPr>
            <a:r>
              <a:rPr lang="en-US" sz="950" b="0" dirty="0">
                <a:solidFill>
                  <a:srgbClr val="13D0F7"/>
                </a:solidFill>
                <a:latin typeface="Consolas"/>
                <a:ea typeface="Consolas"/>
                <a:cs typeface="Consolas"/>
              </a:rPr>
              <a:t>Path.GetFullPath(@"Data\students.json")</a:t>
            </a:r>
            <a:r>
              <a:rPr lang="en-US" sz="950" b="0" dirty="0">
                <a:solidFill>
                  <a:srgbClr val="CBD5E1"/>
                </a:solidFill>
                <a:latin typeface="Segoe UI"/>
                <a:ea typeface="Segoe UI"/>
                <a:cs typeface="Segoe UI"/>
              </a:rPr>
              <a:t>  shows the full path .NET will use</a:t>
            </a:r>
            <a:endParaRPr lang="en-US" sz="950" dirty="0"/>
          </a:p>
          <a:p>
            <a:pPr marL="0" indent="0" algn="l">
              <a:spcBef>
                <a:spcPts val="0"/>
              </a:spcBef>
              <a:spcAft>
                <a:spcPts val="0"/>
              </a:spcAft>
              <a:buNone/>
            </a:pPr>
            <a:r>
              <a:rPr lang="en-US" sz="1000" b="1" dirty="0">
                <a:solidFill>
                  <a:srgbClr val="F87171"/>
                </a:solidFill>
                <a:latin typeface="Segoe UI"/>
                <a:ea typeface="Segoe UI"/>
                <a:cs typeface="Segoe UI"/>
              </a:rPr>
              <a:t>Not there? </a:t>
            </a:r>
            <a:r>
              <a:rPr lang="en-US" sz="950" b="0" dirty="0">
                <a:solidFill>
                  <a:srgbClr val="F87171"/>
                </a:solidFill>
                <a:latin typeface="Consolas"/>
                <a:ea typeface="Consolas"/>
                <a:cs typeface="Consolas"/>
              </a:rPr>
              <a:t>FileNotFoundException</a:t>
            </a:r>
            <a:r>
              <a:rPr lang="en-US" sz="900" b="0" dirty="0">
                <a:solidFill>
                  <a:srgbClr val="CBD5E1"/>
                </a:solidFill>
                <a:latin typeface="Segoe UI"/>
                <a:ea typeface="Segoe UI"/>
                <a:cs typeface="Segoe UI"/>
              </a:rPr>
              <a:t>  (DirectoryNotFoundException if Data is missing)</a:t>
            </a:r>
            <a:endParaRPr lang="en-US" sz="1000" dirty="0"/>
          </a:p>
        </p:txBody>
      </p:sp>
    </p:spTree>
    <p:extLst>
      <p:ext uri="{BB962C8B-B14F-4D97-AF65-F5344CB8AC3E}">
        <p14:creationId xmlns:p14="http://schemas.microsoft.com/office/powerpoint/2010/main" val="230170569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400"/>
                                        <p:tgtEl>
                                          <p:spTgt spid="102"/>
                                        </p:tgtEl>
                                      </p:cBhvr>
                                    </p:animEffect>
                                  </p:childTnLst>
                                </p:cTn>
                              </p:par>
                              <p:par>
                                <p:cTn id="11" presetID="10" presetClass="entr" presetSubtype="0" fill="hold" nodeType="withEffect">
                                  <p:stCondLst>
                                    <p:cond delay="0"/>
                                  </p:stCondLst>
                                  <p:childTnLst>
                                    <p:set>
                                      <p:cBhvr>
                                        <p:cTn id="12" dur="1" fill="hold">
                                          <p:stCondLst>
                                            <p:cond delay="0"/>
                                          </p:stCondLst>
                                        </p:cTn>
                                        <p:tgtEl>
                                          <p:spTgt spid="118"/>
                                        </p:tgtEl>
                                        <p:attrNameLst>
                                          <p:attrName>style.visibility</p:attrName>
                                        </p:attrNameLst>
                                      </p:cBhvr>
                                      <p:to>
                                        <p:strVal val="visible"/>
                                      </p:to>
                                    </p:set>
                                    <p:animEffect transition="in" filter="fade">
                                      <p:cBhvr>
                                        <p:cTn id="13" dur="400"/>
                                        <p:tgtEl>
                                          <p:spTgt spid="1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9"/>
                                        </p:tgtEl>
                                        <p:attrNameLst>
                                          <p:attrName>style.visibility</p:attrName>
                                        </p:attrNameLst>
                                      </p:cBhvr>
                                      <p:to>
                                        <p:strVal val="visible"/>
                                      </p:to>
                                    </p:set>
                                    <p:animEffect transition="in" filter="fade">
                                      <p:cBhvr>
                                        <p:cTn id="16" dur="400"/>
                                        <p:tgtEl>
                                          <p:spTgt spid="1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0"/>
                                        </p:tgtEl>
                                        <p:attrNameLst>
                                          <p:attrName>style.visibility</p:attrName>
                                        </p:attrNameLst>
                                      </p:cBhvr>
                                      <p:to>
                                        <p:strVal val="visible"/>
                                      </p:to>
                                    </p:set>
                                    <p:animEffect transition="in" filter="fade">
                                      <p:cBhvr>
                                        <p:cTn id="21" dur="400"/>
                                        <p:tgtEl>
                                          <p:spTgt spid="1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fade">
                                      <p:cBhvr>
                                        <p:cTn id="24" dur="400"/>
                                        <p:tgtEl>
                                          <p:spTgt spid="1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2"/>
                                        </p:tgtEl>
                                        <p:attrNameLst>
                                          <p:attrName>style.visibility</p:attrName>
                                        </p:attrNameLst>
                                      </p:cBhvr>
                                      <p:to>
                                        <p:strVal val="visible"/>
                                      </p:to>
                                    </p:set>
                                    <p:animEffect transition="in" filter="fade">
                                      <p:cBhvr>
                                        <p:cTn id="29" dur="400"/>
                                        <p:tgtEl>
                                          <p:spTgt spid="122"/>
                                        </p:tgtEl>
                                      </p:cBhvr>
                                    </p:animEffect>
                                  </p:childTnLst>
                                </p:cTn>
                              </p:par>
                              <p:par>
                                <p:cTn id="30" presetID="10" presetClass="entr" presetSubtype="0" fill="hold" nodeType="withEffect">
                                  <p:stCondLst>
                                    <p:cond delay="0"/>
                                  </p:stCondLst>
                                  <p:childTnLst>
                                    <p:set>
                                      <p:cBhvr>
                                        <p:cTn id="31" dur="1" fill="hold">
                                          <p:stCondLst>
                                            <p:cond delay="0"/>
                                          </p:stCondLst>
                                        </p:cTn>
                                        <p:tgtEl>
                                          <p:spTgt spid="132"/>
                                        </p:tgtEl>
                                        <p:attrNameLst>
                                          <p:attrName>style.visibility</p:attrName>
                                        </p:attrNameLst>
                                      </p:cBhvr>
                                      <p:to>
                                        <p:strVal val="visible"/>
                                      </p:to>
                                    </p:set>
                                    <p:animEffect transition="in" filter="fade">
                                      <p:cBhvr>
                                        <p:cTn id="32" dur="400"/>
                                        <p:tgtEl>
                                          <p:spTgt spid="1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3"/>
                                        </p:tgtEl>
                                        <p:attrNameLst>
                                          <p:attrName>style.visibility</p:attrName>
                                        </p:attrNameLst>
                                      </p:cBhvr>
                                      <p:to>
                                        <p:strVal val="visible"/>
                                      </p:to>
                                    </p:set>
                                    <p:animEffect transition="in" filter="fade">
                                      <p:cBhvr>
                                        <p:cTn id="35" dur="400"/>
                                        <p:tgtEl>
                                          <p:spTgt spid="1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6"/>
                                        </p:tgtEl>
                                        <p:attrNameLst>
                                          <p:attrName>style.visibility</p:attrName>
                                        </p:attrNameLst>
                                      </p:cBhvr>
                                      <p:to>
                                        <p:strVal val="visible"/>
                                      </p:to>
                                    </p:set>
                                    <p:animEffect transition="in" filter="fade">
                                      <p:cBhvr>
                                        <p:cTn id="40" dur="400"/>
                                        <p:tgtEl>
                                          <p:spTgt spid="136"/>
                                        </p:tgtEl>
                                      </p:cBhvr>
                                    </p:animEffect>
                                  </p:childTnLst>
                                </p:cTn>
                              </p:par>
                            </p:childTnLst>
                          </p:cTn>
                        </p:par>
                        <p:par>
                          <p:cTn id="41" fill="hold">
                            <p:stCondLst>
                              <p:cond delay="400"/>
                            </p:stCondLst>
                            <p:childTnLst>
                              <p:par>
                                <p:cTn id="42" presetID="10" presetClass="entr" presetSubtype="0" fill="hold" nodeType="afterEffect">
                                  <p:stCondLst>
                                    <p:cond delay="0"/>
                                  </p:stCondLst>
                                  <p:childTnLst>
                                    <p:set>
                                      <p:cBhvr>
                                        <p:cTn id="43" dur="1" fill="hold">
                                          <p:stCondLst>
                                            <p:cond delay="0"/>
                                          </p:stCondLst>
                                        </p:cTn>
                                        <p:tgtEl>
                                          <p:spTgt spid="140"/>
                                        </p:tgtEl>
                                        <p:attrNameLst>
                                          <p:attrName>style.visibility</p:attrName>
                                        </p:attrNameLst>
                                      </p:cBhvr>
                                      <p:to>
                                        <p:strVal val="visible"/>
                                      </p:to>
                                    </p:set>
                                    <p:animEffect transition="in" filter="fade">
                                      <p:cBhvr>
                                        <p:cTn id="44" dur="200"/>
                                        <p:tgtEl>
                                          <p:spTgt spid="140"/>
                                        </p:tgtEl>
                                      </p:cBhvr>
                                    </p:animEffect>
                                  </p:childTnLst>
                                </p:cTn>
                              </p:par>
                            </p:childTnLst>
                          </p:cTn>
                        </p:par>
                        <p:par>
                          <p:cTn id="45" fill="hold">
                            <p:stCondLst>
                              <p:cond delay="600"/>
                            </p:stCondLst>
                            <p:childTnLst>
                              <p:par>
                                <p:cTn id="46" presetID="10" presetClass="entr" presetSubtype="0" fill="hold" nodeType="afterEffect">
                                  <p:stCondLst>
                                    <p:cond delay="0"/>
                                  </p:stCondLst>
                                  <p:childTnLst>
                                    <p:set>
                                      <p:cBhvr>
                                        <p:cTn id="47" dur="1" fill="hold">
                                          <p:stCondLst>
                                            <p:cond delay="0"/>
                                          </p:stCondLst>
                                        </p:cTn>
                                        <p:tgtEl>
                                          <p:spTgt spid="144"/>
                                        </p:tgtEl>
                                        <p:attrNameLst>
                                          <p:attrName>style.visibility</p:attrName>
                                        </p:attrNameLst>
                                      </p:cBhvr>
                                      <p:to>
                                        <p:strVal val="visible"/>
                                      </p:to>
                                    </p:set>
                                    <p:animEffect transition="in" filter="fade">
                                      <p:cBhvr>
                                        <p:cTn id="48" dur="200"/>
                                        <p:tgtEl>
                                          <p:spTgt spid="144"/>
                                        </p:tgtEl>
                                      </p:cBhvr>
                                    </p:animEffect>
                                  </p:childTnLst>
                                </p:cTn>
                              </p:par>
                            </p:childTnLst>
                          </p:cTn>
                        </p:par>
                        <p:par>
                          <p:cTn id="49" fill="hold">
                            <p:stCondLst>
                              <p:cond delay="800"/>
                            </p:stCondLst>
                            <p:childTnLst>
                              <p:par>
                                <p:cTn id="50" presetID="10" presetClass="entr" presetSubtype="0" fill="hold" nodeType="afterEffect">
                                  <p:stCondLst>
                                    <p:cond delay="0"/>
                                  </p:stCondLst>
                                  <p:childTnLst>
                                    <p:set>
                                      <p:cBhvr>
                                        <p:cTn id="51" dur="1" fill="hold">
                                          <p:stCondLst>
                                            <p:cond delay="0"/>
                                          </p:stCondLst>
                                        </p:cTn>
                                        <p:tgtEl>
                                          <p:spTgt spid="148"/>
                                        </p:tgtEl>
                                        <p:attrNameLst>
                                          <p:attrName>style.visibility</p:attrName>
                                        </p:attrNameLst>
                                      </p:cBhvr>
                                      <p:to>
                                        <p:strVal val="visible"/>
                                      </p:to>
                                    </p:set>
                                    <p:animEffect transition="in" filter="fade">
                                      <p:cBhvr>
                                        <p:cTn id="52" dur="200"/>
                                        <p:tgtEl>
                                          <p:spTgt spid="148"/>
                                        </p:tgtEl>
                                      </p:cBhvr>
                                    </p:animEffec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152"/>
                                        </p:tgtEl>
                                        <p:attrNameLst>
                                          <p:attrName>style.visibility</p:attrName>
                                        </p:attrNameLst>
                                      </p:cBhvr>
                                      <p:to>
                                        <p:strVal val="visible"/>
                                      </p:to>
                                    </p:set>
                                    <p:animEffect transition="in" filter="fade">
                                      <p:cBhvr>
                                        <p:cTn id="56" dur="200"/>
                                        <p:tgtEl>
                                          <p:spTgt spid="15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53"/>
                                        </p:tgtEl>
                                        <p:attrNameLst>
                                          <p:attrName>style.visibility</p:attrName>
                                        </p:attrNameLst>
                                      </p:cBhvr>
                                      <p:to>
                                        <p:strVal val="visible"/>
                                      </p:to>
                                    </p:set>
                                    <p:animEffect transition="in" filter="fade">
                                      <p:cBhvr>
                                        <p:cTn id="61" dur="400"/>
                                        <p:tgtEl>
                                          <p:spTgt spid="15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4"/>
                                        </p:tgtEl>
                                        <p:attrNameLst>
                                          <p:attrName>style.visibility</p:attrName>
                                        </p:attrNameLst>
                                      </p:cBhvr>
                                      <p:to>
                                        <p:strVal val="visible"/>
                                      </p:to>
                                    </p:set>
                                    <p:animEffect transition="in" filter="fade">
                                      <p:cBhvr>
                                        <p:cTn id="64" dur="400"/>
                                        <p:tgtEl>
                                          <p:spTgt spid="154"/>
                                        </p:tgtEl>
                                      </p:cBhvr>
                                    </p:animEffect>
                                  </p:childTnLst>
                                </p:cTn>
                              </p:par>
                            </p:childTnLst>
                          </p:cTn>
                        </p:par>
                        <p:par>
                          <p:cTn id="65" fill="hold">
                            <p:stCondLst>
                              <p:cond delay="400"/>
                            </p:stCondLst>
                            <p:childTnLst>
                              <p:par>
                                <p:cTn id="66" presetID="10" presetClass="entr" presetSubtype="0" fill="hold" nodeType="afterEffect">
                                  <p:stCondLst>
                                    <p:cond delay="0"/>
                                  </p:stCondLst>
                                  <p:childTnLst>
                                    <p:set>
                                      <p:cBhvr>
                                        <p:cTn id="67" dur="1" fill="hold">
                                          <p:stCondLst>
                                            <p:cond delay="0"/>
                                          </p:stCondLst>
                                        </p:cTn>
                                        <p:tgtEl>
                                          <p:spTgt spid="155"/>
                                        </p:tgtEl>
                                        <p:attrNameLst>
                                          <p:attrName>style.visibility</p:attrName>
                                        </p:attrNameLst>
                                      </p:cBhvr>
                                      <p:to>
                                        <p:strVal val="visible"/>
                                      </p:to>
                                    </p:set>
                                    <p:animEffect transition="in" filter="fade">
                                      <p:cBhvr>
                                        <p:cTn id="68" dur="400"/>
                                        <p:tgtEl>
                                          <p:spTgt spid="15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56"/>
                                        </p:tgtEl>
                                        <p:attrNameLst>
                                          <p:attrName>style.visibility</p:attrName>
                                        </p:attrNameLst>
                                      </p:cBhvr>
                                      <p:to>
                                        <p:strVal val="visible"/>
                                      </p:to>
                                    </p:set>
                                    <p:animEffect transition="in" filter="fade">
                                      <p:cBhvr>
                                        <p:cTn id="71" dur="400"/>
                                        <p:tgtEl>
                                          <p:spTgt spid="156"/>
                                        </p:tgtEl>
                                      </p:cBhvr>
                                    </p:animEffect>
                                  </p:childTnLst>
                                </p:cTn>
                              </p:par>
                            </p:childTnLst>
                          </p:cTn>
                        </p:par>
                        <p:par>
                          <p:cTn id="72" fill="hold">
                            <p:stCondLst>
                              <p:cond delay="800"/>
                            </p:stCondLst>
                            <p:childTnLst>
                              <p:par>
                                <p:cTn id="73" presetID="10" presetClass="entr" presetSubtype="0" fill="hold" nodeType="afterEffect">
                                  <p:stCondLst>
                                    <p:cond delay="0"/>
                                  </p:stCondLst>
                                  <p:childTnLst>
                                    <p:set>
                                      <p:cBhvr>
                                        <p:cTn id="74" dur="1" fill="hold">
                                          <p:stCondLst>
                                            <p:cond delay="0"/>
                                          </p:stCondLst>
                                        </p:cTn>
                                        <p:tgtEl>
                                          <p:spTgt spid="157"/>
                                        </p:tgtEl>
                                        <p:attrNameLst>
                                          <p:attrName>style.visibility</p:attrName>
                                        </p:attrNameLst>
                                      </p:cBhvr>
                                      <p:to>
                                        <p:strVal val="visible"/>
                                      </p:to>
                                    </p:set>
                                    <p:animEffect transition="in" filter="fade">
                                      <p:cBhvr>
                                        <p:cTn id="75" dur="400"/>
                                        <p:tgtEl>
                                          <p:spTgt spid="15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58"/>
                                        </p:tgtEl>
                                        <p:attrNameLst>
                                          <p:attrName>style.visibility</p:attrName>
                                        </p:attrNameLst>
                                      </p:cBhvr>
                                      <p:to>
                                        <p:strVal val="visible"/>
                                      </p:to>
                                    </p:set>
                                    <p:animEffect transition="in" filter="fade">
                                      <p:cBhvr>
                                        <p:cTn id="78" dur="400"/>
                                        <p:tgtEl>
                                          <p:spTgt spid="158"/>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59"/>
                                        </p:tgtEl>
                                        <p:attrNameLst>
                                          <p:attrName>style.visibility</p:attrName>
                                        </p:attrNameLst>
                                      </p:cBhvr>
                                      <p:to>
                                        <p:strVal val="visible"/>
                                      </p:to>
                                    </p:set>
                                    <p:animEffect transition="in" filter="fade">
                                      <p:cBhvr>
                                        <p:cTn id="83" dur="4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19" grpId="0" animBg="1"/>
      <p:bldP spid="120" grpId="0" animBg="1"/>
      <p:bldP spid="121" grpId="0" animBg="1"/>
      <p:bldP spid="122" grpId="0" animBg="1"/>
      <p:bldP spid="133" grpId="0" animBg="1"/>
      <p:bldP spid="153" grpId="0" animBg="1"/>
      <p:bldP spid="154" grpId="0" animBg="1"/>
      <p:bldP spid="156" grpId="0" animBg="1"/>
      <p:bldP spid="158" grpId="0" animBg="1"/>
      <p:bldP spid="15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BASE vs CWD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BaseDirectory vs CurrentDirectory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PATHS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95</a:t>
            </a:r>
            <a:endParaRPr lang="en-US" sz="850" dirty="0"/>
          </a:p>
        </p:txBody>
      </p:sp>
      <p:grpSp>
        <p:nvGrpSpPr>
          <p:cNvPr id="104" name="tb_h"/>
          <p:cNvGrpSpPr/>
          <p:nvPr/>
        </p:nvGrpSpPr>
        <p:grpSpPr>
          <a:xfrm>
            <a:off x="689458" y="1463040"/>
            <a:ext cx="10904220" cy="256032"/>
            <a:chOff x="689458" y="1463040"/>
            <a:chExt cx="10904220" cy="256032"/>
          </a:xfrm>
        </p:grpSpPr>
        <p:sp>
          <p:nvSpPr>
            <p:cNvPr id="101" name="tb_h0"/>
            <p:cNvSpPr txBox="1"/>
            <p:nvPr/>
          </p:nvSpPr>
          <p:spPr>
            <a:xfrm>
              <a:off x="689458" y="1463040"/>
              <a:ext cx="12801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000" dirty="0"/>
            </a:p>
          </p:txBody>
        </p:sp>
        <p:sp>
          <p:nvSpPr>
            <p:cNvPr id="102" name="tb_h1"/>
            <p:cNvSpPr txBox="1"/>
            <p:nvPr/>
          </p:nvSpPr>
          <p:spPr>
            <a:xfrm>
              <a:off x="2152498" y="1463040"/>
              <a:ext cx="44805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A78BFA"/>
                  </a:solidFill>
                  <a:latin typeface="Segoe UI"/>
                  <a:ea typeface="Segoe UI"/>
                  <a:cs typeface="Segoe UI"/>
                </a:rPr>
                <a:t>Environment.CurrentDirectory</a:t>
              </a:r>
              <a:endParaRPr lang="en-US" sz="1000" dirty="0"/>
            </a:p>
          </p:txBody>
        </p:sp>
        <p:sp>
          <p:nvSpPr>
            <p:cNvPr id="103" name="tb_h2"/>
            <p:cNvSpPr txBox="1"/>
            <p:nvPr/>
          </p:nvSpPr>
          <p:spPr>
            <a:xfrm>
              <a:off x="6815938" y="1463040"/>
              <a:ext cx="47777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AppContext.BaseDirectory</a:t>
              </a:r>
              <a:endParaRPr lang="en-US" sz="1000" dirty="0"/>
            </a:p>
          </p:txBody>
        </p:sp>
      </p:grpSp>
      <p:grpSp>
        <p:nvGrpSpPr>
          <p:cNvPr id="109" name="tb_r0"/>
          <p:cNvGrpSpPr/>
          <p:nvPr/>
        </p:nvGrpSpPr>
        <p:grpSpPr>
          <a:xfrm>
            <a:off x="543154" y="1764792"/>
            <a:ext cx="11087100" cy="384048"/>
            <a:chOff x="543154" y="1764792"/>
            <a:chExt cx="11087100" cy="384048"/>
          </a:xfrm>
        </p:grpSpPr>
        <p:sp>
          <p:nvSpPr>
            <p:cNvPr id="105" name="tb_r0_bg"/>
            <p:cNvSpPr/>
            <p:nvPr/>
          </p:nvSpPr>
          <p:spPr>
            <a:xfrm>
              <a:off x="543154" y="1764792"/>
              <a:ext cx="11087100" cy="3840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6" name="tb_r0_c0"/>
            <p:cNvSpPr txBox="1"/>
            <p:nvPr/>
          </p:nvSpPr>
          <p:spPr>
            <a:xfrm>
              <a:off x="689458" y="1764792"/>
              <a:ext cx="12801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What it is</a:t>
              </a:r>
              <a:endParaRPr lang="en-US" sz="1050" dirty="0"/>
            </a:p>
          </p:txBody>
        </p:sp>
        <p:sp>
          <p:nvSpPr>
            <p:cNvPr id="107" name="tb_r0_c1"/>
            <p:cNvSpPr txBox="1"/>
            <p:nvPr/>
          </p:nvSpPr>
          <p:spPr>
            <a:xfrm>
              <a:off x="2152498" y="1764792"/>
              <a:ext cx="44805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the process working directory: relative paths start here</a:t>
              </a:r>
              <a:endParaRPr lang="en-US" sz="1050" dirty="0"/>
            </a:p>
          </p:txBody>
        </p:sp>
        <p:sp>
          <p:nvSpPr>
            <p:cNvPr id="108" name="tb_r0_c2"/>
            <p:cNvSpPr txBox="1"/>
            <p:nvPr/>
          </p:nvSpPr>
          <p:spPr>
            <a:xfrm>
              <a:off x="6815938" y="1764792"/>
              <a:ext cx="477774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the folder of the app's own files (exe, Data)</a:t>
              </a:r>
              <a:endParaRPr lang="en-US" sz="1050" dirty="0"/>
            </a:p>
          </p:txBody>
        </p:sp>
      </p:grpSp>
      <p:grpSp>
        <p:nvGrpSpPr>
          <p:cNvPr id="114" name="tb_r1"/>
          <p:cNvGrpSpPr/>
          <p:nvPr/>
        </p:nvGrpSpPr>
        <p:grpSpPr>
          <a:xfrm>
            <a:off x="543154" y="2203704"/>
            <a:ext cx="11087100" cy="384048"/>
            <a:chOff x="543154" y="2203704"/>
            <a:chExt cx="11087100" cy="384048"/>
          </a:xfrm>
        </p:grpSpPr>
        <p:sp>
          <p:nvSpPr>
            <p:cNvPr id="110" name="tb_r1_bg"/>
            <p:cNvSpPr/>
            <p:nvPr/>
          </p:nvSpPr>
          <p:spPr>
            <a:xfrm>
              <a:off x="543154" y="2203704"/>
              <a:ext cx="11087100" cy="3840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1" name="tb_r1_c0"/>
            <p:cNvSpPr txBox="1"/>
            <p:nvPr/>
          </p:nvSpPr>
          <p:spPr>
            <a:xfrm>
              <a:off x="689458" y="2203704"/>
              <a:ext cx="12801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Changes?</a:t>
              </a:r>
              <a:endParaRPr lang="en-US" sz="1050" dirty="0"/>
            </a:p>
          </p:txBody>
        </p:sp>
        <p:sp>
          <p:nvSpPr>
            <p:cNvPr id="112" name="tb_r1_c1"/>
            <p:cNvSpPr txBox="1"/>
            <p:nvPr/>
          </p:nvSpPr>
          <p:spPr>
            <a:xfrm>
              <a:off x="2152498" y="2203704"/>
              <a:ext cx="44805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F87171"/>
                  </a:solidFill>
                  <a:latin typeface="Segoe UI"/>
                  <a:ea typeface="Segoe UI"/>
                  <a:cs typeface="Segoe UI"/>
                </a:rPr>
                <a:t>yes: how you start the app, or code</a:t>
              </a:r>
              <a:endParaRPr lang="en-US" sz="1050" dirty="0"/>
            </a:p>
          </p:txBody>
        </p:sp>
        <p:sp>
          <p:nvSpPr>
            <p:cNvPr id="113" name="tb_r1_c2"/>
            <p:cNvSpPr txBox="1"/>
            <p:nvPr/>
          </p:nvSpPr>
          <p:spPr>
            <a:xfrm>
              <a:off x="6815938" y="2203704"/>
              <a:ext cx="477774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34D399"/>
                  </a:solidFill>
                  <a:latin typeface="Segoe UI"/>
                  <a:ea typeface="Segoe UI"/>
                  <a:cs typeface="Segoe UI"/>
                </a:rPr>
                <a:t>no: fixed for the whole run</a:t>
              </a:r>
              <a:endParaRPr lang="en-US" sz="1050" dirty="0"/>
            </a:p>
          </p:txBody>
        </p:sp>
      </p:grpSp>
      <p:grpSp>
        <p:nvGrpSpPr>
          <p:cNvPr id="119" name="tb_r2"/>
          <p:cNvGrpSpPr/>
          <p:nvPr/>
        </p:nvGrpSpPr>
        <p:grpSpPr>
          <a:xfrm>
            <a:off x="543154" y="2642616"/>
            <a:ext cx="11087100" cy="384048"/>
            <a:chOff x="543154" y="2642616"/>
            <a:chExt cx="11087100" cy="384048"/>
          </a:xfrm>
        </p:grpSpPr>
        <p:sp>
          <p:nvSpPr>
            <p:cNvPr id="115" name="tb_r2_bg"/>
            <p:cNvSpPr/>
            <p:nvPr/>
          </p:nvSpPr>
          <p:spPr>
            <a:xfrm>
              <a:off x="543154" y="2642616"/>
              <a:ext cx="11087100" cy="3840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6" name="tb_r2_c0"/>
            <p:cNvSpPr txBox="1"/>
            <p:nvPr/>
          </p:nvSpPr>
          <p:spPr>
            <a:xfrm>
              <a:off x="689458" y="2642616"/>
              <a:ext cx="12801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Use it for</a:t>
              </a:r>
              <a:endParaRPr lang="en-US" sz="1050" dirty="0"/>
            </a:p>
          </p:txBody>
        </p:sp>
        <p:sp>
          <p:nvSpPr>
            <p:cNvPr id="117" name="tb_r2_c1"/>
            <p:cNvSpPr txBox="1"/>
            <p:nvPr/>
          </p:nvSpPr>
          <p:spPr>
            <a:xfrm>
              <a:off x="2152498" y="2642616"/>
              <a:ext cx="448056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paths the user types or passes in</a:t>
              </a:r>
              <a:endParaRPr lang="en-US" sz="1050" dirty="0"/>
            </a:p>
          </p:txBody>
        </p:sp>
        <p:sp>
          <p:nvSpPr>
            <p:cNvPr id="118" name="tb_r2_c2"/>
            <p:cNvSpPr txBox="1"/>
            <p:nvPr/>
          </p:nvSpPr>
          <p:spPr>
            <a:xfrm>
              <a:off x="6815938" y="2642616"/>
              <a:ext cx="477774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files you SHIP with the app</a:t>
              </a:r>
              <a:endParaRPr lang="en-US" sz="1050" dirty="0"/>
            </a:p>
          </p:txBody>
        </p:sp>
      </p:grpSp>
      <p:grpSp>
        <p:nvGrpSpPr>
          <p:cNvPr id="132" name="demo"/>
          <p:cNvGrpSpPr/>
          <p:nvPr/>
        </p:nvGrpSpPr>
        <p:grpSpPr>
          <a:xfrm>
            <a:off x="543154" y="3127248"/>
            <a:ext cx="6446520" cy="1645900"/>
            <a:chOff x="543154" y="3127248"/>
            <a:chExt cx="6446520" cy="1645900"/>
          </a:xfrm>
        </p:grpSpPr>
        <p:sp>
          <p:nvSpPr>
            <p:cNvPr id="120" name="demo_win"/>
            <p:cNvSpPr/>
            <p:nvPr/>
          </p:nvSpPr>
          <p:spPr>
            <a:xfrm>
              <a:off x="543154" y="3127248"/>
              <a:ext cx="6446520" cy="1645900"/>
            </a:xfrm>
            <a:prstGeom prst="roundRect">
              <a:avLst>
                <a:gd name="adj" fmla="val 4165"/>
              </a:avLst>
            </a:prstGeom>
            <a:solidFill>
              <a:srgbClr val="060D18"/>
            </a:solidFill>
            <a:ln w="12700">
              <a:solidFill>
                <a:srgbClr val="1E3A5F"/>
              </a:solidFill>
              <a:prstDash val="solid"/>
            </a:ln>
          </p:spPr>
          <p:txBody>
            <a:bodyPr/>
            <a:lstStyle/>
            <a:p>
              <a:endParaRPr lang="en-US"/>
            </a:p>
          </p:txBody>
        </p:sp>
        <p:sp>
          <p:nvSpPr>
            <p:cNvPr id="121" name="demo_bar"/>
            <p:cNvSpPr/>
            <p:nvPr/>
          </p:nvSpPr>
          <p:spPr>
            <a:xfrm>
              <a:off x="543154" y="3127248"/>
              <a:ext cx="64465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demo_barfill"/>
            <p:cNvSpPr/>
            <p:nvPr/>
          </p:nvSpPr>
          <p:spPr>
            <a:xfrm>
              <a:off x="543154" y="3298698"/>
              <a:ext cx="6446520" cy="171450"/>
            </a:xfrm>
            <a:prstGeom prst="rect">
              <a:avLst/>
            </a:prstGeom>
            <a:solidFill>
              <a:srgbClr val="0A1220"/>
            </a:solidFill>
            <a:ln w="12700">
              <a:solidFill>
                <a:srgbClr val="0A1220"/>
              </a:solidFill>
              <a:prstDash val="solid"/>
            </a:ln>
          </p:spPr>
          <p:txBody>
            <a:bodyPr/>
            <a:lstStyle/>
            <a:p>
              <a:endParaRPr lang="en-US"/>
            </a:p>
          </p:txBody>
        </p:sp>
        <p:sp>
          <p:nvSpPr>
            <p:cNvPr id="123" name="demo_dot0"/>
            <p:cNvSpPr/>
            <p:nvPr/>
          </p:nvSpPr>
          <p:spPr>
            <a:xfrm>
              <a:off x="705002" y="3251058"/>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demo_dot1"/>
            <p:cNvSpPr/>
            <p:nvPr/>
          </p:nvSpPr>
          <p:spPr>
            <a:xfrm>
              <a:off x="890626" y="3251058"/>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demo_dot2"/>
            <p:cNvSpPr/>
            <p:nvPr/>
          </p:nvSpPr>
          <p:spPr>
            <a:xfrm>
              <a:off x="1076250" y="3251058"/>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demo_tab"/>
            <p:cNvSpPr/>
            <p:nvPr/>
          </p:nvSpPr>
          <p:spPr>
            <a:xfrm>
              <a:off x="1324051" y="317479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what we ran</a:t>
              </a:r>
              <a:endParaRPr lang="en-US" sz="950" dirty="0"/>
            </a:p>
          </p:txBody>
        </p:sp>
        <p:sp>
          <p:nvSpPr>
            <p:cNvPr id="127" name="demo_L00"/>
            <p:cNvSpPr txBox="1"/>
            <p:nvPr/>
          </p:nvSpPr>
          <p:spPr>
            <a:xfrm>
              <a:off x="771754" y="3603148"/>
              <a:ext cx="61465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E2E8F0"/>
                  </a:solidFill>
                  <a:latin typeface="Consolas"/>
                  <a:ea typeface="Consolas"/>
                  <a:cs typeface="Consolas"/>
                </a:rPr>
                <a:t>Console.WriteLine(Environment.CurrentDirectory);  </a:t>
              </a:r>
              <a:r>
                <a:rPr lang="en-US" sz="840" b="0" dirty="0">
                  <a:solidFill>
                    <a:srgbClr val="6FAE7A"/>
                  </a:solidFill>
                  <a:latin typeface="Consolas"/>
                  <a:ea typeface="Consolas"/>
                  <a:cs typeface="Consolas"/>
                </a:rPr>
                <a:t>// …\bin\Debug\net10.0</a:t>
              </a:r>
              <a:endParaRPr lang="en-US" sz="840" dirty="0"/>
            </a:p>
          </p:txBody>
        </p:sp>
        <p:sp>
          <p:nvSpPr>
            <p:cNvPr id="128" name="demo_L01"/>
            <p:cNvSpPr txBox="1"/>
            <p:nvPr/>
          </p:nvSpPr>
          <p:spPr>
            <a:xfrm>
              <a:off x="771754" y="3753148"/>
              <a:ext cx="61465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E2E8F0"/>
                  </a:solidFill>
                  <a:latin typeface="Consolas"/>
                  <a:ea typeface="Consolas"/>
                  <a:cs typeface="Consolas"/>
                </a:rPr>
                <a:t>Console.WriteLine(AppContext.BaseDirectory);      </a:t>
              </a:r>
              <a:r>
                <a:rPr lang="en-US" sz="840" b="0" dirty="0">
                  <a:solidFill>
                    <a:srgbClr val="6FAE7A"/>
                  </a:solidFill>
                  <a:latin typeface="Consolas"/>
                  <a:ea typeface="Consolas"/>
                  <a:cs typeface="Consolas"/>
                </a:rPr>
                <a:t>// …\bin\Debug\net10.0\</a:t>
              </a:r>
              <a:endParaRPr lang="en-US" sz="840" dirty="0"/>
            </a:p>
          </p:txBody>
        </p:sp>
        <p:sp>
          <p:nvSpPr>
            <p:cNvPr id="129" name="demo_L03"/>
            <p:cNvSpPr txBox="1"/>
            <p:nvPr/>
          </p:nvSpPr>
          <p:spPr>
            <a:xfrm>
              <a:off x="771754" y="4053148"/>
              <a:ext cx="61465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E2E8F0"/>
                  </a:solidFill>
                  <a:latin typeface="Consolas"/>
                  <a:ea typeface="Consolas"/>
                  <a:cs typeface="Consolas"/>
                </a:rPr>
                <a:t>Environment.CurrentDirectory = </a:t>
              </a:r>
              <a:r>
                <a:rPr lang="en-US" sz="840" b="0" dirty="0">
                  <a:solidFill>
                    <a:srgbClr val="F0A98B"/>
                  </a:solidFill>
                  <a:latin typeface="Consolas"/>
                  <a:ea typeface="Consolas"/>
                  <a:cs typeface="Consolas"/>
                </a:rPr>
                <a:t>@"C:\Temp"</a:t>
              </a:r>
              <a:r>
                <a:rPr lang="en-US" sz="840" b="0" dirty="0">
                  <a:solidFill>
                    <a:srgbClr val="E2E8F0"/>
                  </a:solidFill>
                  <a:latin typeface="Consolas"/>
                  <a:ea typeface="Consolas"/>
                  <a:cs typeface="Consolas"/>
                </a:rPr>
                <a:t>;</a:t>
              </a:r>
              <a:endParaRPr lang="en-US" sz="840" dirty="0"/>
            </a:p>
          </p:txBody>
        </p:sp>
        <p:sp>
          <p:nvSpPr>
            <p:cNvPr id="130" name="demo_L05"/>
            <p:cNvSpPr txBox="1"/>
            <p:nvPr/>
          </p:nvSpPr>
          <p:spPr>
            <a:xfrm>
              <a:off x="771754" y="4353148"/>
              <a:ext cx="61465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E2E8F0"/>
                  </a:solidFill>
                  <a:latin typeface="Consolas"/>
                  <a:ea typeface="Consolas"/>
                  <a:cs typeface="Consolas"/>
                </a:rPr>
                <a:t>Console.WriteLine(Environment.CurrentDirectory);  </a:t>
              </a:r>
              <a:r>
                <a:rPr lang="en-US" sz="840" b="0" dirty="0">
                  <a:solidFill>
                    <a:srgbClr val="6FAE7A"/>
                  </a:solidFill>
                  <a:latin typeface="Consolas"/>
                  <a:ea typeface="Consolas"/>
                  <a:cs typeface="Consolas"/>
                </a:rPr>
                <a:t>// C:\Temp     ← changed</a:t>
              </a:r>
              <a:endParaRPr lang="en-US" sz="840" dirty="0"/>
            </a:p>
          </p:txBody>
        </p:sp>
        <p:sp>
          <p:nvSpPr>
            <p:cNvPr id="131" name="demo_L06"/>
            <p:cNvSpPr txBox="1"/>
            <p:nvPr/>
          </p:nvSpPr>
          <p:spPr>
            <a:xfrm>
              <a:off x="771754" y="4503148"/>
              <a:ext cx="61465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E2E8F0"/>
                  </a:solidFill>
                  <a:latin typeface="Consolas"/>
                  <a:ea typeface="Consolas"/>
                  <a:cs typeface="Consolas"/>
                </a:rPr>
                <a:t>Console.WriteLine(AppContext.BaseDirectory);      </a:t>
              </a:r>
              <a:r>
                <a:rPr lang="en-US" sz="840" b="0" dirty="0">
                  <a:solidFill>
                    <a:srgbClr val="6FAE7A"/>
                  </a:solidFill>
                  <a:latin typeface="Consolas"/>
                  <a:ea typeface="Consolas"/>
                  <a:cs typeface="Consolas"/>
                </a:rPr>
                <a:t>// …\net10.0\  ← the same</a:t>
              </a:r>
              <a:endParaRPr lang="en-US" sz="840" dirty="0"/>
            </a:p>
          </p:txBody>
        </p:sp>
      </p:grpSp>
      <p:sp>
        <p:nvSpPr>
          <p:cNvPr id="133" name="demo_hl3"/>
          <p:cNvSpPr/>
          <p:nvPr/>
        </p:nvSpPr>
        <p:spPr>
          <a:xfrm>
            <a:off x="676656" y="4034860"/>
            <a:ext cx="617952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34" name="demo_hl5"/>
          <p:cNvSpPr/>
          <p:nvPr/>
        </p:nvSpPr>
        <p:spPr>
          <a:xfrm>
            <a:off x="676656" y="4334860"/>
            <a:ext cx="617952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5" name="demo_hl6"/>
          <p:cNvSpPr/>
          <p:nvPr/>
        </p:nvSpPr>
        <p:spPr>
          <a:xfrm>
            <a:off x="676656" y="4484860"/>
            <a:ext cx="6179520" cy="186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46" name="rec"/>
          <p:cNvGrpSpPr/>
          <p:nvPr/>
        </p:nvGrpSpPr>
        <p:grpSpPr>
          <a:xfrm>
            <a:off x="543154" y="4864608"/>
            <a:ext cx="6446520" cy="1045900"/>
            <a:chOff x="543154" y="4864608"/>
            <a:chExt cx="6446520" cy="1045900"/>
          </a:xfrm>
        </p:grpSpPr>
        <p:sp>
          <p:nvSpPr>
            <p:cNvPr id="136" name="rec_win"/>
            <p:cNvSpPr/>
            <p:nvPr/>
          </p:nvSpPr>
          <p:spPr>
            <a:xfrm>
              <a:off x="543154" y="4864608"/>
              <a:ext cx="6446520" cy="1045900"/>
            </a:xfrm>
            <a:prstGeom prst="roundRect">
              <a:avLst>
                <a:gd name="adj" fmla="val 6554"/>
              </a:avLst>
            </a:prstGeom>
            <a:solidFill>
              <a:srgbClr val="060D18"/>
            </a:solidFill>
            <a:ln w="12700">
              <a:solidFill>
                <a:srgbClr val="1E3A5F"/>
              </a:solidFill>
              <a:prstDash val="solid"/>
            </a:ln>
          </p:spPr>
          <p:txBody>
            <a:bodyPr/>
            <a:lstStyle/>
            <a:p>
              <a:endParaRPr lang="en-US"/>
            </a:p>
          </p:txBody>
        </p:sp>
        <p:sp>
          <p:nvSpPr>
            <p:cNvPr id="137" name="rec_bar"/>
            <p:cNvSpPr/>
            <p:nvPr/>
          </p:nvSpPr>
          <p:spPr>
            <a:xfrm>
              <a:off x="543154" y="4864608"/>
              <a:ext cx="64465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8" name="rec_barfill"/>
            <p:cNvSpPr/>
            <p:nvPr/>
          </p:nvSpPr>
          <p:spPr>
            <a:xfrm>
              <a:off x="543154" y="5036058"/>
              <a:ext cx="6446520" cy="171450"/>
            </a:xfrm>
            <a:prstGeom prst="rect">
              <a:avLst/>
            </a:prstGeom>
            <a:solidFill>
              <a:srgbClr val="0A1220"/>
            </a:solidFill>
            <a:ln w="12700">
              <a:solidFill>
                <a:srgbClr val="0A1220"/>
              </a:solidFill>
              <a:prstDash val="solid"/>
            </a:ln>
          </p:spPr>
          <p:txBody>
            <a:bodyPr/>
            <a:lstStyle/>
            <a:p>
              <a:endParaRPr lang="en-US"/>
            </a:p>
          </p:txBody>
        </p:sp>
        <p:sp>
          <p:nvSpPr>
            <p:cNvPr id="139" name="rec_dot0"/>
            <p:cNvSpPr/>
            <p:nvPr/>
          </p:nvSpPr>
          <p:spPr>
            <a:xfrm>
              <a:off x="705002" y="4988418"/>
              <a:ext cx="95098" cy="95098"/>
            </a:xfrm>
            <a:prstGeom prst="ellipse">
              <a:avLst/>
            </a:prstGeom>
            <a:solidFill>
              <a:srgbClr val="F87171"/>
            </a:solidFill>
            <a:ln w="12700">
              <a:solidFill>
                <a:srgbClr val="F87171"/>
              </a:solidFill>
              <a:prstDash val="solid"/>
            </a:ln>
          </p:spPr>
          <p:txBody>
            <a:bodyPr/>
            <a:lstStyle/>
            <a:p>
              <a:endParaRPr lang="en-US"/>
            </a:p>
          </p:txBody>
        </p:sp>
        <p:sp>
          <p:nvSpPr>
            <p:cNvPr id="140" name="rec_dot1"/>
            <p:cNvSpPr/>
            <p:nvPr/>
          </p:nvSpPr>
          <p:spPr>
            <a:xfrm>
              <a:off x="890626" y="4988418"/>
              <a:ext cx="95098" cy="95098"/>
            </a:xfrm>
            <a:prstGeom prst="ellipse">
              <a:avLst/>
            </a:prstGeom>
            <a:solidFill>
              <a:srgbClr val="FBBF24"/>
            </a:solidFill>
            <a:ln w="12700">
              <a:solidFill>
                <a:srgbClr val="FBBF24"/>
              </a:solidFill>
              <a:prstDash val="solid"/>
            </a:ln>
          </p:spPr>
          <p:txBody>
            <a:bodyPr/>
            <a:lstStyle/>
            <a:p>
              <a:endParaRPr lang="en-US"/>
            </a:p>
          </p:txBody>
        </p:sp>
        <p:sp>
          <p:nvSpPr>
            <p:cNvPr id="141" name="rec_dot2"/>
            <p:cNvSpPr/>
            <p:nvPr/>
          </p:nvSpPr>
          <p:spPr>
            <a:xfrm>
              <a:off x="1076250" y="4988418"/>
              <a:ext cx="95098" cy="95098"/>
            </a:xfrm>
            <a:prstGeom prst="ellipse">
              <a:avLst/>
            </a:prstGeom>
            <a:solidFill>
              <a:srgbClr val="34D399"/>
            </a:solidFill>
            <a:ln w="12700">
              <a:solidFill>
                <a:srgbClr val="34D399"/>
              </a:solidFill>
              <a:prstDash val="solid"/>
            </a:ln>
          </p:spPr>
          <p:txBody>
            <a:bodyPr/>
            <a:lstStyle/>
            <a:p>
              <a:endParaRPr lang="en-US"/>
            </a:p>
          </p:txBody>
        </p:sp>
        <p:sp>
          <p:nvSpPr>
            <p:cNvPr id="142" name="rec_tab"/>
            <p:cNvSpPr/>
            <p:nvPr/>
          </p:nvSpPr>
          <p:spPr>
            <a:xfrm>
              <a:off x="1324051" y="491215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The safe way</a:t>
              </a:r>
              <a:endParaRPr lang="en-US" sz="950" dirty="0"/>
            </a:p>
          </p:txBody>
        </p:sp>
        <p:sp>
          <p:nvSpPr>
            <p:cNvPr id="143" name="rec_L00"/>
            <p:cNvSpPr txBox="1"/>
            <p:nvPr/>
          </p:nvSpPr>
          <p:spPr>
            <a:xfrm>
              <a:off x="771754" y="5340508"/>
              <a:ext cx="61465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60A5FA"/>
                  </a:solidFill>
                  <a:latin typeface="Consolas"/>
                  <a:ea typeface="Consolas"/>
                  <a:cs typeface="Consolas"/>
                </a:rPr>
                <a:t>string</a:t>
              </a:r>
              <a:r>
                <a:rPr lang="en-US" sz="840" b="0" dirty="0">
                  <a:solidFill>
                    <a:srgbClr val="E2E8F0"/>
                  </a:solidFill>
                  <a:latin typeface="Consolas"/>
                  <a:ea typeface="Consolas"/>
                  <a:cs typeface="Consolas"/>
                </a:rPr>
                <a:t> path = Path.Combine(</a:t>
              </a:r>
              <a:endParaRPr lang="en-US" sz="840" dirty="0"/>
            </a:p>
          </p:txBody>
        </p:sp>
        <p:sp>
          <p:nvSpPr>
            <p:cNvPr id="144" name="rec_L01"/>
            <p:cNvSpPr txBox="1"/>
            <p:nvPr/>
          </p:nvSpPr>
          <p:spPr>
            <a:xfrm>
              <a:off x="771754" y="5490508"/>
              <a:ext cx="614652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40" b="0" dirty="0">
                  <a:solidFill>
                    <a:srgbClr val="E2E8F0"/>
                  </a:solidFill>
                  <a:latin typeface="Consolas"/>
                  <a:ea typeface="Consolas"/>
                  <a:cs typeface="Consolas"/>
                </a:rPr>
                <a:t>AppContext.BaseDirectory, </a:t>
              </a:r>
              <a:r>
                <a:rPr lang="en-US" sz="840" b="0" dirty="0">
                  <a:solidFill>
                    <a:srgbClr val="F0A98B"/>
                  </a:solidFill>
                  <a:latin typeface="Consolas"/>
                  <a:ea typeface="Consolas"/>
                  <a:cs typeface="Consolas"/>
                </a:rPr>
                <a:t>"Data"</a:t>
              </a:r>
              <a:r>
                <a:rPr lang="en-US" sz="840" b="0" dirty="0">
                  <a:solidFill>
                    <a:srgbClr val="E2E8F0"/>
                  </a:solidFill>
                  <a:latin typeface="Consolas"/>
                  <a:ea typeface="Consolas"/>
                  <a:cs typeface="Consolas"/>
                </a:rPr>
                <a:t>, </a:t>
              </a:r>
              <a:r>
                <a:rPr lang="en-US" sz="840" b="0" dirty="0">
                  <a:solidFill>
                    <a:srgbClr val="F0A98B"/>
                  </a:solidFill>
                  <a:latin typeface="Consolas"/>
                  <a:ea typeface="Consolas"/>
                  <a:cs typeface="Consolas"/>
                </a:rPr>
                <a:t>"students.json"</a:t>
              </a:r>
              <a:r>
                <a:rPr lang="en-US" sz="840" b="0" dirty="0">
                  <a:solidFill>
                    <a:srgbClr val="E2E8F0"/>
                  </a:solidFill>
                  <a:latin typeface="Consolas"/>
                  <a:ea typeface="Consolas"/>
                  <a:cs typeface="Consolas"/>
                </a:rPr>
                <a:t>);</a:t>
              </a:r>
              <a:endParaRPr lang="en-US" sz="840" dirty="0"/>
            </a:p>
          </p:txBody>
        </p:sp>
        <p:sp>
          <p:nvSpPr>
            <p:cNvPr id="145" name="rec_L02"/>
            <p:cNvSpPr txBox="1"/>
            <p:nvPr/>
          </p:nvSpPr>
          <p:spPr>
            <a:xfrm>
              <a:off x="771754" y="5640508"/>
              <a:ext cx="61465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60A5FA"/>
                  </a:solidFill>
                  <a:latin typeface="Consolas"/>
                  <a:ea typeface="Consolas"/>
                  <a:cs typeface="Consolas"/>
                </a:rPr>
                <a:t>string</a:t>
              </a:r>
              <a:r>
                <a:rPr lang="en-US" sz="840" b="0" dirty="0">
                  <a:solidFill>
                    <a:srgbClr val="E2E8F0"/>
                  </a:solidFill>
                  <a:latin typeface="Consolas"/>
                  <a:ea typeface="Consolas"/>
                  <a:cs typeface="Consolas"/>
                </a:rPr>
                <a:t> json = File.ReadAllText(path);     </a:t>
              </a:r>
              <a:r>
                <a:rPr lang="en-US" sz="840" b="0" dirty="0">
                  <a:solidFill>
                    <a:srgbClr val="6FAE7A"/>
                  </a:solidFill>
                  <a:latin typeface="Consolas"/>
                  <a:ea typeface="Consolas"/>
                  <a:cs typeface="Consolas"/>
                </a:rPr>
                <a:t>// works whatever the CWD is</a:t>
              </a:r>
              <a:endParaRPr lang="en-US" sz="840" dirty="0"/>
            </a:p>
          </p:txBody>
        </p:sp>
      </p:grpSp>
      <p:sp>
        <p:nvSpPr>
          <p:cNvPr id="147" name="rec_hl1"/>
          <p:cNvSpPr/>
          <p:nvPr/>
        </p:nvSpPr>
        <p:spPr>
          <a:xfrm>
            <a:off x="676656" y="5472220"/>
            <a:ext cx="617952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8" name="prod"/>
          <p:cNvSpPr/>
          <p:nvPr/>
        </p:nvSpPr>
        <p:spPr>
          <a:xfrm>
            <a:off x="7263994" y="3839718"/>
            <a:ext cx="4366260" cy="2067306"/>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PRODUCTION NOTES</a:t>
            </a:r>
            <a:endParaRPr lang="en-US" sz="1100" dirty="0"/>
          </a:p>
          <a:p>
            <a:pPr marL="0" indent="0" algn="l">
              <a:spcBef>
                <a:spcPts val="0"/>
              </a:spcBef>
              <a:spcAft>
                <a:spcPts val="0"/>
              </a:spcAft>
              <a:buNone/>
            </a:pPr>
            <a:endParaRPr lang="en-US" sz="1050" b="0" dirty="0">
              <a:solidFill>
                <a:srgbClr val="CBD5E1"/>
              </a:solidFill>
              <a:latin typeface="Segoe UI"/>
              <a:ea typeface="Segoe UI"/>
              <a:cs typeface="Segoe UI"/>
            </a:endParaRPr>
          </a:p>
          <a:p>
            <a:pPr marL="0" indent="0" algn="l">
              <a:spcBef>
                <a:spcPts val="0"/>
              </a:spcBef>
              <a:spcAft>
                <a:spcPts val="0"/>
              </a:spcAft>
              <a:buNone/>
            </a:pPr>
            <a:r>
              <a:rPr lang="en-US" sz="1050" b="0" dirty="0">
                <a:solidFill>
                  <a:srgbClr val="CBD5E1"/>
                </a:solidFill>
                <a:latin typeface="Segoe UI"/>
                <a:ea typeface="Segoe UI"/>
                <a:cs typeface="Segoe UI"/>
              </a:rPr>
              <a:t>•  Never hard-code absolute paths: read them from configuration.</a:t>
            </a:r>
            <a:endParaRPr lang="en-US" sz="1050" dirty="0"/>
          </a:p>
          <a:p>
            <a:pPr marL="0" indent="0" algn="l">
              <a:spcBef>
                <a:spcPts val="0"/>
              </a:spcBef>
              <a:spcAft>
                <a:spcPts val="0"/>
              </a:spcAft>
              <a:buNone/>
            </a:pPr>
            <a:endParaRPr lang="en-US" sz="1050" b="0" dirty="0">
              <a:solidFill>
                <a:srgbClr val="CBD5E1"/>
              </a:solidFill>
              <a:latin typeface="Segoe UI"/>
              <a:ea typeface="Segoe UI"/>
              <a:cs typeface="Segoe UI"/>
            </a:endParaRPr>
          </a:p>
          <a:p>
            <a:pPr marL="0" indent="0" algn="l">
              <a:spcBef>
                <a:spcPts val="0"/>
              </a:spcBef>
              <a:spcAft>
                <a:spcPts val="0"/>
              </a:spcAft>
              <a:buNone/>
            </a:pPr>
            <a:r>
              <a:rPr lang="en-US" sz="1050" b="0" dirty="0">
                <a:solidFill>
                  <a:srgbClr val="CBD5E1"/>
                </a:solidFill>
                <a:latin typeface="Segoe UI"/>
                <a:ea typeface="Segoe UI"/>
                <a:cs typeface="Segoe UI"/>
              </a:rPr>
              <a:t>•  Always Path.Combine: on Linux "\" is not a separator.</a:t>
            </a:r>
            <a:endParaRPr lang="en-US" sz="1050" dirty="0"/>
          </a:p>
          <a:p>
            <a:pPr marL="0" indent="0" algn="l">
              <a:spcBef>
                <a:spcPts val="0"/>
              </a:spcBef>
              <a:spcAft>
                <a:spcPts val="0"/>
              </a:spcAft>
              <a:buNone/>
            </a:pPr>
            <a:endParaRPr lang="en-US" sz="1050" b="0" dirty="0">
              <a:solidFill>
                <a:srgbClr val="CBD5E1"/>
              </a:solidFill>
              <a:latin typeface="Segoe UI"/>
              <a:ea typeface="Segoe UI"/>
              <a:cs typeface="Segoe UI"/>
            </a:endParaRPr>
          </a:p>
          <a:p>
            <a:pPr marL="0" indent="0" algn="l">
              <a:spcBef>
                <a:spcPts val="0"/>
              </a:spcBef>
              <a:spcAft>
                <a:spcPts val="0"/>
              </a:spcAft>
              <a:buNone/>
            </a:pPr>
            <a:r>
              <a:rPr lang="en-US" sz="1050" b="0" dirty="0">
                <a:solidFill>
                  <a:srgbClr val="CBD5E1"/>
                </a:solidFill>
                <a:latin typeface="Segoe UI"/>
                <a:ea typeface="Segoe UI"/>
                <a:cs typeface="Segoe UI"/>
              </a:rPr>
              <a:t>•  Windows Service: the CWD is C:\Windows\System32.</a:t>
            </a:r>
            <a:endParaRPr lang="en-US" sz="1050" dirty="0"/>
          </a:p>
        </p:txBody>
      </p:sp>
    </p:spTree>
    <p:extLst>
      <p:ext uri="{BB962C8B-B14F-4D97-AF65-F5344CB8AC3E}">
        <p14:creationId xmlns:p14="http://schemas.microsoft.com/office/powerpoint/2010/main" val="406256549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400"/>
                                        <p:tgtEl>
                                          <p:spTgt spid="104"/>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09"/>
                                        </p:tgtEl>
                                        <p:attrNameLst>
                                          <p:attrName>style.visibility</p:attrName>
                                        </p:attrNameLst>
                                      </p:cBhvr>
                                      <p:to>
                                        <p:strVal val="visible"/>
                                      </p:to>
                                    </p:set>
                                    <p:animEffect transition="in" filter="fade">
                                      <p:cBhvr>
                                        <p:cTn id="11" dur="200"/>
                                        <p:tgtEl>
                                          <p:spTgt spid="109"/>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fade">
                                      <p:cBhvr>
                                        <p:cTn id="15" dur="200"/>
                                        <p:tgtEl>
                                          <p:spTgt spid="114"/>
                                        </p:tgtEl>
                                      </p:cBhvr>
                                    </p:animEffect>
                                  </p:childTnLst>
                                </p:cTn>
                              </p:par>
                            </p:childTnLst>
                          </p:cTn>
                        </p:par>
                        <p:par>
                          <p:cTn id="16" fill="hold">
                            <p:stCondLst>
                              <p:cond delay="800"/>
                            </p:stCondLst>
                            <p:childTnLst>
                              <p:par>
                                <p:cTn id="17" presetID="10" presetClass="entr" presetSubtype="0" fill="hold" nodeType="afterEffect">
                                  <p:stCondLst>
                                    <p:cond delay="0"/>
                                  </p:stCondLst>
                                  <p:childTnLst>
                                    <p:set>
                                      <p:cBhvr>
                                        <p:cTn id="18" dur="1" fill="hold">
                                          <p:stCondLst>
                                            <p:cond delay="0"/>
                                          </p:stCondLst>
                                        </p:cTn>
                                        <p:tgtEl>
                                          <p:spTgt spid="119"/>
                                        </p:tgtEl>
                                        <p:attrNameLst>
                                          <p:attrName>style.visibility</p:attrName>
                                        </p:attrNameLst>
                                      </p:cBhvr>
                                      <p:to>
                                        <p:strVal val="visible"/>
                                      </p:to>
                                    </p:set>
                                    <p:animEffect transition="in" filter="fade">
                                      <p:cBhvr>
                                        <p:cTn id="19" dur="200"/>
                                        <p:tgtEl>
                                          <p:spTgt spid="11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2"/>
                                        </p:tgtEl>
                                        <p:attrNameLst>
                                          <p:attrName>style.visibility</p:attrName>
                                        </p:attrNameLst>
                                      </p:cBhvr>
                                      <p:to>
                                        <p:strVal val="visible"/>
                                      </p:to>
                                    </p:set>
                                    <p:animEffect transition="in" filter="fade">
                                      <p:cBhvr>
                                        <p:cTn id="24" dur="400"/>
                                        <p:tgtEl>
                                          <p:spTgt spid="1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3"/>
                                        </p:tgtEl>
                                        <p:attrNameLst>
                                          <p:attrName>style.visibility</p:attrName>
                                        </p:attrNameLst>
                                      </p:cBhvr>
                                      <p:to>
                                        <p:strVal val="visible"/>
                                      </p:to>
                                    </p:set>
                                    <p:animEffect transition="in" filter="fade">
                                      <p:cBhvr>
                                        <p:cTn id="27" dur="400"/>
                                        <p:tgtEl>
                                          <p:spTgt spid="1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4"/>
                                        </p:tgtEl>
                                        <p:attrNameLst>
                                          <p:attrName>style.visibility</p:attrName>
                                        </p:attrNameLst>
                                      </p:cBhvr>
                                      <p:to>
                                        <p:strVal val="visible"/>
                                      </p:to>
                                    </p:set>
                                    <p:animEffect transition="in" filter="fade">
                                      <p:cBhvr>
                                        <p:cTn id="30" dur="400"/>
                                        <p:tgtEl>
                                          <p:spTgt spid="1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5"/>
                                        </p:tgtEl>
                                        <p:attrNameLst>
                                          <p:attrName>style.visibility</p:attrName>
                                        </p:attrNameLst>
                                      </p:cBhvr>
                                      <p:to>
                                        <p:strVal val="visible"/>
                                      </p:to>
                                    </p:set>
                                    <p:animEffect transition="in" filter="fade">
                                      <p:cBhvr>
                                        <p:cTn id="33" dur="400"/>
                                        <p:tgtEl>
                                          <p:spTgt spid="13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6"/>
                                        </p:tgtEl>
                                        <p:attrNameLst>
                                          <p:attrName>style.visibility</p:attrName>
                                        </p:attrNameLst>
                                      </p:cBhvr>
                                      <p:to>
                                        <p:strVal val="visible"/>
                                      </p:to>
                                    </p:set>
                                    <p:animEffect transition="in" filter="fade">
                                      <p:cBhvr>
                                        <p:cTn id="38" dur="400"/>
                                        <p:tgtEl>
                                          <p:spTgt spid="14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7"/>
                                        </p:tgtEl>
                                        <p:attrNameLst>
                                          <p:attrName>style.visibility</p:attrName>
                                        </p:attrNameLst>
                                      </p:cBhvr>
                                      <p:to>
                                        <p:strVal val="visible"/>
                                      </p:to>
                                    </p:set>
                                    <p:animEffect transition="in" filter="fade">
                                      <p:cBhvr>
                                        <p:cTn id="41" dur="400"/>
                                        <p:tgtEl>
                                          <p:spTgt spid="14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8"/>
                                        </p:tgtEl>
                                        <p:attrNameLst>
                                          <p:attrName>style.visibility</p:attrName>
                                        </p:attrNameLst>
                                      </p:cBhvr>
                                      <p:to>
                                        <p:strVal val="visible"/>
                                      </p:to>
                                    </p:set>
                                    <p:animEffect transition="in" filter="fade">
                                      <p:cBhvr>
                                        <p:cTn id="46" dur="4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animBg="1"/>
      <p:bldP spid="134" grpId="0" animBg="1"/>
      <p:bldP spid="135" grpId="0" animBg="1"/>
      <p:bldP spid="147" grpId="0" animBg="1"/>
      <p:bldP spid="14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48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COPY TO OUTPUT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Copy to Output Directory: Why Do We Need It?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PATHS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94</a:t>
            </a:r>
            <a:endParaRPr lang="en-US" sz="850" dirty="0"/>
          </a:p>
        </p:txBody>
      </p:sp>
      <p:sp>
        <p:nvSpPr>
          <p:cNvPr id="101" name="hp"/>
          <p:cNvSpPr txBox="1"/>
          <p:nvPr/>
        </p:nvSpPr>
        <p:spPr>
          <a:xfrm>
            <a:off x="543154" y="1444752"/>
            <a:ext cx="5486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F87171"/>
                </a:solidFill>
                <a:latin typeface="Segoe UI"/>
                <a:ea typeface="Segoe UI"/>
                <a:cs typeface="Segoe UI"/>
              </a:rPr>
              <a:t>✗  THE PROBLEM</a:t>
            </a:r>
            <a:endParaRPr lang="en-US" sz="1150" dirty="0"/>
          </a:p>
        </p:txBody>
      </p:sp>
      <p:grpSp>
        <p:nvGrpSpPr>
          <p:cNvPr id="117" name="tree"/>
          <p:cNvGrpSpPr/>
          <p:nvPr/>
        </p:nvGrpSpPr>
        <p:grpSpPr>
          <a:xfrm>
            <a:off x="543154" y="1737360"/>
            <a:ext cx="5486400" cy="1755900"/>
            <a:chOff x="543154" y="1737360"/>
            <a:chExt cx="5486400" cy="1755900"/>
          </a:xfrm>
        </p:grpSpPr>
        <p:sp>
          <p:nvSpPr>
            <p:cNvPr id="102" name="tree_win"/>
            <p:cNvSpPr/>
            <p:nvPr/>
          </p:nvSpPr>
          <p:spPr>
            <a:xfrm>
              <a:off x="543154" y="1737360"/>
              <a:ext cx="5486400" cy="1755900"/>
            </a:xfrm>
            <a:prstGeom prst="roundRect">
              <a:avLst>
                <a:gd name="adj" fmla="val 3904"/>
              </a:avLst>
            </a:prstGeom>
            <a:solidFill>
              <a:srgbClr val="060D18"/>
            </a:solidFill>
            <a:ln w="12700">
              <a:solidFill>
                <a:srgbClr val="1E3A5F"/>
              </a:solidFill>
              <a:prstDash val="solid"/>
            </a:ln>
          </p:spPr>
          <p:txBody>
            <a:bodyPr/>
            <a:lstStyle/>
            <a:p>
              <a:endParaRPr lang="en-US"/>
            </a:p>
          </p:txBody>
        </p:sp>
        <p:sp>
          <p:nvSpPr>
            <p:cNvPr id="103" name="tree_bar"/>
            <p:cNvSpPr/>
            <p:nvPr/>
          </p:nvSpPr>
          <p:spPr>
            <a:xfrm>
              <a:off x="543154" y="1737360"/>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tree_barfill"/>
            <p:cNvSpPr/>
            <p:nvPr/>
          </p:nvSpPr>
          <p:spPr>
            <a:xfrm>
              <a:off x="543154" y="1908810"/>
              <a:ext cx="5486400" cy="171450"/>
            </a:xfrm>
            <a:prstGeom prst="rect">
              <a:avLst/>
            </a:prstGeom>
            <a:solidFill>
              <a:srgbClr val="0A1220"/>
            </a:solidFill>
            <a:ln w="12700">
              <a:solidFill>
                <a:srgbClr val="0A1220"/>
              </a:solidFill>
              <a:prstDash val="solid"/>
            </a:ln>
          </p:spPr>
          <p:txBody>
            <a:bodyPr/>
            <a:lstStyle/>
            <a:p>
              <a:endParaRPr lang="en-US"/>
            </a:p>
          </p:txBody>
        </p:sp>
        <p:sp>
          <p:nvSpPr>
            <p:cNvPr id="105" name="tree_dot0"/>
            <p:cNvSpPr/>
            <p:nvPr/>
          </p:nvSpPr>
          <p:spPr>
            <a:xfrm>
              <a:off x="705002" y="1861170"/>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tree_dot1"/>
            <p:cNvSpPr/>
            <p:nvPr/>
          </p:nvSpPr>
          <p:spPr>
            <a:xfrm>
              <a:off x="890626" y="1861170"/>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tree_dot2"/>
            <p:cNvSpPr/>
            <p:nvPr/>
          </p:nvSpPr>
          <p:spPr>
            <a:xfrm>
              <a:off x="1076250" y="1861170"/>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tree_tab"/>
            <p:cNvSpPr/>
            <p:nvPr/>
          </p:nvSpPr>
          <p:spPr>
            <a:xfrm>
              <a:off x="1324051" y="1784909"/>
              <a:ext cx="257805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Before: the build did not copy it</a:t>
              </a:r>
              <a:endParaRPr lang="en-US" sz="950" dirty="0"/>
            </a:p>
          </p:txBody>
        </p:sp>
        <p:sp>
          <p:nvSpPr>
            <p:cNvPr id="109" name="tree_L00"/>
            <p:cNvSpPr txBox="1"/>
            <p:nvPr/>
          </p:nvSpPr>
          <p:spPr>
            <a:xfrm>
              <a:off x="771754" y="2213260"/>
              <a:ext cx="518640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ConsoleApp30</a:t>
              </a:r>
              <a:endParaRPr lang="en-US" sz="860" dirty="0"/>
            </a:p>
          </p:txBody>
        </p:sp>
        <p:sp>
          <p:nvSpPr>
            <p:cNvPr id="110" name="tree_L01"/>
            <p:cNvSpPr txBox="1"/>
            <p:nvPr/>
          </p:nvSpPr>
          <p:spPr>
            <a:xfrm>
              <a:off x="771754" y="2358260"/>
              <a:ext cx="518640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 Program.cs</a:t>
              </a:r>
              <a:endParaRPr lang="en-US" sz="860" dirty="0"/>
            </a:p>
          </p:txBody>
        </p:sp>
        <p:sp>
          <p:nvSpPr>
            <p:cNvPr id="111" name="tree_L02"/>
            <p:cNvSpPr txBox="1"/>
            <p:nvPr/>
          </p:nvSpPr>
          <p:spPr>
            <a:xfrm>
              <a:off x="771754" y="2503260"/>
              <a:ext cx="518640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 Data</a:t>
              </a:r>
              <a:endParaRPr lang="en-US" sz="860" dirty="0"/>
            </a:p>
          </p:txBody>
        </p:sp>
        <p:sp>
          <p:nvSpPr>
            <p:cNvPr id="112" name="tree_L03"/>
            <p:cNvSpPr txBox="1"/>
            <p:nvPr/>
          </p:nvSpPr>
          <p:spPr>
            <a:xfrm>
              <a:off x="771754" y="2648260"/>
              <a:ext cx="518640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   └── students.json          ← only here</a:t>
              </a:r>
              <a:endParaRPr lang="en-US" sz="860" dirty="0"/>
            </a:p>
          </p:txBody>
        </p:sp>
        <p:sp>
          <p:nvSpPr>
            <p:cNvPr id="113" name="tree_L04"/>
            <p:cNvSpPr txBox="1"/>
            <p:nvPr/>
          </p:nvSpPr>
          <p:spPr>
            <a:xfrm>
              <a:off x="771754" y="2793260"/>
              <a:ext cx="518640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 bin</a:t>
              </a:r>
              <a:endParaRPr lang="en-US" sz="860" dirty="0"/>
            </a:p>
          </p:txBody>
        </p:sp>
        <p:sp>
          <p:nvSpPr>
            <p:cNvPr id="114" name="tree_L05"/>
            <p:cNvSpPr txBox="1"/>
            <p:nvPr/>
          </p:nvSpPr>
          <p:spPr>
            <a:xfrm>
              <a:off x="771754" y="2938260"/>
              <a:ext cx="5186400" cy="14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 Debug</a:t>
              </a:r>
              <a:endParaRPr lang="en-US" sz="860" dirty="0"/>
            </a:p>
          </p:txBody>
        </p:sp>
        <p:sp>
          <p:nvSpPr>
            <p:cNvPr id="115" name="tree_L06"/>
            <p:cNvSpPr txBox="1"/>
            <p:nvPr/>
          </p:nvSpPr>
          <p:spPr>
            <a:xfrm>
              <a:off x="771754" y="3083260"/>
              <a:ext cx="5186400" cy="14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 net10.0</a:t>
              </a:r>
              <a:endParaRPr lang="en-US" sz="860" dirty="0"/>
            </a:p>
          </p:txBody>
        </p:sp>
        <p:sp>
          <p:nvSpPr>
            <p:cNvPr id="116" name="tree_L07"/>
            <p:cNvSpPr txBox="1"/>
            <p:nvPr/>
          </p:nvSpPr>
          <p:spPr>
            <a:xfrm>
              <a:off x="771754" y="3228260"/>
              <a:ext cx="5186400" cy="145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60" b="0" dirty="0">
                  <a:solidFill>
                    <a:srgbClr val="E2E8F0"/>
                  </a:solidFill>
                  <a:latin typeface="Consolas"/>
                  <a:ea typeface="Consolas"/>
                  <a:cs typeface="Consolas"/>
                </a:rPr>
                <a:t>└── ConsoleApp30.exe   ← runs here</a:t>
              </a:r>
              <a:endParaRPr lang="en-US" sz="860" dirty="0"/>
            </a:p>
          </p:txBody>
        </p:sp>
      </p:grpSp>
      <p:sp>
        <p:nvSpPr>
          <p:cNvPr id="118" name="tree_hl3"/>
          <p:cNvSpPr/>
          <p:nvPr/>
        </p:nvSpPr>
        <p:spPr>
          <a:xfrm>
            <a:off x="676656" y="2629972"/>
            <a:ext cx="5219400" cy="181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28" name="read"/>
          <p:cNvGrpSpPr/>
          <p:nvPr/>
        </p:nvGrpSpPr>
        <p:grpSpPr>
          <a:xfrm>
            <a:off x="543154" y="3611880"/>
            <a:ext cx="5486400" cy="895900"/>
            <a:chOff x="543154" y="3611880"/>
            <a:chExt cx="5486400" cy="895900"/>
          </a:xfrm>
        </p:grpSpPr>
        <p:sp>
          <p:nvSpPr>
            <p:cNvPr id="119" name="read_win"/>
            <p:cNvSpPr/>
            <p:nvPr/>
          </p:nvSpPr>
          <p:spPr>
            <a:xfrm>
              <a:off x="543154" y="3611880"/>
              <a:ext cx="5486400" cy="895900"/>
            </a:xfrm>
            <a:prstGeom prst="roundRect">
              <a:avLst>
                <a:gd name="adj" fmla="val 7651"/>
              </a:avLst>
            </a:prstGeom>
            <a:solidFill>
              <a:srgbClr val="060D18"/>
            </a:solidFill>
            <a:ln w="12700">
              <a:solidFill>
                <a:srgbClr val="1E3A5F"/>
              </a:solidFill>
              <a:prstDash val="solid"/>
            </a:ln>
          </p:spPr>
          <p:txBody>
            <a:bodyPr/>
            <a:lstStyle/>
            <a:p>
              <a:endParaRPr lang="en-US"/>
            </a:p>
          </p:txBody>
        </p:sp>
        <p:sp>
          <p:nvSpPr>
            <p:cNvPr id="120" name="read_bar"/>
            <p:cNvSpPr/>
            <p:nvPr/>
          </p:nvSpPr>
          <p:spPr>
            <a:xfrm>
              <a:off x="543154" y="3611880"/>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1" name="read_barfill"/>
            <p:cNvSpPr/>
            <p:nvPr/>
          </p:nvSpPr>
          <p:spPr>
            <a:xfrm>
              <a:off x="543154" y="3783330"/>
              <a:ext cx="5486400" cy="171450"/>
            </a:xfrm>
            <a:prstGeom prst="rect">
              <a:avLst/>
            </a:prstGeom>
            <a:solidFill>
              <a:srgbClr val="0A1220"/>
            </a:solidFill>
            <a:ln w="12700">
              <a:solidFill>
                <a:srgbClr val="0A1220"/>
              </a:solidFill>
              <a:prstDash val="solid"/>
            </a:ln>
          </p:spPr>
          <p:txBody>
            <a:bodyPr/>
            <a:lstStyle/>
            <a:p>
              <a:endParaRPr lang="en-US"/>
            </a:p>
          </p:txBody>
        </p:sp>
        <p:sp>
          <p:nvSpPr>
            <p:cNvPr id="122" name="read_dot0"/>
            <p:cNvSpPr/>
            <p:nvPr/>
          </p:nvSpPr>
          <p:spPr>
            <a:xfrm>
              <a:off x="705002" y="3735690"/>
              <a:ext cx="95098" cy="95098"/>
            </a:xfrm>
            <a:prstGeom prst="ellipse">
              <a:avLst/>
            </a:prstGeom>
            <a:solidFill>
              <a:srgbClr val="F87171"/>
            </a:solidFill>
            <a:ln w="12700">
              <a:solidFill>
                <a:srgbClr val="F87171"/>
              </a:solidFill>
              <a:prstDash val="solid"/>
            </a:ln>
          </p:spPr>
          <p:txBody>
            <a:bodyPr/>
            <a:lstStyle/>
            <a:p>
              <a:endParaRPr lang="en-US"/>
            </a:p>
          </p:txBody>
        </p:sp>
        <p:sp>
          <p:nvSpPr>
            <p:cNvPr id="123" name="read_dot1"/>
            <p:cNvSpPr/>
            <p:nvPr/>
          </p:nvSpPr>
          <p:spPr>
            <a:xfrm>
              <a:off x="890626" y="3735690"/>
              <a:ext cx="95098" cy="95098"/>
            </a:xfrm>
            <a:prstGeom prst="ellipse">
              <a:avLst/>
            </a:prstGeom>
            <a:solidFill>
              <a:srgbClr val="FBBF24"/>
            </a:solidFill>
            <a:ln w="12700">
              <a:solidFill>
                <a:srgbClr val="FBBF24"/>
              </a:solidFill>
              <a:prstDash val="solid"/>
            </a:ln>
          </p:spPr>
          <p:txBody>
            <a:bodyPr/>
            <a:lstStyle/>
            <a:p>
              <a:endParaRPr lang="en-US"/>
            </a:p>
          </p:txBody>
        </p:sp>
        <p:sp>
          <p:nvSpPr>
            <p:cNvPr id="124" name="read_dot2"/>
            <p:cNvSpPr/>
            <p:nvPr/>
          </p:nvSpPr>
          <p:spPr>
            <a:xfrm>
              <a:off x="1076250" y="3735690"/>
              <a:ext cx="95098" cy="95098"/>
            </a:xfrm>
            <a:prstGeom prst="ellipse">
              <a:avLst/>
            </a:prstGeom>
            <a:solidFill>
              <a:srgbClr val="34D399"/>
            </a:solidFill>
            <a:ln w="12700">
              <a:solidFill>
                <a:srgbClr val="34D399"/>
              </a:solidFill>
              <a:prstDash val="solid"/>
            </a:ln>
          </p:spPr>
          <p:txBody>
            <a:bodyPr/>
            <a:lstStyle/>
            <a:p>
              <a:endParaRPr lang="en-US"/>
            </a:p>
          </p:txBody>
        </p:sp>
        <p:sp>
          <p:nvSpPr>
            <p:cNvPr id="125" name="read_tab"/>
            <p:cNvSpPr/>
            <p:nvPr/>
          </p:nvSpPr>
          <p:spPr>
            <a:xfrm>
              <a:off x="1324051" y="365942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26" name="read_L00"/>
            <p:cNvSpPr txBox="1"/>
            <p:nvPr/>
          </p:nvSpPr>
          <p:spPr>
            <a:xfrm>
              <a:off x="771754" y="4087780"/>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json = File.ReadAllText(</a:t>
              </a:r>
              <a:r>
                <a:rPr lang="en-US" sz="860" b="0" dirty="0">
                  <a:solidFill>
                    <a:srgbClr val="F0A98B"/>
                  </a:solidFill>
                  <a:latin typeface="Consolas"/>
                  <a:ea typeface="Consolas"/>
                  <a:cs typeface="Consolas"/>
                </a:rPr>
                <a:t>@"Data\students.json"</a:t>
              </a:r>
              <a:r>
                <a:rPr lang="en-US" sz="860" b="0" dirty="0">
                  <a:solidFill>
                    <a:srgbClr val="E2E8F0"/>
                  </a:solidFill>
                  <a:latin typeface="Consolas"/>
                  <a:ea typeface="Consolas"/>
                  <a:cs typeface="Consolas"/>
                </a:rPr>
                <a:t>);</a:t>
              </a:r>
              <a:endParaRPr lang="en-US" sz="860" dirty="0"/>
            </a:p>
          </p:txBody>
        </p:sp>
        <p:sp>
          <p:nvSpPr>
            <p:cNvPr id="127" name="read_L01"/>
            <p:cNvSpPr txBox="1"/>
            <p:nvPr/>
          </p:nvSpPr>
          <p:spPr>
            <a:xfrm>
              <a:off x="771754" y="4237780"/>
              <a:ext cx="51864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FAE7A"/>
                  </a:solidFill>
                  <a:latin typeface="Consolas"/>
                  <a:ea typeface="Consolas"/>
                  <a:cs typeface="Consolas"/>
                </a:rPr>
                <a:t>// current directory: bin\Debug\net10.0</a:t>
              </a:r>
              <a:r>
                <a:rPr lang="en-US" sz="860" dirty="0">
                  <a:solidFill>
                    <a:srgbClr val="6FAE7A"/>
                  </a:solidFill>
                  <a:latin typeface="Consolas"/>
                  <a:ea typeface="Consolas"/>
                  <a:cs typeface="Consolas"/>
                </a:rPr>
                <a:t>\Data\</a:t>
              </a:r>
              <a:r>
                <a:rPr lang="en-US" sz="860" dirty="0" err="1">
                  <a:solidFill>
                    <a:srgbClr val="6FAE7A"/>
                  </a:solidFill>
                  <a:latin typeface="Consolas"/>
                  <a:ea typeface="Consolas"/>
                  <a:cs typeface="Consolas"/>
                </a:rPr>
                <a:t>students.json</a:t>
              </a:r>
              <a:endParaRPr lang="en-US" sz="860" dirty="0"/>
            </a:p>
          </p:txBody>
        </p:sp>
      </p:grpSp>
      <p:sp>
        <p:nvSpPr>
          <p:cNvPr id="129" name="read_hl0"/>
          <p:cNvSpPr/>
          <p:nvPr/>
        </p:nvSpPr>
        <p:spPr>
          <a:xfrm>
            <a:off x="676656" y="4069492"/>
            <a:ext cx="521940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0" name="look"/>
          <p:cNvSpPr/>
          <p:nvPr/>
        </p:nvSpPr>
        <p:spPr>
          <a:xfrm>
            <a:off x="543154" y="4590288"/>
            <a:ext cx="5486400" cy="896112"/>
          </a:xfrm>
          <a:prstGeom prst="roundRect">
            <a:avLst>
              <a:gd name="adj" fmla="val 12000"/>
            </a:avLst>
          </a:prstGeom>
          <a:solidFill>
            <a:srgbClr val="F87171">
              <a:alpha val="10000"/>
            </a:srgbClr>
          </a:solidFill>
          <a:ln w="12700">
            <a:solidFill>
              <a:srgbClr val="F87171"/>
            </a:solidFill>
            <a:prstDash val="solid"/>
          </a:ln>
        </p:spPr>
        <p:txBody>
          <a:bodyPr wrap="square" lIns="164592" tIns="27432" rIns="91440" bIns="27432"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Looks for  </a:t>
            </a:r>
            <a:r>
              <a:rPr lang="en-US" sz="950" b="0" dirty="0">
                <a:solidFill>
                  <a:srgbClr val="13D0F7"/>
                </a:solidFill>
                <a:latin typeface="Consolas"/>
                <a:ea typeface="Consolas"/>
                <a:cs typeface="Consolas"/>
              </a:rPr>
              <a:t>bin\Debug\net10.0\Data\students.json</a:t>
            </a:r>
            <a:endParaRPr lang="en-US" sz="1000" dirty="0"/>
          </a:p>
          <a:p>
            <a:pPr marL="0" indent="0" algn="l">
              <a:spcBef>
                <a:spcPts val="0"/>
              </a:spcBef>
              <a:spcAft>
                <a:spcPts val="0"/>
              </a:spcAft>
              <a:buNone/>
            </a:pPr>
            <a:r>
              <a:rPr lang="en-US" sz="1050" b="1" dirty="0">
                <a:solidFill>
                  <a:srgbClr val="F87171"/>
                </a:solidFill>
                <a:latin typeface="Segoe UI"/>
                <a:ea typeface="Segoe UI"/>
                <a:cs typeface="Segoe UI"/>
              </a:rPr>
              <a:t>✗ not there → </a:t>
            </a:r>
            <a:r>
              <a:rPr lang="en-US" sz="1000" b="0" dirty="0">
                <a:solidFill>
                  <a:srgbClr val="E2E8F0"/>
                </a:solidFill>
                <a:latin typeface="Segoe UI"/>
                <a:ea typeface="Segoe UI"/>
                <a:cs typeface="Segoe UI"/>
              </a:rPr>
              <a:t>the program throws an error</a:t>
            </a:r>
            <a:endParaRPr lang="en-US" sz="1050" dirty="0"/>
          </a:p>
        </p:txBody>
      </p:sp>
      <p:sp>
        <p:nvSpPr>
          <p:cNvPr id="131" name="hs"/>
          <p:cNvSpPr txBox="1"/>
          <p:nvPr/>
        </p:nvSpPr>
        <p:spPr>
          <a:xfrm>
            <a:off x="6303874" y="1444752"/>
            <a:ext cx="53263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34D399"/>
                </a:solidFill>
                <a:latin typeface="Segoe UI"/>
                <a:ea typeface="Segoe UI"/>
                <a:cs typeface="Segoe UI"/>
              </a:rPr>
              <a:t>✓  THE SOLUTION</a:t>
            </a:r>
            <a:endParaRPr lang="en-US" sz="1150" dirty="0"/>
          </a:p>
        </p:txBody>
      </p:sp>
      <p:sp>
        <p:nvSpPr>
          <p:cNvPr id="132" name="steps"/>
          <p:cNvSpPr/>
          <p:nvPr/>
        </p:nvSpPr>
        <p:spPr>
          <a:xfrm>
            <a:off x="6303874" y="1737360"/>
            <a:ext cx="5326380" cy="603504"/>
          </a:xfrm>
          <a:prstGeom prst="roundRect">
            <a:avLst>
              <a:gd name="adj" fmla="val 12000"/>
            </a:avLst>
          </a:prstGeom>
          <a:solidFill>
            <a:srgbClr val="111B2E"/>
          </a:solidFill>
          <a:ln w="12700">
            <a:solidFill>
              <a:srgbClr val="34D399"/>
            </a:solidFill>
            <a:prstDash val="solid"/>
          </a:ln>
        </p:spPr>
        <p:txBody>
          <a:bodyPr wrap="square" lIns="164592" tIns="27432" rIns="91440" bIns="27432"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Select the file → Properties → </a:t>
            </a:r>
            <a:endParaRPr lang="en-US" sz="1000" dirty="0"/>
          </a:p>
          <a:p>
            <a:pPr marL="0" indent="0" algn="l">
              <a:spcBef>
                <a:spcPts val="0"/>
              </a:spcBef>
              <a:spcAft>
                <a:spcPts val="0"/>
              </a:spcAft>
              <a:buNone/>
            </a:pPr>
            <a:r>
              <a:rPr lang="en-US" sz="1000" b="0" dirty="0">
                <a:solidFill>
                  <a:srgbClr val="E2E8F0"/>
                </a:solidFill>
                <a:latin typeface="Segoe UI"/>
                <a:ea typeface="Segoe UI"/>
                <a:cs typeface="Segoe UI"/>
              </a:rPr>
              <a:t>Copy to Output Directory → </a:t>
            </a:r>
            <a:r>
              <a:rPr lang="en-US" sz="1050" b="1" dirty="0">
                <a:solidFill>
                  <a:srgbClr val="34D399"/>
                </a:solidFill>
                <a:latin typeface="Segoe UI"/>
                <a:ea typeface="Segoe UI"/>
                <a:cs typeface="Segoe UI"/>
              </a:rPr>
              <a:t>Copy if newer</a:t>
            </a:r>
            <a:endParaRPr lang="en-US" sz="1000" dirty="0"/>
          </a:p>
        </p:txBody>
      </p:sp>
      <p:grpSp>
        <p:nvGrpSpPr>
          <p:cNvPr id="144" name="csproj"/>
          <p:cNvGrpSpPr/>
          <p:nvPr/>
        </p:nvGrpSpPr>
        <p:grpSpPr>
          <a:xfrm>
            <a:off x="6303874" y="2432304"/>
            <a:ext cx="5326380" cy="1175900"/>
            <a:chOff x="6303874" y="2432304"/>
            <a:chExt cx="5326380" cy="1175900"/>
          </a:xfrm>
        </p:grpSpPr>
        <p:sp>
          <p:nvSpPr>
            <p:cNvPr id="133" name="csproj_win"/>
            <p:cNvSpPr/>
            <p:nvPr/>
          </p:nvSpPr>
          <p:spPr>
            <a:xfrm>
              <a:off x="6303874" y="2432304"/>
              <a:ext cx="5326380" cy="1175900"/>
            </a:xfrm>
            <a:prstGeom prst="roundRect">
              <a:avLst>
                <a:gd name="adj" fmla="val 5829"/>
              </a:avLst>
            </a:prstGeom>
            <a:solidFill>
              <a:srgbClr val="060D18"/>
            </a:solidFill>
            <a:ln w="12700">
              <a:solidFill>
                <a:srgbClr val="1E3A5F"/>
              </a:solidFill>
              <a:prstDash val="solid"/>
            </a:ln>
          </p:spPr>
          <p:txBody>
            <a:bodyPr/>
            <a:lstStyle/>
            <a:p>
              <a:endParaRPr lang="en-US"/>
            </a:p>
          </p:txBody>
        </p:sp>
        <p:sp>
          <p:nvSpPr>
            <p:cNvPr id="134" name="csproj_bar"/>
            <p:cNvSpPr/>
            <p:nvPr/>
          </p:nvSpPr>
          <p:spPr>
            <a:xfrm>
              <a:off x="6303874" y="2432304"/>
              <a:ext cx="53263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5" name="csproj_barfill"/>
            <p:cNvSpPr/>
            <p:nvPr/>
          </p:nvSpPr>
          <p:spPr>
            <a:xfrm>
              <a:off x="6303874" y="2603754"/>
              <a:ext cx="5326380" cy="171450"/>
            </a:xfrm>
            <a:prstGeom prst="rect">
              <a:avLst/>
            </a:prstGeom>
            <a:solidFill>
              <a:srgbClr val="0A1220"/>
            </a:solidFill>
            <a:ln w="12700">
              <a:solidFill>
                <a:srgbClr val="0A1220"/>
              </a:solidFill>
              <a:prstDash val="solid"/>
            </a:ln>
          </p:spPr>
          <p:txBody>
            <a:bodyPr/>
            <a:lstStyle/>
            <a:p>
              <a:endParaRPr lang="en-US"/>
            </a:p>
          </p:txBody>
        </p:sp>
        <p:sp>
          <p:nvSpPr>
            <p:cNvPr id="136" name="csproj_dot0"/>
            <p:cNvSpPr/>
            <p:nvPr/>
          </p:nvSpPr>
          <p:spPr>
            <a:xfrm>
              <a:off x="6465722" y="2556114"/>
              <a:ext cx="95098" cy="95098"/>
            </a:xfrm>
            <a:prstGeom prst="ellipse">
              <a:avLst/>
            </a:prstGeom>
            <a:solidFill>
              <a:srgbClr val="F87171"/>
            </a:solidFill>
            <a:ln w="12700">
              <a:solidFill>
                <a:srgbClr val="F87171"/>
              </a:solidFill>
              <a:prstDash val="solid"/>
            </a:ln>
          </p:spPr>
          <p:txBody>
            <a:bodyPr/>
            <a:lstStyle/>
            <a:p>
              <a:endParaRPr lang="en-US"/>
            </a:p>
          </p:txBody>
        </p:sp>
        <p:sp>
          <p:nvSpPr>
            <p:cNvPr id="137" name="csproj_dot1"/>
            <p:cNvSpPr/>
            <p:nvPr/>
          </p:nvSpPr>
          <p:spPr>
            <a:xfrm>
              <a:off x="6651346" y="2556114"/>
              <a:ext cx="95098" cy="95098"/>
            </a:xfrm>
            <a:prstGeom prst="ellipse">
              <a:avLst/>
            </a:prstGeom>
            <a:solidFill>
              <a:srgbClr val="FBBF24"/>
            </a:solidFill>
            <a:ln w="12700">
              <a:solidFill>
                <a:srgbClr val="FBBF24"/>
              </a:solidFill>
              <a:prstDash val="solid"/>
            </a:ln>
          </p:spPr>
          <p:txBody>
            <a:bodyPr/>
            <a:lstStyle/>
            <a:p>
              <a:endParaRPr lang="en-US"/>
            </a:p>
          </p:txBody>
        </p:sp>
        <p:sp>
          <p:nvSpPr>
            <p:cNvPr id="138" name="csproj_dot2"/>
            <p:cNvSpPr/>
            <p:nvPr/>
          </p:nvSpPr>
          <p:spPr>
            <a:xfrm>
              <a:off x="6836970" y="2556114"/>
              <a:ext cx="95098" cy="95098"/>
            </a:xfrm>
            <a:prstGeom prst="ellipse">
              <a:avLst/>
            </a:prstGeom>
            <a:solidFill>
              <a:srgbClr val="34D399"/>
            </a:solidFill>
            <a:ln w="12700">
              <a:solidFill>
                <a:srgbClr val="34D399"/>
              </a:solidFill>
              <a:prstDash val="solid"/>
            </a:ln>
          </p:spPr>
          <p:txBody>
            <a:bodyPr/>
            <a:lstStyle/>
            <a:p>
              <a:endParaRPr lang="en-US"/>
            </a:p>
          </p:txBody>
        </p:sp>
        <p:sp>
          <p:nvSpPr>
            <p:cNvPr id="139" name="csproj_tab"/>
            <p:cNvSpPr/>
            <p:nvPr/>
          </p:nvSpPr>
          <p:spPr>
            <a:xfrm>
              <a:off x="7084771" y="2479853"/>
              <a:ext cx="148808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 in the .csproj</a:t>
              </a:r>
              <a:endParaRPr lang="en-US" sz="950" dirty="0"/>
            </a:p>
          </p:txBody>
        </p:sp>
        <p:sp>
          <p:nvSpPr>
            <p:cNvPr id="140" name="csproj_L00"/>
            <p:cNvSpPr txBox="1"/>
            <p:nvPr/>
          </p:nvSpPr>
          <p:spPr>
            <a:xfrm>
              <a:off x="6532474" y="2908204"/>
              <a:ext cx="502638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&lt;ItemGroup&gt;</a:t>
              </a:r>
              <a:endParaRPr lang="en-US" sz="860" dirty="0"/>
            </a:p>
          </p:txBody>
        </p:sp>
        <p:sp>
          <p:nvSpPr>
            <p:cNvPr id="141" name="csproj_L01"/>
            <p:cNvSpPr txBox="1"/>
            <p:nvPr/>
          </p:nvSpPr>
          <p:spPr>
            <a:xfrm>
              <a:off x="6532474" y="3053204"/>
              <a:ext cx="502638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  &lt;None Update=</a:t>
              </a:r>
              <a:r>
                <a:rPr lang="en-US" sz="860" b="0" dirty="0">
                  <a:solidFill>
                    <a:srgbClr val="F0A98B"/>
                  </a:solidFill>
                  <a:latin typeface="Consolas"/>
                  <a:ea typeface="Consolas"/>
                  <a:cs typeface="Consolas"/>
                </a:rPr>
                <a:t>"Data\students.json"</a:t>
              </a:r>
              <a:endParaRPr lang="en-US" sz="860" dirty="0"/>
            </a:p>
          </p:txBody>
        </p:sp>
        <p:sp>
          <p:nvSpPr>
            <p:cNvPr id="142" name="csproj_L02"/>
            <p:cNvSpPr txBox="1"/>
            <p:nvPr/>
          </p:nvSpPr>
          <p:spPr>
            <a:xfrm>
              <a:off x="6532474" y="3198204"/>
              <a:ext cx="5026380" cy="14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CopyToOutputDirectory=</a:t>
              </a:r>
              <a:r>
                <a:rPr lang="en-US" sz="860" b="0" dirty="0">
                  <a:solidFill>
                    <a:srgbClr val="F0A98B"/>
                  </a:solidFill>
                  <a:latin typeface="Consolas"/>
                  <a:ea typeface="Consolas"/>
                  <a:cs typeface="Consolas"/>
                </a:rPr>
                <a:t>"PreserveNewest"</a:t>
              </a:r>
              <a:r>
                <a:rPr lang="en-US" sz="860" b="0" dirty="0">
                  <a:solidFill>
                    <a:srgbClr val="E2E8F0"/>
                  </a:solidFill>
                  <a:latin typeface="Consolas"/>
                  <a:ea typeface="Consolas"/>
                  <a:cs typeface="Consolas"/>
                </a:rPr>
                <a:t> /&gt;</a:t>
              </a:r>
              <a:endParaRPr lang="en-US" sz="860" dirty="0"/>
            </a:p>
          </p:txBody>
        </p:sp>
        <p:sp>
          <p:nvSpPr>
            <p:cNvPr id="143" name="csproj_L03"/>
            <p:cNvSpPr txBox="1"/>
            <p:nvPr/>
          </p:nvSpPr>
          <p:spPr>
            <a:xfrm>
              <a:off x="6532474" y="3343204"/>
              <a:ext cx="502638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&lt;/ItemGroup&gt;</a:t>
              </a:r>
              <a:endParaRPr lang="en-US" sz="860" dirty="0"/>
            </a:p>
          </p:txBody>
        </p:sp>
      </p:grpSp>
      <p:sp>
        <p:nvSpPr>
          <p:cNvPr id="145" name="csproj_hl1"/>
          <p:cNvSpPr/>
          <p:nvPr/>
        </p:nvSpPr>
        <p:spPr>
          <a:xfrm>
            <a:off x="6437376" y="3034916"/>
            <a:ext cx="5059380" cy="18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6" name="csproj_hl2"/>
          <p:cNvSpPr/>
          <p:nvPr/>
        </p:nvSpPr>
        <p:spPr>
          <a:xfrm>
            <a:off x="6437376" y="3179916"/>
            <a:ext cx="5059380" cy="181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60" name="after"/>
          <p:cNvGrpSpPr/>
          <p:nvPr/>
        </p:nvGrpSpPr>
        <p:grpSpPr>
          <a:xfrm>
            <a:off x="6303874" y="3630168"/>
            <a:ext cx="5326380" cy="1465900"/>
            <a:chOff x="6303874" y="3630168"/>
            <a:chExt cx="5326380" cy="1465900"/>
          </a:xfrm>
        </p:grpSpPr>
        <p:sp>
          <p:nvSpPr>
            <p:cNvPr id="147" name="after_win"/>
            <p:cNvSpPr/>
            <p:nvPr/>
          </p:nvSpPr>
          <p:spPr>
            <a:xfrm>
              <a:off x="6303874" y="3630168"/>
              <a:ext cx="5326380" cy="1465900"/>
            </a:xfrm>
            <a:prstGeom prst="roundRect">
              <a:avLst>
                <a:gd name="adj" fmla="val 4676"/>
              </a:avLst>
            </a:prstGeom>
            <a:solidFill>
              <a:srgbClr val="060D18"/>
            </a:solidFill>
            <a:ln w="12700">
              <a:solidFill>
                <a:srgbClr val="1E3A5F"/>
              </a:solidFill>
              <a:prstDash val="solid"/>
            </a:ln>
          </p:spPr>
          <p:txBody>
            <a:bodyPr/>
            <a:lstStyle/>
            <a:p>
              <a:endParaRPr lang="en-US"/>
            </a:p>
          </p:txBody>
        </p:sp>
        <p:sp>
          <p:nvSpPr>
            <p:cNvPr id="148" name="after_bar"/>
            <p:cNvSpPr/>
            <p:nvPr/>
          </p:nvSpPr>
          <p:spPr>
            <a:xfrm>
              <a:off x="6303874" y="3630168"/>
              <a:ext cx="53263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9" name="after_barfill"/>
            <p:cNvSpPr/>
            <p:nvPr/>
          </p:nvSpPr>
          <p:spPr>
            <a:xfrm>
              <a:off x="6303874" y="3801618"/>
              <a:ext cx="5326380" cy="171450"/>
            </a:xfrm>
            <a:prstGeom prst="rect">
              <a:avLst/>
            </a:prstGeom>
            <a:solidFill>
              <a:srgbClr val="0A1220"/>
            </a:solidFill>
            <a:ln w="12700">
              <a:solidFill>
                <a:srgbClr val="0A1220"/>
              </a:solidFill>
              <a:prstDash val="solid"/>
            </a:ln>
          </p:spPr>
          <p:txBody>
            <a:bodyPr/>
            <a:lstStyle/>
            <a:p>
              <a:endParaRPr lang="en-US"/>
            </a:p>
          </p:txBody>
        </p:sp>
        <p:sp>
          <p:nvSpPr>
            <p:cNvPr id="150" name="after_dot0"/>
            <p:cNvSpPr/>
            <p:nvPr/>
          </p:nvSpPr>
          <p:spPr>
            <a:xfrm>
              <a:off x="6465722" y="3753978"/>
              <a:ext cx="95098" cy="95098"/>
            </a:xfrm>
            <a:prstGeom prst="ellipse">
              <a:avLst/>
            </a:prstGeom>
            <a:solidFill>
              <a:srgbClr val="F87171"/>
            </a:solidFill>
            <a:ln w="12700">
              <a:solidFill>
                <a:srgbClr val="F87171"/>
              </a:solidFill>
              <a:prstDash val="solid"/>
            </a:ln>
          </p:spPr>
          <p:txBody>
            <a:bodyPr/>
            <a:lstStyle/>
            <a:p>
              <a:endParaRPr lang="en-US"/>
            </a:p>
          </p:txBody>
        </p:sp>
        <p:sp>
          <p:nvSpPr>
            <p:cNvPr id="151" name="after_dot1"/>
            <p:cNvSpPr/>
            <p:nvPr/>
          </p:nvSpPr>
          <p:spPr>
            <a:xfrm>
              <a:off x="6651346" y="3753978"/>
              <a:ext cx="95098" cy="95098"/>
            </a:xfrm>
            <a:prstGeom prst="ellipse">
              <a:avLst/>
            </a:prstGeom>
            <a:solidFill>
              <a:srgbClr val="FBBF24"/>
            </a:solidFill>
            <a:ln w="12700">
              <a:solidFill>
                <a:srgbClr val="FBBF24"/>
              </a:solidFill>
              <a:prstDash val="solid"/>
            </a:ln>
          </p:spPr>
          <p:txBody>
            <a:bodyPr/>
            <a:lstStyle/>
            <a:p>
              <a:endParaRPr lang="en-US"/>
            </a:p>
          </p:txBody>
        </p:sp>
        <p:sp>
          <p:nvSpPr>
            <p:cNvPr id="152" name="after_dot2"/>
            <p:cNvSpPr/>
            <p:nvPr/>
          </p:nvSpPr>
          <p:spPr>
            <a:xfrm>
              <a:off x="6836970" y="3753978"/>
              <a:ext cx="95098" cy="95098"/>
            </a:xfrm>
            <a:prstGeom prst="ellipse">
              <a:avLst/>
            </a:prstGeom>
            <a:solidFill>
              <a:srgbClr val="34D399"/>
            </a:solidFill>
            <a:ln w="12700">
              <a:solidFill>
                <a:srgbClr val="34D399"/>
              </a:solidFill>
              <a:prstDash val="solid"/>
            </a:ln>
          </p:spPr>
          <p:txBody>
            <a:bodyPr/>
            <a:lstStyle/>
            <a:p>
              <a:endParaRPr lang="en-US"/>
            </a:p>
          </p:txBody>
        </p:sp>
        <p:sp>
          <p:nvSpPr>
            <p:cNvPr id="153" name="after_tab"/>
            <p:cNvSpPr/>
            <p:nvPr/>
          </p:nvSpPr>
          <p:spPr>
            <a:xfrm>
              <a:off x="7084771" y="3677717"/>
              <a:ext cx="135184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After the build</a:t>
              </a:r>
              <a:endParaRPr lang="en-US" sz="950" dirty="0"/>
            </a:p>
          </p:txBody>
        </p:sp>
        <p:sp>
          <p:nvSpPr>
            <p:cNvPr id="154" name="after_L00"/>
            <p:cNvSpPr txBox="1"/>
            <p:nvPr/>
          </p:nvSpPr>
          <p:spPr>
            <a:xfrm>
              <a:off x="6532474" y="4106068"/>
              <a:ext cx="502638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bin</a:t>
              </a:r>
              <a:endParaRPr lang="en-US" sz="860" dirty="0"/>
            </a:p>
          </p:txBody>
        </p:sp>
        <p:sp>
          <p:nvSpPr>
            <p:cNvPr id="155" name="after_L01"/>
            <p:cNvSpPr txBox="1"/>
            <p:nvPr/>
          </p:nvSpPr>
          <p:spPr>
            <a:xfrm>
              <a:off x="6532474" y="4251068"/>
              <a:ext cx="5026380" cy="14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 Debug</a:t>
              </a:r>
              <a:endParaRPr lang="en-US" sz="860" dirty="0"/>
            </a:p>
          </p:txBody>
        </p:sp>
        <p:sp>
          <p:nvSpPr>
            <p:cNvPr id="156" name="after_L02"/>
            <p:cNvSpPr txBox="1"/>
            <p:nvPr/>
          </p:nvSpPr>
          <p:spPr>
            <a:xfrm>
              <a:off x="6532474" y="4396068"/>
              <a:ext cx="5026380" cy="14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 net10.0</a:t>
              </a:r>
              <a:endParaRPr lang="en-US" sz="860" dirty="0"/>
            </a:p>
          </p:txBody>
        </p:sp>
        <p:sp>
          <p:nvSpPr>
            <p:cNvPr id="157" name="after_L03"/>
            <p:cNvSpPr txBox="1"/>
            <p:nvPr/>
          </p:nvSpPr>
          <p:spPr>
            <a:xfrm>
              <a:off x="6532474" y="4541068"/>
              <a:ext cx="5026380" cy="14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 ConsoleApp30.exe</a:t>
              </a:r>
              <a:endParaRPr lang="en-US" sz="860" dirty="0"/>
            </a:p>
          </p:txBody>
        </p:sp>
        <p:sp>
          <p:nvSpPr>
            <p:cNvPr id="158" name="after_L04"/>
            <p:cNvSpPr txBox="1"/>
            <p:nvPr/>
          </p:nvSpPr>
          <p:spPr>
            <a:xfrm>
              <a:off x="6532474" y="4686068"/>
              <a:ext cx="5026380" cy="14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60" b="0" dirty="0">
                  <a:solidFill>
                    <a:srgbClr val="E2E8F0"/>
                  </a:solidFill>
                  <a:latin typeface="Consolas"/>
                  <a:ea typeface="Consolas"/>
                  <a:cs typeface="Consolas"/>
                </a:rPr>
                <a:t>└── Data</a:t>
              </a:r>
              <a:endParaRPr lang="en-US" sz="860" dirty="0"/>
            </a:p>
          </p:txBody>
        </p:sp>
        <p:sp>
          <p:nvSpPr>
            <p:cNvPr id="159" name="after_L05"/>
            <p:cNvSpPr txBox="1"/>
            <p:nvPr/>
          </p:nvSpPr>
          <p:spPr>
            <a:xfrm>
              <a:off x="6532474" y="4831068"/>
              <a:ext cx="5026380" cy="145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60" b="0" dirty="0">
                  <a:solidFill>
                    <a:srgbClr val="E2E8F0"/>
                  </a:solidFill>
                  <a:latin typeface="Consolas"/>
                  <a:ea typeface="Consolas"/>
                  <a:cs typeface="Consolas"/>
                </a:rPr>
                <a:t>└── students.json      ← copied</a:t>
              </a:r>
              <a:endParaRPr lang="en-US" sz="860" dirty="0"/>
            </a:p>
          </p:txBody>
        </p:sp>
      </p:grpSp>
      <p:sp>
        <p:nvSpPr>
          <p:cNvPr id="161" name="after_hl4"/>
          <p:cNvSpPr/>
          <p:nvPr/>
        </p:nvSpPr>
        <p:spPr>
          <a:xfrm>
            <a:off x="6437376" y="4667780"/>
            <a:ext cx="5059380" cy="18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62" name="after_hl5"/>
          <p:cNvSpPr/>
          <p:nvPr/>
        </p:nvSpPr>
        <p:spPr>
          <a:xfrm>
            <a:off x="6437376" y="4812780"/>
            <a:ext cx="5059380" cy="18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63" name="opts"/>
          <p:cNvSpPr/>
          <p:nvPr/>
        </p:nvSpPr>
        <p:spPr>
          <a:xfrm>
            <a:off x="6303874" y="5148072"/>
            <a:ext cx="5326380" cy="384048"/>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94A3B8"/>
                </a:solidFill>
                <a:latin typeface="Segoe UI"/>
                <a:ea typeface="Segoe UI"/>
                <a:cs typeface="Segoe UI"/>
              </a:rPr>
              <a:t>Do not copy</a:t>
            </a:r>
            <a:r>
              <a:rPr lang="en-US" sz="900" b="0" dirty="0">
                <a:solidFill>
                  <a:srgbClr val="94A3B8"/>
                </a:solidFill>
                <a:latin typeface="Segoe UI"/>
                <a:ea typeface="Segoe UI"/>
                <a:cs typeface="Segoe UI"/>
              </a:rPr>
              <a:t> never  ·  </a:t>
            </a:r>
            <a:r>
              <a:rPr lang="en-US" sz="950" b="1" dirty="0">
                <a:solidFill>
                  <a:srgbClr val="CBD5E1"/>
                </a:solidFill>
                <a:latin typeface="Segoe UI"/>
                <a:ea typeface="Segoe UI"/>
                <a:cs typeface="Segoe UI"/>
              </a:rPr>
              <a:t>Copy always</a:t>
            </a:r>
            <a:r>
              <a:rPr lang="en-US" sz="900" b="0" dirty="0">
                <a:solidFill>
                  <a:srgbClr val="94A3B8"/>
                </a:solidFill>
                <a:latin typeface="Segoe UI"/>
                <a:ea typeface="Segoe UI"/>
                <a:cs typeface="Segoe UI"/>
              </a:rPr>
              <a:t> every build  ·  </a:t>
            </a:r>
            <a:r>
              <a:rPr lang="en-US" sz="950" b="1" dirty="0">
                <a:solidFill>
                  <a:srgbClr val="34D399"/>
                </a:solidFill>
                <a:latin typeface="Segoe UI"/>
                <a:ea typeface="Segoe UI"/>
                <a:cs typeface="Segoe UI"/>
              </a:rPr>
              <a:t>Copy if newer</a:t>
            </a:r>
            <a:r>
              <a:rPr lang="en-US" sz="900" b="0" dirty="0">
                <a:solidFill>
                  <a:srgbClr val="34D399"/>
                </a:solidFill>
                <a:latin typeface="Segoe UI"/>
                <a:ea typeface="Segoe UI"/>
                <a:cs typeface="Segoe UI"/>
              </a:rPr>
              <a:t> when needed ✓</a:t>
            </a:r>
            <a:endParaRPr lang="en-US" sz="950" dirty="0"/>
          </a:p>
        </p:txBody>
      </p:sp>
      <p:sp>
        <p:nvSpPr>
          <p:cNvPr id="164" name="note"/>
          <p:cNvSpPr/>
          <p:nvPr/>
        </p:nvSpPr>
        <p:spPr>
          <a:xfrm>
            <a:off x="543154" y="5614416"/>
            <a:ext cx="11087100" cy="457200"/>
          </a:xfrm>
          <a:prstGeom prst="roundRect">
            <a:avLst>
              <a:gd name="adj" fmla="val 12000"/>
            </a:avLst>
          </a:prstGeom>
          <a:solidFill>
            <a:srgbClr val="FBBF24">
              <a:alpha val="10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FBBF24"/>
                </a:solidFill>
                <a:latin typeface="Segoe UI"/>
                <a:ea typeface="Segoe UI"/>
                <a:cs typeface="Segoe UI"/>
              </a:rPr>
              <a:t>IMPORTANT  </a:t>
            </a:r>
            <a:r>
              <a:rPr lang="en-US" sz="1000" b="0" dirty="0">
                <a:solidFill>
                  <a:srgbClr val="13D0F7"/>
                </a:solidFill>
                <a:latin typeface="Consolas"/>
                <a:ea typeface="Consolas"/>
                <a:cs typeface="Consolas"/>
              </a:rPr>
              <a:t>Path.Combine(AppContext.BaseDirectory, "Data", "students.json")</a:t>
            </a:r>
            <a:r>
              <a:rPr lang="en-US" sz="1000" b="0" dirty="0">
                <a:solidFill>
                  <a:srgbClr val="CBD5E1"/>
                </a:solidFill>
                <a:latin typeface="Segoe UI"/>
                <a:ea typeface="Segoe UI"/>
                <a:cs typeface="Segoe UI"/>
              </a:rPr>
              <a:t>   → next page</a:t>
            </a:r>
            <a:endParaRPr lang="en-US" sz="1100" dirty="0"/>
          </a:p>
        </p:txBody>
      </p:sp>
    </p:spTree>
    <p:extLst>
      <p:ext uri="{BB962C8B-B14F-4D97-AF65-F5344CB8AC3E}">
        <p14:creationId xmlns:p14="http://schemas.microsoft.com/office/powerpoint/2010/main" val="15794655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7"/>
                                        </p:tgtEl>
                                        <p:attrNameLst>
                                          <p:attrName>style.visibility</p:attrName>
                                        </p:attrNameLst>
                                      </p:cBhvr>
                                      <p:to>
                                        <p:strVal val="visible"/>
                                      </p:to>
                                    </p:set>
                                    <p:animEffect transition="in" filter="fade">
                                      <p:cBhvr>
                                        <p:cTn id="10" dur="400"/>
                                        <p:tgtEl>
                                          <p:spTgt spid="1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animEffect transition="in" filter="fade">
                                      <p:cBhvr>
                                        <p:cTn id="13" dur="400"/>
                                        <p:tgtEl>
                                          <p:spTgt spid="1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8"/>
                                        </p:tgtEl>
                                        <p:attrNameLst>
                                          <p:attrName>style.visibility</p:attrName>
                                        </p:attrNameLst>
                                      </p:cBhvr>
                                      <p:to>
                                        <p:strVal val="visible"/>
                                      </p:to>
                                    </p:set>
                                    <p:animEffect transition="in" filter="fade">
                                      <p:cBhvr>
                                        <p:cTn id="18" dur="400"/>
                                        <p:tgtEl>
                                          <p:spTgt spid="12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9"/>
                                        </p:tgtEl>
                                        <p:attrNameLst>
                                          <p:attrName>style.visibility</p:attrName>
                                        </p:attrNameLst>
                                      </p:cBhvr>
                                      <p:to>
                                        <p:strVal val="visible"/>
                                      </p:to>
                                    </p:set>
                                    <p:animEffect transition="in" filter="fade">
                                      <p:cBhvr>
                                        <p:cTn id="21" dur="400"/>
                                        <p:tgtEl>
                                          <p:spTgt spid="12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0"/>
                                        </p:tgtEl>
                                        <p:attrNameLst>
                                          <p:attrName>style.visibility</p:attrName>
                                        </p:attrNameLst>
                                      </p:cBhvr>
                                      <p:to>
                                        <p:strVal val="visible"/>
                                      </p:to>
                                    </p:set>
                                    <p:animEffect transition="in" filter="fade">
                                      <p:cBhvr>
                                        <p:cTn id="26" dur="400"/>
                                        <p:tgtEl>
                                          <p:spTgt spid="13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1"/>
                                        </p:tgtEl>
                                        <p:attrNameLst>
                                          <p:attrName>style.visibility</p:attrName>
                                        </p:attrNameLst>
                                      </p:cBhvr>
                                      <p:to>
                                        <p:strVal val="visible"/>
                                      </p:to>
                                    </p:set>
                                    <p:animEffect transition="in" filter="fade">
                                      <p:cBhvr>
                                        <p:cTn id="31" dur="400"/>
                                        <p:tgtEl>
                                          <p:spTgt spid="1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2"/>
                                        </p:tgtEl>
                                        <p:attrNameLst>
                                          <p:attrName>style.visibility</p:attrName>
                                        </p:attrNameLst>
                                      </p:cBhvr>
                                      <p:to>
                                        <p:strVal val="visible"/>
                                      </p:to>
                                    </p:set>
                                    <p:animEffect transition="in" filter="fade">
                                      <p:cBhvr>
                                        <p:cTn id="34" dur="400"/>
                                        <p:tgtEl>
                                          <p:spTgt spid="13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400"/>
                                        <p:tgtEl>
                                          <p:spTgt spid="1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5"/>
                                        </p:tgtEl>
                                        <p:attrNameLst>
                                          <p:attrName>style.visibility</p:attrName>
                                        </p:attrNameLst>
                                      </p:cBhvr>
                                      <p:to>
                                        <p:strVal val="visible"/>
                                      </p:to>
                                    </p:set>
                                    <p:animEffect transition="in" filter="fade">
                                      <p:cBhvr>
                                        <p:cTn id="42" dur="400"/>
                                        <p:tgtEl>
                                          <p:spTgt spid="14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6"/>
                                        </p:tgtEl>
                                        <p:attrNameLst>
                                          <p:attrName>style.visibility</p:attrName>
                                        </p:attrNameLst>
                                      </p:cBhvr>
                                      <p:to>
                                        <p:strVal val="visible"/>
                                      </p:to>
                                    </p:set>
                                    <p:animEffect transition="in" filter="fade">
                                      <p:cBhvr>
                                        <p:cTn id="45" dur="400"/>
                                        <p:tgtEl>
                                          <p:spTgt spid="14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60"/>
                                        </p:tgtEl>
                                        <p:attrNameLst>
                                          <p:attrName>style.visibility</p:attrName>
                                        </p:attrNameLst>
                                      </p:cBhvr>
                                      <p:to>
                                        <p:strVal val="visible"/>
                                      </p:to>
                                    </p:set>
                                    <p:animEffect transition="in" filter="fade">
                                      <p:cBhvr>
                                        <p:cTn id="50" dur="400"/>
                                        <p:tgtEl>
                                          <p:spTgt spid="16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1"/>
                                        </p:tgtEl>
                                        <p:attrNameLst>
                                          <p:attrName>style.visibility</p:attrName>
                                        </p:attrNameLst>
                                      </p:cBhvr>
                                      <p:to>
                                        <p:strVal val="visible"/>
                                      </p:to>
                                    </p:set>
                                    <p:animEffect transition="in" filter="fade">
                                      <p:cBhvr>
                                        <p:cTn id="53" dur="400"/>
                                        <p:tgtEl>
                                          <p:spTgt spid="16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62"/>
                                        </p:tgtEl>
                                        <p:attrNameLst>
                                          <p:attrName>style.visibility</p:attrName>
                                        </p:attrNameLst>
                                      </p:cBhvr>
                                      <p:to>
                                        <p:strVal val="visible"/>
                                      </p:to>
                                    </p:set>
                                    <p:animEffect transition="in" filter="fade">
                                      <p:cBhvr>
                                        <p:cTn id="56" dur="400"/>
                                        <p:tgtEl>
                                          <p:spTgt spid="16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63"/>
                                        </p:tgtEl>
                                        <p:attrNameLst>
                                          <p:attrName>style.visibility</p:attrName>
                                        </p:attrNameLst>
                                      </p:cBhvr>
                                      <p:to>
                                        <p:strVal val="visible"/>
                                      </p:to>
                                    </p:set>
                                    <p:animEffect transition="in" filter="fade">
                                      <p:cBhvr>
                                        <p:cTn id="61" dur="400"/>
                                        <p:tgtEl>
                                          <p:spTgt spid="16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64"/>
                                        </p:tgtEl>
                                        <p:attrNameLst>
                                          <p:attrName>style.visibility</p:attrName>
                                        </p:attrNameLst>
                                      </p:cBhvr>
                                      <p:to>
                                        <p:strVal val="visible"/>
                                      </p:to>
                                    </p:set>
                                    <p:animEffect transition="in" filter="fade">
                                      <p:cBhvr>
                                        <p:cTn id="66" dur="4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18" grpId="0" animBg="1"/>
      <p:bldP spid="129" grpId="0" animBg="1"/>
      <p:bldP spid="130" grpId="0" animBg="1"/>
      <p:bldP spid="131" grpId="0" animBg="1"/>
      <p:bldP spid="132" grpId="0" animBg="1"/>
      <p:bldP spid="145" grpId="0" animBg="1"/>
      <p:bldP spid="146" grpId="0" animBg="1"/>
      <p:bldP spid="161" grpId="0" animBg="1"/>
      <p:bldP spid="162" grpId="0" animBg="1"/>
      <p:bldP spid="163" grpId="0" animBg="1"/>
      <p:bldP spid="16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DIRECTORY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Directory Class: Work With Folders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03</a:t>
            </a:r>
            <a:endParaRPr lang="en-US" sz="850" dirty="0"/>
          </a:p>
        </p:txBody>
      </p:sp>
      <p:grpSp>
        <p:nvGrpSpPr>
          <p:cNvPr id="103" name="t_h"/>
          <p:cNvGrpSpPr/>
          <p:nvPr/>
        </p:nvGrpSpPr>
        <p:grpSpPr>
          <a:xfrm>
            <a:off x="689458" y="1481328"/>
            <a:ext cx="10904220" cy="256032"/>
            <a:chOff x="689458" y="1481328"/>
            <a:chExt cx="10904220" cy="256032"/>
          </a:xfrm>
        </p:grpSpPr>
        <p:sp>
          <p:nvSpPr>
            <p:cNvPr id="101" name="t_h0"/>
            <p:cNvSpPr txBox="1"/>
            <p:nvPr/>
          </p:nvSpPr>
          <p:spPr>
            <a:xfrm>
              <a:off x="689458" y="1481328"/>
              <a:ext cx="38404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METHOD</a:t>
              </a:r>
              <a:endParaRPr lang="en-US" sz="1000" dirty="0"/>
            </a:p>
          </p:txBody>
        </p:sp>
        <p:sp>
          <p:nvSpPr>
            <p:cNvPr id="102" name="t_h1"/>
            <p:cNvSpPr txBox="1"/>
            <p:nvPr/>
          </p:nvSpPr>
          <p:spPr>
            <a:xfrm>
              <a:off x="4712818" y="1481328"/>
              <a:ext cx="68808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PURPOSE</a:t>
              </a:r>
              <a:endParaRPr lang="en-US" sz="1000" dirty="0"/>
            </a:p>
          </p:txBody>
        </p:sp>
      </p:grpSp>
      <p:grpSp>
        <p:nvGrpSpPr>
          <p:cNvPr id="107" name="t_r0"/>
          <p:cNvGrpSpPr/>
          <p:nvPr/>
        </p:nvGrpSpPr>
        <p:grpSpPr>
          <a:xfrm>
            <a:off x="543154" y="1783080"/>
            <a:ext cx="11087100" cy="365760"/>
            <a:chOff x="543154" y="1783080"/>
            <a:chExt cx="11087100" cy="365760"/>
          </a:xfrm>
        </p:grpSpPr>
        <p:sp>
          <p:nvSpPr>
            <p:cNvPr id="104" name="t_r0_bg"/>
            <p:cNvSpPr/>
            <p:nvPr/>
          </p:nvSpPr>
          <p:spPr>
            <a:xfrm>
              <a:off x="543154" y="1783080"/>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5" name="t_r0_c0"/>
            <p:cNvSpPr txBox="1"/>
            <p:nvPr/>
          </p:nvSpPr>
          <p:spPr>
            <a:xfrm>
              <a:off x="689458" y="1783080"/>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Directory.Exists(path)</a:t>
              </a:r>
              <a:endParaRPr lang="en-US" sz="1150" dirty="0"/>
            </a:p>
          </p:txBody>
        </p:sp>
        <p:sp>
          <p:nvSpPr>
            <p:cNvPr id="106" name="t_r0_c1"/>
            <p:cNvSpPr txBox="1"/>
            <p:nvPr/>
          </p:nvSpPr>
          <p:spPr>
            <a:xfrm>
              <a:off x="4712818" y="1783080"/>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Does the folder exist? true / false</a:t>
              </a:r>
              <a:endParaRPr lang="en-US" sz="1150" dirty="0"/>
            </a:p>
          </p:txBody>
        </p:sp>
      </p:grpSp>
      <p:grpSp>
        <p:nvGrpSpPr>
          <p:cNvPr id="111" name="t_r1"/>
          <p:cNvGrpSpPr/>
          <p:nvPr/>
        </p:nvGrpSpPr>
        <p:grpSpPr>
          <a:xfrm>
            <a:off x="543154" y="2203704"/>
            <a:ext cx="11087100" cy="365760"/>
            <a:chOff x="543154" y="2203704"/>
            <a:chExt cx="11087100" cy="365760"/>
          </a:xfrm>
        </p:grpSpPr>
        <p:sp>
          <p:nvSpPr>
            <p:cNvPr id="108" name="t_r1_bg"/>
            <p:cNvSpPr/>
            <p:nvPr/>
          </p:nvSpPr>
          <p:spPr>
            <a:xfrm>
              <a:off x="543154" y="2203704"/>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9" name="t_r1_c0"/>
            <p:cNvSpPr txBox="1"/>
            <p:nvPr/>
          </p:nvSpPr>
          <p:spPr>
            <a:xfrm>
              <a:off x="689458" y="2203704"/>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Directory.CreateDirectory(path)</a:t>
              </a:r>
              <a:endParaRPr lang="en-US" sz="1150" dirty="0"/>
            </a:p>
          </p:txBody>
        </p:sp>
        <p:sp>
          <p:nvSpPr>
            <p:cNvPr id="110" name="t_r1_c1"/>
            <p:cNvSpPr txBox="1"/>
            <p:nvPr/>
          </p:nvSpPr>
          <p:spPr>
            <a:xfrm>
              <a:off x="4712818" y="2203704"/>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Create the folder, and any missing parents</a:t>
              </a:r>
              <a:endParaRPr lang="en-US" sz="1150" dirty="0"/>
            </a:p>
          </p:txBody>
        </p:sp>
      </p:grpSp>
      <p:grpSp>
        <p:nvGrpSpPr>
          <p:cNvPr id="115" name="t_r2"/>
          <p:cNvGrpSpPr/>
          <p:nvPr/>
        </p:nvGrpSpPr>
        <p:grpSpPr>
          <a:xfrm>
            <a:off x="543154" y="2624328"/>
            <a:ext cx="11087100" cy="365760"/>
            <a:chOff x="543154" y="2624328"/>
            <a:chExt cx="11087100" cy="365760"/>
          </a:xfrm>
        </p:grpSpPr>
        <p:sp>
          <p:nvSpPr>
            <p:cNvPr id="112" name="t_r2_bg"/>
            <p:cNvSpPr/>
            <p:nvPr/>
          </p:nvSpPr>
          <p:spPr>
            <a:xfrm>
              <a:off x="543154" y="2624328"/>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3" name="t_r2_c0"/>
            <p:cNvSpPr txBox="1"/>
            <p:nvPr/>
          </p:nvSpPr>
          <p:spPr>
            <a:xfrm>
              <a:off x="689458" y="2624328"/>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Directory.Delete(path, recursive)</a:t>
              </a:r>
              <a:endParaRPr lang="en-US" sz="1150" dirty="0"/>
            </a:p>
          </p:txBody>
        </p:sp>
        <p:sp>
          <p:nvSpPr>
            <p:cNvPr id="114" name="t_r2_c1"/>
            <p:cNvSpPr txBox="1"/>
            <p:nvPr/>
          </p:nvSpPr>
          <p:spPr>
            <a:xfrm>
              <a:off x="4712818" y="2624328"/>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Delete the folder; recursive: true deletes what is inside too</a:t>
              </a:r>
              <a:endParaRPr lang="en-US" sz="1150" dirty="0"/>
            </a:p>
          </p:txBody>
        </p:sp>
      </p:grpSp>
      <p:grpSp>
        <p:nvGrpSpPr>
          <p:cNvPr id="119" name="t_r3"/>
          <p:cNvGrpSpPr/>
          <p:nvPr/>
        </p:nvGrpSpPr>
        <p:grpSpPr>
          <a:xfrm>
            <a:off x="543154" y="3044952"/>
            <a:ext cx="11087100" cy="365760"/>
            <a:chOff x="543154" y="3044952"/>
            <a:chExt cx="11087100" cy="365760"/>
          </a:xfrm>
        </p:grpSpPr>
        <p:sp>
          <p:nvSpPr>
            <p:cNvPr id="116" name="t_r3_bg"/>
            <p:cNvSpPr/>
            <p:nvPr/>
          </p:nvSpPr>
          <p:spPr>
            <a:xfrm>
              <a:off x="543154" y="3044952"/>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7" name="t_r3_c0"/>
            <p:cNvSpPr txBox="1"/>
            <p:nvPr/>
          </p:nvSpPr>
          <p:spPr>
            <a:xfrm>
              <a:off x="689458" y="3044952"/>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Directory.GetFiles(path)</a:t>
              </a:r>
              <a:endParaRPr lang="en-US" sz="1150" dirty="0"/>
            </a:p>
          </p:txBody>
        </p:sp>
        <p:sp>
          <p:nvSpPr>
            <p:cNvPr id="118" name="t_r3_c1"/>
            <p:cNvSpPr txBox="1"/>
            <p:nvPr/>
          </p:nvSpPr>
          <p:spPr>
            <a:xfrm>
              <a:off x="4712818" y="3044952"/>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The files inside, as full paths</a:t>
              </a:r>
              <a:endParaRPr lang="en-US" sz="1150" dirty="0"/>
            </a:p>
          </p:txBody>
        </p:sp>
      </p:grpSp>
      <p:grpSp>
        <p:nvGrpSpPr>
          <p:cNvPr id="123" name="t_r4"/>
          <p:cNvGrpSpPr/>
          <p:nvPr/>
        </p:nvGrpSpPr>
        <p:grpSpPr>
          <a:xfrm>
            <a:off x="543154" y="3465576"/>
            <a:ext cx="11087100" cy="365760"/>
            <a:chOff x="543154" y="3465576"/>
            <a:chExt cx="11087100" cy="365760"/>
          </a:xfrm>
        </p:grpSpPr>
        <p:sp>
          <p:nvSpPr>
            <p:cNvPr id="120" name="t_r4_bg"/>
            <p:cNvSpPr/>
            <p:nvPr/>
          </p:nvSpPr>
          <p:spPr>
            <a:xfrm>
              <a:off x="543154" y="3465576"/>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1" name="t_r4_c0"/>
            <p:cNvSpPr txBox="1"/>
            <p:nvPr/>
          </p:nvSpPr>
          <p:spPr>
            <a:xfrm>
              <a:off x="689458" y="3465576"/>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Directory.GetDirectories(path)</a:t>
              </a:r>
              <a:endParaRPr lang="en-US" sz="1150" dirty="0"/>
            </a:p>
          </p:txBody>
        </p:sp>
        <p:sp>
          <p:nvSpPr>
            <p:cNvPr id="122" name="t_r4_c1"/>
            <p:cNvSpPr txBox="1"/>
            <p:nvPr/>
          </p:nvSpPr>
          <p:spPr>
            <a:xfrm>
              <a:off x="4712818" y="3465576"/>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The sub-folders inside, as full paths</a:t>
              </a:r>
              <a:endParaRPr lang="en-US" sz="1150" dirty="0"/>
            </a:p>
          </p:txBody>
        </p:sp>
      </p:grpSp>
      <p:grpSp>
        <p:nvGrpSpPr>
          <p:cNvPr id="134" name="code"/>
          <p:cNvGrpSpPr/>
          <p:nvPr/>
        </p:nvGrpSpPr>
        <p:grpSpPr>
          <a:xfrm>
            <a:off x="543154" y="4069080"/>
            <a:ext cx="6583680" cy="1275900"/>
            <a:chOff x="543154" y="4069080"/>
            <a:chExt cx="6583680" cy="1275900"/>
          </a:xfrm>
        </p:grpSpPr>
        <p:sp>
          <p:nvSpPr>
            <p:cNvPr id="124" name="code_win"/>
            <p:cNvSpPr/>
            <p:nvPr/>
          </p:nvSpPr>
          <p:spPr>
            <a:xfrm>
              <a:off x="543154" y="4069080"/>
              <a:ext cx="6583680" cy="1275900"/>
            </a:xfrm>
            <a:prstGeom prst="roundRect">
              <a:avLst>
                <a:gd name="adj" fmla="val 5372"/>
              </a:avLst>
            </a:prstGeom>
            <a:solidFill>
              <a:srgbClr val="060D18"/>
            </a:solidFill>
            <a:ln w="12700">
              <a:solidFill>
                <a:srgbClr val="1E3A5F"/>
              </a:solidFill>
              <a:prstDash val="solid"/>
            </a:ln>
          </p:spPr>
          <p:txBody>
            <a:bodyPr/>
            <a:lstStyle/>
            <a:p>
              <a:endParaRPr lang="en-US"/>
            </a:p>
          </p:txBody>
        </p:sp>
        <p:sp>
          <p:nvSpPr>
            <p:cNvPr id="125" name="code_bar"/>
            <p:cNvSpPr/>
            <p:nvPr/>
          </p:nvSpPr>
          <p:spPr>
            <a:xfrm>
              <a:off x="543154" y="4069080"/>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6" name="code_barfill"/>
            <p:cNvSpPr/>
            <p:nvPr/>
          </p:nvSpPr>
          <p:spPr>
            <a:xfrm>
              <a:off x="543154" y="4240530"/>
              <a:ext cx="6583680" cy="171450"/>
            </a:xfrm>
            <a:prstGeom prst="rect">
              <a:avLst/>
            </a:prstGeom>
            <a:solidFill>
              <a:srgbClr val="0A1220"/>
            </a:solidFill>
            <a:ln w="12700">
              <a:solidFill>
                <a:srgbClr val="0A1220"/>
              </a:solidFill>
              <a:prstDash val="solid"/>
            </a:ln>
          </p:spPr>
          <p:txBody>
            <a:bodyPr/>
            <a:lstStyle/>
            <a:p>
              <a:endParaRPr lang="en-US"/>
            </a:p>
          </p:txBody>
        </p:sp>
        <p:sp>
          <p:nvSpPr>
            <p:cNvPr id="127" name="code_dot0"/>
            <p:cNvSpPr/>
            <p:nvPr/>
          </p:nvSpPr>
          <p:spPr>
            <a:xfrm>
              <a:off x="705002" y="4192890"/>
              <a:ext cx="95098" cy="95098"/>
            </a:xfrm>
            <a:prstGeom prst="ellipse">
              <a:avLst/>
            </a:prstGeom>
            <a:solidFill>
              <a:srgbClr val="F87171"/>
            </a:solidFill>
            <a:ln w="12700">
              <a:solidFill>
                <a:srgbClr val="F87171"/>
              </a:solidFill>
              <a:prstDash val="solid"/>
            </a:ln>
          </p:spPr>
          <p:txBody>
            <a:bodyPr/>
            <a:lstStyle/>
            <a:p>
              <a:endParaRPr lang="en-US"/>
            </a:p>
          </p:txBody>
        </p:sp>
        <p:sp>
          <p:nvSpPr>
            <p:cNvPr id="128" name="code_dot1"/>
            <p:cNvSpPr/>
            <p:nvPr/>
          </p:nvSpPr>
          <p:spPr>
            <a:xfrm>
              <a:off x="890626" y="4192890"/>
              <a:ext cx="95098" cy="95098"/>
            </a:xfrm>
            <a:prstGeom prst="ellipse">
              <a:avLst/>
            </a:prstGeom>
            <a:solidFill>
              <a:srgbClr val="FBBF24"/>
            </a:solidFill>
            <a:ln w="12700">
              <a:solidFill>
                <a:srgbClr val="FBBF24"/>
              </a:solidFill>
              <a:prstDash val="solid"/>
            </a:ln>
          </p:spPr>
          <p:txBody>
            <a:bodyPr/>
            <a:lstStyle/>
            <a:p>
              <a:endParaRPr lang="en-US"/>
            </a:p>
          </p:txBody>
        </p:sp>
        <p:sp>
          <p:nvSpPr>
            <p:cNvPr id="129" name="code_dot2"/>
            <p:cNvSpPr/>
            <p:nvPr/>
          </p:nvSpPr>
          <p:spPr>
            <a:xfrm>
              <a:off x="1076250" y="4192890"/>
              <a:ext cx="95098" cy="95098"/>
            </a:xfrm>
            <a:prstGeom prst="ellipse">
              <a:avLst/>
            </a:prstGeom>
            <a:solidFill>
              <a:srgbClr val="34D399"/>
            </a:solidFill>
            <a:ln w="12700">
              <a:solidFill>
                <a:srgbClr val="34D399"/>
              </a:solidFill>
              <a:prstDash val="solid"/>
            </a:ln>
          </p:spPr>
          <p:txBody>
            <a:bodyPr/>
            <a:lstStyle/>
            <a:p>
              <a:endParaRPr lang="en-US"/>
            </a:p>
          </p:txBody>
        </p:sp>
        <p:sp>
          <p:nvSpPr>
            <p:cNvPr id="130" name="code_tab"/>
            <p:cNvSpPr/>
            <p:nvPr/>
          </p:nvSpPr>
          <p:spPr>
            <a:xfrm>
              <a:off x="1324051" y="411662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31" name="code_L00"/>
            <p:cNvSpPr txBox="1"/>
            <p:nvPr/>
          </p:nvSpPr>
          <p:spPr>
            <a:xfrm>
              <a:off x="771754" y="4544980"/>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string</a:t>
              </a:r>
              <a:r>
                <a:rPr lang="en-US" sz="900" b="0" dirty="0">
                  <a:solidFill>
                    <a:srgbClr val="E2E8F0"/>
                  </a:solidFill>
                  <a:latin typeface="Consolas"/>
                  <a:ea typeface="Consolas"/>
                  <a:cs typeface="Consolas"/>
                </a:rPr>
                <a:t> folderPath = Path.Combine(AppContext.BaseDirectory, </a:t>
              </a:r>
              <a:r>
                <a:rPr lang="en-US" sz="900" b="0" dirty="0">
                  <a:solidFill>
                    <a:srgbClr val="F0A98B"/>
                  </a:solidFill>
                  <a:latin typeface="Consolas"/>
                  <a:ea typeface="Consolas"/>
                  <a:cs typeface="Consolas"/>
                </a:rPr>
                <a:t>"Data"</a:t>
              </a:r>
              <a:r>
                <a:rPr lang="en-US" sz="900" b="0" dirty="0">
                  <a:solidFill>
                    <a:srgbClr val="E2E8F0"/>
                  </a:solidFill>
                  <a:latin typeface="Consolas"/>
                  <a:ea typeface="Consolas"/>
                  <a:cs typeface="Consolas"/>
                </a:rPr>
                <a:t>);</a:t>
              </a:r>
              <a:endParaRPr lang="en-US" sz="900" dirty="0"/>
            </a:p>
          </p:txBody>
        </p:sp>
        <p:sp>
          <p:nvSpPr>
            <p:cNvPr id="132" name="code_L02"/>
            <p:cNvSpPr txBox="1"/>
            <p:nvPr/>
          </p:nvSpPr>
          <p:spPr>
            <a:xfrm>
              <a:off x="771754" y="4884980"/>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Directory.CreateDirectory(folderPath);</a:t>
              </a:r>
              <a:endParaRPr lang="en-US" sz="900" dirty="0"/>
            </a:p>
          </p:txBody>
        </p:sp>
        <p:sp>
          <p:nvSpPr>
            <p:cNvPr id="133" name="code_L03"/>
            <p:cNvSpPr txBox="1"/>
            <p:nvPr/>
          </p:nvSpPr>
          <p:spPr>
            <a:xfrm>
              <a:off x="771754" y="5054980"/>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Directory.CreateDirectory(folderPath);   </a:t>
              </a:r>
              <a:r>
                <a:rPr lang="en-US" sz="900" b="0" dirty="0">
                  <a:solidFill>
                    <a:srgbClr val="6FAE7A"/>
                  </a:solidFill>
                  <a:latin typeface="Consolas"/>
                  <a:ea typeface="Consolas"/>
                  <a:cs typeface="Consolas"/>
                </a:rPr>
                <a:t>// already exists: no error</a:t>
              </a:r>
              <a:endParaRPr lang="en-US" sz="900" dirty="0"/>
            </a:p>
          </p:txBody>
        </p:sp>
      </p:grpSp>
      <p:sp>
        <p:nvSpPr>
          <p:cNvPr id="135" name="code_hl2"/>
          <p:cNvSpPr/>
          <p:nvPr/>
        </p:nvSpPr>
        <p:spPr>
          <a:xfrm>
            <a:off x="676656" y="4866692"/>
            <a:ext cx="6316680" cy="20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6" name="code_hl3"/>
          <p:cNvSpPr/>
          <p:nvPr/>
        </p:nvSpPr>
        <p:spPr>
          <a:xfrm>
            <a:off x="676656" y="5036692"/>
            <a:ext cx="6316680" cy="20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7" name="k"/>
          <p:cNvSpPr/>
          <p:nvPr/>
        </p:nvSpPr>
        <p:spPr>
          <a:xfrm>
            <a:off x="7360920" y="4069080"/>
            <a:ext cx="4269334" cy="141732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ALREADY EXISTS? NO PROBLEM</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CreateDirectory does nothing if the folder is there. Call it every time the app starts.</a:t>
            </a:r>
            <a:endParaRPr lang="en-US" sz="1100" dirty="0"/>
          </a:p>
        </p:txBody>
      </p:sp>
    </p:spTree>
    <p:extLst>
      <p:ext uri="{BB962C8B-B14F-4D97-AF65-F5344CB8AC3E}">
        <p14:creationId xmlns:p14="http://schemas.microsoft.com/office/powerpoint/2010/main" val="50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400"/>
                                        <p:tgtEl>
                                          <p:spTgt spid="10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07"/>
                                        </p:tgtEl>
                                        <p:attrNameLst>
                                          <p:attrName>style.visibility</p:attrName>
                                        </p:attrNameLst>
                                      </p:cBhvr>
                                      <p:to>
                                        <p:strVal val="visible"/>
                                      </p:to>
                                    </p:set>
                                    <p:animEffect transition="in" filter="fade">
                                      <p:cBhvr>
                                        <p:cTn id="11" dur="200"/>
                                        <p:tgtEl>
                                          <p:spTgt spid="107"/>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fade">
                                      <p:cBhvr>
                                        <p:cTn id="15" dur="200"/>
                                        <p:tgtEl>
                                          <p:spTgt spid="111"/>
                                        </p:tgtEl>
                                      </p:cBhvr>
                                    </p:animEffect>
                                  </p:childTnLst>
                                </p:cTn>
                              </p:par>
                            </p:childTnLst>
                          </p:cTn>
                        </p:par>
                        <p:par>
                          <p:cTn id="16" fill="hold">
                            <p:stCondLst>
                              <p:cond delay="800"/>
                            </p:stCondLst>
                            <p:childTnLst>
                              <p:par>
                                <p:cTn id="17" presetID="10" presetClass="entr" presetSubtype="0" fill="hold" nodeType="afterEffect">
                                  <p:stCondLst>
                                    <p:cond delay="0"/>
                                  </p:stCondLst>
                                  <p:childTnLst>
                                    <p:set>
                                      <p:cBhvr>
                                        <p:cTn id="18" dur="1" fill="hold">
                                          <p:stCondLst>
                                            <p:cond delay="0"/>
                                          </p:stCondLst>
                                        </p:cTn>
                                        <p:tgtEl>
                                          <p:spTgt spid="115"/>
                                        </p:tgtEl>
                                        <p:attrNameLst>
                                          <p:attrName>style.visibility</p:attrName>
                                        </p:attrNameLst>
                                      </p:cBhvr>
                                      <p:to>
                                        <p:strVal val="visible"/>
                                      </p:to>
                                    </p:set>
                                    <p:animEffect transition="in" filter="fade">
                                      <p:cBhvr>
                                        <p:cTn id="19" dur="200"/>
                                        <p:tgtEl>
                                          <p:spTgt spid="115"/>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19"/>
                                        </p:tgtEl>
                                        <p:attrNameLst>
                                          <p:attrName>style.visibility</p:attrName>
                                        </p:attrNameLst>
                                      </p:cBhvr>
                                      <p:to>
                                        <p:strVal val="visible"/>
                                      </p:to>
                                    </p:set>
                                    <p:animEffect transition="in" filter="fade">
                                      <p:cBhvr>
                                        <p:cTn id="23" dur="200"/>
                                        <p:tgtEl>
                                          <p:spTgt spid="119"/>
                                        </p:tgtEl>
                                      </p:cBhvr>
                                    </p:animEffect>
                                  </p:childTnLst>
                                </p:cTn>
                              </p:par>
                            </p:childTnLst>
                          </p:cTn>
                        </p:par>
                        <p:par>
                          <p:cTn id="24" fill="hold">
                            <p:stCondLst>
                              <p:cond delay="1200"/>
                            </p:stCondLst>
                            <p:childTnLst>
                              <p:par>
                                <p:cTn id="25" presetID="10" presetClass="entr" presetSubtype="0" fill="hold" nodeType="afterEffect">
                                  <p:stCondLst>
                                    <p:cond delay="0"/>
                                  </p:stCondLst>
                                  <p:childTnLst>
                                    <p:set>
                                      <p:cBhvr>
                                        <p:cTn id="26" dur="1" fill="hold">
                                          <p:stCondLst>
                                            <p:cond delay="0"/>
                                          </p:stCondLst>
                                        </p:cTn>
                                        <p:tgtEl>
                                          <p:spTgt spid="123"/>
                                        </p:tgtEl>
                                        <p:attrNameLst>
                                          <p:attrName>style.visibility</p:attrName>
                                        </p:attrNameLst>
                                      </p:cBhvr>
                                      <p:to>
                                        <p:strVal val="visible"/>
                                      </p:to>
                                    </p:set>
                                    <p:animEffect transition="in" filter="fade">
                                      <p:cBhvr>
                                        <p:cTn id="27" dur="200"/>
                                        <p:tgtEl>
                                          <p:spTgt spid="1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4"/>
                                        </p:tgtEl>
                                        <p:attrNameLst>
                                          <p:attrName>style.visibility</p:attrName>
                                        </p:attrNameLst>
                                      </p:cBhvr>
                                      <p:to>
                                        <p:strVal val="visible"/>
                                      </p:to>
                                    </p:set>
                                    <p:animEffect transition="in" filter="fade">
                                      <p:cBhvr>
                                        <p:cTn id="32" dur="400"/>
                                        <p:tgtEl>
                                          <p:spTgt spid="1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5"/>
                                        </p:tgtEl>
                                        <p:attrNameLst>
                                          <p:attrName>style.visibility</p:attrName>
                                        </p:attrNameLst>
                                      </p:cBhvr>
                                      <p:to>
                                        <p:strVal val="visible"/>
                                      </p:to>
                                    </p:set>
                                    <p:animEffect transition="in" filter="fade">
                                      <p:cBhvr>
                                        <p:cTn id="35" dur="400"/>
                                        <p:tgtEl>
                                          <p:spTgt spid="1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6"/>
                                        </p:tgtEl>
                                        <p:attrNameLst>
                                          <p:attrName>style.visibility</p:attrName>
                                        </p:attrNameLst>
                                      </p:cBhvr>
                                      <p:to>
                                        <p:strVal val="visible"/>
                                      </p:to>
                                    </p:set>
                                    <p:animEffect transition="in" filter="fade">
                                      <p:cBhvr>
                                        <p:cTn id="38" dur="400"/>
                                        <p:tgtEl>
                                          <p:spTgt spid="13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7"/>
                                        </p:tgtEl>
                                        <p:attrNameLst>
                                          <p:attrName>style.visibility</p:attrName>
                                        </p:attrNameLst>
                                      </p:cBhvr>
                                      <p:to>
                                        <p:strVal val="visible"/>
                                      </p:to>
                                    </p:set>
                                    <p:animEffect transition="in" filter="fade">
                                      <p:cBhvr>
                                        <p:cTn id="43" dur="4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animBg="1"/>
      <p:bldP spid="13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DIRECTORY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Directory in Action: Create, List, Delete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04</a:t>
            </a:r>
            <a:endParaRPr lang="en-US" sz="850" dirty="0"/>
          </a:p>
        </p:txBody>
      </p:sp>
      <p:grpSp>
        <p:nvGrpSpPr>
          <p:cNvPr id="120" name="code"/>
          <p:cNvGrpSpPr/>
          <p:nvPr/>
        </p:nvGrpSpPr>
        <p:grpSpPr>
          <a:xfrm>
            <a:off x="543154" y="1481328"/>
            <a:ext cx="7223760" cy="2995900"/>
            <a:chOff x="543154" y="1481328"/>
            <a:chExt cx="7223760" cy="2995900"/>
          </a:xfrm>
        </p:grpSpPr>
        <p:sp>
          <p:nvSpPr>
            <p:cNvPr id="101" name="code_win"/>
            <p:cNvSpPr/>
            <p:nvPr/>
          </p:nvSpPr>
          <p:spPr>
            <a:xfrm>
              <a:off x="543154" y="1481328"/>
              <a:ext cx="7223760" cy="2995900"/>
            </a:xfrm>
            <a:prstGeom prst="roundRect">
              <a:avLst>
                <a:gd name="adj" fmla="val 2288"/>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72237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722376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folderPath = Path.Combine(AppContext.BaseDirectory, </a:t>
              </a:r>
              <a:r>
                <a:rPr lang="en-US" sz="860" b="0" dirty="0">
                  <a:solidFill>
                    <a:srgbClr val="F0A98B"/>
                  </a:solidFill>
                  <a:latin typeface="Consolas"/>
                  <a:ea typeface="Consolas"/>
                  <a:cs typeface="Consolas"/>
                </a:rPr>
                <a:t>"Demo"</a:t>
              </a:r>
              <a:r>
                <a:rPr lang="en-US" sz="860" b="0" dirty="0">
                  <a:solidFill>
                    <a:srgbClr val="E2E8F0"/>
                  </a:solidFill>
                  <a:latin typeface="Consolas"/>
                  <a:ea typeface="Consolas"/>
                  <a:cs typeface="Consolas"/>
                </a:rPr>
                <a:t>);</a:t>
              </a:r>
              <a:endParaRPr lang="en-US" sz="860" dirty="0"/>
            </a:p>
          </p:txBody>
        </p:sp>
        <p:sp>
          <p:nvSpPr>
            <p:cNvPr id="109" name="code_L02"/>
            <p:cNvSpPr txBox="1"/>
            <p:nvPr/>
          </p:nvSpPr>
          <p:spPr>
            <a:xfrm>
              <a:off x="771754" y="225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Directory.CreateDirectory(folderPath);</a:t>
              </a:r>
              <a:endParaRPr lang="en-US" sz="860" dirty="0"/>
            </a:p>
          </p:txBody>
        </p:sp>
        <p:sp>
          <p:nvSpPr>
            <p:cNvPr id="110" name="code_L03"/>
            <p:cNvSpPr txBox="1"/>
            <p:nvPr/>
          </p:nvSpPr>
          <p:spPr>
            <a:xfrm>
              <a:off x="771754" y="240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Console.WriteLine(Directory.Exists(folderPath));          </a:t>
              </a:r>
              <a:r>
                <a:rPr lang="en-US" sz="860" b="0" dirty="0">
                  <a:solidFill>
                    <a:srgbClr val="6FAE7A"/>
                  </a:solidFill>
                  <a:latin typeface="Consolas"/>
                  <a:ea typeface="Consolas"/>
                  <a:cs typeface="Consolas"/>
                </a:rPr>
                <a:t>// True</a:t>
              </a:r>
              <a:endParaRPr lang="en-US" sz="860" dirty="0"/>
            </a:p>
          </p:txBody>
        </p:sp>
        <p:sp>
          <p:nvSpPr>
            <p:cNvPr id="111" name="code_L05"/>
            <p:cNvSpPr txBox="1"/>
            <p:nvPr/>
          </p:nvSpPr>
          <p:spPr>
            <a:xfrm>
              <a:off x="771754" y="270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Directory.CreateDirectory(Path.Combine(folderPath, </a:t>
              </a:r>
              <a:r>
                <a:rPr lang="en-US" sz="860" b="0" dirty="0">
                  <a:solidFill>
                    <a:srgbClr val="F0A98B"/>
                  </a:solidFill>
                  <a:latin typeface="Consolas"/>
                  <a:ea typeface="Consolas"/>
                  <a:cs typeface="Consolas"/>
                </a:rPr>
                <a:t>"Reports"</a:t>
              </a:r>
              <a:r>
                <a:rPr lang="en-US" sz="860" b="0" dirty="0">
                  <a:solidFill>
                    <a:srgbClr val="E2E8F0"/>
                  </a:solidFill>
                  <a:latin typeface="Consolas"/>
                  <a:ea typeface="Consolas"/>
                  <a:cs typeface="Consolas"/>
                </a:rPr>
                <a:t>));</a:t>
              </a:r>
              <a:endParaRPr lang="en-US" sz="860" dirty="0"/>
            </a:p>
          </p:txBody>
        </p:sp>
        <p:sp>
          <p:nvSpPr>
            <p:cNvPr id="112" name="code_L06"/>
            <p:cNvSpPr txBox="1"/>
            <p:nvPr/>
          </p:nvSpPr>
          <p:spPr>
            <a:xfrm>
              <a:off x="771754" y="285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File.WriteAllText(Path.Combine(folderPath, </a:t>
              </a:r>
              <a:r>
                <a:rPr lang="en-US" sz="860" b="0" dirty="0">
                  <a:solidFill>
                    <a:srgbClr val="F0A98B"/>
                  </a:solidFill>
                  <a:latin typeface="Consolas"/>
                  <a:ea typeface="Consolas"/>
                  <a:cs typeface="Consolas"/>
                </a:rPr>
                <a:t>"a.txt"</a:t>
              </a:r>
              <a:r>
                <a:rPr lang="en-US" sz="860" b="0" dirty="0">
                  <a:solidFill>
                    <a:srgbClr val="E2E8F0"/>
                  </a:solidFill>
                  <a:latin typeface="Consolas"/>
                  <a:ea typeface="Consolas"/>
                  <a:cs typeface="Consolas"/>
                </a:rPr>
                <a:t>), </a:t>
              </a:r>
              <a:r>
                <a:rPr lang="en-US" sz="860" b="0" dirty="0">
                  <a:solidFill>
                    <a:srgbClr val="F0A98B"/>
                  </a:solidFill>
                  <a:latin typeface="Consolas"/>
                  <a:ea typeface="Consolas"/>
                  <a:cs typeface="Consolas"/>
                </a:rPr>
                <a:t>"A"</a:t>
              </a:r>
              <a:r>
                <a:rPr lang="en-US" sz="860" b="0" dirty="0">
                  <a:solidFill>
                    <a:srgbClr val="E2E8F0"/>
                  </a:solidFill>
                  <a:latin typeface="Consolas"/>
                  <a:ea typeface="Consolas"/>
                  <a:cs typeface="Consolas"/>
                </a:rPr>
                <a:t>);</a:t>
              </a:r>
              <a:endParaRPr lang="en-US" sz="860" dirty="0"/>
            </a:p>
          </p:txBody>
        </p:sp>
        <p:sp>
          <p:nvSpPr>
            <p:cNvPr id="113" name="code_L07"/>
            <p:cNvSpPr txBox="1"/>
            <p:nvPr/>
          </p:nvSpPr>
          <p:spPr>
            <a:xfrm>
              <a:off x="771754" y="300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File.WriteAllText(Path.Combine(folderPath, </a:t>
              </a:r>
              <a:r>
                <a:rPr lang="en-US" sz="860" b="0" dirty="0">
                  <a:solidFill>
                    <a:srgbClr val="F0A98B"/>
                  </a:solidFill>
                  <a:latin typeface="Consolas"/>
                  <a:ea typeface="Consolas"/>
                  <a:cs typeface="Consolas"/>
                </a:rPr>
                <a:t>"b.txt"</a:t>
              </a:r>
              <a:r>
                <a:rPr lang="en-US" sz="860" b="0" dirty="0">
                  <a:solidFill>
                    <a:srgbClr val="E2E8F0"/>
                  </a:solidFill>
                  <a:latin typeface="Consolas"/>
                  <a:ea typeface="Consolas"/>
                  <a:cs typeface="Consolas"/>
                </a:rPr>
                <a:t>), </a:t>
              </a:r>
              <a:r>
                <a:rPr lang="en-US" sz="860" b="0" dirty="0">
                  <a:solidFill>
                    <a:srgbClr val="F0A98B"/>
                  </a:solidFill>
                  <a:latin typeface="Consolas"/>
                  <a:ea typeface="Consolas"/>
                  <a:cs typeface="Consolas"/>
                </a:rPr>
                <a:t>"B"</a:t>
              </a:r>
              <a:r>
                <a:rPr lang="en-US" sz="860" b="0" dirty="0">
                  <a:solidFill>
                    <a:srgbClr val="E2E8F0"/>
                  </a:solidFill>
                  <a:latin typeface="Consolas"/>
                  <a:ea typeface="Consolas"/>
                  <a:cs typeface="Consolas"/>
                </a:rPr>
                <a:t>);</a:t>
              </a:r>
              <a:endParaRPr lang="en-US" sz="860" dirty="0"/>
            </a:p>
          </p:txBody>
        </p:sp>
        <p:sp>
          <p:nvSpPr>
            <p:cNvPr id="114" name="code_L09"/>
            <p:cNvSpPr txBox="1"/>
            <p:nvPr/>
          </p:nvSpPr>
          <p:spPr>
            <a:xfrm>
              <a:off x="771754" y="330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foreach</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file </a:t>
              </a:r>
              <a:r>
                <a:rPr lang="en-US" sz="860" b="0" dirty="0">
                  <a:solidFill>
                    <a:srgbClr val="60A5FA"/>
                  </a:solidFill>
                  <a:latin typeface="Consolas"/>
                  <a:ea typeface="Consolas"/>
                  <a:cs typeface="Consolas"/>
                </a:rPr>
                <a:t>in</a:t>
              </a:r>
              <a:r>
                <a:rPr lang="en-US" sz="860" b="0" dirty="0">
                  <a:solidFill>
                    <a:srgbClr val="E2E8F0"/>
                  </a:solidFill>
                  <a:latin typeface="Consolas"/>
                  <a:ea typeface="Consolas"/>
                  <a:cs typeface="Consolas"/>
                </a:rPr>
                <a:t> Directory.GetFiles(folderPath))</a:t>
              </a:r>
              <a:endParaRPr lang="en-US" sz="860" dirty="0"/>
            </a:p>
          </p:txBody>
        </p:sp>
        <p:sp>
          <p:nvSpPr>
            <p:cNvPr id="115" name="code_L10"/>
            <p:cNvSpPr txBox="1"/>
            <p:nvPr/>
          </p:nvSpPr>
          <p:spPr>
            <a:xfrm>
              <a:off x="771754" y="3457228"/>
              <a:ext cx="69237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Console.WriteLine(</a:t>
              </a:r>
              <a:r>
                <a:rPr lang="en-US" sz="860" b="0" dirty="0">
                  <a:solidFill>
                    <a:srgbClr val="F0A98B"/>
                  </a:solidFill>
                  <a:latin typeface="Consolas"/>
                  <a:ea typeface="Consolas"/>
                  <a:cs typeface="Consolas"/>
                </a:rPr>
                <a:t>$"file:   {Path.GetFileName(file)}"</a:t>
              </a:r>
              <a:r>
                <a:rPr lang="en-US" sz="860" b="0" dirty="0">
                  <a:solidFill>
                    <a:srgbClr val="E2E8F0"/>
                  </a:solidFill>
                  <a:latin typeface="Consolas"/>
                  <a:ea typeface="Consolas"/>
                  <a:cs typeface="Consolas"/>
                </a:rPr>
                <a:t>);</a:t>
              </a:r>
              <a:endParaRPr lang="en-US" sz="860" dirty="0"/>
            </a:p>
          </p:txBody>
        </p:sp>
        <p:sp>
          <p:nvSpPr>
            <p:cNvPr id="116" name="code_L11"/>
            <p:cNvSpPr txBox="1"/>
            <p:nvPr/>
          </p:nvSpPr>
          <p:spPr>
            <a:xfrm>
              <a:off x="771754" y="360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foreach</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dir </a:t>
              </a:r>
              <a:r>
                <a:rPr lang="en-US" sz="860" b="0" dirty="0">
                  <a:solidFill>
                    <a:srgbClr val="60A5FA"/>
                  </a:solidFill>
                  <a:latin typeface="Consolas"/>
                  <a:ea typeface="Consolas"/>
                  <a:cs typeface="Consolas"/>
                </a:rPr>
                <a:t>in</a:t>
              </a:r>
              <a:r>
                <a:rPr lang="en-US" sz="860" b="0" dirty="0">
                  <a:solidFill>
                    <a:srgbClr val="E2E8F0"/>
                  </a:solidFill>
                  <a:latin typeface="Consolas"/>
                  <a:ea typeface="Consolas"/>
                  <a:cs typeface="Consolas"/>
                </a:rPr>
                <a:t> Directory.GetDirectories(folderPath))</a:t>
              </a:r>
              <a:endParaRPr lang="en-US" sz="860" dirty="0"/>
            </a:p>
          </p:txBody>
        </p:sp>
        <p:sp>
          <p:nvSpPr>
            <p:cNvPr id="117" name="code_L12"/>
            <p:cNvSpPr txBox="1"/>
            <p:nvPr/>
          </p:nvSpPr>
          <p:spPr>
            <a:xfrm>
              <a:off x="771754" y="3757228"/>
              <a:ext cx="69237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Console.WriteLine(</a:t>
              </a:r>
              <a:r>
                <a:rPr lang="en-US" sz="860" b="0" dirty="0">
                  <a:solidFill>
                    <a:srgbClr val="F0A98B"/>
                  </a:solidFill>
                  <a:latin typeface="Consolas"/>
                  <a:ea typeface="Consolas"/>
                  <a:cs typeface="Consolas"/>
                </a:rPr>
                <a:t>$"folder: {Path.GetFileName(dir)}"</a:t>
              </a:r>
              <a:r>
                <a:rPr lang="en-US" sz="860" b="0" dirty="0">
                  <a:solidFill>
                    <a:srgbClr val="E2E8F0"/>
                  </a:solidFill>
                  <a:latin typeface="Consolas"/>
                  <a:ea typeface="Consolas"/>
                  <a:cs typeface="Consolas"/>
                </a:rPr>
                <a:t>);</a:t>
              </a:r>
              <a:endParaRPr lang="en-US" sz="860" dirty="0"/>
            </a:p>
          </p:txBody>
        </p:sp>
        <p:sp>
          <p:nvSpPr>
            <p:cNvPr id="118" name="code_L14"/>
            <p:cNvSpPr txBox="1"/>
            <p:nvPr/>
          </p:nvSpPr>
          <p:spPr>
            <a:xfrm>
              <a:off x="771754" y="405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Directory.Delete(folderPath, recursive: </a:t>
              </a:r>
              <a:r>
                <a:rPr lang="en-US" sz="860" b="0" dirty="0">
                  <a:solidFill>
                    <a:srgbClr val="60A5FA"/>
                  </a:solidFill>
                  <a:latin typeface="Consolas"/>
                  <a:ea typeface="Consolas"/>
                  <a:cs typeface="Consolas"/>
                </a:rPr>
                <a:t>true</a:t>
              </a:r>
              <a:r>
                <a:rPr lang="en-US" sz="860" b="0" dirty="0">
                  <a:solidFill>
                    <a:srgbClr val="E2E8F0"/>
                  </a:solidFill>
                  <a:latin typeface="Consolas"/>
                  <a:ea typeface="Consolas"/>
                  <a:cs typeface="Consolas"/>
                </a:rPr>
                <a:t>);   </a:t>
              </a:r>
              <a:r>
                <a:rPr lang="en-US" sz="860" b="0" dirty="0">
                  <a:solidFill>
                    <a:srgbClr val="6FAE7A"/>
                  </a:solidFill>
                  <a:latin typeface="Consolas"/>
                  <a:ea typeface="Consolas"/>
                  <a:cs typeface="Consolas"/>
                </a:rPr>
                <a:t>// folder + everything inside</a:t>
              </a:r>
              <a:endParaRPr lang="en-US" sz="860" dirty="0"/>
            </a:p>
          </p:txBody>
        </p:sp>
        <p:sp>
          <p:nvSpPr>
            <p:cNvPr id="119" name="code_L15"/>
            <p:cNvSpPr txBox="1"/>
            <p:nvPr/>
          </p:nvSpPr>
          <p:spPr>
            <a:xfrm>
              <a:off x="771754" y="4207228"/>
              <a:ext cx="69237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Console.WriteLine(Directory.Exists(folderPath));          </a:t>
              </a:r>
              <a:r>
                <a:rPr lang="en-US" sz="860" b="0" dirty="0">
                  <a:solidFill>
                    <a:srgbClr val="6FAE7A"/>
                  </a:solidFill>
                  <a:latin typeface="Consolas"/>
                  <a:ea typeface="Consolas"/>
                  <a:cs typeface="Consolas"/>
                </a:rPr>
                <a:t>// False</a:t>
              </a:r>
              <a:endParaRPr lang="en-US" sz="860" dirty="0"/>
            </a:p>
          </p:txBody>
        </p:sp>
      </p:grpSp>
      <p:sp>
        <p:nvSpPr>
          <p:cNvPr id="121" name="code_hl9"/>
          <p:cNvSpPr/>
          <p:nvPr/>
        </p:nvSpPr>
        <p:spPr>
          <a:xfrm>
            <a:off x="676656" y="3288940"/>
            <a:ext cx="6956760" cy="18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2" name="code_hl11"/>
          <p:cNvSpPr/>
          <p:nvPr/>
        </p:nvSpPr>
        <p:spPr>
          <a:xfrm>
            <a:off x="676656" y="3588940"/>
            <a:ext cx="6956760" cy="18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3" name="code_hl14"/>
          <p:cNvSpPr/>
          <p:nvPr/>
        </p:nvSpPr>
        <p:spPr>
          <a:xfrm>
            <a:off x="676656" y="4030702"/>
            <a:ext cx="6956760" cy="186576"/>
          </a:xfrm>
          <a:prstGeom prst="rect">
            <a:avLst/>
          </a:prstGeom>
          <a:solidFill>
            <a:srgbClr val="F87171">
              <a:alpha val="15000"/>
            </a:srgbClr>
          </a:solidFill>
          <a:ln w="12700">
            <a:solidFill>
              <a:srgbClr val="F87171"/>
            </a:solidFill>
            <a:prstDash val="solid"/>
          </a:ln>
        </p:spPr>
        <p:txBody>
          <a:bodyPr/>
          <a:lstStyle/>
          <a:p>
            <a:endParaRPr lang="en-US" dirty="0"/>
          </a:p>
        </p:txBody>
      </p:sp>
      <p:grpSp>
        <p:nvGrpSpPr>
          <p:cNvPr id="136" name="out"/>
          <p:cNvGrpSpPr/>
          <p:nvPr/>
        </p:nvGrpSpPr>
        <p:grpSpPr>
          <a:xfrm>
            <a:off x="8041234" y="1481328"/>
            <a:ext cx="3589020" cy="1595900"/>
            <a:chOff x="8041234" y="1481328"/>
            <a:chExt cx="3589020" cy="1595900"/>
          </a:xfrm>
        </p:grpSpPr>
        <p:sp>
          <p:nvSpPr>
            <p:cNvPr id="124" name="out_win"/>
            <p:cNvSpPr/>
            <p:nvPr/>
          </p:nvSpPr>
          <p:spPr>
            <a:xfrm>
              <a:off x="8041234" y="1481328"/>
              <a:ext cx="3589020" cy="1595900"/>
            </a:xfrm>
            <a:prstGeom prst="roundRect">
              <a:avLst>
                <a:gd name="adj" fmla="val 4295"/>
              </a:avLst>
            </a:prstGeom>
            <a:solidFill>
              <a:srgbClr val="060D18"/>
            </a:solidFill>
            <a:ln w="12700">
              <a:solidFill>
                <a:srgbClr val="1E3A5F"/>
              </a:solidFill>
              <a:prstDash val="solid"/>
            </a:ln>
          </p:spPr>
          <p:txBody>
            <a:bodyPr/>
            <a:lstStyle/>
            <a:p>
              <a:endParaRPr lang="en-US"/>
            </a:p>
          </p:txBody>
        </p:sp>
        <p:sp>
          <p:nvSpPr>
            <p:cNvPr id="125" name="out_bar"/>
            <p:cNvSpPr/>
            <p:nvPr/>
          </p:nvSpPr>
          <p:spPr>
            <a:xfrm>
              <a:off x="8041234" y="1481328"/>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6" name="out_barfill"/>
            <p:cNvSpPr/>
            <p:nvPr/>
          </p:nvSpPr>
          <p:spPr>
            <a:xfrm>
              <a:off x="8041234" y="1652778"/>
              <a:ext cx="3589020" cy="171450"/>
            </a:xfrm>
            <a:prstGeom prst="rect">
              <a:avLst/>
            </a:prstGeom>
            <a:solidFill>
              <a:srgbClr val="0A1220"/>
            </a:solidFill>
            <a:ln w="12700">
              <a:solidFill>
                <a:srgbClr val="0A1220"/>
              </a:solidFill>
              <a:prstDash val="solid"/>
            </a:ln>
          </p:spPr>
          <p:txBody>
            <a:bodyPr/>
            <a:lstStyle/>
            <a:p>
              <a:endParaRPr lang="en-US"/>
            </a:p>
          </p:txBody>
        </p:sp>
        <p:sp>
          <p:nvSpPr>
            <p:cNvPr id="127" name="out_dot0"/>
            <p:cNvSpPr/>
            <p:nvPr/>
          </p:nvSpPr>
          <p:spPr>
            <a:xfrm>
              <a:off x="820308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28" name="out_dot1"/>
            <p:cNvSpPr/>
            <p:nvPr/>
          </p:nvSpPr>
          <p:spPr>
            <a:xfrm>
              <a:off x="838870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29" name="out_dot2"/>
            <p:cNvSpPr/>
            <p:nvPr/>
          </p:nvSpPr>
          <p:spPr>
            <a:xfrm>
              <a:off x="857433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30" name="out_tab"/>
            <p:cNvSpPr/>
            <p:nvPr/>
          </p:nvSpPr>
          <p:spPr>
            <a:xfrm>
              <a:off x="882213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31" name="out_L00"/>
            <p:cNvSpPr txBox="1"/>
            <p:nvPr/>
          </p:nvSpPr>
          <p:spPr>
            <a:xfrm>
              <a:off x="8269834" y="1957228"/>
              <a:ext cx="328902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True</a:t>
              </a:r>
              <a:endParaRPr lang="en-US" sz="1000" dirty="0"/>
            </a:p>
          </p:txBody>
        </p:sp>
        <p:sp>
          <p:nvSpPr>
            <p:cNvPr id="132" name="out_L01"/>
            <p:cNvSpPr txBox="1"/>
            <p:nvPr/>
          </p:nvSpPr>
          <p:spPr>
            <a:xfrm>
              <a:off x="8269834" y="2157228"/>
              <a:ext cx="328902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file:   b.txt</a:t>
              </a:r>
              <a:endParaRPr lang="en-US" sz="1000" dirty="0"/>
            </a:p>
          </p:txBody>
        </p:sp>
        <p:sp>
          <p:nvSpPr>
            <p:cNvPr id="133" name="out_L02"/>
            <p:cNvSpPr txBox="1"/>
            <p:nvPr/>
          </p:nvSpPr>
          <p:spPr>
            <a:xfrm>
              <a:off x="8269834" y="2357228"/>
              <a:ext cx="328902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file:   a.txt</a:t>
              </a:r>
              <a:endParaRPr lang="en-US" sz="1000" dirty="0"/>
            </a:p>
          </p:txBody>
        </p:sp>
        <p:sp>
          <p:nvSpPr>
            <p:cNvPr id="134" name="out_L03"/>
            <p:cNvSpPr txBox="1"/>
            <p:nvPr/>
          </p:nvSpPr>
          <p:spPr>
            <a:xfrm>
              <a:off x="8269834" y="2557228"/>
              <a:ext cx="328902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folder: Reports</a:t>
              </a:r>
              <a:endParaRPr lang="en-US" sz="1000" dirty="0"/>
            </a:p>
          </p:txBody>
        </p:sp>
        <p:sp>
          <p:nvSpPr>
            <p:cNvPr id="135" name="out_L04"/>
            <p:cNvSpPr txBox="1"/>
            <p:nvPr/>
          </p:nvSpPr>
          <p:spPr>
            <a:xfrm>
              <a:off x="8269834" y="2757228"/>
              <a:ext cx="328902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False</a:t>
              </a:r>
              <a:endParaRPr lang="en-US" sz="1000" dirty="0"/>
            </a:p>
          </p:txBody>
        </p:sp>
      </p:grpSp>
      <p:sp>
        <p:nvSpPr>
          <p:cNvPr id="137" name="k1"/>
          <p:cNvSpPr/>
          <p:nvPr/>
        </p:nvSpPr>
        <p:spPr>
          <a:xfrm>
            <a:off x="8041234" y="3246120"/>
            <a:ext cx="3589020" cy="105156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ORDER IS NOT GUARANTEED</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Our run printed b.txt before a.txt. Sort if order matters.</a:t>
            </a:r>
            <a:endParaRPr lang="en-US" sz="1050" dirty="0"/>
          </a:p>
        </p:txBody>
      </p:sp>
      <p:sp>
        <p:nvSpPr>
          <p:cNvPr id="138" name="k2"/>
          <p:cNvSpPr/>
          <p:nvPr/>
        </p:nvSpPr>
        <p:spPr>
          <a:xfrm>
            <a:off x="8041234" y="4407408"/>
            <a:ext cx="3589020" cy="1097280"/>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NOT EMPTY?</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Delete(path) throws IOException. Delete(path, recursive: true) removes everything.</a:t>
            </a:r>
            <a:endParaRPr lang="en-US" sz="1050" dirty="0"/>
          </a:p>
        </p:txBody>
      </p:sp>
    </p:spTree>
    <p:extLst>
      <p:ext uri="{BB962C8B-B14F-4D97-AF65-F5344CB8AC3E}">
        <p14:creationId xmlns:p14="http://schemas.microsoft.com/office/powerpoint/2010/main" val="50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400"/>
                                        <p:tgtEl>
                                          <p:spTgt spid="1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1"/>
                                        </p:tgtEl>
                                        <p:attrNameLst>
                                          <p:attrName>style.visibility</p:attrName>
                                        </p:attrNameLst>
                                      </p:cBhvr>
                                      <p:to>
                                        <p:strVal val="visible"/>
                                      </p:to>
                                    </p:set>
                                    <p:animEffect transition="in" filter="fade">
                                      <p:cBhvr>
                                        <p:cTn id="10" dur="400"/>
                                        <p:tgtEl>
                                          <p:spTgt spid="1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2"/>
                                        </p:tgtEl>
                                        <p:attrNameLst>
                                          <p:attrName>style.visibility</p:attrName>
                                        </p:attrNameLst>
                                      </p:cBhvr>
                                      <p:to>
                                        <p:strVal val="visible"/>
                                      </p:to>
                                    </p:set>
                                    <p:animEffect transition="in" filter="fade">
                                      <p:cBhvr>
                                        <p:cTn id="13" dur="400"/>
                                        <p:tgtEl>
                                          <p:spTgt spid="1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3"/>
                                        </p:tgtEl>
                                        <p:attrNameLst>
                                          <p:attrName>style.visibility</p:attrName>
                                        </p:attrNameLst>
                                      </p:cBhvr>
                                      <p:to>
                                        <p:strVal val="visible"/>
                                      </p:to>
                                    </p:set>
                                    <p:animEffect transition="in" filter="fade">
                                      <p:cBhvr>
                                        <p:cTn id="16" dur="400"/>
                                        <p:tgtEl>
                                          <p:spTgt spid="1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6"/>
                                        </p:tgtEl>
                                        <p:attrNameLst>
                                          <p:attrName>style.visibility</p:attrName>
                                        </p:attrNameLst>
                                      </p:cBhvr>
                                      <p:to>
                                        <p:strVal val="visible"/>
                                      </p:to>
                                    </p:set>
                                    <p:animEffect transition="in" filter="fade">
                                      <p:cBhvr>
                                        <p:cTn id="21" dur="400"/>
                                        <p:tgtEl>
                                          <p:spTgt spid="13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fade">
                                      <p:cBhvr>
                                        <p:cTn id="26" dur="4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8"/>
                                        </p:tgtEl>
                                        <p:attrNameLst>
                                          <p:attrName>style.visibility</p:attrName>
                                        </p:attrNameLst>
                                      </p:cBhvr>
                                      <p:to>
                                        <p:strVal val="visible"/>
                                      </p:to>
                                    </p:set>
                                    <p:animEffect transition="in" filter="fade">
                                      <p:cBhvr>
                                        <p:cTn id="31" dur="4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2" grpId="0" animBg="1"/>
      <p:bldP spid="123" grpId="0" animBg="1"/>
      <p:bldP spid="137" grpId="0" animBg="1"/>
      <p:bldP spid="13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FILE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File Class: One Line per Job</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05</a:t>
            </a:r>
            <a:endParaRPr lang="en-US" sz="850" dirty="0"/>
          </a:p>
        </p:txBody>
      </p:sp>
      <p:grpSp>
        <p:nvGrpSpPr>
          <p:cNvPr id="103" name="t_h"/>
          <p:cNvGrpSpPr/>
          <p:nvPr/>
        </p:nvGrpSpPr>
        <p:grpSpPr>
          <a:xfrm>
            <a:off x="689458" y="1463040"/>
            <a:ext cx="10904220" cy="256032"/>
            <a:chOff x="689458" y="1463040"/>
            <a:chExt cx="10904220" cy="256032"/>
          </a:xfrm>
        </p:grpSpPr>
        <p:sp>
          <p:nvSpPr>
            <p:cNvPr id="101" name="t_h0"/>
            <p:cNvSpPr txBox="1"/>
            <p:nvPr/>
          </p:nvSpPr>
          <p:spPr>
            <a:xfrm>
              <a:off x="689458" y="1463040"/>
              <a:ext cx="38404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METHOD</a:t>
              </a:r>
              <a:endParaRPr lang="en-US" sz="1000" dirty="0"/>
            </a:p>
          </p:txBody>
        </p:sp>
        <p:sp>
          <p:nvSpPr>
            <p:cNvPr id="102" name="t_h1"/>
            <p:cNvSpPr txBox="1"/>
            <p:nvPr/>
          </p:nvSpPr>
          <p:spPr>
            <a:xfrm>
              <a:off x="4712818" y="1463040"/>
              <a:ext cx="68808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PURPOSE</a:t>
              </a:r>
              <a:endParaRPr lang="en-US" sz="1000" dirty="0"/>
            </a:p>
          </p:txBody>
        </p:sp>
      </p:grpSp>
      <p:grpSp>
        <p:nvGrpSpPr>
          <p:cNvPr id="107" name="t_r0"/>
          <p:cNvGrpSpPr/>
          <p:nvPr/>
        </p:nvGrpSpPr>
        <p:grpSpPr>
          <a:xfrm>
            <a:off x="543154" y="1764792"/>
            <a:ext cx="11087100" cy="365760"/>
            <a:chOff x="543154" y="1764792"/>
            <a:chExt cx="11087100" cy="365760"/>
          </a:xfrm>
        </p:grpSpPr>
        <p:sp>
          <p:nvSpPr>
            <p:cNvPr id="104" name="t_r0_bg"/>
            <p:cNvSpPr/>
            <p:nvPr/>
          </p:nvSpPr>
          <p:spPr>
            <a:xfrm>
              <a:off x="543154" y="1764792"/>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5" name="t_r0_c0"/>
            <p:cNvSpPr txBox="1"/>
            <p:nvPr/>
          </p:nvSpPr>
          <p:spPr>
            <a:xfrm>
              <a:off x="689458" y="1764792"/>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File.Exists(path)</a:t>
              </a:r>
              <a:endParaRPr lang="en-US" sz="1150" dirty="0"/>
            </a:p>
          </p:txBody>
        </p:sp>
        <p:sp>
          <p:nvSpPr>
            <p:cNvPr id="106" name="t_r0_c1"/>
            <p:cNvSpPr txBox="1"/>
            <p:nvPr/>
          </p:nvSpPr>
          <p:spPr>
            <a:xfrm>
              <a:off x="4712818" y="1764792"/>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Does the file exist?</a:t>
              </a:r>
              <a:endParaRPr lang="en-US" sz="1150" dirty="0"/>
            </a:p>
          </p:txBody>
        </p:sp>
      </p:grpSp>
      <p:grpSp>
        <p:nvGrpSpPr>
          <p:cNvPr id="111" name="t_r1"/>
          <p:cNvGrpSpPr/>
          <p:nvPr/>
        </p:nvGrpSpPr>
        <p:grpSpPr>
          <a:xfrm>
            <a:off x="543154" y="2185416"/>
            <a:ext cx="11087100" cy="365760"/>
            <a:chOff x="543154" y="2185416"/>
            <a:chExt cx="11087100" cy="365760"/>
          </a:xfrm>
        </p:grpSpPr>
        <p:sp>
          <p:nvSpPr>
            <p:cNvPr id="108" name="t_r1_bg"/>
            <p:cNvSpPr/>
            <p:nvPr/>
          </p:nvSpPr>
          <p:spPr>
            <a:xfrm>
              <a:off x="543154" y="2185416"/>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9" name="t_r1_c0"/>
            <p:cNvSpPr txBox="1"/>
            <p:nvPr/>
          </p:nvSpPr>
          <p:spPr>
            <a:xfrm>
              <a:off x="689458" y="2185416"/>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File.WriteAllText(path, text)</a:t>
              </a:r>
              <a:endParaRPr lang="en-US" sz="1150" dirty="0"/>
            </a:p>
          </p:txBody>
        </p:sp>
        <p:sp>
          <p:nvSpPr>
            <p:cNvPr id="110" name="t_r1_c1"/>
            <p:cNvSpPr txBox="1"/>
            <p:nvPr/>
          </p:nvSpPr>
          <p:spPr>
            <a:xfrm>
              <a:off x="4712818" y="2185416"/>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FBBF24"/>
                  </a:solidFill>
                  <a:latin typeface="Segoe UI"/>
                  <a:ea typeface="Segoe UI"/>
                  <a:cs typeface="Segoe UI"/>
                </a:rPr>
                <a:t>Write text: create, or OVERWRITE</a:t>
              </a:r>
              <a:endParaRPr lang="en-US" sz="1150" dirty="0"/>
            </a:p>
          </p:txBody>
        </p:sp>
      </p:grpSp>
      <p:grpSp>
        <p:nvGrpSpPr>
          <p:cNvPr id="115" name="t_r2"/>
          <p:cNvGrpSpPr/>
          <p:nvPr/>
        </p:nvGrpSpPr>
        <p:grpSpPr>
          <a:xfrm>
            <a:off x="543154" y="2606040"/>
            <a:ext cx="11087100" cy="365760"/>
            <a:chOff x="543154" y="2606040"/>
            <a:chExt cx="11087100" cy="365760"/>
          </a:xfrm>
        </p:grpSpPr>
        <p:sp>
          <p:nvSpPr>
            <p:cNvPr id="112" name="t_r2_bg"/>
            <p:cNvSpPr/>
            <p:nvPr/>
          </p:nvSpPr>
          <p:spPr>
            <a:xfrm>
              <a:off x="543154" y="2606040"/>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3" name="t_r2_c0"/>
            <p:cNvSpPr txBox="1"/>
            <p:nvPr/>
          </p:nvSpPr>
          <p:spPr>
            <a:xfrm>
              <a:off x="689458" y="2606040"/>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File.AppendAllText(path, text)</a:t>
              </a:r>
              <a:endParaRPr lang="en-US" sz="1150" dirty="0"/>
            </a:p>
          </p:txBody>
        </p:sp>
        <p:sp>
          <p:nvSpPr>
            <p:cNvPr id="114" name="t_r2_c1"/>
            <p:cNvSpPr txBox="1"/>
            <p:nvPr/>
          </p:nvSpPr>
          <p:spPr>
            <a:xfrm>
              <a:off x="4712818" y="2606040"/>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34D399"/>
                  </a:solidFill>
                  <a:latin typeface="Segoe UI"/>
                  <a:ea typeface="Segoe UI"/>
                  <a:cs typeface="Segoe UI"/>
                </a:rPr>
                <a:t>Add text to the END</a:t>
              </a:r>
              <a:endParaRPr lang="en-US" sz="1150" dirty="0"/>
            </a:p>
          </p:txBody>
        </p:sp>
      </p:grpSp>
      <p:grpSp>
        <p:nvGrpSpPr>
          <p:cNvPr id="119" name="t_r3"/>
          <p:cNvGrpSpPr/>
          <p:nvPr/>
        </p:nvGrpSpPr>
        <p:grpSpPr>
          <a:xfrm>
            <a:off x="543154" y="3026664"/>
            <a:ext cx="11087100" cy="365760"/>
            <a:chOff x="543154" y="3026664"/>
            <a:chExt cx="11087100" cy="365760"/>
          </a:xfrm>
        </p:grpSpPr>
        <p:sp>
          <p:nvSpPr>
            <p:cNvPr id="116" name="t_r3_bg"/>
            <p:cNvSpPr/>
            <p:nvPr/>
          </p:nvSpPr>
          <p:spPr>
            <a:xfrm>
              <a:off x="543154" y="3026664"/>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7" name="t_r3_c0"/>
            <p:cNvSpPr txBox="1"/>
            <p:nvPr/>
          </p:nvSpPr>
          <p:spPr>
            <a:xfrm>
              <a:off x="689458" y="3026664"/>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File.ReadAllText(path)</a:t>
              </a:r>
              <a:endParaRPr lang="en-US" sz="1150" dirty="0"/>
            </a:p>
          </p:txBody>
        </p:sp>
        <p:sp>
          <p:nvSpPr>
            <p:cNvPr id="118" name="t_r3_c1"/>
            <p:cNvSpPr txBox="1"/>
            <p:nvPr/>
          </p:nvSpPr>
          <p:spPr>
            <a:xfrm>
              <a:off x="4712818" y="3026664"/>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Read the whole file into one string</a:t>
              </a:r>
              <a:endParaRPr lang="en-US" sz="1150" dirty="0"/>
            </a:p>
          </p:txBody>
        </p:sp>
      </p:grpSp>
      <p:grpSp>
        <p:nvGrpSpPr>
          <p:cNvPr id="123" name="t_r4"/>
          <p:cNvGrpSpPr/>
          <p:nvPr/>
        </p:nvGrpSpPr>
        <p:grpSpPr>
          <a:xfrm>
            <a:off x="543154" y="3447288"/>
            <a:ext cx="11087100" cy="365760"/>
            <a:chOff x="543154" y="3447288"/>
            <a:chExt cx="11087100" cy="365760"/>
          </a:xfrm>
        </p:grpSpPr>
        <p:sp>
          <p:nvSpPr>
            <p:cNvPr id="120" name="t_r4_bg"/>
            <p:cNvSpPr/>
            <p:nvPr/>
          </p:nvSpPr>
          <p:spPr>
            <a:xfrm>
              <a:off x="543154" y="3447288"/>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1" name="t_r4_c0"/>
            <p:cNvSpPr txBox="1"/>
            <p:nvPr/>
          </p:nvSpPr>
          <p:spPr>
            <a:xfrm>
              <a:off x="689458" y="3447288"/>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File.ReadAllLines(path)</a:t>
              </a:r>
              <a:endParaRPr lang="en-US" sz="1150" dirty="0"/>
            </a:p>
          </p:txBody>
        </p:sp>
        <p:sp>
          <p:nvSpPr>
            <p:cNvPr id="122" name="t_r4_c1"/>
            <p:cNvSpPr txBox="1"/>
            <p:nvPr/>
          </p:nvSpPr>
          <p:spPr>
            <a:xfrm>
              <a:off x="4712818" y="3447288"/>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Read the lines into a string[]</a:t>
              </a:r>
              <a:endParaRPr lang="en-US" sz="1150" dirty="0"/>
            </a:p>
          </p:txBody>
        </p:sp>
      </p:grpSp>
      <p:grpSp>
        <p:nvGrpSpPr>
          <p:cNvPr id="127" name="t_r5"/>
          <p:cNvGrpSpPr/>
          <p:nvPr/>
        </p:nvGrpSpPr>
        <p:grpSpPr>
          <a:xfrm>
            <a:off x="543154" y="3867912"/>
            <a:ext cx="11087100" cy="365760"/>
            <a:chOff x="543154" y="3867912"/>
            <a:chExt cx="11087100" cy="365760"/>
          </a:xfrm>
        </p:grpSpPr>
        <p:sp>
          <p:nvSpPr>
            <p:cNvPr id="124" name="t_r5_bg"/>
            <p:cNvSpPr/>
            <p:nvPr/>
          </p:nvSpPr>
          <p:spPr>
            <a:xfrm>
              <a:off x="543154" y="3867912"/>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5" name="t_r5_c0"/>
            <p:cNvSpPr txBox="1"/>
            <p:nvPr/>
          </p:nvSpPr>
          <p:spPr>
            <a:xfrm>
              <a:off x="689458" y="3867912"/>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File.WriteAllLines(path, lines)</a:t>
              </a:r>
              <a:endParaRPr lang="en-US" sz="1150" dirty="0"/>
            </a:p>
          </p:txBody>
        </p:sp>
        <p:sp>
          <p:nvSpPr>
            <p:cNvPr id="126" name="t_r5_c1"/>
            <p:cNvSpPr txBox="1"/>
            <p:nvPr/>
          </p:nvSpPr>
          <p:spPr>
            <a:xfrm>
              <a:off x="4712818" y="3867912"/>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Write many lines at once</a:t>
              </a:r>
              <a:endParaRPr lang="en-US" sz="1150" dirty="0"/>
            </a:p>
          </p:txBody>
        </p:sp>
      </p:grpSp>
      <p:grpSp>
        <p:nvGrpSpPr>
          <p:cNvPr id="131" name="t_r6"/>
          <p:cNvGrpSpPr/>
          <p:nvPr/>
        </p:nvGrpSpPr>
        <p:grpSpPr>
          <a:xfrm>
            <a:off x="543154" y="4288536"/>
            <a:ext cx="11087100" cy="365760"/>
            <a:chOff x="543154" y="4288536"/>
            <a:chExt cx="11087100" cy="365760"/>
          </a:xfrm>
        </p:grpSpPr>
        <p:sp>
          <p:nvSpPr>
            <p:cNvPr id="128" name="t_r6_bg"/>
            <p:cNvSpPr/>
            <p:nvPr/>
          </p:nvSpPr>
          <p:spPr>
            <a:xfrm>
              <a:off x="543154" y="4288536"/>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9" name="t_r6_c0"/>
            <p:cNvSpPr txBox="1"/>
            <p:nvPr/>
          </p:nvSpPr>
          <p:spPr>
            <a:xfrm>
              <a:off x="689458" y="4288536"/>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File.Copy(from, to)</a:t>
              </a:r>
              <a:endParaRPr lang="en-US" sz="1150" dirty="0"/>
            </a:p>
          </p:txBody>
        </p:sp>
        <p:sp>
          <p:nvSpPr>
            <p:cNvPr id="130" name="t_r6_c1"/>
            <p:cNvSpPr txBox="1"/>
            <p:nvPr/>
          </p:nvSpPr>
          <p:spPr>
            <a:xfrm>
              <a:off x="4712818" y="4288536"/>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Copy: the original stays</a:t>
              </a:r>
              <a:endParaRPr lang="en-US" sz="1150" dirty="0"/>
            </a:p>
          </p:txBody>
        </p:sp>
      </p:grpSp>
      <p:grpSp>
        <p:nvGrpSpPr>
          <p:cNvPr id="135" name="t_r7"/>
          <p:cNvGrpSpPr/>
          <p:nvPr/>
        </p:nvGrpSpPr>
        <p:grpSpPr>
          <a:xfrm>
            <a:off x="543154" y="4709160"/>
            <a:ext cx="11087100" cy="365760"/>
            <a:chOff x="543154" y="4709160"/>
            <a:chExt cx="11087100" cy="365760"/>
          </a:xfrm>
        </p:grpSpPr>
        <p:sp>
          <p:nvSpPr>
            <p:cNvPr id="132" name="t_r7_bg"/>
            <p:cNvSpPr/>
            <p:nvPr/>
          </p:nvSpPr>
          <p:spPr>
            <a:xfrm>
              <a:off x="543154" y="4709160"/>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3" name="t_r7_c0"/>
            <p:cNvSpPr txBox="1"/>
            <p:nvPr/>
          </p:nvSpPr>
          <p:spPr>
            <a:xfrm>
              <a:off x="689458" y="4709160"/>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File.Move(from, to)</a:t>
              </a:r>
              <a:endParaRPr lang="en-US" sz="1150" dirty="0"/>
            </a:p>
          </p:txBody>
        </p:sp>
        <p:sp>
          <p:nvSpPr>
            <p:cNvPr id="134" name="t_r7_c1"/>
            <p:cNvSpPr txBox="1"/>
            <p:nvPr/>
          </p:nvSpPr>
          <p:spPr>
            <a:xfrm>
              <a:off x="4712818" y="4709160"/>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Move or rename: the original is gone</a:t>
              </a:r>
              <a:endParaRPr lang="en-US" sz="1150" dirty="0"/>
            </a:p>
          </p:txBody>
        </p:sp>
      </p:grpSp>
      <p:grpSp>
        <p:nvGrpSpPr>
          <p:cNvPr id="139" name="t_r8"/>
          <p:cNvGrpSpPr/>
          <p:nvPr/>
        </p:nvGrpSpPr>
        <p:grpSpPr>
          <a:xfrm>
            <a:off x="543154" y="5129784"/>
            <a:ext cx="11087100" cy="365760"/>
            <a:chOff x="543154" y="5129784"/>
            <a:chExt cx="11087100" cy="365760"/>
          </a:xfrm>
        </p:grpSpPr>
        <p:sp>
          <p:nvSpPr>
            <p:cNvPr id="136" name="t_r8_bg"/>
            <p:cNvSpPr/>
            <p:nvPr/>
          </p:nvSpPr>
          <p:spPr>
            <a:xfrm>
              <a:off x="543154" y="5129784"/>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7" name="t_r8_c0"/>
            <p:cNvSpPr txBox="1"/>
            <p:nvPr/>
          </p:nvSpPr>
          <p:spPr>
            <a:xfrm>
              <a:off x="689458" y="5129784"/>
              <a:ext cx="38404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File.Delete(path)</a:t>
              </a:r>
              <a:endParaRPr lang="en-US" sz="1150" dirty="0"/>
            </a:p>
          </p:txBody>
        </p:sp>
        <p:sp>
          <p:nvSpPr>
            <p:cNvPr id="138" name="t_r8_c1"/>
            <p:cNvSpPr txBox="1"/>
            <p:nvPr/>
          </p:nvSpPr>
          <p:spPr>
            <a:xfrm>
              <a:off x="4712818" y="5129784"/>
              <a:ext cx="68808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50" b="0" dirty="0">
                  <a:solidFill>
                    <a:srgbClr val="E2E8F0"/>
                  </a:solidFill>
                  <a:latin typeface="Segoe UI"/>
                  <a:ea typeface="Segoe UI"/>
                  <a:cs typeface="Segoe UI"/>
                </a:rPr>
                <a:t>Delete the file</a:t>
              </a:r>
              <a:endParaRPr lang="en-US" sz="1150" dirty="0"/>
            </a:p>
          </p:txBody>
        </p:sp>
      </p:grpSp>
    </p:spTree>
    <p:extLst>
      <p:ext uri="{BB962C8B-B14F-4D97-AF65-F5344CB8AC3E}">
        <p14:creationId xmlns:p14="http://schemas.microsoft.com/office/powerpoint/2010/main" val="500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4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fade">
                                      <p:cBhvr>
                                        <p:cTn id="12" dur="400"/>
                                        <p:tgtEl>
                                          <p:spTgt spid="1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1"/>
                                        </p:tgtEl>
                                        <p:attrNameLst>
                                          <p:attrName>style.visibility</p:attrName>
                                        </p:attrNameLst>
                                      </p:cBhvr>
                                      <p:to>
                                        <p:strVal val="visible"/>
                                      </p:to>
                                    </p:set>
                                    <p:animEffect transition="in" filter="fade">
                                      <p:cBhvr>
                                        <p:cTn id="17" dur="200"/>
                                        <p:tgtEl>
                                          <p:spTgt spid="111"/>
                                        </p:tgtEl>
                                      </p:cBhvr>
                                    </p:animEffect>
                                  </p:childTnLst>
                                </p:cTn>
                              </p:par>
                            </p:childTnLst>
                          </p:cTn>
                        </p:par>
                        <p:par>
                          <p:cTn id="18" fill="hold">
                            <p:stCondLst>
                              <p:cond delay="200"/>
                            </p:stCondLst>
                            <p:childTnLst>
                              <p:par>
                                <p:cTn id="19" presetID="10" presetClass="entr" presetSubtype="0" fill="hold" nodeType="afterEffect">
                                  <p:stCondLst>
                                    <p:cond delay="0"/>
                                  </p:stCondLst>
                                  <p:childTnLst>
                                    <p:set>
                                      <p:cBhvr>
                                        <p:cTn id="20" dur="1" fill="hold">
                                          <p:stCondLst>
                                            <p:cond delay="0"/>
                                          </p:stCondLst>
                                        </p:cTn>
                                        <p:tgtEl>
                                          <p:spTgt spid="115"/>
                                        </p:tgtEl>
                                        <p:attrNameLst>
                                          <p:attrName>style.visibility</p:attrName>
                                        </p:attrNameLst>
                                      </p:cBhvr>
                                      <p:to>
                                        <p:strVal val="visible"/>
                                      </p:to>
                                    </p:set>
                                    <p:animEffect transition="in" filter="fade">
                                      <p:cBhvr>
                                        <p:cTn id="21" dur="200"/>
                                        <p:tgtEl>
                                          <p:spTgt spid="115"/>
                                        </p:tgtEl>
                                      </p:cBhvr>
                                    </p:animEffect>
                                  </p:childTnLst>
                                </p:cTn>
                              </p:par>
                            </p:childTnLst>
                          </p:cTn>
                        </p:par>
                        <p:par>
                          <p:cTn id="22" fill="hold">
                            <p:stCondLst>
                              <p:cond delay="400"/>
                            </p:stCondLst>
                            <p:childTnLst>
                              <p:par>
                                <p:cTn id="23" presetID="10" presetClass="entr" presetSubtype="0" fill="hold" nodeType="afterEffect">
                                  <p:stCondLst>
                                    <p:cond delay="0"/>
                                  </p:stCondLst>
                                  <p:childTnLst>
                                    <p:set>
                                      <p:cBhvr>
                                        <p:cTn id="24" dur="1" fill="hold">
                                          <p:stCondLst>
                                            <p:cond delay="0"/>
                                          </p:stCondLst>
                                        </p:cTn>
                                        <p:tgtEl>
                                          <p:spTgt spid="119"/>
                                        </p:tgtEl>
                                        <p:attrNameLst>
                                          <p:attrName>style.visibility</p:attrName>
                                        </p:attrNameLst>
                                      </p:cBhvr>
                                      <p:to>
                                        <p:strVal val="visible"/>
                                      </p:to>
                                    </p:set>
                                    <p:animEffect transition="in" filter="fade">
                                      <p:cBhvr>
                                        <p:cTn id="25" dur="200"/>
                                        <p:tgtEl>
                                          <p:spTgt spid="1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3"/>
                                        </p:tgtEl>
                                        <p:attrNameLst>
                                          <p:attrName>style.visibility</p:attrName>
                                        </p:attrNameLst>
                                      </p:cBhvr>
                                      <p:to>
                                        <p:strVal val="visible"/>
                                      </p:to>
                                    </p:set>
                                    <p:animEffect transition="in" filter="fade">
                                      <p:cBhvr>
                                        <p:cTn id="30" dur="400"/>
                                        <p:tgtEl>
                                          <p:spTgt spid="123"/>
                                        </p:tgtEl>
                                      </p:cBhvr>
                                    </p:animEffect>
                                  </p:childTnLst>
                                </p:cTn>
                              </p:par>
                            </p:childTnLst>
                          </p:cTn>
                        </p:par>
                        <p:par>
                          <p:cTn id="31" fill="hold">
                            <p:stCondLst>
                              <p:cond delay="400"/>
                            </p:stCondLst>
                            <p:childTnLst>
                              <p:par>
                                <p:cTn id="32" presetID="10" presetClass="entr" presetSubtype="0" fill="hold" nodeType="afterEffect">
                                  <p:stCondLst>
                                    <p:cond delay="0"/>
                                  </p:stCondLst>
                                  <p:childTnLst>
                                    <p:set>
                                      <p:cBhvr>
                                        <p:cTn id="33" dur="1" fill="hold">
                                          <p:stCondLst>
                                            <p:cond delay="0"/>
                                          </p:stCondLst>
                                        </p:cTn>
                                        <p:tgtEl>
                                          <p:spTgt spid="127"/>
                                        </p:tgtEl>
                                        <p:attrNameLst>
                                          <p:attrName>style.visibility</p:attrName>
                                        </p:attrNameLst>
                                      </p:cBhvr>
                                      <p:to>
                                        <p:strVal val="visible"/>
                                      </p:to>
                                    </p:set>
                                    <p:animEffect transition="in" filter="fade">
                                      <p:cBhvr>
                                        <p:cTn id="34" dur="200"/>
                                        <p:tgtEl>
                                          <p:spTgt spid="1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1"/>
                                        </p:tgtEl>
                                        <p:attrNameLst>
                                          <p:attrName>style.visibility</p:attrName>
                                        </p:attrNameLst>
                                      </p:cBhvr>
                                      <p:to>
                                        <p:strVal val="visible"/>
                                      </p:to>
                                    </p:set>
                                    <p:animEffect transition="in" filter="fade">
                                      <p:cBhvr>
                                        <p:cTn id="39" dur="200"/>
                                        <p:tgtEl>
                                          <p:spTgt spid="131"/>
                                        </p:tgtEl>
                                      </p:cBhvr>
                                    </p:animEffect>
                                  </p:childTnLst>
                                </p:cTn>
                              </p:par>
                            </p:childTnLst>
                          </p:cTn>
                        </p:par>
                        <p:par>
                          <p:cTn id="40" fill="hold">
                            <p:stCondLst>
                              <p:cond delay="200"/>
                            </p:stCondLst>
                            <p:childTnLst>
                              <p:par>
                                <p:cTn id="41" presetID="10" presetClass="entr" presetSubtype="0" fill="hold" nodeType="afterEffect">
                                  <p:stCondLst>
                                    <p:cond delay="0"/>
                                  </p:stCondLst>
                                  <p:childTnLst>
                                    <p:set>
                                      <p:cBhvr>
                                        <p:cTn id="42" dur="1" fill="hold">
                                          <p:stCondLst>
                                            <p:cond delay="0"/>
                                          </p:stCondLst>
                                        </p:cTn>
                                        <p:tgtEl>
                                          <p:spTgt spid="135"/>
                                        </p:tgtEl>
                                        <p:attrNameLst>
                                          <p:attrName>style.visibility</p:attrName>
                                        </p:attrNameLst>
                                      </p:cBhvr>
                                      <p:to>
                                        <p:strVal val="visible"/>
                                      </p:to>
                                    </p:set>
                                    <p:animEffect transition="in" filter="fade">
                                      <p:cBhvr>
                                        <p:cTn id="43" dur="200"/>
                                        <p:tgtEl>
                                          <p:spTgt spid="135"/>
                                        </p:tgtEl>
                                      </p:cBhvr>
                                    </p:animEffect>
                                  </p:childTnLst>
                                </p:cTn>
                              </p:par>
                            </p:childTnLst>
                          </p:cTn>
                        </p:par>
                        <p:par>
                          <p:cTn id="44" fill="hold">
                            <p:stCondLst>
                              <p:cond delay="400"/>
                            </p:stCondLst>
                            <p:childTnLst>
                              <p:par>
                                <p:cTn id="45" presetID="10" presetClass="entr" presetSubtype="0" fill="hold" nodeType="afterEffect">
                                  <p:stCondLst>
                                    <p:cond delay="0"/>
                                  </p:stCondLst>
                                  <p:childTnLst>
                                    <p:set>
                                      <p:cBhvr>
                                        <p:cTn id="46" dur="1" fill="hold">
                                          <p:stCondLst>
                                            <p:cond delay="0"/>
                                          </p:stCondLst>
                                        </p:cTn>
                                        <p:tgtEl>
                                          <p:spTgt spid="139"/>
                                        </p:tgtEl>
                                        <p:attrNameLst>
                                          <p:attrName>style.visibility</p:attrName>
                                        </p:attrNameLst>
                                      </p:cBhvr>
                                      <p:to>
                                        <p:strVal val="visible"/>
                                      </p:to>
                                    </p:set>
                                    <p:animEffect transition="in" filter="fade">
                                      <p:cBhvr>
                                        <p:cTn id="47" dur="2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FILE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Overwrite vs Append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06</a:t>
            </a:r>
            <a:endParaRPr lang="en-US" sz="850" dirty="0"/>
          </a:p>
        </p:txBody>
      </p:sp>
      <p:grpSp>
        <p:nvGrpSpPr>
          <p:cNvPr id="116" name="code"/>
          <p:cNvGrpSpPr/>
          <p:nvPr/>
        </p:nvGrpSpPr>
        <p:grpSpPr>
          <a:xfrm>
            <a:off x="543154" y="1481328"/>
            <a:ext cx="6766560" cy="2355900"/>
            <a:chOff x="543154" y="1481328"/>
            <a:chExt cx="6766560" cy="2355900"/>
          </a:xfrm>
        </p:grpSpPr>
        <p:sp>
          <p:nvSpPr>
            <p:cNvPr id="101" name="code_win"/>
            <p:cNvSpPr/>
            <p:nvPr/>
          </p:nvSpPr>
          <p:spPr>
            <a:xfrm>
              <a:off x="543154" y="1481328"/>
              <a:ext cx="6766560" cy="2355900"/>
            </a:xfrm>
            <a:prstGeom prst="roundRect">
              <a:avLst>
                <a:gd name="adj" fmla="val 2909"/>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67665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676656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string</a:t>
              </a:r>
              <a:r>
                <a:rPr lang="en-US" sz="880" b="0" dirty="0">
                  <a:solidFill>
                    <a:srgbClr val="E2E8F0"/>
                  </a:solidFill>
                  <a:latin typeface="Consolas"/>
                  <a:ea typeface="Consolas"/>
                  <a:cs typeface="Consolas"/>
                </a:rPr>
                <a:t> path = Path.Combine(AppContext.BaseDirectory, </a:t>
              </a:r>
              <a:r>
                <a:rPr lang="en-US" sz="880" b="0" dirty="0">
                  <a:solidFill>
                    <a:srgbClr val="F0A98B"/>
                  </a:solidFill>
                  <a:latin typeface="Consolas"/>
                  <a:ea typeface="Consolas"/>
                  <a:cs typeface="Consolas"/>
                </a:rPr>
                <a:t>"Data"</a:t>
              </a:r>
              <a:r>
                <a:rPr lang="en-US" sz="880" b="0" dirty="0">
                  <a:solidFill>
                    <a:srgbClr val="E2E8F0"/>
                  </a:solidFill>
                  <a:latin typeface="Consolas"/>
                  <a:ea typeface="Consolas"/>
                  <a:cs typeface="Consolas"/>
                </a:rPr>
                <a:t>, </a:t>
              </a:r>
              <a:r>
                <a:rPr lang="en-US" sz="880" b="0" dirty="0">
                  <a:solidFill>
                    <a:srgbClr val="F0A98B"/>
                  </a:solidFill>
                  <a:latin typeface="Consolas"/>
                  <a:ea typeface="Consolas"/>
                  <a:cs typeface="Consolas"/>
                </a:rPr>
                <a:t>"notes.txt"</a:t>
              </a:r>
              <a:r>
                <a:rPr lang="en-US" sz="880" b="0" dirty="0">
                  <a:solidFill>
                    <a:srgbClr val="E2E8F0"/>
                  </a:solidFill>
                  <a:latin typeface="Consolas"/>
                  <a:ea typeface="Consolas"/>
                  <a:cs typeface="Consolas"/>
                </a:rPr>
                <a:t>);</a:t>
              </a:r>
              <a:endParaRPr lang="en-US" sz="880" dirty="0"/>
            </a:p>
          </p:txBody>
        </p:sp>
        <p:sp>
          <p:nvSpPr>
            <p:cNvPr id="109" name="code_L01"/>
            <p:cNvSpPr txBox="1"/>
            <p:nvPr/>
          </p:nvSpPr>
          <p:spPr>
            <a:xfrm>
              <a:off x="771754" y="211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Directory.CreateDirectory(Path.GetDirectoryName(path)!);</a:t>
              </a:r>
              <a:endParaRPr lang="en-US" sz="880" dirty="0"/>
            </a:p>
          </p:txBody>
        </p:sp>
        <p:sp>
          <p:nvSpPr>
            <p:cNvPr id="110" name="code_L03"/>
            <p:cNvSpPr txBox="1"/>
            <p:nvPr/>
          </p:nvSpPr>
          <p:spPr>
            <a:xfrm>
              <a:off x="771754" y="243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File.WriteAllText(path, </a:t>
              </a:r>
              <a:r>
                <a:rPr lang="en-US" sz="880" b="0" dirty="0">
                  <a:solidFill>
                    <a:srgbClr val="F0A98B"/>
                  </a:solidFill>
                  <a:latin typeface="Consolas"/>
                  <a:ea typeface="Consolas"/>
                  <a:cs typeface="Consolas"/>
                </a:rPr>
                <a:t>"Hello World"</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create or OVERWRITE</a:t>
              </a:r>
              <a:endParaRPr lang="en-US" sz="880" dirty="0"/>
            </a:p>
          </p:txBody>
        </p:sp>
        <p:sp>
          <p:nvSpPr>
            <p:cNvPr id="111" name="code_L04"/>
            <p:cNvSpPr txBox="1"/>
            <p:nvPr/>
          </p:nvSpPr>
          <p:spPr>
            <a:xfrm>
              <a:off x="771754" y="259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File.AppendAllText(path, </a:t>
              </a:r>
              <a:r>
                <a:rPr lang="en-US" sz="880" b="0" dirty="0">
                  <a:solidFill>
                    <a:srgbClr val="F0A98B"/>
                  </a:solidFill>
                  <a:latin typeface="Consolas"/>
                  <a:ea typeface="Consolas"/>
                  <a:cs typeface="Consolas"/>
                </a:rPr>
                <a:t>"\nWelcome!"</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add to the END</a:t>
              </a:r>
              <a:endParaRPr lang="en-US" sz="880" dirty="0"/>
            </a:p>
          </p:txBody>
        </p:sp>
        <p:sp>
          <p:nvSpPr>
            <p:cNvPr id="112" name="code_L06"/>
            <p:cNvSpPr txBox="1"/>
            <p:nvPr/>
          </p:nvSpPr>
          <p:spPr>
            <a:xfrm>
              <a:off x="771754" y="291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Console.WriteLine(File.ReadAllText(path));</a:t>
              </a:r>
              <a:endParaRPr lang="en-US" sz="880" dirty="0"/>
            </a:p>
          </p:txBody>
        </p:sp>
        <p:sp>
          <p:nvSpPr>
            <p:cNvPr id="113" name="code_L07"/>
            <p:cNvSpPr txBox="1"/>
            <p:nvPr/>
          </p:nvSpPr>
          <p:spPr>
            <a:xfrm>
              <a:off x="771754" y="307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Console.WriteLine(File.Exists(path));</a:t>
              </a:r>
              <a:endParaRPr lang="en-US" sz="880" dirty="0"/>
            </a:p>
          </p:txBody>
        </p:sp>
        <p:sp>
          <p:nvSpPr>
            <p:cNvPr id="114" name="code_L09"/>
            <p:cNvSpPr txBox="1"/>
            <p:nvPr/>
          </p:nvSpPr>
          <p:spPr>
            <a:xfrm>
              <a:off x="771754" y="339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File.WriteAllText(path, </a:t>
              </a:r>
              <a:r>
                <a:rPr lang="en-US" sz="880" b="0" dirty="0">
                  <a:solidFill>
                    <a:srgbClr val="F0A98B"/>
                  </a:solidFill>
                  <a:latin typeface="Consolas"/>
                  <a:ea typeface="Consolas"/>
                  <a:cs typeface="Consolas"/>
                </a:rPr>
                <a:t>"Replaced"</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overwrite again</a:t>
              </a:r>
              <a:endParaRPr lang="en-US" sz="880" dirty="0"/>
            </a:p>
          </p:txBody>
        </p:sp>
        <p:sp>
          <p:nvSpPr>
            <p:cNvPr id="115" name="code_L10"/>
            <p:cNvSpPr txBox="1"/>
            <p:nvPr/>
          </p:nvSpPr>
          <p:spPr>
            <a:xfrm>
              <a:off x="771754" y="3557228"/>
              <a:ext cx="646656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Console.WriteLine(File.ReadAllText(path));</a:t>
              </a:r>
              <a:endParaRPr lang="en-US" sz="880" dirty="0"/>
            </a:p>
          </p:txBody>
        </p:sp>
      </p:grpSp>
      <p:sp>
        <p:nvSpPr>
          <p:cNvPr id="117" name="code_hl3"/>
          <p:cNvSpPr/>
          <p:nvPr/>
        </p:nvSpPr>
        <p:spPr>
          <a:xfrm>
            <a:off x="676656" y="2418940"/>
            <a:ext cx="6499560" cy="196576"/>
          </a:xfrm>
          <a:prstGeom prst="rect">
            <a:avLst/>
          </a:prstGeom>
          <a:solidFill>
            <a:srgbClr val="FBBF24">
              <a:alpha val="15000"/>
            </a:srgbClr>
          </a:solidFill>
          <a:ln w="12700">
            <a:solidFill>
              <a:srgbClr val="FBBF24"/>
            </a:solidFill>
            <a:prstDash val="solid"/>
          </a:ln>
        </p:spPr>
        <p:txBody>
          <a:bodyPr/>
          <a:lstStyle/>
          <a:p>
            <a:endParaRPr lang="en-US" dirty="0"/>
          </a:p>
        </p:txBody>
      </p:sp>
      <p:sp>
        <p:nvSpPr>
          <p:cNvPr id="118" name="code_hl4"/>
          <p:cNvSpPr/>
          <p:nvPr/>
        </p:nvSpPr>
        <p:spPr>
          <a:xfrm>
            <a:off x="676656" y="2578940"/>
            <a:ext cx="649956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9" name="code_hl9"/>
          <p:cNvSpPr/>
          <p:nvPr/>
        </p:nvSpPr>
        <p:spPr>
          <a:xfrm>
            <a:off x="676656" y="3378940"/>
            <a:ext cx="6499560" cy="19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0" name="fl"/>
          <p:cNvSpPr txBox="1"/>
          <p:nvPr/>
        </p:nvSpPr>
        <p:spPr>
          <a:xfrm>
            <a:off x="7584034" y="1481328"/>
            <a:ext cx="40462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94A3B8"/>
                </a:solidFill>
                <a:latin typeface="Segoe UI"/>
                <a:ea typeface="Segoe UI"/>
                <a:cs typeface="Segoe UI"/>
              </a:rPr>
              <a:t>notes.txt on disk</a:t>
            </a:r>
            <a:endParaRPr lang="en-US" sz="1050" dirty="0"/>
          </a:p>
        </p:txBody>
      </p:sp>
      <p:sp>
        <p:nvSpPr>
          <p:cNvPr id="121" name="f0"/>
          <p:cNvSpPr/>
          <p:nvPr/>
        </p:nvSpPr>
        <p:spPr>
          <a:xfrm>
            <a:off x="7584034" y="1783080"/>
            <a:ext cx="4046220" cy="1188720"/>
          </a:xfrm>
          <a:prstGeom prst="roundRect">
            <a:avLst>
              <a:gd name="adj" fmla="val 12000"/>
            </a:avLst>
          </a:prstGeom>
          <a:solidFill>
            <a:srgbClr val="FBBF24">
              <a:alpha val="10000"/>
            </a:srgbClr>
          </a:solidFill>
          <a:ln w="12700">
            <a:solidFill>
              <a:srgbClr val="FBBF24"/>
            </a:solidFill>
            <a:prstDash val="solid"/>
          </a:ln>
        </p:spPr>
        <p:txBody>
          <a:bodyPr wrap="square" lIns="164592" tIns="91440" rIns="91440" bIns="45720" rtlCol="0" anchor="t">
            <a:noAutofit/>
          </a:bodyPr>
          <a:lstStyle/>
          <a:p>
            <a:pPr marL="0" indent="0" algn="l">
              <a:spcBef>
                <a:spcPts val="0"/>
              </a:spcBef>
              <a:spcAft>
                <a:spcPts val="0"/>
              </a:spcAft>
              <a:buNone/>
            </a:pPr>
            <a:r>
              <a:rPr lang="en-US" sz="950" b="1" dirty="0">
                <a:solidFill>
                  <a:srgbClr val="FBBF24"/>
                </a:solidFill>
                <a:latin typeface="Segoe UI"/>
                <a:ea typeface="Segoe UI"/>
                <a:cs typeface="Segoe UI"/>
              </a:rPr>
              <a:t>after WriteAllText</a:t>
            </a:r>
            <a:endParaRPr lang="en-US" sz="950" dirty="0"/>
          </a:p>
          <a:p>
            <a:pPr marL="0" indent="0" algn="l">
              <a:spcBef>
                <a:spcPts val="0"/>
              </a:spcBef>
              <a:spcAft>
                <a:spcPts val="0"/>
              </a:spcAft>
              <a:buNone/>
            </a:pPr>
            <a:r>
              <a:rPr lang="en-US" sz="1300" b="0" dirty="0">
                <a:solidFill>
                  <a:srgbClr val="FFFFFF"/>
                </a:solidFill>
                <a:latin typeface="Consolas"/>
                <a:ea typeface="Consolas"/>
                <a:cs typeface="Consolas"/>
              </a:rPr>
              <a:t>Hello World</a:t>
            </a:r>
            <a:endParaRPr lang="en-US" sz="1300" dirty="0"/>
          </a:p>
        </p:txBody>
      </p:sp>
      <p:sp>
        <p:nvSpPr>
          <p:cNvPr id="122" name="f1"/>
          <p:cNvSpPr/>
          <p:nvPr/>
        </p:nvSpPr>
        <p:spPr>
          <a:xfrm>
            <a:off x="7584034" y="1783080"/>
            <a:ext cx="4046220" cy="1188720"/>
          </a:xfrm>
          <a:prstGeom prst="roundRect">
            <a:avLst>
              <a:gd name="adj" fmla="val 12000"/>
            </a:avLst>
          </a:prstGeom>
          <a:solidFill>
            <a:srgbClr val="34D399">
              <a:alpha val="10000"/>
            </a:srgbClr>
          </a:solidFill>
          <a:ln w="12700">
            <a:solidFill>
              <a:srgbClr val="34D399"/>
            </a:solidFill>
            <a:prstDash val="solid"/>
          </a:ln>
        </p:spPr>
        <p:txBody>
          <a:bodyPr wrap="square" lIns="164592" tIns="91440" rIns="91440" bIns="45720" rtlCol="0" anchor="t">
            <a:noAutofit/>
          </a:bodyPr>
          <a:lstStyle/>
          <a:p>
            <a:pPr marL="0" indent="0" algn="l">
              <a:spcBef>
                <a:spcPts val="0"/>
              </a:spcBef>
              <a:spcAft>
                <a:spcPts val="0"/>
              </a:spcAft>
              <a:buNone/>
            </a:pPr>
            <a:r>
              <a:rPr lang="en-US" sz="950" b="1" dirty="0">
                <a:solidFill>
                  <a:srgbClr val="34D399"/>
                </a:solidFill>
                <a:latin typeface="Segoe UI"/>
                <a:ea typeface="Segoe UI"/>
                <a:cs typeface="Segoe UI"/>
              </a:rPr>
              <a:t>after AppendAllText</a:t>
            </a:r>
            <a:endParaRPr lang="en-US" sz="950" dirty="0"/>
          </a:p>
          <a:p>
            <a:pPr marL="0" indent="0" algn="l">
              <a:spcBef>
                <a:spcPts val="0"/>
              </a:spcBef>
              <a:spcAft>
                <a:spcPts val="0"/>
              </a:spcAft>
              <a:buNone/>
            </a:pPr>
            <a:r>
              <a:rPr lang="en-US" sz="1300" b="0" dirty="0">
                <a:solidFill>
                  <a:srgbClr val="FFFFFF"/>
                </a:solidFill>
                <a:latin typeface="Consolas"/>
                <a:ea typeface="Consolas"/>
                <a:cs typeface="Consolas"/>
              </a:rPr>
              <a:t>Hello World</a:t>
            </a:r>
            <a:endParaRPr lang="en-US" sz="1300" dirty="0"/>
          </a:p>
          <a:p>
            <a:pPr marL="0" indent="0" algn="l">
              <a:spcBef>
                <a:spcPts val="0"/>
              </a:spcBef>
              <a:spcAft>
                <a:spcPts val="0"/>
              </a:spcAft>
              <a:buNone/>
            </a:pPr>
            <a:r>
              <a:rPr lang="en-US" sz="1300" b="0" dirty="0">
                <a:solidFill>
                  <a:srgbClr val="FFFFFF"/>
                </a:solidFill>
                <a:latin typeface="Consolas"/>
                <a:ea typeface="Consolas"/>
                <a:cs typeface="Consolas"/>
              </a:rPr>
              <a:t>Welcome!</a:t>
            </a:r>
            <a:endParaRPr lang="en-US" sz="1300" dirty="0"/>
          </a:p>
        </p:txBody>
      </p:sp>
      <p:sp>
        <p:nvSpPr>
          <p:cNvPr id="123" name="f2"/>
          <p:cNvSpPr/>
          <p:nvPr/>
        </p:nvSpPr>
        <p:spPr>
          <a:xfrm>
            <a:off x="7584034" y="1783080"/>
            <a:ext cx="4046220" cy="1188720"/>
          </a:xfrm>
          <a:prstGeom prst="roundRect">
            <a:avLst>
              <a:gd name="adj" fmla="val 12000"/>
            </a:avLst>
          </a:prstGeom>
          <a:solidFill>
            <a:srgbClr val="F87171">
              <a:alpha val="10000"/>
            </a:srgbClr>
          </a:solidFill>
          <a:ln w="12700">
            <a:solidFill>
              <a:srgbClr val="F87171"/>
            </a:solidFill>
            <a:prstDash val="solid"/>
          </a:ln>
        </p:spPr>
        <p:txBody>
          <a:bodyPr wrap="square" lIns="164592" tIns="91440" rIns="91440" bIns="45720" rtlCol="0" anchor="t">
            <a:noAutofit/>
          </a:bodyPr>
          <a:lstStyle/>
          <a:p>
            <a:pPr marL="0" indent="0" algn="l">
              <a:spcBef>
                <a:spcPts val="0"/>
              </a:spcBef>
              <a:spcAft>
                <a:spcPts val="0"/>
              </a:spcAft>
              <a:buNone/>
            </a:pPr>
            <a:r>
              <a:rPr lang="en-US" sz="950" b="1" dirty="0">
                <a:solidFill>
                  <a:srgbClr val="F87171"/>
                </a:solidFill>
                <a:latin typeface="Segoe UI"/>
                <a:ea typeface="Segoe UI"/>
                <a:cs typeface="Segoe UI"/>
              </a:rPr>
              <a:t>after WriteAllText again</a:t>
            </a:r>
            <a:endParaRPr lang="en-US" sz="950" dirty="0"/>
          </a:p>
          <a:p>
            <a:pPr marL="0" indent="0" algn="l">
              <a:spcBef>
                <a:spcPts val="0"/>
              </a:spcBef>
              <a:spcAft>
                <a:spcPts val="0"/>
              </a:spcAft>
              <a:buNone/>
            </a:pPr>
            <a:r>
              <a:rPr lang="en-US" sz="1300" b="0" dirty="0">
                <a:solidFill>
                  <a:srgbClr val="FFFFFF"/>
                </a:solidFill>
                <a:latin typeface="Consolas"/>
                <a:ea typeface="Consolas"/>
                <a:cs typeface="Consolas"/>
              </a:rPr>
              <a:t>Replaced</a:t>
            </a:r>
            <a:endParaRPr lang="en-US" sz="1300" dirty="0"/>
          </a:p>
        </p:txBody>
      </p:sp>
      <p:grpSp>
        <p:nvGrpSpPr>
          <p:cNvPr id="135" name="out"/>
          <p:cNvGrpSpPr/>
          <p:nvPr/>
        </p:nvGrpSpPr>
        <p:grpSpPr>
          <a:xfrm>
            <a:off x="7584034" y="3154680"/>
            <a:ext cx="4046220" cy="1355900"/>
            <a:chOff x="7584034" y="3154680"/>
            <a:chExt cx="4046220" cy="1355900"/>
          </a:xfrm>
        </p:grpSpPr>
        <p:sp>
          <p:nvSpPr>
            <p:cNvPr id="124" name="out_win"/>
            <p:cNvSpPr/>
            <p:nvPr/>
          </p:nvSpPr>
          <p:spPr>
            <a:xfrm>
              <a:off x="7584034" y="3154680"/>
              <a:ext cx="4046220" cy="1355900"/>
            </a:xfrm>
            <a:prstGeom prst="roundRect">
              <a:avLst>
                <a:gd name="adj" fmla="val 5055"/>
              </a:avLst>
            </a:prstGeom>
            <a:solidFill>
              <a:srgbClr val="060D18"/>
            </a:solidFill>
            <a:ln w="12700">
              <a:solidFill>
                <a:srgbClr val="1E3A5F"/>
              </a:solidFill>
              <a:prstDash val="solid"/>
            </a:ln>
          </p:spPr>
          <p:txBody>
            <a:bodyPr/>
            <a:lstStyle/>
            <a:p>
              <a:endParaRPr lang="en-US"/>
            </a:p>
          </p:txBody>
        </p:sp>
        <p:sp>
          <p:nvSpPr>
            <p:cNvPr id="125" name="out_bar"/>
            <p:cNvSpPr/>
            <p:nvPr/>
          </p:nvSpPr>
          <p:spPr>
            <a:xfrm>
              <a:off x="7584034" y="3154680"/>
              <a:ext cx="40462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6" name="out_barfill"/>
            <p:cNvSpPr/>
            <p:nvPr/>
          </p:nvSpPr>
          <p:spPr>
            <a:xfrm>
              <a:off x="7584034" y="3326130"/>
              <a:ext cx="4046220" cy="171450"/>
            </a:xfrm>
            <a:prstGeom prst="rect">
              <a:avLst/>
            </a:prstGeom>
            <a:solidFill>
              <a:srgbClr val="0A1220"/>
            </a:solidFill>
            <a:ln w="12700">
              <a:solidFill>
                <a:srgbClr val="0A1220"/>
              </a:solidFill>
              <a:prstDash val="solid"/>
            </a:ln>
          </p:spPr>
          <p:txBody>
            <a:bodyPr/>
            <a:lstStyle/>
            <a:p>
              <a:endParaRPr lang="en-US"/>
            </a:p>
          </p:txBody>
        </p:sp>
        <p:sp>
          <p:nvSpPr>
            <p:cNvPr id="127" name="out_dot0"/>
            <p:cNvSpPr/>
            <p:nvPr/>
          </p:nvSpPr>
          <p:spPr>
            <a:xfrm>
              <a:off x="7745882" y="3278490"/>
              <a:ext cx="95098" cy="95098"/>
            </a:xfrm>
            <a:prstGeom prst="ellipse">
              <a:avLst/>
            </a:prstGeom>
            <a:solidFill>
              <a:srgbClr val="F87171"/>
            </a:solidFill>
            <a:ln w="12700">
              <a:solidFill>
                <a:srgbClr val="F87171"/>
              </a:solidFill>
              <a:prstDash val="solid"/>
            </a:ln>
          </p:spPr>
          <p:txBody>
            <a:bodyPr/>
            <a:lstStyle/>
            <a:p>
              <a:endParaRPr lang="en-US"/>
            </a:p>
          </p:txBody>
        </p:sp>
        <p:sp>
          <p:nvSpPr>
            <p:cNvPr id="128" name="out_dot1"/>
            <p:cNvSpPr/>
            <p:nvPr/>
          </p:nvSpPr>
          <p:spPr>
            <a:xfrm>
              <a:off x="7931506" y="3278490"/>
              <a:ext cx="95098" cy="95098"/>
            </a:xfrm>
            <a:prstGeom prst="ellipse">
              <a:avLst/>
            </a:prstGeom>
            <a:solidFill>
              <a:srgbClr val="FBBF24"/>
            </a:solidFill>
            <a:ln w="12700">
              <a:solidFill>
                <a:srgbClr val="FBBF24"/>
              </a:solidFill>
              <a:prstDash val="solid"/>
            </a:ln>
          </p:spPr>
          <p:txBody>
            <a:bodyPr/>
            <a:lstStyle/>
            <a:p>
              <a:endParaRPr lang="en-US"/>
            </a:p>
          </p:txBody>
        </p:sp>
        <p:sp>
          <p:nvSpPr>
            <p:cNvPr id="129" name="out_dot2"/>
            <p:cNvSpPr/>
            <p:nvPr/>
          </p:nvSpPr>
          <p:spPr>
            <a:xfrm>
              <a:off x="8117130" y="3278490"/>
              <a:ext cx="95098" cy="95098"/>
            </a:xfrm>
            <a:prstGeom prst="ellipse">
              <a:avLst/>
            </a:prstGeom>
            <a:solidFill>
              <a:srgbClr val="34D399"/>
            </a:solidFill>
            <a:ln w="12700">
              <a:solidFill>
                <a:srgbClr val="34D399"/>
              </a:solidFill>
              <a:prstDash val="solid"/>
            </a:ln>
          </p:spPr>
          <p:txBody>
            <a:bodyPr/>
            <a:lstStyle/>
            <a:p>
              <a:endParaRPr lang="en-US"/>
            </a:p>
          </p:txBody>
        </p:sp>
        <p:sp>
          <p:nvSpPr>
            <p:cNvPr id="130" name="out_tab"/>
            <p:cNvSpPr/>
            <p:nvPr/>
          </p:nvSpPr>
          <p:spPr>
            <a:xfrm>
              <a:off x="8364931" y="320222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31" name="out_L00"/>
            <p:cNvSpPr txBox="1"/>
            <p:nvPr/>
          </p:nvSpPr>
          <p:spPr>
            <a:xfrm>
              <a:off x="7812634" y="3630580"/>
              <a:ext cx="3746220" cy="19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Hello World</a:t>
              </a:r>
              <a:endParaRPr lang="en-US" sz="1000" dirty="0"/>
            </a:p>
          </p:txBody>
        </p:sp>
        <p:sp>
          <p:nvSpPr>
            <p:cNvPr id="132" name="out_L01"/>
            <p:cNvSpPr txBox="1"/>
            <p:nvPr/>
          </p:nvSpPr>
          <p:spPr>
            <a:xfrm>
              <a:off x="7812634" y="3820580"/>
              <a:ext cx="3746220" cy="19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Welcome!</a:t>
              </a:r>
              <a:endParaRPr lang="en-US" sz="1000" dirty="0"/>
            </a:p>
          </p:txBody>
        </p:sp>
        <p:sp>
          <p:nvSpPr>
            <p:cNvPr id="133" name="out_L02"/>
            <p:cNvSpPr txBox="1"/>
            <p:nvPr/>
          </p:nvSpPr>
          <p:spPr>
            <a:xfrm>
              <a:off x="7812634" y="4010580"/>
              <a:ext cx="3746220" cy="19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True</a:t>
              </a:r>
              <a:endParaRPr lang="en-US" sz="1000" dirty="0"/>
            </a:p>
          </p:txBody>
        </p:sp>
        <p:sp>
          <p:nvSpPr>
            <p:cNvPr id="134" name="out_L03"/>
            <p:cNvSpPr txBox="1"/>
            <p:nvPr/>
          </p:nvSpPr>
          <p:spPr>
            <a:xfrm>
              <a:off x="7812634" y="4200580"/>
              <a:ext cx="3746220" cy="19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Replaced</a:t>
              </a:r>
              <a:endParaRPr lang="en-US" sz="1000" dirty="0"/>
            </a:p>
          </p:txBody>
        </p:sp>
      </p:grpSp>
      <p:sp>
        <p:nvSpPr>
          <p:cNvPr id="136" name="bn"/>
          <p:cNvSpPr/>
          <p:nvPr/>
        </p:nvSpPr>
        <p:spPr>
          <a:xfrm>
            <a:off x="543154" y="4892040"/>
            <a:ext cx="11087100" cy="594360"/>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WriteAllText replaces everything. AppendAllText keeps what is there and adds.</a:t>
            </a:r>
            <a:endParaRPr lang="en-US" sz="1400" dirty="0"/>
          </a:p>
        </p:txBody>
      </p:sp>
    </p:spTree>
    <p:extLst>
      <p:ext uri="{BB962C8B-B14F-4D97-AF65-F5344CB8AC3E}">
        <p14:creationId xmlns:p14="http://schemas.microsoft.com/office/powerpoint/2010/main" val="500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400"/>
                                        <p:tgtEl>
                                          <p:spTgt spid="1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7"/>
                                        </p:tgtEl>
                                        <p:attrNameLst>
                                          <p:attrName>style.visibility</p:attrName>
                                        </p:attrNameLst>
                                      </p:cBhvr>
                                      <p:to>
                                        <p:strVal val="visible"/>
                                      </p:to>
                                    </p:set>
                                    <p:animEffect transition="in" filter="fade">
                                      <p:cBhvr>
                                        <p:cTn id="10" dur="400"/>
                                        <p:tgtEl>
                                          <p:spTgt spid="1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animEffect transition="in" filter="fade">
                                      <p:cBhvr>
                                        <p:cTn id="13" dur="400"/>
                                        <p:tgtEl>
                                          <p:spTgt spid="1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9"/>
                                        </p:tgtEl>
                                        <p:attrNameLst>
                                          <p:attrName>style.visibility</p:attrName>
                                        </p:attrNameLst>
                                      </p:cBhvr>
                                      <p:to>
                                        <p:strVal val="visible"/>
                                      </p:to>
                                    </p:set>
                                    <p:animEffect transition="in" filter="fade">
                                      <p:cBhvr>
                                        <p:cTn id="16" dur="400"/>
                                        <p:tgtEl>
                                          <p:spTgt spid="1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0"/>
                                        </p:tgtEl>
                                        <p:attrNameLst>
                                          <p:attrName>style.visibility</p:attrName>
                                        </p:attrNameLst>
                                      </p:cBhvr>
                                      <p:to>
                                        <p:strVal val="visible"/>
                                      </p:to>
                                    </p:set>
                                    <p:animEffect transition="in" filter="fade">
                                      <p:cBhvr>
                                        <p:cTn id="21" dur="400"/>
                                        <p:tgtEl>
                                          <p:spTgt spid="1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fade">
                                      <p:cBhvr>
                                        <p:cTn id="24" dur="400"/>
                                        <p:tgtEl>
                                          <p:spTgt spid="1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400"/>
                                        <p:tgtEl>
                                          <p:spTgt spid="121"/>
                                        </p:tgtEl>
                                      </p:cBhvr>
                                    </p:animEffect>
                                    <p:set>
                                      <p:cBhvr>
                                        <p:cTn id="29" dur="1" fill="hold">
                                          <p:stCondLst>
                                            <p:cond delay="399"/>
                                          </p:stCondLst>
                                        </p:cTn>
                                        <p:tgtEl>
                                          <p:spTgt spid="121"/>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122"/>
                                        </p:tgtEl>
                                        <p:attrNameLst>
                                          <p:attrName>style.visibility</p:attrName>
                                        </p:attrNameLst>
                                      </p:cBhvr>
                                      <p:to>
                                        <p:strVal val="visible"/>
                                      </p:to>
                                    </p:set>
                                    <p:animEffect transition="in" filter="fade">
                                      <p:cBhvr>
                                        <p:cTn id="32" dur="400"/>
                                        <p:tgtEl>
                                          <p:spTgt spid="1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400"/>
                                        <p:tgtEl>
                                          <p:spTgt spid="122"/>
                                        </p:tgtEl>
                                      </p:cBhvr>
                                    </p:animEffect>
                                    <p:set>
                                      <p:cBhvr>
                                        <p:cTn id="37" dur="1" fill="hold">
                                          <p:stCondLst>
                                            <p:cond delay="399"/>
                                          </p:stCondLst>
                                        </p:cTn>
                                        <p:tgtEl>
                                          <p:spTgt spid="122"/>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123"/>
                                        </p:tgtEl>
                                        <p:attrNameLst>
                                          <p:attrName>style.visibility</p:attrName>
                                        </p:attrNameLst>
                                      </p:cBhvr>
                                      <p:to>
                                        <p:strVal val="visible"/>
                                      </p:to>
                                    </p:set>
                                    <p:animEffect transition="in" filter="fade">
                                      <p:cBhvr>
                                        <p:cTn id="40" dur="400"/>
                                        <p:tgtEl>
                                          <p:spTgt spid="1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35"/>
                                        </p:tgtEl>
                                        <p:attrNameLst>
                                          <p:attrName>style.visibility</p:attrName>
                                        </p:attrNameLst>
                                      </p:cBhvr>
                                      <p:to>
                                        <p:strVal val="visible"/>
                                      </p:to>
                                    </p:set>
                                    <p:animEffect transition="in" filter="fade">
                                      <p:cBhvr>
                                        <p:cTn id="45" dur="400"/>
                                        <p:tgtEl>
                                          <p:spTgt spid="13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6"/>
                                        </p:tgtEl>
                                        <p:attrNameLst>
                                          <p:attrName>style.visibility</p:attrName>
                                        </p:attrNameLst>
                                      </p:cBhvr>
                                      <p:to>
                                        <p:strVal val="visible"/>
                                      </p:to>
                                    </p:set>
                                    <p:animEffect transition="in" filter="fade">
                                      <p:cBhvr>
                                        <p:cTn id="50" dur="4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P spid="118" grpId="0" animBg="1"/>
      <p:bldP spid="119" grpId="0" animBg="1"/>
      <p:bldP spid="120" grpId="0" animBg="1"/>
      <p:bldP spid="121" grpId="0" animBg="1"/>
      <p:bldP spid="121" grpId="1" animBg="1"/>
      <p:bldP spid="122" grpId="0" animBg="1"/>
      <p:bldP spid="122" grpId="1" animBg="1"/>
      <p:bldP spid="123" grpId="0" animBg="1"/>
      <p:bldP spid="13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FILE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WriteAllLines vs WriteAllText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07</a:t>
            </a:r>
            <a:endParaRPr lang="en-US" sz="850" dirty="0"/>
          </a:p>
        </p:txBody>
      </p:sp>
      <p:grpSp>
        <p:nvGrpSpPr>
          <p:cNvPr id="112" name="code"/>
          <p:cNvGrpSpPr/>
          <p:nvPr/>
        </p:nvGrpSpPr>
        <p:grpSpPr>
          <a:xfrm>
            <a:off x="543154" y="1481328"/>
            <a:ext cx="6583680" cy="1445900"/>
            <a:chOff x="543154" y="1481328"/>
            <a:chExt cx="6583680" cy="1445900"/>
          </a:xfrm>
        </p:grpSpPr>
        <p:sp>
          <p:nvSpPr>
            <p:cNvPr id="101" name="code_win"/>
            <p:cNvSpPr/>
            <p:nvPr/>
          </p:nvSpPr>
          <p:spPr>
            <a:xfrm>
              <a:off x="543154" y="1481328"/>
              <a:ext cx="6583680" cy="1445900"/>
            </a:xfrm>
            <a:prstGeom prst="roundRect">
              <a:avLst>
                <a:gd name="adj" fmla="val 4741"/>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658368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96494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example 20</a:t>
              </a:r>
              <a:endParaRPr lang="en-US" sz="950" dirty="0"/>
            </a:p>
          </p:txBody>
        </p:sp>
        <p:sp>
          <p:nvSpPr>
            <p:cNvPr id="108" name="code_L00"/>
            <p:cNvSpPr txBox="1"/>
            <p:nvPr/>
          </p:nvSpPr>
          <p:spPr>
            <a:xfrm>
              <a:off x="771754" y="195722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File.WriteAllLines(a, [</a:t>
              </a:r>
              <a:r>
                <a:rPr lang="en-US" sz="900" b="0" dirty="0">
                  <a:solidFill>
                    <a:srgbClr val="F0A98B"/>
                  </a:solidFill>
                  <a:latin typeface="Consolas"/>
                  <a:ea typeface="Consolas"/>
                  <a:cs typeface="Consolas"/>
                </a:rPr>
                <a:t>"Ahmed"</a:t>
              </a:r>
              <a:r>
                <a:rPr lang="en-US" sz="900" b="0" dirty="0">
                  <a:solidFill>
                    <a:srgbClr val="E2E8F0"/>
                  </a:solidFill>
                  <a:latin typeface="Consolas"/>
                  <a:ea typeface="Consolas"/>
                  <a:cs typeface="Consolas"/>
                </a:rPr>
                <a:t>, </a:t>
              </a:r>
              <a:r>
                <a:rPr lang="en-US" sz="900" b="0" dirty="0">
                  <a:solidFill>
                    <a:srgbClr val="F0A98B"/>
                  </a:solidFill>
                  <a:latin typeface="Consolas"/>
                  <a:ea typeface="Consolas"/>
                  <a:cs typeface="Consolas"/>
                </a:rPr>
                <a:t>"Sara"</a:t>
              </a:r>
              <a:r>
                <a:rPr lang="en-US" sz="900" b="0" dirty="0">
                  <a:solidFill>
                    <a:srgbClr val="E2E8F0"/>
                  </a:solidFill>
                  <a:latin typeface="Consolas"/>
                  <a:ea typeface="Consolas"/>
                  <a:cs typeface="Consolas"/>
                </a:rPr>
                <a:t>]);   </a:t>
              </a:r>
              <a:r>
                <a:rPr lang="en-US" sz="900" b="0" dirty="0">
                  <a:solidFill>
                    <a:srgbClr val="6FAE7A"/>
                  </a:solidFill>
                  <a:latin typeface="Consolas"/>
                  <a:ea typeface="Consolas"/>
                  <a:cs typeface="Consolas"/>
                </a:rPr>
                <a:t>// each item → its OWN line</a:t>
              </a:r>
              <a:endParaRPr lang="en-US" sz="900" dirty="0"/>
            </a:p>
          </p:txBody>
        </p:sp>
        <p:sp>
          <p:nvSpPr>
            <p:cNvPr id="109" name="code_L01"/>
            <p:cNvSpPr txBox="1"/>
            <p:nvPr/>
          </p:nvSpPr>
          <p:spPr>
            <a:xfrm>
              <a:off x="771754" y="212722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File.WriteAllText(b, </a:t>
              </a:r>
              <a:r>
                <a:rPr lang="en-US" sz="900" b="0" dirty="0">
                  <a:solidFill>
                    <a:srgbClr val="F0A98B"/>
                  </a:solidFill>
                  <a:latin typeface="Consolas"/>
                  <a:ea typeface="Consolas"/>
                  <a:cs typeface="Consolas"/>
                </a:rPr>
                <a:t>"Ahmed"</a:t>
              </a:r>
              <a:r>
                <a:rPr lang="en-US" sz="900" b="0" dirty="0">
                  <a:solidFill>
                    <a:srgbClr val="E2E8F0"/>
                  </a:solidFill>
                  <a:latin typeface="Consolas"/>
                  <a:ea typeface="Consolas"/>
                  <a:cs typeface="Consolas"/>
                </a:rPr>
                <a:t> + </a:t>
              </a:r>
              <a:r>
                <a:rPr lang="en-US" sz="900" b="0" dirty="0">
                  <a:solidFill>
                    <a:srgbClr val="F0A98B"/>
                  </a:solidFill>
                  <a:latin typeface="Consolas"/>
                  <a:ea typeface="Consolas"/>
                  <a:cs typeface="Consolas"/>
                </a:rPr>
                <a:t>"Sara"</a:t>
              </a:r>
              <a:r>
                <a:rPr lang="en-US" sz="900" b="0" dirty="0">
                  <a:solidFill>
                    <a:srgbClr val="E2E8F0"/>
                  </a:solidFill>
                  <a:latin typeface="Consolas"/>
                  <a:ea typeface="Consolas"/>
                  <a:cs typeface="Consolas"/>
                </a:rPr>
                <a:t>);     </a:t>
              </a:r>
              <a:r>
                <a:rPr lang="en-US" sz="900" b="0" dirty="0">
                  <a:solidFill>
                    <a:srgbClr val="6FAE7A"/>
                  </a:solidFill>
                  <a:latin typeface="Consolas"/>
                  <a:ea typeface="Consolas"/>
                  <a:cs typeface="Consolas"/>
                </a:rPr>
                <a:t>// one string, exactly as-is</a:t>
              </a:r>
              <a:endParaRPr lang="en-US" sz="900" dirty="0"/>
            </a:p>
          </p:txBody>
        </p:sp>
        <p:sp>
          <p:nvSpPr>
            <p:cNvPr id="110" name="code_L03"/>
            <p:cNvSpPr txBox="1"/>
            <p:nvPr/>
          </p:nvSpPr>
          <p:spPr>
            <a:xfrm>
              <a:off x="771754" y="246722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Console.WriteLine(File.ReadAllLines(a).Length);  </a:t>
              </a:r>
              <a:r>
                <a:rPr lang="en-US" sz="900" b="0" dirty="0">
                  <a:solidFill>
                    <a:srgbClr val="6FAE7A"/>
                  </a:solidFill>
                  <a:latin typeface="Consolas"/>
                  <a:ea typeface="Consolas"/>
                  <a:cs typeface="Consolas"/>
                </a:rPr>
                <a:t>// 2</a:t>
              </a:r>
              <a:endParaRPr lang="en-US" sz="900" dirty="0"/>
            </a:p>
          </p:txBody>
        </p:sp>
        <p:sp>
          <p:nvSpPr>
            <p:cNvPr id="111" name="code_L04"/>
            <p:cNvSpPr txBox="1"/>
            <p:nvPr/>
          </p:nvSpPr>
          <p:spPr>
            <a:xfrm>
              <a:off x="771754" y="263722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Console.WriteLine(File.ReadAllLines(b).Length);  </a:t>
              </a:r>
              <a:r>
                <a:rPr lang="en-US" sz="900" b="0" dirty="0">
                  <a:solidFill>
                    <a:srgbClr val="6FAE7A"/>
                  </a:solidFill>
                  <a:latin typeface="Consolas"/>
                  <a:ea typeface="Consolas"/>
                  <a:cs typeface="Consolas"/>
                </a:rPr>
                <a:t>// 1</a:t>
              </a:r>
              <a:endParaRPr lang="en-US" sz="900" dirty="0"/>
            </a:p>
          </p:txBody>
        </p:sp>
      </p:grpSp>
      <p:sp>
        <p:nvSpPr>
          <p:cNvPr id="113" name="code_hl0"/>
          <p:cNvSpPr/>
          <p:nvPr/>
        </p:nvSpPr>
        <p:spPr>
          <a:xfrm>
            <a:off x="676656" y="1938940"/>
            <a:ext cx="6316680" cy="20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4" name="code_hl1"/>
          <p:cNvSpPr/>
          <p:nvPr/>
        </p:nvSpPr>
        <p:spPr>
          <a:xfrm>
            <a:off x="676656" y="2108940"/>
            <a:ext cx="6316680" cy="20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25" name="out"/>
          <p:cNvGrpSpPr/>
          <p:nvPr/>
        </p:nvGrpSpPr>
        <p:grpSpPr>
          <a:xfrm>
            <a:off x="543154" y="2971800"/>
            <a:ext cx="6583680" cy="1150900"/>
            <a:chOff x="543154" y="2971800"/>
            <a:chExt cx="6583680" cy="1150900"/>
          </a:xfrm>
        </p:grpSpPr>
        <p:sp>
          <p:nvSpPr>
            <p:cNvPr id="115" name="out_win"/>
            <p:cNvSpPr/>
            <p:nvPr/>
          </p:nvSpPr>
          <p:spPr>
            <a:xfrm>
              <a:off x="543154" y="2971800"/>
              <a:ext cx="6583680" cy="1150900"/>
            </a:xfrm>
            <a:prstGeom prst="roundRect">
              <a:avLst>
                <a:gd name="adj" fmla="val 5956"/>
              </a:avLst>
            </a:prstGeom>
            <a:solidFill>
              <a:srgbClr val="060D18"/>
            </a:solidFill>
            <a:ln w="12700">
              <a:solidFill>
                <a:srgbClr val="1E3A5F"/>
              </a:solidFill>
              <a:prstDash val="solid"/>
            </a:ln>
          </p:spPr>
          <p:txBody>
            <a:bodyPr/>
            <a:lstStyle/>
            <a:p>
              <a:endParaRPr lang="en-US"/>
            </a:p>
          </p:txBody>
        </p:sp>
        <p:sp>
          <p:nvSpPr>
            <p:cNvPr id="116" name="out_bar"/>
            <p:cNvSpPr/>
            <p:nvPr/>
          </p:nvSpPr>
          <p:spPr>
            <a:xfrm>
              <a:off x="543154" y="2971800"/>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7" name="out_barfill"/>
            <p:cNvSpPr/>
            <p:nvPr/>
          </p:nvSpPr>
          <p:spPr>
            <a:xfrm>
              <a:off x="543154" y="3143250"/>
              <a:ext cx="6583680" cy="171450"/>
            </a:xfrm>
            <a:prstGeom prst="rect">
              <a:avLst/>
            </a:prstGeom>
            <a:solidFill>
              <a:srgbClr val="0A1220"/>
            </a:solidFill>
            <a:ln w="12700">
              <a:solidFill>
                <a:srgbClr val="0A1220"/>
              </a:solidFill>
              <a:prstDash val="solid"/>
            </a:ln>
          </p:spPr>
          <p:txBody>
            <a:bodyPr/>
            <a:lstStyle/>
            <a:p>
              <a:endParaRPr lang="en-US"/>
            </a:p>
          </p:txBody>
        </p:sp>
        <p:sp>
          <p:nvSpPr>
            <p:cNvPr id="118" name="out_dot0"/>
            <p:cNvSpPr/>
            <p:nvPr/>
          </p:nvSpPr>
          <p:spPr>
            <a:xfrm>
              <a:off x="705002" y="3095610"/>
              <a:ext cx="95098" cy="95098"/>
            </a:xfrm>
            <a:prstGeom prst="ellipse">
              <a:avLst/>
            </a:prstGeom>
            <a:solidFill>
              <a:srgbClr val="F87171"/>
            </a:solidFill>
            <a:ln w="12700">
              <a:solidFill>
                <a:srgbClr val="F87171"/>
              </a:solidFill>
              <a:prstDash val="solid"/>
            </a:ln>
          </p:spPr>
          <p:txBody>
            <a:bodyPr/>
            <a:lstStyle/>
            <a:p>
              <a:endParaRPr lang="en-US"/>
            </a:p>
          </p:txBody>
        </p:sp>
        <p:sp>
          <p:nvSpPr>
            <p:cNvPr id="119" name="out_dot1"/>
            <p:cNvSpPr/>
            <p:nvPr/>
          </p:nvSpPr>
          <p:spPr>
            <a:xfrm>
              <a:off x="890626" y="3095610"/>
              <a:ext cx="95098" cy="95098"/>
            </a:xfrm>
            <a:prstGeom prst="ellipse">
              <a:avLst/>
            </a:prstGeom>
            <a:solidFill>
              <a:srgbClr val="FBBF24"/>
            </a:solidFill>
            <a:ln w="12700">
              <a:solidFill>
                <a:srgbClr val="FBBF24"/>
              </a:solidFill>
              <a:prstDash val="solid"/>
            </a:ln>
          </p:spPr>
          <p:txBody>
            <a:bodyPr/>
            <a:lstStyle/>
            <a:p>
              <a:endParaRPr lang="en-US"/>
            </a:p>
          </p:txBody>
        </p:sp>
        <p:sp>
          <p:nvSpPr>
            <p:cNvPr id="120" name="out_dot2"/>
            <p:cNvSpPr/>
            <p:nvPr/>
          </p:nvSpPr>
          <p:spPr>
            <a:xfrm>
              <a:off x="1076250" y="3095610"/>
              <a:ext cx="95098" cy="95098"/>
            </a:xfrm>
            <a:prstGeom prst="ellipse">
              <a:avLst/>
            </a:prstGeom>
            <a:solidFill>
              <a:srgbClr val="34D399"/>
            </a:solidFill>
            <a:ln w="12700">
              <a:solidFill>
                <a:srgbClr val="34D399"/>
              </a:solidFill>
              <a:prstDash val="solid"/>
            </a:ln>
          </p:spPr>
          <p:txBody>
            <a:bodyPr/>
            <a:lstStyle/>
            <a:p>
              <a:endParaRPr lang="en-US"/>
            </a:p>
          </p:txBody>
        </p:sp>
        <p:sp>
          <p:nvSpPr>
            <p:cNvPr id="121" name="out_tab"/>
            <p:cNvSpPr/>
            <p:nvPr/>
          </p:nvSpPr>
          <p:spPr>
            <a:xfrm>
              <a:off x="1324051" y="3019349"/>
              <a:ext cx="1760578"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  · what we ran</a:t>
              </a:r>
              <a:endParaRPr lang="en-US" sz="950" dirty="0"/>
            </a:p>
          </p:txBody>
        </p:sp>
        <p:sp>
          <p:nvSpPr>
            <p:cNvPr id="122" name="out_L00"/>
            <p:cNvSpPr txBox="1"/>
            <p:nvPr/>
          </p:nvSpPr>
          <p:spPr>
            <a:xfrm>
              <a:off x="771754" y="3447700"/>
              <a:ext cx="628368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WriteAllLines -&gt; Ahmed\nSara\n</a:t>
              </a:r>
              <a:endParaRPr lang="en-US" sz="950" dirty="0"/>
            </a:p>
          </p:txBody>
        </p:sp>
        <p:sp>
          <p:nvSpPr>
            <p:cNvPr id="123" name="out_L01"/>
            <p:cNvSpPr txBox="1"/>
            <p:nvPr/>
          </p:nvSpPr>
          <p:spPr>
            <a:xfrm>
              <a:off x="771754" y="3632700"/>
              <a:ext cx="628368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WriteAllText  -&gt; AhmedSara</a:t>
              </a:r>
              <a:endParaRPr lang="en-US" sz="950" dirty="0"/>
            </a:p>
          </p:txBody>
        </p:sp>
        <p:sp>
          <p:nvSpPr>
            <p:cNvPr id="124" name="out_L02"/>
            <p:cNvSpPr txBox="1"/>
            <p:nvPr/>
          </p:nvSpPr>
          <p:spPr>
            <a:xfrm>
              <a:off x="771754" y="3817700"/>
              <a:ext cx="628368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lines: 2 vs 1</a:t>
              </a:r>
              <a:endParaRPr lang="en-US" sz="950" dirty="0"/>
            </a:p>
          </p:txBody>
        </p:sp>
      </p:grpSp>
      <p:sp>
        <p:nvSpPr>
          <p:cNvPr id="126" name="fl"/>
          <p:cNvSpPr txBox="1"/>
          <p:nvPr/>
        </p:nvSpPr>
        <p:spPr>
          <a:xfrm>
            <a:off x="7401154" y="1481328"/>
            <a:ext cx="4229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94A3B8"/>
                </a:solidFill>
                <a:latin typeface="Segoe UI"/>
                <a:ea typeface="Segoe UI"/>
                <a:cs typeface="Segoe UI"/>
              </a:rPr>
              <a:t>on disk</a:t>
            </a:r>
            <a:endParaRPr lang="en-US" sz="1050" dirty="0"/>
          </a:p>
        </p:txBody>
      </p:sp>
      <p:sp>
        <p:nvSpPr>
          <p:cNvPr id="127" name="fa"/>
          <p:cNvSpPr/>
          <p:nvPr/>
        </p:nvSpPr>
        <p:spPr>
          <a:xfrm>
            <a:off x="7401154" y="1783080"/>
            <a:ext cx="4229100" cy="1143000"/>
          </a:xfrm>
          <a:prstGeom prst="roundRect">
            <a:avLst>
              <a:gd name="adj" fmla="val 12000"/>
            </a:avLst>
          </a:prstGeom>
          <a:solidFill>
            <a:srgbClr val="34D399">
              <a:alpha val="10000"/>
            </a:srgbClr>
          </a:solidFill>
          <a:ln w="12700">
            <a:solidFill>
              <a:srgbClr val="34D399"/>
            </a:solidFill>
            <a:prstDash val="solid"/>
          </a:ln>
        </p:spPr>
        <p:txBody>
          <a:bodyPr wrap="square" lIns="164592" tIns="64008" rIns="91440" bIns="45720" rtlCol="0" anchor="t">
            <a:noAutofit/>
          </a:bodyPr>
          <a:lstStyle/>
          <a:p>
            <a:pPr marL="0" indent="0" algn="l">
              <a:spcBef>
                <a:spcPts val="0"/>
              </a:spcBef>
              <a:spcAft>
                <a:spcPts val="0"/>
              </a:spcAft>
              <a:buNone/>
            </a:pPr>
            <a:r>
              <a:rPr lang="en-US" sz="950" b="1" dirty="0">
                <a:solidFill>
                  <a:srgbClr val="34D399"/>
                </a:solidFill>
                <a:latin typeface="Segoe UI"/>
                <a:ea typeface="Segoe UI"/>
                <a:cs typeface="Segoe UI"/>
              </a:rPr>
              <a:t>a.txt  · WriteAllLines</a:t>
            </a:r>
            <a:endParaRPr lang="en-US" sz="950" dirty="0"/>
          </a:p>
          <a:p>
            <a:pPr marL="0" indent="0" algn="l">
              <a:spcBef>
                <a:spcPts val="0"/>
              </a:spcBef>
              <a:spcAft>
                <a:spcPts val="0"/>
              </a:spcAft>
              <a:buNone/>
            </a:pPr>
            <a:r>
              <a:rPr lang="en-US" sz="1100" b="0" dirty="0">
                <a:solidFill>
                  <a:srgbClr val="94A3B8"/>
                </a:solidFill>
                <a:latin typeface="Consolas"/>
                <a:ea typeface="Consolas"/>
                <a:cs typeface="Consolas"/>
              </a:rPr>
              <a:t>1  </a:t>
            </a:r>
            <a:r>
              <a:rPr lang="en-US" sz="1250" b="0" dirty="0">
                <a:solidFill>
                  <a:srgbClr val="FFFFFF"/>
                </a:solidFill>
                <a:latin typeface="Consolas"/>
                <a:ea typeface="Consolas"/>
                <a:cs typeface="Consolas"/>
              </a:rPr>
              <a:t>Ahmed</a:t>
            </a:r>
            <a:endParaRPr lang="en-US" sz="1100" dirty="0"/>
          </a:p>
          <a:p>
            <a:pPr marL="0" indent="0" algn="l">
              <a:spcBef>
                <a:spcPts val="0"/>
              </a:spcBef>
              <a:spcAft>
                <a:spcPts val="0"/>
              </a:spcAft>
              <a:buNone/>
            </a:pPr>
            <a:r>
              <a:rPr lang="en-US" sz="1100" b="0" dirty="0">
                <a:solidFill>
                  <a:srgbClr val="94A3B8"/>
                </a:solidFill>
                <a:latin typeface="Consolas"/>
                <a:ea typeface="Consolas"/>
                <a:cs typeface="Consolas"/>
              </a:rPr>
              <a:t>2  </a:t>
            </a:r>
            <a:r>
              <a:rPr lang="en-US" sz="1250" b="0" dirty="0">
                <a:solidFill>
                  <a:srgbClr val="FFFFFF"/>
                </a:solidFill>
                <a:latin typeface="Consolas"/>
                <a:ea typeface="Consolas"/>
                <a:cs typeface="Consolas"/>
              </a:rPr>
              <a:t>Sara</a:t>
            </a:r>
            <a:endParaRPr lang="en-US" sz="1100" dirty="0"/>
          </a:p>
          <a:p>
            <a:pPr marL="0" indent="0" algn="l">
              <a:spcBef>
                <a:spcPts val="0"/>
              </a:spcBef>
              <a:spcAft>
                <a:spcPts val="0"/>
              </a:spcAft>
              <a:buNone/>
            </a:pPr>
            <a:r>
              <a:rPr lang="en-US" sz="1100" b="0" dirty="0">
                <a:solidFill>
                  <a:srgbClr val="94A3B8"/>
                </a:solidFill>
                <a:latin typeface="Consolas"/>
                <a:ea typeface="Consolas"/>
                <a:cs typeface="Consolas"/>
              </a:rPr>
              <a:t>3  </a:t>
            </a:r>
            <a:r>
              <a:rPr lang="en-US" sz="1250" b="0" dirty="0">
                <a:solidFill>
                  <a:srgbClr val="FFFFFF"/>
                </a:solidFill>
                <a:latin typeface="Consolas"/>
                <a:ea typeface="Consolas"/>
                <a:cs typeface="Consolas"/>
              </a:rPr>
              <a:t>      ← newline after the last too</a:t>
            </a:r>
            <a:endParaRPr lang="en-US" sz="1100" dirty="0"/>
          </a:p>
        </p:txBody>
      </p:sp>
      <p:sp>
        <p:nvSpPr>
          <p:cNvPr id="128" name="fb"/>
          <p:cNvSpPr/>
          <p:nvPr/>
        </p:nvSpPr>
        <p:spPr>
          <a:xfrm>
            <a:off x="7401154" y="3063240"/>
            <a:ext cx="4229100" cy="658368"/>
          </a:xfrm>
          <a:prstGeom prst="roundRect">
            <a:avLst>
              <a:gd name="adj" fmla="val 12000"/>
            </a:avLst>
          </a:prstGeom>
          <a:solidFill>
            <a:srgbClr val="FBBF24">
              <a:alpha val="10000"/>
            </a:srgbClr>
          </a:solidFill>
          <a:ln w="12700">
            <a:solidFill>
              <a:srgbClr val="FBBF24"/>
            </a:solidFill>
            <a:prstDash val="solid"/>
          </a:ln>
        </p:spPr>
        <p:txBody>
          <a:bodyPr wrap="square" lIns="164592" tIns="64008" rIns="91440" bIns="45720" rtlCol="0" anchor="t">
            <a:noAutofit/>
          </a:bodyPr>
          <a:lstStyle/>
          <a:p>
            <a:pPr marL="0" indent="0" algn="l">
              <a:spcBef>
                <a:spcPts val="0"/>
              </a:spcBef>
              <a:spcAft>
                <a:spcPts val="0"/>
              </a:spcAft>
              <a:buNone/>
            </a:pPr>
            <a:r>
              <a:rPr lang="en-US" sz="950" b="1" dirty="0">
                <a:solidFill>
                  <a:srgbClr val="FBBF24"/>
                </a:solidFill>
                <a:latin typeface="Segoe UI"/>
                <a:ea typeface="Segoe UI"/>
                <a:cs typeface="Segoe UI"/>
              </a:rPr>
              <a:t>b.txt  · WriteAllText</a:t>
            </a:r>
            <a:endParaRPr lang="en-US" sz="950" dirty="0"/>
          </a:p>
          <a:p>
            <a:pPr marL="0" indent="0" algn="l">
              <a:spcBef>
                <a:spcPts val="0"/>
              </a:spcBef>
              <a:spcAft>
                <a:spcPts val="0"/>
              </a:spcAft>
              <a:buNone/>
            </a:pPr>
            <a:r>
              <a:rPr lang="en-US" sz="1100" b="0" dirty="0">
                <a:solidFill>
                  <a:srgbClr val="94A3B8"/>
                </a:solidFill>
                <a:latin typeface="Consolas"/>
                <a:ea typeface="Consolas"/>
                <a:cs typeface="Consolas"/>
              </a:rPr>
              <a:t>1  </a:t>
            </a:r>
            <a:r>
              <a:rPr lang="en-US" sz="1250" b="0" dirty="0">
                <a:solidFill>
                  <a:srgbClr val="FFFFFF"/>
                </a:solidFill>
                <a:latin typeface="Consolas"/>
                <a:ea typeface="Consolas"/>
                <a:cs typeface="Consolas"/>
              </a:rPr>
              <a:t>AhmedSara</a:t>
            </a:r>
            <a:endParaRPr lang="en-US" sz="1100" dirty="0"/>
          </a:p>
        </p:txBody>
      </p:sp>
      <p:sp>
        <p:nvSpPr>
          <p:cNvPr id="129" name="c1"/>
          <p:cNvSpPr/>
          <p:nvPr/>
        </p:nvSpPr>
        <p:spPr>
          <a:xfrm>
            <a:off x="543154" y="4224528"/>
            <a:ext cx="3543300" cy="914400"/>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SAME</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Both OVERWRITE an existing file and CREATE a missing one.</a:t>
            </a:r>
            <a:endParaRPr lang="en-US" sz="1050" dirty="0"/>
          </a:p>
        </p:txBody>
      </p:sp>
      <p:sp>
        <p:nvSpPr>
          <p:cNvPr id="130" name="c2"/>
          <p:cNvSpPr/>
          <p:nvPr/>
        </p:nvSpPr>
        <p:spPr>
          <a:xfrm>
            <a:off x="4315054" y="4224528"/>
            <a:ext cx="3543300" cy="91440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WANT LINES WITH WriteAllText?</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Write the newline yourself: "Ahmed\nSara".</a:t>
            </a:r>
            <a:endParaRPr lang="en-US" sz="1050" dirty="0"/>
          </a:p>
        </p:txBody>
      </p:sp>
      <p:sp>
        <p:nvSpPr>
          <p:cNvPr id="131" name="c3"/>
          <p:cNvSpPr/>
          <p:nvPr/>
        </p:nvSpPr>
        <p:spPr>
          <a:xfrm>
            <a:off x="8086954" y="4224528"/>
            <a:ext cx="3543300" cy="914400"/>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THE NEWLINE</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Environment.NewLine: \r\n on Windows, \n on Linux / macOS.</a:t>
            </a:r>
            <a:endParaRPr lang="en-US" sz="1050" dirty="0"/>
          </a:p>
        </p:txBody>
      </p:sp>
      <p:sp>
        <p:nvSpPr>
          <p:cNvPr id="132" name="bn"/>
          <p:cNvSpPr/>
          <p:nvPr/>
        </p:nvSpPr>
        <p:spPr>
          <a:xfrm>
            <a:off x="543154" y="5303520"/>
            <a:ext cx="11087100" cy="530352"/>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WriteAllLines = one item per line.   WriteAllText = the string as-is.</a:t>
            </a:r>
            <a:endParaRPr lang="en-US" sz="1400" dirty="0"/>
          </a:p>
        </p:txBody>
      </p:sp>
    </p:spTree>
    <p:extLst>
      <p:ext uri="{BB962C8B-B14F-4D97-AF65-F5344CB8AC3E}">
        <p14:creationId xmlns:p14="http://schemas.microsoft.com/office/powerpoint/2010/main" val="500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400"/>
                                        <p:tgtEl>
                                          <p:spTgt spid="1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3"/>
                                        </p:tgtEl>
                                        <p:attrNameLst>
                                          <p:attrName>style.visibility</p:attrName>
                                        </p:attrNameLst>
                                      </p:cBhvr>
                                      <p:to>
                                        <p:strVal val="visible"/>
                                      </p:to>
                                    </p:set>
                                    <p:animEffect transition="in" filter="fade">
                                      <p:cBhvr>
                                        <p:cTn id="10" dur="400"/>
                                        <p:tgtEl>
                                          <p:spTgt spid="1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4"/>
                                        </p:tgtEl>
                                        <p:attrNameLst>
                                          <p:attrName>style.visibility</p:attrName>
                                        </p:attrNameLst>
                                      </p:cBhvr>
                                      <p:to>
                                        <p:strVal val="visible"/>
                                      </p:to>
                                    </p:set>
                                    <p:animEffect transition="in" filter="fade">
                                      <p:cBhvr>
                                        <p:cTn id="13" dur="400"/>
                                        <p:tgtEl>
                                          <p:spTgt spid="1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6"/>
                                        </p:tgtEl>
                                        <p:attrNameLst>
                                          <p:attrName>style.visibility</p:attrName>
                                        </p:attrNameLst>
                                      </p:cBhvr>
                                      <p:to>
                                        <p:strVal val="visible"/>
                                      </p:to>
                                    </p:set>
                                    <p:animEffect transition="in" filter="fade">
                                      <p:cBhvr>
                                        <p:cTn id="18" dur="400"/>
                                        <p:tgtEl>
                                          <p:spTgt spid="1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7"/>
                                        </p:tgtEl>
                                        <p:attrNameLst>
                                          <p:attrName>style.visibility</p:attrName>
                                        </p:attrNameLst>
                                      </p:cBhvr>
                                      <p:to>
                                        <p:strVal val="visible"/>
                                      </p:to>
                                    </p:set>
                                    <p:animEffect transition="in" filter="fade">
                                      <p:cBhvr>
                                        <p:cTn id="21" dur="400"/>
                                        <p:tgtEl>
                                          <p:spTgt spid="12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8"/>
                                        </p:tgtEl>
                                        <p:attrNameLst>
                                          <p:attrName>style.visibility</p:attrName>
                                        </p:attrNameLst>
                                      </p:cBhvr>
                                      <p:to>
                                        <p:strVal val="visible"/>
                                      </p:to>
                                    </p:set>
                                    <p:animEffect transition="in" filter="fade">
                                      <p:cBhvr>
                                        <p:cTn id="26" dur="400"/>
                                        <p:tgtEl>
                                          <p:spTgt spid="1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5"/>
                                        </p:tgtEl>
                                        <p:attrNameLst>
                                          <p:attrName>style.visibility</p:attrName>
                                        </p:attrNameLst>
                                      </p:cBhvr>
                                      <p:to>
                                        <p:strVal val="visible"/>
                                      </p:to>
                                    </p:set>
                                    <p:animEffect transition="in" filter="fade">
                                      <p:cBhvr>
                                        <p:cTn id="31" dur="400"/>
                                        <p:tgtEl>
                                          <p:spTgt spid="12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9"/>
                                        </p:tgtEl>
                                        <p:attrNameLst>
                                          <p:attrName>style.visibility</p:attrName>
                                        </p:attrNameLst>
                                      </p:cBhvr>
                                      <p:to>
                                        <p:strVal val="visible"/>
                                      </p:to>
                                    </p:set>
                                    <p:animEffect transition="in" filter="fade">
                                      <p:cBhvr>
                                        <p:cTn id="36" dur="400"/>
                                        <p:tgtEl>
                                          <p:spTgt spid="12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0"/>
                                        </p:tgtEl>
                                        <p:attrNameLst>
                                          <p:attrName>style.visibility</p:attrName>
                                        </p:attrNameLst>
                                      </p:cBhvr>
                                      <p:to>
                                        <p:strVal val="visible"/>
                                      </p:to>
                                    </p:set>
                                    <p:animEffect transition="in" filter="fade">
                                      <p:cBhvr>
                                        <p:cTn id="41" dur="400"/>
                                        <p:tgtEl>
                                          <p:spTgt spid="13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31"/>
                                        </p:tgtEl>
                                        <p:attrNameLst>
                                          <p:attrName>style.visibility</p:attrName>
                                        </p:attrNameLst>
                                      </p:cBhvr>
                                      <p:to>
                                        <p:strVal val="visible"/>
                                      </p:to>
                                    </p:set>
                                    <p:animEffect transition="in" filter="fade">
                                      <p:cBhvr>
                                        <p:cTn id="46" dur="400"/>
                                        <p:tgtEl>
                                          <p:spTgt spid="13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32"/>
                                        </p:tgtEl>
                                        <p:attrNameLst>
                                          <p:attrName>style.visibility</p:attrName>
                                        </p:attrNameLst>
                                      </p:cBhvr>
                                      <p:to>
                                        <p:strVal val="visible"/>
                                      </p:to>
                                    </p:set>
                                    <p:animEffect transition="in" filter="fade">
                                      <p:cBhvr>
                                        <p:cTn id="51" dur="4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4" grpId="0" animBg="1"/>
      <p:bldP spid="126" grpId="0" animBg="1"/>
      <p:bldP spid="127" grpId="0" animBg="1"/>
      <p:bldP spid="128" grpId="0" animBg="1"/>
      <p:bldP spid="129" grpId="0" animBg="1"/>
      <p:bldP spid="130" grpId="0" animBg="1"/>
      <p:bldP spid="131" grpId="0" animBg="1"/>
      <p:bldP spid="13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FILE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Lines, Copy, Move and Delete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08</a:t>
            </a:r>
            <a:endParaRPr lang="en-US" sz="850" dirty="0"/>
          </a:p>
        </p:txBody>
      </p:sp>
      <p:grpSp>
        <p:nvGrpSpPr>
          <p:cNvPr id="118" name="code"/>
          <p:cNvGrpSpPr/>
          <p:nvPr/>
        </p:nvGrpSpPr>
        <p:grpSpPr>
          <a:xfrm>
            <a:off x="543154" y="1481328"/>
            <a:ext cx="11087100" cy="2515900"/>
            <a:chOff x="543154" y="1481328"/>
            <a:chExt cx="11087100" cy="2515900"/>
          </a:xfrm>
        </p:grpSpPr>
        <p:sp>
          <p:nvSpPr>
            <p:cNvPr id="101" name="code_win"/>
            <p:cNvSpPr/>
            <p:nvPr/>
          </p:nvSpPr>
          <p:spPr>
            <a:xfrm>
              <a:off x="543154" y="1481328"/>
              <a:ext cx="11087100" cy="2515900"/>
            </a:xfrm>
            <a:prstGeom prst="roundRect">
              <a:avLst>
                <a:gd name="adj" fmla="val 2724"/>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110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110871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FAE7A"/>
                  </a:solidFill>
                  <a:latin typeface="Consolas"/>
                  <a:ea typeface="Consolas"/>
                  <a:cs typeface="Consolas"/>
                </a:rPr>
                <a:t>// names = Data/names.txt · backup = Data/names.bak · moved = Data/archive.txt</a:t>
              </a:r>
              <a:endParaRPr lang="en-US" sz="880" dirty="0"/>
            </a:p>
          </p:txBody>
        </p:sp>
        <p:sp>
          <p:nvSpPr>
            <p:cNvPr id="109" name="code_L01"/>
            <p:cNvSpPr txBox="1"/>
            <p:nvPr/>
          </p:nvSpPr>
          <p:spPr>
            <a:xfrm>
              <a:off x="771754" y="211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File.WriteAllLines(names, [</a:t>
              </a:r>
              <a:r>
                <a:rPr lang="en-US" sz="880" b="0" dirty="0">
                  <a:solidFill>
                    <a:srgbClr val="F0A98B"/>
                  </a:solidFill>
                  <a:latin typeface="Consolas"/>
                  <a:ea typeface="Consolas"/>
                  <a:cs typeface="Consolas"/>
                </a:rPr>
                <a:t>"Ahmed"</a:t>
              </a:r>
              <a:r>
                <a:rPr lang="en-US" sz="880" b="0" dirty="0">
                  <a:solidFill>
                    <a:srgbClr val="E2E8F0"/>
                  </a:solidFill>
                  <a:latin typeface="Consolas"/>
                  <a:ea typeface="Consolas"/>
                  <a:cs typeface="Consolas"/>
                </a:rPr>
                <a:t>, </a:t>
              </a:r>
              <a:r>
                <a:rPr lang="en-US" sz="880" b="0" dirty="0">
                  <a:solidFill>
                    <a:srgbClr val="F0A98B"/>
                  </a:solidFill>
                  <a:latin typeface="Consolas"/>
                  <a:ea typeface="Consolas"/>
                  <a:cs typeface="Consolas"/>
                </a:rPr>
                <a:t>"Sara"</a:t>
              </a:r>
              <a:r>
                <a:rPr lang="en-US" sz="880" b="0" dirty="0">
                  <a:solidFill>
                    <a:srgbClr val="E2E8F0"/>
                  </a:solidFill>
                  <a:latin typeface="Consolas"/>
                  <a:ea typeface="Consolas"/>
                  <a:cs typeface="Consolas"/>
                </a:rPr>
                <a:t>, </a:t>
              </a:r>
              <a:r>
                <a:rPr lang="en-US" sz="880" b="0" dirty="0">
                  <a:solidFill>
                    <a:srgbClr val="F0A98B"/>
                  </a:solidFill>
                  <a:latin typeface="Consolas"/>
                  <a:ea typeface="Consolas"/>
                  <a:cs typeface="Consolas"/>
                </a:rPr>
                <a:t>"Omar"</a:t>
              </a:r>
              <a:r>
                <a:rPr lang="en-US" sz="880" b="0" dirty="0">
                  <a:solidFill>
                    <a:srgbClr val="E2E8F0"/>
                  </a:solidFill>
                  <a:latin typeface="Consolas"/>
                  <a:ea typeface="Consolas"/>
                  <a:cs typeface="Consolas"/>
                </a:rPr>
                <a:t>]);</a:t>
              </a:r>
              <a:endParaRPr lang="en-US" sz="880" dirty="0"/>
            </a:p>
          </p:txBody>
        </p:sp>
        <p:sp>
          <p:nvSpPr>
            <p:cNvPr id="110" name="code_L02"/>
            <p:cNvSpPr txBox="1"/>
            <p:nvPr/>
          </p:nvSpPr>
          <p:spPr>
            <a:xfrm>
              <a:off x="771754" y="227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string</a:t>
              </a:r>
              <a:r>
                <a:rPr lang="en-US" sz="880" b="0" dirty="0">
                  <a:solidFill>
                    <a:srgbClr val="E2E8F0"/>
                  </a:solidFill>
                  <a:latin typeface="Consolas"/>
                  <a:ea typeface="Consolas"/>
                  <a:cs typeface="Consolas"/>
                </a:rPr>
                <a:t>[] lines = File.ReadAllLines(names);</a:t>
              </a:r>
              <a:endParaRPr lang="en-US" sz="880" dirty="0"/>
            </a:p>
          </p:txBody>
        </p:sp>
        <p:sp>
          <p:nvSpPr>
            <p:cNvPr id="111" name="code_L03"/>
            <p:cNvSpPr txBox="1"/>
            <p:nvPr/>
          </p:nvSpPr>
          <p:spPr>
            <a:xfrm>
              <a:off x="771754" y="243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$"{lines.Length} lines, first = {lines[0]}"</a:t>
              </a:r>
              <a:r>
                <a:rPr lang="en-US" sz="880" b="0" dirty="0">
                  <a:solidFill>
                    <a:srgbClr val="E2E8F0"/>
                  </a:solidFill>
                  <a:latin typeface="Consolas"/>
                  <a:ea typeface="Consolas"/>
                  <a:cs typeface="Consolas"/>
                </a:rPr>
                <a:t>);</a:t>
              </a:r>
              <a:endParaRPr lang="en-US" sz="880" dirty="0"/>
            </a:p>
          </p:txBody>
        </p:sp>
        <p:sp>
          <p:nvSpPr>
            <p:cNvPr id="112" name="code_L05"/>
            <p:cNvSpPr txBox="1"/>
            <p:nvPr/>
          </p:nvSpPr>
          <p:spPr>
            <a:xfrm>
              <a:off x="771754" y="275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File.Copy(names, backup, overwrite: </a:t>
              </a:r>
              <a:r>
                <a:rPr lang="en-US" sz="880" b="0" dirty="0">
                  <a:solidFill>
                    <a:srgbClr val="60A5FA"/>
                  </a:solidFill>
                  <a:latin typeface="Consolas"/>
                  <a:ea typeface="Consolas"/>
                  <a:cs typeface="Consolas"/>
                </a:rPr>
                <a:t>true</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names.txt stays</a:t>
              </a:r>
              <a:endParaRPr lang="en-US" sz="880" dirty="0"/>
            </a:p>
          </p:txBody>
        </p:sp>
        <p:sp>
          <p:nvSpPr>
            <p:cNvPr id="113" name="code_L06"/>
            <p:cNvSpPr txBox="1"/>
            <p:nvPr/>
          </p:nvSpPr>
          <p:spPr>
            <a:xfrm>
              <a:off x="771754" y="291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File.Move(backup, moved, overwrite: </a:t>
              </a:r>
              <a:r>
                <a:rPr lang="en-US" sz="880" b="0" dirty="0">
                  <a:solidFill>
                    <a:srgbClr val="60A5FA"/>
                  </a:solidFill>
                  <a:latin typeface="Consolas"/>
                  <a:ea typeface="Consolas"/>
                  <a:cs typeface="Consolas"/>
                </a:rPr>
                <a:t>true</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names.bak is gone</a:t>
              </a:r>
              <a:endParaRPr lang="en-US" sz="880" dirty="0"/>
            </a:p>
          </p:txBody>
        </p:sp>
        <p:sp>
          <p:nvSpPr>
            <p:cNvPr id="114" name="code_L07"/>
            <p:cNvSpPr txBox="1"/>
            <p:nvPr/>
          </p:nvSpPr>
          <p:spPr>
            <a:xfrm>
              <a:off x="771754" y="307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$"backup exists: {File.Exists(backup)}, archive exists: {File.Exists(moved)}"</a:t>
              </a:r>
              <a:r>
                <a:rPr lang="en-US" sz="880" b="0" dirty="0">
                  <a:solidFill>
                    <a:srgbClr val="E2E8F0"/>
                  </a:solidFill>
                  <a:latin typeface="Consolas"/>
                  <a:ea typeface="Consolas"/>
                  <a:cs typeface="Consolas"/>
                </a:rPr>
                <a:t>);</a:t>
              </a:r>
              <a:endParaRPr lang="en-US" sz="880" dirty="0"/>
            </a:p>
          </p:txBody>
        </p:sp>
        <p:sp>
          <p:nvSpPr>
            <p:cNvPr id="115" name="code_L09"/>
            <p:cNvSpPr txBox="1"/>
            <p:nvPr/>
          </p:nvSpPr>
          <p:spPr>
            <a:xfrm>
              <a:off x="771754" y="339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File.Delete(moved);</a:t>
              </a:r>
              <a:endParaRPr lang="en-US" sz="880" dirty="0"/>
            </a:p>
          </p:txBody>
        </p:sp>
        <p:sp>
          <p:nvSpPr>
            <p:cNvPr id="116" name="code_L10"/>
            <p:cNvSpPr txBox="1"/>
            <p:nvPr/>
          </p:nvSpPr>
          <p:spPr>
            <a:xfrm>
              <a:off x="771754" y="355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File.Delete(moved);                           </a:t>
              </a:r>
              <a:r>
                <a:rPr lang="en-US" sz="880" b="0" dirty="0">
                  <a:solidFill>
                    <a:srgbClr val="6FAE7A"/>
                  </a:solidFill>
                  <a:latin typeface="Consolas"/>
                  <a:ea typeface="Consolas"/>
                  <a:cs typeface="Consolas"/>
                </a:rPr>
                <a:t>// already gone: no error</a:t>
              </a:r>
              <a:endParaRPr lang="en-US" sz="880" dirty="0"/>
            </a:p>
          </p:txBody>
        </p:sp>
        <p:sp>
          <p:nvSpPr>
            <p:cNvPr id="117" name="code_L11"/>
            <p:cNvSpPr txBox="1"/>
            <p:nvPr/>
          </p:nvSpPr>
          <p:spPr>
            <a:xfrm>
              <a:off x="771754" y="371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$"archive exists: {File.Exists(moved)}"</a:t>
              </a:r>
              <a:r>
                <a:rPr lang="en-US" sz="880" b="0" dirty="0">
                  <a:solidFill>
                    <a:srgbClr val="E2E8F0"/>
                  </a:solidFill>
                  <a:latin typeface="Consolas"/>
                  <a:ea typeface="Consolas"/>
                  <a:cs typeface="Consolas"/>
                </a:rPr>
                <a:t>);</a:t>
              </a:r>
              <a:endParaRPr lang="en-US" sz="880" dirty="0"/>
            </a:p>
          </p:txBody>
        </p:sp>
      </p:grpSp>
      <p:sp>
        <p:nvSpPr>
          <p:cNvPr id="119" name="code_hl5"/>
          <p:cNvSpPr/>
          <p:nvPr/>
        </p:nvSpPr>
        <p:spPr>
          <a:xfrm>
            <a:off x="676656" y="2738940"/>
            <a:ext cx="1082010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0" name="code_hl6"/>
          <p:cNvSpPr/>
          <p:nvPr/>
        </p:nvSpPr>
        <p:spPr>
          <a:xfrm>
            <a:off x="676656" y="2898940"/>
            <a:ext cx="1082010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1" name="code_hl9"/>
          <p:cNvSpPr/>
          <p:nvPr/>
        </p:nvSpPr>
        <p:spPr>
          <a:xfrm>
            <a:off x="676656" y="3378940"/>
            <a:ext cx="10820100" cy="19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2" name="code_hl10"/>
          <p:cNvSpPr/>
          <p:nvPr/>
        </p:nvSpPr>
        <p:spPr>
          <a:xfrm>
            <a:off x="676656" y="3538940"/>
            <a:ext cx="10820100" cy="196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33" name="out"/>
          <p:cNvGrpSpPr/>
          <p:nvPr/>
        </p:nvGrpSpPr>
        <p:grpSpPr>
          <a:xfrm>
            <a:off x="543154" y="4041648"/>
            <a:ext cx="5120640" cy="1135900"/>
            <a:chOff x="543154" y="4041648"/>
            <a:chExt cx="5120640" cy="1135900"/>
          </a:xfrm>
        </p:grpSpPr>
        <p:sp>
          <p:nvSpPr>
            <p:cNvPr id="123" name="out_win"/>
            <p:cNvSpPr/>
            <p:nvPr/>
          </p:nvSpPr>
          <p:spPr>
            <a:xfrm>
              <a:off x="543154" y="4041648"/>
              <a:ext cx="5120640" cy="1135900"/>
            </a:xfrm>
            <a:prstGeom prst="roundRect">
              <a:avLst>
                <a:gd name="adj" fmla="val 6035"/>
              </a:avLst>
            </a:prstGeom>
            <a:solidFill>
              <a:srgbClr val="060D18"/>
            </a:solidFill>
            <a:ln w="12700">
              <a:solidFill>
                <a:srgbClr val="1E3A5F"/>
              </a:solidFill>
              <a:prstDash val="solid"/>
            </a:ln>
          </p:spPr>
          <p:txBody>
            <a:bodyPr/>
            <a:lstStyle/>
            <a:p>
              <a:endParaRPr lang="en-US"/>
            </a:p>
          </p:txBody>
        </p:sp>
        <p:sp>
          <p:nvSpPr>
            <p:cNvPr id="124" name="out_bar"/>
            <p:cNvSpPr/>
            <p:nvPr/>
          </p:nvSpPr>
          <p:spPr>
            <a:xfrm>
              <a:off x="543154" y="4041648"/>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out_barfill"/>
            <p:cNvSpPr/>
            <p:nvPr/>
          </p:nvSpPr>
          <p:spPr>
            <a:xfrm>
              <a:off x="543154" y="4213098"/>
              <a:ext cx="5120640" cy="171450"/>
            </a:xfrm>
            <a:prstGeom prst="rect">
              <a:avLst/>
            </a:prstGeom>
            <a:solidFill>
              <a:srgbClr val="0A1220"/>
            </a:solidFill>
            <a:ln w="12700">
              <a:solidFill>
                <a:srgbClr val="0A1220"/>
              </a:solidFill>
              <a:prstDash val="solid"/>
            </a:ln>
          </p:spPr>
          <p:txBody>
            <a:bodyPr/>
            <a:lstStyle/>
            <a:p>
              <a:endParaRPr lang="en-US"/>
            </a:p>
          </p:txBody>
        </p:sp>
        <p:sp>
          <p:nvSpPr>
            <p:cNvPr id="126" name="out_dot0"/>
            <p:cNvSpPr/>
            <p:nvPr/>
          </p:nvSpPr>
          <p:spPr>
            <a:xfrm>
              <a:off x="705002" y="4165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out_dot1"/>
            <p:cNvSpPr/>
            <p:nvPr/>
          </p:nvSpPr>
          <p:spPr>
            <a:xfrm>
              <a:off x="890626" y="4165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out_dot2"/>
            <p:cNvSpPr/>
            <p:nvPr/>
          </p:nvSpPr>
          <p:spPr>
            <a:xfrm>
              <a:off x="1076250" y="4165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out_tab"/>
            <p:cNvSpPr/>
            <p:nvPr/>
          </p:nvSpPr>
          <p:spPr>
            <a:xfrm>
              <a:off x="1324051" y="408919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30" name="out_L00"/>
            <p:cNvSpPr txBox="1"/>
            <p:nvPr/>
          </p:nvSpPr>
          <p:spPr>
            <a:xfrm>
              <a:off x="771754" y="4517548"/>
              <a:ext cx="4820640" cy="18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3 lines, first = Ahmed</a:t>
              </a:r>
              <a:endParaRPr lang="en-US" sz="950" dirty="0"/>
            </a:p>
          </p:txBody>
        </p:sp>
        <p:sp>
          <p:nvSpPr>
            <p:cNvPr id="131" name="out_L01"/>
            <p:cNvSpPr txBox="1"/>
            <p:nvPr/>
          </p:nvSpPr>
          <p:spPr>
            <a:xfrm>
              <a:off x="771754" y="4697548"/>
              <a:ext cx="4820640" cy="18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backup exists: False, archive exists: True</a:t>
              </a:r>
              <a:endParaRPr lang="en-US" sz="950" dirty="0"/>
            </a:p>
          </p:txBody>
        </p:sp>
        <p:sp>
          <p:nvSpPr>
            <p:cNvPr id="132" name="out_L02"/>
            <p:cNvSpPr txBox="1"/>
            <p:nvPr/>
          </p:nvSpPr>
          <p:spPr>
            <a:xfrm>
              <a:off x="771754" y="4877548"/>
              <a:ext cx="4820640" cy="18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archive exists: False</a:t>
              </a:r>
              <a:endParaRPr lang="en-US" sz="950" dirty="0"/>
            </a:p>
          </p:txBody>
        </p:sp>
      </p:grpSp>
      <p:sp>
        <p:nvSpPr>
          <p:cNvPr id="134" name="k1"/>
          <p:cNvSpPr/>
          <p:nvPr/>
        </p:nvSpPr>
        <p:spPr>
          <a:xfrm>
            <a:off x="5938114" y="4041648"/>
            <a:ext cx="2731770" cy="1051560"/>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COPY vs MOVE</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Copy: two files. Move: one file, new name or place.</a:t>
            </a:r>
            <a:endParaRPr lang="en-US" sz="1050" dirty="0"/>
          </a:p>
        </p:txBody>
      </p:sp>
      <p:sp>
        <p:nvSpPr>
          <p:cNvPr id="135" name="k2"/>
          <p:cNvSpPr/>
          <p:nvPr/>
        </p:nvSpPr>
        <p:spPr>
          <a:xfrm>
            <a:off x="8898484" y="4041648"/>
            <a:ext cx="2731770" cy="105156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DELETE A MISSING FILE</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No error. Only a missing FOLDER throws.</a:t>
            </a:r>
            <a:endParaRPr lang="en-US" sz="1050" dirty="0"/>
          </a:p>
        </p:txBody>
      </p:sp>
      <p:sp>
        <p:nvSpPr>
          <p:cNvPr id="136" name="k3"/>
          <p:cNvSpPr/>
          <p:nvPr/>
        </p:nvSpPr>
        <p:spPr>
          <a:xfrm>
            <a:off x="5938114" y="5184648"/>
            <a:ext cx="5692140" cy="658368"/>
          </a:xfrm>
          <a:prstGeom prst="roundRect">
            <a:avLst>
              <a:gd name="adj" fmla="val 16000"/>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TARGET ALREADY EXISTS?</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Default overwrite: false → IOException. overwrite: true → replaced. Next page.</a:t>
            </a:r>
            <a:endParaRPr lang="en-US" sz="1050" dirty="0"/>
          </a:p>
        </p:txBody>
      </p:sp>
    </p:spTree>
    <p:extLst>
      <p:ext uri="{BB962C8B-B14F-4D97-AF65-F5344CB8AC3E}">
        <p14:creationId xmlns:p14="http://schemas.microsoft.com/office/powerpoint/2010/main" val="50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4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400"/>
                                        <p:tgtEl>
                                          <p:spTgt spid="1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2"/>
                                        </p:tgtEl>
                                        <p:attrNameLst>
                                          <p:attrName>style.visibility</p:attrName>
                                        </p:attrNameLst>
                                      </p:cBhvr>
                                      <p:to>
                                        <p:strVal val="visible"/>
                                      </p:to>
                                    </p:set>
                                    <p:animEffect transition="in" filter="fade">
                                      <p:cBhvr>
                                        <p:cTn id="19" dur="400"/>
                                        <p:tgtEl>
                                          <p:spTgt spid="12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3"/>
                                        </p:tgtEl>
                                        <p:attrNameLst>
                                          <p:attrName>style.visibility</p:attrName>
                                        </p:attrNameLst>
                                      </p:cBhvr>
                                      <p:to>
                                        <p:strVal val="visible"/>
                                      </p:to>
                                    </p:set>
                                    <p:animEffect transition="in" filter="fade">
                                      <p:cBhvr>
                                        <p:cTn id="24" dur="400"/>
                                        <p:tgtEl>
                                          <p:spTgt spid="13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4"/>
                                        </p:tgtEl>
                                        <p:attrNameLst>
                                          <p:attrName>style.visibility</p:attrName>
                                        </p:attrNameLst>
                                      </p:cBhvr>
                                      <p:to>
                                        <p:strVal val="visible"/>
                                      </p:to>
                                    </p:set>
                                    <p:animEffect transition="in" filter="fade">
                                      <p:cBhvr>
                                        <p:cTn id="29" dur="400"/>
                                        <p:tgtEl>
                                          <p:spTgt spid="1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5"/>
                                        </p:tgtEl>
                                        <p:attrNameLst>
                                          <p:attrName>style.visibility</p:attrName>
                                        </p:attrNameLst>
                                      </p:cBhvr>
                                      <p:to>
                                        <p:strVal val="visible"/>
                                      </p:to>
                                    </p:set>
                                    <p:animEffect transition="in" filter="fade">
                                      <p:cBhvr>
                                        <p:cTn id="34" dur="400"/>
                                        <p:tgtEl>
                                          <p:spTgt spid="13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6"/>
                                        </p:tgtEl>
                                        <p:attrNameLst>
                                          <p:attrName>style.visibility</p:attrName>
                                        </p:attrNameLst>
                                      </p:cBhvr>
                                      <p:to>
                                        <p:strVal val="visible"/>
                                      </p:to>
                                    </p:set>
                                    <p:animEffect transition="in" filter="fade">
                                      <p:cBhvr>
                                        <p:cTn id="39" dur="4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0" grpId="0" animBg="1"/>
      <p:bldP spid="121" grpId="0" animBg="1"/>
      <p:bldP spid="122" grpId="0" animBg="1"/>
      <p:bldP spid="134" grpId="0" animBg="1"/>
      <p:bldP spid="135" grpId="0" animBg="1"/>
      <p:bldP spid="13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FILE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overwrite: false vs true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09</a:t>
            </a:r>
            <a:endParaRPr lang="en-US" sz="850" dirty="0"/>
          </a:p>
        </p:txBody>
      </p:sp>
      <p:grpSp>
        <p:nvGrpSpPr>
          <p:cNvPr id="113" name="code"/>
          <p:cNvGrpSpPr/>
          <p:nvPr/>
        </p:nvGrpSpPr>
        <p:grpSpPr>
          <a:xfrm>
            <a:off x="543154" y="1481328"/>
            <a:ext cx="6583680" cy="1645900"/>
            <a:chOff x="543154" y="1481328"/>
            <a:chExt cx="6583680" cy="1645900"/>
          </a:xfrm>
        </p:grpSpPr>
        <p:sp>
          <p:nvSpPr>
            <p:cNvPr id="101" name="code_win"/>
            <p:cNvSpPr/>
            <p:nvPr/>
          </p:nvSpPr>
          <p:spPr>
            <a:xfrm>
              <a:off x="543154" y="1481328"/>
              <a:ext cx="6583680" cy="1645900"/>
            </a:xfrm>
            <a:prstGeom prst="roundRect">
              <a:avLst>
                <a:gd name="adj" fmla="val 4165"/>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658368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96494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example 19</a:t>
              </a:r>
              <a:endParaRPr lang="en-US" sz="950" dirty="0"/>
            </a:p>
          </p:txBody>
        </p:sp>
        <p:sp>
          <p:nvSpPr>
            <p:cNvPr id="108" name="code_L00"/>
            <p:cNvSpPr txBox="1"/>
            <p:nvPr/>
          </p:nvSpPr>
          <p:spPr>
            <a:xfrm>
              <a:off x="771754" y="1957228"/>
              <a:ext cx="6283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File.WriteAllText(names,  </a:t>
              </a:r>
              <a:r>
                <a:rPr lang="en-US" sz="860" b="0" dirty="0">
                  <a:solidFill>
                    <a:srgbClr val="F0A98B"/>
                  </a:solidFill>
                  <a:latin typeface="Consolas"/>
                  <a:ea typeface="Consolas"/>
                  <a:cs typeface="Consolas"/>
                </a:rPr>
                <a:t>"NEW data"</a:t>
              </a:r>
              <a:r>
                <a:rPr lang="en-US" sz="860" b="0" dirty="0">
                  <a:solidFill>
                    <a:srgbClr val="E2E8F0"/>
                  </a:solidFill>
                  <a:latin typeface="Consolas"/>
                  <a:ea typeface="Consolas"/>
                  <a:cs typeface="Consolas"/>
                </a:rPr>
                <a:t>);</a:t>
              </a:r>
              <a:endParaRPr lang="en-US" sz="860" dirty="0"/>
            </a:p>
          </p:txBody>
        </p:sp>
        <p:sp>
          <p:nvSpPr>
            <p:cNvPr id="109" name="code_L01"/>
            <p:cNvSpPr txBox="1"/>
            <p:nvPr/>
          </p:nvSpPr>
          <p:spPr>
            <a:xfrm>
              <a:off x="771754" y="2107228"/>
              <a:ext cx="6283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File.WriteAllText(backup, </a:t>
              </a:r>
              <a:r>
                <a:rPr lang="en-US" sz="860" b="0" dirty="0">
                  <a:solidFill>
                    <a:srgbClr val="F0A98B"/>
                  </a:solidFill>
                  <a:latin typeface="Consolas"/>
                  <a:ea typeface="Consolas"/>
                  <a:cs typeface="Consolas"/>
                </a:rPr>
                <a:t>"OLD backup"</a:t>
              </a:r>
              <a:r>
                <a:rPr lang="en-US" sz="860" b="0" dirty="0">
                  <a:solidFill>
                    <a:srgbClr val="E2E8F0"/>
                  </a:solidFill>
                  <a:latin typeface="Consolas"/>
                  <a:ea typeface="Consolas"/>
                  <a:cs typeface="Consolas"/>
                </a:rPr>
                <a:t>);     </a:t>
              </a:r>
              <a:r>
                <a:rPr lang="en-US" sz="860" b="0" dirty="0">
                  <a:solidFill>
                    <a:srgbClr val="6FAE7A"/>
                  </a:solidFill>
                  <a:latin typeface="Consolas"/>
                  <a:ea typeface="Consolas"/>
                  <a:cs typeface="Consolas"/>
                </a:rPr>
                <a:t>// the target already exists</a:t>
              </a:r>
              <a:endParaRPr lang="en-US" sz="860" dirty="0"/>
            </a:p>
          </p:txBody>
        </p:sp>
        <p:sp>
          <p:nvSpPr>
            <p:cNvPr id="110" name="code_L03"/>
            <p:cNvSpPr txBox="1"/>
            <p:nvPr/>
          </p:nvSpPr>
          <p:spPr>
            <a:xfrm>
              <a:off x="771754" y="2407228"/>
              <a:ext cx="6283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try</a:t>
              </a:r>
              <a:r>
                <a:rPr lang="en-US" sz="860" b="0" dirty="0">
                  <a:solidFill>
                    <a:srgbClr val="E2E8F0"/>
                  </a:solidFill>
                  <a:latin typeface="Consolas"/>
                  <a:ea typeface="Consolas"/>
                  <a:cs typeface="Consolas"/>
                </a:rPr>
                <a:t> { File.Copy(names, backup, overwrite: </a:t>
              </a:r>
              <a:r>
                <a:rPr lang="en-US" sz="860" b="0" dirty="0">
                  <a:solidFill>
                    <a:srgbClr val="60A5FA"/>
                  </a:solidFill>
                  <a:latin typeface="Consolas"/>
                  <a:ea typeface="Consolas"/>
                  <a:cs typeface="Consolas"/>
                </a:rPr>
                <a:t>false</a:t>
              </a:r>
              <a:r>
                <a:rPr lang="en-US" sz="860" b="0" dirty="0">
                  <a:solidFill>
                    <a:srgbClr val="E2E8F0"/>
                  </a:solidFill>
                  <a:latin typeface="Consolas"/>
                  <a:ea typeface="Consolas"/>
                  <a:cs typeface="Consolas"/>
                </a:rPr>
                <a:t>); }   </a:t>
              </a:r>
              <a:r>
                <a:rPr lang="en-US" sz="860" b="0" dirty="0">
                  <a:solidFill>
                    <a:srgbClr val="6FAE7A"/>
                  </a:solidFill>
                  <a:latin typeface="Consolas"/>
                  <a:ea typeface="Consolas"/>
                  <a:cs typeface="Consolas"/>
                </a:rPr>
                <a:t>// = File.Copy(names, backup)</a:t>
              </a:r>
              <a:endParaRPr lang="en-US" sz="860" dirty="0"/>
            </a:p>
          </p:txBody>
        </p:sp>
        <p:sp>
          <p:nvSpPr>
            <p:cNvPr id="111" name="code_L04"/>
            <p:cNvSpPr txBox="1"/>
            <p:nvPr/>
          </p:nvSpPr>
          <p:spPr>
            <a:xfrm>
              <a:off x="771754" y="2557228"/>
              <a:ext cx="6283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catch</a:t>
              </a:r>
              <a:r>
                <a:rPr lang="en-US" sz="860" b="0" dirty="0">
                  <a:solidFill>
                    <a:srgbClr val="E2E8F0"/>
                  </a:solidFill>
                  <a:latin typeface="Consolas"/>
                  <a:ea typeface="Consolas"/>
                  <a:cs typeface="Consolas"/>
                </a:rPr>
                <a:t> (IOException ex) { Console.WriteLine(ex.Message); }</a:t>
              </a:r>
              <a:endParaRPr lang="en-US" sz="860" dirty="0"/>
            </a:p>
          </p:txBody>
        </p:sp>
        <p:sp>
          <p:nvSpPr>
            <p:cNvPr id="112" name="code_L06"/>
            <p:cNvSpPr txBox="1"/>
            <p:nvPr/>
          </p:nvSpPr>
          <p:spPr>
            <a:xfrm>
              <a:off x="771754" y="2857228"/>
              <a:ext cx="6283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File.Copy(names, backup, overwrite: </a:t>
              </a:r>
              <a:r>
                <a:rPr lang="en-US" sz="860" b="0" dirty="0">
                  <a:solidFill>
                    <a:srgbClr val="60A5FA"/>
                  </a:solidFill>
                  <a:latin typeface="Consolas"/>
                  <a:ea typeface="Consolas"/>
                  <a:cs typeface="Consolas"/>
                </a:rPr>
                <a:t>true</a:t>
              </a:r>
              <a:r>
                <a:rPr lang="en-US" sz="860" b="0" dirty="0">
                  <a:solidFill>
                    <a:srgbClr val="E2E8F0"/>
                  </a:solidFill>
                  <a:latin typeface="Consolas"/>
                  <a:ea typeface="Consolas"/>
                  <a:cs typeface="Consolas"/>
                </a:rPr>
                <a:t>);       </a:t>
              </a:r>
              <a:r>
                <a:rPr lang="en-US" sz="860" b="0" dirty="0">
                  <a:solidFill>
                    <a:srgbClr val="6FAE7A"/>
                  </a:solidFill>
                  <a:latin typeface="Consolas"/>
                  <a:ea typeface="Consolas"/>
                  <a:cs typeface="Consolas"/>
                </a:rPr>
                <a:t>// replace the old backup</a:t>
              </a:r>
              <a:endParaRPr lang="en-US" sz="860" dirty="0"/>
            </a:p>
          </p:txBody>
        </p:sp>
      </p:grpSp>
      <p:sp>
        <p:nvSpPr>
          <p:cNvPr id="114" name="code_hl3"/>
          <p:cNvSpPr/>
          <p:nvPr/>
        </p:nvSpPr>
        <p:spPr>
          <a:xfrm>
            <a:off x="676656" y="2388940"/>
            <a:ext cx="631668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15" name="code_hl6"/>
          <p:cNvSpPr/>
          <p:nvPr/>
        </p:nvSpPr>
        <p:spPr>
          <a:xfrm>
            <a:off x="676656" y="2838940"/>
            <a:ext cx="6316680" cy="186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27" name="out"/>
          <p:cNvGrpSpPr/>
          <p:nvPr/>
        </p:nvGrpSpPr>
        <p:grpSpPr>
          <a:xfrm>
            <a:off x="543154" y="3127248"/>
            <a:ext cx="6583680" cy="1275900"/>
            <a:chOff x="543154" y="3127248"/>
            <a:chExt cx="6583680" cy="1275900"/>
          </a:xfrm>
        </p:grpSpPr>
        <p:sp>
          <p:nvSpPr>
            <p:cNvPr id="116" name="out_win"/>
            <p:cNvSpPr/>
            <p:nvPr/>
          </p:nvSpPr>
          <p:spPr>
            <a:xfrm>
              <a:off x="543154" y="3127248"/>
              <a:ext cx="6583680" cy="1275900"/>
            </a:xfrm>
            <a:prstGeom prst="roundRect">
              <a:avLst>
                <a:gd name="adj" fmla="val 5372"/>
              </a:avLst>
            </a:prstGeom>
            <a:solidFill>
              <a:srgbClr val="060D18"/>
            </a:solidFill>
            <a:ln w="12700">
              <a:solidFill>
                <a:srgbClr val="1E3A5F"/>
              </a:solidFill>
              <a:prstDash val="solid"/>
            </a:ln>
          </p:spPr>
          <p:txBody>
            <a:bodyPr/>
            <a:lstStyle/>
            <a:p>
              <a:endParaRPr lang="en-US"/>
            </a:p>
          </p:txBody>
        </p:sp>
        <p:sp>
          <p:nvSpPr>
            <p:cNvPr id="117" name="out_bar"/>
            <p:cNvSpPr/>
            <p:nvPr/>
          </p:nvSpPr>
          <p:spPr>
            <a:xfrm>
              <a:off x="543154" y="3127248"/>
              <a:ext cx="6583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8" name="out_barfill"/>
            <p:cNvSpPr/>
            <p:nvPr/>
          </p:nvSpPr>
          <p:spPr>
            <a:xfrm>
              <a:off x="543154" y="3298698"/>
              <a:ext cx="6583680" cy="171450"/>
            </a:xfrm>
            <a:prstGeom prst="rect">
              <a:avLst/>
            </a:prstGeom>
            <a:solidFill>
              <a:srgbClr val="0A1220"/>
            </a:solidFill>
            <a:ln w="12700">
              <a:solidFill>
                <a:srgbClr val="0A1220"/>
              </a:solidFill>
              <a:prstDash val="solid"/>
            </a:ln>
          </p:spPr>
          <p:txBody>
            <a:bodyPr/>
            <a:lstStyle/>
            <a:p>
              <a:endParaRPr lang="en-US"/>
            </a:p>
          </p:txBody>
        </p:sp>
        <p:sp>
          <p:nvSpPr>
            <p:cNvPr id="119" name="out_dot0"/>
            <p:cNvSpPr/>
            <p:nvPr/>
          </p:nvSpPr>
          <p:spPr>
            <a:xfrm>
              <a:off x="705002" y="3251058"/>
              <a:ext cx="95098" cy="95098"/>
            </a:xfrm>
            <a:prstGeom prst="ellipse">
              <a:avLst/>
            </a:prstGeom>
            <a:solidFill>
              <a:srgbClr val="F87171"/>
            </a:solidFill>
            <a:ln w="12700">
              <a:solidFill>
                <a:srgbClr val="F87171"/>
              </a:solidFill>
              <a:prstDash val="solid"/>
            </a:ln>
          </p:spPr>
          <p:txBody>
            <a:bodyPr/>
            <a:lstStyle/>
            <a:p>
              <a:endParaRPr lang="en-US"/>
            </a:p>
          </p:txBody>
        </p:sp>
        <p:sp>
          <p:nvSpPr>
            <p:cNvPr id="120" name="out_dot1"/>
            <p:cNvSpPr/>
            <p:nvPr/>
          </p:nvSpPr>
          <p:spPr>
            <a:xfrm>
              <a:off x="890626" y="3251058"/>
              <a:ext cx="95098" cy="95098"/>
            </a:xfrm>
            <a:prstGeom prst="ellipse">
              <a:avLst/>
            </a:prstGeom>
            <a:solidFill>
              <a:srgbClr val="FBBF24"/>
            </a:solidFill>
            <a:ln w="12700">
              <a:solidFill>
                <a:srgbClr val="FBBF24"/>
              </a:solidFill>
              <a:prstDash val="solid"/>
            </a:ln>
          </p:spPr>
          <p:txBody>
            <a:bodyPr/>
            <a:lstStyle/>
            <a:p>
              <a:endParaRPr lang="en-US"/>
            </a:p>
          </p:txBody>
        </p:sp>
        <p:sp>
          <p:nvSpPr>
            <p:cNvPr id="121" name="out_dot2"/>
            <p:cNvSpPr/>
            <p:nvPr/>
          </p:nvSpPr>
          <p:spPr>
            <a:xfrm>
              <a:off x="1076250" y="3251058"/>
              <a:ext cx="95098" cy="95098"/>
            </a:xfrm>
            <a:prstGeom prst="ellipse">
              <a:avLst/>
            </a:prstGeom>
            <a:solidFill>
              <a:srgbClr val="34D399"/>
            </a:solidFill>
            <a:ln w="12700">
              <a:solidFill>
                <a:srgbClr val="34D399"/>
              </a:solidFill>
              <a:prstDash val="solid"/>
            </a:ln>
          </p:spPr>
          <p:txBody>
            <a:bodyPr/>
            <a:lstStyle/>
            <a:p>
              <a:endParaRPr lang="en-US"/>
            </a:p>
          </p:txBody>
        </p:sp>
        <p:sp>
          <p:nvSpPr>
            <p:cNvPr id="122" name="out_tab"/>
            <p:cNvSpPr/>
            <p:nvPr/>
          </p:nvSpPr>
          <p:spPr>
            <a:xfrm>
              <a:off x="1324051" y="3174797"/>
              <a:ext cx="1760578"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  · what we ran</a:t>
              </a:r>
              <a:endParaRPr lang="en-US" sz="950" dirty="0"/>
            </a:p>
          </p:txBody>
        </p:sp>
        <p:sp>
          <p:nvSpPr>
            <p:cNvPr id="123" name="out_L00"/>
            <p:cNvSpPr txBox="1"/>
            <p:nvPr/>
          </p:nvSpPr>
          <p:spPr>
            <a:xfrm>
              <a:off x="771754" y="360314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IOException: The file '…/names.bak' already exists.</a:t>
              </a:r>
              <a:endParaRPr lang="en-US" sz="900" dirty="0"/>
            </a:p>
          </p:txBody>
        </p:sp>
        <p:sp>
          <p:nvSpPr>
            <p:cNvPr id="124" name="out_L01"/>
            <p:cNvSpPr txBox="1"/>
            <p:nvPr/>
          </p:nvSpPr>
          <p:spPr>
            <a:xfrm>
              <a:off x="771754" y="377314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backup still = OLD backup</a:t>
              </a:r>
              <a:endParaRPr lang="en-US" sz="900" dirty="0"/>
            </a:p>
          </p:txBody>
        </p:sp>
        <p:sp>
          <p:nvSpPr>
            <p:cNvPr id="125" name="out_L02"/>
            <p:cNvSpPr txBox="1"/>
            <p:nvPr/>
          </p:nvSpPr>
          <p:spPr>
            <a:xfrm>
              <a:off x="771754" y="394314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overwrite: true  -&gt; backup = NEW data</a:t>
              </a:r>
              <a:endParaRPr lang="en-US" sz="900" dirty="0"/>
            </a:p>
          </p:txBody>
        </p:sp>
        <p:sp>
          <p:nvSpPr>
            <p:cNvPr id="126" name="out_L03"/>
            <p:cNvSpPr txBox="1"/>
            <p:nvPr/>
          </p:nvSpPr>
          <p:spPr>
            <a:xfrm>
              <a:off x="771754" y="4113148"/>
              <a:ext cx="628368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names.txt still there: True</a:t>
              </a:r>
              <a:endParaRPr lang="en-US" sz="900" dirty="0"/>
            </a:p>
          </p:txBody>
        </p:sp>
      </p:grpSp>
      <p:sp>
        <p:nvSpPr>
          <p:cNvPr id="128" name="fl"/>
          <p:cNvSpPr txBox="1"/>
          <p:nvPr/>
        </p:nvSpPr>
        <p:spPr>
          <a:xfrm>
            <a:off x="7401154" y="1481328"/>
            <a:ext cx="4229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94A3B8"/>
                </a:solidFill>
                <a:latin typeface="Segoe UI"/>
                <a:ea typeface="Segoe UI"/>
                <a:cs typeface="Segoe UI"/>
              </a:rPr>
              <a:t>on disk</a:t>
            </a:r>
            <a:endParaRPr lang="en-US" sz="1050" dirty="0"/>
          </a:p>
        </p:txBody>
      </p:sp>
      <p:sp>
        <p:nvSpPr>
          <p:cNvPr id="129" name="src"/>
          <p:cNvSpPr/>
          <p:nvPr/>
        </p:nvSpPr>
        <p:spPr>
          <a:xfrm>
            <a:off x="7401154" y="1783080"/>
            <a:ext cx="4229100" cy="566928"/>
          </a:xfrm>
          <a:prstGeom prst="roundRect">
            <a:avLst>
              <a:gd name="adj" fmla="val 12000"/>
            </a:avLst>
          </a:prstGeom>
          <a:solidFill>
            <a:srgbClr val="13D0F7">
              <a:alpha val="10000"/>
            </a:srgbClr>
          </a:solidFill>
          <a:ln w="12700">
            <a:solidFill>
              <a:srgbClr val="13D0F7"/>
            </a:solidFill>
            <a:prstDash val="solid"/>
          </a:ln>
        </p:spPr>
        <p:txBody>
          <a:bodyPr wrap="square" lIns="164592" tIns="27432" rIns="91440" bIns="27432" rtlCol="0" anchor="ctr">
            <a:noAutofit/>
          </a:bodyPr>
          <a:lstStyle/>
          <a:p>
            <a:pPr marL="0" indent="0" algn="l">
              <a:spcBef>
                <a:spcPts val="0"/>
              </a:spcBef>
              <a:spcAft>
                <a:spcPts val="0"/>
              </a:spcAft>
              <a:buNone/>
            </a:pPr>
            <a:r>
              <a:rPr lang="en-US" sz="950" b="1" dirty="0">
                <a:solidFill>
                  <a:srgbClr val="13D0F7"/>
                </a:solidFill>
                <a:latin typeface="Segoe UI"/>
                <a:ea typeface="Segoe UI"/>
                <a:cs typeface="Segoe UI"/>
              </a:rPr>
              <a:t>names.txt  (source)</a:t>
            </a:r>
            <a:endParaRPr lang="en-US" sz="950" dirty="0"/>
          </a:p>
          <a:p>
            <a:pPr marL="0" indent="0" algn="l">
              <a:spcBef>
                <a:spcPts val="0"/>
              </a:spcBef>
              <a:spcAft>
                <a:spcPts val="0"/>
              </a:spcAft>
              <a:buNone/>
            </a:pPr>
            <a:r>
              <a:rPr lang="en-US" sz="1200" b="0" dirty="0">
                <a:solidFill>
                  <a:srgbClr val="FFFFFF"/>
                </a:solidFill>
                <a:latin typeface="Consolas"/>
                <a:ea typeface="Consolas"/>
                <a:cs typeface="Consolas"/>
              </a:rPr>
              <a:t>NEW data</a:t>
            </a:r>
            <a:endParaRPr lang="en-US" sz="1200" dirty="0"/>
          </a:p>
        </p:txBody>
      </p:sp>
      <p:sp>
        <p:nvSpPr>
          <p:cNvPr id="130" name="old"/>
          <p:cNvSpPr/>
          <p:nvPr/>
        </p:nvSpPr>
        <p:spPr>
          <a:xfrm>
            <a:off x="7401154" y="2441448"/>
            <a:ext cx="4229100" cy="566928"/>
          </a:xfrm>
          <a:prstGeom prst="roundRect">
            <a:avLst>
              <a:gd name="adj" fmla="val 12000"/>
            </a:avLst>
          </a:prstGeom>
          <a:solidFill>
            <a:srgbClr val="CBD5E1">
              <a:alpha val="10000"/>
            </a:srgbClr>
          </a:solidFill>
          <a:ln w="12700">
            <a:solidFill>
              <a:srgbClr val="CBD5E1"/>
            </a:solidFill>
            <a:prstDash val="solid"/>
          </a:ln>
        </p:spPr>
        <p:txBody>
          <a:bodyPr wrap="square" lIns="164592" tIns="27432" rIns="91440" bIns="27432" rtlCol="0" anchor="ctr">
            <a:noAutofit/>
          </a:bodyPr>
          <a:lstStyle/>
          <a:p>
            <a:pPr marL="0" indent="0" algn="l">
              <a:spcBef>
                <a:spcPts val="0"/>
              </a:spcBef>
              <a:spcAft>
                <a:spcPts val="0"/>
              </a:spcAft>
              <a:buNone/>
            </a:pPr>
            <a:r>
              <a:rPr lang="en-US" sz="950" b="1" dirty="0">
                <a:solidFill>
                  <a:srgbClr val="CBD5E1"/>
                </a:solidFill>
                <a:latin typeface="Segoe UI"/>
                <a:ea typeface="Segoe UI"/>
                <a:cs typeface="Segoe UI"/>
              </a:rPr>
              <a:t>names.bak  (target, already exists)</a:t>
            </a:r>
            <a:endParaRPr lang="en-US" sz="950" dirty="0"/>
          </a:p>
          <a:p>
            <a:pPr marL="0" indent="0" algn="l">
              <a:spcBef>
                <a:spcPts val="0"/>
              </a:spcBef>
              <a:spcAft>
                <a:spcPts val="0"/>
              </a:spcAft>
              <a:buNone/>
            </a:pPr>
            <a:r>
              <a:rPr lang="en-US" sz="1200" b="0" dirty="0">
                <a:solidFill>
                  <a:srgbClr val="FFFFFF"/>
                </a:solidFill>
                <a:latin typeface="Consolas"/>
                <a:ea typeface="Consolas"/>
                <a:cs typeface="Consolas"/>
              </a:rPr>
              <a:t>OLD backup</a:t>
            </a:r>
            <a:endParaRPr lang="en-US" sz="1200" dirty="0"/>
          </a:p>
        </p:txBody>
      </p:sp>
      <p:sp>
        <p:nvSpPr>
          <p:cNvPr id="131" name="new"/>
          <p:cNvSpPr/>
          <p:nvPr/>
        </p:nvSpPr>
        <p:spPr>
          <a:xfrm>
            <a:off x="7401154" y="2441448"/>
            <a:ext cx="4229100" cy="566928"/>
          </a:xfrm>
          <a:prstGeom prst="roundRect">
            <a:avLst>
              <a:gd name="adj" fmla="val 12000"/>
            </a:avLst>
          </a:prstGeom>
          <a:solidFill>
            <a:srgbClr val="34D399">
              <a:alpha val="10000"/>
            </a:srgbClr>
          </a:solidFill>
          <a:ln w="12700">
            <a:solidFill>
              <a:srgbClr val="34D399"/>
            </a:solidFill>
            <a:prstDash val="solid"/>
          </a:ln>
        </p:spPr>
        <p:txBody>
          <a:bodyPr wrap="square" lIns="164592" tIns="27432" rIns="91440" bIns="27432" rtlCol="0" anchor="ctr">
            <a:noAutofit/>
          </a:bodyPr>
          <a:lstStyle/>
          <a:p>
            <a:pPr marL="0" indent="0" algn="l">
              <a:spcBef>
                <a:spcPts val="0"/>
              </a:spcBef>
              <a:spcAft>
                <a:spcPts val="0"/>
              </a:spcAft>
              <a:buNone/>
            </a:pPr>
            <a:r>
              <a:rPr lang="en-US" sz="950" b="1" dirty="0">
                <a:solidFill>
                  <a:srgbClr val="34D399"/>
                </a:solidFill>
                <a:latin typeface="Segoe UI"/>
                <a:ea typeface="Segoe UI"/>
                <a:cs typeface="Segoe UI"/>
              </a:rPr>
              <a:t>names.bak  · replaced by overwrite: true</a:t>
            </a:r>
            <a:endParaRPr lang="en-US" sz="950" dirty="0"/>
          </a:p>
          <a:p>
            <a:pPr marL="0" indent="0" algn="l">
              <a:spcBef>
                <a:spcPts val="0"/>
              </a:spcBef>
              <a:spcAft>
                <a:spcPts val="0"/>
              </a:spcAft>
              <a:buNone/>
            </a:pPr>
            <a:r>
              <a:rPr lang="en-US" sz="1200" b="0" dirty="0">
                <a:solidFill>
                  <a:srgbClr val="FFFFFF"/>
                </a:solidFill>
                <a:latin typeface="Consolas"/>
                <a:ea typeface="Consolas"/>
                <a:cs typeface="Consolas"/>
              </a:rPr>
              <a:t>NEW data</a:t>
            </a:r>
            <a:endParaRPr lang="en-US" sz="1200" dirty="0"/>
          </a:p>
        </p:txBody>
      </p:sp>
      <p:sp>
        <p:nvSpPr>
          <p:cNvPr id="132" name="err"/>
          <p:cNvSpPr/>
          <p:nvPr/>
        </p:nvSpPr>
        <p:spPr>
          <a:xfrm>
            <a:off x="7401154" y="3127248"/>
            <a:ext cx="4229100" cy="566928"/>
          </a:xfrm>
          <a:prstGeom prst="roundRect">
            <a:avLst>
              <a:gd name="adj" fmla="val 12000"/>
            </a:avLst>
          </a:prstGeom>
          <a:solidFill>
            <a:srgbClr val="F87171">
              <a:alpha val="10000"/>
            </a:srgbClr>
          </a:solidFill>
          <a:ln w="12700">
            <a:solidFill>
              <a:srgbClr val="F87171"/>
            </a:solidFill>
            <a:prstDash val="solid"/>
          </a:ln>
        </p:spPr>
        <p:txBody>
          <a:bodyPr wrap="square" lIns="164592" tIns="27432" rIns="91440" bIns="27432" rtlCol="0" anchor="ctr">
            <a:noAutofit/>
          </a:bodyPr>
          <a:lstStyle/>
          <a:p>
            <a:pPr marL="0" indent="0" algn="l">
              <a:spcBef>
                <a:spcPts val="0"/>
              </a:spcBef>
              <a:spcAft>
                <a:spcPts val="0"/>
              </a:spcAft>
              <a:buNone/>
            </a:pPr>
            <a:r>
              <a:rPr lang="en-US" sz="1050" b="1" dirty="0">
                <a:solidFill>
                  <a:srgbClr val="F87171"/>
                </a:solidFill>
                <a:latin typeface="Segoe UI"/>
                <a:ea typeface="Segoe UI"/>
                <a:cs typeface="Segoe UI"/>
              </a:rPr>
              <a:t>overwrite: false → ✗ IOException</a:t>
            </a:r>
            <a:endParaRPr lang="en-US" sz="1050" dirty="0"/>
          </a:p>
          <a:p>
            <a:pPr marL="0" indent="0" algn="l">
              <a:spcBef>
                <a:spcPts val="0"/>
              </a:spcBef>
              <a:spcAft>
                <a:spcPts val="0"/>
              </a:spcAft>
              <a:buNone/>
            </a:pPr>
            <a:r>
              <a:rPr lang="en-US" sz="1000" b="0" dirty="0">
                <a:solidFill>
                  <a:srgbClr val="CBD5E1"/>
                </a:solidFill>
                <a:latin typeface="Segoe UI"/>
                <a:ea typeface="Segoe UI"/>
                <a:cs typeface="Segoe UI"/>
              </a:rPr>
              <a:t>nothing changed, the old backup is safe</a:t>
            </a:r>
            <a:endParaRPr lang="en-US" sz="1000" dirty="0"/>
          </a:p>
        </p:txBody>
      </p:sp>
      <p:sp>
        <p:nvSpPr>
          <p:cNvPr id="133" name="ok"/>
          <p:cNvSpPr/>
          <p:nvPr/>
        </p:nvSpPr>
        <p:spPr>
          <a:xfrm>
            <a:off x="7401154" y="3127248"/>
            <a:ext cx="4229100" cy="566928"/>
          </a:xfrm>
          <a:prstGeom prst="roundRect">
            <a:avLst>
              <a:gd name="adj" fmla="val 12000"/>
            </a:avLst>
          </a:prstGeom>
          <a:solidFill>
            <a:srgbClr val="34D399">
              <a:alpha val="10000"/>
            </a:srgbClr>
          </a:solidFill>
          <a:ln w="12700">
            <a:solidFill>
              <a:srgbClr val="34D399"/>
            </a:solidFill>
            <a:prstDash val="solid"/>
          </a:ln>
        </p:spPr>
        <p:txBody>
          <a:bodyPr wrap="square" lIns="164592" tIns="27432" rIns="91440" bIns="27432"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overwrite: true → ✓ replaced</a:t>
            </a:r>
            <a:endParaRPr lang="en-US" sz="1050" dirty="0"/>
          </a:p>
          <a:p>
            <a:pPr marL="0" indent="0" algn="l">
              <a:spcBef>
                <a:spcPts val="0"/>
              </a:spcBef>
              <a:spcAft>
                <a:spcPts val="0"/>
              </a:spcAft>
              <a:buNone/>
            </a:pPr>
            <a:r>
              <a:rPr lang="en-US" sz="1000" b="0" dirty="0">
                <a:solidFill>
                  <a:srgbClr val="CBD5E1"/>
                </a:solidFill>
                <a:latin typeface="Segoe UI"/>
                <a:ea typeface="Segoe UI"/>
                <a:cs typeface="Segoe UI"/>
              </a:rPr>
              <a:t>old content is lost · names.txt stays</a:t>
            </a:r>
            <a:endParaRPr lang="en-US" sz="1000" dirty="0"/>
          </a:p>
        </p:txBody>
      </p:sp>
      <p:grpSp>
        <p:nvGrpSpPr>
          <p:cNvPr id="137" name="t_h"/>
          <p:cNvGrpSpPr/>
          <p:nvPr/>
        </p:nvGrpSpPr>
        <p:grpSpPr>
          <a:xfrm>
            <a:off x="689458" y="4480560"/>
            <a:ext cx="10904220" cy="256032"/>
            <a:chOff x="689458" y="4480560"/>
            <a:chExt cx="10904220" cy="256032"/>
          </a:xfrm>
        </p:grpSpPr>
        <p:sp>
          <p:nvSpPr>
            <p:cNvPr id="134" name="t_h0"/>
            <p:cNvSpPr txBox="1"/>
            <p:nvPr/>
          </p:nvSpPr>
          <p:spPr>
            <a:xfrm>
              <a:off x="689458" y="4480560"/>
              <a:ext cx="274320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000" dirty="0"/>
            </a:p>
          </p:txBody>
        </p:sp>
        <p:sp>
          <p:nvSpPr>
            <p:cNvPr id="135" name="t_h1"/>
            <p:cNvSpPr txBox="1"/>
            <p:nvPr/>
          </p:nvSpPr>
          <p:spPr>
            <a:xfrm>
              <a:off x="3615538" y="4480560"/>
              <a:ext cx="38404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IF THE TARGET EXISTS</a:t>
              </a:r>
              <a:endParaRPr lang="en-US" sz="1000" dirty="0"/>
            </a:p>
          </p:txBody>
        </p:sp>
        <p:sp>
          <p:nvSpPr>
            <p:cNvPr id="136" name="t_h2"/>
            <p:cNvSpPr txBox="1"/>
            <p:nvPr/>
          </p:nvSpPr>
          <p:spPr>
            <a:xfrm>
              <a:off x="7638898" y="4480560"/>
              <a:ext cx="39547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NOTE</a:t>
              </a:r>
              <a:endParaRPr lang="en-US" sz="1000" dirty="0"/>
            </a:p>
          </p:txBody>
        </p:sp>
      </p:grpSp>
      <p:grpSp>
        <p:nvGrpSpPr>
          <p:cNvPr id="142" name="t_r0"/>
          <p:cNvGrpSpPr/>
          <p:nvPr/>
        </p:nvGrpSpPr>
        <p:grpSpPr>
          <a:xfrm>
            <a:off x="543154" y="4782312"/>
            <a:ext cx="11087100" cy="347472"/>
            <a:chOff x="543154" y="4782312"/>
            <a:chExt cx="11087100" cy="347472"/>
          </a:xfrm>
        </p:grpSpPr>
        <p:sp>
          <p:nvSpPr>
            <p:cNvPr id="138" name="t_r0_bg"/>
            <p:cNvSpPr/>
            <p:nvPr/>
          </p:nvSpPr>
          <p:spPr>
            <a:xfrm>
              <a:off x="543154" y="4782312"/>
              <a:ext cx="11087100" cy="34747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9" name="t_r0_c0"/>
            <p:cNvSpPr txBox="1"/>
            <p:nvPr/>
          </p:nvSpPr>
          <p:spPr>
            <a:xfrm>
              <a:off x="689458" y="4782312"/>
              <a:ext cx="274320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Consolas"/>
                  <a:ea typeface="Consolas"/>
                  <a:cs typeface="Consolas"/>
                </a:rPr>
                <a:t>overwrite: false  (DEFAULT)</a:t>
              </a:r>
              <a:endParaRPr lang="en-US" sz="1050" dirty="0"/>
            </a:p>
          </p:txBody>
        </p:sp>
        <p:sp>
          <p:nvSpPr>
            <p:cNvPr id="140" name="t_r0_c1"/>
            <p:cNvSpPr txBox="1"/>
            <p:nvPr/>
          </p:nvSpPr>
          <p:spPr>
            <a:xfrm>
              <a:off x="3615538" y="4782312"/>
              <a:ext cx="384048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F87171"/>
                  </a:solidFill>
                  <a:latin typeface="Segoe UI"/>
                  <a:ea typeface="Segoe UI"/>
                  <a:cs typeface="Segoe UI"/>
                </a:rPr>
                <a:t>target exists → IOException, nothing changes</a:t>
              </a:r>
              <a:endParaRPr lang="en-US" sz="1050" dirty="0"/>
            </a:p>
          </p:txBody>
        </p:sp>
        <p:sp>
          <p:nvSpPr>
            <p:cNvPr id="141" name="t_r0_c2"/>
            <p:cNvSpPr txBox="1"/>
            <p:nvPr/>
          </p:nvSpPr>
          <p:spPr>
            <a:xfrm>
              <a:off x="7638898" y="4782312"/>
              <a:ext cx="395478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safe: you never lose a file by mistake</a:t>
              </a:r>
              <a:endParaRPr lang="en-US" sz="1000" dirty="0"/>
            </a:p>
          </p:txBody>
        </p:sp>
      </p:grpSp>
      <p:grpSp>
        <p:nvGrpSpPr>
          <p:cNvPr id="147" name="t_r1"/>
          <p:cNvGrpSpPr/>
          <p:nvPr/>
        </p:nvGrpSpPr>
        <p:grpSpPr>
          <a:xfrm>
            <a:off x="543154" y="5175504"/>
            <a:ext cx="11087100" cy="347472"/>
            <a:chOff x="543154" y="5175504"/>
            <a:chExt cx="11087100" cy="347472"/>
          </a:xfrm>
        </p:grpSpPr>
        <p:sp>
          <p:nvSpPr>
            <p:cNvPr id="143" name="t_r1_bg"/>
            <p:cNvSpPr/>
            <p:nvPr/>
          </p:nvSpPr>
          <p:spPr>
            <a:xfrm>
              <a:off x="543154" y="5175504"/>
              <a:ext cx="11087100" cy="34747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4" name="t_r1_c0"/>
            <p:cNvSpPr txBox="1"/>
            <p:nvPr/>
          </p:nvSpPr>
          <p:spPr>
            <a:xfrm>
              <a:off x="689458" y="5175504"/>
              <a:ext cx="274320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Consolas"/>
                  <a:ea typeface="Consolas"/>
                  <a:cs typeface="Consolas"/>
                </a:rPr>
                <a:t>overwrite: true</a:t>
              </a:r>
              <a:endParaRPr lang="en-US" sz="1050" dirty="0"/>
            </a:p>
          </p:txBody>
        </p:sp>
        <p:sp>
          <p:nvSpPr>
            <p:cNvPr id="145" name="t_r1_c1"/>
            <p:cNvSpPr txBox="1"/>
            <p:nvPr/>
          </p:nvSpPr>
          <p:spPr>
            <a:xfrm>
              <a:off x="3615538" y="5175504"/>
              <a:ext cx="384048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FBBF24"/>
                  </a:solidFill>
                  <a:latin typeface="Segoe UI"/>
                  <a:ea typeface="Segoe UI"/>
                  <a:cs typeface="Segoe UI"/>
                </a:rPr>
                <a:t>target exists → it is REPLACED</a:t>
              </a:r>
              <a:endParaRPr lang="en-US" sz="1050" dirty="0"/>
            </a:p>
          </p:txBody>
        </p:sp>
        <p:sp>
          <p:nvSpPr>
            <p:cNvPr id="146" name="t_r1_c2"/>
            <p:cNvSpPr txBox="1"/>
            <p:nvPr/>
          </p:nvSpPr>
          <p:spPr>
            <a:xfrm>
              <a:off x="7638898" y="5175504"/>
              <a:ext cx="395478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use when replacing is what you want (backups, saves)</a:t>
              </a:r>
              <a:endParaRPr lang="en-US" sz="1000" dirty="0"/>
            </a:p>
          </p:txBody>
        </p:sp>
      </p:grpSp>
      <p:grpSp>
        <p:nvGrpSpPr>
          <p:cNvPr id="152" name="t_r2"/>
          <p:cNvGrpSpPr/>
          <p:nvPr/>
        </p:nvGrpSpPr>
        <p:grpSpPr>
          <a:xfrm>
            <a:off x="543154" y="5568696"/>
            <a:ext cx="11087100" cy="347472"/>
            <a:chOff x="543154" y="5568696"/>
            <a:chExt cx="11087100" cy="347472"/>
          </a:xfrm>
        </p:grpSpPr>
        <p:sp>
          <p:nvSpPr>
            <p:cNvPr id="148" name="t_r2_bg"/>
            <p:cNvSpPr/>
            <p:nvPr/>
          </p:nvSpPr>
          <p:spPr>
            <a:xfrm>
              <a:off x="543154" y="5568696"/>
              <a:ext cx="11087100" cy="34747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9" name="t_r2_c0"/>
            <p:cNvSpPr txBox="1"/>
            <p:nvPr/>
          </p:nvSpPr>
          <p:spPr>
            <a:xfrm>
              <a:off x="689458" y="5568696"/>
              <a:ext cx="274320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Consolas"/>
                  <a:ea typeface="Consolas"/>
                  <a:cs typeface="Consolas"/>
                </a:rPr>
                <a:t>File.Move(a, b, …)</a:t>
              </a:r>
              <a:endParaRPr lang="en-US" sz="1050" dirty="0"/>
            </a:p>
          </p:txBody>
        </p:sp>
        <p:sp>
          <p:nvSpPr>
            <p:cNvPr id="150" name="t_r2_c1"/>
            <p:cNvSpPr txBox="1"/>
            <p:nvPr/>
          </p:nvSpPr>
          <p:spPr>
            <a:xfrm>
              <a:off x="3615538" y="5568696"/>
              <a:ext cx="384048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same flag, but after it a is GONE</a:t>
              </a:r>
              <a:endParaRPr lang="en-US" sz="1050" dirty="0"/>
            </a:p>
          </p:txBody>
        </p:sp>
        <p:sp>
          <p:nvSpPr>
            <p:cNvPr id="151" name="t_r2_c2"/>
            <p:cNvSpPr txBox="1"/>
            <p:nvPr/>
          </p:nvSpPr>
          <p:spPr>
            <a:xfrm>
              <a:off x="7638898" y="5568696"/>
              <a:ext cx="3954780" cy="34747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CBD5E1"/>
                  </a:solidFill>
                  <a:latin typeface="Segoe UI"/>
                  <a:ea typeface="Segoe UI"/>
                  <a:cs typeface="Segoe UI"/>
                </a:rPr>
                <a:t>source missing → FileNotFoundException, any flag</a:t>
              </a:r>
              <a:endParaRPr lang="en-US" sz="1000" dirty="0"/>
            </a:p>
          </p:txBody>
        </p:sp>
      </p:grpSp>
    </p:spTree>
    <p:extLst>
      <p:ext uri="{BB962C8B-B14F-4D97-AF65-F5344CB8AC3E}">
        <p14:creationId xmlns:p14="http://schemas.microsoft.com/office/powerpoint/2010/main" val="50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400"/>
                                        <p:tgtEl>
                                          <p:spTgt spid="1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400"/>
                                        <p:tgtEl>
                                          <p:spTgt spid="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
                                        </p:tgtEl>
                                        <p:attrNameLst>
                                          <p:attrName>style.visibility</p:attrName>
                                        </p:attrNameLst>
                                      </p:cBhvr>
                                      <p:to>
                                        <p:strVal val="visible"/>
                                      </p:to>
                                    </p:set>
                                    <p:animEffect transition="in" filter="fade">
                                      <p:cBhvr>
                                        <p:cTn id="13" dur="400"/>
                                        <p:tgtEl>
                                          <p:spTgt spid="1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8"/>
                                        </p:tgtEl>
                                        <p:attrNameLst>
                                          <p:attrName>style.visibility</p:attrName>
                                        </p:attrNameLst>
                                      </p:cBhvr>
                                      <p:to>
                                        <p:strVal val="visible"/>
                                      </p:to>
                                    </p:set>
                                    <p:animEffect transition="in" filter="fade">
                                      <p:cBhvr>
                                        <p:cTn id="18" dur="400"/>
                                        <p:tgtEl>
                                          <p:spTgt spid="12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9"/>
                                        </p:tgtEl>
                                        <p:attrNameLst>
                                          <p:attrName>style.visibility</p:attrName>
                                        </p:attrNameLst>
                                      </p:cBhvr>
                                      <p:to>
                                        <p:strVal val="visible"/>
                                      </p:to>
                                    </p:set>
                                    <p:animEffect transition="in" filter="fade">
                                      <p:cBhvr>
                                        <p:cTn id="21" dur="400"/>
                                        <p:tgtEl>
                                          <p:spTgt spid="129"/>
                                        </p:tgtEl>
                                      </p:cBhvr>
                                    </p:animEffect>
                                  </p:childTnLst>
                                </p:cTn>
                              </p:par>
                            </p:childTnLst>
                          </p:cTn>
                        </p:par>
                        <p:par>
                          <p:cTn id="22" fill="hold">
                            <p:stCondLst>
                              <p:cond delay="400"/>
                            </p:stCondLst>
                            <p:childTnLst>
                              <p:par>
                                <p:cTn id="23" presetID="10" presetClass="entr" presetSubtype="0" fill="hold" grpId="0" nodeType="afterEffect">
                                  <p:stCondLst>
                                    <p:cond delay="0"/>
                                  </p:stCondLst>
                                  <p:childTnLst>
                                    <p:set>
                                      <p:cBhvr>
                                        <p:cTn id="24" dur="1" fill="hold">
                                          <p:stCondLst>
                                            <p:cond delay="0"/>
                                          </p:stCondLst>
                                        </p:cTn>
                                        <p:tgtEl>
                                          <p:spTgt spid="130"/>
                                        </p:tgtEl>
                                        <p:attrNameLst>
                                          <p:attrName>style.visibility</p:attrName>
                                        </p:attrNameLst>
                                      </p:cBhvr>
                                      <p:to>
                                        <p:strVal val="visible"/>
                                      </p:to>
                                    </p:set>
                                    <p:animEffect transition="in" filter="fade">
                                      <p:cBhvr>
                                        <p:cTn id="25" dur="200"/>
                                        <p:tgtEl>
                                          <p:spTgt spid="13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2"/>
                                        </p:tgtEl>
                                        <p:attrNameLst>
                                          <p:attrName>style.visibility</p:attrName>
                                        </p:attrNameLst>
                                      </p:cBhvr>
                                      <p:to>
                                        <p:strVal val="visible"/>
                                      </p:to>
                                    </p:set>
                                    <p:animEffect transition="in" filter="fade">
                                      <p:cBhvr>
                                        <p:cTn id="30" dur="400"/>
                                        <p:tgtEl>
                                          <p:spTgt spid="13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400"/>
                                        <p:tgtEl>
                                          <p:spTgt spid="132"/>
                                        </p:tgtEl>
                                      </p:cBhvr>
                                    </p:animEffect>
                                    <p:set>
                                      <p:cBhvr>
                                        <p:cTn id="35" dur="1" fill="hold">
                                          <p:stCondLst>
                                            <p:cond delay="399"/>
                                          </p:stCondLst>
                                        </p:cTn>
                                        <p:tgtEl>
                                          <p:spTgt spid="132"/>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400"/>
                                        <p:tgtEl>
                                          <p:spTgt spid="130"/>
                                        </p:tgtEl>
                                      </p:cBhvr>
                                    </p:animEffect>
                                    <p:set>
                                      <p:cBhvr>
                                        <p:cTn id="38" dur="1" fill="hold">
                                          <p:stCondLst>
                                            <p:cond delay="399"/>
                                          </p:stCondLst>
                                        </p:cTn>
                                        <p:tgtEl>
                                          <p:spTgt spid="130"/>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31"/>
                                        </p:tgtEl>
                                        <p:attrNameLst>
                                          <p:attrName>style.visibility</p:attrName>
                                        </p:attrNameLst>
                                      </p:cBhvr>
                                      <p:to>
                                        <p:strVal val="visible"/>
                                      </p:to>
                                    </p:set>
                                    <p:animEffect transition="in" filter="fade">
                                      <p:cBhvr>
                                        <p:cTn id="41" dur="400"/>
                                        <p:tgtEl>
                                          <p:spTgt spid="1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3"/>
                                        </p:tgtEl>
                                        <p:attrNameLst>
                                          <p:attrName>style.visibility</p:attrName>
                                        </p:attrNameLst>
                                      </p:cBhvr>
                                      <p:to>
                                        <p:strVal val="visible"/>
                                      </p:to>
                                    </p:set>
                                    <p:animEffect transition="in" filter="fade">
                                      <p:cBhvr>
                                        <p:cTn id="44" dur="400"/>
                                        <p:tgtEl>
                                          <p:spTgt spid="13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27"/>
                                        </p:tgtEl>
                                        <p:attrNameLst>
                                          <p:attrName>style.visibility</p:attrName>
                                        </p:attrNameLst>
                                      </p:cBhvr>
                                      <p:to>
                                        <p:strVal val="visible"/>
                                      </p:to>
                                    </p:set>
                                    <p:animEffect transition="in" filter="fade">
                                      <p:cBhvr>
                                        <p:cTn id="49" dur="400"/>
                                        <p:tgtEl>
                                          <p:spTgt spid="12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37"/>
                                        </p:tgtEl>
                                        <p:attrNameLst>
                                          <p:attrName>style.visibility</p:attrName>
                                        </p:attrNameLst>
                                      </p:cBhvr>
                                      <p:to>
                                        <p:strVal val="visible"/>
                                      </p:to>
                                    </p:set>
                                    <p:animEffect transition="in" filter="fade">
                                      <p:cBhvr>
                                        <p:cTn id="54" dur="400"/>
                                        <p:tgtEl>
                                          <p:spTgt spid="137"/>
                                        </p:tgtEl>
                                      </p:cBhvr>
                                    </p:animEffect>
                                  </p:childTnLst>
                                </p:cTn>
                              </p:par>
                            </p:childTnLst>
                          </p:cTn>
                        </p:par>
                        <p:par>
                          <p:cTn id="55" fill="hold">
                            <p:stCondLst>
                              <p:cond delay="400"/>
                            </p:stCondLst>
                            <p:childTnLst>
                              <p:par>
                                <p:cTn id="56" presetID="10" presetClass="entr" presetSubtype="0" fill="hold" nodeType="afterEffect">
                                  <p:stCondLst>
                                    <p:cond delay="0"/>
                                  </p:stCondLst>
                                  <p:childTnLst>
                                    <p:set>
                                      <p:cBhvr>
                                        <p:cTn id="57" dur="1" fill="hold">
                                          <p:stCondLst>
                                            <p:cond delay="0"/>
                                          </p:stCondLst>
                                        </p:cTn>
                                        <p:tgtEl>
                                          <p:spTgt spid="142"/>
                                        </p:tgtEl>
                                        <p:attrNameLst>
                                          <p:attrName>style.visibility</p:attrName>
                                        </p:attrNameLst>
                                      </p:cBhvr>
                                      <p:to>
                                        <p:strVal val="visible"/>
                                      </p:to>
                                    </p:set>
                                    <p:animEffect transition="in" filter="fade">
                                      <p:cBhvr>
                                        <p:cTn id="58" dur="200"/>
                                        <p:tgtEl>
                                          <p:spTgt spid="142"/>
                                        </p:tgtEl>
                                      </p:cBhvr>
                                    </p:animEffect>
                                  </p:childTnLst>
                                </p:cTn>
                              </p:par>
                            </p:childTnLst>
                          </p:cTn>
                        </p:par>
                        <p:par>
                          <p:cTn id="59" fill="hold">
                            <p:stCondLst>
                              <p:cond delay="600"/>
                            </p:stCondLst>
                            <p:childTnLst>
                              <p:par>
                                <p:cTn id="60" presetID="10" presetClass="entr" presetSubtype="0" fill="hold" nodeType="afterEffect">
                                  <p:stCondLst>
                                    <p:cond delay="0"/>
                                  </p:stCondLst>
                                  <p:childTnLst>
                                    <p:set>
                                      <p:cBhvr>
                                        <p:cTn id="61" dur="1" fill="hold">
                                          <p:stCondLst>
                                            <p:cond delay="0"/>
                                          </p:stCondLst>
                                        </p:cTn>
                                        <p:tgtEl>
                                          <p:spTgt spid="147"/>
                                        </p:tgtEl>
                                        <p:attrNameLst>
                                          <p:attrName>style.visibility</p:attrName>
                                        </p:attrNameLst>
                                      </p:cBhvr>
                                      <p:to>
                                        <p:strVal val="visible"/>
                                      </p:to>
                                    </p:set>
                                    <p:animEffect transition="in" filter="fade">
                                      <p:cBhvr>
                                        <p:cTn id="62" dur="200"/>
                                        <p:tgtEl>
                                          <p:spTgt spid="147"/>
                                        </p:tgtEl>
                                      </p:cBhvr>
                                    </p:animEffect>
                                  </p:childTnLst>
                                </p:cTn>
                              </p:par>
                            </p:childTnLst>
                          </p:cTn>
                        </p:par>
                        <p:par>
                          <p:cTn id="63" fill="hold">
                            <p:stCondLst>
                              <p:cond delay="800"/>
                            </p:stCondLst>
                            <p:childTnLst>
                              <p:par>
                                <p:cTn id="64" presetID="10" presetClass="entr" presetSubtype="0" fill="hold" nodeType="afterEffect">
                                  <p:stCondLst>
                                    <p:cond delay="0"/>
                                  </p:stCondLst>
                                  <p:childTnLst>
                                    <p:set>
                                      <p:cBhvr>
                                        <p:cTn id="65" dur="1" fill="hold">
                                          <p:stCondLst>
                                            <p:cond delay="0"/>
                                          </p:stCondLst>
                                        </p:cTn>
                                        <p:tgtEl>
                                          <p:spTgt spid="152"/>
                                        </p:tgtEl>
                                        <p:attrNameLst>
                                          <p:attrName>style.visibility</p:attrName>
                                        </p:attrNameLst>
                                      </p:cBhvr>
                                      <p:to>
                                        <p:strVal val="visible"/>
                                      </p:to>
                                    </p:set>
                                    <p:animEffect transition="in" filter="fade">
                                      <p:cBhvr>
                                        <p:cTn id="66" dur="2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5" grpId="0" animBg="1"/>
      <p:bldP spid="128" grpId="0" animBg="1"/>
      <p:bldP spid="129" grpId="0" animBg="1"/>
      <p:bldP spid="130" grpId="0" animBg="1"/>
      <p:bldP spid="130" grpId="1" animBg="1"/>
      <p:bldP spid="131" grpId="0" animBg="1"/>
      <p:bldP spid="132" grpId="0" animBg="1"/>
      <p:bldP spid="132" grpId="1" animBg="1"/>
      <p:bldP spid="13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EXCEPTIONS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When File Operations Fail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FILES &amp; DIRECTORIES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a:t>
            </a:r>
            <a:endParaRPr lang="en-US" sz="850" dirty="0"/>
          </a:p>
        </p:txBody>
      </p:sp>
      <p:grpSp>
        <p:nvGrpSpPr>
          <p:cNvPr id="103" name="t_h"/>
          <p:cNvGrpSpPr/>
          <p:nvPr/>
        </p:nvGrpSpPr>
        <p:grpSpPr>
          <a:xfrm>
            <a:off x="689458" y="1444752"/>
            <a:ext cx="10904220" cy="256032"/>
            <a:chOff x="689458" y="1444752"/>
            <a:chExt cx="10904220" cy="256032"/>
          </a:xfrm>
        </p:grpSpPr>
        <p:sp>
          <p:nvSpPr>
            <p:cNvPr id="101" name="t_h0"/>
            <p:cNvSpPr txBox="1"/>
            <p:nvPr/>
          </p:nvSpPr>
          <p:spPr>
            <a:xfrm>
              <a:off x="689458" y="1444752"/>
              <a:ext cx="347472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EXCEPTION</a:t>
              </a:r>
              <a:endParaRPr lang="en-US" sz="1000" dirty="0"/>
            </a:p>
          </p:txBody>
        </p:sp>
        <p:sp>
          <p:nvSpPr>
            <p:cNvPr id="102" name="t_h1"/>
            <p:cNvSpPr txBox="1"/>
            <p:nvPr/>
          </p:nvSpPr>
          <p:spPr>
            <a:xfrm>
              <a:off x="4347058" y="1444752"/>
              <a:ext cx="724662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WHEN IT HAPPENS</a:t>
              </a:r>
              <a:endParaRPr lang="en-US" sz="1000" dirty="0"/>
            </a:p>
          </p:txBody>
        </p:sp>
      </p:grpSp>
      <p:grpSp>
        <p:nvGrpSpPr>
          <p:cNvPr id="107" name="t_r0"/>
          <p:cNvGrpSpPr/>
          <p:nvPr/>
        </p:nvGrpSpPr>
        <p:grpSpPr>
          <a:xfrm>
            <a:off x="543154" y="1746504"/>
            <a:ext cx="11087100" cy="301752"/>
            <a:chOff x="543154" y="1746504"/>
            <a:chExt cx="11087100" cy="301752"/>
          </a:xfrm>
        </p:grpSpPr>
        <p:sp>
          <p:nvSpPr>
            <p:cNvPr id="104" name="t_r0_bg"/>
            <p:cNvSpPr/>
            <p:nvPr/>
          </p:nvSpPr>
          <p:spPr>
            <a:xfrm>
              <a:off x="543154" y="1746504"/>
              <a:ext cx="11087100" cy="30175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5" name="t_r0_c0"/>
            <p:cNvSpPr txBox="1"/>
            <p:nvPr/>
          </p:nvSpPr>
          <p:spPr>
            <a:xfrm>
              <a:off x="689458" y="1746504"/>
              <a:ext cx="34747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FileNotFoundException</a:t>
              </a:r>
              <a:endParaRPr lang="en-US" sz="1050" dirty="0"/>
            </a:p>
          </p:txBody>
        </p:sp>
        <p:sp>
          <p:nvSpPr>
            <p:cNvPr id="106" name="t_r0_c1"/>
            <p:cNvSpPr txBox="1"/>
            <p:nvPr/>
          </p:nvSpPr>
          <p:spPr>
            <a:xfrm>
              <a:off x="4347058" y="1746504"/>
              <a:ext cx="72466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the file is missing</a:t>
              </a:r>
              <a:endParaRPr lang="en-US" sz="1050" dirty="0"/>
            </a:p>
          </p:txBody>
        </p:sp>
      </p:grpSp>
      <p:grpSp>
        <p:nvGrpSpPr>
          <p:cNvPr id="111" name="t_r1"/>
          <p:cNvGrpSpPr/>
          <p:nvPr/>
        </p:nvGrpSpPr>
        <p:grpSpPr>
          <a:xfrm>
            <a:off x="543154" y="2084832"/>
            <a:ext cx="11087100" cy="301752"/>
            <a:chOff x="543154" y="2084832"/>
            <a:chExt cx="11087100" cy="301752"/>
          </a:xfrm>
        </p:grpSpPr>
        <p:sp>
          <p:nvSpPr>
            <p:cNvPr id="108" name="t_r1_bg"/>
            <p:cNvSpPr/>
            <p:nvPr/>
          </p:nvSpPr>
          <p:spPr>
            <a:xfrm>
              <a:off x="543154" y="2084832"/>
              <a:ext cx="11087100" cy="30175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9" name="t_r1_c0"/>
            <p:cNvSpPr txBox="1"/>
            <p:nvPr/>
          </p:nvSpPr>
          <p:spPr>
            <a:xfrm>
              <a:off x="689458" y="2084832"/>
              <a:ext cx="34747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DirectoryNotFoundException</a:t>
              </a:r>
              <a:endParaRPr lang="en-US" sz="1050" dirty="0"/>
            </a:p>
          </p:txBody>
        </p:sp>
        <p:sp>
          <p:nvSpPr>
            <p:cNvPr id="110" name="t_r1_c1"/>
            <p:cNvSpPr txBox="1"/>
            <p:nvPr/>
          </p:nvSpPr>
          <p:spPr>
            <a:xfrm>
              <a:off x="4347058" y="2084832"/>
              <a:ext cx="72466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the folder is missing</a:t>
              </a:r>
              <a:endParaRPr lang="en-US" sz="1050" dirty="0"/>
            </a:p>
          </p:txBody>
        </p:sp>
      </p:grpSp>
      <p:grpSp>
        <p:nvGrpSpPr>
          <p:cNvPr id="115" name="t_r2"/>
          <p:cNvGrpSpPr/>
          <p:nvPr/>
        </p:nvGrpSpPr>
        <p:grpSpPr>
          <a:xfrm>
            <a:off x="543154" y="2423160"/>
            <a:ext cx="11087100" cy="301752"/>
            <a:chOff x="543154" y="2423160"/>
            <a:chExt cx="11087100" cy="301752"/>
          </a:xfrm>
        </p:grpSpPr>
        <p:sp>
          <p:nvSpPr>
            <p:cNvPr id="112" name="t_r2_bg"/>
            <p:cNvSpPr/>
            <p:nvPr/>
          </p:nvSpPr>
          <p:spPr>
            <a:xfrm>
              <a:off x="543154" y="2423160"/>
              <a:ext cx="11087100" cy="30175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3" name="t_r2_c0"/>
            <p:cNvSpPr txBox="1"/>
            <p:nvPr/>
          </p:nvSpPr>
          <p:spPr>
            <a:xfrm>
              <a:off x="689458" y="2423160"/>
              <a:ext cx="34747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UnauthorizedAccessException</a:t>
              </a:r>
              <a:endParaRPr lang="en-US" sz="1050" dirty="0"/>
            </a:p>
          </p:txBody>
        </p:sp>
        <p:sp>
          <p:nvSpPr>
            <p:cNvPr id="114" name="t_r2_c1"/>
            <p:cNvSpPr txBox="1"/>
            <p:nvPr/>
          </p:nvSpPr>
          <p:spPr>
            <a:xfrm>
              <a:off x="4347058" y="2423160"/>
              <a:ext cx="72466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not enough permission</a:t>
              </a:r>
              <a:endParaRPr lang="en-US" sz="1050" dirty="0"/>
            </a:p>
          </p:txBody>
        </p:sp>
      </p:grpSp>
      <p:grpSp>
        <p:nvGrpSpPr>
          <p:cNvPr id="119" name="t_r3"/>
          <p:cNvGrpSpPr/>
          <p:nvPr/>
        </p:nvGrpSpPr>
        <p:grpSpPr>
          <a:xfrm>
            <a:off x="543154" y="2761488"/>
            <a:ext cx="11087100" cy="301752"/>
            <a:chOff x="543154" y="2761488"/>
            <a:chExt cx="11087100" cy="301752"/>
          </a:xfrm>
        </p:grpSpPr>
        <p:sp>
          <p:nvSpPr>
            <p:cNvPr id="116" name="t_r3_bg"/>
            <p:cNvSpPr/>
            <p:nvPr/>
          </p:nvSpPr>
          <p:spPr>
            <a:xfrm>
              <a:off x="543154" y="2761488"/>
              <a:ext cx="11087100" cy="30175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7" name="t_r3_c0"/>
            <p:cNvSpPr txBox="1"/>
            <p:nvPr/>
          </p:nvSpPr>
          <p:spPr>
            <a:xfrm>
              <a:off x="689458" y="2761488"/>
              <a:ext cx="34747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IOException</a:t>
              </a:r>
              <a:endParaRPr lang="en-US" sz="1050" dirty="0"/>
            </a:p>
          </p:txBody>
        </p:sp>
        <p:sp>
          <p:nvSpPr>
            <p:cNvPr id="118" name="t_r3_c1"/>
            <p:cNvSpPr txBox="1"/>
            <p:nvPr/>
          </p:nvSpPr>
          <p:spPr>
            <a:xfrm>
              <a:off x="4347058" y="2761488"/>
              <a:ext cx="72466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general I/O failure, e.g. the file is used by another process</a:t>
              </a:r>
              <a:endParaRPr lang="en-US" sz="1050" dirty="0"/>
            </a:p>
          </p:txBody>
        </p:sp>
      </p:grpSp>
      <p:grpSp>
        <p:nvGrpSpPr>
          <p:cNvPr id="123" name="t_r4"/>
          <p:cNvGrpSpPr/>
          <p:nvPr/>
        </p:nvGrpSpPr>
        <p:grpSpPr>
          <a:xfrm>
            <a:off x="543154" y="3099816"/>
            <a:ext cx="11087100" cy="301752"/>
            <a:chOff x="543154" y="3099816"/>
            <a:chExt cx="11087100" cy="301752"/>
          </a:xfrm>
        </p:grpSpPr>
        <p:sp>
          <p:nvSpPr>
            <p:cNvPr id="120" name="t_r4_bg"/>
            <p:cNvSpPr/>
            <p:nvPr/>
          </p:nvSpPr>
          <p:spPr>
            <a:xfrm>
              <a:off x="543154" y="3099816"/>
              <a:ext cx="11087100" cy="301752"/>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1" name="t_r4_c0"/>
            <p:cNvSpPr txBox="1"/>
            <p:nvPr/>
          </p:nvSpPr>
          <p:spPr>
            <a:xfrm>
              <a:off x="689458" y="3099816"/>
              <a:ext cx="34747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JsonException</a:t>
              </a:r>
              <a:endParaRPr lang="en-US" sz="1050" dirty="0"/>
            </a:p>
          </p:txBody>
        </p:sp>
        <p:sp>
          <p:nvSpPr>
            <p:cNvPr id="122" name="t_r4_c1"/>
            <p:cNvSpPr txBox="1"/>
            <p:nvPr/>
          </p:nvSpPr>
          <p:spPr>
            <a:xfrm>
              <a:off x="4347058" y="3099816"/>
              <a:ext cx="7246620" cy="30175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invalid JSON while deserializing </a:t>
              </a:r>
              <a:endParaRPr lang="en-US" sz="1050" dirty="0"/>
            </a:p>
          </p:txBody>
        </p:sp>
      </p:grpSp>
      <p:grpSp>
        <p:nvGrpSpPr>
          <p:cNvPr id="137" name="dont"/>
          <p:cNvGrpSpPr/>
          <p:nvPr/>
        </p:nvGrpSpPr>
        <p:grpSpPr>
          <a:xfrm>
            <a:off x="543154" y="3547872"/>
            <a:ext cx="4297680" cy="1783080"/>
            <a:chOff x="543154" y="3547872"/>
            <a:chExt cx="4297680" cy="1783080"/>
          </a:xfrm>
        </p:grpSpPr>
        <p:sp>
          <p:nvSpPr>
            <p:cNvPr id="124" name="dont_win"/>
            <p:cNvSpPr/>
            <p:nvPr/>
          </p:nvSpPr>
          <p:spPr>
            <a:xfrm>
              <a:off x="543154" y="3547872"/>
              <a:ext cx="4297680" cy="1783080"/>
            </a:xfrm>
            <a:prstGeom prst="roundRect">
              <a:avLst>
                <a:gd name="adj" fmla="val 3844"/>
              </a:avLst>
            </a:prstGeom>
            <a:solidFill>
              <a:srgbClr val="060D18"/>
            </a:solidFill>
            <a:ln w="12700">
              <a:solidFill>
                <a:srgbClr val="1E3A5F"/>
              </a:solidFill>
              <a:prstDash val="solid"/>
            </a:ln>
          </p:spPr>
          <p:txBody>
            <a:bodyPr/>
            <a:lstStyle/>
            <a:p>
              <a:endParaRPr lang="en-US"/>
            </a:p>
          </p:txBody>
        </p:sp>
        <p:sp>
          <p:nvSpPr>
            <p:cNvPr id="125" name="dont_bar"/>
            <p:cNvSpPr/>
            <p:nvPr/>
          </p:nvSpPr>
          <p:spPr>
            <a:xfrm>
              <a:off x="543154" y="3547872"/>
              <a:ext cx="4297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6" name="dont_barfill"/>
            <p:cNvSpPr/>
            <p:nvPr/>
          </p:nvSpPr>
          <p:spPr>
            <a:xfrm>
              <a:off x="543154" y="3719322"/>
              <a:ext cx="4297680" cy="171450"/>
            </a:xfrm>
            <a:prstGeom prst="rect">
              <a:avLst/>
            </a:prstGeom>
            <a:solidFill>
              <a:srgbClr val="0A1220"/>
            </a:solidFill>
            <a:ln w="12700">
              <a:solidFill>
                <a:srgbClr val="0A1220"/>
              </a:solidFill>
              <a:prstDash val="solid"/>
            </a:ln>
          </p:spPr>
          <p:txBody>
            <a:bodyPr/>
            <a:lstStyle/>
            <a:p>
              <a:endParaRPr lang="en-US"/>
            </a:p>
          </p:txBody>
        </p:sp>
        <p:sp>
          <p:nvSpPr>
            <p:cNvPr id="127" name="dont_dot0"/>
            <p:cNvSpPr/>
            <p:nvPr/>
          </p:nvSpPr>
          <p:spPr>
            <a:xfrm>
              <a:off x="705002" y="3671682"/>
              <a:ext cx="95098" cy="95098"/>
            </a:xfrm>
            <a:prstGeom prst="ellipse">
              <a:avLst/>
            </a:prstGeom>
            <a:solidFill>
              <a:srgbClr val="F87171"/>
            </a:solidFill>
            <a:ln w="12700">
              <a:solidFill>
                <a:srgbClr val="F87171"/>
              </a:solidFill>
              <a:prstDash val="solid"/>
            </a:ln>
          </p:spPr>
          <p:txBody>
            <a:bodyPr/>
            <a:lstStyle/>
            <a:p>
              <a:endParaRPr lang="en-US"/>
            </a:p>
          </p:txBody>
        </p:sp>
        <p:sp>
          <p:nvSpPr>
            <p:cNvPr id="128" name="dont_dot1"/>
            <p:cNvSpPr/>
            <p:nvPr/>
          </p:nvSpPr>
          <p:spPr>
            <a:xfrm>
              <a:off x="890626" y="3671682"/>
              <a:ext cx="95098" cy="95098"/>
            </a:xfrm>
            <a:prstGeom prst="ellipse">
              <a:avLst/>
            </a:prstGeom>
            <a:solidFill>
              <a:srgbClr val="FBBF24"/>
            </a:solidFill>
            <a:ln w="12700">
              <a:solidFill>
                <a:srgbClr val="FBBF24"/>
              </a:solidFill>
              <a:prstDash val="solid"/>
            </a:ln>
          </p:spPr>
          <p:txBody>
            <a:bodyPr/>
            <a:lstStyle/>
            <a:p>
              <a:endParaRPr lang="en-US"/>
            </a:p>
          </p:txBody>
        </p:sp>
        <p:sp>
          <p:nvSpPr>
            <p:cNvPr id="129" name="dont_dot2"/>
            <p:cNvSpPr/>
            <p:nvPr/>
          </p:nvSpPr>
          <p:spPr>
            <a:xfrm>
              <a:off x="1076250" y="3671682"/>
              <a:ext cx="95098" cy="95098"/>
            </a:xfrm>
            <a:prstGeom prst="ellipse">
              <a:avLst/>
            </a:prstGeom>
            <a:solidFill>
              <a:srgbClr val="34D399"/>
            </a:solidFill>
            <a:ln w="12700">
              <a:solidFill>
                <a:srgbClr val="34D399"/>
              </a:solidFill>
              <a:prstDash val="solid"/>
            </a:ln>
          </p:spPr>
          <p:txBody>
            <a:bodyPr/>
            <a:lstStyle/>
            <a:p>
              <a:endParaRPr lang="en-US"/>
            </a:p>
          </p:txBody>
        </p:sp>
        <p:sp>
          <p:nvSpPr>
            <p:cNvPr id="130" name="dont_tab"/>
            <p:cNvSpPr/>
            <p:nvPr/>
          </p:nvSpPr>
          <p:spPr>
            <a:xfrm>
              <a:off x="1324051" y="3595421"/>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31" name="dont_lbl"/>
            <p:cNvSpPr/>
            <p:nvPr/>
          </p:nvSpPr>
          <p:spPr>
            <a:xfrm>
              <a:off x="3514954" y="3611880"/>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32" name="dont_L00"/>
            <p:cNvSpPr txBox="1"/>
            <p:nvPr/>
          </p:nvSpPr>
          <p:spPr>
            <a:xfrm>
              <a:off x="771754" y="4023772"/>
              <a:ext cx="39976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if</a:t>
              </a:r>
              <a:r>
                <a:rPr lang="en-US" sz="860" b="0" dirty="0">
                  <a:solidFill>
                    <a:srgbClr val="E2E8F0"/>
                  </a:solidFill>
                  <a:latin typeface="Consolas"/>
                  <a:ea typeface="Consolas"/>
                  <a:cs typeface="Consolas"/>
                </a:rPr>
                <a:t> (File.Exists(path))</a:t>
              </a:r>
              <a:endParaRPr lang="en-US" sz="860" dirty="0"/>
            </a:p>
          </p:txBody>
        </p:sp>
        <p:sp>
          <p:nvSpPr>
            <p:cNvPr id="133" name="dont_L01"/>
            <p:cNvSpPr txBox="1"/>
            <p:nvPr/>
          </p:nvSpPr>
          <p:spPr>
            <a:xfrm>
              <a:off x="771754" y="4183772"/>
              <a:ext cx="39976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34" name="dont_L02"/>
            <p:cNvSpPr txBox="1"/>
            <p:nvPr/>
          </p:nvSpPr>
          <p:spPr>
            <a:xfrm>
              <a:off x="771754" y="4343772"/>
              <a:ext cx="39976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FAE7A"/>
                  </a:solidFill>
                  <a:latin typeface="Consolas"/>
                  <a:ea typeface="Consolas"/>
                  <a:cs typeface="Consolas"/>
                </a:rPr>
                <a:t>// the file can be deleted or locked HERE</a:t>
              </a:r>
              <a:endParaRPr lang="en-US" sz="860" dirty="0"/>
            </a:p>
          </p:txBody>
        </p:sp>
        <p:sp>
          <p:nvSpPr>
            <p:cNvPr id="135" name="dont_L03"/>
            <p:cNvSpPr txBox="1"/>
            <p:nvPr/>
          </p:nvSpPr>
          <p:spPr>
            <a:xfrm>
              <a:off x="771754" y="4503772"/>
              <a:ext cx="39976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text = File.ReadAllText(path);   </a:t>
              </a:r>
              <a:r>
                <a:rPr lang="en-US" sz="860" b="0" dirty="0">
                  <a:solidFill>
                    <a:srgbClr val="6FAE7A"/>
                  </a:solidFill>
                  <a:latin typeface="Consolas"/>
                  <a:ea typeface="Consolas"/>
                  <a:cs typeface="Consolas"/>
                </a:rPr>
                <a:t>// can still throw</a:t>
              </a:r>
              <a:endParaRPr lang="en-US" sz="860" dirty="0"/>
            </a:p>
          </p:txBody>
        </p:sp>
        <p:sp>
          <p:nvSpPr>
            <p:cNvPr id="136" name="dont_L04"/>
            <p:cNvSpPr txBox="1"/>
            <p:nvPr/>
          </p:nvSpPr>
          <p:spPr>
            <a:xfrm>
              <a:off x="771754" y="4663772"/>
              <a:ext cx="39976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grpSp>
      <p:sp>
        <p:nvSpPr>
          <p:cNvPr id="138" name="dont_hl2"/>
          <p:cNvSpPr/>
          <p:nvPr/>
        </p:nvSpPr>
        <p:spPr>
          <a:xfrm>
            <a:off x="676656" y="4325484"/>
            <a:ext cx="4030680" cy="196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55" name="do"/>
          <p:cNvGrpSpPr/>
          <p:nvPr/>
        </p:nvGrpSpPr>
        <p:grpSpPr>
          <a:xfrm>
            <a:off x="5115154" y="3547872"/>
            <a:ext cx="6515100" cy="1828800"/>
            <a:chOff x="5115154" y="3547872"/>
            <a:chExt cx="6515100" cy="1828800"/>
          </a:xfrm>
        </p:grpSpPr>
        <p:sp>
          <p:nvSpPr>
            <p:cNvPr id="139" name="do_win"/>
            <p:cNvSpPr/>
            <p:nvPr/>
          </p:nvSpPr>
          <p:spPr>
            <a:xfrm>
              <a:off x="5115154" y="3547872"/>
              <a:ext cx="6515100" cy="1828800"/>
            </a:xfrm>
            <a:prstGeom prst="roundRect">
              <a:avLst>
                <a:gd name="adj" fmla="val 3748"/>
              </a:avLst>
            </a:prstGeom>
            <a:solidFill>
              <a:srgbClr val="060D18"/>
            </a:solidFill>
            <a:ln w="12700">
              <a:solidFill>
                <a:srgbClr val="1E3A5F"/>
              </a:solidFill>
              <a:prstDash val="solid"/>
            </a:ln>
          </p:spPr>
          <p:txBody>
            <a:bodyPr/>
            <a:lstStyle/>
            <a:p>
              <a:endParaRPr lang="en-US"/>
            </a:p>
          </p:txBody>
        </p:sp>
        <p:sp>
          <p:nvSpPr>
            <p:cNvPr id="140" name="do_bar"/>
            <p:cNvSpPr/>
            <p:nvPr/>
          </p:nvSpPr>
          <p:spPr>
            <a:xfrm>
              <a:off x="5115154" y="3547872"/>
              <a:ext cx="6515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1" name="do_barfill"/>
            <p:cNvSpPr/>
            <p:nvPr/>
          </p:nvSpPr>
          <p:spPr>
            <a:xfrm>
              <a:off x="5115154" y="3719322"/>
              <a:ext cx="6515100" cy="171450"/>
            </a:xfrm>
            <a:prstGeom prst="rect">
              <a:avLst/>
            </a:prstGeom>
            <a:solidFill>
              <a:srgbClr val="0A1220"/>
            </a:solidFill>
            <a:ln w="12700">
              <a:solidFill>
                <a:srgbClr val="0A1220"/>
              </a:solidFill>
              <a:prstDash val="solid"/>
            </a:ln>
          </p:spPr>
          <p:txBody>
            <a:bodyPr/>
            <a:lstStyle/>
            <a:p>
              <a:endParaRPr lang="en-US"/>
            </a:p>
          </p:txBody>
        </p:sp>
        <p:sp>
          <p:nvSpPr>
            <p:cNvPr id="142" name="do_dot0"/>
            <p:cNvSpPr/>
            <p:nvPr/>
          </p:nvSpPr>
          <p:spPr>
            <a:xfrm>
              <a:off x="5277002" y="3671682"/>
              <a:ext cx="95098" cy="95098"/>
            </a:xfrm>
            <a:prstGeom prst="ellipse">
              <a:avLst/>
            </a:prstGeom>
            <a:solidFill>
              <a:srgbClr val="F87171"/>
            </a:solidFill>
            <a:ln w="12700">
              <a:solidFill>
                <a:srgbClr val="F87171"/>
              </a:solidFill>
              <a:prstDash val="solid"/>
            </a:ln>
          </p:spPr>
          <p:txBody>
            <a:bodyPr/>
            <a:lstStyle/>
            <a:p>
              <a:endParaRPr lang="en-US"/>
            </a:p>
          </p:txBody>
        </p:sp>
        <p:sp>
          <p:nvSpPr>
            <p:cNvPr id="143" name="do_dot1"/>
            <p:cNvSpPr/>
            <p:nvPr/>
          </p:nvSpPr>
          <p:spPr>
            <a:xfrm>
              <a:off x="5462626" y="3671682"/>
              <a:ext cx="95098" cy="95098"/>
            </a:xfrm>
            <a:prstGeom prst="ellipse">
              <a:avLst/>
            </a:prstGeom>
            <a:solidFill>
              <a:srgbClr val="FBBF24"/>
            </a:solidFill>
            <a:ln w="12700">
              <a:solidFill>
                <a:srgbClr val="FBBF24"/>
              </a:solidFill>
              <a:prstDash val="solid"/>
            </a:ln>
          </p:spPr>
          <p:txBody>
            <a:bodyPr/>
            <a:lstStyle/>
            <a:p>
              <a:endParaRPr lang="en-US"/>
            </a:p>
          </p:txBody>
        </p:sp>
        <p:sp>
          <p:nvSpPr>
            <p:cNvPr id="144" name="do_dot2"/>
            <p:cNvSpPr/>
            <p:nvPr/>
          </p:nvSpPr>
          <p:spPr>
            <a:xfrm>
              <a:off x="5648250" y="3671682"/>
              <a:ext cx="95098" cy="95098"/>
            </a:xfrm>
            <a:prstGeom prst="ellipse">
              <a:avLst/>
            </a:prstGeom>
            <a:solidFill>
              <a:srgbClr val="34D399"/>
            </a:solidFill>
            <a:ln w="12700">
              <a:solidFill>
                <a:srgbClr val="34D399"/>
              </a:solidFill>
              <a:prstDash val="solid"/>
            </a:ln>
          </p:spPr>
          <p:txBody>
            <a:bodyPr/>
            <a:lstStyle/>
            <a:p>
              <a:endParaRPr lang="en-US"/>
            </a:p>
          </p:txBody>
        </p:sp>
        <p:sp>
          <p:nvSpPr>
            <p:cNvPr id="145" name="do_tab"/>
            <p:cNvSpPr/>
            <p:nvPr/>
          </p:nvSpPr>
          <p:spPr>
            <a:xfrm>
              <a:off x="5896051" y="3595421"/>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46" name="do_lbl"/>
            <p:cNvSpPr/>
            <p:nvPr/>
          </p:nvSpPr>
          <p:spPr>
            <a:xfrm>
              <a:off x="10304374" y="3611880"/>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47" name="do_L00"/>
            <p:cNvSpPr txBox="1"/>
            <p:nvPr/>
          </p:nvSpPr>
          <p:spPr>
            <a:xfrm>
              <a:off x="5343754" y="4023772"/>
              <a:ext cx="62151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try</a:t>
              </a:r>
              <a:endParaRPr lang="en-US" sz="860" dirty="0"/>
            </a:p>
          </p:txBody>
        </p:sp>
        <p:sp>
          <p:nvSpPr>
            <p:cNvPr id="148" name="do_L01"/>
            <p:cNvSpPr txBox="1"/>
            <p:nvPr/>
          </p:nvSpPr>
          <p:spPr>
            <a:xfrm>
              <a:off x="5343754" y="4173772"/>
              <a:ext cx="62151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49" name="do_L02"/>
            <p:cNvSpPr txBox="1"/>
            <p:nvPr/>
          </p:nvSpPr>
          <p:spPr>
            <a:xfrm>
              <a:off x="5343754" y="4323772"/>
              <a:ext cx="621510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text = File.ReadAllText(path);</a:t>
              </a:r>
              <a:endParaRPr lang="en-US" sz="860" dirty="0"/>
            </a:p>
          </p:txBody>
        </p:sp>
        <p:sp>
          <p:nvSpPr>
            <p:cNvPr id="150" name="do_L03"/>
            <p:cNvSpPr txBox="1"/>
            <p:nvPr/>
          </p:nvSpPr>
          <p:spPr>
            <a:xfrm>
              <a:off x="5343754" y="4473772"/>
              <a:ext cx="62151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51" name="do_L04"/>
            <p:cNvSpPr txBox="1"/>
            <p:nvPr/>
          </p:nvSpPr>
          <p:spPr>
            <a:xfrm>
              <a:off x="5343754" y="4623772"/>
              <a:ext cx="62151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catch</a:t>
              </a:r>
              <a:r>
                <a:rPr lang="en-US" sz="860" b="0" dirty="0">
                  <a:solidFill>
                    <a:srgbClr val="E2E8F0"/>
                  </a:solidFill>
                  <a:latin typeface="Consolas"/>
                  <a:ea typeface="Consolas"/>
                  <a:cs typeface="Consolas"/>
                </a:rPr>
                <a:t> (FileNotFoundException)       { Console.WriteLine(</a:t>
              </a:r>
              <a:r>
                <a:rPr lang="en-US" sz="860" b="0" dirty="0">
                  <a:solidFill>
                    <a:srgbClr val="F0A98B"/>
                  </a:solidFill>
                  <a:latin typeface="Consolas"/>
                  <a:ea typeface="Consolas"/>
                  <a:cs typeface="Consolas"/>
                </a:rPr>
                <a:t>"File is missing"</a:t>
              </a:r>
              <a:r>
                <a:rPr lang="en-US" sz="860" b="0" dirty="0">
                  <a:solidFill>
                    <a:srgbClr val="E2E8F0"/>
                  </a:solidFill>
                  <a:latin typeface="Consolas"/>
                  <a:ea typeface="Consolas"/>
                  <a:cs typeface="Consolas"/>
                </a:rPr>
                <a:t>); }</a:t>
              </a:r>
              <a:endParaRPr lang="en-US" sz="860" dirty="0"/>
            </a:p>
          </p:txBody>
        </p:sp>
        <p:sp>
          <p:nvSpPr>
            <p:cNvPr id="152" name="do_L05"/>
            <p:cNvSpPr txBox="1"/>
            <p:nvPr/>
          </p:nvSpPr>
          <p:spPr>
            <a:xfrm>
              <a:off x="5343754" y="4773772"/>
              <a:ext cx="62151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catch</a:t>
              </a:r>
              <a:r>
                <a:rPr lang="en-US" sz="860" b="0" dirty="0">
                  <a:solidFill>
                    <a:srgbClr val="E2E8F0"/>
                  </a:solidFill>
                  <a:latin typeface="Consolas"/>
                  <a:ea typeface="Consolas"/>
                  <a:cs typeface="Consolas"/>
                </a:rPr>
                <a:t> (DirectoryNotFoundException)  { Console.WriteLine(</a:t>
              </a:r>
              <a:r>
                <a:rPr lang="en-US" sz="860" b="0" dirty="0">
                  <a:solidFill>
                    <a:srgbClr val="F0A98B"/>
                  </a:solidFill>
                  <a:latin typeface="Consolas"/>
                  <a:ea typeface="Consolas"/>
                  <a:cs typeface="Consolas"/>
                </a:rPr>
                <a:t>"Folder is missing"</a:t>
              </a:r>
              <a:r>
                <a:rPr lang="en-US" sz="860" b="0" dirty="0">
                  <a:solidFill>
                    <a:srgbClr val="E2E8F0"/>
                  </a:solidFill>
                  <a:latin typeface="Consolas"/>
                  <a:ea typeface="Consolas"/>
                  <a:cs typeface="Consolas"/>
                </a:rPr>
                <a:t>); }</a:t>
              </a:r>
              <a:endParaRPr lang="en-US" sz="860" dirty="0"/>
            </a:p>
          </p:txBody>
        </p:sp>
        <p:sp>
          <p:nvSpPr>
            <p:cNvPr id="153" name="do_L06"/>
            <p:cNvSpPr txBox="1"/>
            <p:nvPr/>
          </p:nvSpPr>
          <p:spPr>
            <a:xfrm>
              <a:off x="5343754" y="4923772"/>
              <a:ext cx="62151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catch</a:t>
              </a:r>
              <a:r>
                <a:rPr lang="en-US" sz="860" b="0" dirty="0">
                  <a:solidFill>
                    <a:srgbClr val="E2E8F0"/>
                  </a:solidFill>
                  <a:latin typeface="Consolas"/>
                  <a:ea typeface="Consolas"/>
                  <a:cs typeface="Consolas"/>
                </a:rPr>
                <a:t> (UnauthorizedAccessException) { Console.WriteLine(</a:t>
              </a:r>
              <a:r>
                <a:rPr lang="en-US" sz="860" b="0" dirty="0">
                  <a:solidFill>
                    <a:srgbClr val="F0A98B"/>
                  </a:solidFill>
                  <a:latin typeface="Consolas"/>
                  <a:ea typeface="Consolas"/>
                  <a:cs typeface="Consolas"/>
                </a:rPr>
                <a:t>"No permission"</a:t>
              </a:r>
              <a:r>
                <a:rPr lang="en-US" sz="860" b="0" dirty="0">
                  <a:solidFill>
                    <a:srgbClr val="E2E8F0"/>
                  </a:solidFill>
                  <a:latin typeface="Consolas"/>
                  <a:ea typeface="Consolas"/>
                  <a:cs typeface="Consolas"/>
                </a:rPr>
                <a:t>); }</a:t>
              </a:r>
              <a:endParaRPr lang="en-US" sz="860" dirty="0"/>
            </a:p>
          </p:txBody>
        </p:sp>
        <p:sp>
          <p:nvSpPr>
            <p:cNvPr id="154" name="do_L07"/>
            <p:cNvSpPr txBox="1"/>
            <p:nvPr/>
          </p:nvSpPr>
          <p:spPr>
            <a:xfrm>
              <a:off x="5343754" y="5073772"/>
              <a:ext cx="62151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catch</a:t>
              </a:r>
              <a:r>
                <a:rPr lang="en-US" sz="860" b="0" dirty="0">
                  <a:solidFill>
                    <a:srgbClr val="E2E8F0"/>
                  </a:solidFill>
                  <a:latin typeface="Consolas"/>
                  <a:ea typeface="Consolas"/>
                  <a:cs typeface="Consolas"/>
                </a:rPr>
                <a:t> (IOException ex)              { Console.WriteLine(</a:t>
              </a:r>
              <a:r>
                <a:rPr lang="en-US" sz="860" b="0" dirty="0">
                  <a:solidFill>
                    <a:srgbClr val="F0A98B"/>
                  </a:solidFill>
                  <a:latin typeface="Consolas"/>
                  <a:ea typeface="Consolas"/>
                  <a:cs typeface="Consolas"/>
                </a:rPr>
                <a:t>$"I/O problem: {ex.Message}"</a:t>
              </a:r>
              <a:r>
                <a:rPr lang="en-US" sz="860" b="0" dirty="0">
                  <a:solidFill>
                    <a:srgbClr val="E2E8F0"/>
                  </a:solidFill>
                  <a:latin typeface="Consolas"/>
                  <a:ea typeface="Consolas"/>
                  <a:cs typeface="Consolas"/>
                </a:rPr>
                <a:t>); }</a:t>
              </a:r>
              <a:endParaRPr lang="en-US" sz="860" dirty="0"/>
            </a:p>
          </p:txBody>
        </p:sp>
      </p:grpSp>
      <p:sp>
        <p:nvSpPr>
          <p:cNvPr id="156" name="do_hl4"/>
          <p:cNvSpPr/>
          <p:nvPr/>
        </p:nvSpPr>
        <p:spPr>
          <a:xfrm>
            <a:off x="5248656" y="4605484"/>
            <a:ext cx="624810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7" name="do_hl5"/>
          <p:cNvSpPr/>
          <p:nvPr/>
        </p:nvSpPr>
        <p:spPr>
          <a:xfrm>
            <a:off x="5248656" y="4755484"/>
            <a:ext cx="624810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8" name="o"/>
          <p:cNvSpPr txBox="1"/>
          <p:nvPr/>
        </p:nvSpPr>
        <p:spPr>
          <a:xfrm>
            <a:off x="5115154" y="5394960"/>
            <a:ext cx="651510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Our run: </a:t>
            </a:r>
            <a:r>
              <a:rPr lang="en-US" sz="1000" b="0" dirty="0">
                <a:solidFill>
                  <a:srgbClr val="34D399"/>
                </a:solidFill>
                <a:latin typeface="Consolas"/>
                <a:ea typeface="Consolas"/>
                <a:cs typeface="Consolas"/>
              </a:rPr>
              <a:t>File is missing</a:t>
            </a:r>
            <a:r>
              <a:rPr lang="en-US" sz="1000" b="0" dirty="0">
                <a:solidFill>
                  <a:srgbClr val="CBD5E1"/>
                </a:solidFill>
                <a:latin typeface="Segoe UI"/>
                <a:ea typeface="Segoe UI"/>
                <a:cs typeface="Segoe UI"/>
              </a:rPr>
              <a:t>   · specific exceptions first, IOException last</a:t>
            </a:r>
            <a:endParaRPr lang="en-US" sz="1000" dirty="0"/>
          </a:p>
        </p:txBody>
      </p:sp>
      <p:sp>
        <p:nvSpPr>
          <p:cNvPr id="159" name="k"/>
          <p:cNvSpPr txBox="1"/>
          <p:nvPr/>
        </p:nvSpPr>
        <p:spPr>
          <a:xfrm>
            <a:off x="543154" y="5394960"/>
            <a:ext cx="42976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F87171"/>
                </a:solidFill>
                <a:latin typeface="Segoe UI"/>
                <a:ea typeface="Segoe UI"/>
                <a:cs typeface="Segoe UI"/>
              </a:rPr>
              <a:t>File.Exists then read is not a guarantee.</a:t>
            </a:r>
            <a:endParaRPr lang="en-US" sz="1000" dirty="0"/>
          </a:p>
        </p:txBody>
      </p:sp>
    </p:spTree>
    <p:extLst>
      <p:ext uri="{BB962C8B-B14F-4D97-AF65-F5344CB8AC3E}">
        <p14:creationId xmlns:p14="http://schemas.microsoft.com/office/powerpoint/2010/main" val="50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400"/>
                                        <p:tgtEl>
                                          <p:spTgt spid="10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07"/>
                                        </p:tgtEl>
                                        <p:attrNameLst>
                                          <p:attrName>style.visibility</p:attrName>
                                        </p:attrNameLst>
                                      </p:cBhvr>
                                      <p:to>
                                        <p:strVal val="visible"/>
                                      </p:to>
                                    </p:set>
                                    <p:animEffect transition="in" filter="fade">
                                      <p:cBhvr>
                                        <p:cTn id="11" dur="150"/>
                                        <p:tgtEl>
                                          <p:spTgt spid="107"/>
                                        </p:tgtEl>
                                      </p:cBhvr>
                                    </p:animEffect>
                                  </p:childTnLst>
                                </p:cTn>
                              </p:par>
                            </p:childTnLst>
                          </p:cTn>
                        </p:par>
                        <p:par>
                          <p:cTn id="12" fill="hold">
                            <p:stCondLst>
                              <p:cond delay="550"/>
                            </p:stCondLst>
                            <p:childTnLst>
                              <p:par>
                                <p:cTn id="13" presetID="10" presetClass="entr" presetSubtype="0" fill="hold"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fade">
                                      <p:cBhvr>
                                        <p:cTn id="15" dur="150"/>
                                        <p:tgtEl>
                                          <p:spTgt spid="111"/>
                                        </p:tgtEl>
                                      </p:cBhvr>
                                    </p:animEffect>
                                  </p:childTnLst>
                                </p:cTn>
                              </p:par>
                            </p:childTnLst>
                          </p:cTn>
                        </p:par>
                        <p:par>
                          <p:cTn id="16" fill="hold">
                            <p:stCondLst>
                              <p:cond delay="700"/>
                            </p:stCondLst>
                            <p:childTnLst>
                              <p:par>
                                <p:cTn id="17" presetID="10" presetClass="entr" presetSubtype="0" fill="hold" nodeType="afterEffect">
                                  <p:stCondLst>
                                    <p:cond delay="0"/>
                                  </p:stCondLst>
                                  <p:childTnLst>
                                    <p:set>
                                      <p:cBhvr>
                                        <p:cTn id="18" dur="1" fill="hold">
                                          <p:stCondLst>
                                            <p:cond delay="0"/>
                                          </p:stCondLst>
                                        </p:cTn>
                                        <p:tgtEl>
                                          <p:spTgt spid="115"/>
                                        </p:tgtEl>
                                        <p:attrNameLst>
                                          <p:attrName>style.visibility</p:attrName>
                                        </p:attrNameLst>
                                      </p:cBhvr>
                                      <p:to>
                                        <p:strVal val="visible"/>
                                      </p:to>
                                    </p:set>
                                    <p:animEffect transition="in" filter="fade">
                                      <p:cBhvr>
                                        <p:cTn id="19" dur="150"/>
                                        <p:tgtEl>
                                          <p:spTgt spid="115"/>
                                        </p:tgtEl>
                                      </p:cBhvr>
                                    </p:animEffect>
                                  </p:childTnLst>
                                </p:cTn>
                              </p:par>
                            </p:childTnLst>
                          </p:cTn>
                        </p:par>
                        <p:par>
                          <p:cTn id="20" fill="hold">
                            <p:stCondLst>
                              <p:cond delay="850"/>
                            </p:stCondLst>
                            <p:childTnLst>
                              <p:par>
                                <p:cTn id="21" presetID="10" presetClass="entr" presetSubtype="0" fill="hold" nodeType="afterEffect">
                                  <p:stCondLst>
                                    <p:cond delay="0"/>
                                  </p:stCondLst>
                                  <p:childTnLst>
                                    <p:set>
                                      <p:cBhvr>
                                        <p:cTn id="22" dur="1" fill="hold">
                                          <p:stCondLst>
                                            <p:cond delay="0"/>
                                          </p:stCondLst>
                                        </p:cTn>
                                        <p:tgtEl>
                                          <p:spTgt spid="119"/>
                                        </p:tgtEl>
                                        <p:attrNameLst>
                                          <p:attrName>style.visibility</p:attrName>
                                        </p:attrNameLst>
                                      </p:cBhvr>
                                      <p:to>
                                        <p:strVal val="visible"/>
                                      </p:to>
                                    </p:set>
                                    <p:animEffect transition="in" filter="fade">
                                      <p:cBhvr>
                                        <p:cTn id="23" dur="150"/>
                                        <p:tgtEl>
                                          <p:spTgt spid="119"/>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123"/>
                                        </p:tgtEl>
                                        <p:attrNameLst>
                                          <p:attrName>style.visibility</p:attrName>
                                        </p:attrNameLst>
                                      </p:cBhvr>
                                      <p:to>
                                        <p:strVal val="visible"/>
                                      </p:to>
                                    </p:set>
                                    <p:animEffect transition="in" filter="fade">
                                      <p:cBhvr>
                                        <p:cTn id="27" dur="150"/>
                                        <p:tgtEl>
                                          <p:spTgt spid="1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7"/>
                                        </p:tgtEl>
                                        <p:attrNameLst>
                                          <p:attrName>style.visibility</p:attrName>
                                        </p:attrNameLst>
                                      </p:cBhvr>
                                      <p:to>
                                        <p:strVal val="visible"/>
                                      </p:to>
                                    </p:set>
                                    <p:animEffect transition="in" filter="fade">
                                      <p:cBhvr>
                                        <p:cTn id="32" dur="400"/>
                                        <p:tgtEl>
                                          <p:spTgt spid="13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8"/>
                                        </p:tgtEl>
                                        <p:attrNameLst>
                                          <p:attrName>style.visibility</p:attrName>
                                        </p:attrNameLst>
                                      </p:cBhvr>
                                      <p:to>
                                        <p:strVal val="visible"/>
                                      </p:to>
                                    </p:set>
                                    <p:animEffect transition="in" filter="fade">
                                      <p:cBhvr>
                                        <p:cTn id="35" dur="400"/>
                                        <p:tgtEl>
                                          <p:spTgt spid="1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9"/>
                                        </p:tgtEl>
                                        <p:attrNameLst>
                                          <p:attrName>style.visibility</p:attrName>
                                        </p:attrNameLst>
                                      </p:cBhvr>
                                      <p:to>
                                        <p:strVal val="visible"/>
                                      </p:to>
                                    </p:set>
                                    <p:animEffect transition="in" filter="fade">
                                      <p:cBhvr>
                                        <p:cTn id="38" dur="400"/>
                                        <p:tgtEl>
                                          <p:spTgt spid="15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55"/>
                                        </p:tgtEl>
                                        <p:attrNameLst>
                                          <p:attrName>style.visibility</p:attrName>
                                        </p:attrNameLst>
                                      </p:cBhvr>
                                      <p:to>
                                        <p:strVal val="visible"/>
                                      </p:to>
                                    </p:set>
                                    <p:animEffect transition="in" filter="fade">
                                      <p:cBhvr>
                                        <p:cTn id="43" dur="400"/>
                                        <p:tgtEl>
                                          <p:spTgt spid="15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6"/>
                                        </p:tgtEl>
                                        <p:attrNameLst>
                                          <p:attrName>style.visibility</p:attrName>
                                        </p:attrNameLst>
                                      </p:cBhvr>
                                      <p:to>
                                        <p:strVal val="visible"/>
                                      </p:to>
                                    </p:set>
                                    <p:animEffect transition="in" filter="fade">
                                      <p:cBhvr>
                                        <p:cTn id="46" dur="400"/>
                                        <p:tgtEl>
                                          <p:spTgt spid="1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7"/>
                                        </p:tgtEl>
                                        <p:attrNameLst>
                                          <p:attrName>style.visibility</p:attrName>
                                        </p:attrNameLst>
                                      </p:cBhvr>
                                      <p:to>
                                        <p:strVal val="visible"/>
                                      </p:to>
                                    </p:set>
                                    <p:animEffect transition="in" filter="fade">
                                      <p:cBhvr>
                                        <p:cTn id="49" dur="400"/>
                                        <p:tgtEl>
                                          <p:spTgt spid="15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8"/>
                                        </p:tgtEl>
                                        <p:attrNameLst>
                                          <p:attrName>style.visibility</p:attrName>
                                        </p:attrNameLst>
                                      </p:cBhvr>
                                      <p:to>
                                        <p:strVal val="visible"/>
                                      </p:to>
                                    </p:set>
                                    <p:animEffect transition="in" filter="fade">
                                      <p:cBhvr>
                                        <p:cTn id="52" dur="4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56" grpId="0" animBg="1"/>
      <p:bldP spid="157" grpId="0" animBg="1"/>
      <p:bldP spid="158" grpId="0" animBg="1"/>
      <p:bldP spid="15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SESSION 2</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2</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Streams, Buffering &amp; Disposal</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The most important idea of the module: data as a flow of bytes.</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bytes &amp; encoding  ·  position  ·  buffering  ·  FileStream  ·  Seek  ·  FileShare  ·  Reader / Writer  ·  using</a:t>
            </a:r>
            <a:endParaRPr lang="en-US" sz="1350" dirty="0"/>
          </a:p>
        </p:txBody>
      </p:sp>
    </p:spTree>
    <p:extLst>
      <p:ext uri="{BB962C8B-B14F-4D97-AF65-F5344CB8AC3E}">
        <p14:creationId xmlns:p14="http://schemas.microsoft.com/office/powerpoint/2010/main" val="422345256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54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THE HIDDEN COST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WriteAllText &amp; ReadAllText: Chunks to Disk, All in RAM</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24</a:t>
            </a:r>
            <a:endParaRPr lang="en-US" sz="850" dirty="0"/>
          </a:p>
        </p:txBody>
      </p:sp>
      <p:grpSp>
        <p:nvGrpSpPr>
          <p:cNvPr id="113" name="code"/>
          <p:cNvGrpSpPr/>
          <p:nvPr/>
        </p:nvGrpSpPr>
        <p:grpSpPr>
          <a:xfrm>
            <a:off x="543154" y="1481328"/>
            <a:ext cx="5760720" cy="1495900"/>
            <a:chOff x="543154" y="1481328"/>
            <a:chExt cx="5760720" cy="1495900"/>
          </a:xfrm>
        </p:grpSpPr>
        <p:sp>
          <p:nvSpPr>
            <p:cNvPr id="101" name="code_win"/>
            <p:cNvSpPr/>
            <p:nvPr/>
          </p:nvSpPr>
          <p:spPr>
            <a:xfrm>
              <a:off x="543154" y="1481328"/>
              <a:ext cx="5760720" cy="1495900"/>
            </a:xfrm>
            <a:prstGeom prst="roundRect">
              <a:avLst>
                <a:gd name="adj" fmla="val 4582"/>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576072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96494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example 21</a:t>
              </a:r>
              <a:endParaRPr lang="en-US" sz="950" dirty="0"/>
            </a:p>
          </p:txBody>
        </p:sp>
        <p:sp>
          <p:nvSpPr>
            <p:cNvPr id="108" name="code_L00"/>
            <p:cNvSpPr txBox="1"/>
            <p:nvPr/>
          </p:nvSpPr>
          <p:spPr>
            <a:xfrm>
              <a:off x="771754" y="1957228"/>
              <a:ext cx="54607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60A5FA"/>
                  </a:solidFill>
                  <a:latin typeface="Consolas"/>
                  <a:ea typeface="Consolas"/>
                  <a:cs typeface="Consolas"/>
                </a:rPr>
                <a:t>var</a:t>
              </a:r>
              <a:r>
                <a:rPr lang="en-US" sz="840" b="0" dirty="0">
                  <a:solidFill>
                    <a:srgbClr val="E2E8F0"/>
                  </a:solidFill>
                  <a:latin typeface="Consolas"/>
                  <a:ea typeface="Consolas"/>
                  <a:cs typeface="Consolas"/>
                </a:rPr>
                <a:t> sb = </a:t>
              </a:r>
              <a:r>
                <a:rPr lang="en-US" sz="840" b="0" dirty="0">
                  <a:solidFill>
                    <a:srgbClr val="60A5FA"/>
                  </a:solidFill>
                  <a:latin typeface="Consolas"/>
                  <a:ea typeface="Consolas"/>
                  <a:cs typeface="Consolas"/>
                </a:rPr>
                <a:t>new</a:t>
              </a:r>
              <a:r>
                <a:rPr lang="en-US" sz="840" b="0" dirty="0">
                  <a:solidFill>
                    <a:srgbClr val="E2E8F0"/>
                  </a:solidFill>
                  <a:latin typeface="Consolas"/>
                  <a:ea typeface="Consolas"/>
                  <a:cs typeface="Consolas"/>
                </a:rPr>
                <a:t> StringBuilder();                    </a:t>
              </a:r>
              <a:r>
                <a:rPr lang="en-US" sz="840" b="0" dirty="0">
                  <a:solidFill>
                    <a:srgbClr val="6FAE7A"/>
                  </a:solidFill>
                  <a:latin typeface="Consolas"/>
                  <a:ea typeface="Consolas"/>
                  <a:cs typeface="Consolas"/>
                </a:rPr>
                <a:t>// 5,000,000 lines</a:t>
              </a:r>
              <a:endParaRPr lang="en-US" sz="840" dirty="0"/>
            </a:p>
          </p:txBody>
        </p:sp>
        <p:sp>
          <p:nvSpPr>
            <p:cNvPr id="109" name="code_L01"/>
            <p:cNvSpPr txBox="1"/>
            <p:nvPr/>
          </p:nvSpPr>
          <p:spPr>
            <a:xfrm>
              <a:off x="771754" y="2107228"/>
              <a:ext cx="54607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60A5FA"/>
                  </a:solidFill>
                  <a:latin typeface="Consolas"/>
                  <a:ea typeface="Consolas"/>
                  <a:cs typeface="Consolas"/>
                </a:rPr>
                <a:t>for</a:t>
              </a:r>
              <a:r>
                <a:rPr lang="en-US" sz="840" b="0" dirty="0">
                  <a:solidFill>
                    <a:srgbClr val="E2E8F0"/>
                  </a:solidFill>
                  <a:latin typeface="Consolas"/>
                  <a:ea typeface="Consolas"/>
                  <a:cs typeface="Consolas"/>
                </a:rPr>
                <a:t> (</a:t>
              </a:r>
              <a:r>
                <a:rPr lang="en-US" sz="840" b="0" dirty="0">
                  <a:solidFill>
                    <a:srgbClr val="60A5FA"/>
                  </a:solidFill>
                  <a:latin typeface="Consolas"/>
                  <a:ea typeface="Consolas"/>
                  <a:cs typeface="Consolas"/>
                </a:rPr>
                <a:t>int</a:t>
              </a:r>
              <a:r>
                <a:rPr lang="en-US" sz="840" b="0" dirty="0">
                  <a:solidFill>
                    <a:srgbClr val="E2E8F0"/>
                  </a:solidFill>
                  <a:latin typeface="Consolas"/>
                  <a:ea typeface="Consolas"/>
                  <a:cs typeface="Consolas"/>
                </a:rPr>
                <a:t> i = 1; i &lt;= 5_000_000; i++)</a:t>
              </a:r>
              <a:endParaRPr lang="en-US" sz="840" dirty="0"/>
            </a:p>
          </p:txBody>
        </p:sp>
        <p:sp>
          <p:nvSpPr>
            <p:cNvPr id="110" name="code_L02"/>
            <p:cNvSpPr txBox="1"/>
            <p:nvPr/>
          </p:nvSpPr>
          <p:spPr>
            <a:xfrm>
              <a:off x="771754" y="2257228"/>
              <a:ext cx="546072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40" b="0" dirty="0">
                  <a:solidFill>
                    <a:srgbClr val="E2E8F0"/>
                  </a:solidFill>
                  <a:latin typeface="Consolas"/>
                  <a:ea typeface="Consolas"/>
                  <a:cs typeface="Consolas"/>
                </a:rPr>
                <a:t>sb.AppendLine(</a:t>
              </a:r>
              <a:r>
                <a:rPr lang="en-US" sz="840" b="0" dirty="0">
                  <a:solidFill>
                    <a:srgbClr val="F0A98B"/>
                  </a:solidFill>
                  <a:latin typeface="Consolas"/>
                  <a:ea typeface="Consolas"/>
                  <a:cs typeface="Consolas"/>
                </a:rPr>
                <a:t>$"Line {i:D7}: order created"</a:t>
              </a:r>
              <a:r>
                <a:rPr lang="en-US" sz="840" b="0" dirty="0">
                  <a:solidFill>
                    <a:srgbClr val="E2E8F0"/>
                  </a:solidFill>
                  <a:latin typeface="Consolas"/>
                  <a:ea typeface="Consolas"/>
                  <a:cs typeface="Consolas"/>
                </a:rPr>
                <a:t>);</a:t>
              </a:r>
              <a:endParaRPr lang="en-US" sz="840" dirty="0"/>
            </a:p>
          </p:txBody>
        </p:sp>
        <p:sp>
          <p:nvSpPr>
            <p:cNvPr id="111" name="code_L03"/>
            <p:cNvSpPr txBox="1"/>
            <p:nvPr/>
          </p:nvSpPr>
          <p:spPr>
            <a:xfrm>
              <a:off x="771754" y="2407228"/>
              <a:ext cx="54607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E2E8F0"/>
                  </a:solidFill>
                  <a:latin typeface="Consolas"/>
                  <a:ea typeface="Consolas"/>
                  <a:cs typeface="Consolas"/>
                </a:rPr>
                <a:t>File.WriteAllText(path, sb.ToString());   </a:t>
              </a:r>
              <a:r>
                <a:rPr lang="en-US" sz="840" b="0" dirty="0">
                  <a:solidFill>
                    <a:srgbClr val="6FAE7A"/>
                  </a:solidFill>
                  <a:latin typeface="Consolas"/>
                  <a:ea typeface="Consolas"/>
                  <a:cs typeface="Consolas"/>
                </a:rPr>
                <a:t>// the WHOLE text first</a:t>
              </a:r>
              <a:endParaRPr lang="en-US" sz="840" dirty="0"/>
            </a:p>
          </p:txBody>
        </p:sp>
        <p:sp>
          <p:nvSpPr>
            <p:cNvPr id="112" name="code_L05"/>
            <p:cNvSpPr txBox="1"/>
            <p:nvPr/>
          </p:nvSpPr>
          <p:spPr>
            <a:xfrm>
              <a:off x="771754" y="2707228"/>
              <a:ext cx="546072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40" b="0" dirty="0">
                  <a:solidFill>
                    <a:srgbClr val="60A5FA"/>
                  </a:solidFill>
                  <a:latin typeface="Consolas"/>
                  <a:ea typeface="Consolas"/>
                  <a:cs typeface="Consolas"/>
                </a:rPr>
                <a:t>string</a:t>
              </a:r>
              <a:r>
                <a:rPr lang="en-US" sz="840" b="0" dirty="0">
                  <a:solidFill>
                    <a:srgbClr val="E2E8F0"/>
                  </a:solidFill>
                  <a:latin typeface="Consolas"/>
                  <a:ea typeface="Consolas"/>
                  <a:cs typeface="Consolas"/>
                </a:rPr>
                <a:t> text = File.ReadAllText(path);     </a:t>
              </a:r>
              <a:r>
                <a:rPr lang="en-US" sz="840" b="0" dirty="0">
                  <a:solidFill>
                    <a:srgbClr val="6FAE7A"/>
                  </a:solidFill>
                  <a:latin typeface="Consolas"/>
                  <a:ea typeface="Consolas"/>
                  <a:cs typeface="Consolas"/>
                </a:rPr>
                <a:t>// the WHOLE file → one string</a:t>
              </a:r>
              <a:endParaRPr lang="en-US" sz="840" dirty="0"/>
            </a:p>
          </p:txBody>
        </p:sp>
      </p:grpSp>
      <p:sp>
        <p:nvSpPr>
          <p:cNvPr id="114" name="code_hl3"/>
          <p:cNvSpPr/>
          <p:nvPr/>
        </p:nvSpPr>
        <p:spPr>
          <a:xfrm>
            <a:off x="676656" y="2388940"/>
            <a:ext cx="549372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15" name="code_hl5"/>
          <p:cNvSpPr/>
          <p:nvPr/>
        </p:nvSpPr>
        <p:spPr>
          <a:xfrm>
            <a:off x="676656" y="2688940"/>
            <a:ext cx="549372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16" name="ram"/>
          <p:cNvSpPr/>
          <p:nvPr/>
        </p:nvSpPr>
        <p:spPr>
          <a:xfrm>
            <a:off x="6578194" y="1481328"/>
            <a:ext cx="2103120" cy="1600200"/>
          </a:xfrm>
          <a:prstGeom prst="roundRect">
            <a:avLst>
              <a:gd name="adj" fmla="val 12000"/>
            </a:avLst>
          </a:prstGeom>
          <a:solidFill>
            <a:srgbClr val="FBBF24">
              <a:alpha val="12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94A3B8"/>
                </a:solidFill>
                <a:latin typeface="Segoe UI"/>
                <a:ea typeface="Segoe UI"/>
                <a:cs typeface="Segoe UI"/>
              </a:rPr>
              <a:t>MEMORY (RAM)</a:t>
            </a:r>
            <a:endParaRPr lang="en-US" sz="950" dirty="0"/>
          </a:p>
          <a:p>
            <a:pPr marL="0" indent="0" algn="ctr">
              <a:spcBef>
                <a:spcPts val="0"/>
              </a:spcBef>
              <a:spcAft>
                <a:spcPts val="0"/>
              </a:spcAft>
              <a:buNone/>
            </a:pPr>
            <a:endParaRPr lang="en-US" sz="400" dirty="0"/>
          </a:p>
          <a:p>
            <a:pPr marL="0" indent="0" algn="ctr">
              <a:spcBef>
                <a:spcPts val="0"/>
              </a:spcBef>
              <a:spcAft>
                <a:spcPts val="0"/>
              </a:spcAft>
              <a:buNone/>
            </a:pPr>
            <a:r>
              <a:rPr lang="en-US" sz="1150" b="1" dirty="0">
                <a:solidFill>
                  <a:srgbClr val="FBBF24"/>
                </a:solidFill>
                <a:latin typeface="Segoe UI"/>
                <a:ea typeface="Segoe UI"/>
                <a:cs typeface="Segoe UI"/>
              </a:rPr>
              <a:t>the WHOLE text</a:t>
            </a:r>
            <a:endParaRPr lang="en-US" sz="1150" dirty="0"/>
          </a:p>
          <a:p>
            <a:pPr marL="0" indent="0" algn="ctr">
              <a:spcBef>
                <a:spcPts val="0"/>
              </a:spcBef>
              <a:spcAft>
                <a:spcPts val="0"/>
              </a:spcAft>
              <a:buNone/>
            </a:pPr>
            <a:r>
              <a:rPr lang="en-US" sz="1000" b="0" dirty="0">
                <a:solidFill>
                  <a:srgbClr val="E2E8F0"/>
                </a:solidFill>
                <a:latin typeface="Segoe UI"/>
                <a:ea typeface="Segoe UI"/>
                <a:cs typeface="Segoe UI"/>
              </a:rPr>
              <a:t>140 MB file →</a:t>
            </a:r>
            <a:endParaRPr lang="en-US" sz="1000" dirty="0"/>
          </a:p>
          <a:p>
            <a:pPr marL="0" indent="0" algn="ctr">
              <a:spcBef>
                <a:spcPts val="0"/>
              </a:spcBef>
              <a:spcAft>
                <a:spcPts val="0"/>
              </a:spcAft>
              <a:buNone/>
            </a:pPr>
            <a:r>
              <a:rPr lang="en-US" sz="1250" b="1" dirty="0">
                <a:solidFill>
                  <a:srgbClr val="F87171"/>
                </a:solidFill>
                <a:latin typeface="Segoe UI"/>
                <a:ea typeface="Segoe UI"/>
                <a:cs typeface="Segoe UI"/>
              </a:rPr>
              <a:t>280 MB string</a:t>
            </a:r>
            <a:endParaRPr lang="en-US" sz="1250" dirty="0"/>
          </a:p>
          <a:p>
            <a:pPr marL="0" indent="0" algn="ctr">
              <a:spcBef>
                <a:spcPts val="0"/>
              </a:spcBef>
              <a:spcAft>
                <a:spcPts val="0"/>
              </a:spcAft>
              <a:buNone/>
            </a:pPr>
            <a:r>
              <a:rPr lang="en-US" sz="900" b="0" dirty="0">
                <a:solidFill>
                  <a:srgbClr val="CBD5E1"/>
                </a:solidFill>
                <a:latin typeface="Segoe UI"/>
                <a:ea typeface="Segoe UI"/>
                <a:cs typeface="Segoe UI"/>
              </a:rPr>
              <a:t>(a char = 2 bytes)</a:t>
            </a:r>
            <a:endParaRPr lang="en-US" sz="900" dirty="0"/>
          </a:p>
        </p:txBody>
      </p:sp>
      <p:sp>
        <p:nvSpPr>
          <p:cNvPr id="117" name="ch0"/>
          <p:cNvSpPr/>
          <p:nvPr/>
        </p:nvSpPr>
        <p:spPr>
          <a:xfrm>
            <a:off x="9001354" y="1572768"/>
            <a:ext cx="960120" cy="292608"/>
          </a:xfrm>
          <a:prstGeom prst="roundRect">
            <a:avLst>
              <a:gd name="adj" fmla="val 12000"/>
            </a:avLst>
          </a:prstGeom>
          <a:solidFill>
            <a:srgbClr val="13D0F7">
              <a:alpha val="22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Consolas"/>
                <a:ea typeface="Consolas"/>
                <a:cs typeface="Consolas"/>
              </a:rPr>
              <a:t>8 KB</a:t>
            </a:r>
            <a:endParaRPr lang="en-US" sz="950" dirty="0"/>
          </a:p>
        </p:txBody>
      </p:sp>
      <p:sp>
        <p:nvSpPr>
          <p:cNvPr id="118" name="ch1"/>
          <p:cNvSpPr/>
          <p:nvPr/>
        </p:nvSpPr>
        <p:spPr>
          <a:xfrm>
            <a:off x="9001354" y="1956816"/>
            <a:ext cx="960120" cy="292608"/>
          </a:xfrm>
          <a:prstGeom prst="roundRect">
            <a:avLst>
              <a:gd name="adj" fmla="val 12000"/>
            </a:avLst>
          </a:prstGeom>
          <a:solidFill>
            <a:srgbClr val="13D0F7">
              <a:alpha val="22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Consolas"/>
                <a:ea typeface="Consolas"/>
                <a:cs typeface="Consolas"/>
              </a:rPr>
              <a:t>8 KB</a:t>
            </a:r>
            <a:endParaRPr lang="en-US" sz="950" dirty="0"/>
          </a:p>
        </p:txBody>
      </p:sp>
      <p:sp>
        <p:nvSpPr>
          <p:cNvPr id="119" name="ch2"/>
          <p:cNvSpPr/>
          <p:nvPr/>
        </p:nvSpPr>
        <p:spPr>
          <a:xfrm>
            <a:off x="9001354" y="2340864"/>
            <a:ext cx="960120" cy="292608"/>
          </a:xfrm>
          <a:prstGeom prst="roundRect">
            <a:avLst>
              <a:gd name="adj" fmla="val 12000"/>
            </a:avLst>
          </a:prstGeom>
          <a:solidFill>
            <a:srgbClr val="13D0F7">
              <a:alpha val="22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FFFFFF"/>
                </a:solidFill>
                <a:latin typeface="Consolas"/>
                <a:ea typeface="Consolas"/>
                <a:cs typeface="Consolas"/>
              </a:rPr>
              <a:t>8 KB</a:t>
            </a:r>
            <a:endParaRPr lang="en-US" sz="950" dirty="0"/>
          </a:p>
        </p:txBody>
      </p:sp>
      <p:sp>
        <p:nvSpPr>
          <p:cNvPr id="120" name="chn"/>
          <p:cNvSpPr txBox="1"/>
          <p:nvPr/>
        </p:nvSpPr>
        <p:spPr>
          <a:xfrm>
            <a:off x="8909914" y="2697480"/>
            <a:ext cx="1188720" cy="36576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 17,090 ×</a:t>
            </a:r>
            <a:endParaRPr lang="en-US" sz="1000" dirty="0"/>
          </a:p>
        </p:txBody>
      </p:sp>
      <p:cxnSp>
        <p:nvCxnSpPr>
          <p:cNvPr id="121" name="a1"/>
          <p:cNvCxnSpPr/>
          <p:nvPr/>
        </p:nvCxnSpPr>
        <p:spPr>
          <a:xfrm>
            <a:off x="8681314" y="2286000"/>
            <a:ext cx="274320" cy="0"/>
          </a:xfrm>
          <a:prstGeom prst="line">
            <a:avLst/>
          </a:prstGeom>
          <a:ln w="28575">
            <a:solidFill>
              <a:srgbClr val="13D0F7"/>
            </a:solidFill>
            <a:tailEnd type="triangle" w="med" len="med"/>
          </a:ln>
        </p:spPr>
      </p:cxnSp>
      <p:cxnSp>
        <p:nvCxnSpPr>
          <p:cNvPr id="122" name="a2"/>
          <p:cNvCxnSpPr/>
          <p:nvPr/>
        </p:nvCxnSpPr>
        <p:spPr>
          <a:xfrm>
            <a:off x="10007194" y="2286000"/>
            <a:ext cx="320040" cy="0"/>
          </a:xfrm>
          <a:prstGeom prst="line">
            <a:avLst/>
          </a:prstGeom>
          <a:ln w="28575">
            <a:solidFill>
              <a:srgbClr val="13D0F7"/>
            </a:solidFill>
            <a:tailEnd type="triangle" w="med" len="med"/>
          </a:ln>
        </p:spPr>
      </p:cxnSp>
      <p:sp>
        <p:nvSpPr>
          <p:cNvPr id="123" name="disk"/>
          <p:cNvSpPr/>
          <p:nvPr/>
        </p:nvSpPr>
        <p:spPr>
          <a:xfrm>
            <a:off x="10372954" y="1600200"/>
            <a:ext cx="1257300" cy="1371600"/>
          </a:xfrm>
          <a:prstGeom prst="can">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950" b="1" dirty="0">
                <a:solidFill>
                  <a:srgbClr val="94A3B8"/>
                </a:solidFill>
                <a:latin typeface="Segoe UI"/>
                <a:ea typeface="Segoe UI"/>
                <a:cs typeface="Segoe UI"/>
              </a:rPr>
              <a:t>DISK</a:t>
            </a:r>
            <a:endParaRPr lang="en-US" sz="950" dirty="0"/>
          </a:p>
          <a:p>
            <a:pPr marL="0" indent="0" algn="ctr">
              <a:spcBef>
                <a:spcPts val="0"/>
              </a:spcBef>
              <a:spcAft>
                <a:spcPts val="0"/>
              </a:spcAft>
              <a:buNone/>
            </a:pPr>
            <a:r>
              <a:rPr lang="en-US" sz="1100" b="1" dirty="0">
                <a:solidFill>
                  <a:srgbClr val="FFFFFF"/>
                </a:solidFill>
                <a:latin typeface="Consolas"/>
                <a:ea typeface="Consolas"/>
                <a:cs typeface="Consolas"/>
              </a:rPr>
              <a:t>app.log</a:t>
            </a:r>
            <a:endParaRPr lang="en-US" sz="1100" dirty="0"/>
          </a:p>
          <a:p>
            <a:pPr marL="0" indent="0" algn="ctr">
              <a:spcBef>
                <a:spcPts val="0"/>
              </a:spcBef>
              <a:spcAft>
                <a:spcPts val="0"/>
              </a:spcAft>
              <a:buNone/>
            </a:pPr>
            <a:r>
              <a:rPr lang="en-US" sz="1000" b="0" dirty="0">
                <a:solidFill>
                  <a:srgbClr val="CBD5E1"/>
                </a:solidFill>
                <a:latin typeface="Segoe UI"/>
                <a:ea typeface="Segoe UI"/>
                <a:cs typeface="Segoe UI"/>
              </a:rPr>
              <a:t>140 MB</a:t>
            </a:r>
            <a:endParaRPr lang="en-US" sz="1000" dirty="0"/>
          </a:p>
        </p:txBody>
      </p:sp>
      <p:grpSp>
        <p:nvGrpSpPr>
          <p:cNvPr id="127" name="t_h"/>
          <p:cNvGrpSpPr/>
          <p:nvPr/>
        </p:nvGrpSpPr>
        <p:grpSpPr>
          <a:xfrm>
            <a:off x="689458" y="3218688"/>
            <a:ext cx="10904220" cy="256032"/>
            <a:chOff x="689458" y="3218688"/>
            <a:chExt cx="10904220" cy="256032"/>
          </a:xfrm>
        </p:grpSpPr>
        <p:sp>
          <p:nvSpPr>
            <p:cNvPr id="124" name="t_h0"/>
            <p:cNvSpPr txBox="1"/>
            <p:nvPr/>
          </p:nvSpPr>
          <p:spPr>
            <a:xfrm>
              <a:off x="689458" y="3218688"/>
              <a:ext cx="17373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WE MEASURED</a:t>
              </a:r>
              <a:endParaRPr lang="en-US" sz="1000" dirty="0"/>
            </a:p>
          </p:txBody>
        </p:sp>
        <p:sp>
          <p:nvSpPr>
            <p:cNvPr id="125" name="t_h1"/>
            <p:cNvSpPr txBox="1"/>
            <p:nvPr/>
          </p:nvSpPr>
          <p:spPr>
            <a:xfrm>
              <a:off x="2609698" y="3218688"/>
              <a:ext cx="42976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F87171"/>
                  </a:solidFill>
                  <a:latin typeface="Segoe UI"/>
                  <a:ea typeface="Segoe UI"/>
                  <a:cs typeface="Segoe UI"/>
                </a:rPr>
                <a:t>WHOLE TEXT IN MEMORY</a:t>
              </a:r>
              <a:endParaRPr lang="en-US" sz="1000" dirty="0"/>
            </a:p>
          </p:txBody>
        </p:sp>
        <p:sp>
          <p:nvSpPr>
            <p:cNvPr id="126" name="t_h2"/>
            <p:cNvSpPr txBox="1"/>
            <p:nvPr/>
          </p:nvSpPr>
          <p:spPr>
            <a:xfrm>
              <a:off x="7090258" y="3218688"/>
              <a:ext cx="450342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STREAMING</a:t>
              </a:r>
              <a:endParaRPr lang="en-US" sz="1000" dirty="0"/>
            </a:p>
          </p:txBody>
        </p:sp>
      </p:grpSp>
      <p:grpSp>
        <p:nvGrpSpPr>
          <p:cNvPr id="132" name="t_r0"/>
          <p:cNvGrpSpPr/>
          <p:nvPr/>
        </p:nvGrpSpPr>
        <p:grpSpPr>
          <a:xfrm>
            <a:off x="543154" y="3520440"/>
            <a:ext cx="11087100" cy="365760"/>
            <a:chOff x="543154" y="3520440"/>
            <a:chExt cx="11087100" cy="365760"/>
          </a:xfrm>
        </p:grpSpPr>
        <p:sp>
          <p:nvSpPr>
            <p:cNvPr id="128" name="t_r0_bg"/>
            <p:cNvSpPr/>
            <p:nvPr/>
          </p:nvSpPr>
          <p:spPr>
            <a:xfrm>
              <a:off x="543154" y="3520440"/>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9" name="t_r0_c0"/>
            <p:cNvSpPr txBox="1"/>
            <p:nvPr/>
          </p:nvSpPr>
          <p:spPr>
            <a:xfrm>
              <a:off x="689458" y="3520440"/>
              <a:ext cx="17373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Write 140 MB</a:t>
              </a:r>
              <a:endParaRPr lang="en-US" sz="1050" dirty="0"/>
            </a:p>
          </p:txBody>
        </p:sp>
        <p:sp>
          <p:nvSpPr>
            <p:cNvPr id="130" name="t_r0_c1"/>
            <p:cNvSpPr txBox="1"/>
            <p:nvPr/>
          </p:nvSpPr>
          <p:spPr>
            <a:xfrm>
              <a:off x="2609698" y="3520440"/>
              <a:ext cx="42976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File.WriteAllText  →  peak 632 MB</a:t>
              </a:r>
              <a:endParaRPr lang="en-US" sz="1000" dirty="0"/>
            </a:p>
          </p:txBody>
        </p:sp>
        <p:sp>
          <p:nvSpPr>
            <p:cNvPr id="131" name="t_r0_c2"/>
            <p:cNvSpPr txBox="1"/>
            <p:nvPr/>
          </p:nvSpPr>
          <p:spPr>
            <a:xfrm>
              <a:off x="7090258" y="3520440"/>
              <a:ext cx="450342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StreamWriter, line by line  →  peak 170 MB</a:t>
              </a:r>
              <a:endParaRPr lang="en-US" sz="1000" dirty="0"/>
            </a:p>
          </p:txBody>
        </p:sp>
      </p:grpSp>
      <p:grpSp>
        <p:nvGrpSpPr>
          <p:cNvPr id="137" name="t_r1"/>
          <p:cNvGrpSpPr/>
          <p:nvPr/>
        </p:nvGrpSpPr>
        <p:grpSpPr>
          <a:xfrm>
            <a:off x="543154" y="3931920"/>
            <a:ext cx="11087100" cy="365760"/>
            <a:chOff x="543154" y="3931920"/>
            <a:chExt cx="11087100" cy="365760"/>
          </a:xfrm>
        </p:grpSpPr>
        <p:sp>
          <p:nvSpPr>
            <p:cNvPr id="133" name="t_r1_bg"/>
            <p:cNvSpPr/>
            <p:nvPr/>
          </p:nvSpPr>
          <p:spPr>
            <a:xfrm>
              <a:off x="543154" y="3931920"/>
              <a:ext cx="11087100" cy="36576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4" name="t_r1_c0"/>
            <p:cNvSpPr txBox="1"/>
            <p:nvPr/>
          </p:nvSpPr>
          <p:spPr>
            <a:xfrm>
              <a:off x="689458" y="3931920"/>
              <a:ext cx="173736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E2E8F0"/>
                  </a:solidFill>
                  <a:latin typeface="Segoe UI"/>
                  <a:ea typeface="Segoe UI"/>
                  <a:cs typeface="Segoe UI"/>
                </a:rPr>
                <a:t>Read 140 MB</a:t>
              </a:r>
              <a:endParaRPr lang="en-US" sz="1050" dirty="0"/>
            </a:p>
          </p:txBody>
        </p:sp>
        <p:sp>
          <p:nvSpPr>
            <p:cNvPr id="135" name="t_r1_c1"/>
            <p:cNvSpPr txBox="1"/>
            <p:nvPr/>
          </p:nvSpPr>
          <p:spPr>
            <a:xfrm>
              <a:off x="2609698" y="3931920"/>
              <a:ext cx="429768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File.ReadAllText  →  peak 596 MB</a:t>
              </a:r>
              <a:endParaRPr lang="en-US" sz="1000" dirty="0"/>
            </a:p>
          </p:txBody>
        </p:sp>
        <p:sp>
          <p:nvSpPr>
            <p:cNvPr id="136" name="t_r1_c2"/>
            <p:cNvSpPr txBox="1"/>
            <p:nvPr/>
          </p:nvSpPr>
          <p:spPr>
            <a:xfrm>
              <a:off x="7090258" y="3931920"/>
              <a:ext cx="450342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File.ReadLines, lazy  →  peak 170 MB</a:t>
              </a:r>
              <a:endParaRPr lang="en-US" sz="1000" dirty="0"/>
            </a:p>
          </p:txBody>
        </p:sp>
      </p:grpSp>
      <p:sp>
        <p:nvSpPr>
          <p:cNvPr id="138" name="k1"/>
          <p:cNvSpPr/>
          <p:nvPr/>
        </p:nvSpPr>
        <p:spPr>
          <a:xfrm>
            <a:off x="543154" y="4480560"/>
            <a:ext cx="3543300" cy="896112"/>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NOT SENT ALL AT ONCE</a:t>
            </a:r>
            <a:endParaRPr lang="en-US" sz="1100" dirty="0"/>
          </a:p>
          <a:p>
            <a:pPr marL="0" indent="0" algn="l">
              <a:spcBef>
                <a:spcPts val="0"/>
              </a:spcBef>
              <a:spcAft>
                <a:spcPts val="0"/>
              </a:spcAft>
              <a:buNone/>
            </a:pPr>
            <a:r>
              <a:rPr lang="en-US" sz="1000" b="0" dirty="0">
                <a:solidFill>
                  <a:srgbClr val="CBD5E1"/>
                </a:solidFill>
                <a:latin typeface="Segoe UI"/>
                <a:ea typeface="Segoe UI"/>
                <a:cs typeface="Segoe UI"/>
              </a:rPr>
              <a:t>WriteAllText: 17,090 writes × 8 KB. ReadAllText: ~34,000 reads × 4 KB.</a:t>
            </a:r>
            <a:endParaRPr lang="en-US" sz="1000" dirty="0"/>
          </a:p>
        </p:txBody>
      </p:sp>
      <p:sp>
        <p:nvSpPr>
          <p:cNvPr id="139" name="k2"/>
          <p:cNvSpPr/>
          <p:nvPr/>
        </p:nvSpPr>
        <p:spPr>
          <a:xfrm>
            <a:off x="4315054" y="4480560"/>
            <a:ext cx="3543300" cy="89611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BUT ALL IN MEMORY AT ONCE</a:t>
            </a:r>
            <a:endParaRPr lang="en-US" sz="1100" dirty="0"/>
          </a:p>
          <a:p>
            <a:pPr marL="0" indent="0" algn="l">
              <a:spcBef>
                <a:spcPts val="0"/>
              </a:spcBef>
              <a:spcAft>
                <a:spcPts val="0"/>
              </a:spcAft>
              <a:buNone/>
            </a:pPr>
            <a:r>
              <a:rPr lang="en-US" sz="1000" b="0" dirty="0">
                <a:solidFill>
                  <a:srgbClr val="CBD5E1"/>
                </a:solidFill>
                <a:latin typeface="Segoe UI"/>
                <a:ea typeface="Segoe UI"/>
                <a:cs typeface="Segoe UI"/>
              </a:rPr>
              <a:t>The whole text exists as one string before the first write, or after the last read.</a:t>
            </a:r>
            <a:endParaRPr lang="en-US" sz="1000" dirty="0"/>
          </a:p>
        </p:txBody>
      </p:sp>
      <p:sp>
        <p:nvSpPr>
          <p:cNvPr id="140" name="k3"/>
          <p:cNvSpPr/>
          <p:nvPr/>
        </p:nvSpPr>
        <p:spPr>
          <a:xfrm>
            <a:off x="8086954" y="4480560"/>
            <a:ext cx="3543300" cy="89611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THE FIX FOR BIG FILES</a:t>
            </a:r>
            <a:endParaRPr lang="en-US" sz="1100" dirty="0"/>
          </a:p>
          <a:p>
            <a:pPr marL="0" indent="0" algn="l">
              <a:spcBef>
                <a:spcPts val="0"/>
              </a:spcBef>
              <a:spcAft>
                <a:spcPts val="0"/>
              </a:spcAft>
              <a:buNone/>
            </a:pPr>
            <a:r>
              <a:rPr lang="en-US" sz="1000" b="0" dirty="0">
                <a:solidFill>
                  <a:srgbClr val="CBD5E1"/>
                </a:solidFill>
                <a:latin typeface="Segoe UI"/>
                <a:ea typeface="Segoe UI"/>
                <a:cs typeface="Segoe UI"/>
              </a:rPr>
              <a:t>StreamWriter / StreamReader / File.ReadLines: one line in memory at a time.</a:t>
            </a:r>
            <a:endParaRPr lang="en-US" sz="1000" dirty="0"/>
          </a:p>
        </p:txBody>
      </p:sp>
      <p:sp>
        <p:nvSpPr>
          <p:cNvPr id="141" name="bn"/>
          <p:cNvSpPr/>
          <p:nvPr/>
        </p:nvSpPr>
        <p:spPr>
          <a:xfrm>
            <a:off x="543154" y="5486400"/>
            <a:ext cx="11087100" cy="438912"/>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150" b="0" dirty="0">
                <a:solidFill>
                  <a:srgbClr val="FFFFFF"/>
                </a:solidFill>
                <a:latin typeface="Segoe UI"/>
                <a:ea typeface="Segoe UI"/>
                <a:cs typeface="Segoe UI"/>
              </a:rPr>
              <a:t>The disk gets chunks either way. The problem is RAM. Same for WriteAllLines(array), ReadAllLines, ReadAllBytes.</a:t>
            </a:r>
            <a:endParaRPr lang="en-US" sz="1150" dirty="0"/>
          </a:p>
        </p:txBody>
      </p:sp>
    </p:spTree>
    <p:extLst>
      <p:ext uri="{BB962C8B-B14F-4D97-AF65-F5344CB8AC3E}">
        <p14:creationId xmlns:p14="http://schemas.microsoft.com/office/powerpoint/2010/main" val="502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400"/>
                                        <p:tgtEl>
                                          <p:spTgt spid="1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400"/>
                                        <p:tgtEl>
                                          <p:spTgt spid="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
                                        </p:tgtEl>
                                        <p:attrNameLst>
                                          <p:attrName>style.visibility</p:attrName>
                                        </p:attrNameLst>
                                      </p:cBhvr>
                                      <p:to>
                                        <p:strVal val="visible"/>
                                      </p:to>
                                    </p:set>
                                    <p:animEffect transition="in" filter="fade">
                                      <p:cBhvr>
                                        <p:cTn id="13" dur="400"/>
                                        <p:tgtEl>
                                          <p:spTgt spid="1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6"/>
                                        </p:tgtEl>
                                        <p:attrNameLst>
                                          <p:attrName>style.visibility</p:attrName>
                                        </p:attrNameLst>
                                      </p:cBhvr>
                                      <p:to>
                                        <p:strVal val="visible"/>
                                      </p:to>
                                    </p:set>
                                    <p:animEffect transition="in" filter="fade">
                                      <p:cBhvr>
                                        <p:cTn id="18" dur="400"/>
                                        <p:tgtEl>
                                          <p:spTgt spid="1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1"/>
                                        </p:tgtEl>
                                        <p:attrNameLst>
                                          <p:attrName>style.visibility</p:attrName>
                                        </p:attrNameLst>
                                      </p:cBhvr>
                                      <p:to>
                                        <p:strVal val="visible"/>
                                      </p:to>
                                    </p:set>
                                    <p:animEffect transition="in" filter="fade">
                                      <p:cBhvr>
                                        <p:cTn id="23" dur="400"/>
                                        <p:tgtEl>
                                          <p:spTgt spid="121"/>
                                        </p:tgtEl>
                                      </p:cBhvr>
                                    </p:animEffect>
                                  </p:childTnLst>
                                </p:cTn>
                              </p:par>
                            </p:childTnLst>
                          </p:cTn>
                        </p:par>
                        <p:par>
                          <p:cTn id="24" fill="hold">
                            <p:stCondLst>
                              <p:cond delay="400"/>
                            </p:stCondLst>
                            <p:childTnLst>
                              <p:par>
                                <p:cTn id="25" presetID="10" presetClass="entr" presetSubtype="0" fill="hold" grpId="0" nodeType="afterEffect">
                                  <p:stCondLst>
                                    <p:cond delay="0"/>
                                  </p:stCondLst>
                                  <p:childTnLst>
                                    <p:set>
                                      <p:cBhvr>
                                        <p:cTn id="26" dur="1" fill="hold">
                                          <p:stCondLst>
                                            <p:cond delay="0"/>
                                          </p:stCondLst>
                                        </p:cTn>
                                        <p:tgtEl>
                                          <p:spTgt spid="117"/>
                                        </p:tgtEl>
                                        <p:attrNameLst>
                                          <p:attrName>style.visibility</p:attrName>
                                        </p:attrNameLst>
                                      </p:cBhvr>
                                      <p:to>
                                        <p:strVal val="visible"/>
                                      </p:to>
                                    </p:set>
                                    <p:animEffect transition="in" filter="fade">
                                      <p:cBhvr>
                                        <p:cTn id="27" dur="250"/>
                                        <p:tgtEl>
                                          <p:spTgt spid="117"/>
                                        </p:tgtEl>
                                      </p:cBhvr>
                                    </p:animEffect>
                                  </p:childTnLst>
                                </p:cTn>
                              </p:par>
                            </p:childTnLst>
                          </p:cTn>
                        </p:par>
                        <p:par>
                          <p:cTn id="28" fill="hold">
                            <p:stCondLst>
                              <p:cond delay="650"/>
                            </p:stCondLst>
                            <p:childTnLst>
                              <p:par>
                                <p:cTn id="29" presetID="10" presetClass="entr" presetSubtype="0" fill="hold" grpId="0" nodeType="afterEffect">
                                  <p:stCondLst>
                                    <p:cond delay="0"/>
                                  </p:stCondLst>
                                  <p:childTnLst>
                                    <p:set>
                                      <p:cBhvr>
                                        <p:cTn id="30" dur="1" fill="hold">
                                          <p:stCondLst>
                                            <p:cond delay="0"/>
                                          </p:stCondLst>
                                        </p:cTn>
                                        <p:tgtEl>
                                          <p:spTgt spid="118"/>
                                        </p:tgtEl>
                                        <p:attrNameLst>
                                          <p:attrName>style.visibility</p:attrName>
                                        </p:attrNameLst>
                                      </p:cBhvr>
                                      <p:to>
                                        <p:strVal val="visible"/>
                                      </p:to>
                                    </p:set>
                                    <p:animEffect transition="in" filter="fade">
                                      <p:cBhvr>
                                        <p:cTn id="31" dur="250"/>
                                        <p:tgtEl>
                                          <p:spTgt spid="118"/>
                                        </p:tgtEl>
                                      </p:cBhvr>
                                    </p:animEffect>
                                  </p:childTnLst>
                                </p:cTn>
                              </p:par>
                            </p:childTnLst>
                          </p:cTn>
                        </p:par>
                        <p:par>
                          <p:cTn id="32" fill="hold">
                            <p:stCondLst>
                              <p:cond delay="900"/>
                            </p:stCondLst>
                            <p:childTnLst>
                              <p:par>
                                <p:cTn id="33" presetID="10" presetClass="entr" presetSubtype="0" fill="hold" grpId="0" nodeType="afterEffect">
                                  <p:stCondLst>
                                    <p:cond delay="0"/>
                                  </p:stCondLst>
                                  <p:childTnLst>
                                    <p:set>
                                      <p:cBhvr>
                                        <p:cTn id="34" dur="1" fill="hold">
                                          <p:stCondLst>
                                            <p:cond delay="0"/>
                                          </p:stCondLst>
                                        </p:cTn>
                                        <p:tgtEl>
                                          <p:spTgt spid="119"/>
                                        </p:tgtEl>
                                        <p:attrNameLst>
                                          <p:attrName>style.visibility</p:attrName>
                                        </p:attrNameLst>
                                      </p:cBhvr>
                                      <p:to>
                                        <p:strVal val="visible"/>
                                      </p:to>
                                    </p:set>
                                    <p:animEffect transition="in" filter="fade">
                                      <p:cBhvr>
                                        <p:cTn id="35" dur="250"/>
                                        <p:tgtEl>
                                          <p:spTgt spid="119"/>
                                        </p:tgtEl>
                                      </p:cBhvr>
                                    </p:animEffect>
                                  </p:childTnLst>
                                </p:cTn>
                              </p:par>
                            </p:childTnLst>
                          </p:cTn>
                        </p:par>
                        <p:par>
                          <p:cTn id="36" fill="hold">
                            <p:stCondLst>
                              <p:cond delay="1150"/>
                            </p:stCondLst>
                            <p:childTnLst>
                              <p:par>
                                <p:cTn id="37" presetID="10" presetClass="entr" presetSubtype="0" fill="hold" grpId="0" nodeType="afterEffect">
                                  <p:stCondLst>
                                    <p:cond delay="0"/>
                                  </p:stCondLst>
                                  <p:childTnLst>
                                    <p:set>
                                      <p:cBhvr>
                                        <p:cTn id="38" dur="1" fill="hold">
                                          <p:stCondLst>
                                            <p:cond delay="0"/>
                                          </p:stCondLst>
                                        </p:cTn>
                                        <p:tgtEl>
                                          <p:spTgt spid="120"/>
                                        </p:tgtEl>
                                        <p:attrNameLst>
                                          <p:attrName>style.visibility</p:attrName>
                                        </p:attrNameLst>
                                      </p:cBhvr>
                                      <p:to>
                                        <p:strVal val="visible"/>
                                      </p:to>
                                    </p:set>
                                    <p:animEffect transition="in" filter="fade">
                                      <p:cBhvr>
                                        <p:cTn id="39" dur="200"/>
                                        <p:tgtEl>
                                          <p:spTgt spid="120"/>
                                        </p:tgtEl>
                                      </p:cBhvr>
                                    </p:animEffect>
                                  </p:childTnLst>
                                </p:cTn>
                              </p:par>
                            </p:childTnLst>
                          </p:cTn>
                        </p:par>
                        <p:par>
                          <p:cTn id="40" fill="hold">
                            <p:stCondLst>
                              <p:cond delay="1350"/>
                            </p:stCondLst>
                            <p:childTnLst>
                              <p:par>
                                <p:cTn id="41" presetID="10" presetClass="entr" presetSubtype="0" fill="hold" nodeType="afterEffect">
                                  <p:stCondLst>
                                    <p:cond delay="0"/>
                                  </p:stCondLst>
                                  <p:childTnLst>
                                    <p:set>
                                      <p:cBhvr>
                                        <p:cTn id="42" dur="1" fill="hold">
                                          <p:stCondLst>
                                            <p:cond delay="0"/>
                                          </p:stCondLst>
                                        </p:cTn>
                                        <p:tgtEl>
                                          <p:spTgt spid="122"/>
                                        </p:tgtEl>
                                        <p:attrNameLst>
                                          <p:attrName>style.visibility</p:attrName>
                                        </p:attrNameLst>
                                      </p:cBhvr>
                                      <p:to>
                                        <p:strVal val="visible"/>
                                      </p:to>
                                    </p:set>
                                    <p:animEffect transition="in" filter="fade">
                                      <p:cBhvr>
                                        <p:cTn id="43" dur="150"/>
                                        <p:tgtEl>
                                          <p:spTgt spid="1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3"/>
                                        </p:tgtEl>
                                        <p:attrNameLst>
                                          <p:attrName>style.visibility</p:attrName>
                                        </p:attrNameLst>
                                      </p:cBhvr>
                                      <p:to>
                                        <p:strVal val="visible"/>
                                      </p:to>
                                    </p:set>
                                    <p:animEffect transition="in" filter="fade">
                                      <p:cBhvr>
                                        <p:cTn id="46" dur="400"/>
                                        <p:tgtEl>
                                          <p:spTgt spid="12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27"/>
                                        </p:tgtEl>
                                        <p:attrNameLst>
                                          <p:attrName>style.visibility</p:attrName>
                                        </p:attrNameLst>
                                      </p:cBhvr>
                                      <p:to>
                                        <p:strVal val="visible"/>
                                      </p:to>
                                    </p:set>
                                    <p:animEffect transition="in" filter="fade">
                                      <p:cBhvr>
                                        <p:cTn id="51" dur="400"/>
                                        <p:tgtEl>
                                          <p:spTgt spid="127"/>
                                        </p:tgtEl>
                                      </p:cBhvr>
                                    </p:animEffect>
                                  </p:childTnLst>
                                </p:cTn>
                              </p:par>
                            </p:childTnLst>
                          </p:cTn>
                        </p:par>
                        <p:par>
                          <p:cTn id="52" fill="hold">
                            <p:stCondLst>
                              <p:cond delay="400"/>
                            </p:stCondLst>
                            <p:childTnLst>
                              <p:par>
                                <p:cTn id="53" presetID="10" presetClass="entr" presetSubtype="0" fill="hold" nodeType="afterEffect">
                                  <p:stCondLst>
                                    <p:cond delay="0"/>
                                  </p:stCondLst>
                                  <p:childTnLst>
                                    <p:set>
                                      <p:cBhvr>
                                        <p:cTn id="54" dur="1" fill="hold">
                                          <p:stCondLst>
                                            <p:cond delay="0"/>
                                          </p:stCondLst>
                                        </p:cTn>
                                        <p:tgtEl>
                                          <p:spTgt spid="132"/>
                                        </p:tgtEl>
                                        <p:attrNameLst>
                                          <p:attrName>style.visibility</p:attrName>
                                        </p:attrNameLst>
                                      </p:cBhvr>
                                      <p:to>
                                        <p:strVal val="visible"/>
                                      </p:to>
                                    </p:set>
                                    <p:animEffect transition="in" filter="fade">
                                      <p:cBhvr>
                                        <p:cTn id="55" dur="200"/>
                                        <p:tgtEl>
                                          <p:spTgt spid="132"/>
                                        </p:tgtEl>
                                      </p:cBhvr>
                                    </p:animEffect>
                                  </p:childTnLst>
                                </p:cTn>
                              </p:par>
                            </p:childTnLst>
                          </p:cTn>
                        </p:par>
                        <p:par>
                          <p:cTn id="56" fill="hold">
                            <p:stCondLst>
                              <p:cond delay="600"/>
                            </p:stCondLst>
                            <p:childTnLst>
                              <p:par>
                                <p:cTn id="57" presetID="10" presetClass="entr" presetSubtype="0" fill="hold" nodeType="afterEffect">
                                  <p:stCondLst>
                                    <p:cond delay="0"/>
                                  </p:stCondLst>
                                  <p:childTnLst>
                                    <p:set>
                                      <p:cBhvr>
                                        <p:cTn id="58" dur="1" fill="hold">
                                          <p:stCondLst>
                                            <p:cond delay="0"/>
                                          </p:stCondLst>
                                        </p:cTn>
                                        <p:tgtEl>
                                          <p:spTgt spid="137"/>
                                        </p:tgtEl>
                                        <p:attrNameLst>
                                          <p:attrName>style.visibility</p:attrName>
                                        </p:attrNameLst>
                                      </p:cBhvr>
                                      <p:to>
                                        <p:strVal val="visible"/>
                                      </p:to>
                                    </p:set>
                                    <p:animEffect transition="in" filter="fade">
                                      <p:cBhvr>
                                        <p:cTn id="59" dur="200"/>
                                        <p:tgtEl>
                                          <p:spTgt spid="13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38"/>
                                        </p:tgtEl>
                                        <p:attrNameLst>
                                          <p:attrName>style.visibility</p:attrName>
                                        </p:attrNameLst>
                                      </p:cBhvr>
                                      <p:to>
                                        <p:strVal val="visible"/>
                                      </p:to>
                                    </p:set>
                                    <p:animEffect transition="in" filter="fade">
                                      <p:cBhvr>
                                        <p:cTn id="64" dur="400"/>
                                        <p:tgtEl>
                                          <p:spTgt spid="13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39"/>
                                        </p:tgtEl>
                                        <p:attrNameLst>
                                          <p:attrName>style.visibility</p:attrName>
                                        </p:attrNameLst>
                                      </p:cBhvr>
                                      <p:to>
                                        <p:strVal val="visible"/>
                                      </p:to>
                                    </p:set>
                                    <p:animEffect transition="in" filter="fade">
                                      <p:cBhvr>
                                        <p:cTn id="69" dur="400"/>
                                        <p:tgtEl>
                                          <p:spTgt spid="13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40"/>
                                        </p:tgtEl>
                                        <p:attrNameLst>
                                          <p:attrName>style.visibility</p:attrName>
                                        </p:attrNameLst>
                                      </p:cBhvr>
                                      <p:to>
                                        <p:strVal val="visible"/>
                                      </p:to>
                                    </p:set>
                                    <p:animEffect transition="in" filter="fade">
                                      <p:cBhvr>
                                        <p:cTn id="74" dur="400"/>
                                        <p:tgtEl>
                                          <p:spTgt spid="14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41"/>
                                        </p:tgtEl>
                                        <p:attrNameLst>
                                          <p:attrName>style.visibility</p:attrName>
                                        </p:attrNameLst>
                                      </p:cBhvr>
                                      <p:to>
                                        <p:strVal val="visible"/>
                                      </p:to>
                                    </p:set>
                                    <p:animEffect transition="in" filter="fade">
                                      <p:cBhvr>
                                        <p:cTn id="79" dur="4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5" grpId="0" animBg="1"/>
      <p:bldP spid="116" grpId="0" animBg="1"/>
      <p:bldP spid="117" grpId="0" animBg="1"/>
      <p:bldP spid="118" grpId="0" animBg="1"/>
      <p:bldP spid="119" grpId="0" animBg="1"/>
      <p:bldP spid="120" grpId="0" animBg="1"/>
      <p:bldP spid="123" grpId="0" animBg="1"/>
      <p:bldP spid="138" grpId="0" animBg="1"/>
      <p:bldP spid="139" grpId="0" animBg="1"/>
      <p:bldP spid="140" grpId="0" animBg="1"/>
      <p:bldP spid="14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STREAM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Stream Is a Sequence of Bytes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a:t>
            </a:r>
            <a:endParaRPr lang="en-US" sz="850" dirty="0"/>
          </a:p>
        </p:txBody>
      </p:sp>
      <p:grpSp>
        <p:nvGrpSpPr>
          <p:cNvPr id="114" name="code"/>
          <p:cNvGrpSpPr/>
          <p:nvPr/>
        </p:nvGrpSpPr>
        <p:grpSpPr>
          <a:xfrm>
            <a:off x="543154" y="1481328"/>
            <a:ext cx="6035040" cy="1750900"/>
            <a:chOff x="543154" y="1481328"/>
            <a:chExt cx="6035040" cy="1750900"/>
          </a:xfrm>
        </p:grpSpPr>
        <p:sp>
          <p:nvSpPr>
            <p:cNvPr id="101" name="code_win"/>
            <p:cNvSpPr/>
            <p:nvPr/>
          </p:nvSpPr>
          <p:spPr>
            <a:xfrm>
              <a:off x="543154" y="1481328"/>
              <a:ext cx="6035040" cy="1750900"/>
            </a:xfrm>
            <a:prstGeom prst="roundRect">
              <a:avLst>
                <a:gd name="adj" fmla="val 3915"/>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603504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250992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using System.Text;</a:t>
              </a:r>
              <a:endParaRPr lang="en-US" sz="950" dirty="0"/>
            </a:p>
          </p:txBody>
        </p:sp>
        <p:sp>
          <p:nvSpPr>
            <p:cNvPr id="108" name="code_L00"/>
            <p:cNvSpPr txBox="1"/>
            <p:nvPr/>
          </p:nvSpPr>
          <p:spPr>
            <a:xfrm>
              <a:off x="771754" y="19572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byte</a:t>
              </a:r>
              <a:r>
                <a:rPr lang="en-US" sz="880" b="0" dirty="0">
                  <a:solidFill>
                    <a:srgbClr val="E2E8F0"/>
                  </a:solidFill>
                  <a:latin typeface="Consolas"/>
                  <a:ea typeface="Consolas"/>
                  <a:cs typeface="Consolas"/>
                </a:rPr>
                <a:t>[] hi   = Encoding.UTF8.GetBytes(</a:t>
              </a:r>
              <a:r>
                <a:rPr lang="en-US" sz="880" b="0" dirty="0">
                  <a:solidFill>
                    <a:srgbClr val="F0A98B"/>
                  </a:solidFill>
                  <a:latin typeface="Consolas"/>
                  <a:ea typeface="Consolas"/>
                  <a:cs typeface="Consolas"/>
                </a:rPr>
                <a:t>"Hi"</a:t>
              </a:r>
              <a:r>
                <a:rPr lang="en-US" sz="880" b="0" dirty="0">
                  <a:solidFill>
                    <a:srgbClr val="E2E8F0"/>
                  </a:solidFill>
                  <a:latin typeface="Consolas"/>
                  <a:ea typeface="Consolas"/>
                  <a:cs typeface="Consolas"/>
                </a:rPr>
                <a:t>);</a:t>
              </a:r>
              <a:endParaRPr lang="en-US" sz="880" dirty="0"/>
            </a:p>
          </p:txBody>
        </p:sp>
        <p:sp>
          <p:nvSpPr>
            <p:cNvPr id="109" name="code_L01"/>
            <p:cNvSpPr txBox="1"/>
            <p:nvPr/>
          </p:nvSpPr>
          <p:spPr>
            <a:xfrm>
              <a:off x="771754" y="21222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byte</a:t>
              </a:r>
              <a:r>
                <a:rPr lang="en-US" sz="880" b="0" dirty="0">
                  <a:solidFill>
                    <a:srgbClr val="E2E8F0"/>
                  </a:solidFill>
                  <a:latin typeface="Consolas"/>
                  <a:ea typeface="Consolas"/>
                  <a:cs typeface="Consolas"/>
                </a:rPr>
                <a:t>[] cafe = Encoding.UTF8.GetBytes(</a:t>
              </a:r>
              <a:r>
                <a:rPr lang="en-US" sz="880" b="0" dirty="0">
                  <a:solidFill>
                    <a:srgbClr val="F0A98B"/>
                  </a:solidFill>
                  <a:latin typeface="Consolas"/>
                  <a:ea typeface="Consolas"/>
                  <a:cs typeface="Consolas"/>
                </a:rPr>
                <a:t>"Café"</a:t>
              </a:r>
              <a:r>
                <a:rPr lang="en-US" sz="880" b="0" dirty="0">
                  <a:solidFill>
                    <a:srgbClr val="E2E8F0"/>
                  </a:solidFill>
                  <a:latin typeface="Consolas"/>
                  <a:ea typeface="Consolas"/>
                  <a:cs typeface="Consolas"/>
                </a:rPr>
                <a:t>);</a:t>
              </a:r>
              <a:endParaRPr lang="en-US" sz="880" dirty="0"/>
            </a:p>
          </p:txBody>
        </p:sp>
        <p:sp>
          <p:nvSpPr>
            <p:cNvPr id="110" name="code_L03"/>
            <p:cNvSpPr txBox="1"/>
            <p:nvPr/>
          </p:nvSpPr>
          <p:spPr>
            <a:xfrm>
              <a:off x="771754" y="24522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60A5FA"/>
                  </a:solidFill>
                  <a:latin typeface="Consolas"/>
                  <a:ea typeface="Consolas"/>
                  <a:cs typeface="Consolas"/>
                </a:rPr>
                <a:t>string</a:t>
              </a:r>
              <a:r>
                <a:rPr lang="en-US" sz="880" b="0" dirty="0">
                  <a:solidFill>
                    <a:srgbClr val="E2E8F0"/>
                  </a:solidFill>
                  <a:latin typeface="Consolas"/>
                  <a:ea typeface="Consolas"/>
                  <a:cs typeface="Consolas"/>
                </a:rPr>
                <a:t>.Join(</a:t>
              </a:r>
              <a:r>
                <a:rPr lang="en-US" sz="880" b="0" dirty="0">
                  <a:solidFill>
                    <a:srgbClr val="F0A98B"/>
                  </a:solidFill>
                  <a:latin typeface="Consolas"/>
                  <a:ea typeface="Consolas"/>
                  <a:cs typeface="Consolas"/>
                </a:rPr>
                <a:t>" "</a:t>
              </a:r>
              <a:r>
                <a:rPr lang="en-US" sz="880" b="0" dirty="0">
                  <a:solidFill>
                    <a:srgbClr val="E2E8F0"/>
                  </a:solidFill>
                  <a:latin typeface="Consolas"/>
                  <a:ea typeface="Consolas"/>
                  <a:cs typeface="Consolas"/>
                </a:rPr>
                <a:t>, hi));            </a:t>
              </a:r>
              <a:r>
                <a:rPr lang="en-US" sz="880" b="0" dirty="0">
                  <a:solidFill>
                    <a:srgbClr val="6FAE7A"/>
                  </a:solidFill>
                  <a:latin typeface="Consolas"/>
                  <a:ea typeface="Consolas"/>
                  <a:cs typeface="Consolas"/>
                </a:rPr>
                <a:t>// 72 105</a:t>
              </a:r>
              <a:endParaRPr lang="en-US" sz="880" dirty="0"/>
            </a:p>
          </p:txBody>
        </p:sp>
        <p:sp>
          <p:nvSpPr>
            <p:cNvPr id="111" name="code_L04"/>
            <p:cNvSpPr txBox="1"/>
            <p:nvPr/>
          </p:nvSpPr>
          <p:spPr>
            <a:xfrm>
              <a:off x="771754" y="26172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$"\"Hi\" = {hi.Length} bytes"</a:t>
              </a:r>
              <a:r>
                <a:rPr lang="en-US" sz="880" b="0" dirty="0">
                  <a:solidFill>
                    <a:srgbClr val="E2E8F0"/>
                  </a:solidFill>
                  <a:latin typeface="Consolas"/>
                  <a:ea typeface="Consolas"/>
                  <a:cs typeface="Consolas"/>
                </a:rPr>
                <a:t>);</a:t>
              </a:r>
              <a:endParaRPr lang="en-US" sz="880" dirty="0"/>
            </a:p>
          </p:txBody>
        </p:sp>
        <p:sp>
          <p:nvSpPr>
            <p:cNvPr id="112" name="code_L05"/>
            <p:cNvSpPr txBox="1"/>
            <p:nvPr/>
          </p:nvSpPr>
          <p:spPr>
            <a:xfrm>
              <a:off x="771754" y="27822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$"\"Café\" = {cafe.Length} bytes"</a:t>
              </a:r>
              <a:r>
                <a:rPr lang="en-US" sz="880" b="0" dirty="0">
                  <a:solidFill>
                    <a:srgbClr val="E2E8F0"/>
                  </a:solidFill>
                  <a:latin typeface="Consolas"/>
                  <a:ea typeface="Consolas"/>
                  <a:cs typeface="Consolas"/>
                </a:rPr>
                <a:t>);   </a:t>
              </a:r>
              <a:r>
                <a:rPr lang="en-US" sz="880" b="0" dirty="0">
                  <a:solidFill>
                    <a:srgbClr val="6FAE7A"/>
                  </a:solidFill>
                  <a:latin typeface="Consolas"/>
                  <a:ea typeface="Consolas"/>
                  <a:cs typeface="Consolas"/>
                </a:rPr>
                <a:t>// é needs 2 bytes</a:t>
              </a:r>
              <a:endParaRPr lang="en-US" sz="880" dirty="0"/>
            </a:p>
          </p:txBody>
        </p:sp>
        <p:sp>
          <p:nvSpPr>
            <p:cNvPr id="113" name="code_L06"/>
            <p:cNvSpPr txBox="1"/>
            <p:nvPr/>
          </p:nvSpPr>
          <p:spPr>
            <a:xfrm>
              <a:off x="771754" y="29472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Console.WriteLine(Encoding.UTF8.GetString(hi));     </a:t>
              </a:r>
              <a:r>
                <a:rPr lang="en-US" sz="880" b="0" dirty="0">
                  <a:solidFill>
                    <a:srgbClr val="6FAE7A"/>
                  </a:solidFill>
                  <a:latin typeface="Consolas"/>
                  <a:ea typeface="Consolas"/>
                  <a:cs typeface="Consolas"/>
                </a:rPr>
                <a:t>// back to text</a:t>
              </a:r>
              <a:endParaRPr lang="en-US" sz="880" dirty="0"/>
            </a:p>
          </p:txBody>
        </p:sp>
      </p:grpSp>
      <p:sp>
        <p:nvSpPr>
          <p:cNvPr id="115" name="code_hl6"/>
          <p:cNvSpPr/>
          <p:nvPr/>
        </p:nvSpPr>
        <p:spPr>
          <a:xfrm>
            <a:off x="676656" y="2928940"/>
            <a:ext cx="5768040" cy="201576"/>
          </a:xfrm>
          <a:prstGeom prst="rect">
            <a:avLst/>
          </a:prstGeom>
          <a:solidFill>
            <a:srgbClr val="34D399">
              <a:alpha val="15000"/>
            </a:srgbClr>
          </a:solidFill>
          <a:ln w="12700">
            <a:solidFill>
              <a:srgbClr val="34D399"/>
            </a:solidFill>
            <a:prstDash val="solid"/>
          </a:ln>
        </p:spPr>
        <p:txBody>
          <a:bodyPr/>
          <a:lstStyle/>
          <a:p>
            <a:endParaRPr lang="en-US" dirty="0"/>
          </a:p>
        </p:txBody>
      </p:sp>
      <p:grpSp>
        <p:nvGrpSpPr>
          <p:cNvPr id="127" name="out"/>
          <p:cNvGrpSpPr/>
          <p:nvPr/>
        </p:nvGrpSpPr>
        <p:grpSpPr>
          <a:xfrm>
            <a:off x="543154" y="3310128"/>
            <a:ext cx="6035040" cy="1335900"/>
            <a:chOff x="543154" y="3310128"/>
            <a:chExt cx="6035040" cy="1335900"/>
          </a:xfrm>
        </p:grpSpPr>
        <p:sp>
          <p:nvSpPr>
            <p:cNvPr id="116" name="out_win"/>
            <p:cNvSpPr/>
            <p:nvPr/>
          </p:nvSpPr>
          <p:spPr>
            <a:xfrm>
              <a:off x="543154" y="3310128"/>
              <a:ext cx="6035040" cy="1335900"/>
            </a:xfrm>
            <a:prstGeom prst="roundRect">
              <a:avLst>
                <a:gd name="adj" fmla="val 5131"/>
              </a:avLst>
            </a:prstGeom>
            <a:solidFill>
              <a:srgbClr val="060D18"/>
            </a:solidFill>
            <a:ln w="12700">
              <a:solidFill>
                <a:srgbClr val="1E3A5F"/>
              </a:solidFill>
              <a:prstDash val="solid"/>
            </a:ln>
          </p:spPr>
          <p:txBody>
            <a:bodyPr/>
            <a:lstStyle/>
            <a:p>
              <a:endParaRPr lang="en-US"/>
            </a:p>
          </p:txBody>
        </p:sp>
        <p:sp>
          <p:nvSpPr>
            <p:cNvPr id="117" name="out_bar"/>
            <p:cNvSpPr/>
            <p:nvPr/>
          </p:nvSpPr>
          <p:spPr>
            <a:xfrm>
              <a:off x="543154" y="331012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8" name="out_barfill"/>
            <p:cNvSpPr/>
            <p:nvPr/>
          </p:nvSpPr>
          <p:spPr>
            <a:xfrm>
              <a:off x="543154" y="3481578"/>
              <a:ext cx="6035040" cy="171450"/>
            </a:xfrm>
            <a:prstGeom prst="rect">
              <a:avLst/>
            </a:prstGeom>
            <a:solidFill>
              <a:srgbClr val="0A1220"/>
            </a:solidFill>
            <a:ln w="12700">
              <a:solidFill>
                <a:srgbClr val="0A1220"/>
              </a:solidFill>
              <a:prstDash val="solid"/>
            </a:ln>
          </p:spPr>
          <p:txBody>
            <a:bodyPr/>
            <a:lstStyle/>
            <a:p>
              <a:endParaRPr lang="en-US"/>
            </a:p>
          </p:txBody>
        </p:sp>
        <p:sp>
          <p:nvSpPr>
            <p:cNvPr id="119" name="out_dot0"/>
            <p:cNvSpPr/>
            <p:nvPr/>
          </p:nvSpPr>
          <p:spPr>
            <a:xfrm>
              <a:off x="705002" y="3433938"/>
              <a:ext cx="95098" cy="95098"/>
            </a:xfrm>
            <a:prstGeom prst="ellipse">
              <a:avLst/>
            </a:prstGeom>
            <a:solidFill>
              <a:srgbClr val="F87171"/>
            </a:solidFill>
            <a:ln w="12700">
              <a:solidFill>
                <a:srgbClr val="F87171"/>
              </a:solidFill>
              <a:prstDash val="solid"/>
            </a:ln>
          </p:spPr>
          <p:txBody>
            <a:bodyPr/>
            <a:lstStyle/>
            <a:p>
              <a:endParaRPr lang="en-US"/>
            </a:p>
          </p:txBody>
        </p:sp>
        <p:sp>
          <p:nvSpPr>
            <p:cNvPr id="120" name="out_dot1"/>
            <p:cNvSpPr/>
            <p:nvPr/>
          </p:nvSpPr>
          <p:spPr>
            <a:xfrm>
              <a:off x="890626" y="3433938"/>
              <a:ext cx="95098" cy="95098"/>
            </a:xfrm>
            <a:prstGeom prst="ellipse">
              <a:avLst/>
            </a:prstGeom>
            <a:solidFill>
              <a:srgbClr val="FBBF24"/>
            </a:solidFill>
            <a:ln w="12700">
              <a:solidFill>
                <a:srgbClr val="FBBF24"/>
              </a:solidFill>
              <a:prstDash val="solid"/>
            </a:ln>
          </p:spPr>
          <p:txBody>
            <a:bodyPr/>
            <a:lstStyle/>
            <a:p>
              <a:endParaRPr lang="en-US"/>
            </a:p>
          </p:txBody>
        </p:sp>
        <p:sp>
          <p:nvSpPr>
            <p:cNvPr id="121" name="out_dot2"/>
            <p:cNvSpPr/>
            <p:nvPr/>
          </p:nvSpPr>
          <p:spPr>
            <a:xfrm>
              <a:off x="1076250" y="3433938"/>
              <a:ext cx="95098" cy="95098"/>
            </a:xfrm>
            <a:prstGeom prst="ellipse">
              <a:avLst/>
            </a:prstGeom>
            <a:solidFill>
              <a:srgbClr val="34D399"/>
            </a:solidFill>
            <a:ln w="12700">
              <a:solidFill>
                <a:srgbClr val="34D399"/>
              </a:solidFill>
              <a:prstDash val="solid"/>
            </a:ln>
          </p:spPr>
          <p:txBody>
            <a:bodyPr/>
            <a:lstStyle/>
            <a:p>
              <a:endParaRPr lang="en-US"/>
            </a:p>
          </p:txBody>
        </p:sp>
        <p:sp>
          <p:nvSpPr>
            <p:cNvPr id="122" name="out_tab"/>
            <p:cNvSpPr/>
            <p:nvPr/>
          </p:nvSpPr>
          <p:spPr>
            <a:xfrm>
              <a:off x="1324051" y="33576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23" name="out_L00"/>
            <p:cNvSpPr txBox="1"/>
            <p:nvPr/>
          </p:nvSpPr>
          <p:spPr>
            <a:xfrm>
              <a:off x="771754" y="3786028"/>
              <a:ext cx="573504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72 105</a:t>
              </a:r>
              <a:endParaRPr lang="en-US" sz="1000" dirty="0"/>
            </a:p>
          </p:txBody>
        </p:sp>
        <p:sp>
          <p:nvSpPr>
            <p:cNvPr id="124" name="out_L01"/>
            <p:cNvSpPr txBox="1"/>
            <p:nvPr/>
          </p:nvSpPr>
          <p:spPr>
            <a:xfrm>
              <a:off x="771754" y="3971028"/>
              <a:ext cx="573504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"Hi" = 2 bytes</a:t>
              </a:r>
              <a:endParaRPr lang="en-US" sz="1000" dirty="0"/>
            </a:p>
          </p:txBody>
        </p:sp>
        <p:sp>
          <p:nvSpPr>
            <p:cNvPr id="125" name="out_L02"/>
            <p:cNvSpPr txBox="1"/>
            <p:nvPr/>
          </p:nvSpPr>
          <p:spPr>
            <a:xfrm>
              <a:off x="771754" y="4156028"/>
              <a:ext cx="573504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"Café" = 5 bytes</a:t>
              </a:r>
              <a:endParaRPr lang="en-US" sz="1000" dirty="0"/>
            </a:p>
          </p:txBody>
        </p:sp>
        <p:sp>
          <p:nvSpPr>
            <p:cNvPr id="126" name="out_L03"/>
            <p:cNvSpPr txBox="1"/>
            <p:nvPr/>
          </p:nvSpPr>
          <p:spPr>
            <a:xfrm>
              <a:off x="771754" y="4341028"/>
              <a:ext cx="573504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Hi</a:t>
              </a:r>
              <a:endParaRPr lang="en-US" sz="1000" dirty="0"/>
            </a:p>
          </p:txBody>
        </p:sp>
      </p:grpSp>
      <p:sp>
        <p:nvSpPr>
          <p:cNvPr id="128" name="t1"/>
          <p:cNvSpPr txBox="1"/>
          <p:nvPr/>
        </p:nvSpPr>
        <p:spPr>
          <a:xfrm>
            <a:off x="6898234" y="1481328"/>
            <a:ext cx="4732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94A3B8"/>
                </a:solidFill>
                <a:latin typeface="Segoe UI"/>
                <a:ea typeface="Segoe UI"/>
                <a:cs typeface="Segoe UI"/>
              </a:rPr>
              <a:t>TEXT → BYTES (UTF-8)</a:t>
            </a:r>
            <a:endParaRPr lang="en-US" sz="1050" dirty="0"/>
          </a:p>
        </p:txBody>
      </p:sp>
      <p:grpSp>
        <p:nvGrpSpPr>
          <p:cNvPr id="135" name="hi"/>
          <p:cNvGrpSpPr/>
          <p:nvPr/>
        </p:nvGrpSpPr>
        <p:grpSpPr>
          <a:xfrm>
            <a:off x="6898234" y="1810512"/>
            <a:ext cx="2148840" cy="1280160"/>
            <a:chOff x="6898234" y="1810512"/>
            <a:chExt cx="2148840" cy="1280160"/>
          </a:xfrm>
        </p:grpSpPr>
        <p:sp>
          <p:nvSpPr>
            <p:cNvPr id="129" name="ch0"/>
            <p:cNvSpPr/>
            <p:nvPr/>
          </p:nvSpPr>
          <p:spPr>
            <a:xfrm>
              <a:off x="6898234" y="1810512"/>
              <a:ext cx="1005840" cy="50292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H</a:t>
              </a:r>
              <a:endParaRPr lang="en-US" sz="1800" dirty="0"/>
            </a:p>
          </p:txBody>
        </p:sp>
        <p:cxnSp>
          <p:nvCxnSpPr>
            <p:cNvPr id="130" name="ar0"/>
            <p:cNvCxnSpPr/>
            <p:nvPr/>
          </p:nvCxnSpPr>
          <p:spPr>
            <a:xfrm>
              <a:off x="7401154" y="2331720"/>
              <a:ext cx="0" cy="274320"/>
            </a:xfrm>
            <a:prstGeom prst="line">
              <a:avLst/>
            </a:prstGeom>
            <a:ln w="28575">
              <a:solidFill>
                <a:srgbClr val="94A3B8"/>
              </a:solidFill>
              <a:tailEnd type="triangle" w="med" len="med"/>
            </a:ln>
          </p:spPr>
        </p:cxnSp>
        <p:sp>
          <p:nvSpPr>
            <p:cNvPr id="131" name="by0"/>
            <p:cNvSpPr/>
            <p:nvPr/>
          </p:nvSpPr>
          <p:spPr>
            <a:xfrm>
              <a:off x="6898234" y="2633472"/>
              <a:ext cx="1005840" cy="457200"/>
            </a:xfrm>
            <a:prstGeom prst="roundRect">
              <a:avLst>
                <a:gd name="adj" fmla="val 12000"/>
              </a:avLst>
            </a:prstGeom>
            <a:solidFill>
              <a:srgbClr val="A78BFA">
                <a:alpha val="20000"/>
              </a:srgbClr>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500" b="1" dirty="0">
                  <a:solidFill>
                    <a:srgbClr val="A78BFA"/>
                  </a:solidFill>
                  <a:latin typeface="Consolas"/>
                  <a:ea typeface="Consolas"/>
                  <a:cs typeface="Consolas"/>
                </a:rPr>
                <a:t>72</a:t>
              </a:r>
              <a:endParaRPr lang="en-US" sz="1500" dirty="0"/>
            </a:p>
          </p:txBody>
        </p:sp>
        <p:sp>
          <p:nvSpPr>
            <p:cNvPr id="132" name="ch1"/>
            <p:cNvSpPr/>
            <p:nvPr/>
          </p:nvSpPr>
          <p:spPr>
            <a:xfrm>
              <a:off x="8041234" y="1810512"/>
              <a:ext cx="1005840" cy="50292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i</a:t>
              </a:r>
              <a:endParaRPr lang="en-US" sz="1800" dirty="0"/>
            </a:p>
          </p:txBody>
        </p:sp>
        <p:cxnSp>
          <p:nvCxnSpPr>
            <p:cNvPr id="133" name="ar1"/>
            <p:cNvCxnSpPr/>
            <p:nvPr/>
          </p:nvCxnSpPr>
          <p:spPr>
            <a:xfrm>
              <a:off x="8544154" y="2331720"/>
              <a:ext cx="0" cy="274320"/>
            </a:xfrm>
            <a:prstGeom prst="line">
              <a:avLst/>
            </a:prstGeom>
            <a:ln w="28575">
              <a:solidFill>
                <a:srgbClr val="94A3B8"/>
              </a:solidFill>
              <a:tailEnd type="triangle" w="med" len="med"/>
            </a:ln>
          </p:spPr>
        </p:cxnSp>
        <p:sp>
          <p:nvSpPr>
            <p:cNvPr id="134" name="by1"/>
            <p:cNvSpPr/>
            <p:nvPr/>
          </p:nvSpPr>
          <p:spPr>
            <a:xfrm>
              <a:off x="8041234" y="2633472"/>
              <a:ext cx="1005840" cy="457200"/>
            </a:xfrm>
            <a:prstGeom prst="roundRect">
              <a:avLst>
                <a:gd name="adj" fmla="val 12000"/>
              </a:avLst>
            </a:prstGeom>
            <a:solidFill>
              <a:srgbClr val="A78BFA">
                <a:alpha val="20000"/>
              </a:srgbClr>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500" b="1" dirty="0">
                  <a:solidFill>
                    <a:srgbClr val="A78BFA"/>
                  </a:solidFill>
                  <a:latin typeface="Consolas"/>
                  <a:ea typeface="Consolas"/>
                  <a:cs typeface="Consolas"/>
                </a:rPr>
                <a:t>105</a:t>
              </a:r>
              <a:endParaRPr lang="en-US" sz="1500" dirty="0"/>
            </a:p>
          </p:txBody>
        </p:sp>
      </p:grpSp>
      <p:sp>
        <p:nvSpPr>
          <p:cNvPr id="136" name="hl"/>
          <p:cNvSpPr txBox="1"/>
          <p:nvPr/>
        </p:nvSpPr>
        <p:spPr>
          <a:xfrm>
            <a:off x="9275674" y="2011680"/>
            <a:ext cx="2354580" cy="10058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1 byte per letter</a:t>
            </a:r>
            <a:endParaRPr lang="en-US" sz="1050" dirty="0"/>
          </a:p>
          <a:p>
            <a:pPr marL="0" indent="0" algn="l">
              <a:spcBef>
                <a:spcPts val="0"/>
              </a:spcBef>
              <a:spcAft>
                <a:spcPts val="0"/>
              </a:spcAft>
              <a:buNone/>
            </a:pPr>
            <a:r>
              <a:rPr lang="en-US" sz="1000" b="0" dirty="0">
                <a:solidFill>
                  <a:srgbClr val="94A3B8"/>
                </a:solidFill>
                <a:latin typeface="Segoe UI"/>
                <a:ea typeface="Segoe UI"/>
                <a:cs typeface="Segoe UI"/>
              </a:rPr>
              <a:t>a byte = 0 … 255</a:t>
            </a:r>
            <a:endParaRPr lang="en-US" sz="1000" dirty="0"/>
          </a:p>
        </p:txBody>
      </p:sp>
      <p:grpSp>
        <p:nvGrpSpPr>
          <p:cNvPr id="141" name="ar"/>
          <p:cNvGrpSpPr/>
          <p:nvPr/>
        </p:nvGrpSpPr>
        <p:grpSpPr>
          <a:xfrm>
            <a:off x="6898234" y="3291840"/>
            <a:ext cx="4434840" cy="457200"/>
            <a:chOff x="6898234" y="3291840"/>
            <a:chExt cx="4434840" cy="457200"/>
          </a:xfrm>
        </p:grpSpPr>
        <p:sp>
          <p:nvSpPr>
            <p:cNvPr id="137" name="ab0"/>
            <p:cNvSpPr/>
            <p:nvPr/>
          </p:nvSpPr>
          <p:spPr>
            <a:xfrm>
              <a:off x="6898234" y="3291840"/>
              <a:ext cx="1005840" cy="457200"/>
            </a:xfrm>
            <a:prstGeom prst="roundRect">
              <a:avLst>
                <a:gd name="adj" fmla="val 12000"/>
              </a:avLst>
            </a:prstGeom>
            <a:solidFill>
              <a:srgbClr val="A78BFA">
                <a:alpha val="15000"/>
              </a:srgbClr>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C</a:t>
              </a:r>
              <a:r>
                <a:rPr lang="en-US" sz="1000" b="1" dirty="0">
                  <a:solidFill>
                    <a:srgbClr val="A78BFA"/>
                  </a:solidFill>
                  <a:latin typeface="Segoe UI"/>
                  <a:ea typeface="Segoe UI"/>
                  <a:cs typeface="Segoe UI"/>
                </a:rPr>
                <a:t>  1 byte</a:t>
              </a:r>
              <a:endParaRPr lang="en-US" sz="1300" dirty="0"/>
            </a:p>
          </p:txBody>
        </p:sp>
        <p:sp>
          <p:nvSpPr>
            <p:cNvPr id="138" name="ab1"/>
            <p:cNvSpPr/>
            <p:nvPr/>
          </p:nvSpPr>
          <p:spPr>
            <a:xfrm>
              <a:off x="8041234" y="3291840"/>
              <a:ext cx="1005840" cy="457200"/>
            </a:xfrm>
            <a:prstGeom prst="roundRect">
              <a:avLst>
                <a:gd name="adj" fmla="val 12000"/>
              </a:avLst>
            </a:prstGeom>
            <a:solidFill>
              <a:srgbClr val="A78BFA">
                <a:alpha val="15000"/>
              </a:srgbClr>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a</a:t>
              </a:r>
              <a:r>
                <a:rPr lang="en-US" sz="1000" b="1" dirty="0">
                  <a:solidFill>
                    <a:srgbClr val="A78BFA"/>
                  </a:solidFill>
                  <a:latin typeface="Segoe UI"/>
                  <a:ea typeface="Segoe UI"/>
                  <a:cs typeface="Segoe UI"/>
                </a:rPr>
                <a:t>  1 byte</a:t>
              </a:r>
              <a:endParaRPr lang="en-US" sz="1300" dirty="0"/>
            </a:p>
          </p:txBody>
        </p:sp>
        <p:sp>
          <p:nvSpPr>
            <p:cNvPr id="139" name="ab2"/>
            <p:cNvSpPr/>
            <p:nvPr/>
          </p:nvSpPr>
          <p:spPr>
            <a:xfrm>
              <a:off x="9184234" y="3291840"/>
              <a:ext cx="1005840" cy="457200"/>
            </a:xfrm>
            <a:prstGeom prst="roundRect">
              <a:avLst>
                <a:gd name="adj" fmla="val 12000"/>
              </a:avLst>
            </a:prstGeom>
            <a:solidFill>
              <a:srgbClr val="A78BFA">
                <a:alpha val="15000"/>
              </a:srgbClr>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f</a:t>
              </a:r>
              <a:r>
                <a:rPr lang="en-US" sz="1000" b="1" dirty="0">
                  <a:solidFill>
                    <a:srgbClr val="A78BFA"/>
                  </a:solidFill>
                  <a:latin typeface="Segoe UI"/>
                  <a:ea typeface="Segoe UI"/>
                  <a:cs typeface="Segoe UI"/>
                </a:rPr>
                <a:t>  1 byte</a:t>
              </a:r>
              <a:endParaRPr lang="en-US" sz="1300" dirty="0"/>
            </a:p>
          </p:txBody>
        </p:sp>
        <p:sp>
          <p:nvSpPr>
            <p:cNvPr id="140" name="ab3"/>
            <p:cNvSpPr/>
            <p:nvPr/>
          </p:nvSpPr>
          <p:spPr>
            <a:xfrm>
              <a:off x="10327234" y="3291840"/>
              <a:ext cx="1005840" cy="457200"/>
            </a:xfrm>
            <a:prstGeom prst="roundRect">
              <a:avLst>
                <a:gd name="adj" fmla="val 12000"/>
              </a:avLst>
            </a:prstGeom>
            <a:solidFill>
              <a:srgbClr val="F472B6">
                <a:alpha val="15000"/>
              </a:srgbClr>
            </a:solidFill>
            <a:ln w="12700">
              <a:solidFill>
                <a:srgbClr val="F472B6"/>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FFFFFF"/>
                  </a:solidFill>
                  <a:latin typeface="Consolas"/>
                  <a:ea typeface="Consolas"/>
                  <a:cs typeface="Consolas"/>
                </a:rPr>
                <a:t>é</a:t>
              </a:r>
              <a:r>
                <a:rPr lang="en-US" sz="1000" b="1" dirty="0">
                  <a:solidFill>
                    <a:srgbClr val="F472B6"/>
                  </a:solidFill>
                  <a:latin typeface="Segoe UI"/>
                  <a:ea typeface="Segoe UI"/>
                  <a:cs typeface="Segoe UI"/>
                </a:rPr>
                <a:t>  2 bytes</a:t>
              </a:r>
              <a:endParaRPr lang="en-US" sz="1300" dirty="0"/>
            </a:p>
          </p:txBody>
        </p:sp>
      </p:grpSp>
      <p:sp>
        <p:nvSpPr>
          <p:cNvPr id="142" name="al"/>
          <p:cNvSpPr txBox="1"/>
          <p:nvPr/>
        </p:nvSpPr>
        <p:spPr>
          <a:xfrm>
            <a:off x="6898234" y="3794760"/>
            <a:ext cx="4732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472B6"/>
                </a:solidFill>
                <a:latin typeface="Segoe UI"/>
                <a:ea typeface="Segoe UI"/>
                <a:cs typeface="Segoe UI"/>
              </a:rPr>
              <a:t>"Café": 4 letters, but 5 bytes: é needs 2</a:t>
            </a:r>
            <a:endParaRPr lang="en-US" sz="1050" dirty="0"/>
          </a:p>
        </p:txBody>
      </p:sp>
      <p:sp>
        <p:nvSpPr>
          <p:cNvPr id="143" name="rw"/>
          <p:cNvSpPr/>
          <p:nvPr/>
        </p:nvSpPr>
        <p:spPr>
          <a:xfrm>
            <a:off x="6898234" y="4206240"/>
            <a:ext cx="4732020" cy="1051560"/>
          </a:xfrm>
          <a:prstGeom prst="roundRect">
            <a:avLst>
              <a:gd name="adj" fmla="val 12000"/>
            </a:avLst>
          </a:prstGeom>
          <a:solidFill>
            <a:srgbClr val="111B2E"/>
          </a:solidFill>
          <a:ln w="12700">
            <a:solidFill>
              <a:srgbClr val="1E3A5F"/>
            </a:solidFill>
            <a:prstDash val="solid"/>
          </a:ln>
        </p:spPr>
        <p:txBody>
          <a:bodyPr wrap="square" lIns="164592" tIns="45720" rIns="91440" bIns="45720" rtlCol="0" anchor="ctr">
            <a:noAutofit/>
          </a:bodyPr>
          <a:lstStyle/>
          <a:p>
            <a:pPr marL="0" indent="0" algn="l">
              <a:spcBef>
                <a:spcPts val="0"/>
              </a:spcBef>
              <a:spcAft>
                <a:spcPts val="0"/>
              </a:spcAft>
              <a:buNone/>
            </a:pPr>
            <a:r>
              <a:rPr lang="en-US" sz="1150" b="1" dirty="0">
                <a:solidFill>
                  <a:srgbClr val="34D399"/>
                </a:solidFill>
                <a:latin typeface="Segoe UI"/>
                <a:ea typeface="Segoe UI"/>
                <a:cs typeface="Segoe UI"/>
              </a:rPr>
              <a:t>READ  </a:t>
            </a:r>
            <a:r>
              <a:rPr lang="en-US" sz="1050" b="0" dirty="0">
                <a:solidFill>
                  <a:srgbClr val="E2E8F0"/>
                </a:solidFill>
                <a:latin typeface="Segoe UI"/>
                <a:ea typeface="Segoe UI"/>
                <a:cs typeface="Segoe UI"/>
              </a:rPr>
              <a:t>bytes come OUT of the stream</a:t>
            </a:r>
            <a:endParaRPr lang="en-US" sz="1150" dirty="0"/>
          </a:p>
          <a:p>
            <a:pPr marL="0" indent="0" algn="l">
              <a:spcBef>
                <a:spcPts val="0"/>
              </a:spcBef>
              <a:spcAft>
                <a:spcPts val="0"/>
              </a:spcAft>
              <a:buNone/>
            </a:pPr>
            <a:r>
              <a:rPr lang="en-US" sz="1150" b="1" dirty="0">
                <a:solidFill>
                  <a:srgbClr val="FBBF24"/>
                </a:solidFill>
                <a:latin typeface="Segoe UI"/>
                <a:ea typeface="Segoe UI"/>
                <a:cs typeface="Segoe UI"/>
              </a:rPr>
              <a:t>WRITE </a:t>
            </a:r>
            <a:r>
              <a:rPr lang="en-US" sz="1050" b="0" dirty="0">
                <a:solidFill>
                  <a:srgbClr val="E2E8F0"/>
                </a:solidFill>
                <a:latin typeface="Segoe UI"/>
                <a:ea typeface="Segoe UI"/>
                <a:cs typeface="Segoe UI"/>
              </a:rPr>
              <a:t>bytes go IN to the stream</a:t>
            </a:r>
            <a:endParaRPr lang="en-US" sz="1150" dirty="0"/>
          </a:p>
          <a:p>
            <a:pPr marL="0" indent="0" algn="l">
              <a:spcBef>
                <a:spcPts val="0"/>
              </a:spcBef>
              <a:spcAft>
                <a:spcPts val="0"/>
              </a:spcAft>
              <a:buNone/>
            </a:pPr>
            <a:r>
              <a:rPr lang="en-US" sz="1000" b="0" dirty="0">
                <a:solidFill>
                  <a:srgbClr val="94A3B8"/>
                </a:solidFill>
                <a:latin typeface="Segoe UI"/>
                <a:ea typeface="Segoe UI"/>
                <a:cs typeface="Segoe UI"/>
              </a:rPr>
              <a:t>Same encoding to write and read, or the text is garbage.</a:t>
            </a:r>
            <a:endParaRPr lang="en-US" sz="1000" dirty="0"/>
          </a:p>
        </p:txBody>
      </p:sp>
    </p:spTree>
    <p:extLst>
      <p:ext uri="{BB962C8B-B14F-4D97-AF65-F5344CB8AC3E}">
        <p14:creationId xmlns:p14="http://schemas.microsoft.com/office/powerpoint/2010/main" val="50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400"/>
                                        <p:tgtEl>
                                          <p:spTgt spid="1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400"/>
                                        <p:tgtEl>
                                          <p:spTgt spid="1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fade">
                                      <p:cBhvr>
                                        <p:cTn id="15" dur="400"/>
                                        <p:tgtEl>
                                          <p:spTgt spid="128"/>
                                        </p:tgtEl>
                                      </p:cBhvr>
                                    </p:animEffect>
                                  </p:childTnLst>
                                </p:cTn>
                              </p:par>
                              <p:par>
                                <p:cTn id="16" presetID="10" presetClass="entr" presetSubtype="0" fill="hold" nodeType="withEffect">
                                  <p:stCondLst>
                                    <p:cond delay="0"/>
                                  </p:stCondLst>
                                  <p:childTnLst>
                                    <p:set>
                                      <p:cBhvr>
                                        <p:cTn id="17" dur="1" fill="hold">
                                          <p:stCondLst>
                                            <p:cond delay="0"/>
                                          </p:stCondLst>
                                        </p:cTn>
                                        <p:tgtEl>
                                          <p:spTgt spid="135"/>
                                        </p:tgtEl>
                                        <p:attrNameLst>
                                          <p:attrName>style.visibility</p:attrName>
                                        </p:attrNameLst>
                                      </p:cBhvr>
                                      <p:to>
                                        <p:strVal val="visible"/>
                                      </p:to>
                                    </p:set>
                                    <p:animEffect transition="in" filter="fade">
                                      <p:cBhvr>
                                        <p:cTn id="18" dur="400"/>
                                        <p:tgtEl>
                                          <p:spTgt spid="13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6"/>
                                        </p:tgtEl>
                                        <p:attrNameLst>
                                          <p:attrName>style.visibility</p:attrName>
                                        </p:attrNameLst>
                                      </p:cBhvr>
                                      <p:to>
                                        <p:strVal val="visible"/>
                                      </p:to>
                                    </p:set>
                                    <p:animEffect transition="in" filter="fade">
                                      <p:cBhvr>
                                        <p:cTn id="21" dur="400"/>
                                        <p:tgtEl>
                                          <p:spTgt spid="13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1"/>
                                        </p:tgtEl>
                                        <p:attrNameLst>
                                          <p:attrName>style.visibility</p:attrName>
                                        </p:attrNameLst>
                                      </p:cBhvr>
                                      <p:to>
                                        <p:strVal val="visible"/>
                                      </p:to>
                                    </p:set>
                                    <p:animEffect transition="in" filter="fade">
                                      <p:cBhvr>
                                        <p:cTn id="26" dur="400"/>
                                        <p:tgtEl>
                                          <p:spTgt spid="14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2"/>
                                        </p:tgtEl>
                                        <p:attrNameLst>
                                          <p:attrName>style.visibility</p:attrName>
                                        </p:attrNameLst>
                                      </p:cBhvr>
                                      <p:to>
                                        <p:strVal val="visible"/>
                                      </p:to>
                                    </p:set>
                                    <p:animEffect transition="in" filter="fade">
                                      <p:cBhvr>
                                        <p:cTn id="29" dur="400"/>
                                        <p:tgtEl>
                                          <p:spTgt spid="14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7"/>
                                        </p:tgtEl>
                                        <p:attrNameLst>
                                          <p:attrName>style.visibility</p:attrName>
                                        </p:attrNameLst>
                                      </p:cBhvr>
                                      <p:to>
                                        <p:strVal val="visible"/>
                                      </p:to>
                                    </p:set>
                                    <p:animEffect transition="in" filter="fade">
                                      <p:cBhvr>
                                        <p:cTn id="34" dur="400"/>
                                        <p:tgtEl>
                                          <p:spTgt spid="1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3"/>
                                        </p:tgtEl>
                                        <p:attrNameLst>
                                          <p:attrName>style.visibility</p:attrName>
                                        </p:attrNameLst>
                                      </p:cBhvr>
                                      <p:to>
                                        <p:strVal val="visible"/>
                                      </p:to>
                                    </p:set>
                                    <p:animEffect transition="in" filter="fade">
                                      <p:cBhvr>
                                        <p:cTn id="39" dur="4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28" grpId="0" animBg="1"/>
      <p:bldP spid="136" grpId="0" animBg="1"/>
      <p:bldP spid="142" grpId="0" animBg="1"/>
      <p:bldP spid="14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STREAM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Inside a Stream: Bytes, Position, Read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a:t>
            </a:r>
            <a:endParaRPr lang="en-US" sz="850" dirty="0"/>
          </a:p>
        </p:txBody>
      </p:sp>
      <p:sp>
        <p:nvSpPr>
          <p:cNvPr id="101" name="b0"/>
          <p:cNvSpPr/>
          <p:nvPr/>
        </p:nvSpPr>
        <p:spPr>
          <a:xfrm>
            <a:off x="685800"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S</a:t>
            </a:r>
            <a:endParaRPr lang="en-US" sz="1800" dirty="0"/>
          </a:p>
        </p:txBody>
      </p:sp>
      <p:sp>
        <p:nvSpPr>
          <p:cNvPr id="102" name="i0"/>
          <p:cNvSpPr txBox="1"/>
          <p:nvPr/>
        </p:nvSpPr>
        <p:spPr>
          <a:xfrm>
            <a:off x="685800"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0</a:t>
            </a:r>
            <a:endParaRPr lang="en-US" sz="900" dirty="0"/>
          </a:p>
        </p:txBody>
      </p:sp>
      <p:sp>
        <p:nvSpPr>
          <p:cNvPr id="103" name="b1"/>
          <p:cNvSpPr/>
          <p:nvPr/>
        </p:nvSpPr>
        <p:spPr>
          <a:xfrm>
            <a:off x="1298448"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w</a:t>
            </a:r>
            <a:endParaRPr lang="en-US" sz="1800" dirty="0"/>
          </a:p>
        </p:txBody>
      </p:sp>
      <p:sp>
        <p:nvSpPr>
          <p:cNvPr id="104" name="i1"/>
          <p:cNvSpPr txBox="1"/>
          <p:nvPr/>
        </p:nvSpPr>
        <p:spPr>
          <a:xfrm>
            <a:off x="1298448"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1</a:t>
            </a:r>
            <a:endParaRPr lang="en-US" sz="900" dirty="0"/>
          </a:p>
        </p:txBody>
      </p:sp>
      <p:sp>
        <p:nvSpPr>
          <p:cNvPr id="105" name="b2"/>
          <p:cNvSpPr/>
          <p:nvPr/>
        </p:nvSpPr>
        <p:spPr>
          <a:xfrm>
            <a:off x="1911096"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i</a:t>
            </a:r>
            <a:endParaRPr lang="en-US" sz="1800" dirty="0"/>
          </a:p>
        </p:txBody>
      </p:sp>
      <p:sp>
        <p:nvSpPr>
          <p:cNvPr id="106" name="i2"/>
          <p:cNvSpPr txBox="1"/>
          <p:nvPr/>
        </p:nvSpPr>
        <p:spPr>
          <a:xfrm>
            <a:off x="1911096"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2</a:t>
            </a:r>
            <a:endParaRPr lang="en-US" sz="900" dirty="0"/>
          </a:p>
        </p:txBody>
      </p:sp>
      <p:sp>
        <p:nvSpPr>
          <p:cNvPr id="107" name="b3"/>
          <p:cNvSpPr/>
          <p:nvPr/>
        </p:nvSpPr>
        <p:spPr>
          <a:xfrm>
            <a:off x="2523744"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f</a:t>
            </a:r>
            <a:endParaRPr lang="en-US" sz="1800" dirty="0"/>
          </a:p>
        </p:txBody>
      </p:sp>
      <p:sp>
        <p:nvSpPr>
          <p:cNvPr id="108" name="i3"/>
          <p:cNvSpPr txBox="1"/>
          <p:nvPr/>
        </p:nvSpPr>
        <p:spPr>
          <a:xfrm>
            <a:off x="2523744"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3</a:t>
            </a:r>
            <a:endParaRPr lang="en-US" sz="900" dirty="0"/>
          </a:p>
        </p:txBody>
      </p:sp>
      <p:sp>
        <p:nvSpPr>
          <p:cNvPr id="109" name="b4"/>
          <p:cNvSpPr/>
          <p:nvPr/>
        </p:nvSpPr>
        <p:spPr>
          <a:xfrm>
            <a:off x="3136392"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t</a:t>
            </a:r>
            <a:endParaRPr lang="en-US" sz="1800" dirty="0"/>
          </a:p>
        </p:txBody>
      </p:sp>
      <p:sp>
        <p:nvSpPr>
          <p:cNvPr id="110" name="i4"/>
          <p:cNvSpPr txBox="1"/>
          <p:nvPr/>
        </p:nvSpPr>
        <p:spPr>
          <a:xfrm>
            <a:off x="3136392"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4</a:t>
            </a:r>
            <a:endParaRPr lang="en-US" sz="900" dirty="0"/>
          </a:p>
        </p:txBody>
      </p:sp>
      <p:sp>
        <p:nvSpPr>
          <p:cNvPr id="111" name="b5"/>
          <p:cNvSpPr/>
          <p:nvPr/>
        </p:nvSpPr>
        <p:spPr>
          <a:xfrm>
            <a:off x="3749040"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B</a:t>
            </a:r>
            <a:endParaRPr lang="en-US" sz="1800" dirty="0"/>
          </a:p>
        </p:txBody>
      </p:sp>
      <p:sp>
        <p:nvSpPr>
          <p:cNvPr id="112" name="i5"/>
          <p:cNvSpPr txBox="1"/>
          <p:nvPr/>
        </p:nvSpPr>
        <p:spPr>
          <a:xfrm>
            <a:off x="3749040"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5</a:t>
            </a:r>
            <a:endParaRPr lang="en-US" sz="900" dirty="0"/>
          </a:p>
        </p:txBody>
      </p:sp>
      <p:sp>
        <p:nvSpPr>
          <p:cNvPr id="113" name="b6"/>
          <p:cNvSpPr/>
          <p:nvPr/>
        </p:nvSpPr>
        <p:spPr>
          <a:xfrm>
            <a:off x="4361688"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i</a:t>
            </a:r>
            <a:endParaRPr lang="en-US" sz="1800" dirty="0"/>
          </a:p>
        </p:txBody>
      </p:sp>
      <p:sp>
        <p:nvSpPr>
          <p:cNvPr id="114" name="i6"/>
          <p:cNvSpPr txBox="1"/>
          <p:nvPr/>
        </p:nvSpPr>
        <p:spPr>
          <a:xfrm>
            <a:off x="4361688"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6</a:t>
            </a:r>
            <a:endParaRPr lang="en-US" sz="900" dirty="0"/>
          </a:p>
        </p:txBody>
      </p:sp>
      <p:sp>
        <p:nvSpPr>
          <p:cNvPr id="115" name="b7"/>
          <p:cNvSpPr/>
          <p:nvPr/>
        </p:nvSpPr>
        <p:spPr>
          <a:xfrm>
            <a:off x="4974336"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t</a:t>
            </a:r>
            <a:endParaRPr lang="en-US" sz="1800" dirty="0"/>
          </a:p>
        </p:txBody>
      </p:sp>
      <p:sp>
        <p:nvSpPr>
          <p:cNvPr id="116" name="i7"/>
          <p:cNvSpPr txBox="1"/>
          <p:nvPr/>
        </p:nvSpPr>
        <p:spPr>
          <a:xfrm>
            <a:off x="4974336"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7</a:t>
            </a:r>
            <a:endParaRPr lang="en-US" sz="900" dirty="0"/>
          </a:p>
        </p:txBody>
      </p:sp>
      <p:sp>
        <p:nvSpPr>
          <p:cNvPr id="117" name="b8"/>
          <p:cNvSpPr/>
          <p:nvPr/>
        </p:nvSpPr>
        <p:spPr>
          <a:xfrm>
            <a:off x="5586984" y="1783080"/>
            <a:ext cx="548640" cy="548640"/>
          </a:xfrm>
          <a:prstGeom prst="roundRect">
            <a:avLst>
              <a:gd name="adj" fmla="val 10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e</a:t>
            </a:r>
            <a:endParaRPr lang="en-US" sz="1800" dirty="0"/>
          </a:p>
        </p:txBody>
      </p:sp>
      <p:sp>
        <p:nvSpPr>
          <p:cNvPr id="118" name="i8"/>
          <p:cNvSpPr txBox="1"/>
          <p:nvPr/>
        </p:nvSpPr>
        <p:spPr>
          <a:xfrm>
            <a:off x="5586984" y="2350008"/>
            <a:ext cx="548640" cy="201168"/>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Consolas"/>
                <a:ea typeface="Consolas"/>
                <a:cs typeface="Consolas"/>
              </a:rPr>
              <a:t>8</a:t>
            </a:r>
            <a:endParaRPr lang="en-US" sz="900" dirty="0"/>
          </a:p>
        </p:txBody>
      </p:sp>
      <p:sp>
        <p:nvSpPr>
          <p:cNvPr id="119" name="cap"/>
          <p:cNvSpPr txBox="1"/>
          <p:nvPr/>
        </p:nvSpPr>
        <p:spPr>
          <a:xfrm>
            <a:off x="685800" y="1481328"/>
            <a:ext cx="5486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94A3B8"/>
                </a:solidFill>
                <a:latin typeface="Segoe UI"/>
                <a:ea typeface="Segoe UI"/>
                <a:cs typeface="Segoe UI"/>
              </a:rPr>
              <a:t>menu.txt: 9 bytes</a:t>
            </a:r>
            <a:endParaRPr lang="en-US" sz="1050" dirty="0"/>
          </a:p>
        </p:txBody>
      </p:sp>
      <p:sp>
        <p:nvSpPr>
          <p:cNvPr id="120" name="o0"/>
          <p:cNvSpPr/>
          <p:nvPr/>
        </p:nvSpPr>
        <p:spPr>
          <a:xfrm>
            <a:off x="658368" y="1755648"/>
            <a:ext cx="2441448" cy="603504"/>
          </a:xfrm>
          <a:prstGeom prst="roundRect">
            <a:avLst>
              <a:gd name="adj" fmla="val 10000"/>
            </a:avLst>
          </a:prstGeom>
          <a:solidFill>
            <a:srgbClr val="13D0F7">
              <a:alpha val="22000"/>
            </a:srgbClr>
          </a:solidFill>
          <a:ln w="25400">
            <a:solidFill>
              <a:srgbClr val="13D0F7"/>
            </a:solidFill>
            <a:prstDash val="solid"/>
          </a:ln>
        </p:spPr>
        <p:txBody>
          <a:bodyPr/>
          <a:lstStyle/>
          <a:p>
            <a:endParaRPr lang="en-US"/>
          </a:p>
        </p:txBody>
      </p:sp>
      <p:sp>
        <p:nvSpPr>
          <p:cNvPr id="121" name="o1"/>
          <p:cNvSpPr/>
          <p:nvPr/>
        </p:nvSpPr>
        <p:spPr>
          <a:xfrm>
            <a:off x="3108960" y="1755648"/>
            <a:ext cx="2441448" cy="603504"/>
          </a:xfrm>
          <a:prstGeom prst="roundRect">
            <a:avLst>
              <a:gd name="adj" fmla="val 10000"/>
            </a:avLst>
          </a:prstGeom>
          <a:solidFill>
            <a:srgbClr val="A78BFA">
              <a:alpha val="22000"/>
            </a:srgbClr>
          </a:solidFill>
          <a:ln w="25400">
            <a:solidFill>
              <a:srgbClr val="A78BFA"/>
            </a:solidFill>
            <a:prstDash val="solid"/>
          </a:ln>
        </p:spPr>
        <p:txBody>
          <a:bodyPr/>
          <a:lstStyle/>
          <a:p>
            <a:endParaRPr lang="en-US"/>
          </a:p>
        </p:txBody>
      </p:sp>
      <p:sp>
        <p:nvSpPr>
          <p:cNvPr id="122" name="o2"/>
          <p:cNvSpPr/>
          <p:nvPr/>
        </p:nvSpPr>
        <p:spPr>
          <a:xfrm>
            <a:off x="5559552" y="1755648"/>
            <a:ext cx="603504" cy="603504"/>
          </a:xfrm>
          <a:prstGeom prst="roundRect">
            <a:avLst>
              <a:gd name="adj" fmla="val 10000"/>
            </a:avLst>
          </a:prstGeom>
          <a:solidFill>
            <a:srgbClr val="FBBF24">
              <a:alpha val="22000"/>
            </a:srgbClr>
          </a:solidFill>
          <a:ln w="25400">
            <a:solidFill>
              <a:srgbClr val="FBBF24"/>
            </a:solidFill>
            <a:prstDash val="solid"/>
          </a:ln>
        </p:spPr>
        <p:txBody>
          <a:bodyPr/>
          <a:lstStyle/>
          <a:p>
            <a:endParaRPr lang="en-US"/>
          </a:p>
        </p:txBody>
      </p:sp>
      <p:sp>
        <p:nvSpPr>
          <p:cNvPr id="123" name="pos"/>
          <p:cNvSpPr/>
          <p:nvPr/>
        </p:nvSpPr>
        <p:spPr>
          <a:xfrm>
            <a:off x="411480" y="2578608"/>
            <a:ext cx="1097280" cy="274320"/>
          </a:xfrm>
          <a:prstGeom prst="roundRect">
            <a:avLst>
              <a:gd name="adj" fmla="val 12000"/>
            </a:avLst>
          </a:prstGeom>
          <a:noFill/>
          <a:ln>
            <a:noFill/>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 Position</a:t>
            </a:r>
            <a:endParaRPr lang="en-US" sz="1000" dirty="0"/>
          </a:p>
        </p:txBody>
      </p:sp>
      <p:sp>
        <p:nvSpPr>
          <p:cNvPr id="124" name="k1"/>
          <p:cNvSpPr/>
          <p:nvPr/>
        </p:nvSpPr>
        <p:spPr>
          <a:xfrm>
            <a:off x="6446520" y="1600200"/>
            <a:ext cx="5184648" cy="1234440"/>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A STREAM = BYTES + A POSITION</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ReadAsync copies the next bytes into your buffer and moves Position forward. You never hold the whole file.</a:t>
            </a:r>
            <a:endParaRPr lang="en-US" sz="1200" dirty="0"/>
          </a:p>
        </p:txBody>
      </p:sp>
      <p:grpSp>
        <p:nvGrpSpPr>
          <p:cNvPr id="141" name="code"/>
          <p:cNvGrpSpPr/>
          <p:nvPr/>
        </p:nvGrpSpPr>
        <p:grpSpPr>
          <a:xfrm>
            <a:off x="543154" y="3063240"/>
            <a:ext cx="6172200" cy="2526300"/>
            <a:chOff x="543154" y="3063240"/>
            <a:chExt cx="6172200" cy="2526300"/>
          </a:xfrm>
        </p:grpSpPr>
        <p:sp>
          <p:nvSpPr>
            <p:cNvPr id="125" name="code_win"/>
            <p:cNvSpPr/>
            <p:nvPr/>
          </p:nvSpPr>
          <p:spPr>
            <a:xfrm>
              <a:off x="543154" y="3063240"/>
              <a:ext cx="6172200" cy="2526300"/>
            </a:xfrm>
            <a:prstGeom prst="roundRect">
              <a:avLst>
                <a:gd name="adj" fmla="val 2713"/>
              </a:avLst>
            </a:prstGeom>
            <a:solidFill>
              <a:srgbClr val="060D18"/>
            </a:solidFill>
            <a:ln w="12700">
              <a:solidFill>
                <a:srgbClr val="1E3A5F"/>
              </a:solidFill>
              <a:prstDash val="solid"/>
            </a:ln>
          </p:spPr>
          <p:txBody>
            <a:bodyPr/>
            <a:lstStyle/>
            <a:p>
              <a:endParaRPr lang="en-US"/>
            </a:p>
          </p:txBody>
        </p:sp>
        <p:sp>
          <p:nvSpPr>
            <p:cNvPr id="126" name="code_bar"/>
            <p:cNvSpPr/>
            <p:nvPr/>
          </p:nvSpPr>
          <p:spPr>
            <a:xfrm>
              <a:off x="543154" y="3063240"/>
              <a:ext cx="61722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7" name="code_barfill"/>
            <p:cNvSpPr/>
            <p:nvPr/>
          </p:nvSpPr>
          <p:spPr>
            <a:xfrm>
              <a:off x="543154" y="3234690"/>
              <a:ext cx="6172200" cy="171450"/>
            </a:xfrm>
            <a:prstGeom prst="rect">
              <a:avLst/>
            </a:prstGeom>
            <a:solidFill>
              <a:srgbClr val="0A1220"/>
            </a:solidFill>
            <a:ln w="12700">
              <a:solidFill>
                <a:srgbClr val="0A1220"/>
              </a:solidFill>
              <a:prstDash val="solid"/>
            </a:ln>
          </p:spPr>
          <p:txBody>
            <a:bodyPr/>
            <a:lstStyle/>
            <a:p>
              <a:endParaRPr lang="en-US"/>
            </a:p>
          </p:txBody>
        </p:sp>
        <p:sp>
          <p:nvSpPr>
            <p:cNvPr id="128" name="code_dot0"/>
            <p:cNvSpPr/>
            <p:nvPr/>
          </p:nvSpPr>
          <p:spPr>
            <a:xfrm>
              <a:off x="705002" y="3187050"/>
              <a:ext cx="95098" cy="95098"/>
            </a:xfrm>
            <a:prstGeom prst="ellipse">
              <a:avLst/>
            </a:prstGeom>
            <a:solidFill>
              <a:srgbClr val="F87171"/>
            </a:solidFill>
            <a:ln w="12700">
              <a:solidFill>
                <a:srgbClr val="F87171"/>
              </a:solidFill>
              <a:prstDash val="solid"/>
            </a:ln>
          </p:spPr>
          <p:txBody>
            <a:bodyPr/>
            <a:lstStyle/>
            <a:p>
              <a:endParaRPr lang="en-US"/>
            </a:p>
          </p:txBody>
        </p:sp>
        <p:sp>
          <p:nvSpPr>
            <p:cNvPr id="129" name="code_dot1"/>
            <p:cNvSpPr/>
            <p:nvPr/>
          </p:nvSpPr>
          <p:spPr>
            <a:xfrm>
              <a:off x="890626" y="3187050"/>
              <a:ext cx="95098" cy="95098"/>
            </a:xfrm>
            <a:prstGeom prst="ellipse">
              <a:avLst/>
            </a:prstGeom>
            <a:solidFill>
              <a:srgbClr val="FBBF24"/>
            </a:solidFill>
            <a:ln w="12700">
              <a:solidFill>
                <a:srgbClr val="FBBF24"/>
              </a:solidFill>
              <a:prstDash val="solid"/>
            </a:ln>
          </p:spPr>
          <p:txBody>
            <a:bodyPr/>
            <a:lstStyle/>
            <a:p>
              <a:endParaRPr lang="en-US"/>
            </a:p>
          </p:txBody>
        </p:sp>
        <p:sp>
          <p:nvSpPr>
            <p:cNvPr id="130" name="code_dot2"/>
            <p:cNvSpPr/>
            <p:nvPr/>
          </p:nvSpPr>
          <p:spPr>
            <a:xfrm>
              <a:off x="1076250" y="3187050"/>
              <a:ext cx="95098" cy="95098"/>
            </a:xfrm>
            <a:prstGeom prst="ellipse">
              <a:avLst/>
            </a:prstGeom>
            <a:solidFill>
              <a:srgbClr val="34D399"/>
            </a:solidFill>
            <a:ln w="12700">
              <a:solidFill>
                <a:srgbClr val="34D399"/>
              </a:solidFill>
              <a:prstDash val="solid"/>
            </a:ln>
          </p:spPr>
          <p:txBody>
            <a:bodyPr/>
            <a:lstStyle/>
            <a:p>
              <a:endParaRPr lang="en-US"/>
            </a:p>
          </p:txBody>
        </p:sp>
        <p:sp>
          <p:nvSpPr>
            <p:cNvPr id="131" name="code_tab"/>
            <p:cNvSpPr/>
            <p:nvPr/>
          </p:nvSpPr>
          <p:spPr>
            <a:xfrm>
              <a:off x="1324051" y="311078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32" name="code_L00"/>
            <p:cNvSpPr txBox="1"/>
            <p:nvPr/>
          </p:nvSpPr>
          <p:spPr>
            <a:xfrm>
              <a:off x="771754" y="3539140"/>
              <a:ext cx="587220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using</a:t>
              </a:r>
              <a:r>
                <a:rPr lang="en-US" sz="950" b="0" dirty="0">
                  <a:solidFill>
                    <a:srgbClr val="E2E8F0"/>
                  </a:solidFill>
                  <a:latin typeface="Consolas"/>
                  <a:ea typeface="Consolas"/>
                  <a:cs typeface="Consolas"/>
                </a:rPr>
                <a:t> FileStream fs = File.OpenRead(</a:t>
              </a:r>
              <a:r>
                <a:rPr lang="en-US" sz="950" b="0" dirty="0">
                  <a:solidFill>
                    <a:srgbClr val="F0A98B"/>
                  </a:solidFill>
                  <a:latin typeface="Consolas"/>
                  <a:ea typeface="Consolas"/>
                  <a:cs typeface="Consolas"/>
                </a:rPr>
                <a:t>"menu.txt"</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"SwiftBite"</a:t>
              </a:r>
              <a:endParaRPr lang="en-US" sz="950" dirty="0"/>
            </a:p>
          </p:txBody>
        </p:sp>
        <p:sp>
          <p:nvSpPr>
            <p:cNvPr id="133" name="code_L01"/>
            <p:cNvSpPr txBox="1"/>
            <p:nvPr/>
          </p:nvSpPr>
          <p:spPr>
            <a:xfrm>
              <a:off x="771754" y="3732180"/>
              <a:ext cx="587220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$"Length {fs.Length}"</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9</a:t>
              </a:r>
              <a:endParaRPr lang="en-US" sz="950" dirty="0"/>
            </a:p>
          </p:txBody>
        </p:sp>
        <p:sp>
          <p:nvSpPr>
            <p:cNvPr id="134" name="code_L03"/>
            <p:cNvSpPr txBox="1"/>
            <p:nvPr/>
          </p:nvSpPr>
          <p:spPr>
            <a:xfrm>
              <a:off x="771754" y="4118260"/>
              <a:ext cx="587220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byte</a:t>
              </a:r>
              <a:r>
                <a:rPr lang="en-US" sz="950" b="0" dirty="0">
                  <a:solidFill>
                    <a:srgbClr val="E2E8F0"/>
                  </a:solidFill>
                  <a:latin typeface="Consolas"/>
                  <a:ea typeface="Consolas"/>
                  <a:cs typeface="Consolas"/>
                </a:rPr>
                <a:t>[] buffer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byte</a:t>
              </a:r>
              <a:r>
                <a:rPr lang="en-US" sz="950" b="0" dirty="0">
                  <a:solidFill>
                    <a:srgbClr val="E2E8F0"/>
                  </a:solidFill>
                  <a:latin typeface="Consolas"/>
                  <a:ea typeface="Consolas"/>
                  <a:cs typeface="Consolas"/>
                </a:rPr>
                <a:t>[4];</a:t>
              </a:r>
              <a:endParaRPr lang="en-US" sz="950" dirty="0"/>
            </a:p>
          </p:txBody>
        </p:sp>
        <p:sp>
          <p:nvSpPr>
            <p:cNvPr id="135" name="code_L04"/>
            <p:cNvSpPr txBox="1"/>
            <p:nvPr/>
          </p:nvSpPr>
          <p:spPr>
            <a:xfrm>
              <a:off x="771754" y="4311300"/>
              <a:ext cx="587220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read;</a:t>
              </a:r>
              <a:endParaRPr lang="en-US" sz="950" dirty="0"/>
            </a:p>
          </p:txBody>
        </p:sp>
        <p:sp>
          <p:nvSpPr>
            <p:cNvPr id="136" name="code_L05"/>
            <p:cNvSpPr txBox="1"/>
            <p:nvPr/>
          </p:nvSpPr>
          <p:spPr>
            <a:xfrm>
              <a:off x="771754" y="4504340"/>
              <a:ext cx="587220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while</a:t>
              </a:r>
              <a:r>
                <a:rPr lang="en-US" sz="950" b="0" dirty="0">
                  <a:solidFill>
                    <a:srgbClr val="E2E8F0"/>
                  </a:solidFill>
                  <a:latin typeface="Consolas"/>
                  <a:ea typeface="Consolas"/>
                  <a:cs typeface="Consolas"/>
                </a:rPr>
                <a:t> ((read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fs.ReadAsync(buffer)) &gt; 0)</a:t>
              </a:r>
              <a:endParaRPr lang="en-US" sz="950" dirty="0"/>
            </a:p>
          </p:txBody>
        </p:sp>
        <p:sp>
          <p:nvSpPr>
            <p:cNvPr id="137" name="code_L06"/>
            <p:cNvSpPr txBox="1"/>
            <p:nvPr/>
          </p:nvSpPr>
          <p:spPr>
            <a:xfrm>
              <a:off x="771754" y="4697380"/>
              <a:ext cx="587220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8" name="code_L07"/>
            <p:cNvSpPr txBox="1"/>
            <p:nvPr/>
          </p:nvSpPr>
          <p:spPr>
            <a:xfrm>
              <a:off x="771754" y="4890420"/>
              <a:ext cx="587220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part = Encoding.UTF8.GetString(buffer, 0, read);</a:t>
              </a:r>
              <a:endParaRPr lang="en-US" sz="950" dirty="0"/>
            </a:p>
          </p:txBody>
        </p:sp>
        <p:sp>
          <p:nvSpPr>
            <p:cNvPr id="139" name="code_L08"/>
            <p:cNvSpPr txBox="1"/>
            <p:nvPr/>
          </p:nvSpPr>
          <p:spPr>
            <a:xfrm>
              <a:off x="771754" y="5083460"/>
              <a:ext cx="587220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Console.WriteLine(</a:t>
              </a:r>
              <a:r>
                <a:rPr lang="en-US" sz="950" b="0" dirty="0">
                  <a:solidFill>
                    <a:srgbClr val="F0A98B"/>
                  </a:solidFill>
                  <a:latin typeface="Consolas"/>
                  <a:ea typeface="Consolas"/>
                  <a:cs typeface="Consolas"/>
                </a:rPr>
                <a:t>$"read {read}: {part}  Position {fs.Position}"</a:t>
              </a:r>
              <a:r>
                <a:rPr lang="en-US" sz="950" b="0" dirty="0">
                  <a:solidFill>
                    <a:srgbClr val="E2E8F0"/>
                  </a:solidFill>
                  <a:latin typeface="Consolas"/>
                  <a:ea typeface="Consolas"/>
                  <a:cs typeface="Consolas"/>
                </a:rPr>
                <a:t>);</a:t>
              </a:r>
              <a:endParaRPr lang="en-US" sz="950" dirty="0"/>
            </a:p>
          </p:txBody>
        </p:sp>
        <p:sp>
          <p:nvSpPr>
            <p:cNvPr id="140" name="code_L09"/>
            <p:cNvSpPr txBox="1"/>
            <p:nvPr/>
          </p:nvSpPr>
          <p:spPr>
            <a:xfrm>
              <a:off x="771754" y="5276500"/>
              <a:ext cx="587220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42" name="h5"/>
          <p:cNvSpPr/>
          <p:nvPr/>
        </p:nvSpPr>
        <p:spPr>
          <a:xfrm>
            <a:off x="676656" y="4486052"/>
            <a:ext cx="5905200" cy="22961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50" name="out"/>
          <p:cNvGrpSpPr/>
          <p:nvPr/>
        </p:nvGrpSpPr>
        <p:grpSpPr>
          <a:xfrm>
            <a:off x="6903720" y="3063240"/>
            <a:ext cx="4726534" cy="1561100"/>
            <a:chOff x="6903720" y="3063240"/>
            <a:chExt cx="4726534" cy="1561100"/>
          </a:xfrm>
        </p:grpSpPr>
        <p:sp>
          <p:nvSpPr>
            <p:cNvPr id="143" name="out_win"/>
            <p:cNvSpPr/>
            <p:nvPr/>
          </p:nvSpPr>
          <p:spPr>
            <a:xfrm>
              <a:off x="6903720" y="3063240"/>
              <a:ext cx="4726534" cy="1561100"/>
            </a:xfrm>
            <a:prstGeom prst="roundRect">
              <a:avLst>
                <a:gd name="adj" fmla="val 4391"/>
              </a:avLst>
            </a:prstGeom>
            <a:solidFill>
              <a:srgbClr val="060D18"/>
            </a:solidFill>
            <a:ln w="12700">
              <a:solidFill>
                <a:srgbClr val="1E3A5F"/>
              </a:solidFill>
              <a:prstDash val="solid"/>
            </a:ln>
          </p:spPr>
          <p:txBody>
            <a:bodyPr/>
            <a:lstStyle/>
            <a:p>
              <a:endParaRPr lang="en-US"/>
            </a:p>
          </p:txBody>
        </p:sp>
        <p:sp>
          <p:nvSpPr>
            <p:cNvPr id="144" name="out_bar"/>
            <p:cNvSpPr/>
            <p:nvPr/>
          </p:nvSpPr>
          <p:spPr>
            <a:xfrm>
              <a:off x="6903720" y="3063240"/>
              <a:ext cx="472653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5" name="out_barfill"/>
            <p:cNvSpPr/>
            <p:nvPr/>
          </p:nvSpPr>
          <p:spPr>
            <a:xfrm>
              <a:off x="6903720" y="3234690"/>
              <a:ext cx="4726534" cy="171450"/>
            </a:xfrm>
            <a:prstGeom prst="rect">
              <a:avLst/>
            </a:prstGeom>
            <a:solidFill>
              <a:srgbClr val="0A1220"/>
            </a:solidFill>
            <a:ln w="12700">
              <a:solidFill>
                <a:srgbClr val="0A1220"/>
              </a:solidFill>
              <a:prstDash val="solid"/>
            </a:ln>
          </p:spPr>
          <p:txBody>
            <a:bodyPr/>
            <a:lstStyle/>
            <a:p>
              <a:endParaRPr lang="en-US"/>
            </a:p>
          </p:txBody>
        </p:sp>
        <p:sp>
          <p:nvSpPr>
            <p:cNvPr id="146" name="out_dot0"/>
            <p:cNvSpPr/>
            <p:nvPr/>
          </p:nvSpPr>
          <p:spPr>
            <a:xfrm>
              <a:off x="7065568" y="3187050"/>
              <a:ext cx="95098" cy="95098"/>
            </a:xfrm>
            <a:prstGeom prst="ellipse">
              <a:avLst/>
            </a:prstGeom>
            <a:solidFill>
              <a:srgbClr val="F87171"/>
            </a:solidFill>
            <a:ln w="12700">
              <a:solidFill>
                <a:srgbClr val="F87171"/>
              </a:solidFill>
              <a:prstDash val="solid"/>
            </a:ln>
          </p:spPr>
          <p:txBody>
            <a:bodyPr/>
            <a:lstStyle/>
            <a:p>
              <a:endParaRPr lang="en-US"/>
            </a:p>
          </p:txBody>
        </p:sp>
        <p:sp>
          <p:nvSpPr>
            <p:cNvPr id="147" name="out_dot1"/>
            <p:cNvSpPr/>
            <p:nvPr/>
          </p:nvSpPr>
          <p:spPr>
            <a:xfrm>
              <a:off x="7251192" y="3187050"/>
              <a:ext cx="95098" cy="95098"/>
            </a:xfrm>
            <a:prstGeom prst="ellipse">
              <a:avLst/>
            </a:prstGeom>
            <a:solidFill>
              <a:srgbClr val="FBBF24"/>
            </a:solidFill>
            <a:ln w="12700">
              <a:solidFill>
                <a:srgbClr val="FBBF24"/>
              </a:solidFill>
              <a:prstDash val="solid"/>
            </a:ln>
          </p:spPr>
          <p:txBody>
            <a:bodyPr/>
            <a:lstStyle/>
            <a:p>
              <a:endParaRPr lang="en-US"/>
            </a:p>
          </p:txBody>
        </p:sp>
        <p:sp>
          <p:nvSpPr>
            <p:cNvPr id="148" name="out_dot2"/>
            <p:cNvSpPr/>
            <p:nvPr/>
          </p:nvSpPr>
          <p:spPr>
            <a:xfrm>
              <a:off x="7436816" y="3187050"/>
              <a:ext cx="95098" cy="95098"/>
            </a:xfrm>
            <a:prstGeom prst="ellipse">
              <a:avLst/>
            </a:prstGeom>
            <a:solidFill>
              <a:srgbClr val="34D399"/>
            </a:solidFill>
            <a:ln w="12700">
              <a:solidFill>
                <a:srgbClr val="34D399"/>
              </a:solidFill>
              <a:prstDash val="solid"/>
            </a:ln>
          </p:spPr>
          <p:txBody>
            <a:bodyPr/>
            <a:lstStyle/>
            <a:p>
              <a:endParaRPr lang="en-US"/>
            </a:p>
          </p:txBody>
        </p:sp>
        <p:sp>
          <p:nvSpPr>
            <p:cNvPr id="149" name="out_tab"/>
            <p:cNvSpPr/>
            <p:nvPr/>
          </p:nvSpPr>
          <p:spPr>
            <a:xfrm>
              <a:off x="7684617" y="311078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grpSp>
      <p:grpSp>
        <p:nvGrpSpPr>
          <p:cNvPr id="152" name="ol0"/>
          <p:cNvGrpSpPr/>
          <p:nvPr/>
        </p:nvGrpSpPr>
        <p:grpSpPr>
          <a:xfrm>
            <a:off x="7132320" y="3539140"/>
            <a:ext cx="4426534" cy="193040"/>
            <a:chOff x="7132320" y="3539140"/>
            <a:chExt cx="4426534" cy="193040"/>
          </a:xfrm>
        </p:grpSpPr>
        <p:sp>
          <p:nvSpPr>
            <p:cNvPr id="151" name="ol0_0"/>
            <p:cNvSpPr txBox="1"/>
            <p:nvPr/>
          </p:nvSpPr>
          <p:spPr>
            <a:xfrm>
              <a:off x="7132320" y="3539140"/>
              <a:ext cx="442653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Length 9</a:t>
              </a:r>
              <a:endParaRPr lang="en-US" sz="950" dirty="0"/>
            </a:p>
          </p:txBody>
        </p:sp>
      </p:grpSp>
      <p:grpSp>
        <p:nvGrpSpPr>
          <p:cNvPr id="154" name="ol1"/>
          <p:cNvGrpSpPr/>
          <p:nvPr/>
        </p:nvGrpSpPr>
        <p:grpSpPr>
          <a:xfrm>
            <a:off x="7132320" y="3732180"/>
            <a:ext cx="4426534" cy="193040"/>
            <a:chOff x="7132320" y="3732180"/>
            <a:chExt cx="4426534" cy="193040"/>
          </a:xfrm>
        </p:grpSpPr>
        <p:sp>
          <p:nvSpPr>
            <p:cNvPr id="153" name="ol1_0"/>
            <p:cNvSpPr txBox="1"/>
            <p:nvPr/>
          </p:nvSpPr>
          <p:spPr>
            <a:xfrm>
              <a:off x="7132320" y="3732180"/>
              <a:ext cx="442653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read 4: Swif  Position 4</a:t>
              </a:r>
              <a:endParaRPr lang="en-US" sz="950" dirty="0"/>
            </a:p>
          </p:txBody>
        </p:sp>
      </p:grpSp>
      <p:grpSp>
        <p:nvGrpSpPr>
          <p:cNvPr id="156" name="ol2"/>
          <p:cNvGrpSpPr/>
          <p:nvPr/>
        </p:nvGrpSpPr>
        <p:grpSpPr>
          <a:xfrm>
            <a:off x="7132320" y="3925220"/>
            <a:ext cx="4426534" cy="193040"/>
            <a:chOff x="7132320" y="3925220"/>
            <a:chExt cx="4426534" cy="193040"/>
          </a:xfrm>
        </p:grpSpPr>
        <p:sp>
          <p:nvSpPr>
            <p:cNvPr id="155" name="ol2_0"/>
            <p:cNvSpPr txBox="1"/>
            <p:nvPr/>
          </p:nvSpPr>
          <p:spPr>
            <a:xfrm>
              <a:off x="7132320" y="3925220"/>
              <a:ext cx="442653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read 4: tBit  Position 8</a:t>
              </a:r>
              <a:endParaRPr lang="en-US" sz="950" dirty="0"/>
            </a:p>
          </p:txBody>
        </p:sp>
      </p:grpSp>
      <p:grpSp>
        <p:nvGrpSpPr>
          <p:cNvPr id="158" name="ol3"/>
          <p:cNvGrpSpPr/>
          <p:nvPr/>
        </p:nvGrpSpPr>
        <p:grpSpPr>
          <a:xfrm>
            <a:off x="7132320" y="4118260"/>
            <a:ext cx="4426534" cy="193040"/>
            <a:chOff x="7132320" y="4118260"/>
            <a:chExt cx="4426534" cy="193040"/>
          </a:xfrm>
        </p:grpSpPr>
        <p:sp>
          <p:nvSpPr>
            <p:cNvPr id="157" name="ol3_0"/>
            <p:cNvSpPr txBox="1"/>
            <p:nvPr/>
          </p:nvSpPr>
          <p:spPr>
            <a:xfrm>
              <a:off x="7132320" y="4118260"/>
              <a:ext cx="442653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read 1: e  Position 9</a:t>
              </a:r>
              <a:endParaRPr lang="en-US" sz="950" dirty="0"/>
            </a:p>
          </p:txBody>
        </p:sp>
      </p:grpSp>
      <p:grpSp>
        <p:nvGrpSpPr>
          <p:cNvPr id="160" name="ol4"/>
          <p:cNvGrpSpPr/>
          <p:nvPr/>
        </p:nvGrpSpPr>
        <p:grpSpPr>
          <a:xfrm>
            <a:off x="7132320" y="4311300"/>
            <a:ext cx="4426534" cy="193040"/>
            <a:chOff x="7132320" y="4311300"/>
            <a:chExt cx="4426534" cy="193040"/>
          </a:xfrm>
        </p:grpSpPr>
        <p:sp>
          <p:nvSpPr>
            <p:cNvPr id="159" name="ol4_0"/>
            <p:cNvSpPr txBox="1"/>
            <p:nvPr/>
          </p:nvSpPr>
          <p:spPr>
            <a:xfrm>
              <a:off x="7132320" y="4311300"/>
              <a:ext cx="442653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ReadAsync returned 0: end</a:t>
              </a:r>
              <a:endParaRPr lang="en-US" sz="950" dirty="0"/>
            </a:p>
          </p:txBody>
        </p:sp>
      </p:grpSp>
      <p:sp>
        <p:nvSpPr>
          <p:cNvPr id="161" name="k2"/>
          <p:cNvSpPr/>
          <p:nvPr/>
        </p:nvSpPr>
        <p:spPr>
          <a:xfrm>
            <a:off x="6903720" y="4754880"/>
            <a:ext cx="4726534" cy="86868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READ RETURNS A COUNT</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It can be less than the buffer, and 0 means the end. Always use the count.</a:t>
            </a:r>
            <a:endParaRPr lang="en-US" sz="1200" dirty="0"/>
          </a:p>
        </p:txBody>
      </p:sp>
    </p:spTree>
    <p:extLst>
      <p:ext uri="{BB962C8B-B14F-4D97-AF65-F5344CB8AC3E}">
        <p14:creationId xmlns:p14="http://schemas.microsoft.com/office/powerpoint/2010/main" val="501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400"/>
                                        <p:tgtEl>
                                          <p:spTgt spid="1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fade">
                                      <p:cBhvr>
                                        <p:cTn id="12" dur="400"/>
                                        <p:tgtEl>
                                          <p:spTgt spid="14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0"/>
                                        </p:tgtEl>
                                        <p:attrNameLst>
                                          <p:attrName>style.visibility</p:attrName>
                                        </p:attrNameLst>
                                      </p:cBhvr>
                                      <p:to>
                                        <p:strVal val="visible"/>
                                      </p:to>
                                    </p:set>
                                    <p:animEffect transition="in" filter="fade">
                                      <p:cBhvr>
                                        <p:cTn id="15" dur="400"/>
                                        <p:tgtEl>
                                          <p:spTgt spid="120"/>
                                        </p:tgtEl>
                                      </p:cBhvr>
                                    </p:animEffect>
                                  </p:childTnLst>
                                </p:cTn>
                              </p:par>
                              <p:par>
                                <p:cTn id="16" presetID="0" presetClass="path" presetSubtype="0" accel="50000" decel="50000" fill="hold" grpId="0" nodeType="withEffect">
                                  <p:stCondLst>
                                    <p:cond delay="0"/>
                                  </p:stCondLst>
                                  <p:childTnLst>
                                    <p:animMotion origin="layout" path="M 0.00000 0.00000 L 0.20100 0.00000 E" pathEditMode="relative" rAng="0" ptsTypes="AA">
                                      <p:cBhvr>
                                        <p:cTn id="17" dur="600" fill="hold"/>
                                        <p:tgtEl>
                                          <p:spTgt spid="123"/>
                                        </p:tgtEl>
                                        <p:attrNameLst>
                                          <p:attrName>ppt_x</p:attrName>
                                          <p:attrName>ppt_y</p:attrName>
                                        </p:attrNameLst>
                                      </p:cBhvr>
                                      <p:rCtr x="10050" y="0"/>
                                    </p:animMotion>
                                  </p:childTnLst>
                                </p:cTn>
                              </p:par>
                            </p:childTnLst>
                          </p:cTn>
                        </p:par>
                        <p:par>
                          <p:cTn id="18" fill="hold">
                            <p:stCondLst>
                              <p:cond delay="600"/>
                            </p:stCondLst>
                            <p:childTnLst>
                              <p:par>
                                <p:cTn id="19" presetID="10" presetClass="entr" presetSubtype="0" fill="hold" nodeType="afterEffect">
                                  <p:stCondLst>
                                    <p:cond delay="0"/>
                                  </p:stCondLst>
                                  <p:childTnLst>
                                    <p:set>
                                      <p:cBhvr>
                                        <p:cTn id="20" dur="1" fill="hold">
                                          <p:stCondLst>
                                            <p:cond delay="0"/>
                                          </p:stCondLst>
                                        </p:cTn>
                                        <p:tgtEl>
                                          <p:spTgt spid="154"/>
                                        </p:tgtEl>
                                        <p:attrNameLst>
                                          <p:attrName>style.visibility</p:attrName>
                                        </p:attrNameLst>
                                      </p:cBhvr>
                                      <p:to>
                                        <p:strVal val="visible"/>
                                      </p:to>
                                    </p:set>
                                    <p:animEffect transition="in" filter="fade">
                                      <p:cBhvr>
                                        <p:cTn id="21" dur="400"/>
                                        <p:tgtEl>
                                          <p:spTgt spid="15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1"/>
                                        </p:tgtEl>
                                        <p:attrNameLst>
                                          <p:attrName>style.visibility</p:attrName>
                                        </p:attrNameLst>
                                      </p:cBhvr>
                                      <p:to>
                                        <p:strVal val="visible"/>
                                      </p:to>
                                    </p:set>
                                    <p:animEffect transition="in" filter="fade">
                                      <p:cBhvr>
                                        <p:cTn id="26" dur="400"/>
                                        <p:tgtEl>
                                          <p:spTgt spid="121"/>
                                        </p:tgtEl>
                                      </p:cBhvr>
                                    </p:animEffect>
                                  </p:childTnLst>
                                </p:cTn>
                              </p:par>
                              <p:par>
                                <p:cTn id="27" presetID="0" presetClass="path" presetSubtype="0" accel="50000" decel="50000" fill="hold" grpId="1" nodeType="withEffect">
                                  <p:stCondLst>
                                    <p:cond delay="0"/>
                                  </p:stCondLst>
                                  <p:childTnLst>
                                    <p:animMotion origin="layout" path="M 0.20100 0.00000 L 0.40200 0.00000 E" pathEditMode="relative" rAng="0" ptsTypes="AA">
                                      <p:cBhvr>
                                        <p:cTn id="28" dur="600" fill="hold"/>
                                        <p:tgtEl>
                                          <p:spTgt spid="123"/>
                                        </p:tgtEl>
                                        <p:attrNameLst>
                                          <p:attrName>ppt_x</p:attrName>
                                          <p:attrName>ppt_y</p:attrName>
                                        </p:attrNameLst>
                                      </p:cBhvr>
                                      <p:rCtr x="10050" y="0"/>
                                    </p:animMotion>
                                  </p:childTnLst>
                                </p:cTn>
                              </p:par>
                            </p:childTnLst>
                          </p:cTn>
                        </p:par>
                        <p:par>
                          <p:cTn id="29" fill="hold">
                            <p:stCondLst>
                              <p:cond delay="600"/>
                            </p:stCondLst>
                            <p:childTnLst>
                              <p:par>
                                <p:cTn id="30" presetID="10" presetClass="entr" presetSubtype="0" fill="hold" nodeType="afterEffect">
                                  <p:stCondLst>
                                    <p:cond delay="0"/>
                                  </p:stCondLst>
                                  <p:childTnLst>
                                    <p:set>
                                      <p:cBhvr>
                                        <p:cTn id="31" dur="1" fill="hold">
                                          <p:stCondLst>
                                            <p:cond delay="0"/>
                                          </p:stCondLst>
                                        </p:cTn>
                                        <p:tgtEl>
                                          <p:spTgt spid="156"/>
                                        </p:tgtEl>
                                        <p:attrNameLst>
                                          <p:attrName>style.visibility</p:attrName>
                                        </p:attrNameLst>
                                      </p:cBhvr>
                                      <p:to>
                                        <p:strVal val="visible"/>
                                      </p:to>
                                    </p:set>
                                    <p:animEffect transition="in" filter="fade">
                                      <p:cBhvr>
                                        <p:cTn id="32" dur="400"/>
                                        <p:tgtEl>
                                          <p:spTgt spid="15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2"/>
                                        </p:tgtEl>
                                        <p:attrNameLst>
                                          <p:attrName>style.visibility</p:attrName>
                                        </p:attrNameLst>
                                      </p:cBhvr>
                                      <p:to>
                                        <p:strVal val="visible"/>
                                      </p:to>
                                    </p:set>
                                    <p:animEffect transition="in" filter="fade">
                                      <p:cBhvr>
                                        <p:cTn id="37" dur="400"/>
                                        <p:tgtEl>
                                          <p:spTgt spid="122"/>
                                        </p:tgtEl>
                                      </p:cBhvr>
                                    </p:animEffect>
                                  </p:childTnLst>
                                </p:cTn>
                              </p:par>
                              <p:par>
                                <p:cTn id="38" presetID="0" presetClass="path" presetSubtype="0" accel="50000" decel="50000" fill="hold" grpId="2" nodeType="withEffect">
                                  <p:stCondLst>
                                    <p:cond delay="0"/>
                                  </p:stCondLst>
                                  <p:childTnLst>
                                    <p:animMotion origin="layout" path="M 0.40200 0.00000 L 0.45225 0.00000 E" pathEditMode="relative" rAng="0" ptsTypes="AA">
                                      <p:cBhvr>
                                        <p:cTn id="39" dur="400" fill="hold"/>
                                        <p:tgtEl>
                                          <p:spTgt spid="123"/>
                                        </p:tgtEl>
                                        <p:attrNameLst>
                                          <p:attrName>ppt_x</p:attrName>
                                          <p:attrName>ppt_y</p:attrName>
                                        </p:attrNameLst>
                                      </p:cBhvr>
                                      <p:rCtr x="2512" y="0"/>
                                    </p:animMotion>
                                  </p:childTnLst>
                                </p:cTn>
                              </p:par>
                            </p:childTnLst>
                          </p:cTn>
                        </p:par>
                        <p:par>
                          <p:cTn id="40" fill="hold">
                            <p:stCondLst>
                              <p:cond delay="400"/>
                            </p:stCondLst>
                            <p:childTnLst>
                              <p:par>
                                <p:cTn id="41" presetID="10" presetClass="entr" presetSubtype="0" fill="hold" nodeType="afterEffect">
                                  <p:stCondLst>
                                    <p:cond delay="0"/>
                                  </p:stCondLst>
                                  <p:childTnLst>
                                    <p:set>
                                      <p:cBhvr>
                                        <p:cTn id="42" dur="1" fill="hold">
                                          <p:stCondLst>
                                            <p:cond delay="0"/>
                                          </p:stCondLst>
                                        </p:cTn>
                                        <p:tgtEl>
                                          <p:spTgt spid="158"/>
                                        </p:tgtEl>
                                        <p:attrNameLst>
                                          <p:attrName>style.visibility</p:attrName>
                                        </p:attrNameLst>
                                      </p:cBhvr>
                                      <p:to>
                                        <p:strVal val="visible"/>
                                      </p:to>
                                    </p:set>
                                    <p:animEffect transition="in" filter="fade">
                                      <p:cBhvr>
                                        <p:cTn id="43" dur="400"/>
                                        <p:tgtEl>
                                          <p:spTgt spid="15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60"/>
                                        </p:tgtEl>
                                        <p:attrNameLst>
                                          <p:attrName>style.visibility</p:attrName>
                                        </p:attrNameLst>
                                      </p:cBhvr>
                                      <p:to>
                                        <p:strVal val="visible"/>
                                      </p:to>
                                    </p:set>
                                    <p:animEffect transition="in" filter="fade">
                                      <p:cBhvr>
                                        <p:cTn id="48" dur="400"/>
                                        <p:tgtEl>
                                          <p:spTgt spid="160"/>
                                        </p:tgtEl>
                                      </p:cBhvr>
                                    </p:animEffect>
                                  </p:childTnLst>
                                </p:cTn>
                              </p:par>
                            </p:childTnLst>
                          </p:cTn>
                        </p:par>
                        <p:par>
                          <p:cTn id="49" fill="hold">
                            <p:stCondLst>
                              <p:cond delay="400"/>
                            </p:stCondLst>
                            <p:childTnLst>
                              <p:par>
                                <p:cTn id="50" presetID="10" presetClass="entr" presetSubtype="0" fill="hold" grpId="0" nodeType="afterEffect">
                                  <p:stCondLst>
                                    <p:cond delay="0"/>
                                  </p:stCondLst>
                                  <p:childTnLst>
                                    <p:set>
                                      <p:cBhvr>
                                        <p:cTn id="51" dur="1" fill="hold">
                                          <p:stCondLst>
                                            <p:cond delay="0"/>
                                          </p:stCondLst>
                                        </p:cTn>
                                        <p:tgtEl>
                                          <p:spTgt spid="161"/>
                                        </p:tgtEl>
                                        <p:attrNameLst>
                                          <p:attrName>style.visibility</p:attrName>
                                        </p:attrNameLst>
                                      </p:cBhvr>
                                      <p:to>
                                        <p:strVal val="visible"/>
                                      </p:to>
                                    </p:set>
                                    <p:animEffect transition="in" filter="fade">
                                      <p:cBhvr>
                                        <p:cTn id="52" dur="4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1" grpId="0" animBg="1"/>
      <p:bldP spid="122" grpId="0" animBg="1"/>
      <p:bldP spid="123" grpId="0" animBg="1"/>
      <p:bldP spid="123" grpId="1" animBg="1"/>
      <p:bldP spid="123" grpId="2" animBg="1"/>
      <p:bldP spid="142" grpId="0" animBg="1"/>
      <p:bldP spid="16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STREAMING</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Streaming: Read a Little, Process, Repeat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a:t>
            </a:r>
            <a:endParaRPr lang="en-US" sz="850" dirty="0"/>
          </a:p>
        </p:txBody>
      </p:sp>
      <p:sp>
        <p:nvSpPr>
          <p:cNvPr id="101" name="fbox"/>
          <p:cNvSpPr/>
          <p:nvPr/>
        </p:nvSpPr>
        <p:spPr>
          <a:xfrm>
            <a:off x="543154" y="1600200"/>
            <a:ext cx="2377440" cy="2606040"/>
          </a:xfrm>
          <a:prstGeom prst="roundRect">
            <a:avLst>
              <a:gd name="adj" fmla="val 12000"/>
            </a:avLst>
          </a:prstGeom>
          <a:solidFill>
            <a:srgbClr val="111B2E"/>
          </a:solidFill>
          <a:ln w="12700">
            <a:solidFill>
              <a:srgbClr val="A78BFA"/>
            </a:solidFill>
            <a:prstDash val="solid"/>
          </a:ln>
        </p:spPr>
        <p:txBody>
          <a:bodyPr wrap="square" lIns="91440" tIns="91440" rIns="91440" bIns="91440" rtlCol="0" anchor="t">
            <a:noAutofit/>
          </a:bodyPr>
          <a:lstStyle/>
          <a:p>
            <a:pPr marL="0" indent="0" algn="ctr">
              <a:spcBef>
                <a:spcPts val="0"/>
              </a:spcBef>
              <a:spcAft>
                <a:spcPts val="0"/>
              </a:spcAft>
              <a:buNone/>
            </a:pPr>
            <a:r>
              <a:rPr lang="en-US" sz="1100" b="1" dirty="0">
                <a:solidFill>
                  <a:srgbClr val="A78BFA"/>
                </a:solidFill>
                <a:latin typeface="Segoe UI"/>
                <a:ea typeface="Segoe UI"/>
                <a:cs typeface="Segoe UI"/>
              </a:rPr>
              <a:t>orders.log  ·  2 GB on disk</a:t>
            </a:r>
            <a:endParaRPr lang="en-US" sz="1100" dirty="0"/>
          </a:p>
        </p:txBody>
      </p:sp>
      <p:sp>
        <p:nvSpPr>
          <p:cNvPr id="102" name="ch0"/>
          <p:cNvSpPr/>
          <p:nvPr/>
        </p:nvSpPr>
        <p:spPr>
          <a:xfrm>
            <a:off x="722376" y="2011680"/>
            <a:ext cx="2011680" cy="274320"/>
          </a:xfrm>
          <a:prstGeom prst="roundRect">
            <a:avLst>
              <a:gd name="adj" fmla="val 12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0" dirty="0">
                <a:solidFill>
                  <a:srgbClr val="94A3B8"/>
                </a:solidFill>
                <a:latin typeface="Consolas"/>
                <a:ea typeface="Consolas"/>
                <a:cs typeface="Consolas"/>
              </a:rPr>
              <a:t>4 KB  ·  chunk 1</a:t>
            </a:r>
            <a:endParaRPr lang="en-US" sz="1000" dirty="0"/>
          </a:p>
        </p:txBody>
      </p:sp>
      <p:sp>
        <p:nvSpPr>
          <p:cNvPr id="103" name="ch1"/>
          <p:cNvSpPr/>
          <p:nvPr/>
        </p:nvSpPr>
        <p:spPr>
          <a:xfrm>
            <a:off x="722376" y="2368296"/>
            <a:ext cx="2011680" cy="274320"/>
          </a:xfrm>
          <a:prstGeom prst="roundRect">
            <a:avLst>
              <a:gd name="adj" fmla="val 12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0" dirty="0">
                <a:solidFill>
                  <a:srgbClr val="94A3B8"/>
                </a:solidFill>
                <a:latin typeface="Consolas"/>
                <a:ea typeface="Consolas"/>
                <a:cs typeface="Consolas"/>
              </a:rPr>
              <a:t>4 KB  ·  chunk 2</a:t>
            </a:r>
            <a:endParaRPr lang="en-US" sz="1000" dirty="0"/>
          </a:p>
        </p:txBody>
      </p:sp>
      <p:sp>
        <p:nvSpPr>
          <p:cNvPr id="104" name="ch2"/>
          <p:cNvSpPr/>
          <p:nvPr/>
        </p:nvSpPr>
        <p:spPr>
          <a:xfrm>
            <a:off x="722376" y="2724912"/>
            <a:ext cx="2011680" cy="274320"/>
          </a:xfrm>
          <a:prstGeom prst="roundRect">
            <a:avLst>
              <a:gd name="adj" fmla="val 12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0" dirty="0">
                <a:solidFill>
                  <a:srgbClr val="94A3B8"/>
                </a:solidFill>
                <a:latin typeface="Consolas"/>
                <a:ea typeface="Consolas"/>
                <a:cs typeface="Consolas"/>
              </a:rPr>
              <a:t>4 KB  ·  chunk 3</a:t>
            </a:r>
            <a:endParaRPr lang="en-US" sz="1000" dirty="0"/>
          </a:p>
        </p:txBody>
      </p:sp>
      <p:sp>
        <p:nvSpPr>
          <p:cNvPr id="105" name="ch3"/>
          <p:cNvSpPr/>
          <p:nvPr/>
        </p:nvSpPr>
        <p:spPr>
          <a:xfrm>
            <a:off x="722376" y="3081528"/>
            <a:ext cx="2011680" cy="274320"/>
          </a:xfrm>
          <a:prstGeom prst="roundRect">
            <a:avLst>
              <a:gd name="adj" fmla="val 12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0" dirty="0">
                <a:solidFill>
                  <a:srgbClr val="94A3B8"/>
                </a:solidFill>
                <a:latin typeface="Consolas"/>
                <a:ea typeface="Consolas"/>
                <a:cs typeface="Consolas"/>
              </a:rPr>
              <a:t>4 KB  ·  chunk 4</a:t>
            </a:r>
            <a:endParaRPr lang="en-US" sz="1000" dirty="0"/>
          </a:p>
        </p:txBody>
      </p:sp>
      <p:sp>
        <p:nvSpPr>
          <p:cNvPr id="106" name="ch4"/>
          <p:cNvSpPr/>
          <p:nvPr/>
        </p:nvSpPr>
        <p:spPr>
          <a:xfrm>
            <a:off x="722376" y="3438144"/>
            <a:ext cx="2011680" cy="274320"/>
          </a:xfrm>
          <a:prstGeom prst="roundRect">
            <a:avLst>
              <a:gd name="adj" fmla="val 12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0" dirty="0">
                <a:solidFill>
                  <a:srgbClr val="94A3B8"/>
                </a:solidFill>
                <a:latin typeface="Consolas"/>
                <a:ea typeface="Consolas"/>
                <a:cs typeface="Consolas"/>
              </a:rPr>
              <a:t>4 KB  ·  chunk 5</a:t>
            </a:r>
            <a:endParaRPr lang="en-US" sz="1000" dirty="0"/>
          </a:p>
        </p:txBody>
      </p:sp>
      <p:sp>
        <p:nvSpPr>
          <p:cNvPr id="107" name="ch5"/>
          <p:cNvSpPr/>
          <p:nvPr/>
        </p:nvSpPr>
        <p:spPr>
          <a:xfrm>
            <a:off x="722376" y="3794760"/>
            <a:ext cx="2011680" cy="274320"/>
          </a:xfrm>
          <a:prstGeom prst="roundRect">
            <a:avLst>
              <a:gd name="adj" fmla="val 12000"/>
            </a:avLst>
          </a:prstGeom>
          <a:solidFill>
            <a:srgbClr val="15223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0" dirty="0">
                <a:solidFill>
                  <a:srgbClr val="94A3B8"/>
                </a:solidFill>
                <a:latin typeface="Consolas"/>
                <a:ea typeface="Consolas"/>
                <a:cs typeface="Consolas"/>
              </a:rPr>
              <a:t>… 500,000 more</a:t>
            </a:r>
            <a:endParaRPr lang="en-US" sz="1000" dirty="0"/>
          </a:p>
        </p:txBody>
      </p:sp>
      <p:sp>
        <p:nvSpPr>
          <p:cNvPr id="108" name="bbox"/>
          <p:cNvSpPr/>
          <p:nvPr/>
        </p:nvSpPr>
        <p:spPr>
          <a:xfrm>
            <a:off x="4572000" y="2331720"/>
            <a:ext cx="2560320" cy="1051560"/>
          </a:xfrm>
          <a:prstGeom prst="roundRect">
            <a:avLst>
              <a:gd name="adj" fmla="val 12000"/>
            </a:avLst>
          </a:prstGeom>
          <a:solidFill>
            <a:srgbClr val="111B2E"/>
          </a:solidFill>
          <a:ln w="12700">
            <a:solidFill>
              <a:srgbClr val="13D0F7"/>
            </a:solidFill>
            <a:prstDash val="solid"/>
          </a:ln>
        </p:spPr>
        <p:txBody>
          <a:bodyPr wrap="square" lIns="91440" tIns="91440" rIns="91440" bIns="91440" rtlCol="0" anchor="t">
            <a:noAutofit/>
          </a:bodyPr>
          <a:lstStyle/>
          <a:p>
            <a:pPr marL="0" indent="0" algn="ctr">
              <a:spcBef>
                <a:spcPts val="0"/>
              </a:spcBef>
              <a:spcAft>
                <a:spcPts val="0"/>
              </a:spcAft>
              <a:buNone/>
            </a:pPr>
            <a:r>
              <a:rPr lang="en-US" sz="1100" b="1" dirty="0">
                <a:solidFill>
                  <a:srgbClr val="13D0F7"/>
                </a:solidFill>
                <a:latin typeface="Segoe UI"/>
                <a:ea typeface="Segoe UI"/>
                <a:cs typeface="Segoe UI"/>
              </a:rPr>
              <a:t>buffer  ·  4 KB in RAM</a:t>
            </a:r>
            <a:endParaRPr lang="en-US" sz="1100" dirty="0"/>
          </a:p>
        </p:txBody>
      </p:sp>
      <p:sp>
        <p:nvSpPr>
          <p:cNvPr id="109" name="cbox"/>
          <p:cNvSpPr/>
          <p:nvPr/>
        </p:nvSpPr>
        <p:spPr>
          <a:xfrm>
            <a:off x="8732520" y="1600200"/>
            <a:ext cx="2898648" cy="2606040"/>
          </a:xfrm>
          <a:prstGeom prst="roundRect">
            <a:avLst>
              <a:gd name="adj" fmla="val 12000"/>
            </a:avLst>
          </a:prstGeom>
          <a:solidFill>
            <a:srgbClr val="111B2E"/>
          </a:solidFill>
          <a:ln w="12700">
            <a:solidFill>
              <a:srgbClr val="34D399"/>
            </a:solidFill>
            <a:prstDash val="solid"/>
          </a:ln>
        </p:spPr>
        <p:txBody>
          <a:bodyPr wrap="square" lIns="91440" tIns="91440" rIns="91440" bIns="91440" rtlCol="0" anchor="t">
            <a:noAutofit/>
          </a:bodyPr>
          <a:lstStyle/>
          <a:p>
            <a:pPr marL="0" indent="0" algn="ctr">
              <a:spcBef>
                <a:spcPts val="0"/>
              </a:spcBef>
              <a:spcAft>
                <a:spcPts val="0"/>
              </a:spcAft>
              <a:buNone/>
            </a:pPr>
            <a:r>
              <a:rPr lang="en-US" sz="1100" b="1" dirty="0">
                <a:solidFill>
                  <a:srgbClr val="34D399"/>
                </a:solidFill>
                <a:latin typeface="Segoe UI"/>
                <a:ea typeface="Segoe UI"/>
                <a:cs typeface="Segoe UI"/>
              </a:rPr>
              <a:t>your code  ·  count ERROR lines</a:t>
            </a:r>
            <a:endParaRPr lang="en-US" sz="1100" dirty="0"/>
          </a:p>
        </p:txBody>
      </p:sp>
      <p:cxnSp>
        <p:nvCxnSpPr>
          <p:cNvPr id="110" name="a1"/>
          <p:cNvCxnSpPr/>
          <p:nvPr/>
        </p:nvCxnSpPr>
        <p:spPr>
          <a:xfrm>
            <a:off x="3017520" y="2852928"/>
            <a:ext cx="1463040" cy="0"/>
          </a:xfrm>
          <a:prstGeom prst="line">
            <a:avLst/>
          </a:prstGeom>
          <a:ln w="19050">
            <a:solidFill>
              <a:srgbClr val="94A3B8"/>
            </a:solidFill>
            <a:prstDash val="dash"/>
            <a:tailEnd type="triangle" w="med" len="med"/>
          </a:ln>
        </p:spPr>
      </p:cxnSp>
      <p:cxnSp>
        <p:nvCxnSpPr>
          <p:cNvPr id="111" name="a2"/>
          <p:cNvCxnSpPr/>
          <p:nvPr/>
        </p:nvCxnSpPr>
        <p:spPr>
          <a:xfrm>
            <a:off x="7223760" y="2852928"/>
            <a:ext cx="1417320" cy="0"/>
          </a:xfrm>
          <a:prstGeom prst="line">
            <a:avLst/>
          </a:prstGeom>
          <a:ln w="19050">
            <a:solidFill>
              <a:srgbClr val="94A3B8"/>
            </a:solidFill>
            <a:prstDash val="dash"/>
            <a:tailEnd type="triangle" w="med" len="med"/>
          </a:ln>
        </p:spPr>
      </p:cxnSp>
      <p:sp>
        <p:nvSpPr>
          <p:cNvPr id="112" name="a1L"/>
          <p:cNvSpPr txBox="1"/>
          <p:nvPr/>
        </p:nvSpPr>
        <p:spPr>
          <a:xfrm>
            <a:off x="3017520" y="2514600"/>
            <a:ext cx="146304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0" dirty="0">
                <a:solidFill>
                  <a:srgbClr val="94A3B8"/>
                </a:solidFill>
                <a:latin typeface="Consolas"/>
                <a:ea typeface="Consolas"/>
                <a:cs typeface="Consolas"/>
              </a:rPr>
              <a:t>ReadAsync</a:t>
            </a:r>
            <a:endParaRPr lang="en-US" sz="1000" dirty="0"/>
          </a:p>
        </p:txBody>
      </p:sp>
      <p:sp>
        <p:nvSpPr>
          <p:cNvPr id="113" name="a2L"/>
          <p:cNvSpPr txBox="1"/>
          <p:nvPr/>
        </p:nvSpPr>
        <p:spPr>
          <a:xfrm>
            <a:off x="7223760" y="2514600"/>
            <a:ext cx="141732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0" dirty="0">
                <a:solidFill>
                  <a:srgbClr val="94A3B8"/>
                </a:solidFill>
                <a:latin typeface="Segoe UI"/>
                <a:ea typeface="Segoe UI"/>
                <a:cs typeface="Segoe UI"/>
              </a:rPr>
              <a:t>process</a:t>
            </a:r>
            <a:endParaRPr lang="en-US" sz="1000" dirty="0"/>
          </a:p>
        </p:txBody>
      </p:sp>
      <p:sp>
        <p:nvSpPr>
          <p:cNvPr id="114" name="t0"/>
          <p:cNvSpPr/>
          <p:nvPr/>
        </p:nvSpPr>
        <p:spPr>
          <a:xfrm>
            <a:off x="722376" y="2011680"/>
            <a:ext cx="2011680" cy="274320"/>
          </a:xfrm>
          <a:prstGeom prst="roundRect">
            <a:avLst>
              <a:gd name="adj" fmla="val 12000"/>
            </a:avLst>
          </a:prstGeom>
          <a:solidFill>
            <a:srgbClr val="13D0F7"/>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0F172A"/>
                </a:solidFill>
                <a:latin typeface="Consolas"/>
                <a:ea typeface="Consolas"/>
                <a:cs typeface="Consolas"/>
              </a:rPr>
              <a:t>chunk 1</a:t>
            </a:r>
            <a:endParaRPr lang="en-US" sz="1000" dirty="0"/>
          </a:p>
        </p:txBody>
      </p:sp>
      <p:sp>
        <p:nvSpPr>
          <p:cNvPr id="115" name="p0"/>
          <p:cNvSpPr txBox="1"/>
          <p:nvPr/>
        </p:nvSpPr>
        <p:spPr>
          <a:xfrm>
            <a:off x="8961120" y="2057400"/>
            <a:ext cx="25603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34D399"/>
                </a:solidFill>
                <a:latin typeface="Segoe UI"/>
                <a:ea typeface="Segoe UI"/>
                <a:cs typeface="Segoe UI"/>
              </a:rPr>
              <a:t>✓ chunk 1 processed</a:t>
            </a:r>
            <a:endParaRPr lang="en-US" sz="1100" dirty="0"/>
          </a:p>
        </p:txBody>
      </p:sp>
      <p:sp>
        <p:nvSpPr>
          <p:cNvPr id="116" name="t1"/>
          <p:cNvSpPr/>
          <p:nvPr/>
        </p:nvSpPr>
        <p:spPr>
          <a:xfrm>
            <a:off x="722376" y="2368296"/>
            <a:ext cx="2011680" cy="274320"/>
          </a:xfrm>
          <a:prstGeom prst="roundRect">
            <a:avLst>
              <a:gd name="adj" fmla="val 12000"/>
            </a:avLst>
          </a:prstGeom>
          <a:solidFill>
            <a:srgbClr val="13D0F7"/>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0F172A"/>
                </a:solidFill>
                <a:latin typeface="Consolas"/>
                <a:ea typeface="Consolas"/>
                <a:cs typeface="Consolas"/>
              </a:rPr>
              <a:t>chunk 2</a:t>
            </a:r>
            <a:endParaRPr lang="en-US" sz="1000" dirty="0"/>
          </a:p>
        </p:txBody>
      </p:sp>
      <p:sp>
        <p:nvSpPr>
          <p:cNvPr id="117" name="p1"/>
          <p:cNvSpPr txBox="1"/>
          <p:nvPr/>
        </p:nvSpPr>
        <p:spPr>
          <a:xfrm>
            <a:off x="8961120" y="2386584"/>
            <a:ext cx="25603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34D399"/>
                </a:solidFill>
                <a:latin typeface="Segoe UI"/>
                <a:ea typeface="Segoe UI"/>
                <a:cs typeface="Segoe UI"/>
              </a:rPr>
              <a:t>✓ chunk 2 processed</a:t>
            </a:r>
            <a:endParaRPr lang="en-US" sz="1100" dirty="0"/>
          </a:p>
        </p:txBody>
      </p:sp>
      <p:sp>
        <p:nvSpPr>
          <p:cNvPr id="118" name="t2"/>
          <p:cNvSpPr/>
          <p:nvPr/>
        </p:nvSpPr>
        <p:spPr>
          <a:xfrm>
            <a:off x="722376" y="2724912"/>
            <a:ext cx="2011680" cy="274320"/>
          </a:xfrm>
          <a:prstGeom prst="roundRect">
            <a:avLst>
              <a:gd name="adj" fmla="val 12000"/>
            </a:avLst>
          </a:prstGeom>
          <a:solidFill>
            <a:srgbClr val="13D0F7"/>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0F172A"/>
                </a:solidFill>
                <a:latin typeface="Consolas"/>
                <a:ea typeface="Consolas"/>
                <a:cs typeface="Consolas"/>
              </a:rPr>
              <a:t>chunk 3</a:t>
            </a:r>
            <a:endParaRPr lang="en-US" sz="1000" dirty="0"/>
          </a:p>
        </p:txBody>
      </p:sp>
      <p:sp>
        <p:nvSpPr>
          <p:cNvPr id="119" name="p2"/>
          <p:cNvSpPr txBox="1"/>
          <p:nvPr/>
        </p:nvSpPr>
        <p:spPr>
          <a:xfrm>
            <a:off x="8961120" y="2715768"/>
            <a:ext cx="25603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0" dirty="0">
                <a:solidFill>
                  <a:srgbClr val="34D399"/>
                </a:solidFill>
                <a:latin typeface="Segoe UI"/>
                <a:ea typeface="Segoe UI"/>
                <a:cs typeface="Segoe UI"/>
              </a:rPr>
              <a:t>✓ chunk 3 processed</a:t>
            </a:r>
            <a:endParaRPr lang="en-US" sz="1100" dirty="0"/>
          </a:p>
        </p:txBody>
      </p:sp>
      <p:sp>
        <p:nvSpPr>
          <p:cNvPr id="120" name="more"/>
          <p:cNvSpPr txBox="1"/>
          <p:nvPr/>
        </p:nvSpPr>
        <p:spPr>
          <a:xfrm>
            <a:off x="8961120" y="3063240"/>
            <a:ext cx="256032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94A3B8"/>
                </a:solidFill>
                <a:latin typeface="Segoe UI"/>
                <a:ea typeface="Segoe UI"/>
                <a:cs typeface="Segoe UI"/>
              </a:rPr>
              <a:t>… repeat until ReadAsync</a:t>
            </a:r>
            <a:endParaRPr lang="en-US" sz="1050" dirty="0"/>
          </a:p>
          <a:p>
            <a:pPr marL="0" indent="0" algn="l">
              <a:spcBef>
                <a:spcPts val="0"/>
              </a:spcBef>
              <a:spcAft>
                <a:spcPts val="0"/>
              </a:spcAft>
              <a:buNone/>
            </a:pPr>
            <a:r>
              <a:rPr lang="en-US" sz="1050" b="0" dirty="0">
                <a:solidFill>
                  <a:srgbClr val="94A3B8"/>
                </a:solidFill>
                <a:latin typeface="Segoe UI"/>
                <a:ea typeface="Segoe UI"/>
                <a:cs typeface="Segoe UI"/>
              </a:rPr>
              <a:t>returns 0 (end of file)</a:t>
            </a:r>
            <a:endParaRPr lang="en-US" sz="1050" dirty="0"/>
          </a:p>
        </p:txBody>
      </p:sp>
      <p:sp>
        <p:nvSpPr>
          <p:cNvPr id="121" name="gL"/>
          <p:cNvSpPr txBox="1"/>
          <p:nvPr/>
        </p:nvSpPr>
        <p:spPr>
          <a:xfrm>
            <a:off x="543154" y="4325112"/>
            <a:ext cx="237744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Stream: memory used</a:t>
            </a:r>
            <a:endParaRPr lang="en-US" sz="1100" dirty="0"/>
          </a:p>
        </p:txBody>
      </p:sp>
      <p:sp>
        <p:nvSpPr>
          <p:cNvPr id="122" name="gT"/>
          <p:cNvSpPr/>
          <p:nvPr/>
        </p:nvSpPr>
        <p:spPr>
          <a:xfrm>
            <a:off x="3017520" y="4352544"/>
            <a:ext cx="8613648" cy="237744"/>
          </a:xfrm>
          <a:prstGeom prst="roundRect">
            <a:avLst>
              <a:gd name="adj" fmla="val 30000"/>
            </a:avLst>
          </a:prstGeom>
          <a:solidFill>
            <a:srgbClr val="060D18"/>
          </a:solidFill>
          <a:ln w="12700">
            <a:solidFill>
              <a:srgbClr val="1E3A5F"/>
            </a:solidFill>
            <a:prstDash val="solid"/>
          </a:ln>
        </p:spPr>
        <p:txBody>
          <a:bodyPr/>
          <a:lstStyle/>
          <a:p>
            <a:endParaRPr lang="en-US"/>
          </a:p>
        </p:txBody>
      </p:sp>
      <p:sp>
        <p:nvSpPr>
          <p:cNvPr id="123" name="gF"/>
          <p:cNvSpPr/>
          <p:nvPr/>
        </p:nvSpPr>
        <p:spPr>
          <a:xfrm>
            <a:off x="3017520" y="4352544"/>
            <a:ext cx="274320" cy="237744"/>
          </a:xfrm>
          <a:prstGeom prst="roundRect">
            <a:avLst>
              <a:gd name="adj" fmla="val 30000"/>
            </a:avLst>
          </a:prstGeom>
          <a:solidFill>
            <a:srgbClr val="34D399"/>
          </a:solidFill>
          <a:ln w="12700">
            <a:solidFill>
              <a:srgbClr val="34D399"/>
            </a:solidFill>
            <a:prstDash val="solid"/>
          </a:ln>
        </p:spPr>
        <p:txBody>
          <a:bodyPr/>
          <a:lstStyle/>
          <a:p>
            <a:endParaRPr lang="en-US"/>
          </a:p>
        </p:txBody>
      </p:sp>
      <p:sp>
        <p:nvSpPr>
          <p:cNvPr id="124" name="gV"/>
          <p:cNvSpPr txBox="1"/>
          <p:nvPr/>
        </p:nvSpPr>
        <p:spPr>
          <a:xfrm>
            <a:off x="3429000" y="4325112"/>
            <a:ext cx="77724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4 KB, whether the file is 2 MB or 2 GB</a:t>
            </a:r>
            <a:endParaRPr lang="en-US" sz="1100" dirty="0"/>
          </a:p>
        </p:txBody>
      </p:sp>
      <p:sp>
        <p:nvSpPr>
          <p:cNvPr id="125" name="rL"/>
          <p:cNvSpPr txBox="1"/>
          <p:nvPr/>
        </p:nvSpPr>
        <p:spPr>
          <a:xfrm>
            <a:off x="543154" y="4663440"/>
            <a:ext cx="24688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87171"/>
                </a:solidFill>
                <a:latin typeface="Segoe UI"/>
                <a:ea typeface="Segoe UI"/>
                <a:cs typeface="Segoe UI"/>
              </a:rPr>
              <a:t>ReadAllText: memory used</a:t>
            </a:r>
            <a:endParaRPr lang="en-US" sz="1100" dirty="0"/>
          </a:p>
        </p:txBody>
      </p:sp>
      <p:sp>
        <p:nvSpPr>
          <p:cNvPr id="126" name="rF"/>
          <p:cNvSpPr/>
          <p:nvPr/>
        </p:nvSpPr>
        <p:spPr>
          <a:xfrm>
            <a:off x="3017520" y="4690872"/>
            <a:ext cx="8613648" cy="237744"/>
          </a:xfrm>
          <a:prstGeom prst="roundRect">
            <a:avLst>
              <a:gd name="adj" fmla="val 30000"/>
            </a:avLst>
          </a:prstGeom>
          <a:solidFill>
            <a:srgbClr val="F87171"/>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a:ea typeface="Segoe UI"/>
                <a:cs typeface="Segoe UI"/>
              </a:rPr>
              <a:t>2 GB, all at once  →  OutOfMemoryException</a:t>
            </a:r>
            <a:endParaRPr lang="en-US" sz="1000" dirty="0"/>
          </a:p>
        </p:txBody>
      </p:sp>
      <p:sp>
        <p:nvSpPr>
          <p:cNvPr id="127" name="b"/>
          <p:cNvSpPr/>
          <p:nvPr/>
        </p:nvSpPr>
        <p:spPr>
          <a:xfrm>
            <a:off x="543154" y="5120640"/>
            <a:ext cx="11087100" cy="685800"/>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Streaming = read a small piece, process it, repeat. Memory stays small, and work starts at once.</a:t>
            </a:r>
            <a:endParaRPr lang="en-US" sz="1500" dirty="0"/>
          </a:p>
        </p:txBody>
      </p:sp>
    </p:spTree>
    <p:extLst>
      <p:ext uri="{BB962C8B-B14F-4D97-AF65-F5344CB8AC3E}">
        <p14:creationId xmlns:p14="http://schemas.microsoft.com/office/powerpoint/2010/main" val="50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200"/>
                                        <p:tgtEl>
                                          <p:spTgt spid="114"/>
                                        </p:tgtEl>
                                      </p:cBhvr>
                                    </p:animEffect>
                                  </p:childTnLst>
                                </p:cTn>
                              </p:par>
                            </p:childTnLst>
                          </p:cTn>
                        </p:par>
                        <p:par>
                          <p:cTn id="8" fill="hold">
                            <p:stCondLst>
                              <p:cond delay="200"/>
                            </p:stCondLst>
                            <p:childTnLst>
                              <p:par>
                                <p:cTn id="9" presetID="0" presetClass="path" presetSubtype="0" accel="50000" decel="50000" fill="hold" grpId="1" nodeType="afterEffect">
                                  <p:stCondLst>
                                    <p:cond delay="0"/>
                                  </p:stCondLst>
                                  <p:childTnLst>
                                    <p:animMotion origin="layout" path="M 0.00000 0.00000 L 0.32250 0.10400 E" pathEditMode="relative" rAng="0" ptsTypes="AA">
                                      <p:cBhvr>
                                        <p:cTn id="10" dur="700" fill="hold"/>
                                        <p:tgtEl>
                                          <p:spTgt spid="114"/>
                                        </p:tgtEl>
                                        <p:attrNameLst>
                                          <p:attrName>ppt_x</p:attrName>
                                          <p:attrName>ppt_y</p:attrName>
                                        </p:attrNameLst>
                                      </p:cBhvr>
                                      <p:rCtr x="16125" y="5199"/>
                                    </p:animMotion>
                                  </p:childTnLst>
                                </p:cTn>
                              </p:par>
                            </p:childTnLst>
                          </p:cTn>
                        </p:par>
                        <p:par>
                          <p:cTn id="11" fill="hold">
                            <p:stCondLst>
                              <p:cond delay="1200"/>
                            </p:stCondLst>
                            <p:childTnLst>
                              <p:par>
                                <p:cTn id="12" presetID="0" presetClass="path" presetSubtype="0" accel="50000" decel="50000" fill="hold" grpId="2" nodeType="afterEffect">
                                  <p:stCondLst>
                                    <p:cond delay="0"/>
                                  </p:stCondLst>
                                  <p:childTnLst>
                                    <p:animMotion origin="layout" path="M 0.32250 0.10400 L 0.67875 0.01333 E" pathEditMode="relative" rAng="0" ptsTypes="AA">
                                      <p:cBhvr>
                                        <p:cTn id="13" dur="700" fill="hold"/>
                                        <p:tgtEl>
                                          <p:spTgt spid="114"/>
                                        </p:tgtEl>
                                        <p:attrNameLst>
                                          <p:attrName>ppt_x</p:attrName>
                                          <p:attrName>ppt_y</p:attrName>
                                        </p:attrNameLst>
                                      </p:cBhvr>
                                      <p:rCtr x="17812" y="-4533"/>
                                    </p:animMotion>
                                  </p:childTnLst>
                                </p:cTn>
                              </p:par>
                            </p:childTnLst>
                          </p:cTn>
                        </p:par>
                        <p:par>
                          <p:cTn id="14" fill="hold">
                            <p:stCondLst>
                              <p:cond delay="1900"/>
                            </p:stCondLst>
                            <p:childTnLst>
                              <p:par>
                                <p:cTn id="15" presetID="10" presetClass="exit" presetSubtype="0" fill="hold" grpId="3" nodeType="afterEffect">
                                  <p:stCondLst>
                                    <p:cond delay="0"/>
                                  </p:stCondLst>
                                  <p:childTnLst>
                                    <p:animEffect transition="out" filter="fade">
                                      <p:cBhvr>
                                        <p:cTn id="16" dur="250"/>
                                        <p:tgtEl>
                                          <p:spTgt spid="114"/>
                                        </p:tgtEl>
                                      </p:cBhvr>
                                    </p:animEffect>
                                    <p:set>
                                      <p:cBhvr>
                                        <p:cTn id="17" dur="1" fill="hold">
                                          <p:stCondLst>
                                            <p:cond delay="249"/>
                                          </p:stCondLst>
                                        </p:cTn>
                                        <p:tgtEl>
                                          <p:spTgt spid="114"/>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115"/>
                                        </p:tgtEl>
                                        <p:attrNameLst>
                                          <p:attrName>style.visibility</p:attrName>
                                        </p:attrNameLst>
                                      </p:cBhvr>
                                      <p:to>
                                        <p:strVal val="visible"/>
                                      </p:to>
                                    </p:set>
                                    <p:animEffect transition="in" filter="fade">
                                      <p:cBhvr>
                                        <p:cTn id="20" dur="250"/>
                                        <p:tgtEl>
                                          <p:spTgt spid="1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1"/>
                                        </p:tgtEl>
                                        <p:attrNameLst>
                                          <p:attrName>style.visibility</p:attrName>
                                        </p:attrNameLst>
                                      </p:cBhvr>
                                      <p:to>
                                        <p:strVal val="visible"/>
                                      </p:to>
                                    </p:set>
                                    <p:animEffect transition="in" filter="fade">
                                      <p:cBhvr>
                                        <p:cTn id="23" dur="400"/>
                                        <p:tgtEl>
                                          <p:spTgt spid="1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2"/>
                                        </p:tgtEl>
                                        <p:attrNameLst>
                                          <p:attrName>style.visibility</p:attrName>
                                        </p:attrNameLst>
                                      </p:cBhvr>
                                      <p:to>
                                        <p:strVal val="visible"/>
                                      </p:to>
                                    </p:set>
                                    <p:animEffect transition="in" filter="fade">
                                      <p:cBhvr>
                                        <p:cTn id="26" dur="400"/>
                                        <p:tgtEl>
                                          <p:spTgt spid="12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3"/>
                                        </p:tgtEl>
                                        <p:attrNameLst>
                                          <p:attrName>style.visibility</p:attrName>
                                        </p:attrNameLst>
                                      </p:cBhvr>
                                      <p:to>
                                        <p:strVal val="visible"/>
                                      </p:to>
                                    </p:set>
                                    <p:animEffect transition="in" filter="fade">
                                      <p:cBhvr>
                                        <p:cTn id="29" dur="400"/>
                                        <p:tgtEl>
                                          <p:spTgt spid="1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4"/>
                                        </p:tgtEl>
                                        <p:attrNameLst>
                                          <p:attrName>style.visibility</p:attrName>
                                        </p:attrNameLst>
                                      </p:cBhvr>
                                      <p:to>
                                        <p:strVal val="visible"/>
                                      </p:to>
                                    </p:set>
                                    <p:animEffect transition="in" filter="fade">
                                      <p:cBhvr>
                                        <p:cTn id="32" dur="400"/>
                                        <p:tgtEl>
                                          <p:spTgt spid="1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fade">
                                      <p:cBhvr>
                                        <p:cTn id="37" dur="200"/>
                                        <p:tgtEl>
                                          <p:spTgt spid="116"/>
                                        </p:tgtEl>
                                      </p:cBhvr>
                                    </p:animEffect>
                                  </p:childTnLst>
                                </p:cTn>
                              </p:par>
                            </p:childTnLst>
                          </p:cTn>
                        </p:par>
                        <p:par>
                          <p:cTn id="38" fill="hold">
                            <p:stCondLst>
                              <p:cond delay="200"/>
                            </p:stCondLst>
                            <p:childTnLst>
                              <p:par>
                                <p:cTn id="39" presetID="0" presetClass="path" presetSubtype="0" accel="50000" decel="50000" fill="hold" grpId="1" nodeType="afterEffect">
                                  <p:stCondLst>
                                    <p:cond delay="0"/>
                                  </p:stCondLst>
                                  <p:childTnLst>
                                    <p:animMotion origin="layout" path="M 0.00000 0.00000 L 0.32250 0.05200 E" pathEditMode="relative" rAng="0" ptsTypes="AA">
                                      <p:cBhvr>
                                        <p:cTn id="40" dur="700" fill="hold"/>
                                        <p:tgtEl>
                                          <p:spTgt spid="116"/>
                                        </p:tgtEl>
                                        <p:attrNameLst>
                                          <p:attrName>ppt_x</p:attrName>
                                          <p:attrName>ppt_y</p:attrName>
                                        </p:attrNameLst>
                                      </p:cBhvr>
                                      <p:rCtr x="16125" y="2599"/>
                                    </p:animMotion>
                                  </p:childTnLst>
                                </p:cTn>
                              </p:par>
                            </p:childTnLst>
                          </p:cTn>
                        </p:par>
                        <p:par>
                          <p:cTn id="41" fill="hold">
                            <p:stCondLst>
                              <p:cond delay="1200"/>
                            </p:stCondLst>
                            <p:childTnLst>
                              <p:par>
                                <p:cTn id="42" presetID="0" presetClass="path" presetSubtype="0" accel="50000" decel="50000" fill="hold" grpId="2" nodeType="afterEffect">
                                  <p:stCondLst>
                                    <p:cond delay="0"/>
                                  </p:stCondLst>
                                  <p:childTnLst>
                                    <p:animMotion origin="layout" path="M 0.32250 0.05200 L 0.67875 -0.03867 E" pathEditMode="relative" rAng="0" ptsTypes="AA">
                                      <p:cBhvr>
                                        <p:cTn id="43" dur="700" fill="hold"/>
                                        <p:tgtEl>
                                          <p:spTgt spid="116"/>
                                        </p:tgtEl>
                                        <p:attrNameLst>
                                          <p:attrName>ppt_x</p:attrName>
                                          <p:attrName>ppt_y</p:attrName>
                                        </p:attrNameLst>
                                      </p:cBhvr>
                                      <p:rCtr x="17812" y="-4533"/>
                                    </p:animMotion>
                                  </p:childTnLst>
                                </p:cTn>
                              </p:par>
                            </p:childTnLst>
                          </p:cTn>
                        </p:par>
                        <p:par>
                          <p:cTn id="44" fill="hold">
                            <p:stCondLst>
                              <p:cond delay="1900"/>
                            </p:stCondLst>
                            <p:childTnLst>
                              <p:par>
                                <p:cTn id="45" presetID="10" presetClass="exit" presetSubtype="0" fill="hold" grpId="3" nodeType="afterEffect">
                                  <p:stCondLst>
                                    <p:cond delay="0"/>
                                  </p:stCondLst>
                                  <p:childTnLst>
                                    <p:animEffect transition="out" filter="fade">
                                      <p:cBhvr>
                                        <p:cTn id="46" dur="250"/>
                                        <p:tgtEl>
                                          <p:spTgt spid="116"/>
                                        </p:tgtEl>
                                      </p:cBhvr>
                                    </p:animEffect>
                                    <p:set>
                                      <p:cBhvr>
                                        <p:cTn id="47" dur="1" fill="hold">
                                          <p:stCondLst>
                                            <p:cond delay="249"/>
                                          </p:stCondLst>
                                        </p:cTn>
                                        <p:tgtEl>
                                          <p:spTgt spid="116"/>
                                        </p:tgtEl>
                                        <p:attrNameLst>
                                          <p:attrName>style.visibility</p:attrName>
                                        </p:attrNameLst>
                                      </p:cBhvr>
                                      <p:to>
                                        <p:strVal val="hidden"/>
                                      </p:to>
                                    </p:set>
                                  </p:childTnLst>
                                </p:cTn>
                              </p:par>
                              <p:par>
                                <p:cTn id="48" presetID="10" presetClass="entr" presetSubtype="0" fill="hold" grpId="0" nodeType="withEffect">
                                  <p:stCondLst>
                                    <p:cond delay="0"/>
                                  </p:stCondLst>
                                  <p:childTnLst>
                                    <p:set>
                                      <p:cBhvr>
                                        <p:cTn id="49" dur="1" fill="hold">
                                          <p:stCondLst>
                                            <p:cond delay="0"/>
                                          </p:stCondLst>
                                        </p:cTn>
                                        <p:tgtEl>
                                          <p:spTgt spid="117"/>
                                        </p:tgtEl>
                                        <p:attrNameLst>
                                          <p:attrName>style.visibility</p:attrName>
                                        </p:attrNameLst>
                                      </p:cBhvr>
                                      <p:to>
                                        <p:strVal val="visible"/>
                                      </p:to>
                                    </p:set>
                                    <p:animEffect transition="in" filter="fade">
                                      <p:cBhvr>
                                        <p:cTn id="50" dur="250"/>
                                        <p:tgtEl>
                                          <p:spTgt spid="117"/>
                                        </p:tgtEl>
                                      </p:cBhvr>
                                    </p:animEffect>
                                  </p:childTnLst>
                                </p:cTn>
                              </p:par>
                            </p:childTnLst>
                          </p:cTn>
                        </p:par>
                        <p:par>
                          <p:cTn id="51" fill="hold">
                            <p:stCondLst>
                              <p:cond delay="2150"/>
                            </p:stCondLst>
                            <p:childTnLst>
                              <p:par>
                                <p:cTn id="52" presetID="10" presetClass="entr" presetSubtype="0" fill="hold" grpId="0" nodeType="afterEffect">
                                  <p:stCondLst>
                                    <p:cond delay="0"/>
                                  </p:stCondLst>
                                  <p:childTnLst>
                                    <p:set>
                                      <p:cBhvr>
                                        <p:cTn id="53" dur="1" fill="hold">
                                          <p:stCondLst>
                                            <p:cond delay="0"/>
                                          </p:stCondLst>
                                        </p:cTn>
                                        <p:tgtEl>
                                          <p:spTgt spid="118"/>
                                        </p:tgtEl>
                                        <p:attrNameLst>
                                          <p:attrName>style.visibility</p:attrName>
                                        </p:attrNameLst>
                                      </p:cBhvr>
                                      <p:to>
                                        <p:strVal val="visible"/>
                                      </p:to>
                                    </p:set>
                                    <p:animEffect transition="in" filter="fade">
                                      <p:cBhvr>
                                        <p:cTn id="54" dur="200"/>
                                        <p:tgtEl>
                                          <p:spTgt spid="118"/>
                                        </p:tgtEl>
                                      </p:cBhvr>
                                    </p:animEffect>
                                  </p:childTnLst>
                                </p:cTn>
                              </p:par>
                            </p:childTnLst>
                          </p:cTn>
                        </p:par>
                        <p:par>
                          <p:cTn id="55" fill="hold">
                            <p:stCondLst>
                              <p:cond delay="2350"/>
                            </p:stCondLst>
                            <p:childTnLst>
                              <p:par>
                                <p:cTn id="56" presetID="0" presetClass="path" presetSubtype="0" accel="50000" decel="50000" fill="hold" grpId="1" nodeType="afterEffect">
                                  <p:stCondLst>
                                    <p:cond delay="0"/>
                                  </p:stCondLst>
                                  <p:childTnLst>
                                    <p:animMotion origin="layout" path="M 0.00000 0.00000 L 0.32250 -0.00000 E" pathEditMode="relative" rAng="0" ptsTypes="AA">
                                      <p:cBhvr>
                                        <p:cTn id="57" dur="700" fill="hold"/>
                                        <p:tgtEl>
                                          <p:spTgt spid="118"/>
                                        </p:tgtEl>
                                        <p:attrNameLst>
                                          <p:attrName>ppt_x</p:attrName>
                                          <p:attrName>ppt_y</p:attrName>
                                        </p:attrNameLst>
                                      </p:cBhvr>
                                      <p:rCtr x="16125" y="0"/>
                                    </p:animMotion>
                                  </p:childTnLst>
                                </p:cTn>
                              </p:par>
                            </p:childTnLst>
                          </p:cTn>
                        </p:par>
                        <p:par>
                          <p:cTn id="58" fill="hold">
                            <p:stCondLst>
                              <p:cond delay="3350"/>
                            </p:stCondLst>
                            <p:childTnLst>
                              <p:par>
                                <p:cTn id="59" presetID="0" presetClass="path" presetSubtype="0" accel="50000" decel="50000" fill="hold" grpId="2" nodeType="afterEffect">
                                  <p:stCondLst>
                                    <p:cond delay="0"/>
                                  </p:stCondLst>
                                  <p:childTnLst>
                                    <p:animMotion origin="layout" path="M 0.32250 -0.00000 L 0.67875 -0.09067 E" pathEditMode="relative" rAng="0" ptsTypes="AA">
                                      <p:cBhvr>
                                        <p:cTn id="60" dur="700" fill="hold"/>
                                        <p:tgtEl>
                                          <p:spTgt spid="118"/>
                                        </p:tgtEl>
                                        <p:attrNameLst>
                                          <p:attrName>ppt_x</p:attrName>
                                          <p:attrName>ppt_y</p:attrName>
                                        </p:attrNameLst>
                                      </p:cBhvr>
                                      <p:rCtr x="17812" y="-4533"/>
                                    </p:animMotion>
                                  </p:childTnLst>
                                </p:cTn>
                              </p:par>
                            </p:childTnLst>
                          </p:cTn>
                        </p:par>
                        <p:par>
                          <p:cTn id="61" fill="hold">
                            <p:stCondLst>
                              <p:cond delay="4050"/>
                            </p:stCondLst>
                            <p:childTnLst>
                              <p:par>
                                <p:cTn id="62" presetID="10" presetClass="exit" presetSubtype="0" fill="hold" grpId="3" nodeType="afterEffect">
                                  <p:stCondLst>
                                    <p:cond delay="0"/>
                                  </p:stCondLst>
                                  <p:childTnLst>
                                    <p:animEffect transition="out" filter="fade">
                                      <p:cBhvr>
                                        <p:cTn id="63" dur="250"/>
                                        <p:tgtEl>
                                          <p:spTgt spid="118"/>
                                        </p:tgtEl>
                                      </p:cBhvr>
                                    </p:animEffect>
                                    <p:set>
                                      <p:cBhvr>
                                        <p:cTn id="64" dur="1" fill="hold">
                                          <p:stCondLst>
                                            <p:cond delay="249"/>
                                          </p:stCondLst>
                                        </p:cTn>
                                        <p:tgtEl>
                                          <p:spTgt spid="118"/>
                                        </p:tgtEl>
                                        <p:attrNameLst>
                                          <p:attrName>style.visibility</p:attrName>
                                        </p:attrNameLst>
                                      </p:cBhvr>
                                      <p:to>
                                        <p:strVal val="hidden"/>
                                      </p:to>
                                    </p:set>
                                  </p:childTnLst>
                                </p:cTn>
                              </p:par>
                              <p:par>
                                <p:cTn id="65" presetID="10" presetClass="entr" presetSubtype="0" fill="hold" grpId="0" nodeType="withEffect">
                                  <p:stCondLst>
                                    <p:cond delay="0"/>
                                  </p:stCondLst>
                                  <p:childTnLst>
                                    <p:set>
                                      <p:cBhvr>
                                        <p:cTn id="66" dur="1" fill="hold">
                                          <p:stCondLst>
                                            <p:cond delay="0"/>
                                          </p:stCondLst>
                                        </p:cTn>
                                        <p:tgtEl>
                                          <p:spTgt spid="119"/>
                                        </p:tgtEl>
                                        <p:attrNameLst>
                                          <p:attrName>style.visibility</p:attrName>
                                        </p:attrNameLst>
                                      </p:cBhvr>
                                      <p:to>
                                        <p:strVal val="visible"/>
                                      </p:to>
                                    </p:set>
                                    <p:animEffect transition="in" filter="fade">
                                      <p:cBhvr>
                                        <p:cTn id="67" dur="250"/>
                                        <p:tgtEl>
                                          <p:spTgt spid="119"/>
                                        </p:tgtEl>
                                      </p:cBhvr>
                                    </p:animEffect>
                                  </p:childTnLst>
                                </p:cTn>
                              </p:par>
                            </p:childTnLst>
                          </p:cTn>
                        </p:par>
                        <p:par>
                          <p:cTn id="68" fill="hold">
                            <p:stCondLst>
                              <p:cond delay="4300"/>
                            </p:stCondLst>
                            <p:childTnLst>
                              <p:par>
                                <p:cTn id="69" presetID="10" presetClass="entr" presetSubtype="0" fill="hold" grpId="0" nodeType="afterEffect">
                                  <p:stCondLst>
                                    <p:cond delay="0"/>
                                  </p:stCondLst>
                                  <p:childTnLst>
                                    <p:set>
                                      <p:cBhvr>
                                        <p:cTn id="70" dur="1" fill="hold">
                                          <p:stCondLst>
                                            <p:cond delay="0"/>
                                          </p:stCondLst>
                                        </p:cTn>
                                        <p:tgtEl>
                                          <p:spTgt spid="120"/>
                                        </p:tgtEl>
                                        <p:attrNameLst>
                                          <p:attrName>style.visibility</p:attrName>
                                        </p:attrNameLst>
                                      </p:cBhvr>
                                      <p:to>
                                        <p:strVal val="visible"/>
                                      </p:to>
                                    </p:set>
                                    <p:animEffect transition="in" filter="fade">
                                      <p:cBhvr>
                                        <p:cTn id="71" dur="400"/>
                                        <p:tgtEl>
                                          <p:spTgt spid="12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25"/>
                                        </p:tgtEl>
                                        <p:attrNameLst>
                                          <p:attrName>style.visibility</p:attrName>
                                        </p:attrNameLst>
                                      </p:cBhvr>
                                      <p:to>
                                        <p:strVal val="visible"/>
                                      </p:to>
                                    </p:set>
                                    <p:animEffect transition="in" filter="fade">
                                      <p:cBhvr>
                                        <p:cTn id="76" dur="400"/>
                                        <p:tgtEl>
                                          <p:spTgt spid="1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26"/>
                                        </p:tgtEl>
                                        <p:attrNameLst>
                                          <p:attrName>style.visibility</p:attrName>
                                        </p:attrNameLst>
                                      </p:cBhvr>
                                      <p:to>
                                        <p:strVal val="visible"/>
                                      </p:to>
                                    </p:set>
                                    <p:animEffect transition="in" filter="fade">
                                      <p:cBhvr>
                                        <p:cTn id="79" dur="400"/>
                                        <p:tgtEl>
                                          <p:spTgt spid="12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27"/>
                                        </p:tgtEl>
                                        <p:attrNameLst>
                                          <p:attrName>style.visibility</p:attrName>
                                        </p:attrNameLst>
                                      </p:cBhvr>
                                      <p:to>
                                        <p:strVal val="visible"/>
                                      </p:to>
                                    </p:set>
                                    <p:animEffect transition="in" filter="fade">
                                      <p:cBhvr>
                                        <p:cTn id="84" dur="4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4" grpId="1" animBg="1"/>
      <p:bldP spid="114" grpId="2" animBg="1"/>
      <p:bldP spid="114" grpId="3" animBg="1"/>
      <p:bldP spid="115" grpId="0" animBg="1"/>
      <p:bldP spid="116" grpId="0" animBg="1"/>
      <p:bldP spid="116" grpId="1" animBg="1"/>
      <p:bldP spid="116" grpId="2" animBg="1"/>
      <p:bldP spid="116" grpId="3" animBg="1"/>
      <p:bldP spid="117" grpId="0" animBg="1"/>
      <p:bldP spid="118" grpId="0" animBg="1"/>
      <p:bldP spid="118" grpId="1" animBg="1"/>
      <p:bldP spid="118" grpId="2" animBg="1"/>
      <p:bldP spid="118" grpId="3" animBg="1"/>
      <p:bldP spid="119" grpId="0" animBg="1"/>
      <p:bldP spid="120" grpId="0" animBg="1"/>
      <p:bldP spid="121" grpId="0" animBg="1"/>
      <p:bldP spid="122" grpId="0" animBg="1"/>
      <p:bldP spid="123" grpId="0" animBg="1"/>
      <p:bldP spid="124" grpId="0" animBg="1"/>
      <p:bldP spid="125" grpId="0" animBg="1"/>
      <p:bldP spid="126" grpId="0" animBg="1"/>
      <p:bldP spid="12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FILESTREAM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FileStream: Open a File as a Stream</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16</a:t>
            </a:r>
            <a:endParaRPr lang="en-US" sz="850" dirty="0"/>
          </a:p>
        </p:txBody>
      </p:sp>
      <p:grpSp>
        <p:nvGrpSpPr>
          <p:cNvPr id="117" name="code"/>
          <p:cNvGrpSpPr/>
          <p:nvPr/>
        </p:nvGrpSpPr>
        <p:grpSpPr>
          <a:xfrm>
            <a:off x="543154" y="1481328"/>
            <a:ext cx="5760720" cy="2410900"/>
            <a:chOff x="543154" y="1481328"/>
            <a:chExt cx="5760720" cy="2410900"/>
          </a:xfrm>
        </p:grpSpPr>
        <p:sp>
          <p:nvSpPr>
            <p:cNvPr id="101" name="code_win"/>
            <p:cNvSpPr/>
            <p:nvPr/>
          </p:nvSpPr>
          <p:spPr>
            <a:xfrm>
              <a:off x="543154" y="1481328"/>
              <a:ext cx="5760720" cy="2410900"/>
            </a:xfrm>
            <a:prstGeom prst="roundRect">
              <a:avLst>
                <a:gd name="adj" fmla="val 2843"/>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576072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54607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File.WriteAllText(</a:t>
              </a:r>
              <a:r>
                <a:rPr lang="en-US" sz="900" b="0" dirty="0">
                  <a:solidFill>
                    <a:srgbClr val="F0A98B"/>
                  </a:solidFill>
                  <a:latin typeface="Consolas"/>
                  <a:ea typeface="Consolas"/>
                  <a:cs typeface="Consolas"/>
                </a:rPr>
                <a:t>"data.txt"</a:t>
              </a:r>
              <a:r>
                <a:rPr lang="en-US" sz="900" b="0" dirty="0">
                  <a:solidFill>
                    <a:srgbClr val="E2E8F0"/>
                  </a:solidFill>
                  <a:latin typeface="Consolas"/>
                  <a:ea typeface="Consolas"/>
                  <a:cs typeface="Consolas"/>
                </a:rPr>
                <a:t>, </a:t>
              </a:r>
              <a:r>
                <a:rPr lang="en-US" sz="900" b="0" dirty="0">
                  <a:solidFill>
                    <a:srgbClr val="F0A98B"/>
                  </a:solidFill>
                  <a:latin typeface="Consolas"/>
                  <a:ea typeface="Consolas"/>
                  <a:cs typeface="Consolas"/>
                </a:rPr>
                <a:t>"Hello"</a:t>
              </a:r>
              <a:r>
                <a:rPr lang="en-US" sz="900" b="0" dirty="0">
                  <a:solidFill>
                    <a:srgbClr val="E2E8F0"/>
                  </a:solidFill>
                  <a:latin typeface="Consolas"/>
                  <a:ea typeface="Consolas"/>
                  <a:cs typeface="Consolas"/>
                </a:rPr>
                <a:t>);</a:t>
              </a:r>
              <a:endParaRPr lang="en-US" sz="900" dirty="0"/>
            </a:p>
          </p:txBody>
        </p:sp>
        <p:sp>
          <p:nvSpPr>
            <p:cNvPr id="109" name="code_L02"/>
            <p:cNvSpPr txBox="1"/>
            <p:nvPr/>
          </p:nvSpPr>
          <p:spPr>
            <a:xfrm>
              <a:off x="771754" y="2287228"/>
              <a:ext cx="54607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using</a:t>
              </a:r>
              <a:r>
                <a:rPr lang="en-US" sz="900" b="0" dirty="0">
                  <a:solidFill>
                    <a:srgbClr val="E2E8F0"/>
                  </a:solidFill>
                  <a:latin typeface="Consolas"/>
                  <a:ea typeface="Consolas"/>
                  <a:cs typeface="Consolas"/>
                </a:rPr>
                <a:t> FileStream stream = </a:t>
              </a:r>
              <a:r>
                <a:rPr lang="en-US" sz="900" b="0" dirty="0">
                  <a:solidFill>
                    <a:srgbClr val="60A5FA"/>
                  </a:solidFill>
                  <a:latin typeface="Consolas"/>
                  <a:ea typeface="Consolas"/>
                  <a:cs typeface="Consolas"/>
                </a:rPr>
                <a:t>new</a:t>
              </a:r>
              <a:r>
                <a:rPr lang="en-US" sz="900" b="0" dirty="0">
                  <a:solidFill>
                    <a:srgbClr val="E2E8F0"/>
                  </a:solidFill>
                  <a:latin typeface="Consolas"/>
                  <a:ea typeface="Consolas"/>
                  <a:cs typeface="Consolas"/>
                </a:rPr>
                <a:t> FileStream(</a:t>
              </a:r>
              <a:endParaRPr lang="en-US" sz="900" dirty="0"/>
            </a:p>
          </p:txBody>
        </p:sp>
        <p:sp>
          <p:nvSpPr>
            <p:cNvPr id="110" name="code_L03"/>
            <p:cNvSpPr txBox="1"/>
            <p:nvPr/>
          </p:nvSpPr>
          <p:spPr>
            <a:xfrm>
              <a:off x="771754" y="2452228"/>
              <a:ext cx="54607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F0A98B"/>
                  </a:solidFill>
                  <a:latin typeface="Consolas"/>
                  <a:ea typeface="Consolas"/>
                  <a:cs typeface="Consolas"/>
                </a:rPr>
                <a:t>"data.txt"</a:t>
              </a:r>
              <a:r>
                <a:rPr lang="en-US" sz="900" b="0" dirty="0">
                  <a:solidFill>
                    <a:srgbClr val="E2E8F0"/>
                  </a:solidFill>
                  <a:latin typeface="Consolas"/>
                  <a:ea typeface="Consolas"/>
                  <a:cs typeface="Consolas"/>
                </a:rPr>
                <a:t>,</a:t>
              </a:r>
              <a:endParaRPr lang="en-US" sz="900" dirty="0"/>
            </a:p>
          </p:txBody>
        </p:sp>
        <p:sp>
          <p:nvSpPr>
            <p:cNvPr id="111" name="code_L04"/>
            <p:cNvSpPr txBox="1"/>
            <p:nvPr/>
          </p:nvSpPr>
          <p:spPr>
            <a:xfrm>
              <a:off x="771754" y="2617228"/>
              <a:ext cx="54607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FileMode.OpenOrCreate,</a:t>
              </a:r>
              <a:endParaRPr lang="en-US" sz="900" dirty="0"/>
            </a:p>
          </p:txBody>
        </p:sp>
        <p:sp>
          <p:nvSpPr>
            <p:cNvPr id="112" name="code_L05"/>
            <p:cNvSpPr txBox="1"/>
            <p:nvPr/>
          </p:nvSpPr>
          <p:spPr>
            <a:xfrm>
              <a:off x="771754" y="2782228"/>
              <a:ext cx="54607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FileAccess.ReadWrite</a:t>
              </a:r>
              <a:endParaRPr lang="en-US" sz="900" dirty="0"/>
            </a:p>
          </p:txBody>
        </p:sp>
        <p:sp>
          <p:nvSpPr>
            <p:cNvPr id="113" name="code_L06"/>
            <p:cNvSpPr txBox="1"/>
            <p:nvPr/>
          </p:nvSpPr>
          <p:spPr>
            <a:xfrm>
              <a:off x="771754" y="2947228"/>
              <a:ext cx="54607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sp>
          <p:nvSpPr>
            <p:cNvPr id="114" name="code_L08"/>
            <p:cNvSpPr txBox="1"/>
            <p:nvPr/>
          </p:nvSpPr>
          <p:spPr>
            <a:xfrm>
              <a:off x="771754" y="3277228"/>
              <a:ext cx="54607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Console.WriteLine(stream.Length);     </a:t>
              </a:r>
              <a:r>
                <a:rPr lang="en-US" sz="900" b="0" dirty="0">
                  <a:solidFill>
                    <a:srgbClr val="6FAE7A"/>
                  </a:solidFill>
                  <a:latin typeface="Consolas"/>
                  <a:ea typeface="Consolas"/>
                  <a:cs typeface="Consolas"/>
                </a:rPr>
                <a:t>// 5 bytes</a:t>
              </a:r>
              <a:endParaRPr lang="en-US" sz="900" dirty="0"/>
            </a:p>
          </p:txBody>
        </p:sp>
        <p:sp>
          <p:nvSpPr>
            <p:cNvPr id="115" name="code_L09"/>
            <p:cNvSpPr txBox="1"/>
            <p:nvPr/>
          </p:nvSpPr>
          <p:spPr>
            <a:xfrm>
              <a:off x="771754" y="3442228"/>
              <a:ext cx="54607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Console.WriteLine(stream.CanRead);    </a:t>
              </a:r>
              <a:r>
                <a:rPr lang="en-US" sz="900" b="0" dirty="0">
                  <a:solidFill>
                    <a:srgbClr val="6FAE7A"/>
                  </a:solidFill>
                  <a:latin typeface="Consolas"/>
                  <a:ea typeface="Consolas"/>
                  <a:cs typeface="Consolas"/>
                </a:rPr>
                <a:t>// True</a:t>
              </a:r>
              <a:endParaRPr lang="en-US" sz="900" dirty="0"/>
            </a:p>
          </p:txBody>
        </p:sp>
        <p:sp>
          <p:nvSpPr>
            <p:cNvPr id="116" name="code_L10"/>
            <p:cNvSpPr txBox="1"/>
            <p:nvPr/>
          </p:nvSpPr>
          <p:spPr>
            <a:xfrm>
              <a:off x="771754" y="3607228"/>
              <a:ext cx="54607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Console.WriteLine(stream.CanWrite);   </a:t>
              </a:r>
              <a:r>
                <a:rPr lang="en-US" sz="900" b="0" dirty="0">
                  <a:solidFill>
                    <a:srgbClr val="6FAE7A"/>
                  </a:solidFill>
                  <a:latin typeface="Consolas"/>
                  <a:ea typeface="Consolas"/>
                  <a:cs typeface="Consolas"/>
                </a:rPr>
                <a:t>// True</a:t>
              </a:r>
              <a:endParaRPr lang="en-US" sz="900" dirty="0"/>
            </a:p>
          </p:txBody>
        </p:sp>
      </p:grpSp>
      <p:sp>
        <p:nvSpPr>
          <p:cNvPr id="118" name="code_hl2"/>
          <p:cNvSpPr/>
          <p:nvPr/>
        </p:nvSpPr>
        <p:spPr>
          <a:xfrm>
            <a:off x="676656" y="2268940"/>
            <a:ext cx="5493720"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19" name="code_hl3"/>
          <p:cNvSpPr/>
          <p:nvPr/>
        </p:nvSpPr>
        <p:spPr>
          <a:xfrm>
            <a:off x="676656" y="2433940"/>
            <a:ext cx="5493720"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0" name="code_hl4"/>
          <p:cNvSpPr/>
          <p:nvPr/>
        </p:nvSpPr>
        <p:spPr>
          <a:xfrm>
            <a:off x="676656" y="2598940"/>
            <a:ext cx="5493720"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1" name="code_hl5"/>
          <p:cNvSpPr/>
          <p:nvPr/>
        </p:nvSpPr>
        <p:spPr>
          <a:xfrm>
            <a:off x="676656" y="2763940"/>
            <a:ext cx="5493720"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2" name="code_hl6"/>
          <p:cNvSpPr/>
          <p:nvPr/>
        </p:nvSpPr>
        <p:spPr>
          <a:xfrm>
            <a:off x="676656" y="2928940"/>
            <a:ext cx="5493720" cy="20157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33" name="out"/>
          <p:cNvGrpSpPr/>
          <p:nvPr/>
        </p:nvGrpSpPr>
        <p:grpSpPr>
          <a:xfrm>
            <a:off x="543154" y="3950208"/>
            <a:ext cx="5760720" cy="1150900"/>
            <a:chOff x="543154" y="3950208"/>
            <a:chExt cx="5760720" cy="1150900"/>
          </a:xfrm>
        </p:grpSpPr>
        <p:sp>
          <p:nvSpPr>
            <p:cNvPr id="123" name="out_win"/>
            <p:cNvSpPr/>
            <p:nvPr/>
          </p:nvSpPr>
          <p:spPr>
            <a:xfrm>
              <a:off x="543154" y="3950208"/>
              <a:ext cx="5760720" cy="1150900"/>
            </a:xfrm>
            <a:prstGeom prst="roundRect">
              <a:avLst>
                <a:gd name="adj" fmla="val 5956"/>
              </a:avLst>
            </a:prstGeom>
            <a:solidFill>
              <a:srgbClr val="060D18"/>
            </a:solidFill>
            <a:ln w="12700">
              <a:solidFill>
                <a:srgbClr val="1E3A5F"/>
              </a:solidFill>
              <a:prstDash val="solid"/>
            </a:ln>
          </p:spPr>
          <p:txBody>
            <a:bodyPr/>
            <a:lstStyle/>
            <a:p>
              <a:endParaRPr lang="en-US"/>
            </a:p>
          </p:txBody>
        </p:sp>
        <p:sp>
          <p:nvSpPr>
            <p:cNvPr id="124" name="out_bar"/>
            <p:cNvSpPr/>
            <p:nvPr/>
          </p:nvSpPr>
          <p:spPr>
            <a:xfrm>
              <a:off x="543154" y="395020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out_barfill"/>
            <p:cNvSpPr/>
            <p:nvPr/>
          </p:nvSpPr>
          <p:spPr>
            <a:xfrm>
              <a:off x="543154" y="4121658"/>
              <a:ext cx="5760720" cy="171450"/>
            </a:xfrm>
            <a:prstGeom prst="rect">
              <a:avLst/>
            </a:prstGeom>
            <a:solidFill>
              <a:srgbClr val="0A1220"/>
            </a:solidFill>
            <a:ln w="12700">
              <a:solidFill>
                <a:srgbClr val="0A1220"/>
              </a:solidFill>
              <a:prstDash val="solid"/>
            </a:ln>
          </p:spPr>
          <p:txBody>
            <a:bodyPr/>
            <a:lstStyle/>
            <a:p>
              <a:endParaRPr lang="en-US"/>
            </a:p>
          </p:txBody>
        </p:sp>
        <p:sp>
          <p:nvSpPr>
            <p:cNvPr id="126" name="out_dot0"/>
            <p:cNvSpPr/>
            <p:nvPr/>
          </p:nvSpPr>
          <p:spPr>
            <a:xfrm>
              <a:off x="705002" y="4074018"/>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out_dot1"/>
            <p:cNvSpPr/>
            <p:nvPr/>
          </p:nvSpPr>
          <p:spPr>
            <a:xfrm>
              <a:off x="890626" y="4074018"/>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out_dot2"/>
            <p:cNvSpPr/>
            <p:nvPr/>
          </p:nvSpPr>
          <p:spPr>
            <a:xfrm>
              <a:off x="1076250" y="4074018"/>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out_tab"/>
            <p:cNvSpPr/>
            <p:nvPr/>
          </p:nvSpPr>
          <p:spPr>
            <a:xfrm>
              <a:off x="1324051" y="399775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30" name="out_L00"/>
            <p:cNvSpPr txBox="1"/>
            <p:nvPr/>
          </p:nvSpPr>
          <p:spPr>
            <a:xfrm>
              <a:off x="771754" y="4426108"/>
              <a:ext cx="546072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5</a:t>
              </a:r>
              <a:endParaRPr lang="en-US" sz="1000" dirty="0"/>
            </a:p>
          </p:txBody>
        </p:sp>
        <p:sp>
          <p:nvSpPr>
            <p:cNvPr id="131" name="out_L01"/>
            <p:cNvSpPr txBox="1"/>
            <p:nvPr/>
          </p:nvSpPr>
          <p:spPr>
            <a:xfrm>
              <a:off x="771754" y="4611108"/>
              <a:ext cx="546072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True</a:t>
              </a:r>
              <a:endParaRPr lang="en-US" sz="1000" dirty="0"/>
            </a:p>
          </p:txBody>
        </p:sp>
        <p:sp>
          <p:nvSpPr>
            <p:cNvPr id="132" name="out_L02"/>
            <p:cNvSpPr txBox="1"/>
            <p:nvPr/>
          </p:nvSpPr>
          <p:spPr>
            <a:xfrm>
              <a:off x="771754" y="4796108"/>
              <a:ext cx="546072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True</a:t>
              </a:r>
              <a:endParaRPr lang="en-US" sz="1000" dirty="0"/>
            </a:p>
          </p:txBody>
        </p:sp>
      </p:grpSp>
      <p:sp>
        <p:nvSpPr>
          <p:cNvPr id="134" name="k0"/>
          <p:cNvSpPr/>
          <p:nvPr/>
        </p:nvSpPr>
        <p:spPr>
          <a:xfrm>
            <a:off x="6578194" y="1481328"/>
            <a:ext cx="5052060" cy="896112"/>
          </a:xfrm>
          <a:prstGeom prst="roundRect">
            <a:avLst>
              <a:gd name="adj" fmla="val 12000"/>
            </a:avLst>
          </a:prstGeom>
          <a:solidFill>
            <a:srgbClr val="111B2E"/>
          </a:solidFill>
          <a:ln w="12700">
            <a:solidFill>
              <a:srgbClr val="13D0F7"/>
            </a:solidFill>
            <a:prstDash val="solid"/>
          </a:ln>
        </p:spPr>
        <p:txBody>
          <a:bodyPr wrap="square" lIns="164592" tIns="45720" rIns="91440" bIns="45720" rtlCol="0" anchor="ctr">
            <a:noAutofit/>
          </a:bodyPr>
          <a:lstStyle/>
          <a:p>
            <a:pPr marL="0" indent="0" algn="l">
              <a:spcBef>
                <a:spcPts val="0"/>
              </a:spcBef>
              <a:spcAft>
                <a:spcPts val="0"/>
              </a:spcAft>
              <a:buNone/>
            </a:pPr>
            <a:r>
              <a:rPr lang="en-US" sz="1200" b="1" dirty="0">
                <a:solidFill>
                  <a:srgbClr val="13D0F7"/>
                </a:solidFill>
                <a:latin typeface="Consolas"/>
                <a:ea typeface="Consolas"/>
                <a:cs typeface="Consolas"/>
              </a:rPr>
              <a:t>FileMode</a:t>
            </a:r>
            <a:r>
              <a:rPr lang="en-US" sz="1050" b="0" dirty="0">
                <a:solidFill>
                  <a:srgbClr val="CBD5E1"/>
                </a:solidFill>
                <a:latin typeface="Segoe UI"/>
                <a:ea typeface="Segoe UI"/>
                <a:cs typeface="Segoe UI"/>
              </a:rPr>
              <a:t>   exists or not?</a:t>
            </a:r>
            <a:endParaRPr lang="en-US" sz="1200" dirty="0"/>
          </a:p>
          <a:p>
            <a:pPr marL="0" indent="0" algn="l">
              <a:spcBef>
                <a:spcPts val="0"/>
              </a:spcBef>
              <a:spcAft>
                <a:spcPts val="0"/>
              </a:spcAft>
              <a:buNone/>
            </a:pPr>
            <a:r>
              <a:rPr lang="en-US" sz="1000" b="0" dirty="0">
                <a:solidFill>
                  <a:srgbClr val="E2E8F0"/>
                </a:solidFill>
                <a:latin typeface="Consolas"/>
                <a:ea typeface="Consolas"/>
                <a:cs typeface="Consolas"/>
              </a:rPr>
              <a:t>Open · Create · OpenOrCreate · Append</a:t>
            </a:r>
            <a:endParaRPr lang="en-US" sz="1000" dirty="0"/>
          </a:p>
        </p:txBody>
      </p:sp>
      <p:sp>
        <p:nvSpPr>
          <p:cNvPr id="135" name="k1"/>
          <p:cNvSpPr/>
          <p:nvPr/>
        </p:nvSpPr>
        <p:spPr>
          <a:xfrm>
            <a:off x="6578194" y="2487168"/>
            <a:ext cx="5052060" cy="896112"/>
          </a:xfrm>
          <a:prstGeom prst="roundRect">
            <a:avLst>
              <a:gd name="adj" fmla="val 12000"/>
            </a:avLst>
          </a:prstGeom>
          <a:solidFill>
            <a:srgbClr val="111B2E"/>
          </a:solidFill>
          <a:ln w="12700">
            <a:solidFill>
              <a:srgbClr val="34D399"/>
            </a:solidFill>
            <a:prstDash val="solid"/>
          </a:ln>
        </p:spPr>
        <p:txBody>
          <a:bodyPr wrap="square" lIns="164592" tIns="45720" rIns="91440" bIns="45720" rtlCol="0" anchor="ctr">
            <a:noAutofit/>
          </a:bodyPr>
          <a:lstStyle/>
          <a:p>
            <a:pPr marL="0" indent="0" algn="l">
              <a:spcBef>
                <a:spcPts val="0"/>
              </a:spcBef>
              <a:spcAft>
                <a:spcPts val="0"/>
              </a:spcAft>
              <a:buNone/>
            </a:pPr>
            <a:r>
              <a:rPr lang="en-US" sz="1200" b="1" dirty="0">
                <a:solidFill>
                  <a:srgbClr val="34D399"/>
                </a:solidFill>
                <a:latin typeface="Consolas"/>
                <a:ea typeface="Consolas"/>
                <a:cs typeface="Consolas"/>
              </a:rPr>
              <a:t>FileAccess</a:t>
            </a:r>
            <a:r>
              <a:rPr lang="en-US" sz="1050" b="0" dirty="0">
                <a:solidFill>
                  <a:srgbClr val="CBD5E1"/>
                </a:solidFill>
                <a:latin typeface="Segoe UI"/>
                <a:ea typeface="Segoe UI"/>
                <a:cs typeface="Segoe UI"/>
              </a:rPr>
              <a:t>   what may I do?</a:t>
            </a:r>
            <a:endParaRPr lang="en-US" sz="1200" dirty="0"/>
          </a:p>
          <a:p>
            <a:pPr marL="0" indent="0" algn="l">
              <a:spcBef>
                <a:spcPts val="0"/>
              </a:spcBef>
              <a:spcAft>
                <a:spcPts val="0"/>
              </a:spcAft>
              <a:buNone/>
            </a:pPr>
            <a:r>
              <a:rPr lang="en-US" sz="1000" b="0" dirty="0">
                <a:solidFill>
                  <a:srgbClr val="E2E8F0"/>
                </a:solidFill>
                <a:latin typeface="Consolas"/>
                <a:ea typeface="Consolas"/>
                <a:cs typeface="Consolas"/>
              </a:rPr>
              <a:t>Read · Write · ReadWrite</a:t>
            </a:r>
            <a:endParaRPr lang="en-US" sz="1000" dirty="0"/>
          </a:p>
        </p:txBody>
      </p:sp>
      <p:sp>
        <p:nvSpPr>
          <p:cNvPr id="136" name="k2"/>
          <p:cNvSpPr/>
          <p:nvPr/>
        </p:nvSpPr>
        <p:spPr>
          <a:xfrm>
            <a:off x="6578194" y="3493008"/>
            <a:ext cx="5052060" cy="896112"/>
          </a:xfrm>
          <a:prstGeom prst="roundRect">
            <a:avLst>
              <a:gd name="adj" fmla="val 12000"/>
            </a:avLst>
          </a:prstGeom>
          <a:solidFill>
            <a:srgbClr val="111B2E"/>
          </a:solidFill>
          <a:ln w="12700">
            <a:solidFill>
              <a:srgbClr val="FBBF24"/>
            </a:solidFill>
            <a:prstDash val="solid"/>
          </a:ln>
        </p:spPr>
        <p:txBody>
          <a:bodyPr wrap="square" lIns="164592" tIns="45720" rIns="91440" bIns="45720" rtlCol="0" anchor="ctr">
            <a:noAutofit/>
          </a:bodyPr>
          <a:lstStyle/>
          <a:p>
            <a:pPr marL="0" indent="0" algn="l">
              <a:spcBef>
                <a:spcPts val="0"/>
              </a:spcBef>
              <a:spcAft>
                <a:spcPts val="0"/>
              </a:spcAft>
              <a:buNone/>
            </a:pPr>
            <a:r>
              <a:rPr lang="en-US" sz="1200" b="1" dirty="0">
                <a:solidFill>
                  <a:srgbClr val="FBBF24"/>
                </a:solidFill>
                <a:latin typeface="Consolas"/>
                <a:ea typeface="Consolas"/>
                <a:cs typeface="Consolas"/>
              </a:rPr>
              <a:t>FileShare</a:t>
            </a:r>
            <a:r>
              <a:rPr lang="en-US" sz="1050" b="0" dirty="0">
                <a:solidFill>
                  <a:srgbClr val="CBD5E1"/>
                </a:solidFill>
                <a:latin typeface="Segoe UI"/>
                <a:ea typeface="Segoe UI"/>
                <a:cs typeface="Segoe UI"/>
              </a:rPr>
              <a:t>   what may OTHERS do?</a:t>
            </a:r>
            <a:endParaRPr lang="en-US" sz="1200" dirty="0"/>
          </a:p>
          <a:p>
            <a:pPr marL="0" indent="0" algn="l">
              <a:spcBef>
                <a:spcPts val="0"/>
              </a:spcBef>
              <a:spcAft>
                <a:spcPts val="0"/>
              </a:spcAft>
              <a:buNone/>
            </a:pPr>
            <a:r>
              <a:rPr lang="en-US" sz="1000" b="0" dirty="0">
                <a:solidFill>
                  <a:srgbClr val="E2E8F0"/>
                </a:solidFill>
                <a:latin typeface="Consolas"/>
                <a:ea typeface="Consolas"/>
                <a:cs typeface="Consolas"/>
              </a:rPr>
              <a:t>None · Read · ReadWrite</a:t>
            </a:r>
            <a:endParaRPr lang="en-US" sz="1000" dirty="0"/>
          </a:p>
        </p:txBody>
      </p:sp>
      <p:sp>
        <p:nvSpPr>
          <p:cNvPr id="137" name="k3"/>
          <p:cNvSpPr/>
          <p:nvPr/>
        </p:nvSpPr>
        <p:spPr>
          <a:xfrm>
            <a:off x="6578194" y="4498848"/>
            <a:ext cx="5052060" cy="896112"/>
          </a:xfrm>
          <a:prstGeom prst="roundRect">
            <a:avLst>
              <a:gd name="adj" fmla="val 12000"/>
            </a:avLst>
          </a:prstGeom>
          <a:solidFill>
            <a:srgbClr val="111B2E"/>
          </a:solidFill>
          <a:ln w="12700">
            <a:solidFill>
              <a:srgbClr val="A78BFA"/>
            </a:solidFill>
            <a:prstDash val="solid"/>
          </a:ln>
        </p:spPr>
        <p:txBody>
          <a:bodyPr wrap="square" lIns="164592" tIns="45720" rIns="91440" bIns="45720" rtlCol="0" anchor="ctr">
            <a:noAutofit/>
          </a:bodyPr>
          <a:lstStyle/>
          <a:p>
            <a:pPr marL="0" indent="0" algn="l">
              <a:spcBef>
                <a:spcPts val="0"/>
              </a:spcBef>
              <a:spcAft>
                <a:spcPts val="0"/>
              </a:spcAft>
              <a:buNone/>
            </a:pPr>
            <a:r>
              <a:rPr lang="en-US" sz="1200" b="1" dirty="0">
                <a:solidFill>
                  <a:srgbClr val="A78BFA"/>
                </a:solidFill>
                <a:latin typeface="Consolas"/>
                <a:ea typeface="Consolas"/>
                <a:cs typeface="Consolas"/>
              </a:rPr>
              <a:t>Length · Position · Seek()</a:t>
            </a:r>
            <a:r>
              <a:rPr lang="en-US" sz="1050" b="0" dirty="0">
                <a:solidFill>
                  <a:srgbClr val="CBD5E1"/>
                </a:solidFill>
                <a:latin typeface="Segoe UI"/>
                <a:ea typeface="Segoe UI"/>
                <a:cs typeface="Segoe UI"/>
              </a:rPr>
              <a:t>   size · where am I · move</a:t>
            </a:r>
            <a:endParaRPr lang="en-US" sz="1200" dirty="0"/>
          </a:p>
          <a:p>
            <a:pPr marL="0" indent="0" algn="l">
              <a:spcBef>
                <a:spcPts val="0"/>
              </a:spcBef>
              <a:spcAft>
                <a:spcPts val="0"/>
              </a:spcAft>
              <a:buNone/>
            </a:pPr>
            <a:r>
              <a:rPr lang="en-US" sz="1000" b="0" dirty="0">
                <a:solidFill>
                  <a:srgbClr val="E2E8F0"/>
                </a:solidFill>
                <a:latin typeface="Consolas"/>
                <a:ea typeface="Consolas"/>
                <a:cs typeface="Consolas"/>
              </a:rPr>
              <a:t>next slide: Position and Seek</a:t>
            </a:r>
            <a:endParaRPr lang="en-US" sz="1000" dirty="0"/>
          </a:p>
        </p:txBody>
      </p:sp>
    </p:spTree>
    <p:extLst>
      <p:ext uri="{BB962C8B-B14F-4D97-AF65-F5344CB8AC3E}">
        <p14:creationId xmlns:p14="http://schemas.microsoft.com/office/powerpoint/2010/main" val="50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400"/>
                                        <p:tgtEl>
                                          <p:spTgt spid="1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8"/>
                                        </p:tgtEl>
                                        <p:attrNameLst>
                                          <p:attrName>style.visibility</p:attrName>
                                        </p:attrNameLst>
                                      </p:cBhvr>
                                      <p:to>
                                        <p:strVal val="visible"/>
                                      </p:to>
                                    </p:set>
                                    <p:animEffect transition="in" filter="fade">
                                      <p:cBhvr>
                                        <p:cTn id="10" dur="400"/>
                                        <p:tgtEl>
                                          <p:spTgt spid="1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9"/>
                                        </p:tgtEl>
                                        <p:attrNameLst>
                                          <p:attrName>style.visibility</p:attrName>
                                        </p:attrNameLst>
                                      </p:cBhvr>
                                      <p:to>
                                        <p:strVal val="visible"/>
                                      </p:to>
                                    </p:set>
                                    <p:animEffect transition="in" filter="fade">
                                      <p:cBhvr>
                                        <p:cTn id="13" dur="400"/>
                                        <p:tgtEl>
                                          <p:spTgt spid="1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0"/>
                                        </p:tgtEl>
                                        <p:attrNameLst>
                                          <p:attrName>style.visibility</p:attrName>
                                        </p:attrNameLst>
                                      </p:cBhvr>
                                      <p:to>
                                        <p:strVal val="visible"/>
                                      </p:to>
                                    </p:set>
                                    <p:animEffect transition="in" filter="fade">
                                      <p:cBhvr>
                                        <p:cTn id="16" dur="400"/>
                                        <p:tgtEl>
                                          <p:spTgt spid="1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1"/>
                                        </p:tgtEl>
                                        <p:attrNameLst>
                                          <p:attrName>style.visibility</p:attrName>
                                        </p:attrNameLst>
                                      </p:cBhvr>
                                      <p:to>
                                        <p:strVal val="visible"/>
                                      </p:to>
                                    </p:set>
                                    <p:animEffect transition="in" filter="fade">
                                      <p:cBhvr>
                                        <p:cTn id="19" dur="400"/>
                                        <p:tgtEl>
                                          <p:spTgt spid="1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2"/>
                                        </p:tgtEl>
                                        <p:attrNameLst>
                                          <p:attrName>style.visibility</p:attrName>
                                        </p:attrNameLst>
                                      </p:cBhvr>
                                      <p:to>
                                        <p:strVal val="visible"/>
                                      </p:to>
                                    </p:set>
                                    <p:animEffect transition="in" filter="fade">
                                      <p:cBhvr>
                                        <p:cTn id="22" dur="400"/>
                                        <p:tgtEl>
                                          <p:spTgt spid="1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3"/>
                                        </p:tgtEl>
                                        <p:attrNameLst>
                                          <p:attrName>style.visibility</p:attrName>
                                        </p:attrNameLst>
                                      </p:cBhvr>
                                      <p:to>
                                        <p:strVal val="visible"/>
                                      </p:to>
                                    </p:set>
                                    <p:animEffect transition="in" filter="fade">
                                      <p:cBhvr>
                                        <p:cTn id="27" dur="400"/>
                                        <p:tgtEl>
                                          <p:spTgt spid="1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4"/>
                                        </p:tgtEl>
                                        <p:attrNameLst>
                                          <p:attrName>style.visibility</p:attrName>
                                        </p:attrNameLst>
                                      </p:cBhvr>
                                      <p:to>
                                        <p:strVal val="visible"/>
                                      </p:to>
                                    </p:set>
                                    <p:animEffect transition="in" filter="fade">
                                      <p:cBhvr>
                                        <p:cTn id="32" dur="400"/>
                                        <p:tgtEl>
                                          <p:spTgt spid="1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5"/>
                                        </p:tgtEl>
                                        <p:attrNameLst>
                                          <p:attrName>style.visibility</p:attrName>
                                        </p:attrNameLst>
                                      </p:cBhvr>
                                      <p:to>
                                        <p:strVal val="visible"/>
                                      </p:to>
                                    </p:set>
                                    <p:animEffect transition="in" filter="fade">
                                      <p:cBhvr>
                                        <p:cTn id="37" dur="400"/>
                                        <p:tgtEl>
                                          <p:spTgt spid="1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6"/>
                                        </p:tgtEl>
                                        <p:attrNameLst>
                                          <p:attrName>style.visibility</p:attrName>
                                        </p:attrNameLst>
                                      </p:cBhvr>
                                      <p:to>
                                        <p:strVal val="visible"/>
                                      </p:to>
                                    </p:set>
                                    <p:animEffect transition="in" filter="fade">
                                      <p:cBhvr>
                                        <p:cTn id="42" dur="400"/>
                                        <p:tgtEl>
                                          <p:spTgt spid="1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7"/>
                                        </p:tgtEl>
                                        <p:attrNameLst>
                                          <p:attrName>style.visibility</p:attrName>
                                        </p:attrNameLst>
                                      </p:cBhvr>
                                      <p:to>
                                        <p:strVal val="visible"/>
                                      </p:to>
                                    </p:set>
                                    <p:animEffect transition="in" filter="fade">
                                      <p:cBhvr>
                                        <p:cTn id="47" dur="4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19" grpId="0" animBg="1"/>
      <p:bldP spid="120" grpId="0" animBg="1"/>
      <p:bldP spid="121" grpId="0" animBg="1"/>
      <p:bldP spid="122" grpId="0" animBg="1"/>
      <p:bldP spid="134" grpId="0" animBg="1"/>
      <p:bldP spid="135" grpId="0" animBg="1"/>
      <p:bldP spid="136" grpId="0" animBg="1"/>
      <p:bldP spid="13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POSITION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Position and Seek: Where Am I in the Stream?</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17</a:t>
            </a:r>
            <a:endParaRPr lang="en-US" sz="850" dirty="0"/>
          </a:p>
        </p:txBody>
      </p:sp>
      <p:grpSp>
        <p:nvGrpSpPr>
          <p:cNvPr id="115" name="code"/>
          <p:cNvGrpSpPr/>
          <p:nvPr/>
        </p:nvGrpSpPr>
        <p:grpSpPr>
          <a:xfrm>
            <a:off x="543154" y="1481328"/>
            <a:ext cx="11087100" cy="2195900"/>
            <a:chOff x="543154" y="1481328"/>
            <a:chExt cx="11087100" cy="2195900"/>
          </a:xfrm>
        </p:grpSpPr>
        <p:sp>
          <p:nvSpPr>
            <p:cNvPr id="101" name="code_win"/>
            <p:cNvSpPr/>
            <p:nvPr/>
          </p:nvSpPr>
          <p:spPr>
            <a:xfrm>
              <a:off x="543154" y="1481328"/>
              <a:ext cx="11087100" cy="2195900"/>
            </a:xfrm>
            <a:prstGeom prst="roundRect">
              <a:avLst>
                <a:gd name="adj" fmla="val 3121"/>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110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110871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using</a:t>
              </a:r>
              <a:r>
                <a:rPr lang="en-US" sz="880" b="0" dirty="0">
                  <a:solidFill>
                    <a:srgbClr val="E2E8F0"/>
                  </a:solidFill>
                  <a:latin typeface="Consolas"/>
                  <a:ea typeface="Consolas"/>
                  <a:cs typeface="Consolas"/>
                </a:rPr>
                <a:t> FileStream stream = </a:t>
              </a: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a:t>
              </a:r>
              <a:r>
                <a:rPr lang="en-US" sz="880" b="0" dirty="0">
                  <a:solidFill>
                    <a:srgbClr val="F0A98B"/>
                  </a:solidFill>
                  <a:latin typeface="Consolas"/>
                  <a:ea typeface="Consolas"/>
                  <a:cs typeface="Consolas"/>
                </a:rPr>
                <a:t>"seek.txt"</a:t>
              </a:r>
              <a:r>
                <a:rPr lang="en-US" sz="880" b="0" dirty="0">
                  <a:solidFill>
                    <a:srgbClr val="E2E8F0"/>
                  </a:solidFill>
                  <a:latin typeface="Consolas"/>
                  <a:ea typeface="Consolas"/>
                  <a:cs typeface="Consolas"/>
                </a:rPr>
                <a:t>, FileMode.Create, FileAccess.ReadWrite);</a:t>
              </a:r>
              <a:endParaRPr lang="en-US" sz="880" dirty="0"/>
            </a:p>
          </p:txBody>
        </p:sp>
        <p:sp>
          <p:nvSpPr>
            <p:cNvPr id="109" name="code_L02"/>
            <p:cNvSpPr txBox="1"/>
            <p:nvPr/>
          </p:nvSpPr>
          <p:spPr>
            <a:xfrm>
              <a:off x="771754" y="227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stream.Write(Encoding.UTF8.GetBytes(</a:t>
              </a:r>
              <a:r>
                <a:rPr lang="en-US" sz="880" b="0" dirty="0">
                  <a:solidFill>
                    <a:srgbClr val="F0A98B"/>
                  </a:solidFill>
                  <a:latin typeface="Consolas"/>
                  <a:ea typeface="Consolas"/>
                  <a:cs typeface="Consolas"/>
                </a:rPr>
                <a:t>"HELLO"</a:t>
              </a:r>
              <a:r>
                <a:rPr lang="en-US" sz="880" b="0" dirty="0">
                  <a:solidFill>
                    <a:srgbClr val="E2E8F0"/>
                  </a:solidFill>
                  <a:latin typeface="Consolas"/>
                  <a:ea typeface="Consolas"/>
                  <a:cs typeface="Consolas"/>
                </a:rPr>
                <a:t>));</a:t>
              </a:r>
              <a:endParaRPr lang="en-US" sz="880" dirty="0"/>
            </a:p>
          </p:txBody>
        </p:sp>
        <p:sp>
          <p:nvSpPr>
            <p:cNvPr id="110" name="code_L03"/>
            <p:cNvSpPr txBox="1"/>
            <p:nvPr/>
          </p:nvSpPr>
          <p:spPr>
            <a:xfrm>
              <a:off x="771754" y="243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$"after write: Position = {stream.Position}, Length = {stream.Length}"</a:t>
              </a:r>
              <a:r>
                <a:rPr lang="en-US" sz="880" b="0" dirty="0">
                  <a:solidFill>
                    <a:srgbClr val="E2E8F0"/>
                  </a:solidFill>
                  <a:latin typeface="Consolas"/>
                  <a:ea typeface="Consolas"/>
                  <a:cs typeface="Consolas"/>
                </a:rPr>
                <a:t>);</a:t>
              </a:r>
              <a:endParaRPr lang="en-US" sz="880" dirty="0"/>
            </a:p>
          </p:txBody>
        </p:sp>
        <p:sp>
          <p:nvSpPr>
            <p:cNvPr id="111" name="code_L05"/>
            <p:cNvSpPr txBox="1"/>
            <p:nvPr/>
          </p:nvSpPr>
          <p:spPr>
            <a:xfrm>
              <a:off x="771754" y="275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stream.Seek(0, SeekOrigin.Begin);            </a:t>
              </a:r>
              <a:r>
                <a:rPr lang="en-US" sz="880" b="0" dirty="0">
                  <a:solidFill>
                    <a:srgbClr val="6FAE7A"/>
                  </a:solidFill>
                  <a:latin typeface="Consolas"/>
                  <a:ea typeface="Consolas"/>
                  <a:cs typeface="Consolas"/>
                </a:rPr>
                <a:t>// back to the start</a:t>
              </a:r>
              <a:endParaRPr lang="en-US" sz="880" dirty="0"/>
            </a:p>
          </p:txBody>
        </p:sp>
        <p:sp>
          <p:nvSpPr>
            <p:cNvPr id="112" name="code_L06"/>
            <p:cNvSpPr txBox="1"/>
            <p:nvPr/>
          </p:nvSpPr>
          <p:spPr>
            <a:xfrm>
              <a:off x="771754" y="291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$"read '{(char)stream.ReadByte()}', Position = {stream.Position}"</a:t>
              </a:r>
              <a:r>
                <a:rPr lang="en-US" sz="880" b="0" dirty="0">
                  <a:solidFill>
                    <a:srgbClr val="E2E8F0"/>
                  </a:solidFill>
                  <a:latin typeface="Consolas"/>
                  <a:ea typeface="Consolas"/>
                  <a:cs typeface="Consolas"/>
                </a:rPr>
                <a:t>);</a:t>
              </a:r>
              <a:endParaRPr lang="en-US" sz="880" dirty="0"/>
            </a:p>
          </p:txBody>
        </p:sp>
        <p:sp>
          <p:nvSpPr>
            <p:cNvPr id="113" name="code_L08"/>
            <p:cNvSpPr txBox="1"/>
            <p:nvPr/>
          </p:nvSpPr>
          <p:spPr>
            <a:xfrm>
              <a:off x="771754" y="323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stream.Seek(-2, SeekOrigin.End);             </a:t>
              </a:r>
              <a:r>
                <a:rPr lang="en-US" sz="880" b="0" dirty="0">
                  <a:solidFill>
                    <a:srgbClr val="6FAE7A"/>
                  </a:solidFill>
                  <a:latin typeface="Consolas"/>
                  <a:ea typeface="Consolas"/>
                  <a:cs typeface="Consolas"/>
                </a:rPr>
                <a:t>// 2 bytes before the end</a:t>
              </a:r>
              <a:endParaRPr lang="en-US" sz="880" dirty="0"/>
            </a:p>
          </p:txBody>
        </p:sp>
        <p:sp>
          <p:nvSpPr>
            <p:cNvPr id="114" name="code_L09"/>
            <p:cNvSpPr txBox="1"/>
            <p:nvPr/>
          </p:nvSpPr>
          <p:spPr>
            <a:xfrm>
              <a:off x="771754" y="3397228"/>
              <a:ext cx="107871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Console.WriteLine(</a:t>
              </a:r>
              <a:r>
                <a:rPr lang="en-US" sz="880" b="0" dirty="0">
                  <a:solidFill>
                    <a:srgbClr val="F0A98B"/>
                  </a:solidFill>
                  <a:latin typeface="Consolas"/>
                  <a:ea typeface="Consolas"/>
                  <a:cs typeface="Consolas"/>
                </a:rPr>
                <a:t>$"read '{(char)stream.ReadByte()}', Position = {stream.Position}"</a:t>
              </a:r>
              <a:r>
                <a:rPr lang="en-US" sz="880" b="0" dirty="0">
                  <a:solidFill>
                    <a:srgbClr val="E2E8F0"/>
                  </a:solidFill>
                  <a:latin typeface="Consolas"/>
                  <a:ea typeface="Consolas"/>
                  <a:cs typeface="Consolas"/>
                </a:rPr>
                <a:t>);</a:t>
              </a:r>
              <a:endParaRPr lang="en-US" sz="880" dirty="0"/>
            </a:p>
          </p:txBody>
        </p:sp>
      </p:grpSp>
      <p:sp>
        <p:nvSpPr>
          <p:cNvPr id="116" name="code_hl5"/>
          <p:cNvSpPr/>
          <p:nvPr/>
        </p:nvSpPr>
        <p:spPr>
          <a:xfrm>
            <a:off x="676656" y="2738940"/>
            <a:ext cx="10820100" cy="196576"/>
          </a:xfrm>
          <a:prstGeom prst="rect">
            <a:avLst/>
          </a:prstGeom>
          <a:solidFill>
            <a:srgbClr val="34D399">
              <a:alpha val="15000"/>
            </a:srgbClr>
          </a:solidFill>
          <a:ln w="12700">
            <a:solidFill>
              <a:srgbClr val="34D399"/>
            </a:solidFill>
            <a:prstDash val="solid"/>
          </a:ln>
        </p:spPr>
        <p:txBody>
          <a:bodyPr/>
          <a:lstStyle/>
          <a:p>
            <a:endParaRPr lang="en-US" dirty="0"/>
          </a:p>
        </p:txBody>
      </p:sp>
      <p:sp>
        <p:nvSpPr>
          <p:cNvPr id="117" name="code_hl8"/>
          <p:cNvSpPr/>
          <p:nvPr/>
        </p:nvSpPr>
        <p:spPr>
          <a:xfrm>
            <a:off x="676656" y="3218940"/>
            <a:ext cx="10820100" cy="19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29" name="bytes"/>
          <p:cNvGrpSpPr/>
          <p:nvPr/>
        </p:nvGrpSpPr>
        <p:grpSpPr>
          <a:xfrm>
            <a:off x="1091794" y="4343400"/>
            <a:ext cx="4882896" cy="795528"/>
            <a:chOff x="1091794" y="4343400"/>
            <a:chExt cx="4882896" cy="795528"/>
          </a:xfrm>
        </p:grpSpPr>
        <p:sp>
          <p:nvSpPr>
            <p:cNvPr id="118" name="b0"/>
            <p:cNvSpPr/>
            <p:nvPr/>
          </p:nvSpPr>
          <p:spPr>
            <a:xfrm>
              <a:off x="1091794" y="4343400"/>
              <a:ext cx="768096" cy="54864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H</a:t>
              </a:r>
              <a:endParaRPr lang="en-US" sz="1800" dirty="0"/>
            </a:p>
          </p:txBody>
        </p:sp>
        <p:sp>
          <p:nvSpPr>
            <p:cNvPr id="119" name="i0"/>
            <p:cNvSpPr txBox="1"/>
            <p:nvPr/>
          </p:nvSpPr>
          <p:spPr>
            <a:xfrm>
              <a:off x="1091794" y="4910328"/>
              <a:ext cx="768096" cy="2286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0</a:t>
              </a:r>
              <a:endParaRPr lang="en-US" sz="900" dirty="0"/>
            </a:p>
          </p:txBody>
        </p:sp>
        <p:sp>
          <p:nvSpPr>
            <p:cNvPr id="120" name="b1"/>
            <p:cNvSpPr/>
            <p:nvPr/>
          </p:nvSpPr>
          <p:spPr>
            <a:xfrm>
              <a:off x="1914754" y="4343400"/>
              <a:ext cx="768096" cy="54864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E</a:t>
              </a:r>
              <a:endParaRPr lang="en-US" sz="1800" dirty="0"/>
            </a:p>
          </p:txBody>
        </p:sp>
        <p:sp>
          <p:nvSpPr>
            <p:cNvPr id="121" name="i1"/>
            <p:cNvSpPr txBox="1"/>
            <p:nvPr/>
          </p:nvSpPr>
          <p:spPr>
            <a:xfrm>
              <a:off x="1914754" y="4910328"/>
              <a:ext cx="768096" cy="2286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1</a:t>
              </a:r>
              <a:endParaRPr lang="en-US" sz="900" dirty="0"/>
            </a:p>
          </p:txBody>
        </p:sp>
        <p:sp>
          <p:nvSpPr>
            <p:cNvPr id="122" name="b2"/>
            <p:cNvSpPr/>
            <p:nvPr/>
          </p:nvSpPr>
          <p:spPr>
            <a:xfrm>
              <a:off x="2737714" y="4343400"/>
              <a:ext cx="768096" cy="54864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L</a:t>
              </a:r>
              <a:endParaRPr lang="en-US" sz="1800" dirty="0"/>
            </a:p>
          </p:txBody>
        </p:sp>
        <p:sp>
          <p:nvSpPr>
            <p:cNvPr id="123" name="i2"/>
            <p:cNvSpPr txBox="1"/>
            <p:nvPr/>
          </p:nvSpPr>
          <p:spPr>
            <a:xfrm>
              <a:off x="2737714" y="4910328"/>
              <a:ext cx="768096" cy="2286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2</a:t>
              </a:r>
              <a:endParaRPr lang="en-US" sz="900" dirty="0"/>
            </a:p>
          </p:txBody>
        </p:sp>
        <p:sp>
          <p:nvSpPr>
            <p:cNvPr id="124" name="b3"/>
            <p:cNvSpPr/>
            <p:nvPr/>
          </p:nvSpPr>
          <p:spPr>
            <a:xfrm>
              <a:off x="3560674" y="4343400"/>
              <a:ext cx="768096" cy="54864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L</a:t>
              </a:r>
              <a:endParaRPr lang="en-US" sz="1800" dirty="0"/>
            </a:p>
          </p:txBody>
        </p:sp>
        <p:sp>
          <p:nvSpPr>
            <p:cNvPr id="125" name="i3"/>
            <p:cNvSpPr txBox="1"/>
            <p:nvPr/>
          </p:nvSpPr>
          <p:spPr>
            <a:xfrm>
              <a:off x="3560674" y="4910328"/>
              <a:ext cx="768096" cy="2286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3</a:t>
              </a:r>
              <a:endParaRPr lang="en-US" sz="900" dirty="0"/>
            </a:p>
          </p:txBody>
        </p:sp>
        <p:sp>
          <p:nvSpPr>
            <p:cNvPr id="126" name="b4"/>
            <p:cNvSpPr/>
            <p:nvPr/>
          </p:nvSpPr>
          <p:spPr>
            <a:xfrm>
              <a:off x="4383634" y="4343400"/>
              <a:ext cx="768096" cy="54864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800" b="1" dirty="0">
                  <a:solidFill>
                    <a:srgbClr val="FFFFFF"/>
                  </a:solidFill>
                  <a:latin typeface="Consolas"/>
                  <a:ea typeface="Consolas"/>
                  <a:cs typeface="Consolas"/>
                </a:rPr>
                <a:t>O</a:t>
              </a:r>
              <a:endParaRPr lang="en-US" sz="1800" dirty="0"/>
            </a:p>
          </p:txBody>
        </p:sp>
        <p:sp>
          <p:nvSpPr>
            <p:cNvPr id="127" name="i4"/>
            <p:cNvSpPr txBox="1"/>
            <p:nvPr/>
          </p:nvSpPr>
          <p:spPr>
            <a:xfrm>
              <a:off x="4383634" y="4910328"/>
              <a:ext cx="768096" cy="2286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4</a:t>
              </a:r>
              <a:endParaRPr lang="en-US" sz="900" dirty="0"/>
            </a:p>
          </p:txBody>
        </p:sp>
        <p:sp>
          <p:nvSpPr>
            <p:cNvPr id="128" name="i5"/>
            <p:cNvSpPr txBox="1"/>
            <p:nvPr/>
          </p:nvSpPr>
          <p:spPr>
            <a:xfrm>
              <a:off x="5206594" y="4910328"/>
              <a:ext cx="768096" cy="2286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00" b="0" dirty="0">
                  <a:solidFill>
                    <a:srgbClr val="94A3B8"/>
                  </a:solidFill>
                  <a:latin typeface="Segoe UI"/>
                  <a:ea typeface="Segoe UI"/>
                  <a:cs typeface="Segoe UI"/>
                </a:rPr>
                <a:t>5</a:t>
              </a:r>
              <a:endParaRPr lang="en-US" sz="900" dirty="0"/>
            </a:p>
          </p:txBody>
        </p:sp>
      </p:grpSp>
      <p:sp>
        <p:nvSpPr>
          <p:cNvPr id="130" name="pm"/>
          <p:cNvSpPr/>
          <p:nvPr/>
        </p:nvSpPr>
        <p:spPr>
          <a:xfrm>
            <a:off x="5179162" y="3959352"/>
            <a:ext cx="54864" cy="960120"/>
          </a:xfrm>
          <a:prstGeom prst="rect">
            <a:avLst/>
          </a:prstGeom>
          <a:solidFill>
            <a:srgbClr val="F87171"/>
          </a:solidFill>
          <a:ln w="12700">
            <a:solidFill>
              <a:srgbClr val="F87171"/>
            </a:solidFill>
            <a:prstDash val="solid"/>
          </a:ln>
        </p:spPr>
        <p:txBody>
          <a:bodyPr/>
          <a:lstStyle/>
          <a:p>
            <a:endParaRPr lang="en-US"/>
          </a:p>
        </p:txBody>
      </p:sp>
      <p:sp>
        <p:nvSpPr>
          <p:cNvPr id="131" name="pl"/>
          <p:cNvSpPr txBox="1"/>
          <p:nvPr/>
        </p:nvSpPr>
        <p:spPr>
          <a:xfrm>
            <a:off x="4630522" y="3685032"/>
            <a:ext cx="118872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87171"/>
                </a:solidFill>
                <a:latin typeface="Segoe UI"/>
                <a:ea typeface="Segoe UI"/>
                <a:cs typeface="Segoe UI"/>
              </a:rPr>
              <a:t>Position</a:t>
            </a:r>
            <a:endParaRPr lang="en-US" sz="950" dirty="0"/>
          </a:p>
        </p:txBody>
      </p:sp>
      <p:grpSp>
        <p:nvGrpSpPr>
          <p:cNvPr id="142" name="out"/>
          <p:cNvGrpSpPr/>
          <p:nvPr/>
        </p:nvGrpSpPr>
        <p:grpSpPr>
          <a:xfrm>
            <a:off x="6212434" y="3931920"/>
            <a:ext cx="5417820" cy="1150900"/>
            <a:chOff x="6212434" y="3931920"/>
            <a:chExt cx="5417820" cy="1150900"/>
          </a:xfrm>
        </p:grpSpPr>
        <p:sp>
          <p:nvSpPr>
            <p:cNvPr id="132" name="out_win"/>
            <p:cNvSpPr/>
            <p:nvPr/>
          </p:nvSpPr>
          <p:spPr>
            <a:xfrm>
              <a:off x="6212434" y="3931920"/>
              <a:ext cx="5417820" cy="1150900"/>
            </a:xfrm>
            <a:prstGeom prst="roundRect">
              <a:avLst>
                <a:gd name="adj" fmla="val 5956"/>
              </a:avLst>
            </a:prstGeom>
            <a:solidFill>
              <a:srgbClr val="060D18"/>
            </a:solidFill>
            <a:ln w="12700">
              <a:solidFill>
                <a:srgbClr val="1E3A5F"/>
              </a:solidFill>
              <a:prstDash val="solid"/>
            </a:ln>
          </p:spPr>
          <p:txBody>
            <a:bodyPr/>
            <a:lstStyle/>
            <a:p>
              <a:endParaRPr lang="en-US"/>
            </a:p>
          </p:txBody>
        </p:sp>
        <p:sp>
          <p:nvSpPr>
            <p:cNvPr id="133" name="out_bar"/>
            <p:cNvSpPr/>
            <p:nvPr/>
          </p:nvSpPr>
          <p:spPr>
            <a:xfrm>
              <a:off x="6212434" y="3931920"/>
              <a:ext cx="54178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4" name="out_barfill"/>
            <p:cNvSpPr/>
            <p:nvPr/>
          </p:nvSpPr>
          <p:spPr>
            <a:xfrm>
              <a:off x="6212434" y="4103370"/>
              <a:ext cx="5417820" cy="171450"/>
            </a:xfrm>
            <a:prstGeom prst="rect">
              <a:avLst/>
            </a:prstGeom>
            <a:solidFill>
              <a:srgbClr val="0A1220"/>
            </a:solidFill>
            <a:ln w="12700">
              <a:solidFill>
                <a:srgbClr val="0A1220"/>
              </a:solidFill>
              <a:prstDash val="solid"/>
            </a:ln>
          </p:spPr>
          <p:txBody>
            <a:bodyPr/>
            <a:lstStyle/>
            <a:p>
              <a:endParaRPr lang="en-US"/>
            </a:p>
          </p:txBody>
        </p:sp>
        <p:sp>
          <p:nvSpPr>
            <p:cNvPr id="135" name="out_dot0"/>
            <p:cNvSpPr/>
            <p:nvPr/>
          </p:nvSpPr>
          <p:spPr>
            <a:xfrm>
              <a:off x="6374282" y="4055730"/>
              <a:ext cx="95098" cy="95098"/>
            </a:xfrm>
            <a:prstGeom prst="ellipse">
              <a:avLst/>
            </a:prstGeom>
            <a:solidFill>
              <a:srgbClr val="F87171"/>
            </a:solidFill>
            <a:ln w="12700">
              <a:solidFill>
                <a:srgbClr val="F87171"/>
              </a:solidFill>
              <a:prstDash val="solid"/>
            </a:ln>
          </p:spPr>
          <p:txBody>
            <a:bodyPr/>
            <a:lstStyle/>
            <a:p>
              <a:endParaRPr lang="en-US"/>
            </a:p>
          </p:txBody>
        </p:sp>
        <p:sp>
          <p:nvSpPr>
            <p:cNvPr id="136" name="out_dot1"/>
            <p:cNvSpPr/>
            <p:nvPr/>
          </p:nvSpPr>
          <p:spPr>
            <a:xfrm>
              <a:off x="6559906" y="4055730"/>
              <a:ext cx="95098" cy="95098"/>
            </a:xfrm>
            <a:prstGeom prst="ellipse">
              <a:avLst/>
            </a:prstGeom>
            <a:solidFill>
              <a:srgbClr val="FBBF24"/>
            </a:solidFill>
            <a:ln w="12700">
              <a:solidFill>
                <a:srgbClr val="FBBF24"/>
              </a:solidFill>
              <a:prstDash val="solid"/>
            </a:ln>
          </p:spPr>
          <p:txBody>
            <a:bodyPr/>
            <a:lstStyle/>
            <a:p>
              <a:endParaRPr lang="en-US"/>
            </a:p>
          </p:txBody>
        </p:sp>
        <p:sp>
          <p:nvSpPr>
            <p:cNvPr id="137" name="out_dot2"/>
            <p:cNvSpPr/>
            <p:nvPr/>
          </p:nvSpPr>
          <p:spPr>
            <a:xfrm>
              <a:off x="6745530" y="4055730"/>
              <a:ext cx="95098" cy="95098"/>
            </a:xfrm>
            <a:prstGeom prst="ellipse">
              <a:avLst/>
            </a:prstGeom>
            <a:solidFill>
              <a:srgbClr val="34D399"/>
            </a:solidFill>
            <a:ln w="12700">
              <a:solidFill>
                <a:srgbClr val="34D399"/>
              </a:solidFill>
              <a:prstDash val="solid"/>
            </a:ln>
          </p:spPr>
          <p:txBody>
            <a:bodyPr/>
            <a:lstStyle/>
            <a:p>
              <a:endParaRPr lang="en-US"/>
            </a:p>
          </p:txBody>
        </p:sp>
        <p:sp>
          <p:nvSpPr>
            <p:cNvPr id="138" name="out_tab"/>
            <p:cNvSpPr/>
            <p:nvPr/>
          </p:nvSpPr>
          <p:spPr>
            <a:xfrm>
              <a:off x="6993331" y="397946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39" name="out_L00"/>
            <p:cNvSpPr txBox="1"/>
            <p:nvPr/>
          </p:nvSpPr>
          <p:spPr>
            <a:xfrm>
              <a:off x="6441034" y="4407820"/>
              <a:ext cx="511782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after write: Position = 5, Length = 5</a:t>
              </a:r>
              <a:endParaRPr lang="en-US" sz="950" dirty="0"/>
            </a:p>
          </p:txBody>
        </p:sp>
        <p:sp>
          <p:nvSpPr>
            <p:cNvPr id="140" name="out_L01"/>
            <p:cNvSpPr txBox="1"/>
            <p:nvPr/>
          </p:nvSpPr>
          <p:spPr>
            <a:xfrm>
              <a:off x="6441034" y="4592820"/>
              <a:ext cx="511782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read 'H', Position = 1</a:t>
              </a:r>
              <a:endParaRPr lang="en-US" sz="950" dirty="0"/>
            </a:p>
          </p:txBody>
        </p:sp>
        <p:sp>
          <p:nvSpPr>
            <p:cNvPr id="141" name="out_L02"/>
            <p:cNvSpPr txBox="1"/>
            <p:nvPr/>
          </p:nvSpPr>
          <p:spPr>
            <a:xfrm>
              <a:off x="6441034" y="4777820"/>
              <a:ext cx="511782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read 'L', Position = 4</a:t>
              </a:r>
              <a:endParaRPr lang="en-US" sz="950" dirty="0"/>
            </a:p>
          </p:txBody>
        </p:sp>
      </p:grpSp>
      <p:sp>
        <p:nvSpPr>
          <p:cNvPr id="143" name="cap"/>
          <p:cNvSpPr txBox="1"/>
          <p:nvPr/>
        </p:nvSpPr>
        <p:spPr>
          <a:xfrm>
            <a:off x="543154" y="5486400"/>
            <a:ext cx="1108710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Not every stream can go back: </a:t>
            </a:r>
            <a:r>
              <a:rPr lang="en-US" sz="1050" b="0" dirty="0">
                <a:solidFill>
                  <a:srgbClr val="CBD5E1"/>
                </a:solidFill>
                <a:latin typeface="Segoe UI"/>
                <a:ea typeface="Segoe UI"/>
                <a:cs typeface="Segoe UI"/>
              </a:rPr>
              <a:t>check stream.CanSeek (a network stream cannot).</a:t>
            </a:r>
            <a:endParaRPr lang="en-US" sz="1050" dirty="0"/>
          </a:p>
        </p:txBody>
      </p:sp>
    </p:spTree>
    <p:extLst>
      <p:ext uri="{BB962C8B-B14F-4D97-AF65-F5344CB8AC3E}">
        <p14:creationId xmlns:p14="http://schemas.microsoft.com/office/powerpoint/2010/main" val="50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400"/>
                                        <p:tgtEl>
                                          <p:spTgt spid="1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400"/>
                                        <p:tgtEl>
                                          <p:spTgt spid="1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7"/>
                                        </p:tgtEl>
                                        <p:attrNameLst>
                                          <p:attrName>style.visibility</p:attrName>
                                        </p:attrNameLst>
                                      </p:cBhvr>
                                      <p:to>
                                        <p:strVal val="visible"/>
                                      </p:to>
                                    </p:set>
                                    <p:animEffect transition="in" filter="fade">
                                      <p:cBhvr>
                                        <p:cTn id="13" dur="400"/>
                                        <p:tgtEl>
                                          <p:spTgt spid="1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9"/>
                                        </p:tgtEl>
                                        <p:attrNameLst>
                                          <p:attrName>style.visibility</p:attrName>
                                        </p:attrNameLst>
                                      </p:cBhvr>
                                      <p:to>
                                        <p:strVal val="visible"/>
                                      </p:to>
                                    </p:set>
                                    <p:animEffect transition="in" filter="fade">
                                      <p:cBhvr>
                                        <p:cTn id="18" dur="400"/>
                                        <p:tgtEl>
                                          <p:spTgt spid="1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0"/>
                                        </p:tgtEl>
                                        <p:attrNameLst>
                                          <p:attrName>style.visibility</p:attrName>
                                        </p:attrNameLst>
                                      </p:cBhvr>
                                      <p:to>
                                        <p:strVal val="visible"/>
                                      </p:to>
                                    </p:set>
                                    <p:animEffect transition="in" filter="fade">
                                      <p:cBhvr>
                                        <p:cTn id="21" dur="400"/>
                                        <p:tgtEl>
                                          <p:spTgt spid="1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1"/>
                                        </p:tgtEl>
                                        <p:attrNameLst>
                                          <p:attrName>style.visibility</p:attrName>
                                        </p:attrNameLst>
                                      </p:cBhvr>
                                      <p:to>
                                        <p:strVal val="visible"/>
                                      </p:to>
                                    </p:set>
                                    <p:animEffect transition="in" filter="fade">
                                      <p:cBhvr>
                                        <p:cTn id="24" dur="400"/>
                                        <p:tgtEl>
                                          <p:spTgt spid="131"/>
                                        </p:tgtEl>
                                      </p:cBhvr>
                                    </p:animEffec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1" nodeType="clickEffect">
                                  <p:stCondLst>
                                    <p:cond delay="0"/>
                                  </p:stCondLst>
                                  <p:childTnLst>
                                    <p:animMotion origin="layout" path="M 0.00000 0.00000 L -0.33750 0.00000 E" pathEditMode="relative" rAng="0" ptsTypes="AA">
                                      <p:cBhvr>
                                        <p:cTn id="28" dur="900" fill="hold"/>
                                        <p:tgtEl>
                                          <p:spTgt spid="130"/>
                                        </p:tgtEl>
                                        <p:attrNameLst>
                                          <p:attrName>ppt_x</p:attrName>
                                          <p:attrName>ppt_y</p:attrName>
                                        </p:attrNameLst>
                                      </p:cBhvr>
                                      <p:rCtr x="-16875" y="0"/>
                                    </p:animMotion>
                                  </p:childTnLst>
                                </p:cTn>
                              </p:par>
                              <p:par>
                                <p:cTn id="29" presetID="0" presetClass="path" presetSubtype="0" accel="50000" decel="50000" fill="hold" grpId="1" nodeType="withEffect">
                                  <p:stCondLst>
                                    <p:cond delay="0"/>
                                  </p:stCondLst>
                                  <p:childTnLst>
                                    <p:animMotion origin="layout" path="M 0.00000 0.00000 L -0.33750 0.00000 E" pathEditMode="relative" rAng="0" ptsTypes="AA">
                                      <p:cBhvr>
                                        <p:cTn id="30" dur="900" fill="hold"/>
                                        <p:tgtEl>
                                          <p:spTgt spid="131"/>
                                        </p:tgtEl>
                                        <p:attrNameLst>
                                          <p:attrName>ppt_x</p:attrName>
                                          <p:attrName>ppt_y</p:attrName>
                                        </p:attrNameLst>
                                      </p:cBhvr>
                                      <p:rCtr x="-16875" y="0"/>
                                    </p:animMotion>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2" nodeType="clickEffect">
                                  <p:stCondLst>
                                    <p:cond delay="0"/>
                                  </p:stCondLst>
                                  <p:childTnLst>
                                    <p:animMotion origin="layout" path="M -0.33750 0.00000 L -0.27000 0.00000 E" pathEditMode="relative" rAng="0" ptsTypes="AA">
                                      <p:cBhvr>
                                        <p:cTn id="34" dur="500" fill="hold"/>
                                        <p:tgtEl>
                                          <p:spTgt spid="130"/>
                                        </p:tgtEl>
                                        <p:attrNameLst>
                                          <p:attrName>ppt_x</p:attrName>
                                          <p:attrName>ppt_y</p:attrName>
                                        </p:attrNameLst>
                                      </p:cBhvr>
                                      <p:rCtr x="3375" y="0"/>
                                    </p:animMotion>
                                  </p:childTnLst>
                                </p:cTn>
                              </p:par>
                              <p:par>
                                <p:cTn id="35" presetID="0" presetClass="path" presetSubtype="0" accel="50000" decel="50000" fill="hold" grpId="2" nodeType="withEffect">
                                  <p:stCondLst>
                                    <p:cond delay="0"/>
                                  </p:stCondLst>
                                  <p:childTnLst>
                                    <p:animMotion origin="layout" path="M -0.33750 0.00000 L -0.27000 0.00000 E" pathEditMode="relative" rAng="0" ptsTypes="AA">
                                      <p:cBhvr>
                                        <p:cTn id="36" dur="500" fill="hold"/>
                                        <p:tgtEl>
                                          <p:spTgt spid="131"/>
                                        </p:tgtEl>
                                        <p:attrNameLst>
                                          <p:attrName>ppt_x</p:attrName>
                                          <p:attrName>ppt_y</p:attrName>
                                        </p:attrNameLst>
                                      </p:cBhvr>
                                      <p:rCtr x="3375" y="0"/>
                                    </p:animMotion>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grpId="3" nodeType="clickEffect">
                                  <p:stCondLst>
                                    <p:cond delay="0"/>
                                  </p:stCondLst>
                                  <p:childTnLst>
                                    <p:animMotion origin="layout" path="M -0.27000 0.00000 L -0.13500 0.00000 E" pathEditMode="relative" rAng="0" ptsTypes="AA">
                                      <p:cBhvr>
                                        <p:cTn id="40" dur="700" fill="hold"/>
                                        <p:tgtEl>
                                          <p:spTgt spid="130"/>
                                        </p:tgtEl>
                                        <p:attrNameLst>
                                          <p:attrName>ppt_x</p:attrName>
                                          <p:attrName>ppt_y</p:attrName>
                                        </p:attrNameLst>
                                      </p:cBhvr>
                                      <p:rCtr x="6750" y="0"/>
                                    </p:animMotion>
                                  </p:childTnLst>
                                </p:cTn>
                              </p:par>
                              <p:par>
                                <p:cTn id="41" presetID="0" presetClass="path" presetSubtype="0" accel="50000" decel="50000" fill="hold" grpId="3" nodeType="withEffect">
                                  <p:stCondLst>
                                    <p:cond delay="0"/>
                                  </p:stCondLst>
                                  <p:childTnLst>
                                    <p:animMotion origin="layout" path="M -0.27000 0.00000 L -0.13500 0.00000 E" pathEditMode="relative" rAng="0" ptsTypes="AA">
                                      <p:cBhvr>
                                        <p:cTn id="42" dur="700" fill="hold"/>
                                        <p:tgtEl>
                                          <p:spTgt spid="131"/>
                                        </p:tgtEl>
                                        <p:attrNameLst>
                                          <p:attrName>ppt_x</p:attrName>
                                          <p:attrName>ppt_y</p:attrName>
                                        </p:attrNameLst>
                                      </p:cBhvr>
                                      <p:rCtr x="6750" y="0"/>
                                    </p:animMotion>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4" nodeType="clickEffect">
                                  <p:stCondLst>
                                    <p:cond delay="0"/>
                                  </p:stCondLst>
                                  <p:childTnLst>
                                    <p:animMotion origin="layout" path="M -0.13500 0.00000 L -0.06750 0.00000 E" pathEditMode="relative" rAng="0" ptsTypes="AA">
                                      <p:cBhvr>
                                        <p:cTn id="46" dur="500" fill="hold"/>
                                        <p:tgtEl>
                                          <p:spTgt spid="130"/>
                                        </p:tgtEl>
                                        <p:attrNameLst>
                                          <p:attrName>ppt_x</p:attrName>
                                          <p:attrName>ppt_y</p:attrName>
                                        </p:attrNameLst>
                                      </p:cBhvr>
                                      <p:rCtr x="3375" y="0"/>
                                    </p:animMotion>
                                  </p:childTnLst>
                                </p:cTn>
                              </p:par>
                              <p:par>
                                <p:cTn id="47" presetID="0" presetClass="path" presetSubtype="0" accel="50000" decel="50000" fill="hold" grpId="4" nodeType="withEffect">
                                  <p:stCondLst>
                                    <p:cond delay="0"/>
                                  </p:stCondLst>
                                  <p:childTnLst>
                                    <p:animMotion origin="layout" path="M -0.13500 0.00000 L -0.06750 0.00000 E" pathEditMode="relative" rAng="0" ptsTypes="AA">
                                      <p:cBhvr>
                                        <p:cTn id="48" dur="500" fill="hold"/>
                                        <p:tgtEl>
                                          <p:spTgt spid="131"/>
                                        </p:tgtEl>
                                        <p:attrNameLst>
                                          <p:attrName>ppt_x</p:attrName>
                                          <p:attrName>ppt_y</p:attrName>
                                        </p:attrNameLst>
                                      </p:cBhvr>
                                      <p:rCtr x="3375" y="0"/>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42"/>
                                        </p:tgtEl>
                                        <p:attrNameLst>
                                          <p:attrName>style.visibility</p:attrName>
                                        </p:attrNameLst>
                                      </p:cBhvr>
                                      <p:to>
                                        <p:strVal val="visible"/>
                                      </p:to>
                                    </p:set>
                                    <p:animEffect transition="in" filter="fade">
                                      <p:cBhvr>
                                        <p:cTn id="53" dur="400"/>
                                        <p:tgtEl>
                                          <p:spTgt spid="14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43"/>
                                        </p:tgtEl>
                                        <p:attrNameLst>
                                          <p:attrName>style.visibility</p:attrName>
                                        </p:attrNameLst>
                                      </p:cBhvr>
                                      <p:to>
                                        <p:strVal val="visible"/>
                                      </p:to>
                                    </p:set>
                                    <p:animEffect transition="in" filter="fade">
                                      <p:cBhvr>
                                        <p:cTn id="58" dur="4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17" grpId="0" animBg="1"/>
      <p:bldP spid="130" grpId="0" animBg="1"/>
      <p:bldP spid="130" grpId="1" animBg="1"/>
      <p:bldP spid="130" grpId="2" animBg="1"/>
      <p:bldP spid="130" grpId="3" animBg="1"/>
      <p:bldP spid="130" grpId="4" animBg="1"/>
      <p:bldP spid="131" grpId="0" animBg="1"/>
      <p:bldP spid="131" grpId="1" animBg="1"/>
      <p:bldP spid="131" grpId="2" animBg="1"/>
      <p:bldP spid="131" grpId="3" animBg="1"/>
      <p:bldP spid="131" grpId="4" animBg="1"/>
      <p:bldP spid="14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FILESHARE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FileShare: Who Else May Open the File?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18</a:t>
            </a:r>
            <a:endParaRPr lang="en-US" sz="850" dirty="0"/>
          </a:p>
        </p:txBody>
      </p:sp>
      <p:grpSp>
        <p:nvGrpSpPr>
          <p:cNvPr id="119" name="code"/>
          <p:cNvGrpSpPr/>
          <p:nvPr/>
        </p:nvGrpSpPr>
        <p:grpSpPr>
          <a:xfrm>
            <a:off x="543154" y="1481328"/>
            <a:ext cx="11087100" cy="2519900"/>
            <a:chOff x="543154" y="1481328"/>
            <a:chExt cx="11087100" cy="2519900"/>
          </a:xfrm>
        </p:grpSpPr>
        <p:sp>
          <p:nvSpPr>
            <p:cNvPr id="101" name="code_win"/>
            <p:cNvSpPr/>
            <p:nvPr/>
          </p:nvSpPr>
          <p:spPr>
            <a:xfrm>
              <a:off x="543154" y="1481328"/>
              <a:ext cx="11087100" cy="2519900"/>
            </a:xfrm>
            <a:prstGeom prst="roundRect">
              <a:avLst>
                <a:gd name="adj" fmla="val 2720"/>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110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110871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File.WriteAllText(</a:t>
              </a:r>
              <a:r>
                <a:rPr lang="en-US" sz="900" b="0" dirty="0">
                  <a:solidFill>
                    <a:srgbClr val="F0A98B"/>
                  </a:solidFill>
                  <a:latin typeface="Consolas"/>
                  <a:ea typeface="Consolas"/>
                  <a:cs typeface="Consolas"/>
                </a:rPr>
                <a:t>"report.txt"</a:t>
              </a:r>
              <a:r>
                <a:rPr lang="en-US" sz="900" b="0" dirty="0">
                  <a:solidFill>
                    <a:srgbClr val="E2E8F0"/>
                  </a:solidFill>
                  <a:latin typeface="Consolas"/>
                  <a:ea typeface="Consolas"/>
                  <a:cs typeface="Consolas"/>
                </a:rPr>
                <a:t>, </a:t>
              </a:r>
              <a:r>
                <a:rPr lang="en-US" sz="900" b="0" dirty="0">
                  <a:solidFill>
                    <a:srgbClr val="F0A98B"/>
                  </a:solidFill>
                  <a:latin typeface="Consolas"/>
                  <a:ea typeface="Consolas"/>
                  <a:cs typeface="Consolas"/>
                </a:rPr>
                <a:t>"Q3 report"</a:t>
              </a:r>
              <a:r>
                <a:rPr lang="en-US" sz="900" b="0" dirty="0">
                  <a:solidFill>
                    <a:srgbClr val="E2E8F0"/>
                  </a:solidFill>
                  <a:latin typeface="Consolas"/>
                  <a:ea typeface="Consolas"/>
                  <a:cs typeface="Consolas"/>
                </a:rPr>
                <a:t>);</a:t>
              </a:r>
              <a:endParaRPr lang="en-US" sz="900" dirty="0"/>
            </a:p>
          </p:txBody>
        </p:sp>
        <p:sp>
          <p:nvSpPr>
            <p:cNvPr id="109" name="code_L02"/>
            <p:cNvSpPr txBox="1"/>
            <p:nvPr/>
          </p:nvSpPr>
          <p:spPr>
            <a:xfrm>
              <a:off x="771754" y="2253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using</a:t>
              </a:r>
              <a:r>
                <a:rPr lang="en-US" sz="900" b="0" dirty="0">
                  <a:solidFill>
                    <a:srgbClr val="E2E8F0"/>
                  </a:solidFill>
                  <a:latin typeface="Consolas"/>
                  <a:ea typeface="Consolas"/>
                  <a:cs typeface="Consolas"/>
                </a:rPr>
                <a:t> FileStream writer = </a:t>
              </a:r>
              <a:r>
                <a:rPr lang="en-US" sz="900" b="0" dirty="0">
                  <a:solidFill>
                    <a:srgbClr val="60A5FA"/>
                  </a:solidFill>
                  <a:latin typeface="Consolas"/>
                  <a:ea typeface="Consolas"/>
                  <a:cs typeface="Consolas"/>
                </a:rPr>
                <a:t>new</a:t>
              </a:r>
              <a:r>
                <a:rPr lang="en-US" sz="900" b="0" dirty="0">
                  <a:solidFill>
                    <a:srgbClr val="E2E8F0"/>
                  </a:solidFill>
                  <a:latin typeface="Consolas"/>
                  <a:ea typeface="Consolas"/>
                  <a:cs typeface="Consolas"/>
                </a:rPr>
                <a:t>(</a:t>
              </a:r>
              <a:r>
                <a:rPr lang="en-US" sz="900" b="0" dirty="0">
                  <a:solidFill>
                    <a:srgbClr val="F0A98B"/>
                  </a:solidFill>
                  <a:latin typeface="Consolas"/>
                  <a:ea typeface="Consolas"/>
                  <a:cs typeface="Consolas"/>
                </a:rPr>
                <a:t>"report.txt"</a:t>
              </a:r>
              <a:r>
                <a:rPr lang="en-US" sz="900" b="0" dirty="0">
                  <a:solidFill>
                    <a:srgbClr val="E2E8F0"/>
                  </a:solidFill>
                  <a:latin typeface="Consolas"/>
                  <a:ea typeface="Consolas"/>
                  <a:cs typeface="Consolas"/>
                </a:rPr>
                <a:t>, FileMode.Open, FileAccess.ReadWrite, FileShare.None);</a:t>
              </a:r>
              <a:endParaRPr lang="en-US" sz="900" dirty="0"/>
            </a:p>
          </p:txBody>
        </p:sp>
        <p:sp>
          <p:nvSpPr>
            <p:cNvPr id="110" name="code_L04"/>
            <p:cNvSpPr txBox="1"/>
            <p:nvPr/>
          </p:nvSpPr>
          <p:spPr>
            <a:xfrm>
              <a:off x="771754" y="2549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try</a:t>
              </a:r>
              <a:endParaRPr lang="en-US" sz="900" dirty="0"/>
            </a:p>
          </p:txBody>
        </p:sp>
        <p:sp>
          <p:nvSpPr>
            <p:cNvPr id="111" name="code_L05"/>
            <p:cNvSpPr txBox="1"/>
            <p:nvPr/>
          </p:nvSpPr>
          <p:spPr>
            <a:xfrm>
              <a:off x="771754" y="2697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sp>
          <p:nvSpPr>
            <p:cNvPr id="112" name="code_L06"/>
            <p:cNvSpPr txBox="1"/>
            <p:nvPr/>
          </p:nvSpPr>
          <p:spPr>
            <a:xfrm>
              <a:off x="771754" y="2845228"/>
              <a:ext cx="10787100" cy="14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60A5FA"/>
                  </a:solidFill>
                  <a:latin typeface="Consolas"/>
                  <a:ea typeface="Consolas"/>
                  <a:cs typeface="Consolas"/>
                </a:rPr>
                <a:t>using</a:t>
              </a:r>
              <a:r>
                <a:rPr lang="en-US" sz="900" b="0" dirty="0">
                  <a:solidFill>
                    <a:srgbClr val="E2E8F0"/>
                  </a:solidFill>
                  <a:latin typeface="Consolas"/>
                  <a:ea typeface="Consolas"/>
                  <a:cs typeface="Consolas"/>
                </a:rPr>
                <a:t> FileStream reader = </a:t>
              </a:r>
              <a:r>
                <a:rPr lang="en-US" sz="900" b="0" dirty="0">
                  <a:solidFill>
                    <a:srgbClr val="60A5FA"/>
                  </a:solidFill>
                  <a:latin typeface="Consolas"/>
                  <a:ea typeface="Consolas"/>
                  <a:cs typeface="Consolas"/>
                </a:rPr>
                <a:t>new</a:t>
              </a:r>
              <a:r>
                <a:rPr lang="en-US" sz="900" b="0" dirty="0">
                  <a:solidFill>
                    <a:srgbClr val="E2E8F0"/>
                  </a:solidFill>
                  <a:latin typeface="Consolas"/>
                  <a:ea typeface="Consolas"/>
                  <a:cs typeface="Consolas"/>
                </a:rPr>
                <a:t>(</a:t>
              </a:r>
              <a:r>
                <a:rPr lang="en-US" sz="900" b="0" dirty="0">
                  <a:solidFill>
                    <a:srgbClr val="F0A98B"/>
                  </a:solidFill>
                  <a:latin typeface="Consolas"/>
                  <a:ea typeface="Consolas"/>
                  <a:cs typeface="Consolas"/>
                </a:rPr>
                <a:t>"report.txt"</a:t>
              </a:r>
              <a:r>
                <a:rPr lang="en-US" sz="900" b="0" dirty="0">
                  <a:solidFill>
                    <a:srgbClr val="E2E8F0"/>
                  </a:solidFill>
                  <a:latin typeface="Consolas"/>
                  <a:ea typeface="Consolas"/>
                  <a:cs typeface="Consolas"/>
                </a:rPr>
                <a:t>, FileMode.Open, FileAccess.Read);</a:t>
              </a:r>
              <a:endParaRPr lang="en-US" sz="900" dirty="0"/>
            </a:p>
          </p:txBody>
        </p:sp>
        <p:sp>
          <p:nvSpPr>
            <p:cNvPr id="113" name="code_L07"/>
            <p:cNvSpPr txBox="1"/>
            <p:nvPr/>
          </p:nvSpPr>
          <p:spPr>
            <a:xfrm>
              <a:off x="771754" y="2993228"/>
              <a:ext cx="10787100" cy="14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Console.WriteLine(</a:t>
              </a:r>
              <a:r>
                <a:rPr lang="en-US" sz="900" b="0" dirty="0">
                  <a:solidFill>
                    <a:srgbClr val="F0A98B"/>
                  </a:solidFill>
                  <a:latin typeface="Consolas"/>
                  <a:ea typeface="Consolas"/>
                  <a:cs typeface="Consolas"/>
                </a:rPr>
                <a:t>"opened twice"</a:t>
              </a:r>
              <a:r>
                <a:rPr lang="en-US" sz="900" b="0" dirty="0">
                  <a:solidFill>
                    <a:srgbClr val="E2E8F0"/>
                  </a:solidFill>
                  <a:latin typeface="Consolas"/>
                  <a:ea typeface="Consolas"/>
                  <a:cs typeface="Consolas"/>
                </a:rPr>
                <a:t>);</a:t>
              </a:r>
              <a:endParaRPr lang="en-US" sz="900" dirty="0"/>
            </a:p>
          </p:txBody>
        </p:sp>
        <p:sp>
          <p:nvSpPr>
            <p:cNvPr id="114" name="code_L08"/>
            <p:cNvSpPr txBox="1"/>
            <p:nvPr/>
          </p:nvSpPr>
          <p:spPr>
            <a:xfrm>
              <a:off x="771754" y="3141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sp>
          <p:nvSpPr>
            <p:cNvPr id="115" name="code_L09"/>
            <p:cNvSpPr txBox="1"/>
            <p:nvPr/>
          </p:nvSpPr>
          <p:spPr>
            <a:xfrm>
              <a:off x="771754" y="3289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catch</a:t>
              </a:r>
              <a:r>
                <a:rPr lang="en-US" sz="900" b="0" dirty="0">
                  <a:solidFill>
                    <a:srgbClr val="E2E8F0"/>
                  </a:solidFill>
                  <a:latin typeface="Consolas"/>
                  <a:ea typeface="Consolas"/>
                  <a:cs typeface="Consolas"/>
                </a:rPr>
                <a:t> (IOException ex)</a:t>
              </a:r>
              <a:endParaRPr lang="en-US" sz="900" dirty="0"/>
            </a:p>
          </p:txBody>
        </p:sp>
        <p:sp>
          <p:nvSpPr>
            <p:cNvPr id="116" name="code_L10"/>
            <p:cNvSpPr txBox="1"/>
            <p:nvPr/>
          </p:nvSpPr>
          <p:spPr>
            <a:xfrm>
              <a:off x="771754" y="3437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sp>
          <p:nvSpPr>
            <p:cNvPr id="117" name="code_L11"/>
            <p:cNvSpPr txBox="1"/>
            <p:nvPr/>
          </p:nvSpPr>
          <p:spPr>
            <a:xfrm>
              <a:off x="771754" y="3585228"/>
              <a:ext cx="10787100" cy="14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Console.WriteLine(</a:t>
              </a:r>
              <a:r>
                <a:rPr lang="en-US" sz="900" b="0" dirty="0">
                  <a:solidFill>
                    <a:srgbClr val="F0A98B"/>
                  </a:solidFill>
                  <a:latin typeface="Consolas"/>
                  <a:ea typeface="Consolas"/>
                  <a:cs typeface="Consolas"/>
                </a:rPr>
                <a:t>$"IOException: {ex.Message}"</a:t>
              </a:r>
              <a:r>
                <a:rPr lang="en-US" sz="900" b="0" dirty="0">
                  <a:solidFill>
                    <a:srgbClr val="E2E8F0"/>
                  </a:solidFill>
                  <a:latin typeface="Consolas"/>
                  <a:ea typeface="Consolas"/>
                  <a:cs typeface="Consolas"/>
                </a:rPr>
                <a:t>);</a:t>
              </a:r>
              <a:endParaRPr lang="en-US" sz="900" dirty="0"/>
            </a:p>
          </p:txBody>
        </p:sp>
        <p:sp>
          <p:nvSpPr>
            <p:cNvPr id="118" name="code_L12"/>
            <p:cNvSpPr txBox="1"/>
            <p:nvPr/>
          </p:nvSpPr>
          <p:spPr>
            <a:xfrm>
              <a:off x="771754" y="3733228"/>
              <a:ext cx="10787100" cy="14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grpSp>
      <p:sp>
        <p:nvSpPr>
          <p:cNvPr id="120" name="code_hl2"/>
          <p:cNvSpPr/>
          <p:nvPr/>
        </p:nvSpPr>
        <p:spPr>
          <a:xfrm>
            <a:off x="676656" y="2234940"/>
            <a:ext cx="10820100" cy="184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30" name="out"/>
          <p:cNvGrpSpPr/>
          <p:nvPr/>
        </p:nvGrpSpPr>
        <p:grpSpPr>
          <a:xfrm>
            <a:off x="543154" y="4023360"/>
            <a:ext cx="11087100" cy="965900"/>
            <a:chOff x="543154" y="4023360"/>
            <a:chExt cx="11087100" cy="965900"/>
          </a:xfrm>
        </p:grpSpPr>
        <p:sp>
          <p:nvSpPr>
            <p:cNvPr id="121" name="out_win"/>
            <p:cNvSpPr/>
            <p:nvPr/>
          </p:nvSpPr>
          <p:spPr>
            <a:xfrm>
              <a:off x="543154" y="4023360"/>
              <a:ext cx="11087100" cy="965900"/>
            </a:xfrm>
            <a:prstGeom prst="roundRect">
              <a:avLst>
                <a:gd name="adj" fmla="val 7097"/>
              </a:avLst>
            </a:prstGeom>
            <a:solidFill>
              <a:srgbClr val="060D18"/>
            </a:solidFill>
            <a:ln w="12700">
              <a:solidFill>
                <a:srgbClr val="1E3A5F"/>
              </a:solidFill>
              <a:prstDash val="solid"/>
            </a:ln>
          </p:spPr>
          <p:txBody>
            <a:bodyPr/>
            <a:lstStyle/>
            <a:p>
              <a:endParaRPr lang="en-US"/>
            </a:p>
          </p:txBody>
        </p:sp>
        <p:sp>
          <p:nvSpPr>
            <p:cNvPr id="122" name="out_bar"/>
            <p:cNvSpPr/>
            <p:nvPr/>
          </p:nvSpPr>
          <p:spPr>
            <a:xfrm>
              <a:off x="543154" y="4023360"/>
              <a:ext cx="110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3" name="out_barfill"/>
            <p:cNvSpPr/>
            <p:nvPr/>
          </p:nvSpPr>
          <p:spPr>
            <a:xfrm>
              <a:off x="543154" y="4194810"/>
              <a:ext cx="11087100" cy="171450"/>
            </a:xfrm>
            <a:prstGeom prst="rect">
              <a:avLst/>
            </a:prstGeom>
            <a:solidFill>
              <a:srgbClr val="0A1220"/>
            </a:solidFill>
            <a:ln w="12700">
              <a:solidFill>
                <a:srgbClr val="0A1220"/>
              </a:solidFill>
              <a:prstDash val="solid"/>
            </a:ln>
          </p:spPr>
          <p:txBody>
            <a:bodyPr/>
            <a:lstStyle/>
            <a:p>
              <a:endParaRPr lang="en-US"/>
            </a:p>
          </p:txBody>
        </p:sp>
        <p:sp>
          <p:nvSpPr>
            <p:cNvPr id="124" name="out_dot0"/>
            <p:cNvSpPr/>
            <p:nvPr/>
          </p:nvSpPr>
          <p:spPr>
            <a:xfrm>
              <a:off x="705002" y="4147170"/>
              <a:ext cx="95098" cy="95098"/>
            </a:xfrm>
            <a:prstGeom prst="ellipse">
              <a:avLst/>
            </a:prstGeom>
            <a:solidFill>
              <a:srgbClr val="F87171"/>
            </a:solidFill>
            <a:ln w="12700">
              <a:solidFill>
                <a:srgbClr val="F87171"/>
              </a:solidFill>
              <a:prstDash val="solid"/>
            </a:ln>
          </p:spPr>
          <p:txBody>
            <a:bodyPr/>
            <a:lstStyle/>
            <a:p>
              <a:endParaRPr lang="en-US"/>
            </a:p>
          </p:txBody>
        </p:sp>
        <p:sp>
          <p:nvSpPr>
            <p:cNvPr id="125" name="out_dot1"/>
            <p:cNvSpPr/>
            <p:nvPr/>
          </p:nvSpPr>
          <p:spPr>
            <a:xfrm>
              <a:off x="890626" y="4147170"/>
              <a:ext cx="95098" cy="95098"/>
            </a:xfrm>
            <a:prstGeom prst="ellipse">
              <a:avLst/>
            </a:prstGeom>
            <a:solidFill>
              <a:srgbClr val="FBBF24"/>
            </a:solidFill>
            <a:ln w="12700">
              <a:solidFill>
                <a:srgbClr val="FBBF24"/>
              </a:solidFill>
              <a:prstDash val="solid"/>
            </a:ln>
          </p:spPr>
          <p:txBody>
            <a:bodyPr/>
            <a:lstStyle/>
            <a:p>
              <a:endParaRPr lang="en-US"/>
            </a:p>
          </p:txBody>
        </p:sp>
        <p:sp>
          <p:nvSpPr>
            <p:cNvPr id="126" name="out_dot2"/>
            <p:cNvSpPr/>
            <p:nvPr/>
          </p:nvSpPr>
          <p:spPr>
            <a:xfrm>
              <a:off x="1076250" y="4147170"/>
              <a:ext cx="95098" cy="95098"/>
            </a:xfrm>
            <a:prstGeom prst="ellipse">
              <a:avLst/>
            </a:prstGeom>
            <a:solidFill>
              <a:srgbClr val="34D399"/>
            </a:solidFill>
            <a:ln w="12700">
              <a:solidFill>
                <a:srgbClr val="34D399"/>
              </a:solidFill>
              <a:prstDash val="solid"/>
            </a:ln>
          </p:spPr>
          <p:txBody>
            <a:bodyPr/>
            <a:lstStyle/>
            <a:p>
              <a:endParaRPr lang="en-US"/>
            </a:p>
          </p:txBody>
        </p:sp>
        <p:sp>
          <p:nvSpPr>
            <p:cNvPr id="127" name="out_tab"/>
            <p:cNvSpPr/>
            <p:nvPr/>
          </p:nvSpPr>
          <p:spPr>
            <a:xfrm>
              <a:off x="1324051" y="4070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28" name="out_L00"/>
            <p:cNvSpPr txBox="1"/>
            <p:nvPr/>
          </p:nvSpPr>
          <p:spPr>
            <a:xfrm>
              <a:off x="771754" y="4499260"/>
              <a:ext cx="1078710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IOException: The process cannot access the file '…/report.txt'</a:t>
              </a:r>
              <a:endParaRPr lang="en-US" sz="950" dirty="0"/>
            </a:p>
          </p:txBody>
        </p:sp>
        <p:sp>
          <p:nvSpPr>
            <p:cNvPr id="129" name="out_L01"/>
            <p:cNvSpPr txBox="1"/>
            <p:nvPr/>
          </p:nvSpPr>
          <p:spPr>
            <a:xfrm>
              <a:off x="771754" y="4684260"/>
              <a:ext cx="10787100" cy="185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 because it is being used by another process.</a:t>
              </a:r>
              <a:endParaRPr lang="en-US" sz="950" dirty="0"/>
            </a:p>
          </p:txBody>
        </p:sp>
      </p:grpSp>
      <p:sp>
        <p:nvSpPr>
          <p:cNvPr id="131" name="k0"/>
          <p:cNvSpPr/>
          <p:nvPr/>
        </p:nvSpPr>
        <p:spPr>
          <a:xfrm>
            <a:off x="543154" y="5074920"/>
            <a:ext cx="3543300" cy="640080"/>
          </a:xfrm>
          <a:prstGeom prst="roundRect">
            <a:avLst>
              <a:gd name="adj" fmla="val 12000"/>
            </a:avLst>
          </a:prstGeom>
          <a:solidFill>
            <a:srgbClr val="111B2E"/>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F87171"/>
                </a:solidFill>
                <a:latin typeface="Consolas"/>
                <a:ea typeface="Consolas"/>
                <a:cs typeface="Consolas"/>
              </a:rPr>
              <a:t>FileShare.None</a:t>
            </a:r>
            <a:endParaRPr lang="en-US" sz="1100" dirty="0"/>
          </a:p>
          <a:p>
            <a:pPr marL="0" indent="0" algn="ctr">
              <a:spcBef>
                <a:spcPts val="0"/>
              </a:spcBef>
              <a:spcAft>
                <a:spcPts val="0"/>
              </a:spcAft>
              <a:buNone/>
            </a:pPr>
            <a:r>
              <a:rPr lang="en-US" sz="1000" b="0" dirty="0">
                <a:solidFill>
                  <a:srgbClr val="CBD5E1"/>
                </a:solidFill>
                <a:latin typeface="Segoe UI"/>
                <a:ea typeface="Segoe UI"/>
                <a:cs typeface="Segoe UI"/>
              </a:rPr>
              <a:t>nobody else may open it</a:t>
            </a:r>
            <a:endParaRPr lang="en-US" sz="1000" dirty="0"/>
          </a:p>
        </p:txBody>
      </p:sp>
      <p:sp>
        <p:nvSpPr>
          <p:cNvPr id="132" name="k1"/>
          <p:cNvSpPr/>
          <p:nvPr/>
        </p:nvSpPr>
        <p:spPr>
          <a:xfrm>
            <a:off x="4315054" y="5074920"/>
            <a:ext cx="3543300" cy="64008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34D399"/>
                </a:solidFill>
                <a:latin typeface="Consolas"/>
                <a:ea typeface="Consolas"/>
                <a:cs typeface="Consolas"/>
              </a:rPr>
              <a:t>FileShare.Read</a:t>
            </a:r>
            <a:endParaRPr lang="en-US" sz="1100" dirty="0"/>
          </a:p>
          <a:p>
            <a:pPr marL="0" indent="0" algn="ctr">
              <a:spcBef>
                <a:spcPts val="0"/>
              </a:spcBef>
              <a:spcAft>
                <a:spcPts val="0"/>
              </a:spcAft>
              <a:buNone/>
            </a:pPr>
            <a:r>
              <a:rPr lang="en-US" sz="1000" b="0" dirty="0">
                <a:solidFill>
                  <a:srgbClr val="CBD5E1"/>
                </a:solidFill>
                <a:latin typeface="Segoe UI"/>
                <a:ea typeface="Segoe UI"/>
                <a:cs typeface="Segoe UI"/>
              </a:rPr>
              <a:t>others may read, not write</a:t>
            </a:r>
            <a:endParaRPr lang="en-US" sz="1000" dirty="0"/>
          </a:p>
        </p:txBody>
      </p:sp>
      <p:sp>
        <p:nvSpPr>
          <p:cNvPr id="133" name="k2"/>
          <p:cNvSpPr/>
          <p:nvPr/>
        </p:nvSpPr>
        <p:spPr>
          <a:xfrm>
            <a:off x="8086954" y="5074920"/>
            <a:ext cx="3543300" cy="640080"/>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FBBF24"/>
                </a:solidFill>
                <a:latin typeface="Consolas"/>
                <a:ea typeface="Consolas"/>
                <a:cs typeface="Consolas"/>
              </a:rPr>
              <a:t>FileShare.ReadWrite</a:t>
            </a:r>
            <a:endParaRPr lang="en-US" sz="1100" dirty="0"/>
          </a:p>
          <a:p>
            <a:pPr marL="0" indent="0" algn="ctr">
              <a:spcBef>
                <a:spcPts val="0"/>
              </a:spcBef>
              <a:spcAft>
                <a:spcPts val="0"/>
              </a:spcAft>
              <a:buNone/>
            </a:pPr>
            <a:r>
              <a:rPr lang="en-US" sz="1000" b="0" dirty="0">
                <a:solidFill>
                  <a:srgbClr val="CBD5E1"/>
                </a:solidFill>
                <a:latin typeface="Segoe UI"/>
                <a:ea typeface="Segoe UI"/>
                <a:cs typeface="Segoe UI"/>
              </a:rPr>
              <a:t>others may read and write</a:t>
            </a:r>
            <a:endParaRPr lang="en-US" sz="1000" dirty="0"/>
          </a:p>
        </p:txBody>
      </p:sp>
    </p:spTree>
    <p:extLst>
      <p:ext uri="{BB962C8B-B14F-4D97-AF65-F5344CB8AC3E}">
        <p14:creationId xmlns:p14="http://schemas.microsoft.com/office/powerpoint/2010/main" val="50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400"/>
                                        <p:tgtEl>
                                          <p:spTgt spid="1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fade">
                                      <p:cBhvr>
                                        <p:cTn id="10" dur="400"/>
                                        <p:tgtEl>
                                          <p:spTgt spid="1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0"/>
                                        </p:tgtEl>
                                        <p:attrNameLst>
                                          <p:attrName>style.visibility</p:attrName>
                                        </p:attrNameLst>
                                      </p:cBhvr>
                                      <p:to>
                                        <p:strVal val="visible"/>
                                      </p:to>
                                    </p:set>
                                    <p:animEffect transition="in" filter="fade">
                                      <p:cBhvr>
                                        <p:cTn id="15" dur="400"/>
                                        <p:tgtEl>
                                          <p:spTgt spid="1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1"/>
                                        </p:tgtEl>
                                        <p:attrNameLst>
                                          <p:attrName>style.visibility</p:attrName>
                                        </p:attrNameLst>
                                      </p:cBhvr>
                                      <p:to>
                                        <p:strVal val="visible"/>
                                      </p:to>
                                    </p:set>
                                    <p:animEffect transition="in" filter="fade">
                                      <p:cBhvr>
                                        <p:cTn id="20" dur="200"/>
                                        <p:tgtEl>
                                          <p:spTgt spid="131"/>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2"/>
                                        </p:tgtEl>
                                        <p:attrNameLst>
                                          <p:attrName>style.visibility</p:attrName>
                                        </p:attrNameLst>
                                      </p:cBhvr>
                                      <p:to>
                                        <p:strVal val="visible"/>
                                      </p:to>
                                    </p:set>
                                    <p:animEffect transition="in" filter="fade">
                                      <p:cBhvr>
                                        <p:cTn id="24" dur="200"/>
                                        <p:tgtEl>
                                          <p:spTgt spid="132"/>
                                        </p:tgtEl>
                                      </p:cBhvr>
                                    </p:animEffect>
                                  </p:childTnLst>
                                </p:cTn>
                              </p:par>
                            </p:childTnLst>
                          </p:cTn>
                        </p:par>
                        <p:par>
                          <p:cTn id="25" fill="hold">
                            <p:stCondLst>
                              <p:cond delay="400"/>
                            </p:stCondLst>
                            <p:childTnLst>
                              <p:par>
                                <p:cTn id="26" presetID="10" presetClass="entr" presetSubtype="0" fill="hold" grpId="0" nodeType="afterEffect">
                                  <p:stCondLst>
                                    <p:cond delay="0"/>
                                  </p:stCondLst>
                                  <p:childTnLst>
                                    <p:set>
                                      <p:cBhvr>
                                        <p:cTn id="27" dur="1" fill="hold">
                                          <p:stCondLst>
                                            <p:cond delay="0"/>
                                          </p:stCondLst>
                                        </p:cTn>
                                        <p:tgtEl>
                                          <p:spTgt spid="133"/>
                                        </p:tgtEl>
                                        <p:attrNameLst>
                                          <p:attrName>style.visibility</p:attrName>
                                        </p:attrNameLst>
                                      </p:cBhvr>
                                      <p:to>
                                        <p:strVal val="visible"/>
                                      </p:to>
                                    </p:set>
                                    <p:animEffect transition="in" filter="fade">
                                      <p:cBhvr>
                                        <p:cTn id="28" dur="2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31" grpId="0" animBg="1"/>
      <p:bldP spid="132" grpId="0" animBg="1"/>
      <p:bldP spid="13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54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TEXT ON STREAMS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StreamWriter: Write Text, Not Bytes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19</a:t>
            </a:r>
            <a:endParaRPr lang="en-US" sz="850" dirty="0"/>
          </a:p>
        </p:txBody>
      </p:sp>
      <p:sp>
        <p:nvSpPr>
          <p:cNvPr id="101" name="hook"/>
          <p:cNvSpPr/>
          <p:nvPr/>
        </p:nvSpPr>
        <p:spPr>
          <a:xfrm>
            <a:off x="543154" y="1444752"/>
            <a:ext cx="11087100" cy="384048"/>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A78BFA"/>
                </a:solidFill>
                <a:latin typeface="Consolas"/>
                <a:ea typeface="Consolas"/>
                <a:cs typeface="Consolas"/>
              </a:rPr>
              <a:t>FileStream</a:t>
            </a:r>
            <a:r>
              <a:rPr lang="en-US" sz="1100" b="0" dirty="0">
                <a:solidFill>
                  <a:srgbClr val="E2E8F0"/>
                </a:solidFill>
                <a:latin typeface="Segoe UI"/>
                <a:ea typeface="Segoe UI"/>
                <a:cs typeface="Segoe UI"/>
              </a:rPr>
              <a:t> speaks bytes. Converting every string to bytes yourself? No: </a:t>
            </a:r>
            <a:r>
              <a:rPr lang="en-US" sz="1100" b="1" dirty="0">
                <a:solidFill>
                  <a:srgbClr val="34D399"/>
                </a:solidFill>
                <a:latin typeface="Consolas"/>
                <a:ea typeface="Consolas"/>
                <a:cs typeface="Consolas"/>
              </a:rPr>
              <a:t>StreamWriter</a:t>
            </a:r>
            <a:r>
              <a:rPr lang="en-US" sz="1100" b="0" dirty="0">
                <a:solidFill>
                  <a:srgbClr val="E2E8F0"/>
                </a:solidFill>
                <a:latin typeface="Segoe UI"/>
                <a:ea typeface="Segoe UI"/>
                <a:cs typeface="Segoe UI"/>
              </a:rPr>
              <a:t> writes text, </a:t>
            </a:r>
            <a:r>
              <a:rPr lang="en-US" sz="1100" b="1" dirty="0">
                <a:solidFill>
                  <a:srgbClr val="13D0F7"/>
                </a:solidFill>
                <a:latin typeface="Consolas"/>
                <a:ea typeface="Consolas"/>
                <a:cs typeface="Consolas"/>
              </a:rPr>
              <a:t>StreamReader</a:t>
            </a:r>
            <a:r>
              <a:rPr lang="en-US" sz="1100" b="0" dirty="0">
                <a:solidFill>
                  <a:srgbClr val="E2E8F0"/>
                </a:solidFill>
                <a:latin typeface="Segoe UI"/>
                <a:ea typeface="Segoe UI"/>
                <a:cs typeface="Segoe UI"/>
              </a:rPr>
              <a:t> reads text.</a:t>
            </a:r>
            <a:endParaRPr lang="en-US" sz="1100" dirty="0"/>
          </a:p>
        </p:txBody>
      </p:sp>
      <p:grpSp>
        <p:nvGrpSpPr>
          <p:cNvPr id="113" name="code"/>
          <p:cNvGrpSpPr/>
          <p:nvPr/>
        </p:nvGrpSpPr>
        <p:grpSpPr>
          <a:xfrm>
            <a:off x="543154" y="1938528"/>
            <a:ext cx="6035040" cy="1420900"/>
            <a:chOff x="543154" y="1938528"/>
            <a:chExt cx="6035040" cy="1420900"/>
          </a:xfrm>
        </p:grpSpPr>
        <p:sp>
          <p:nvSpPr>
            <p:cNvPr id="102" name="code_win"/>
            <p:cNvSpPr/>
            <p:nvPr/>
          </p:nvSpPr>
          <p:spPr>
            <a:xfrm>
              <a:off x="543154" y="1938528"/>
              <a:ext cx="6035040" cy="1420900"/>
            </a:xfrm>
            <a:prstGeom prst="roundRect">
              <a:avLst>
                <a:gd name="adj" fmla="val 4824"/>
              </a:avLst>
            </a:prstGeom>
            <a:solidFill>
              <a:srgbClr val="060D18"/>
            </a:solidFill>
            <a:ln w="12700">
              <a:solidFill>
                <a:srgbClr val="1E3A5F"/>
              </a:solidFill>
              <a:prstDash val="solid"/>
            </a:ln>
          </p:spPr>
          <p:txBody>
            <a:bodyPr/>
            <a:lstStyle/>
            <a:p>
              <a:endParaRPr lang="en-US"/>
            </a:p>
          </p:txBody>
        </p:sp>
        <p:sp>
          <p:nvSpPr>
            <p:cNvPr id="103" name="code_bar"/>
            <p:cNvSpPr/>
            <p:nvPr/>
          </p:nvSpPr>
          <p:spPr>
            <a:xfrm>
              <a:off x="543154" y="193852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code_barfill"/>
            <p:cNvSpPr/>
            <p:nvPr/>
          </p:nvSpPr>
          <p:spPr>
            <a:xfrm>
              <a:off x="543154" y="2109978"/>
              <a:ext cx="6035040" cy="171450"/>
            </a:xfrm>
            <a:prstGeom prst="rect">
              <a:avLst/>
            </a:prstGeom>
            <a:solidFill>
              <a:srgbClr val="0A1220"/>
            </a:solidFill>
            <a:ln w="12700">
              <a:solidFill>
                <a:srgbClr val="0A1220"/>
              </a:solidFill>
              <a:prstDash val="solid"/>
            </a:ln>
          </p:spPr>
          <p:txBody>
            <a:bodyPr/>
            <a:lstStyle/>
            <a:p>
              <a:endParaRPr lang="en-US"/>
            </a:p>
          </p:txBody>
        </p:sp>
        <p:sp>
          <p:nvSpPr>
            <p:cNvPr id="105" name="code_dot0"/>
            <p:cNvSpPr/>
            <p:nvPr/>
          </p:nvSpPr>
          <p:spPr>
            <a:xfrm>
              <a:off x="705002" y="2062338"/>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code_dot1"/>
            <p:cNvSpPr/>
            <p:nvPr/>
          </p:nvSpPr>
          <p:spPr>
            <a:xfrm>
              <a:off x="890626" y="2062338"/>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code_dot2"/>
            <p:cNvSpPr/>
            <p:nvPr/>
          </p:nvSpPr>
          <p:spPr>
            <a:xfrm>
              <a:off x="1076250" y="2062338"/>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code_tab"/>
            <p:cNvSpPr/>
            <p:nvPr/>
          </p:nvSpPr>
          <p:spPr>
            <a:xfrm>
              <a:off x="1324051" y="1986077"/>
              <a:ext cx="196494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example 22</a:t>
              </a:r>
              <a:endParaRPr lang="en-US" sz="950" dirty="0"/>
            </a:p>
          </p:txBody>
        </p:sp>
        <p:sp>
          <p:nvSpPr>
            <p:cNvPr id="109" name="code_L00"/>
            <p:cNvSpPr txBox="1"/>
            <p:nvPr/>
          </p:nvSpPr>
          <p:spPr>
            <a:xfrm>
              <a:off x="771754" y="24144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using</a:t>
              </a:r>
              <a:r>
                <a:rPr lang="en-US" sz="900" b="0" dirty="0">
                  <a:solidFill>
                    <a:srgbClr val="E2E8F0"/>
                  </a:solidFill>
                  <a:latin typeface="Consolas"/>
                  <a:ea typeface="Consolas"/>
                  <a:cs typeface="Consolas"/>
                </a:rPr>
                <a:t> StreamWriter writer = </a:t>
              </a:r>
              <a:r>
                <a:rPr lang="en-US" sz="900" b="0" dirty="0">
                  <a:solidFill>
                    <a:srgbClr val="60A5FA"/>
                  </a:solidFill>
                  <a:latin typeface="Consolas"/>
                  <a:ea typeface="Consolas"/>
                  <a:cs typeface="Consolas"/>
                </a:rPr>
                <a:t>new</a:t>
              </a:r>
              <a:r>
                <a:rPr lang="en-US" sz="900" b="0" dirty="0">
                  <a:solidFill>
                    <a:srgbClr val="E2E8F0"/>
                  </a:solidFill>
                  <a:latin typeface="Consolas"/>
                  <a:ea typeface="Consolas"/>
                  <a:cs typeface="Consolas"/>
                </a:rPr>
                <a:t>(</a:t>
              </a:r>
              <a:r>
                <a:rPr lang="en-US" sz="900" b="0" dirty="0">
                  <a:solidFill>
                    <a:srgbClr val="F0A98B"/>
                  </a:solidFill>
                  <a:latin typeface="Consolas"/>
                  <a:ea typeface="Consolas"/>
                  <a:cs typeface="Consolas"/>
                </a:rPr>
                <a:t>"employees.txt"</a:t>
              </a:r>
              <a:r>
                <a:rPr lang="en-US" sz="900" b="0" dirty="0">
                  <a:solidFill>
                    <a:srgbClr val="E2E8F0"/>
                  </a:solidFill>
                  <a:latin typeface="Consolas"/>
                  <a:ea typeface="Consolas"/>
                  <a:cs typeface="Consolas"/>
                </a:rPr>
                <a:t>);</a:t>
              </a:r>
              <a:endParaRPr lang="en-US" sz="900" dirty="0"/>
            </a:p>
          </p:txBody>
        </p:sp>
        <p:sp>
          <p:nvSpPr>
            <p:cNvPr id="110" name="code_L02"/>
            <p:cNvSpPr txBox="1"/>
            <p:nvPr/>
          </p:nvSpPr>
          <p:spPr>
            <a:xfrm>
              <a:off x="771754" y="27444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writer.WriteLine(</a:t>
              </a:r>
              <a:r>
                <a:rPr lang="en-US" sz="900" b="0" dirty="0">
                  <a:solidFill>
                    <a:srgbClr val="F0A98B"/>
                  </a:solidFill>
                  <a:latin typeface="Consolas"/>
                  <a:ea typeface="Consolas"/>
                  <a:cs typeface="Consolas"/>
                </a:rPr>
                <a:t>"Ahmed"</a:t>
              </a:r>
              <a:r>
                <a:rPr lang="en-US" sz="900" b="0" dirty="0">
                  <a:solidFill>
                    <a:srgbClr val="E2E8F0"/>
                  </a:solidFill>
                  <a:latin typeface="Consolas"/>
                  <a:ea typeface="Consolas"/>
                  <a:cs typeface="Consolas"/>
                </a:rPr>
                <a:t>);</a:t>
              </a:r>
              <a:endParaRPr lang="en-US" sz="900" dirty="0"/>
            </a:p>
          </p:txBody>
        </p:sp>
        <p:sp>
          <p:nvSpPr>
            <p:cNvPr id="111" name="code_L03"/>
            <p:cNvSpPr txBox="1"/>
            <p:nvPr/>
          </p:nvSpPr>
          <p:spPr>
            <a:xfrm>
              <a:off x="771754" y="29094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writer.WriteLine(</a:t>
              </a:r>
              <a:r>
                <a:rPr lang="en-US" sz="900" b="0" dirty="0">
                  <a:solidFill>
                    <a:srgbClr val="F0A98B"/>
                  </a:solidFill>
                  <a:latin typeface="Consolas"/>
                  <a:ea typeface="Consolas"/>
                  <a:cs typeface="Consolas"/>
                </a:rPr>
                <a:t>"Sara"</a:t>
              </a:r>
              <a:r>
                <a:rPr lang="en-US" sz="900" b="0" dirty="0">
                  <a:solidFill>
                    <a:srgbClr val="E2E8F0"/>
                  </a:solidFill>
                  <a:latin typeface="Consolas"/>
                  <a:ea typeface="Consolas"/>
                  <a:cs typeface="Consolas"/>
                </a:rPr>
                <a:t>);</a:t>
              </a:r>
              <a:endParaRPr lang="en-US" sz="900" dirty="0"/>
            </a:p>
          </p:txBody>
        </p:sp>
        <p:sp>
          <p:nvSpPr>
            <p:cNvPr id="112" name="code_L04"/>
            <p:cNvSpPr txBox="1"/>
            <p:nvPr/>
          </p:nvSpPr>
          <p:spPr>
            <a:xfrm>
              <a:off x="771754" y="3074428"/>
              <a:ext cx="57350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writer.WriteLine(</a:t>
              </a:r>
              <a:r>
                <a:rPr lang="en-US" sz="900" b="0" dirty="0">
                  <a:solidFill>
                    <a:srgbClr val="F0A98B"/>
                  </a:solidFill>
                  <a:latin typeface="Consolas"/>
                  <a:ea typeface="Consolas"/>
                  <a:cs typeface="Consolas"/>
                </a:rPr>
                <a:t>"Omar"</a:t>
              </a:r>
              <a:r>
                <a:rPr lang="en-US" sz="900" b="0" dirty="0">
                  <a:solidFill>
                    <a:srgbClr val="E2E8F0"/>
                  </a:solidFill>
                  <a:latin typeface="Consolas"/>
                  <a:ea typeface="Consolas"/>
                  <a:cs typeface="Consolas"/>
                </a:rPr>
                <a:t>);</a:t>
              </a:r>
              <a:endParaRPr lang="en-US" sz="900" dirty="0"/>
            </a:p>
          </p:txBody>
        </p:sp>
      </p:grpSp>
      <p:sp>
        <p:nvSpPr>
          <p:cNvPr id="114" name="code_hl2"/>
          <p:cNvSpPr/>
          <p:nvPr/>
        </p:nvSpPr>
        <p:spPr>
          <a:xfrm>
            <a:off x="676656" y="2726140"/>
            <a:ext cx="576804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5" name="code_hl3"/>
          <p:cNvSpPr/>
          <p:nvPr/>
        </p:nvSpPr>
        <p:spPr>
          <a:xfrm>
            <a:off x="676656" y="2891140"/>
            <a:ext cx="576804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6" name="code_hl4"/>
          <p:cNvSpPr/>
          <p:nvPr/>
        </p:nvSpPr>
        <p:spPr>
          <a:xfrm>
            <a:off x="676656" y="3056140"/>
            <a:ext cx="5768040" cy="201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19" name="t_h"/>
          <p:cNvGrpSpPr/>
          <p:nvPr/>
        </p:nvGrpSpPr>
        <p:grpSpPr>
          <a:xfrm>
            <a:off x="689458" y="3474720"/>
            <a:ext cx="5852160" cy="256032"/>
            <a:chOff x="689458" y="3474720"/>
            <a:chExt cx="5852160" cy="256032"/>
          </a:xfrm>
        </p:grpSpPr>
        <p:sp>
          <p:nvSpPr>
            <p:cNvPr id="117" name="t_h0"/>
            <p:cNvSpPr txBox="1"/>
            <p:nvPr/>
          </p:nvSpPr>
          <p:spPr>
            <a:xfrm>
              <a:off x="689458" y="3474720"/>
              <a:ext cx="3200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endParaRPr lang="en-US" sz="1000" dirty="0"/>
            </a:p>
          </p:txBody>
        </p:sp>
        <p:sp>
          <p:nvSpPr>
            <p:cNvPr id="118" name="t_h1"/>
            <p:cNvSpPr txBox="1"/>
            <p:nvPr/>
          </p:nvSpPr>
          <p:spPr>
            <a:xfrm>
              <a:off x="1192378" y="3474720"/>
              <a:ext cx="53492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WHAT HAPPENS</a:t>
              </a:r>
              <a:endParaRPr lang="en-US" sz="1000" dirty="0"/>
            </a:p>
          </p:txBody>
        </p:sp>
      </p:grpSp>
      <p:grpSp>
        <p:nvGrpSpPr>
          <p:cNvPr id="123" name="t_r0"/>
          <p:cNvGrpSpPr/>
          <p:nvPr/>
        </p:nvGrpSpPr>
        <p:grpSpPr>
          <a:xfrm>
            <a:off x="543154" y="3776472"/>
            <a:ext cx="6035040" cy="329184"/>
            <a:chOff x="543154" y="3776472"/>
            <a:chExt cx="6035040" cy="329184"/>
          </a:xfrm>
        </p:grpSpPr>
        <p:sp>
          <p:nvSpPr>
            <p:cNvPr id="120" name="t_r0_bg"/>
            <p:cNvSpPr/>
            <p:nvPr/>
          </p:nvSpPr>
          <p:spPr>
            <a:xfrm>
              <a:off x="543154" y="3776472"/>
              <a:ext cx="603504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1" name="t_r0_c0"/>
            <p:cNvSpPr txBox="1"/>
            <p:nvPr/>
          </p:nvSpPr>
          <p:spPr>
            <a:xfrm>
              <a:off x="689458" y="3776472"/>
              <a:ext cx="3200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1</a:t>
              </a:r>
              <a:endParaRPr lang="en-US" sz="1100" dirty="0"/>
            </a:p>
          </p:txBody>
        </p:sp>
        <p:sp>
          <p:nvSpPr>
            <p:cNvPr id="122" name="t_r0_c1"/>
            <p:cNvSpPr txBox="1"/>
            <p:nvPr/>
          </p:nvSpPr>
          <p:spPr>
            <a:xfrm>
              <a:off x="1192378" y="3776472"/>
              <a:ext cx="53492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Opens the file. Missing → creates it.</a:t>
              </a:r>
              <a:endParaRPr lang="en-US" sz="1000" dirty="0"/>
            </a:p>
          </p:txBody>
        </p:sp>
      </p:grpSp>
      <p:grpSp>
        <p:nvGrpSpPr>
          <p:cNvPr id="127" name="t_r1"/>
          <p:cNvGrpSpPr/>
          <p:nvPr/>
        </p:nvGrpSpPr>
        <p:grpSpPr>
          <a:xfrm>
            <a:off x="543154" y="4142232"/>
            <a:ext cx="6035040" cy="329184"/>
            <a:chOff x="543154" y="4142232"/>
            <a:chExt cx="6035040" cy="329184"/>
          </a:xfrm>
        </p:grpSpPr>
        <p:sp>
          <p:nvSpPr>
            <p:cNvPr id="124" name="t_r1_bg"/>
            <p:cNvSpPr/>
            <p:nvPr/>
          </p:nvSpPr>
          <p:spPr>
            <a:xfrm>
              <a:off x="543154" y="4142232"/>
              <a:ext cx="603504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5" name="t_r1_c0"/>
            <p:cNvSpPr txBox="1"/>
            <p:nvPr/>
          </p:nvSpPr>
          <p:spPr>
            <a:xfrm>
              <a:off x="689458" y="4142232"/>
              <a:ext cx="3200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2</a:t>
              </a:r>
              <a:endParaRPr lang="en-US" sz="1100" dirty="0"/>
            </a:p>
          </p:txBody>
        </p:sp>
        <p:sp>
          <p:nvSpPr>
            <p:cNvPr id="126" name="t_r1_c1"/>
            <p:cNvSpPr txBox="1"/>
            <p:nvPr/>
          </p:nvSpPr>
          <p:spPr>
            <a:xfrm>
              <a:off x="1192378" y="4142232"/>
              <a:ext cx="53492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BBF24"/>
                  </a:solidFill>
                  <a:latin typeface="Segoe UI"/>
                  <a:ea typeface="Segoe UI"/>
                  <a:cs typeface="Segoe UI"/>
                </a:rPr>
                <a:t>Exists → EMPTIES the old content (default). Our run: 48 bytes → 16</a:t>
              </a:r>
              <a:endParaRPr lang="en-US" sz="1000" dirty="0"/>
            </a:p>
          </p:txBody>
        </p:sp>
      </p:grpSp>
      <p:grpSp>
        <p:nvGrpSpPr>
          <p:cNvPr id="131" name="t_r2"/>
          <p:cNvGrpSpPr/>
          <p:nvPr/>
        </p:nvGrpSpPr>
        <p:grpSpPr>
          <a:xfrm>
            <a:off x="543154" y="4507992"/>
            <a:ext cx="6035040" cy="329184"/>
            <a:chOff x="543154" y="4507992"/>
            <a:chExt cx="6035040" cy="329184"/>
          </a:xfrm>
        </p:grpSpPr>
        <p:sp>
          <p:nvSpPr>
            <p:cNvPr id="128" name="t_r2_bg"/>
            <p:cNvSpPr/>
            <p:nvPr/>
          </p:nvSpPr>
          <p:spPr>
            <a:xfrm>
              <a:off x="543154" y="4507992"/>
              <a:ext cx="603504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9" name="t_r2_c0"/>
            <p:cNvSpPr txBox="1"/>
            <p:nvPr/>
          </p:nvSpPr>
          <p:spPr>
            <a:xfrm>
              <a:off x="689458" y="4507992"/>
              <a:ext cx="3200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3</a:t>
              </a:r>
              <a:endParaRPr lang="en-US" sz="1100" dirty="0"/>
            </a:p>
          </p:txBody>
        </p:sp>
        <p:sp>
          <p:nvSpPr>
            <p:cNvPr id="130" name="t_r2_c1"/>
            <p:cNvSpPr txBox="1"/>
            <p:nvPr/>
          </p:nvSpPr>
          <p:spPr>
            <a:xfrm>
              <a:off x="1192378" y="4507992"/>
              <a:ext cx="53492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Turns your strings into bytes with an Encoding (UTF-8)</a:t>
              </a:r>
              <a:endParaRPr lang="en-US" sz="1000" dirty="0"/>
            </a:p>
          </p:txBody>
        </p:sp>
      </p:grpSp>
      <p:grpSp>
        <p:nvGrpSpPr>
          <p:cNvPr id="135" name="t_r3"/>
          <p:cNvGrpSpPr/>
          <p:nvPr/>
        </p:nvGrpSpPr>
        <p:grpSpPr>
          <a:xfrm>
            <a:off x="543154" y="4873752"/>
            <a:ext cx="6035040" cy="329184"/>
            <a:chOff x="543154" y="4873752"/>
            <a:chExt cx="6035040" cy="329184"/>
          </a:xfrm>
        </p:grpSpPr>
        <p:sp>
          <p:nvSpPr>
            <p:cNvPr id="132" name="t_r3_bg"/>
            <p:cNvSpPr/>
            <p:nvPr/>
          </p:nvSpPr>
          <p:spPr>
            <a:xfrm>
              <a:off x="543154" y="4873752"/>
              <a:ext cx="603504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3" name="t_r3_c0"/>
            <p:cNvSpPr txBox="1"/>
            <p:nvPr/>
          </p:nvSpPr>
          <p:spPr>
            <a:xfrm>
              <a:off x="689458" y="4873752"/>
              <a:ext cx="3200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4</a:t>
              </a:r>
              <a:endParaRPr lang="en-US" sz="1100" dirty="0"/>
            </a:p>
          </p:txBody>
        </p:sp>
        <p:sp>
          <p:nvSpPr>
            <p:cNvPr id="134" name="t_r3_c1"/>
            <p:cNvSpPr txBox="1"/>
            <p:nvPr/>
          </p:nvSpPr>
          <p:spPr>
            <a:xfrm>
              <a:off x="1192378" y="4873752"/>
              <a:ext cx="53492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Writes the bytes through the FileStream under it, via a buffer</a:t>
              </a:r>
              <a:endParaRPr lang="en-US" sz="1000" dirty="0"/>
            </a:p>
          </p:txBody>
        </p:sp>
      </p:grpSp>
      <p:grpSp>
        <p:nvGrpSpPr>
          <p:cNvPr id="139" name="t_r4"/>
          <p:cNvGrpSpPr/>
          <p:nvPr/>
        </p:nvGrpSpPr>
        <p:grpSpPr>
          <a:xfrm>
            <a:off x="543154" y="5239512"/>
            <a:ext cx="6035040" cy="329184"/>
            <a:chOff x="543154" y="5239512"/>
            <a:chExt cx="6035040" cy="329184"/>
          </a:xfrm>
        </p:grpSpPr>
        <p:sp>
          <p:nvSpPr>
            <p:cNvPr id="136" name="t_r4_bg"/>
            <p:cNvSpPr/>
            <p:nvPr/>
          </p:nvSpPr>
          <p:spPr>
            <a:xfrm>
              <a:off x="543154" y="5239512"/>
              <a:ext cx="603504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7" name="t_r4_c0"/>
            <p:cNvSpPr txBox="1"/>
            <p:nvPr/>
          </p:nvSpPr>
          <p:spPr>
            <a:xfrm>
              <a:off x="689458" y="5239512"/>
              <a:ext cx="3200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5</a:t>
              </a:r>
              <a:endParaRPr lang="en-US" sz="1100" dirty="0"/>
            </a:p>
          </p:txBody>
        </p:sp>
        <p:sp>
          <p:nvSpPr>
            <p:cNvPr id="138" name="t_r4_c1"/>
            <p:cNvSpPr txBox="1"/>
            <p:nvPr/>
          </p:nvSpPr>
          <p:spPr>
            <a:xfrm>
              <a:off x="1192378" y="5239512"/>
              <a:ext cx="534924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Closed → Dispose → Flush the rest of the buffer, free the file</a:t>
              </a:r>
              <a:endParaRPr lang="en-US" sz="1000" dirty="0"/>
            </a:p>
          </p:txBody>
        </p:sp>
      </p:grpSp>
      <p:sp>
        <p:nvSpPr>
          <p:cNvPr id="140" name="l0"/>
          <p:cNvSpPr/>
          <p:nvPr/>
        </p:nvSpPr>
        <p:spPr>
          <a:xfrm>
            <a:off x="6852514" y="1938528"/>
            <a:ext cx="4777740" cy="457200"/>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Your Code</a:t>
            </a:r>
            <a:r>
              <a:rPr lang="en-US" sz="950" b="0" dirty="0">
                <a:solidFill>
                  <a:srgbClr val="CBD5E1"/>
                </a:solidFill>
                <a:latin typeface="Segoe UI"/>
                <a:ea typeface="Segoe UI"/>
                <a:cs typeface="Segoe UI"/>
              </a:rPr>
              <a:t>   "Ahmed" (string)</a:t>
            </a:r>
            <a:endParaRPr lang="en-US" sz="1100" dirty="0"/>
          </a:p>
        </p:txBody>
      </p:sp>
      <p:cxnSp>
        <p:nvCxnSpPr>
          <p:cNvPr id="141" name="la0"/>
          <p:cNvCxnSpPr/>
          <p:nvPr/>
        </p:nvCxnSpPr>
        <p:spPr>
          <a:xfrm>
            <a:off x="9241384" y="2395728"/>
            <a:ext cx="0" cy="118872"/>
          </a:xfrm>
          <a:prstGeom prst="line">
            <a:avLst/>
          </a:prstGeom>
          <a:ln w="28575">
            <a:solidFill>
              <a:srgbClr val="94A3B8"/>
            </a:solidFill>
            <a:tailEnd type="triangle" w="med" len="med"/>
          </a:ln>
        </p:spPr>
      </p:cxnSp>
      <p:sp>
        <p:nvSpPr>
          <p:cNvPr id="142" name="l1"/>
          <p:cNvSpPr/>
          <p:nvPr/>
        </p:nvSpPr>
        <p:spPr>
          <a:xfrm>
            <a:off x="6852514" y="2523744"/>
            <a:ext cx="4777740" cy="45720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34D399"/>
                </a:solidFill>
                <a:latin typeface="Segoe UI"/>
                <a:ea typeface="Segoe UI"/>
                <a:cs typeface="Segoe UI"/>
              </a:rPr>
              <a:t>StreamWriter</a:t>
            </a:r>
            <a:r>
              <a:rPr lang="en-US" sz="950" b="0" dirty="0">
                <a:solidFill>
                  <a:srgbClr val="CBD5E1"/>
                </a:solidFill>
                <a:latin typeface="Segoe UI"/>
                <a:ea typeface="Segoe UI"/>
                <a:cs typeface="Segoe UI"/>
              </a:rPr>
              <a:t>   text → bytes (Encoding) + buffer</a:t>
            </a:r>
            <a:endParaRPr lang="en-US" sz="1100" dirty="0"/>
          </a:p>
        </p:txBody>
      </p:sp>
      <p:cxnSp>
        <p:nvCxnSpPr>
          <p:cNvPr id="143" name="la1"/>
          <p:cNvCxnSpPr/>
          <p:nvPr/>
        </p:nvCxnSpPr>
        <p:spPr>
          <a:xfrm>
            <a:off x="9241384" y="2980944"/>
            <a:ext cx="0" cy="118872"/>
          </a:xfrm>
          <a:prstGeom prst="line">
            <a:avLst/>
          </a:prstGeom>
          <a:ln w="28575">
            <a:solidFill>
              <a:srgbClr val="94A3B8"/>
            </a:solidFill>
            <a:tailEnd type="triangle" w="med" len="med"/>
          </a:ln>
        </p:spPr>
      </p:cxnSp>
      <p:sp>
        <p:nvSpPr>
          <p:cNvPr id="144" name="l2"/>
          <p:cNvSpPr/>
          <p:nvPr/>
        </p:nvSpPr>
        <p:spPr>
          <a:xfrm>
            <a:off x="6852514" y="3108960"/>
            <a:ext cx="4777740" cy="457200"/>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A78BFA"/>
                </a:solidFill>
                <a:latin typeface="Segoe UI"/>
                <a:ea typeface="Segoe UI"/>
                <a:cs typeface="Segoe UI"/>
              </a:rPr>
              <a:t>FileStream</a:t>
            </a:r>
            <a:r>
              <a:rPr lang="en-US" sz="950" b="0" dirty="0">
                <a:solidFill>
                  <a:srgbClr val="CBD5E1"/>
                </a:solidFill>
                <a:latin typeface="Segoe UI"/>
                <a:ea typeface="Segoe UI"/>
                <a:cs typeface="Segoe UI"/>
              </a:rPr>
              <a:t>   bytes → file</a:t>
            </a:r>
            <a:endParaRPr lang="en-US" sz="1100" dirty="0"/>
          </a:p>
        </p:txBody>
      </p:sp>
      <p:cxnSp>
        <p:nvCxnSpPr>
          <p:cNvPr id="145" name="la2"/>
          <p:cNvCxnSpPr/>
          <p:nvPr/>
        </p:nvCxnSpPr>
        <p:spPr>
          <a:xfrm>
            <a:off x="9241384" y="3566160"/>
            <a:ext cx="0" cy="118872"/>
          </a:xfrm>
          <a:prstGeom prst="line">
            <a:avLst/>
          </a:prstGeom>
          <a:ln w="28575">
            <a:solidFill>
              <a:srgbClr val="94A3B8"/>
            </a:solidFill>
            <a:tailEnd type="triangle" w="med" len="med"/>
          </a:ln>
        </p:spPr>
      </p:cxnSp>
      <p:sp>
        <p:nvSpPr>
          <p:cNvPr id="146" name="l3"/>
          <p:cNvSpPr/>
          <p:nvPr/>
        </p:nvSpPr>
        <p:spPr>
          <a:xfrm>
            <a:off x="6852514" y="3694176"/>
            <a:ext cx="4777740" cy="457200"/>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94A3B8"/>
                </a:solidFill>
                <a:latin typeface="Segoe UI"/>
                <a:ea typeface="Segoe UI"/>
                <a:cs typeface="Segoe UI"/>
              </a:rPr>
              <a:t>File on Disk</a:t>
            </a:r>
            <a:r>
              <a:rPr lang="en-US" sz="950" b="0" dirty="0">
                <a:solidFill>
                  <a:srgbClr val="CBD5E1"/>
                </a:solidFill>
                <a:latin typeface="Segoe UI"/>
                <a:ea typeface="Segoe UI"/>
                <a:cs typeface="Segoe UI"/>
              </a:rPr>
              <a:t>   Ahmed · Sara · Omar  (16 bytes)</a:t>
            </a:r>
            <a:endParaRPr lang="en-US" sz="1100" dirty="0"/>
          </a:p>
        </p:txBody>
      </p:sp>
      <p:sp>
        <p:nvSpPr>
          <p:cNvPr id="147" name="w1"/>
          <p:cNvSpPr/>
          <p:nvPr/>
        </p:nvSpPr>
        <p:spPr>
          <a:xfrm>
            <a:off x="6852514" y="4434840"/>
            <a:ext cx="2297430" cy="1371600"/>
          </a:xfrm>
          <a:prstGeom prst="roundRect">
            <a:avLst>
              <a:gd name="adj" fmla="val 12000"/>
            </a:avLst>
          </a:prstGeom>
          <a:solidFill>
            <a:srgbClr val="FBBF24">
              <a:alpha val="9000"/>
            </a:srgbClr>
          </a:solidFill>
          <a:ln w="12700">
            <a:solidFill>
              <a:srgbClr val="FBBF24"/>
            </a:solidFill>
            <a:prstDash val="solid"/>
          </a:ln>
        </p:spPr>
        <p:txBody>
          <a:bodyPr wrap="square" lIns="118872" tIns="54864" rIns="91440" bIns="45720" rtlCol="0" anchor="t">
            <a:noAutofit/>
          </a:bodyPr>
          <a:lstStyle/>
          <a:p>
            <a:pPr marL="0" indent="0" algn="l">
              <a:spcBef>
                <a:spcPts val="0"/>
              </a:spcBef>
              <a:spcAft>
                <a:spcPts val="0"/>
              </a:spcAft>
              <a:buNone/>
            </a:pPr>
            <a:r>
              <a:rPr lang="en-US" sz="1050" b="1" dirty="0">
                <a:solidFill>
                  <a:srgbClr val="FBBF24"/>
                </a:solidFill>
                <a:latin typeface="Segoe UI"/>
                <a:ea typeface="Segoe UI"/>
                <a:cs typeface="Segoe UI"/>
              </a:rPr>
              <a:t>Write</a:t>
            </a:r>
            <a:endParaRPr lang="en-US" sz="1050" dirty="0"/>
          </a:p>
          <a:p>
            <a:pPr marL="0" indent="0" algn="l">
              <a:spcBef>
                <a:spcPts val="0"/>
              </a:spcBef>
              <a:spcAft>
                <a:spcPts val="0"/>
              </a:spcAft>
              <a:buNone/>
            </a:pPr>
            <a:r>
              <a:rPr lang="en-US" sz="900" b="0" dirty="0">
                <a:solidFill>
                  <a:srgbClr val="E2E8F0"/>
                </a:solidFill>
                <a:latin typeface="Consolas"/>
                <a:ea typeface="Consolas"/>
                <a:cs typeface="Consolas"/>
              </a:rPr>
              <a:t>w.Write("Ahmed");</a:t>
            </a:r>
            <a:endParaRPr lang="en-US" sz="900" dirty="0"/>
          </a:p>
          <a:p>
            <a:pPr marL="0" indent="0" algn="l">
              <a:spcBef>
                <a:spcPts val="0"/>
              </a:spcBef>
              <a:spcAft>
                <a:spcPts val="0"/>
              </a:spcAft>
              <a:buNone/>
            </a:pPr>
            <a:r>
              <a:rPr lang="en-US" sz="900" b="0" dirty="0">
                <a:solidFill>
                  <a:srgbClr val="E2E8F0"/>
                </a:solidFill>
                <a:latin typeface="Consolas"/>
                <a:ea typeface="Consolas"/>
                <a:cs typeface="Consolas"/>
              </a:rPr>
              <a:t>w.Write("Sara");</a:t>
            </a:r>
            <a:endParaRPr lang="en-US" sz="900" dirty="0"/>
          </a:p>
          <a:p>
            <a:pPr marL="0" indent="0" algn="l">
              <a:spcBef>
                <a:spcPts val="0"/>
              </a:spcBef>
              <a:spcAft>
                <a:spcPts val="0"/>
              </a:spcAft>
              <a:buNone/>
            </a:pPr>
            <a:r>
              <a:rPr lang="en-US" sz="900" b="1" dirty="0">
                <a:solidFill>
                  <a:srgbClr val="94A3B8"/>
                </a:solidFill>
                <a:latin typeface="Segoe UI"/>
                <a:ea typeface="Segoe UI"/>
                <a:cs typeface="Segoe UI"/>
              </a:rPr>
              <a:t>file:</a:t>
            </a:r>
            <a:endParaRPr lang="en-US" sz="900" dirty="0"/>
          </a:p>
          <a:p>
            <a:pPr marL="0" indent="0" algn="l">
              <a:spcBef>
                <a:spcPts val="0"/>
              </a:spcBef>
              <a:spcAft>
                <a:spcPts val="0"/>
              </a:spcAft>
              <a:buNone/>
            </a:pPr>
            <a:r>
              <a:rPr lang="en-US" sz="1100" b="1" dirty="0">
                <a:solidFill>
                  <a:srgbClr val="FFFFFF"/>
                </a:solidFill>
                <a:latin typeface="Consolas"/>
                <a:ea typeface="Consolas"/>
                <a:cs typeface="Consolas"/>
              </a:rPr>
              <a:t>AhmedSara</a:t>
            </a:r>
            <a:endParaRPr lang="en-US" sz="1100" dirty="0"/>
          </a:p>
        </p:txBody>
      </p:sp>
      <p:sp>
        <p:nvSpPr>
          <p:cNvPr id="148" name="w2"/>
          <p:cNvSpPr/>
          <p:nvPr/>
        </p:nvSpPr>
        <p:spPr>
          <a:xfrm>
            <a:off x="9332824" y="4434840"/>
            <a:ext cx="2297430" cy="1371600"/>
          </a:xfrm>
          <a:prstGeom prst="roundRect">
            <a:avLst>
              <a:gd name="adj" fmla="val 12000"/>
            </a:avLst>
          </a:prstGeom>
          <a:solidFill>
            <a:srgbClr val="34D399">
              <a:alpha val="9000"/>
            </a:srgbClr>
          </a:solidFill>
          <a:ln w="12700">
            <a:solidFill>
              <a:srgbClr val="34D399"/>
            </a:solidFill>
            <a:prstDash val="solid"/>
          </a:ln>
        </p:spPr>
        <p:txBody>
          <a:bodyPr wrap="square" lIns="118872" tIns="54864" rIns="91440" bIns="45720" rtlCol="0" anchor="t">
            <a:noAutofit/>
          </a:bodyPr>
          <a:lstStyle/>
          <a:p>
            <a:pPr marL="0" indent="0" algn="l">
              <a:spcBef>
                <a:spcPts val="0"/>
              </a:spcBef>
              <a:spcAft>
                <a:spcPts val="0"/>
              </a:spcAft>
              <a:buNone/>
            </a:pPr>
            <a:r>
              <a:rPr lang="en-US" sz="1050" b="1" dirty="0">
                <a:solidFill>
                  <a:srgbClr val="34D399"/>
                </a:solidFill>
                <a:latin typeface="Segoe UI"/>
                <a:ea typeface="Segoe UI"/>
                <a:cs typeface="Segoe UI"/>
              </a:rPr>
              <a:t>WriteLine</a:t>
            </a:r>
            <a:endParaRPr lang="en-US" sz="1050" dirty="0"/>
          </a:p>
          <a:p>
            <a:pPr marL="0" indent="0" algn="l">
              <a:spcBef>
                <a:spcPts val="0"/>
              </a:spcBef>
              <a:spcAft>
                <a:spcPts val="0"/>
              </a:spcAft>
              <a:buNone/>
            </a:pPr>
            <a:r>
              <a:rPr lang="en-US" sz="900" b="0" dirty="0">
                <a:solidFill>
                  <a:srgbClr val="E2E8F0"/>
                </a:solidFill>
                <a:latin typeface="Consolas"/>
                <a:ea typeface="Consolas"/>
                <a:cs typeface="Consolas"/>
              </a:rPr>
              <a:t>w.WriteLine("Ahmed");</a:t>
            </a:r>
            <a:endParaRPr lang="en-US" sz="900" dirty="0"/>
          </a:p>
          <a:p>
            <a:pPr marL="0" indent="0" algn="l">
              <a:spcBef>
                <a:spcPts val="0"/>
              </a:spcBef>
              <a:spcAft>
                <a:spcPts val="0"/>
              </a:spcAft>
              <a:buNone/>
            </a:pPr>
            <a:r>
              <a:rPr lang="en-US" sz="900" b="0" dirty="0">
                <a:solidFill>
                  <a:srgbClr val="E2E8F0"/>
                </a:solidFill>
                <a:latin typeface="Consolas"/>
                <a:ea typeface="Consolas"/>
                <a:cs typeface="Consolas"/>
              </a:rPr>
              <a:t>w.WriteLine("Sara");</a:t>
            </a:r>
            <a:endParaRPr lang="en-US" sz="900" dirty="0"/>
          </a:p>
          <a:p>
            <a:pPr marL="0" indent="0" algn="l">
              <a:spcBef>
                <a:spcPts val="0"/>
              </a:spcBef>
              <a:spcAft>
                <a:spcPts val="0"/>
              </a:spcAft>
              <a:buNone/>
            </a:pPr>
            <a:r>
              <a:rPr lang="en-US" sz="900" b="1" dirty="0">
                <a:solidFill>
                  <a:srgbClr val="94A3B8"/>
                </a:solidFill>
                <a:latin typeface="Segoe UI"/>
                <a:ea typeface="Segoe UI"/>
                <a:cs typeface="Segoe UI"/>
              </a:rPr>
              <a:t>file:</a:t>
            </a:r>
            <a:endParaRPr lang="en-US" sz="900" dirty="0"/>
          </a:p>
          <a:p>
            <a:pPr marL="0" indent="0" algn="l">
              <a:spcBef>
                <a:spcPts val="0"/>
              </a:spcBef>
              <a:spcAft>
                <a:spcPts val="0"/>
              </a:spcAft>
              <a:buNone/>
            </a:pPr>
            <a:r>
              <a:rPr lang="en-US" sz="1100" b="1" dirty="0">
                <a:solidFill>
                  <a:srgbClr val="FFFFFF"/>
                </a:solidFill>
                <a:latin typeface="Consolas"/>
                <a:ea typeface="Consolas"/>
                <a:cs typeface="Consolas"/>
              </a:rPr>
              <a:t>Ahmed</a:t>
            </a:r>
            <a:endParaRPr lang="en-US" sz="1100" dirty="0"/>
          </a:p>
          <a:p>
            <a:pPr marL="0" indent="0" algn="l">
              <a:spcBef>
                <a:spcPts val="0"/>
              </a:spcBef>
              <a:spcAft>
                <a:spcPts val="0"/>
              </a:spcAft>
              <a:buNone/>
            </a:pPr>
            <a:r>
              <a:rPr lang="en-US" sz="1100" b="1" dirty="0">
                <a:solidFill>
                  <a:srgbClr val="FFFFFF"/>
                </a:solidFill>
                <a:latin typeface="Consolas"/>
                <a:ea typeface="Consolas"/>
                <a:cs typeface="Consolas"/>
              </a:rPr>
              <a:t>Sara</a:t>
            </a:r>
            <a:endParaRPr lang="en-US" sz="1100" dirty="0"/>
          </a:p>
        </p:txBody>
      </p:sp>
    </p:spTree>
    <p:extLst>
      <p:ext uri="{BB962C8B-B14F-4D97-AF65-F5344CB8AC3E}">
        <p14:creationId xmlns:p14="http://schemas.microsoft.com/office/powerpoint/2010/main" val="501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fade">
                                      <p:cBhvr>
                                        <p:cTn id="12" dur="400"/>
                                        <p:tgtEl>
                                          <p:spTgt spid="1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fade">
                                      <p:cBhvr>
                                        <p:cTn id="15" dur="400"/>
                                        <p:tgtEl>
                                          <p:spTgt spid="1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5"/>
                                        </p:tgtEl>
                                        <p:attrNameLst>
                                          <p:attrName>style.visibility</p:attrName>
                                        </p:attrNameLst>
                                      </p:cBhvr>
                                      <p:to>
                                        <p:strVal val="visible"/>
                                      </p:to>
                                    </p:set>
                                    <p:animEffect transition="in" filter="fade">
                                      <p:cBhvr>
                                        <p:cTn id="18" dur="400"/>
                                        <p:tgtEl>
                                          <p:spTgt spid="1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6"/>
                                        </p:tgtEl>
                                        <p:attrNameLst>
                                          <p:attrName>style.visibility</p:attrName>
                                        </p:attrNameLst>
                                      </p:cBhvr>
                                      <p:to>
                                        <p:strVal val="visible"/>
                                      </p:to>
                                    </p:set>
                                    <p:animEffect transition="in" filter="fade">
                                      <p:cBhvr>
                                        <p:cTn id="21" dur="400"/>
                                        <p:tgtEl>
                                          <p:spTgt spid="1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400"/>
                                        <p:tgtEl>
                                          <p:spTgt spid="119"/>
                                        </p:tgtEl>
                                      </p:cBhvr>
                                    </p:animEffect>
                                  </p:childTnLst>
                                </p:cTn>
                              </p:par>
                              <p:par>
                                <p:cTn id="27" presetID="10" presetClass="entr" presetSubtype="0" fill="hold" nodeType="withEffect">
                                  <p:stCondLst>
                                    <p:cond delay="0"/>
                                  </p:stCondLst>
                                  <p:childTnLst>
                                    <p:set>
                                      <p:cBhvr>
                                        <p:cTn id="28" dur="1" fill="hold">
                                          <p:stCondLst>
                                            <p:cond delay="0"/>
                                          </p:stCondLst>
                                        </p:cTn>
                                        <p:tgtEl>
                                          <p:spTgt spid="123"/>
                                        </p:tgtEl>
                                        <p:attrNameLst>
                                          <p:attrName>style.visibility</p:attrName>
                                        </p:attrNameLst>
                                      </p:cBhvr>
                                      <p:to>
                                        <p:strVal val="visible"/>
                                      </p:to>
                                    </p:set>
                                    <p:animEffect transition="in" filter="fade">
                                      <p:cBhvr>
                                        <p:cTn id="29" dur="400"/>
                                        <p:tgtEl>
                                          <p:spTgt spid="12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7"/>
                                        </p:tgtEl>
                                        <p:attrNameLst>
                                          <p:attrName>style.visibility</p:attrName>
                                        </p:attrNameLst>
                                      </p:cBhvr>
                                      <p:to>
                                        <p:strVal val="visible"/>
                                      </p:to>
                                    </p:set>
                                    <p:animEffect transition="in" filter="fade">
                                      <p:cBhvr>
                                        <p:cTn id="34" dur="400"/>
                                        <p:tgtEl>
                                          <p:spTgt spid="1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1"/>
                                        </p:tgtEl>
                                        <p:attrNameLst>
                                          <p:attrName>style.visibility</p:attrName>
                                        </p:attrNameLst>
                                      </p:cBhvr>
                                      <p:to>
                                        <p:strVal val="visible"/>
                                      </p:to>
                                    </p:set>
                                    <p:animEffect transition="in" filter="fade">
                                      <p:cBhvr>
                                        <p:cTn id="39" dur="400"/>
                                        <p:tgtEl>
                                          <p:spTgt spid="13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5"/>
                                        </p:tgtEl>
                                        <p:attrNameLst>
                                          <p:attrName>style.visibility</p:attrName>
                                        </p:attrNameLst>
                                      </p:cBhvr>
                                      <p:to>
                                        <p:strVal val="visible"/>
                                      </p:to>
                                    </p:set>
                                    <p:animEffect transition="in" filter="fade">
                                      <p:cBhvr>
                                        <p:cTn id="44" dur="400"/>
                                        <p:tgtEl>
                                          <p:spTgt spid="13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0"/>
                                        </p:tgtEl>
                                        <p:attrNameLst>
                                          <p:attrName>style.visibility</p:attrName>
                                        </p:attrNameLst>
                                      </p:cBhvr>
                                      <p:to>
                                        <p:strVal val="visible"/>
                                      </p:to>
                                    </p:set>
                                    <p:animEffect transition="in" filter="fade">
                                      <p:cBhvr>
                                        <p:cTn id="49" dur="200"/>
                                        <p:tgtEl>
                                          <p:spTgt spid="140"/>
                                        </p:tgtEl>
                                      </p:cBhvr>
                                    </p:animEffect>
                                  </p:childTnLst>
                                </p:cTn>
                              </p:par>
                            </p:childTnLst>
                          </p:cTn>
                        </p:par>
                        <p:par>
                          <p:cTn id="50" fill="hold">
                            <p:stCondLst>
                              <p:cond delay="200"/>
                            </p:stCondLst>
                            <p:childTnLst>
                              <p:par>
                                <p:cTn id="51" presetID="10" presetClass="entr" presetSubtype="0" fill="hold" grpId="0" nodeType="afterEffect">
                                  <p:stCondLst>
                                    <p:cond delay="0"/>
                                  </p:stCondLst>
                                  <p:childTnLst>
                                    <p:set>
                                      <p:cBhvr>
                                        <p:cTn id="52" dur="1" fill="hold">
                                          <p:stCondLst>
                                            <p:cond delay="0"/>
                                          </p:stCondLst>
                                        </p:cTn>
                                        <p:tgtEl>
                                          <p:spTgt spid="142"/>
                                        </p:tgtEl>
                                        <p:attrNameLst>
                                          <p:attrName>style.visibility</p:attrName>
                                        </p:attrNameLst>
                                      </p:cBhvr>
                                      <p:to>
                                        <p:strVal val="visible"/>
                                      </p:to>
                                    </p:set>
                                    <p:animEffect transition="in" filter="fade">
                                      <p:cBhvr>
                                        <p:cTn id="53" dur="200"/>
                                        <p:tgtEl>
                                          <p:spTgt spid="142"/>
                                        </p:tgtEl>
                                      </p:cBhvr>
                                    </p:animEffect>
                                  </p:childTnLst>
                                </p:cTn>
                              </p:par>
                            </p:childTnLst>
                          </p:cTn>
                        </p:par>
                        <p:par>
                          <p:cTn id="54" fill="hold">
                            <p:stCondLst>
                              <p:cond delay="400"/>
                            </p:stCondLst>
                            <p:childTnLst>
                              <p:par>
                                <p:cTn id="55" presetID="10" presetClass="entr" presetSubtype="0" fill="hold" grpId="0" nodeType="afterEffect">
                                  <p:stCondLst>
                                    <p:cond delay="0"/>
                                  </p:stCondLst>
                                  <p:childTnLst>
                                    <p:set>
                                      <p:cBhvr>
                                        <p:cTn id="56" dur="1" fill="hold">
                                          <p:stCondLst>
                                            <p:cond delay="0"/>
                                          </p:stCondLst>
                                        </p:cTn>
                                        <p:tgtEl>
                                          <p:spTgt spid="144"/>
                                        </p:tgtEl>
                                        <p:attrNameLst>
                                          <p:attrName>style.visibility</p:attrName>
                                        </p:attrNameLst>
                                      </p:cBhvr>
                                      <p:to>
                                        <p:strVal val="visible"/>
                                      </p:to>
                                    </p:set>
                                    <p:animEffect transition="in" filter="fade">
                                      <p:cBhvr>
                                        <p:cTn id="57" dur="200"/>
                                        <p:tgtEl>
                                          <p:spTgt spid="144"/>
                                        </p:tgtEl>
                                      </p:cBhvr>
                                    </p:animEffect>
                                  </p:childTnLst>
                                </p:cTn>
                              </p:par>
                            </p:childTnLst>
                          </p:cTn>
                        </p:par>
                        <p:par>
                          <p:cTn id="58" fill="hold">
                            <p:stCondLst>
                              <p:cond delay="600"/>
                            </p:stCondLst>
                            <p:childTnLst>
                              <p:par>
                                <p:cTn id="59" presetID="10" presetClass="entr" presetSubtype="0" fill="hold" grpId="0" nodeType="afterEffect">
                                  <p:stCondLst>
                                    <p:cond delay="0"/>
                                  </p:stCondLst>
                                  <p:childTnLst>
                                    <p:set>
                                      <p:cBhvr>
                                        <p:cTn id="60" dur="1" fill="hold">
                                          <p:stCondLst>
                                            <p:cond delay="0"/>
                                          </p:stCondLst>
                                        </p:cTn>
                                        <p:tgtEl>
                                          <p:spTgt spid="146"/>
                                        </p:tgtEl>
                                        <p:attrNameLst>
                                          <p:attrName>style.visibility</p:attrName>
                                        </p:attrNameLst>
                                      </p:cBhvr>
                                      <p:to>
                                        <p:strVal val="visible"/>
                                      </p:to>
                                    </p:set>
                                    <p:animEffect transition="in" filter="fade">
                                      <p:cBhvr>
                                        <p:cTn id="61" dur="200"/>
                                        <p:tgtEl>
                                          <p:spTgt spid="146"/>
                                        </p:tgtEl>
                                      </p:cBhvr>
                                    </p:animEffect>
                                  </p:childTnLst>
                                </p:cTn>
                              </p:par>
                              <p:par>
                                <p:cTn id="62" presetID="10" presetClass="entr" presetSubtype="0" fill="hold" nodeType="withEffect">
                                  <p:stCondLst>
                                    <p:cond delay="0"/>
                                  </p:stCondLst>
                                  <p:childTnLst>
                                    <p:set>
                                      <p:cBhvr>
                                        <p:cTn id="63" dur="1" fill="hold">
                                          <p:stCondLst>
                                            <p:cond delay="0"/>
                                          </p:stCondLst>
                                        </p:cTn>
                                        <p:tgtEl>
                                          <p:spTgt spid="141"/>
                                        </p:tgtEl>
                                        <p:attrNameLst>
                                          <p:attrName>style.visibility</p:attrName>
                                        </p:attrNameLst>
                                      </p:cBhvr>
                                      <p:to>
                                        <p:strVal val="visible"/>
                                      </p:to>
                                    </p:set>
                                    <p:animEffect transition="in" filter="fade">
                                      <p:cBhvr>
                                        <p:cTn id="64" dur="400"/>
                                        <p:tgtEl>
                                          <p:spTgt spid="141"/>
                                        </p:tgtEl>
                                      </p:cBhvr>
                                    </p:animEffect>
                                  </p:childTnLst>
                                </p:cTn>
                              </p:par>
                              <p:par>
                                <p:cTn id="65" presetID="10" presetClass="entr" presetSubtype="0" fill="hold" nodeType="withEffect">
                                  <p:stCondLst>
                                    <p:cond delay="0"/>
                                  </p:stCondLst>
                                  <p:childTnLst>
                                    <p:set>
                                      <p:cBhvr>
                                        <p:cTn id="66" dur="1" fill="hold">
                                          <p:stCondLst>
                                            <p:cond delay="0"/>
                                          </p:stCondLst>
                                        </p:cTn>
                                        <p:tgtEl>
                                          <p:spTgt spid="143"/>
                                        </p:tgtEl>
                                        <p:attrNameLst>
                                          <p:attrName>style.visibility</p:attrName>
                                        </p:attrNameLst>
                                      </p:cBhvr>
                                      <p:to>
                                        <p:strVal val="visible"/>
                                      </p:to>
                                    </p:set>
                                    <p:animEffect transition="in" filter="fade">
                                      <p:cBhvr>
                                        <p:cTn id="67" dur="400"/>
                                        <p:tgtEl>
                                          <p:spTgt spid="143"/>
                                        </p:tgtEl>
                                      </p:cBhvr>
                                    </p:animEffect>
                                  </p:childTnLst>
                                </p:cTn>
                              </p:par>
                              <p:par>
                                <p:cTn id="68" presetID="10" presetClass="entr" presetSubtype="0" fill="hold" nodeType="withEffect">
                                  <p:stCondLst>
                                    <p:cond delay="0"/>
                                  </p:stCondLst>
                                  <p:childTnLst>
                                    <p:set>
                                      <p:cBhvr>
                                        <p:cTn id="69" dur="1" fill="hold">
                                          <p:stCondLst>
                                            <p:cond delay="0"/>
                                          </p:stCondLst>
                                        </p:cTn>
                                        <p:tgtEl>
                                          <p:spTgt spid="145"/>
                                        </p:tgtEl>
                                        <p:attrNameLst>
                                          <p:attrName>style.visibility</p:attrName>
                                        </p:attrNameLst>
                                      </p:cBhvr>
                                      <p:to>
                                        <p:strVal val="visible"/>
                                      </p:to>
                                    </p:set>
                                    <p:animEffect transition="in" filter="fade">
                                      <p:cBhvr>
                                        <p:cTn id="70" dur="400"/>
                                        <p:tgtEl>
                                          <p:spTgt spid="14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39"/>
                                        </p:tgtEl>
                                        <p:attrNameLst>
                                          <p:attrName>style.visibility</p:attrName>
                                        </p:attrNameLst>
                                      </p:cBhvr>
                                      <p:to>
                                        <p:strVal val="visible"/>
                                      </p:to>
                                    </p:set>
                                    <p:animEffect transition="in" filter="fade">
                                      <p:cBhvr>
                                        <p:cTn id="75" dur="400"/>
                                        <p:tgtEl>
                                          <p:spTgt spid="13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47"/>
                                        </p:tgtEl>
                                        <p:attrNameLst>
                                          <p:attrName>style.visibility</p:attrName>
                                        </p:attrNameLst>
                                      </p:cBhvr>
                                      <p:to>
                                        <p:strVal val="visible"/>
                                      </p:to>
                                    </p:set>
                                    <p:animEffect transition="in" filter="fade">
                                      <p:cBhvr>
                                        <p:cTn id="80" dur="400"/>
                                        <p:tgtEl>
                                          <p:spTgt spid="147"/>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48"/>
                                        </p:tgtEl>
                                        <p:attrNameLst>
                                          <p:attrName>style.visibility</p:attrName>
                                        </p:attrNameLst>
                                      </p:cBhvr>
                                      <p:to>
                                        <p:strVal val="visible"/>
                                      </p:to>
                                    </p:set>
                                    <p:animEffect transition="in" filter="fade">
                                      <p:cBhvr>
                                        <p:cTn id="85" dur="4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14" grpId="0" animBg="1"/>
      <p:bldP spid="115" grpId="0" animBg="1"/>
      <p:bldP spid="116" grpId="0" animBg="1"/>
      <p:bldP spid="140" grpId="0" animBg="1"/>
      <p:bldP spid="142" grpId="0" animBg="1"/>
      <p:bldP spid="144" grpId="0" animBg="1"/>
      <p:bldP spid="146" grpId="0" animBg="1"/>
      <p:bldP spid="147" grpId="0" animBg="1"/>
      <p:bldP spid="14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54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TEXT ON STREAMS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StreamReader: Read Text, Line by Line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STREAMS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20</a:t>
            </a:r>
            <a:endParaRPr lang="en-US" sz="850" dirty="0"/>
          </a:p>
        </p:txBody>
      </p:sp>
      <p:grpSp>
        <p:nvGrpSpPr>
          <p:cNvPr id="114" name="code"/>
          <p:cNvGrpSpPr/>
          <p:nvPr/>
        </p:nvGrpSpPr>
        <p:grpSpPr>
          <a:xfrm>
            <a:off x="543154" y="1481328"/>
            <a:ext cx="5760720" cy="1875900"/>
            <a:chOff x="543154" y="1481328"/>
            <a:chExt cx="5760720" cy="1875900"/>
          </a:xfrm>
        </p:grpSpPr>
        <p:sp>
          <p:nvSpPr>
            <p:cNvPr id="101" name="code_win"/>
            <p:cNvSpPr/>
            <p:nvPr/>
          </p:nvSpPr>
          <p:spPr>
            <a:xfrm>
              <a:off x="543154" y="1481328"/>
              <a:ext cx="5760720" cy="1875900"/>
            </a:xfrm>
            <a:prstGeom prst="roundRect">
              <a:avLst>
                <a:gd name="adj" fmla="val 3654"/>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576072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96494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example 22</a:t>
              </a:r>
              <a:endParaRPr lang="en-US" sz="950" dirty="0"/>
            </a:p>
          </p:txBody>
        </p:sp>
        <p:sp>
          <p:nvSpPr>
            <p:cNvPr id="108" name="code_L00"/>
            <p:cNvSpPr txBox="1"/>
            <p:nvPr/>
          </p:nvSpPr>
          <p:spPr>
            <a:xfrm>
              <a:off x="771754" y="1957228"/>
              <a:ext cx="54607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using</a:t>
              </a:r>
              <a:r>
                <a:rPr lang="en-US" sz="900" b="0" dirty="0">
                  <a:solidFill>
                    <a:srgbClr val="E2E8F0"/>
                  </a:solidFill>
                  <a:latin typeface="Consolas"/>
                  <a:ea typeface="Consolas"/>
                  <a:cs typeface="Consolas"/>
                </a:rPr>
                <a:t> StreamReader reader = </a:t>
              </a:r>
              <a:r>
                <a:rPr lang="en-US" sz="900" b="0" dirty="0">
                  <a:solidFill>
                    <a:srgbClr val="60A5FA"/>
                  </a:solidFill>
                  <a:latin typeface="Consolas"/>
                  <a:ea typeface="Consolas"/>
                  <a:cs typeface="Consolas"/>
                </a:rPr>
                <a:t>new</a:t>
              </a:r>
              <a:r>
                <a:rPr lang="en-US" sz="900" b="0" dirty="0">
                  <a:solidFill>
                    <a:srgbClr val="E2E8F0"/>
                  </a:solidFill>
                  <a:latin typeface="Consolas"/>
                  <a:ea typeface="Consolas"/>
                  <a:cs typeface="Consolas"/>
                </a:rPr>
                <a:t>(</a:t>
              </a:r>
              <a:r>
                <a:rPr lang="en-US" sz="900" b="0" dirty="0">
                  <a:solidFill>
                    <a:srgbClr val="F0A98B"/>
                  </a:solidFill>
                  <a:latin typeface="Consolas"/>
                  <a:ea typeface="Consolas"/>
                  <a:cs typeface="Consolas"/>
                </a:rPr>
                <a:t>"employees.txt"</a:t>
              </a:r>
              <a:r>
                <a:rPr lang="en-US" sz="900" b="0" dirty="0">
                  <a:solidFill>
                    <a:srgbClr val="E2E8F0"/>
                  </a:solidFill>
                  <a:latin typeface="Consolas"/>
                  <a:ea typeface="Consolas"/>
                  <a:cs typeface="Consolas"/>
                </a:rPr>
                <a:t>);</a:t>
              </a:r>
              <a:endParaRPr lang="en-US" sz="900" dirty="0"/>
            </a:p>
          </p:txBody>
        </p:sp>
        <p:sp>
          <p:nvSpPr>
            <p:cNvPr id="109" name="code_L02"/>
            <p:cNvSpPr txBox="1"/>
            <p:nvPr/>
          </p:nvSpPr>
          <p:spPr>
            <a:xfrm>
              <a:off x="771754" y="2277228"/>
              <a:ext cx="54607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string</a:t>
              </a:r>
              <a:r>
                <a:rPr lang="en-US" sz="900" b="0" dirty="0">
                  <a:solidFill>
                    <a:srgbClr val="E2E8F0"/>
                  </a:solidFill>
                  <a:latin typeface="Consolas"/>
                  <a:ea typeface="Consolas"/>
                  <a:cs typeface="Consolas"/>
                </a:rPr>
                <a:t>? line;</a:t>
              </a:r>
              <a:endParaRPr lang="en-US" sz="900" dirty="0"/>
            </a:p>
          </p:txBody>
        </p:sp>
        <p:sp>
          <p:nvSpPr>
            <p:cNvPr id="110" name="code_L04"/>
            <p:cNvSpPr txBox="1"/>
            <p:nvPr/>
          </p:nvSpPr>
          <p:spPr>
            <a:xfrm>
              <a:off x="771754" y="2597228"/>
              <a:ext cx="54607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while</a:t>
              </a:r>
              <a:r>
                <a:rPr lang="en-US" sz="900" b="0" dirty="0">
                  <a:solidFill>
                    <a:srgbClr val="E2E8F0"/>
                  </a:solidFill>
                  <a:latin typeface="Consolas"/>
                  <a:ea typeface="Consolas"/>
                  <a:cs typeface="Consolas"/>
                </a:rPr>
                <a:t> ((line = reader.ReadLine()) != </a:t>
              </a:r>
              <a:r>
                <a:rPr lang="en-US" sz="900" b="0" dirty="0">
                  <a:solidFill>
                    <a:srgbClr val="60A5FA"/>
                  </a:solidFill>
                  <a:latin typeface="Consolas"/>
                  <a:ea typeface="Consolas"/>
                  <a:cs typeface="Consolas"/>
                </a:rPr>
                <a:t>null</a:t>
              </a:r>
              <a:r>
                <a:rPr lang="en-US" sz="900" b="0" dirty="0">
                  <a:solidFill>
                    <a:srgbClr val="E2E8F0"/>
                  </a:solidFill>
                  <a:latin typeface="Consolas"/>
                  <a:ea typeface="Consolas"/>
                  <a:cs typeface="Consolas"/>
                </a:rPr>
                <a:t>)</a:t>
              </a:r>
              <a:endParaRPr lang="en-US" sz="900" dirty="0"/>
            </a:p>
          </p:txBody>
        </p:sp>
        <p:sp>
          <p:nvSpPr>
            <p:cNvPr id="111" name="code_L05"/>
            <p:cNvSpPr txBox="1"/>
            <p:nvPr/>
          </p:nvSpPr>
          <p:spPr>
            <a:xfrm>
              <a:off x="771754" y="2757228"/>
              <a:ext cx="54607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sp>
          <p:nvSpPr>
            <p:cNvPr id="112" name="code_L06"/>
            <p:cNvSpPr txBox="1"/>
            <p:nvPr/>
          </p:nvSpPr>
          <p:spPr>
            <a:xfrm>
              <a:off x="771754" y="2917228"/>
              <a:ext cx="54607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Console.WriteLine(line);</a:t>
              </a:r>
              <a:endParaRPr lang="en-US" sz="900" dirty="0"/>
            </a:p>
          </p:txBody>
        </p:sp>
        <p:sp>
          <p:nvSpPr>
            <p:cNvPr id="113" name="code_L07"/>
            <p:cNvSpPr txBox="1"/>
            <p:nvPr/>
          </p:nvSpPr>
          <p:spPr>
            <a:xfrm>
              <a:off x="771754" y="3077228"/>
              <a:ext cx="54607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grpSp>
      <p:sp>
        <p:nvSpPr>
          <p:cNvPr id="115" name="code_hl4"/>
          <p:cNvSpPr/>
          <p:nvPr/>
        </p:nvSpPr>
        <p:spPr>
          <a:xfrm>
            <a:off x="676656" y="2578940"/>
            <a:ext cx="549372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6" name="why"/>
          <p:cNvSpPr/>
          <p:nvPr/>
        </p:nvSpPr>
        <p:spPr>
          <a:xfrm>
            <a:off x="543154" y="3419856"/>
            <a:ext cx="5760720" cy="896112"/>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WHY != null?</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ReadLine returns the next line as a string, WITHOUT the end of line, and null only at the end of the file.</a:t>
            </a:r>
            <a:endParaRPr lang="en-US" sz="1050" dirty="0"/>
          </a:p>
        </p:txBody>
      </p:sp>
      <p:sp>
        <p:nvSpPr>
          <p:cNvPr id="117" name="fh"/>
          <p:cNvSpPr txBox="1"/>
          <p:nvPr/>
        </p:nvSpPr>
        <p:spPr>
          <a:xfrm>
            <a:off x="6925666" y="1463040"/>
            <a:ext cx="18288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Consolas"/>
                <a:ea typeface="Consolas"/>
                <a:cs typeface="Consolas"/>
              </a:rPr>
              <a:t>employees.txt</a:t>
            </a:r>
            <a:endParaRPr lang="en-US" sz="1000" dirty="0"/>
          </a:p>
        </p:txBody>
      </p:sp>
      <p:sp>
        <p:nvSpPr>
          <p:cNvPr id="118" name="ch"/>
          <p:cNvSpPr txBox="1"/>
          <p:nvPr/>
        </p:nvSpPr>
        <p:spPr>
          <a:xfrm>
            <a:off x="8983066" y="1463040"/>
            <a:ext cx="2647188"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each ReadLine() call</a:t>
            </a:r>
            <a:endParaRPr lang="en-US" sz="1000" dirty="0"/>
          </a:p>
        </p:txBody>
      </p:sp>
      <p:sp>
        <p:nvSpPr>
          <p:cNvPr id="119" name="fl0"/>
          <p:cNvSpPr/>
          <p:nvPr/>
        </p:nvSpPr>
        <p:spPr>
          <a:xfrm>
            <a:off x="6925666" y="1783080"/>
            <a:ext cx="1828800" cy="329184"/>
          </a:xfrm>
          <a:prstGeom prst="roundRect">
            <a:avLst>
              <a:gd name="adj" fmla="val 12000"/>
            </a:avLst>
          </a:prstGeom>
          <a:solidFill>
            <a:srgbClr val="111B2E"/>
          </a:solidFill>
          <a:ln w="12700">
            <a:solidFill>
              <a:srgbClr val="1E3A5F"/>
            </a:solidFill>
            <a:prstDash val="solid"/>
          </a:ln>
        </p:spPr>
        <p:txBody>
          <a:bodyPr wrap="square" lIns="118872" tIns="0" rIns="91440" bIns="0" rtlCol="0" anchor="ctr">
            <a:noAutofit/>
          </a:bodyPr>
          <a:lstStyle/>
          <a:p>
            <a:pPr marL="0" indent="0" algn="l">
              <a:spcBef>
                <a:spcPts val="0"/>
              </a:spcBef>
              <a:spcAft>
                <a:spcPts val="0"/>
              </a:spcAft>
              <a:buNone/>
            </a:pPr>
            <a:r>
              <a:rPr lang="en-US" sz="1050" b="1" dirty="0">
                <a:solidFill>
                  <a:srgbClr val="FFFFFF"/>
                </a:solidFill>
                <a:latin typeface="Consolas"/>
                <a:ea typeface="Consolas"/>
                <a:cs typeface="Consolas"/>
              </a:rPr>
              <a:t>Ahmed</a:t>
            </a:r>
            <a:endParaRPr lang="en-US" sz="1050" dirty="0"/>
          </a:p>
        </p:txBody>
      </p:sp>
      <p:sp>
        <p:nvSpPr>
          <p:cNvPr id="120" name="c0"/>
          <p:cNvSpPr/>
          <p:nvPr/>
        </p:nvSpPr>
        <p:spPr>
          <a:xfrm>
            <a:off x="8983066" y="1783080"/>
            <a:ext cx="2647188" cy="329184"/>
          </a:xfrm>
          <a:prstGeom prst="roundRect">
            <a:avLst>
              <a:gd name="adj" fmla="val 12000"/>
            </a:avLst>
          </a:prstGeom>
          <a:solidFill>
            <a:srgbClr val="34D399">
              <a:alpha val="10000"/>
            </a:srgbClr>
          </a:solidFill>
          <a:ln w="12700">
            <a:solidFill>
              <a:srgbClr val="34D399"/>
            </a:solidFill>
            <a:prstDash val="solid"/>
          </a:ln>
        </p:spPr>
        <p:txBody>
          <a:bodyPr wrap="square" lIns="118872" tIns="0" rIns="91440" bIns="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call 1 →  "Ahmed"</a:t>
            </a:r>
            <a:endParaRPr lang="en-US" sz="1050" dirty="0"/>
          </a:p>
        </p:txBody>
      </p:sp>
      <p:sp>
        <p:nvSpPr>
          <p:cNvPr id="121" name="fl1"/>
          <p:cNvSpPr/>
          <p:nvPr/>
        </p:nvSpPr>
        <p:spPr>
          <a:xfrm>
            <a:off x="6925666" y="2185416"/>
            <a:ext cx="1828800" cy="329184"/>
          </a:xfrm>
          <a:prstGeom prst="roundRect">
            <a:avLst>
              <a:gd name="adj" fmla="val 12000"/>
            </a:avLst>
          </a:prstGeom>
          <a:solidFill>
            <a:srgbClr val="111B2E"/>
          </a:solidFill>
          <a:ln w="12700">
            <a:solidFill>
              <a:srgbClr val="1E3A5F"/>
            </a:solidFill>
            <a:prstDash val="solid"/>
          </a:ln>
        </p:spPr>
        <p:txBody>
          <a:bodyPr wrap="square" lIns="118872" tIns="0" rIns="91440" bIns="0" rtlCol="0" anchor="ctr">
            <a:noAutofit/>
          </a:bodyPr>
          <a:lstStyle/>
          <a:p>
            <a:pPr marL="0" indent="0" algn="l">
              <a:spcBef>
                <a:spcPts val="0"/>
              </a:spcBef>
              <a:spcAft>
                <a:spcPts val="0"/>
              </a:spcAft>
              <a:buNone/>
            </a:pPr>
            <a:r>
              <a:rPr lang="en-US" sz="1050" b="1" dirty="0">
                <a:solidFill>
                  <a:srgbClr val="FFFFFF"/>
                </a:solidFill>
                <a:latin typeface="Consolas"/>
                <a:ea typeface="Consolas"/>
                <a:cs typeface="Consolas"/>
              </a:rPr>
              <a:t>Sara</a:t>
            </a:r>
            <a:endParaRPr lang="en-US" sz="1050" dirty="0"/>
          </a:p>
        </p:txBody>
      </p:sp>
      <p:sp>
        <p:nvSpPr>
          <p:cNvPr id="122" name="c1"/>
          <p:cNvSpPr/>
          <p:nvPr/>
        </p:nvSpPr>
        <p:spPr>
          <a:xfrm>
            <a:off x="8983066" y="2185416"/>
            <a:ext cx="2647188" cy="329184"/>
          </a:xfrm>
          <a:prstGeom prst="roundRect">
            <a:avLst>
              <a:gd name="adj" fmla="val 12000"/>
            </a:avLst>
          </a:prstGeom>
          <a:solidFill>
            <a:srgbClr val="34D399">
              <a:alpha val="10000"/>
            </a:srgbClr>
          </a:solidFill>
          <a:ln w="12700">
            <a:solidFill>
              <a:srgbClr val="34D399"/>
            </a:solidFill>
            <a:prstDash val="solid"/>
          </a:ln>
        </p:spPr>
        <p:txBody>
          <a:bodyPr wrap="square" lIns="118872" tIns="0" rIns="91440" bIns="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call 2 →  "Sara"</a:t>
            </a:r>
            <a:endParaRPr lang="en-US" sz="1050" dirty="0"/>
          </a:p>
        </p:txBody>
      </p:sp>
      <p:sp>
        <p:nvSpPr>
          <p:cNvPr id="123" name="fl2"/>
          <p:cNvSpPr/>
          <p:nvPr/>
        </p:nvSpPr>
        <p:spPr>
          <a:xfrm>
            <a:off x="6925666" y="2587752"/>
            <a:ext cx="1828800" cy="329184"/>
          </a:xfrm>
          <a:prstGeom prst="roundRect">
            <a:avLst>
              <a:gd name="adj" fmla="val 12000"/>
            </a:avLst>
          </a:prstGeom>
          <a:solidFill>
            <a:srgbClr val="111B2E"/>
          </a:solidFill>
          <a:ln w="12700">
            <a:solidFill>
              <a:srgbClr val="1E3A5F"/>
            </a:solidFill>
            <a:prstDash val="solid"/>
          </a:ln>
        </p:spPr>
        <p:txBody>
          <a:bodyPr wrap="square" lIns="118872" tIns="0" rIns="91440" bIns="0" rtlCol="0" anchor="ctr">
            <a:noAutofit/>
          </a:bodyPr>
          <a:lstStyle/>
          <a:p>
            <a:pPr marL="0" indent="0" algn="l">
              <a:spcBef>
                <a:spcPts val="0"/>
              </a:spcBef>
              <a:spcAft>
                <a:spcPts val="0"/>
              </a:spcAft>
              <a:buNone/>
            </a:pPr>
            <a:r>
              <a:rPr lang="en-US" sz="1050" b="1" dirty="0">
                <a:solidFill>
                  <a:srgbClr val="FFFFFF"/>
                </a:solidFill>
                <a:latin typeface="Consolas"/>
                <a:ea typeface="Consolas"/>
                <a:cs typeface="Consolas"/>
              </a:rPr>
              <a:t>Omar</a:t>
            </a:r>
            <a:endParaRPr lang="en-US" sz="1050" dirty="0"/>
          </a:p>
        </p:txBody>
      </p:sp>
      <p:sp>
        <p:nvSpPr>
          <p:cNvPr id="124" name="c2"/>
          <p:cNvSpPr/>
          <p:nvPr/>
        </p:nvSpPr>
        <p:spPr>
          <a:xfrm>
            <a:off x="8983066" y="2587752"/>
            <a:ext cx="2647188" cy="329184"/>
          </a:xfrm>
          <a:prstGeom prst="roundRect">
            <a:avLst>
              <a:gd name="adj" fmla="val 12000"/>
            </a:avLst>
          </a:prstGeom>
          <a:solidFill>
            <a:srgbClr val="34D399">
              <a:alpha val="10000"/>
            </a:srgbClr>
          </a:solidFill>
          <a:ln w="12700">
            <a:solidFill>
              <a:srgbClr val="34D399"/>
            </a:solidFill>
            <a:prstDash val="solid"/>
          </a:ln>
        </p:spPr>
        <p:txBody>
          <a:bodyPr wrap="square" lIns="118872" tIns="0" rIns="91440" bIns="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call 3 →  "Omar"</a:t>
            </a:r>
            <a:endParaRPr lang="en-US" sz="1050" dirty="0"/>
          </a:p>
        </p:txBody>
      </p:sp>
      <p:sp>
        <p:nvSpPr>
          <p:cNvPr id="125" name="fl3"/>
          <p:cNvSpPr/>
          <p:nvPr/>
        </p:nvSpPr>
        <p:spPr>
          <a:xfrm>
            <a:off x="6925666" y="2990088"/>
            <a:ext cx="1828800" cy="329184"/>
          </a:xfrm>
          <a:prstGeom prst="roundRect">
            <a:avLst>
              <a:gd name="adj" fmla="val 12000"/>
            </a:avLst>
          </a:prstGeom>
          <a:solidFill>
            <a:srgbClr val="111B2E"/>
          </a:solidFill>
          <a:ln w="12700">
            <a:solidFill>
              <a:srgbClr val="1E3A5F"/>
            </a:solidFill>
            <a:prstDash val="solid"/>
          </a:ln>
        </p:spPr>
        <p:txBody>
          <a:bodyPr wrap="square" lIns="118872" tIns="0" rIns="91440" bIns="0" rtlCol="0" anchor="ctr">
            <a:noAutofit/>
          </a:bodyPr>
          <a:lstStyle/>
          <a:p>
            <a:pPr marL="0" indent="0" algn="l">
              <a:spcBef>
                <a:spcPts val="0"/>
              </a:spcBef>
              <a:spcAft>
                <a:spcPts val="0"/>
              </a:spcAft>
              <a:buNone/>
            </a:pPr>
            <a:r>
              <a:rPr lang="en-US" sz="900" b="0" dirty="0">
                <a:solidFill>
                  <a:srgbClr val="94A3B8"/>
                </a:solidFill>
                <a:latin typeface="Consolas"/>
                <a:ea typeface="Consolas"/>
                <a:cs typeface="Consolas"/>
              </a:rPr>
              <a:t>(end of file)</a:t>
            </a:r>
            <a:endParaRPr lang="en-US" sz="900" dirty="0"/>
          </a:p>
        </p:txBody>
      </p:sp>
      <p:sp>
        <p:nvSpPr>
          <p:cNvPr id="126" name="c3"/>
          <p:cNvSpPr/>
          <p:nvPr/>
        </p:nvSpPr>
        <p:spPr>
          <a:xfrm>
            <a:off x="8983066" y="2990088"/>
            <a:ext cx="2647188" cy="329184"/>
          </a:xfrm>
          <a:prstGeom prst="roundRect">
            <a:avLst>
              <a:gd name="adj" fmla="val 12000"/>
            </a:avLst>
          </a:prstGeom>
          <a:solidFill>
            <a:srgbClr val="F87171">
              <a:alpha val="10000"/>
            </a:srgbClr>
          </a:solidFill>
          <a:ln w="12700">
            <a:solidFill>
              <a:srgbClr val="F87171"/>
            </a:solidFill>
            <a:prstDash val="solid"/>
          </a:ln>
        </p:spPr>
        <p:txBody>
          <a:bodyPr wrap="square" lIns="118872" tIns="0" rIns="91440" bIns="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call 4 →  null  · stop</a:t>
            </a:r>
            <a:endParaRPr lang="en-US" sz="1050" dirty="0"/>
          </a:p>
        </p:txBody>
      </p:sp>
      <p:sp>
        <p:nvSpPr>
          <p:cNvPr id="127" name="pm"/>
          <p:cNvSpPr txBox="1"/>
          <p:nvPr/>
        </p:nvSpPr>
        <p:spPr>
          <a:xfrm>
            <a:off x="6578194" y="1783080"/>
            <a:ext cx="320040" cy="32918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300" b="1" dirty="0">
                <a:solidFill>
                  <a:srgbClr val="FBBF24"/>
                </a:solidFill>
                <a:latin typeface="Segoe UI"/>
                <a:ea typeface="Segoe UI"/>
                <a:cs typeface="Segoe UI"/>
              </a:rPr>
              <a:t>▶</a:t>
            </a:r>
            <a:endParaRPr lang="en-US" sz="1300" dirty="0"/>
          </a:p>
        </p:txBody>
      </p:sp>
      <p:grpSp>
        <p:nvGrpSpPr>
          <p:cNvPr id="139" name="out"/>
          <p:cNvGrpSpPr/>
          <p:nvPr/>
        </p:nvGrpSpPr>
        <p:grpSpPr>
          <a:xfrm>
            <a:off x="6578194" y="3493008"/>
            <a:ext cx="5052060" cy="1275900"/>
            <a:chOff x="6578194" y="3493008"/>
            <a:chExt cx="5052060" cy="1275900"/>
          </a:xfrm>
        </p:grpSpPr>
        <p:sp>
          <p:nvSpPr>
            <p:cNvPr id="128" name="out_win"/>
            <p:cNvSpPr/>
            <p:nvPr/>
          </p:nvSpPr>
          <p:spPr>
            <a:xfrm>
              <a:off x="6578194" y="3493008"/>
              <a:ext cx="5052060" cy="1275900"/>
            </a:xfrm>
            <a:prstGeom prst="roundRect">
              <a:avLst>
                <a:gd name="adj" fmla="val 5372"/>
              </a:avLst>
            </a:prstGeom>
            <a:solidFill>
              <a:srgbClr val="060D18"/>
            </a:solidFill>
            <a:ln w="12700">
              <a:solidFill>
                <a:srgbClr val="1E3A5F"/>
              </a:solidFill>
              <a:prstDash val="solid"/>
            </a:ln>
          </p:spPr>
          <p:txBody>
            <a:bodyPr/>
            <a:lstStyle/>
            <a:p>
              <a:endParaRPr lang="en-US"/>
            </a:p>
          </p:txBody>
        </p:sp>
        <p:sp>
          <p:nvSpPr>
            <p:cNvPr id="129" name="out_bar"/>
            <p:cNvSpPr/>
            <p:nvPr/>
          </p:nvSpPr>
          <p:spPr>
            <a:xfrm>
              <a:off x="6578194" y="3493008"/>
              <a:ext cx="50520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0" name="out_barfill"/>
            <p:cNvSpPr/>
            <p:nvPr/>
          </p:nvSpPr>
          <p:spPr>
            <a:xfrm>
              <a:off x="6578194" y="3664458"/>
              <a:ext cx="5052060" cy="171450"/>
            </a:xfrm>
            <a:prstGeom prst="rect">
              <a:avLst/>
            </a:prstGeom>
            <a:solidFill>
              <a:srgbClr val="0A1220"/>
            </a:solidFill>
            <a:ln w="12700">
              <a:solidFill>
                <a:srgbClr val="0A1220"/>
              </a:solidFill>
              <a:prstDash val="solid"/>
            </a:ln>
          </p:spPr>
          <p:txBody>
            <a:bodyPr/>
            <a:lstStyle/>
            <a:p>
              <a:endParaRPr lang="en-US"/>
            </a:p>
          </p:txBody>
        </p:sp>
        <p:sp>
          <p:nvSpPr>
            <p:cNvPr id="131" name="out_dot0"/>
            <p:cNvSpPr/>
            <p:nvPr/>
          </p:nvSpPr>
          <p:spPr>
            <a:xfrm>
              <a:off x="6740042" y="3616818"/>
              <a:ext cx="95098" cy="95098"/>
            </a:xfrm>
            <a:prstGeom prst="ellipse">
              <a:avLst/>
            </a:prstGeom>
            <a:solidFill>
              <a:srgbClr val="F87171"/>
            </a:solidFill>
            <a:ln w="12700">
              <a:solidFill>
                <a:srgbClr val="F87171"/>
              </a:solidFill>
              <a:prstDash val="solid"/>
            </a:ln>
          </p:spPr>
          <p:txBody>
            <a:bodyPr/>
            <a:lstStyle/>
            <a:p>
              <a:endParaRPr lang="en-US"/>
            </a:p>
          </p:txBody>
        </p:sp>
        <p:sp>
          <p:nvSpPr>
            <p:cNvPr id="132" name="out_dot1"/>
            <p:cNvSpPr/>
            <p:nvPr/>
          </p:nvSpPr>
          <p:spPr>
            <a:xfrm>
              <a:off x="6925666" y="3616818"/>
              <a:ext cx="95098" cy="95098"/>
            </a:xfrm>
            <a:prstGeom prst="ellipse">
              <a:avLst/>
            </a:prstGeom>
            <a:solidFill>
              <a:srgbClr val="FBBF24"/>
            </a:solidFill>
            <a:ln w="12700">
              <a:solidFill>
                <a:srgbClr val="FBBF24"/>
              </a:solidFill>
              <a:prstDash val="solid"/>
            </a:ln>
          </p:spPr>
          <p:txBody>
            <a:bodyPr/>
            <a:lstStyle/>
            <a:p>
              <a:endParaRPr lang="en-US"/>
            </a:p>
          </p:txBody>
        </p:sp>
        <p:sp>
          <p:nvSpPr>
            <p:cNvPr id="133" name="out_dot2"/>
            <p:cNvSpPr/>
            <p:nvPr/>
          </p:nvSpPr>
          <p:spPr>
            <a:xfrm>
              <a:off x="7111290" y="3616818"/>
              <a:ext cx="95098" cy="95098"/>
            </a:xfrm>
            <a:prstGeom prst="ellipse">
              <a:avLst/>
            </a:prstGeom>
            <a:solidFill>
              <a:srgbClr val="34D399"/>
            </a:solidFill>
            <a:ln w="12700">
              <a:solidFill>
                <a:srgbClr val="34D399"/>
              </a:solidFill>
              <a:prstDash val="solid"/>
            </a:ln>
          </p:spPr>
          <p:txBody>
            <a:bodyPr/>
            <a:lstStyle/>
            <a:p>
              <a:endParaRPr lang="en-US"/>
            </a:p>
          </p:txBody>
        </p:sp>
        <p:sp>
          <p:nvSpPr>
            <p:cNvPr id="134" name="out_tab"/>
            <p:cNvSpPr/>
            <p:nvPr/>
          </p:nvSpPr>
          <p:spPr>
            <a:xfrm>
              <a:off x="7359091" y="3540557"/>
              <a:ext cx="148808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  · our run</a:t>
              </a:r>
              <a:endParaRPr lang="en-US" sz="950" dirty="0"/>
            </a:p>
          </p:txBody>
        </p:sp>
        <p:sp>
          <p:nvSpPr>
            <p:cNvPr id="135" name="out_L00"/>
            <p:cNvSpPr txBox="1"/>
            <p:nvPr/>
          </p:nvSpPr>
          <p:spPr>
            <a:xfrm>
              <a:off x="6806794" y="3968908"/>
              <a:ext cx="475206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file: Ahmed · (empty line) · Omar</a:t>
              </a:r>
              <a:endParaRPr lang="en-US" sz="950" dirty="0"/>
            </a:p>
          </p:txBody>
        </p:sp>
        <p:sp>
          <p:nvSpPr>
            <p:cNvPr id="136" name="out_L01"/>
            <p:cNvSpPr txBox="1"/>
            <p:nvPr/>
          </p:nvSpPr>
          <p:spPr>
            <a:xfrm>
              <a:off x="6806794" y="4138908"/>
              <a:ext cx="475206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line 1: "Ahmed"</a:t>
              </a:r>
              <a:endParaRPr lang="en-US" sz="950" dirty="0"/>
            </a:p>
          </p:txBody>
        </p:sp>
        <p:sp>
          <p:nvSpPr>
            <p:cNvPr id="137" name="out_L02"/>
            <p:cNvSpPr txBox="1"/>
            <p:nvPr/>
          </p:nvSpPr>
          <p:spPr>
            <a:xfrm>
              <a:off x="6806794" y="4308908"/>
              <a:ext cx="475206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line 2: ""</a:t>
              </a:r>
              <a:endParaRPr lang="en-US" sz="950" dirty="0"/>
            </a:p>
          </p:txBody>
        </p:sp>
        <p:sp>
          <p:nvSpPr>
            <p:cNvPr id="138" name="out_L03"/>
            <p:cNvSpPr txBox="1"/>
            <p:nvPr/>
          </p:nvSpPr>
          <p:spPr>
            <a:xfrm>
              <a:off x="6806794" y="4478908"/>
              <a:ext cx="4752060"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line 3: "Omar"</a:t>
              </a:r>
              <a:endParaRPr lang="en-US" sz="950" dirty="0"/>
            </a:p>
          </p:txBody>
        </p:sp>
      </p:grpSp>
      <p:sp>
        <p:nvSpPr>
          <p:cNvPr id="140" name="emp"/>
          <p:cNvSpPr txBox="1"/>
          <p:nvPr/>
        </p:nvSpPr>
        <p:spPr>
          <a:xfrm>
            <a:off x="543154" y="4407408"/>
            <a:ext cx="5760720" cy="3840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Empty line → </a:t>
            </a:r>
            <a:r>
              <a:rPr lang="en-US" sz="1100" b="1" dirty="0">
                <a:solidFill>
                  <a:srgbClr val="FFFFFF"/>
                </a:solidFill>
                <a:latin typeface="Consolas"/>
                <a:ea typeface="Consolas"/>
                <a:cs typeface="Consolas"/>
              </a:rPr>
              <a:t>""</a:t>
            </a:r>
            <a:r>
              <a:rPr lang="en-US" sz="1100" b="1" dirty="0">
                <a:solidFill>
                  <a:srgbClr val="FBBF24"/>
                </a:solidFill>
                <a:latin typeface="Segoe UI"/>
                <a:ea typeface="Segoe UI"/>
                <a:cs typeface="Segoe UI"/>
              </a:rPr>
              <a:t> not </a:t>
            </a:r>
            <a:r>
              <a:rPr lang="en-US" sz="1100" b="1" dirty="0">
                <a:solidFill>
                  <a:srgbClr val="F87171"/>
                </a:solidFill>
                <a:latin typeface="Consolas"/>
                <a:ea typeface="Consolas"/>
                <a:cs typeface="Consolas"/>
              </a:rPr>
              <a:t>null</a:t>
            </a:r>
            <a:r>
              <a:rPr lang="en-US" sz="1100" b="0" dirty="0">
                <a:solidFill>
                  <a:srgbClr val="E2E8F0"/>
                </a:solidFill>
                <a:latin typeface="Segoe UI"/>
                <a:ea typeface="Segoe UI"/>
                <a:cs typeface="Segoe UI"/>
              </a:rPr>
              <a:t>: the loop does NOT stop there.</a:t>
            </a:r>
            <a:endParaRPr lang="en-US" sz="1100" dirty="0"/>
          </a:p>
        </p:txBody>
      </p:sp>
      <p:sp>
        <p:nvSpPr>
          <p:cNvPr id="141" name="r0"/>
          <p:cNvSpPr/>
          <p:nvPr/>
        </p:nvSpPr>
        <p:spPr>
          <a:xfrm>
            <a:off x="543154" y="5257800"/>
            <a:ext cx="2531745" cy="548640"/>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94A3B8"/>
                </a:solidFill>
                <a:latin typeface="Segoe UI"/>
                <a:ea typeface="Segoe UI"/>
                <a:cs typeface="Segoe UI"/>
              </a:rPr>
              <a:t>File on Disk</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bytes</a:t>
            </a:r>
            <a:endParaRPr lang="en-US" sz="900" dirty="0"/>
          </a:p>
        </p:txBody>
      </p:sp>
      <p:cxnSp>
        <p:nvCxnSpPr>
          <p:cNvPr id="142" name="ra0"/>
          <p:cNvCxnSpPr/>
          <p:nvPr/>
        </p:nvCxnSpPr>
        <p:spPr>
          <a:xfrm>
            <a:off x="3102331" y="5532120"/>
            <a:ext cx="265176" cy="0"/>
          </a:xfrm>
          <a:prstGeom prst="line">
            <a:avLst/>
          </a:prstGeom>
          <a:ln w="28575">
            <a:solidFill>
              <a:srgbClr val="94A3B8"/>
            </a:solidFill>
            <a:tailEnd type="triangle" w="med" len="med"/>
          </a:ln>
        </p:spPr>
      </p:cxnSp>
      <p:sp>
        <p:nvSpPr>
          <p:cNvPr id="143" name="r1"/>
          <p:cNvSpPr/>
          <p:nvPr/>
        </p:nvSpPr>
        <p:spPr>
          <a:xfrm>
            <a:off x="3394939" y="5257800"/>
            <a:ext cx="2531745" cy="548640"/>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A78BFA"/>
                </a:solidFill>
                <a:latin typeface="Segoe UI"/>
                <a:ea typeface="Segoe UI"/>
                <a:cs typeface="Segoe UI"/>
              </a:rPr>
              <a:t>FileStream</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reads bytes</a:t>
            </a:r>
            <a:endParaRPr lang="en-US" sz="900" dirty="0"/>
          </a:p>
        </p:txBody>
      </p:sp>
      <p:cxnSp>
        <p:nvCxnSpPr>
          <p:cNvPr id="144" name="ra1"/>
          <p:cNvCxnSpPr/>
          <p:nvPr/>
        </p:nvCxnSpPr>
        <p:spPr>
          <a:xfrm>
            <a:off x="5954116" y="5532120"/>
            <a:ext cx="265176" cy="0"/>
          </a:xfrm>
          <a:prstGeom prst="line">
            <a:avLst/>
          </a:prstGeom>
          <a:ln w="28575">
            <a:solidFill>
              <a:srgbClr val="94A3B8"/>
            </a:solidFill>
            <a:tailEnd type="triangle" w="med" len="med"/>
          </a:ln>
        </p:spPr>
      </p:cxnSp>
      <p:sp>
        <p:nvSpPr>
          <p:cNvPr id="145" name="r2"/>
          <p:cNvSpPr/>
          <p:nvPr/>
        </p:nvSpPr>
        <p:spPr>
          <a:xfrm>
            <a:off x="6246724" y="5257800"/>
            <a:ext cx="2531745" cy="54864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13D0F7"/>
                </a:solidFill>
                <a:latin typeface="Segoe UI"/>
                <a:ea typeface="Segoe UI"/>
                <a:cs typeface="Segoe UI"/>
              </a:rPr>
              <a:t>StreamReader</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bytes → text (decode)</a:t>
            </a:r>
            <a:endParaRPr lang="en-US" sz="900" dirty="0"/>
          </a:p>
        </p:txBody>
      </p:sp>
      <p:cxnSp>
        <p:nvCxnSpPr>
          <p:cNvPr id="146" name="ra2"/>
          <p:cNvCxnSpPr/>
          <p:nvPr/>
        </p:nvCxnSpPr>
        <p:spPr>
          <a:xfrm>
            <a:off x="8805901" y="5532120"/>
            <a:ext cx="265176" cy="0"/>
          </a:xfrm>
          <a:prstGeom prst="line">
            <a:avLst/>
          </a:prstGeom>
          <a:ln w="28575">
            <a:solidFill>
              <a:srgbClr val="94A3B8"/>
            </a:solidFill>
            <a:tailEnd type="triangle" w="med" len="med"/>
          </a:ln>
        </p:spPr>
      </p:cxnSp>
      <p:sp>
        <p:nvSpPr>
          <p:cNvPr id="147" name="r3"/>
          <p:cNvSpPr/>
          <p:nvPr/>
        </p:nvSpPr>
        <p:spPr>
          <a:xfrm>
            <a:off x="9098509" y="5257800"/>
            <a:ext cx="2531745" cy="548640"/>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FFFFFF"/>
                </a:solidFill>
                <a:latin typeface="Segoe UI"/>
                <a:ea typeface="Segoe UI"/>
                <a:cs typeface="Segoe UI"/>
              </a:rPr>
              <a:t>Your Code</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string</a:t>
            </a:r>
            <a:endParaRPr lang="en-US" sz="900" dirty="0"/>
          </a:p>
        </p:txBody>
      </p:sp>
      <p:sp>
        <p:nvSpPr>
          <p:cNvPr id="148" name="rl"/>
          <p:cNvSpPr txBox="1"/>
          <p:nvPr/>
        </p:nvSpPr>
        <p:spPr>
          <a:xfrm>
            <a:off x="543154" y="4919472"/>
            <a:ext cx="11087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1" dirty="0">
                <a:solidFill>
                  <a:srgbClr val="94A3B8"/>
                </a:solidFill>
                <a:latin typeface="Segoe UI"/>
                <a:ea typeface="Segoe UI"/>
                <a:cs typeface="Segoe UI"/>
              </a:rPr>
              <a:t>READING: THE LAYERS IN REVERSE</a:t>
            </a:r>
            <a:endParaRPr lang="en-US" sz="950" dirty="0"/>
          </a:p>
        </p:txBody>
      </p:sp>
    </p:spTree>
    <p:extLst>
      <p:ext uri="{BB962C8B-B14F-4D97-AF65-F5344CB8AC3E}">
        <p14:creationId xmlns:p14="http://schemas.microsoft.com/office/powerpoint/2010/main" val="158293196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400"/>
                                        <p:tgtEl>
                                          <p:spTgt spid="1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400"/>
                                        <p:tgtEl>
                                          <p:spTgt spid="1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7"/>
                                        </p:tgtEl>
                                        <p:attrNameLst>
                                          <p:attrName>style.visibility</p:attrName>
                                        </p:attrNameLst>
                                      </p:cBhvr>
                                      <p:to>
                                        <p:strVal val="visible"/>
                                      </p:to>
                                    </p:set>
                                    <p:animEffect transition="in" filter="fade">
                                      <p:cBhvr>
                                        <p:cTn id="15" dur="400"/>
                                        <p:tgtEl>
                                          <p:spTgt spid="1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9"/>
                                        </p:tgtEl>
                                        <p:attrNameLst>
                                          <p:attrName>style.visibility</p:attrName>
                                        </p:attrNameLst>
                                      </p:cBhvr>
                                      <p:to>
                                        <p:strVal val="visible"/>
                                      </p:to>
                                    </p:set>
                                    <p:animEffect transition="in" filter="fade">
                                      <p:cBhvr>
                                        <p:cTn id="18" dur="400"/>
                                        <p:tgtEl>
                                          <p:spTgt spid="1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1"/>
                                        </p:tgtEl>
                                        <p:attrNameLst>
                                          <p:attrName>style.visibility</p:attrName>
                                        </p:attrNameLst>
                                      </p:cBhvr>
                                      <p:to>
                                        <p:strVal val="visible"/>
                                      </p:to>
                                    </p:set>
                                    <p:animEffect transition="in" filter="fade">
                                      <p:cBhvr>
                                        <p:cTn id="21" dur="400"/>
                                        <p:tgtEl>
                                          <p:spTgt spid="1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3"/>
                                        </p:tgtEl>
                                        <p:attrNameLst>
                                          <p:attrName>style.visibility</p:attrName>
                                        </p:attrNameLst>
                                      </p:cBhvr>
                                      <p:to>
                                        <p:strVal val="visible"/>
                                      </p:to>
                                    </p:set>
                                    <p:animEffect transition="in" filter="fade">
                                      <p:cBhvr>
                                        <p:cTn id="24" dur="400"/>
                                        <p:tgtEl>
                                          <p:spTgt spid="1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5"/>
                                        </p:tgtEl>
                                        <p:attrNameLst>
                                          <p:attrName>style.visibility</p:attrName>
                                        </p:attrNameLst>
                                      </p:cBhvr>
                                      <p:to>
                                        <p:strVal val="visible"/>
                                      </p:to>
                                    </p:set>
                                    <p:animEffect transition="in" filter="fade">
                                      <p:cBhvr>
                                        <p:cTn id="27" dur="400"/>
                                        <p:tgtEl>
                                          <p:spTgt spid="1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8"/>
                                        </p:tgtEl>
                                        <p:attrNameLst>
                                          <p:attrName>style.visibility</p:attrName>
                                        </p:attrNameLst>
                                      </p:cBhvr>
                                      <p:to>
                                        <p:strVal val="visible"/>
                                      </p:to>
                                    </p:set>
                                    <p:animEffect transition="in" filter="fade">
                                      <p:cBhvr>
                                        <p:cTn id="30" dur="400"/>
                                        <p:tgtEl>
                                          <p:spTgt spid="1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7"/>
                                        </p:tgtEl>
                                        <p:attrNameLst>
                                          <p:attrName>style.visibility</p:attrName>
                                        </p:attrNameLst>
                                      </p:cBhvr>
                                      <p:to>
                                        <p:strVal val="visible"/>
                                      </p:to>
                                    </p:set>
                                    <p:animEffect transition="in" filter="fade">
                                      <p:cBhvr>
                                        <p:cTn id="33" dur="400"/>
                                        <p:tgtEl>
                                          <p:spTgt spid="12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0"/>
                                        </p:tgtEl>
                                        <p:attrNameLst>
                                          <p:attrName>style.visibility</p:attrName>
                                        </p:attrNameLst>
                                      </p:cBhvr>
                                      <p:to>
                                        <p:strVal val="visible"/>
                                      </p:to>
                                    </p:set>
                                    <p:animEffect transition="in" filter="fade">
                                      <p:cBhvr>
                                        <p:cTn id="38" dur="400"/>
                                        <p:tgtEl>
                                          <p:spTgt spid="120"/>
                                        </p:tgtEl>
                                      </p:cBhvr>
                                    </p:animEffect>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1" nodeType="clickEffect">
                                  <p:stCondLst>
                                    <p:cond delay="0"/>
                                  </p:stCondLst>
                                  <p:childTnLst>
                                    <p:animMotion origin="layout" path="M 0.00000 0.00000 L 0.00000 0.05867 E" pathEditMode="relative" rAng="0" ptsTypes="AA">
                                      <p:cBhvr>
                                        <p:cTn id="42" dur="500" fill="hold"/>
                                        <p:tgtEl>
                                          <p:spTgt spid="127"/>
                                        </p:tgtEl>
                                        <p:attrNameLst>
                                          <p:attrName>ppt_x</p:attrName>
                                          <p:attrName>ppt_y</p:attrName>
                                        </p:attrNameLst>
                                      </p:cBhvr>
                                      <p:rCtr x="0" y="2933"/>
                                    </p:animMotion>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22"/>
                                        </p:tgtEl>
                                        <p:attrNameLst>
                                          <p:attrName>style.visibility</p:attrName>
                                        </p:attrNameLst>
                                      </p:cBhvr>
                                      <p:to>
                                        <p:strVal val="visible"/>
                                      </p:to>
                                    </p:set>
                                    <p:animEffect transition="in" filter="fade">
                                      <p:cBhvr>
                                        <p:cTn id="46" dur="400"/>
                                        <p:tgtEl>
                                          <p:spTgt spid="122"/>
                                        </p:tgtEl>
                                      </p:cBhvr>
                                    </p:animEffect>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grpId="2" nodeType="clickEffect">
                                  <p:stCondLst>
                                    <p:cond delay="0"/>
                                  </p:stCondLst>
                                  <p:childTnLst>
                                    <p:animMotion origin="layout" path="M 0.00000 0.05867 L 0.00000 0.11733 E" pathEditMode="relative" rAng="0" ptsTypes="AA">
                                      <p:cBhvr>
                                        <p:cTn id="50" dur="500" fill="hold"/>
                                        <p:tgtEl>
                                          <p:spTgt spid="127"/>
                                        </p:tgtEl>
                                        <p:attrNameLst>
                                          <p:attrName>ppt_x</p:attrName>
                                          <p:attrName>ppt_y</p:attrName>
                                        </p:attrNameLst>
                                      </p:cBhvr>
                                      <p:rCtr x="0" y="2933"/>
                                    </p:animMotion>
                                  </p:childTnLst>
                                </p:cTn>
                              </p:par>
                            </p:childTnLst>
                          </p:cTn>
                        </p:par>
                        <p:par>
                          <p:cTn id="51"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124"/>
                                        </p:tgtEl>
                                        <p:attrNameLst>
                                          <p:attrName>style.visibility</p:attrName>
                                        </p:attrNameLst>
                                      </p:cBhvr>
                                      <p:to>
                                        <p:strVal val="visible"/>
                                      </p:to>
                                    </p:set>
                                    <p:animEffect transition="in" filter="fade">
                                      <p:cBhvr>
                                        <p:cTn id="54" dur="400"/>
                                        <p:tgtEl>
                                          <p:spTgt spid="124"/>
                                        </p:tgtEl>
                                      </p:cBhvr>
                                    </p:animEffect>
                                  </p:childTnLst>
                                </p:cTn>
                              </p:par>
                            </p:childTnLst>
                          </p:cTn>
                        </p:par>
                      </p:childTnLst>
                    </p:cTn>
                  </p:par>
                  <p:par>
                    <p:cTn id="55" fill="hold">
                      <p:stCondLst>
                        <p:cond delay="indefinite"/>
                      </p:stCondLst>
                      <p:childTnLst>
                        <p:par>
                          <p:cTn id="56" fill="hold">
                            <p:stCondLst>
                              <p:cond delay="0"/>
                            </p:stCondLst>
                            <p:childTnLst>
                              <p:par>
                                <p:cTn id="57" presetID="0" presetClass="path" presetSubtype="0" accel="50000" decel="50000" fill="hold" grpId="3" nodeType="clickEffect">
                                  <p:stCondLst>
                                    <p:cond delay="0"/>
                                  </p:stCondLst>
                                  <p:childTnLst>
                                    <p:animMotion origin="layout" path="M 0.00000 0.11733 L 0.00000 0.17600 E" pathEditMode="relative" rAng="0" ptsTypes="AA">
                                      <p:cBhvr>
                                        <p:cTn id="58" dur="500" fill="hold"/>
                                        <p:tgtEl>
                                          <p:spTgt spid="127"/>
                                        </p:tgtEl>
                                        <p:attrNameLst>
                                          <p:attrName>ppt_x</p:attrName>
                                          <p:attrName>ppt_y</p:attrName>
                                        </p:attrNameLst>
                                      </p:cBhvr>
                                      <p:rCtr x="0" y="2933"/>
                                    </p:animMotion>
                                  </p:childTnLst>
                                </p:cTn>
                              </p:par>
                            </p:childTnLst>
                          </p:cTn>
                        </p:par>
                        <p:par>
                          <p:cTn id="59" fill="hold">
                            <p:stCondLst>
                              <p:cond delay="500"/>
                            </p:stCondLst>
                            <p:childTnLst>
                              <p:par>
                                <p:cTn id="60" presetID="10" presetClass="entr" presetSubtype="0" fill="hold" grpId="0" nodeType="afterEffect">
                                  <p:stCondLst>
                                    <p:cond delay="0"/>
                                  </p:stCondLst>
                                  <p:childTnLst>
                                    <p:set>
                                      <p:cBhvr>
                                        <p:cTn id="61" dur="1" fill="hold">
                                          <p:stCondLst>
                                            <p:cond delay="0"/>
                                          </p:stCondLst>
                                        </p:cTn>
                                        <p:tgtEl>
                                          <p:spTgt spid="126"/>
                                        </p:tgtEl>
                                        <p:attrNameLst>
                                          <p:attrName>style.visibility</p:attrName>
                                        </p:attrNameLst>
                                      </p:cBhvr>
                                      <p:to>
                                        <p:strVal val="visible"/>
                                      </p:to>
                                    </p:set>
                                    <p:animEffect transition="in" filter="fade">
                                      <p:cBhvr>
                                        <p:cTn id="62" dur="400"/>
                                        <p:tgtEl>
                                          <p:spTgt spid="12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16"/>
                                        </p:tgtEl>
                                        <p:attrNameLst>
                                          <p:attrName>style.visibility</p:attrName>
                                        </p:attrNameLst>
                                      </p:cBhvr>
                                      <p:to>
                                        <p:strVal val="visible"/>
                                      </p:to>
                                    </p:set>
                                    <p:animEffect transition="in" filter="fade">
                                      <p:cBhvr>
                                        <p:cTn id="67" dur="400"/>
                                        <p:tgtEl>
                                          <p:spTgt spid="11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39"/>
                                        </p:tgtEl>
                                        <p:attrNameLst>
                                          <p:attrName>style.visibility</p:attrName>
                                        </p:attrNameLst>
                                      </p:cBhvr>
                                      <p:to>
                                        <p:strVal val="visible"/>
                                      </p:to>
                                    </p:set>
                                    <p:animEffect transition="in" filter="fade">
                                      <p:cBhvr>
                                        <p:cTn id="72" dur="400"/>
                                        <p:tgtEl>
                                          <p:spTgt spid="13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40"/>
                                        </p:tgtEl>
                                        <p:attrNameLst>
                                          <p:attrName>style.visibility</p:attrName>
                                        </p:attrNameLst>
                                      </p:cBhvr>
                                      <p:to>
                                        <p:strVal val="visible"/>
                                      </p:to>
                                    </p:set>
                                    <p:animEffect transition="in" filter="fade">
                                      <p:cBhvr>
                                        <p:cTn id="75" dur="400"/>
                                        <p:tgtEl>
                                          <p:spTgt spid="140"/>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48"/>
                                        </p:tgtEl>
                                        <p:attrNameLst>
                                          <p:attrName>style.visibility</p:attrName>
                                        </p:attrNameLst>
                                      </p:cBhvr>
                                      <p:to>
                                        <p:strVal val="visible"/>
                                      </p:to>
                                    </p:set>
                                    <p:animEffect transition="in" filter="fade">
                                      <p:cBhvr>
                                        <p:cTn id="80" dur="400"/>
                                        <p:tgtEl>
                                          <p:spTgt spid="14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41"/>
                                        </p:tgtEl>
                                        <p:attrNameLst>
                                          <p:attrName>style.visibility</p:attrName>
                                        </p:attrNameLst>
                                      </p:cBhvr>
                                      <p:to>
                                        <p:strVal val="visible"/>
                                      </p:to>
                                    </p:set>
                                    <p:animEffect transition="in" filter="fade">
                                      <p:cBhvr>
                                        <p:cTn id="83" dur="200"/>
                                        <p:tgtEl>
                                          <p:spTgt spid="141"/>
                                        </p:tgtEl>
                                      </p:cBhvr>
                                    </p:animEffect>
                                  </p:childTnLst>
                                </p:cTn>
                              </p:par>
                            </p:childTnLst>
                          </p:cTn>
                        </p:par>
                        <p:par>
                          <p:cTn id="84" fill="hold">
                            <p:stCondLst>
                              <p:cond delay="400"/>
                            </p:stCondLst>
                            <p:childTnLst>
                              <p:par>
                                <p:cTn id="85" presetID="10" presetClass="entr" presetSubtype="0" fill="hold" grpId="0" nodeType="afterEffect">
                                  <p:stCondLst>
                                    <p:cond delay="0"/>
                                  </p:stCondLst>
                                  <p:childTnLst>
                                    <p:set>
                                      <p:cBhvr>
                                        <p:cTn id="86" dur="1" fill="hold">
                                          <p:stCondLst>
                                            <p:cond delay="0"/>
                                          </p:stCondLst>
                                        </p:cTn>
                                        <p:tgtEl>
                                          <p:spTgt spid="143"/>
                                        </p:tgtEl>
                                        <p:attrNameLst>
                                          <p:attrName>style.visibility</p:attrName>
                                        </p:attrNameLst>
                                      </p:cBhvr>
                                      <p:to>
                                        <p:strVal val="visible"/>
                                      </p:to>
                                    </p:set>
                                    <p:animEffect transition="in" filter="fade">
                                      <p:cBhvr>
                                        <p:cTn id="87" dur="200"/>
                                        <p:tgtEl>
                                          <p:spTgt spid="143"/>
                                        </p:tgtEl>
                                      </p:cBhvr>
                                    </p:animEffect>
                                  </p:childTnLst>
                                </p:cTn>
                              </p:par>
                            </p:childTnLst>
                          </p:cTn>
                        </p:par>
                        <p:par>
                          <p:cTn id="88" fill="hold">
                            <p:stCondLst>
                              <p:cond delay="600"/>
                            </p:stCondLst>
                            <p:childTnLst>
                              <p:par>
                                <p:cTn id="89" presetID="10" presetClass="entr" presetSubtype="0" fill="hold" grpId="0" nodeType="afterEffect">
                                  <p:stCondLst>
                                    <p:cond delay="0"/>
                                  </p:stCondLst>
                                  <p:childTnLst>
                                    <p:set>
                                      <p:cBhvr>
                                        <p:cTn id="90" dur="1" fill="hold">
                                          <p:stCondLst>
                                            <p:cond delay="0"/>
                                          </p:stCondLst>
                                        </p:cTn>
                                        <p:tgtEl>
                                          <p:spTgt spid="145"/>
                                        </p:tgtEl>
                                        <p:attrNameLst>
                                          <p:attrName>style.visibility</p:attrName>
                                        </p:attrNameLst>
                                      </p:cBhvr>
                                      <p:to>
                                        <p:strVal val="visible"/>
                                      </p:to>
                                    </p:set>
                                    <p:animEffect transition="in" filter="fade">
                                      <p:cBhvr>
                                        <p:cTn id="91" dur="200"/>
                                        <p:tgtEl>
                                          <p:spTgt spid="145"/>
                                        </p:tgtEl>
                                      </p:cBhvr>
                                    </p:animEffect>
                                  </p:childTnLst>
                                </p:cTn>
                              </p:par>
                            </p:childTnLst>
                          </p:cTn>
                        </p:par>
                        <p:par>
                          <p:cTn id="92" fill="hold">
                            <p:stCondLst>
                              <p:cond delay="800"/>
                            </p:stCondLst>
                            <p:childTnLst>
                              <p:par>
                                <p:cTn id="93" presetID="10" presetClass="entr" presetSubtype="0" fill="hold" grpId="0" nodeType="afterEffect">
                                  <p:stCondLst>
                                    <p:cond delay="0"/>
                                  </p:stCondLst>
                                  <p:childTnLst>
                                    <p:set>
                                      <p:cBhvr>
                                        <p:cTn id="94" dur="1" fill="hold">
                                          <p:stCondLst>
                                            <p:cond delay="0"/>
                                          </p:stCondLst>
                                        </p:cTn>
                                        <p:tgtEl>
                                          <p:spTgt spid="147"/>
                                        </p:tgtEl>
                                        <p:attrNameLst>
                                          <p:attrName>style.visibility</p:attrName>
                                        </p:attrNameLst>
                                      </p:cBhvr>
                                      <p:to>
                                        <p:strVal val="visible"/>
                                      </p:to>
                                    </p:set>
                                    <p:animEffect transition="in" filter="fade">
                                      <p:cBhvr>
                                        <p:cTn id="95" dur="200"/>
                                        <p:tgtEl>
                                          <p:spTgt spid="147"/>
                                        </p:tgtEl>
                                      </p:cBhvr>
                                    </p:animEffect>
                                  </p:childTnLst>
                                </p:cTn>
                              </p:par>
                              <p:par>
                                <p:cTn id="96" presetID="10" presetClass="entr" presetSubtype="0" fill="hold" nodeType="withEffect">
                                  <p:stCondLst>
                                    <p:cond delay="0"/>
                                  </p:stCondLst>
                                  <p:childTnLst>
                                    <p:set>
                                      <p:cBhvr>
                                        <p:cTn id="97" dur="1" fill="hold">
                                          <p:stCondLst>
                                            <p:cond delay="0"/>
                                          </p:stCondLst>
                                        </p:cTn>
                                        <p:tgtEl>
                                          <p:spTgt spid="142"/>
                                        </p:tgtEl>
                                        <p:attrNameLst>
                                          <p:attrName>style.visibility</p:attrName>
                                        </p:attrNameLst>
                                      </p:cBhvr>
                                      <p:to>
                                        <p:strVal val="visible"/>
                                      </p:to>
                                    </p:set>
                                    <p:animEffect transition="in" filter="fade">
                                      <p:cBhvr>
                                        <p:cTn id="98" dur="400"/>
                                        <p:tgtEl>
                                          <p:spTgt spid="142"/>
                                        </p:tgtEl>
                                      </p:cBhvr>
                                    </p:animEffect>
                                  </p:childTnLst>
                                </p:cTn>
                              </p:par>
                              <p:par>
                                <p:cTn id="99" presetID="10" presetClass="entr" presetSubtype="0" fill="hold" nodeType="withEffect">
                                  <p:stCondLst>
                                    <p:cond delay="0"/>
                                  </p:stCondLst>
                                  <p:childTnLst>
                                    <p:set>
                                      <p:cBhvr>
                                        <p:cTn id="100" dur="1" fill="hold">
                                          <p:stCondLst>
                                            <p:cond delay="0"/>
                                          </p:stCondLst>
                                        </p:cTn>
                                        <p:tgtEl>
                                          <p:spTgt spid="144"/>
                                        </p:tgtEl>
                                        <p:attrNameLst>
                                          <p:attrName>style.visibility</p:attrName>
                                        </p:attrNameLst>
                                      </p:cBhvr>
                                      <p:to>
                                        <p:strVal val="visible"/>
                                      </p:to>
                                    </p:set>
                                    <p:animEffect transition="in" filter="fade">
                                      <p:cBhvr>
                                        <p:cTn id="101" dur="400"/>
                                        <p:tgtEl>
                                          <p:spTgt spid="144"/>
                                        </p:tgtEl>
                                      </p:cBhvr>
                                    </p:animEffect>
                                  </p:childTnLst>
                                </p:cTn>
                              </p:par>
                              <p:par>
                                <p:cTn id="102" presetID="10" presetClass="entr" presetSubtype="0" fill="hold" nodeType="withEffect">
                                  <p:stCondLst>
                                    <p:cond delay="0"/>
                                  </p:stCondLst>
                                  <p:childTnLst>
                                    <p:set>
                                      <p:cBhvr>
                                        <p:cTn id="103" dur="1" fill="hold">
                                          <p:stCondLst>
                                            <p:cond delay="0"/>
                                          </p:stCondLst>
                                        </p:cTn>
                                        <p:tgtEl>
                                          <p:spTgt spid="146"/>
                                        </p:tgtEl>
                                        <p:attrNameLst>
                                          <p:attrName>style.visibility</p:attrName>
                                        </p:attrNameLst>
                                      </p:cBhvr>
                                      <p:to>
                                        <p:strVal val="visible"/>
                                      </p:to>
                                    </p:set>
                                    <p:animEffect transition="in" filter="fade">
                                      <p:cBhvr>
                                        <p:cTn id="104" dur="4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7" grpId="1" animBg="1"/>
      <p:bldP spid="127" grpId="2" animBg="1"/>
      <p:bldP spid="127" grpId="3" animBg="1"/>
      <p:bldP spid="140" grpId="0" animBg="1"/>
      <p:bldP spid="141" grpId="0" animBg="1"/>
      <p:bldP spid="143" grpId="0" animBg="1"/>
      <p:bldP spid="145" grpId="0" animBg="1"/>
      <p:bldP spid="147" grpId="0" animBg="1"/>
      <p:bldP spid="14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IDISPOSABLE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Why Dispose? The GC Frees Memory, Not OS Resources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DISPOSAL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21</a:t>
            </a:r>
            <a:endParaRPr lang="en-US" sz="850" dirty="0"/>
          </a:p>
        </p:txBody>
      </p:sp>
      <p:sp>
        <p:nvSpPr>
          <p:cNvPr id="101" name="mem"/>
          <p:cNvSpPr/>
          <p:nvPr/>
        </p:nvSpPr>
        <p:spPr>
          <a:xfrm>
            <a:off x="543154" y="1444752"/>
            <a:ext cx="5406390" cy="1051560"/>
          </a:xfrm>
          <a:prstGeom prst="roundRect">
            <a:avLst>
              <a:gd name="adj" fmla="val 12000"/>
            </a:avLst>
          </a:prstGeom>
          <a:solidFill>
            <a:srgbClr val="34D399">
              <a:alpha val="9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34D399"/>
                </a:solidFill>
                <a:latin typeface="Segoe UI"/>
                <a:ea typeface="Segoe UI"/>
                <a:cs typeface="Segoe UI"/>
              </a:rPr>
              <a:t>MEMORY</a:t>
            </a:r>
            <a:endParaRPr lang="en-US" sz="1150" dirty="0"/>
          </a:p>
          <a:p>
            <a:pPr marL="0" indent="0" algn="ctr">
              <a:spcBef>
                <a:spcPts val="0"/>
              </a:spcBef>
              <a:spcAft>
                <a:spcPts val="0"/>
              </a:spcAft>
              <a:buNone/>
            </a:pPr>
            <a:r>
              <a:rPr lang="en-US" sz="1250" b="1" dirty="0">
                <a:solidFill>
                  <a:srgbClr val="FFFFFF"/>
                </a:solidFill>
                <a:latin typeface="Segoe UI"/>
                <a:ea typeface="Segoe UI"/>
                <a:cs typeface="Segoe UI"/>
              </a:rPr>
              <a:t>the GC collects it automatically</a:t>
            </a:r>
            <a:endParaRPr lang="en-US" sz="1250" dirty="0"/>
          </a:p>
          <a:p>
            <a:pPr marL="0" indent="0" algn="ctr">
              <a:spcBef>
                <a:spcPts val="0"/>
              </a:spcBef>
              <a:spcAft>
                <a:spcPts val="0"/>
              </a:spcAft>
              <a:buNone/>
            </a:pPr>
            <a:r>
              <a:rPr lang="en-US" sz="1000" b="0" dirty="0">
                <a:solidFill>
                  <a:srgbClr val="CBD5E1"/>
                </a:solidFill>
                <a:latin typeface="Segoe UI"/>
                <a:ea typeface="Segoe UI"/>
                <a:cs typeface="Segoe UI"/>
              </a:rPr>
              <a:t>some time later · you do nothing</a:t>
            </a:r>
            <a:endParaRPr lang="en-US" sz="1000" dirty="0"/>
          </a:p>
        </p:txBody>
      </p:sp>
      <p:sp>
        <p:nvSpPr>
          <p:cNvPr id="102" name="os"/>
          <p:cNvSpPr/>
          <p:nvPr/>
        </p:nvSpPr>
        <p:spPr>
          <a:xfrm>
            <a:off x="6223864" y="1444752"/>
            <a:ext cx="5406390" cy="1051560"/>
          </a:xfrm>
          <a:prstGeom prst="roundRect">
            <a:avLst>
              <a:gd name="adj" fmla="val 12000"/>
            </a:avLst>
          </a:prstGeom>
          <a:solidFill>
            <a:srgbClr val="FBBF24">
              <a:alpha val="9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FBBF24"/>
                </a:solidFill>
                <a:latin typeface="Segoe UI"/>
                <a:ea typeface="Segoe UI"/>
                <a:cs typeface="Segoe UI"/>
              </a:rPr>
              <a:t>OS RESOURCE</a:t>
            </a:r>
            <a:r>
              <a:rPr lang="en-US" sz="1000" b="0" dirty="0">
                <a:solidFill>
                  <a:srgbClr val="CBD5E1"/>
                </a:solidFill>
                <a:latin typeface="Segoe UI"/>
                <a:ea typeface="Segoe UI"/>
                <a:cs typeface="Segoe UI"/>
              </a:rPr>
              <a:t>   file handle · DB connection · socket</a:t>
            </a:r>
            <a:endParaRPr lang="en-US" sz="1150" dirty="0"/>
          </a:p>
          <a:p>
            <a:pPr marL="0" indent="0" algn="ctr">
              <a:spcBef>
                <a:spcPts val="0"/>
              </a:spcBef>
              <a:spcAft>
                <a:spcPts val="0"/>
              </a:spcAft>
              <a:buNone/>
            </a:pPr>
            <a:r>
              <a:rPr lang="en-US" sz="1100" b="0" dirty="0">
                <a:solidFill>
                  <a:srgbClr val="E2E8F0"/>
                </a:solidFill>
                <a:latin typeface="Segoe UI"/>
                <a:ea typeface="Segoe UI"/>
                <a:cs typeface="Segoe UI"/>
              </a:rPr>
              <a:t>the GC does not know when you are done</a:t>
            </a:r>
            <a:endParaRPr lang="en-US" sz="1100" dirty="0"/>
          </a:p>
          <a:p>
            <a:pPr marL="0" indent="0" algn="ctr">
              <a:spcBef>
                <a:spcPts val="0"/>
              </a:spcBef>
              <a:spcAft>
                <a:spcPts val="0"/>
              </a:spcAft>
              <a:buNone/>
            </a:pPr>
            <a:r>
              <a:rPr lang="en-US" sz="1250" b="1" dirty="0">
                <a:solidFill>
                  <a:srgbClr val="FFFFFF"/>
                </a:solidFill>
                <a:latin typeface="Segoe UI"/>
                <a:ea typeface="Segoe UI"/>
                <a:cs typeface="Segoe UI"/>
              </a:rPr>
              <a:t>→ YOU free it manually: </a:t>
            </a:r>
            <a:r>
              <a:rPr lang="en-US" sz="1250" b="1" dirty="0">
                <a:solidFill>
                  <a:srgbClr val="FBBF24"/>
                </a:solidFill>
                <a:latin typeface="Consolas"/>
                <a:ea typeface="Consolas"/>
                <a:cs typeface="Consolas"/>
              </a:rPr>
              <a:t>Dispose()</a:t>
            </a:r>
            <a:endParaRPr lang="en-US" sz="1250" dirty="0"/>
          </a:p>
        </p:txBody>
      </p:sp>
      <p:sp>
        <p:nvSpPr>
          <p:cNvPr id="103" name="does"/>
          <p:cNvSpPr/>
          <p:nvPr/>
        </p:nvSpPr>
        <p:spPr>
          <a:xfrm>
            <a:off x="543154" y="2670048"/>
            <a:ext cx="5406390" cy="1481328"/>
          </a:xfrm>
          <a:prstGeom prst="roundRect">
            <a:avLst>
              <a:gd name="adj" fmla="val 12000"/>
            </a:avLst>
          </a:prstGeom>
          <a:solidFill>
            <a:srgbClr val="111B2E"/>
          </a:solidFill>
          <a:ln w="12700">
            <a:solidFill>
              <a:srgbClr val="34D399"/>
            </a:solidFill>
            <a:prstDash val="solid"/>
          </a:ln>
        </p:spPr>
        <p:txBody>
          <a:bodyPr wrap="square" lIns="182880" tIns="45720" rIns="91440" bIns="4572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WHAT Dispose() DOES  </a:t>
            </a:r>
            <a:r>
              <a:rPr lang="en-US" sz="1000" b="0" dirty="0">
                <a:solidFill>
                  <a:srgbClr val="CBD5E1"/>
                </a:solidFill>
                <a:latin typeface="Segoe UI"/>
                <a:ea typeface="Segoe UI"/>
                <a:cs typeface="Segoe UI"/>
              </a:rPr>
              <a:t>(StreamWriter)</a:t>
            </a:r>
            <a:endParaRPr lang="en-US" sz="1100" dirty="0"/>
          </a:p>
          <a:p>
            <a:pPr marL="0" indent="0" algn="l">
              <a:spcBef>
                <a:spcPts val="0"/>
              </a:spcBef>
              <a:spcAft>
                <a:spcPts val="0"/>
              </a:spcAft>
              <a:buNone/>
            </a:pPr>
            <a:endParaRPr lang="en-US" sz="500" dirty="0"/>
          </a:p>
          <a:p>
            <a:pPr marL="0" indent="0" algn="l">
              <a:spcBef>
                <a:spcPts val="0"/>
              </a:spcBef>
              <a:spcAft>
                <a:spcPts val="0"/>
              </a:spcAft>
              <a:buNone/>
            </a:pPr>
            <a:r>
              <a:rPr lang="en-US" sz="1200" b="1" dirty="0">
                <a:solidFill>
                  <a:srgbClr val="FFFFFF"/>
                </a:solidFill>
                <a:latin typeface="Segoe UI"/>
                <a:ea typeface="Segoe UI"/>
                <a:cs typeface="Segoe UI"/>
              </a:rPr>
              <a:t>1  Flush  </a:t>
            </a:r>
            <a:r>
              <a:rPr lang="en-US" sz="1050" b="0" dirty="0">
                <a:solidFill>
                  <a:srgbClr val="E2E8F0"/>
                </a:solidFill>
                <a:latin typeface="Segoe UI"/>
                <a:ea typeface="Segoe UI"/>
                <a:cs typeface="Segoe UI"/>
              </a:rPr>
              <a:t>push what is left in the buffer</a:t>
            </a:r>
            <a:endParaRPr lang="en-US" sz="1200" dirty="0"/>
          </a:p>
          <a:p>
            <a:pPr marL="0" indent="0" algn="l">
              <a:spcBef>
                <a:spcPts val="0"/>
              </a:spcBef>
              <a:spcAft>
                <a:spcPts val="0"/>
              </a:spcAft>
              <a:buNone/>
            </a:pPr>
            <a:r>
              <a:rPr lang="en-US" sz="1050" b="0" dirty="0">
                <a:solidFill>
                  <a:srgbClr val="E2E8F0"/>
                </a:solidFill>
                <a:latin typeface="Segoe UI"/>
                <a:ea typeface="Segoe UI"/>
                <a:cs typeface="Segoe UI"/>
              </a:rPr>
              <a:t>    to the underlying stream → the disk</a:t>
            </a:r>
            <a:endParaRPr lang="en-US" sz="1050" dirty="0"/>
          </a:p>
          <a:p>
            <a:pPr marL="0" indent="0" algn="l">
              <a:spcBef>
                <a:spcPts val="0"/>
              </a:spcBef>
              <a:spcAft>
                <a:spcPts val="0"/>
              </a:spcAft>
              <a:buNone/>
            </a:pPr>
            <a:endParaRPr lang="en-US" sz="500" dirty="0"/>
          </a:p>
          <a:p>
            <a:pPr marL="0" indent="0" algn="l">
              <a:spcBef>
                <a:spcPts val="0"/>
              </a:spcBef>
              <a:spcAft>
                <a:spcPts val="0"/>
              </a:spcAft>
              <a:buNone/>
            </a:pPr>
            <a:r>
              <a:rPr lang="en-US" sz="1200" b="1" dirty="0">
                <a:solidFill>
                  <a:srgbClr val="FFFFFF"/>
                </a:solidFill>
                <a:latin typeface="Segoe UI"/>
                <a:ea typeface="Segoe UI"/>
                <a:cs typeface="Segoe UI"/>
              </a:rPr>
              <a:t>2  Close  </a:t>
            </a:r>
            <a:r>
              <a:rPr lang="en-US" sz="1050" b="0" dirty="0">
                <a:solidFill>
                  <a:srgbClr val="E2E8F0"/>
                </a:solidFill>
                <a:latin typeface="Segoe UI"/>
                <a:ea typeface="Segoe UI"/>
                <a:cs typeface="Segoe UI"/>
              </a:rPr>
              <a:t>close the file, release the file handle</a:t>
            </a:r>
            <a:endParaRPr lang="en-US" sz="1200" dirty="0"/>
          </a:p>
          <a:p>
            <a:pPr marL="0" indent="0" algn="l">
              <a:spcBef>
                <a:spcPts val="0"/>
              </a:spcBef>
              <a:spcAft>
                <a:spcPts val="0"/>
              </a:spcAft>
              <a:buNone/>
            </a:pPr>
            <a:endParaRPr lang="en-US" sz="500" dirty="0"/>
          </a:p>
          <a:p>
            <a:pPr marL="0" indent="0" algn="l">
              <a:spcBef>
                <a:spcPts val="0"/>
              </a:spcBef>
              <a:spcAft>
                <a:spcPts val="0"/>
              </a:spcAft>
              <a:buNone/>
            </a:pPr>
            <a:r>
              <a:rPr lang="en-US" sz="950" b="0" dirty="0">
                <a:solidFill>
                  <a:srgbClr val="13D0F7"/>
                </a:solidFill>
                <a:latin typeface="Consolas"/>
                <a:ea typeface="Consolas"/>
                <a:cs typeface="Consolas"/>
              </a:rPr>
              <a:t>using StreamWriter w = new("audit.log");  </a:t>
            </a:r>
            <a:r>
              <a:rPr lang="en-US" sz="950" b="0" dirty="0">
                <a:solidFill>
                  <a:srgbClr val="94A3B8"/>
                </a:solidFill>
                <a:latin typeface="Consolas"/>
                <a:ea typeface="Consolas"/>
                <a:cs typeface="Consolas"/>
              </a:rPr>
              <a:t>// Dispose at the end</a:t>
            </a:r>
            <a:endParaRPr lang="en-US" sz="950" dirty="0"/>
          </a:p>
        </p:txBody>
      </p:sp>
      <p:sp>
        <p:nvSpPr>
          <p:cNvPr id="104" name="without"/>
          <p:cNvSpPr/>
          <p:nvPr/>
        </p:nvSpPr>
        <p:spPr>
          <a:xfrm>
            <a:off x="6223864" y="2670048"/>
            <a:ext cx="5406390" cy="1481328"/>
          </a:xfrm>
          <a:prstGeom prst="roundRect">
            <a:avLst>
              <a:gd name="adj" fmla="val 12000"/>
            </a:avLst>
          </a:prstGeom>
          <a:solidFill>
            <a:srgbClr val="111B2E"/>
          </a:solidFill>
          <a:ln w="12700">
            <a:solidFill>
              <a:srgbClr val="F87171"/>
            </a:solidFill>
            <a:prstDash val="solid"/>
          </a:ln>
        </p:spPr>
        <p:txBody>
          <a:bodyPr wrap="square" lIns="182880" tIns="45720" rIns="91440" bIns="45720" rtlCol="0" anchor="ctr">
            <a:noAutofit/>
          </a:bodyPr>
          <a:lstStyle/>
          <a:p>
            <a:pPr marL="0" indent="0" algn="l">
              <a:spcBef>
                <a:spcPts val="0"/>
              </a:spcBef>
              <a:spcAft>
                <a:spcPts val="0"/>
              </a:spcAft>
              <a:buNone/>
            </a:pPr>
            <a:r>
              <a:rPr lang="en-US" sz="1100" b="1" dirty="0">
                <a:solidFill>
                  <a:srgbClr val="F87171"/>
                </a:solidFill>
                <a:latin typeface="Segoe UI"/>
                <a:ea typeface="Segoe UI"/>
                <a:cs typeface="Segoe UI"/>
              </a:rPr>
              <a:t>WITHOUT Dispose()</a:t>
            </a:r>
            <a:endParaRPr lang="en-US" sz="1100" dirty="0"/>
          </a:p>
          <a:p>
            <a:pPr marL="0" indent="0" algn="l">
              <a:spcBef>
                <a:spcPts val="0"/>
              </a:spcBef>
              <a:spcAft>
                <a:spcPts val="0"/>
              </a:spcAft>
              <a:buNone/>
            </a:pPr>
            <a:endParaRPr lang="en-US" sz="500" dirty="0"/>
          </a:p>
          <a:p>
            <a:pPr marL="0" indent="0" algn="l">
              <a:spcBef>
                <a:spcPts val="0"/>
              </a:spcBef>
              <a:spcAft>
                <a:spcPts val="0"/>
              </a:spcAft>
              <a:buNone/>
            </a:pPr>
            <a:r>
              <a:rPr lang="en-US" sz="1050" b="1" dirty="0">
                <a:solidFill>
                  <a:srgbClr val="FFFFFF"/>
                </a:solidFill>
                <a:latin typeface="Segoe UI"/>
                <a:ea typeface="Segoe UI"/>
                <a:cs typeface="Segoe UI"/>
              </a:rPr>
              <a:t>✗  Data stuck in the buffer: </a:t>
            </a:r>
            <a:r>
              <a:rPr lang="en-US" sz="1050" b="0" dirty="0">
                <a:solidFill>
                  <a:srgbClr val="E2E8F0"/>
                </a:solidFill>
                <a:latin typeface="Segoe UI"/>
                <a:ea typeface="Segoe UI"/>
                <a:cs typeface="Segoe UI"/>
              </a:rPr>
              <a:t>our run 0 bytes on disk,</a:t>
            </a:r>
            <a:endParaRPr lang="en-US" sz="1050" dirty="0"/>
          </a:p>
          <a:p>
            <a:pPr marL="0" indent="0" algn="l">
              <a:spcBef>
                <a:spcPts val="0"/>
              </a:spcBef>
              <a:spcAft>
                <a:spcPts val="0"/>
              </a:spcAft>
              <a:buNone/>
            </a:pPr>
            <a:r>
              <a:rPr lang="en-US" sz="1050" b="0" dirty="0">
                <a:solidFill>
                  <a:srgbClr val="E2E8F0"/>
                </a:solidFill>
                <a:latin typeface="Segoe UI"/>
                <a:ea typeface="Segoe UI"/>
                <a:cs typeface="Segoe UI"/>
              </a:rPr>
              <a:t>     14 bytes only after Dispose</a:t>
            </a:r>
            <a:endParaRPr lang="en-US" sz="1050" dirty="0"/>
          </a:p>
          <a:p>
            <a:pPr marL="0" indent="0" algn="l">
              <a:spcBef>
                <a:spcPts val="0"/>
              </a:spcBef>
              <a:spcAft>
                <a:spcPts val="0"/>
              </a:spcAft>
              <a:buNone/>
            </a:pPr>
            <a:r>
              <a:rPr lang="en-US" sz="1050" b="1" dirty="0">
                <a:solidFill>
                  <a:srgbClr val="FFFFFF"/>
                </a:solidFill>
                <a:latin typeface="Segoe UI"/>
                <a:ea typeface="Segoe UI"/>
                <a:cs typeface="Segoe UI"/>
              </a:rPr>
              <a:t>✗  File stays open, can stay locked: </a:t>
            </a:r>
            <a:r>
              <a:rPr lang="en-US" sz="1000" b="0" dirty="0">
                <a:solidFill>
                  <a:srgbClr val="F87171"/>
                </a:solidFill>
                <a:latin typeface="Consolas"/>
                <a:ea typeface="Consolas"/>
                <a:cs typeface="Consolas"/>
              </a:rPr>
              <a:t>IOException</a:t>
            </a:r>
            <a:endParaRPr lang="en-US" sz="1050" dirty="0"/>
          </a:p>
          <a:p>
            <a:pPr marL="0" indent="0" algn="l">
              <a:spcBef>
                <a:spcPts val="0"/>
              </a:spcBef>
              <a:spcAft>
                <a:spcPts val="0"/>
              </a:spcAft>
              <a:buNone/>
            </a:pPr>
            <a:r>
              <a:rPr lang="en-US" sz="1000" b="0" dirty="0">
                <a:solidFill>
                  <a:srgbClr val="CBD5E1"/>
                </a:solidFill>
                <a:latin typeface="Segoe UI"/>
                <a:ea typeface="Segoe UI"/>
                <a:cs typeface="Segoe UI"/>
              </a:rPr>
              <a:t>     "being used by another process"</a:t>
            </a:r>
            <a:endParaRPr lang="en-US" sz="1000" dirty="0"/>
          </a:p>
          <a:p>
            <a:pPr marL="0" indent="0" algn="l">
              <a:spcBef>
                <a:spcPts val="0"/>
              </a:spcBef>
              <a:spcAft>
                <a:spcPts val="0"/>
              </a:spcAft>
              <a:buNone/>
            </a:pPr>
            <a:r>
              <a:rPr lang="en-US" sz="1050" b="1" dirty="0">
                <a:solidFill>
                  <a:srgbClr val="FFFFFF"/>
                </a:solidFill>
                <a:latin typeface="Segoe UI"/>
                <a:ea typeface="Segoe UI"/>
                <a:cs typeface="Segoe UI"/>
              </a:rPr>
              <a:t>✗  Under load: handles leak until the app fails</a:t>
            </a:r>
            <a:endParaRPr lang="en-US" sz="1050" dirty="0"/>
          </a:p>
        </p:txBody>
      </p:sp>
      <p:sp>
        <p:nvSpPr>
          <p:cNvPr id="105" name="dl"/>
          <p:cNvSpPr txBox="1"/>
          <p:nvPr/>
        </p:nvSpPr>
        <p:spPr>
          <a:xfrm>
            <a:off x="543154" y="4343400"/>
            <a:ext cx="1108710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DISPOSE IS DIFFERENT FOR EACH TYPE: IT FREES WHATEVER THAT TYPE HOLDS</a:t>
            </a:r>
            <a:endParaRPr lang="en-US" sz="1000" dirty="0"/>
          </a:p>
        </p:txBody>
      </p:sp>
      <p:sp>
        <p:nvSpPr>
          <p:cNvPr id="106" name="k0"/>
          <p:cNvSpPr/>
          <p:nvPr/>
        </p:nvSpPr>
        <p:spPr>
          <a:xfrm>
            <a:off x="543154" y="4663440"/>
            <a:ext cx="2634615" cy="914400"/>
          </a:xfrm>
          <a:prstGeom prst="roundRect">
            <a:avLst>
              <a:gd name="adj" fmla="val 12000"/>
            </a:avLst>
          </a:prstGeom>
          <a:solidFill>
            <a:srgbClr val="111B2E"/>
          </a:solidFill>
          <a:ln w="12700">
            <a:solidFill>
              <a:srgbClr val="34D399"/>
            </a:solidFill>
            <a:prstDash val="solid"/>
          </a:ln>
        </p:spPr>
        <p:txBody>
          <a:bodyPr wrap="square" lIns="118872" tIns="45720" rIns="91440" bIns="45720"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StreamWriter</a:t>
            </a:r>
            <a:endParaRPr lang="en-US" sz="1100" dirty="0"/>
          </a:p>
          <a:p>
            <a:pPr marL="0" indent="0" algn="l">
              <a:spcBef>
                <a:spcPts val="0"/>
              </a:spcBef>
              <a:spcAft>
                <a:spcPts val="0"/>
              </a:spcAft>
              <a:buNone/>
            </a:pPr>
            <a:r>
              <a:rPr lang="en-US" sz="1000" b="0" dirty="0">
                <a:solidFill>
                  <a:srgbClr val="E2E8F0"/>
                </a:solidFill>
                <a:latin typeface="Segoe UI"/>
                <a:ea typeface="Segoe UI"/>
                <a:cs typeface="Segoe UI"/>
              </a:rPr>
              <a:t>flush the buffer, close the file handle</a:t>
            </a:r>
            <a:endParaRPr lang="en-US" sz="1000" dirty="0"/>
          </a:p>
        </p:txBody>
      </p:sp>
      <p:sp>
        <p:nvSpPr>
          <p:cNvPr id="107" name="k1"/>
          <p:cNvSpPr/>
          <p:nvPr/>
        </p:nvSpPr>
        <p:spPr>
          <a:xfrm>
            <a:off x="3360649" y="4663440"/>
            <a:ext cx="2634615" cy="914400"/>
          </a:xfrm>
          <a:prstGeom prst="roundRect">
            <a:avLst>
              <a:gd name="adj" fmla="val 12000"/>
            </a:avLst>
          </a:prstGeom>
          <a:solidFill>
            <a:srgbClr val="111B2E"/>
          </a:solidFill>
          <a:ln w="12700">
            <a:solidFill>
              <a:srgbClr val="13D0F7"/>
            </a:solidFill>
            <a:prstDash val="solid"/>
          </a:ln>
        </p:spPr>
        <p:txBody>
          <a:bodyPr wrap="square" lIns="118872" tIns="45720" rIns="91440" bIns="45720"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SqlConnection</a:t>
            </a:r>
            <a:endParaRPr lang="en-US" sz="1100" dirty="0"/>
          </a:p>
          <a:p>
            <a:pPr marL="0" indent="0" algn="l">
              <a:spcBef>
                <a:spcPts val="0"/>
              </a:spcBef>
              <a:spcAft>
                <a:spcPts val="0"/>
              </a:spcAft>
              <a:buNone/>
            </a:pPr>
            <a:r>
              <a:rPr lang="en-US" sz="1000" b="0" dirty="0">
                <a:solidFill>
                  <a:srgbClr val="E2E8F0"/>
                </a:solidFill>
                <a:latin typeface="Segoe UI"/>
                <a:ea typeface="Segoe UI"/>
                <a:cs typeface="Segoe UI"/>
              </a:rPr>
              <a:t>close the connection → back to the connection pool</a:t>
            </a:r>
            <a:endParaRPr lang="en-US" sz="1000" dirty="0"/>
          </a:p>
        </p:txBody>
      </p:sp>
      <p:sp>
        <p:nvSpPr>
          <p:cNvPr id="108" name="k2"/>
          <p:cNvSpPr/>
          <p:nvPr/>
        </p:nvSpPr>
        <p:spPr>
          <a:xfrm>
            <a:off x="6178144" y="4663440"/>
            <a:ext cx="2634615" cy="914400"/>
          </a:xfrm>
          <a:prstGeom prst="roundRect">
            <a:avLst>
              <a:gd name="adj" fmla="val 12000"/>
            </a:avLst>
          </a:prstGeom>
          <a:solidFill>
            <a:srgbClr val="111B2E"/>
          </a:solidFill>
          <a:ln w="12700">
            <a:solidFill>
              <a:srgbClr val="A78BFA"/>
            </a:solidFill>
            <a:prstDash val="solid"/>
          </a:ln>
        </p:spPr>
        <p:txBody>
          <a:bodyPr wrap="square" lIns="118872" tIns="45720" rIns="91440" bIns="45720" rtlCol="0" anchor="ctr">
            <a:noAutofit/>
          </a:bodyPr>
          <a:lstStyle/>
          <a:p>
            <a:pPr marL="0" indent="0" algn="l">
              <a:spcBef>
                <a:spcPts val="0"/>
              </a:spcBef>
              <a:spcAft>
                <a:spcPts val="0"/>
              </a:spcAft>
              <a:buNone/>
            </a:pPr>
            <a:r>
              <a:rPr lang="en-US" sz="1100" b="1" dirty="0">
                <a:solidFill>
                  <a:srgbClr val="A78BFA"/>
                </a:solidFill>
                <a:latin typeface="Consolas"/>
                <a:ea typeface="Consolas"/>
                <a:cs typeface="Consolas"/>
              </a:rPr>
              <a:t>DbContext</a:t>
            </a:r>
            <a:endParaRPr lang="en-US" sz="1100" dirty="0"/>
          </a:p>
          <a:p>
            <a:pPr marL="0" indent="0" algn="l">
              <a:spcBef>
                <a:spcPts val="0"/>
              </a:spcBef>
              <a:spcAft>
                <a:spcPts val="0"/>
              </a:spcAft>
              <a:buNone/>
            </a:pPr>
            <a:r>
              <a:rPr lang="en-US" sz="1000" b="0" dirty="0">
                <a:solidFill>
                  <a:srgbClr val="E2E8F0"/>
                </a:solidFill>
                <a:latin typeface="Segoe UI"/>
                <a:ea typeface="Segoe UI"/>
                <a:cs typeface="Segoe UI"/>
              </a:rPr>
              <a:t>release its DB connection and the tracked entities</a:t>
            </a:r>
            <a:endParaRPr lang="en-US" sz="1000" dirty="0"/>
          </a:p>
        </p:txBody>
      </p:sp>
      <p:sp>
        <p:nvSpPr>
          <p:cNvPr id="109" name="k3"/>
          <p:cNvSpPr/>
          <p:nvPr/>
        </p:nvSpPr>
        <p:spPr>
          <a:xfrm>
            <a:off x="8995639" y="4663440"/>
            <a:ext cx="2634615" cy="914400"/>
          </a:xfrm>
          <a:prstGeom prst="roundRect">
            <a:avLst>
              <a:gd name="adj" fmla="val 12000"/>
            </a:avLst>
          </a:prstGeom>
          <a:solidFill>
            <a:srgbClr val="111B2E"/>
          </a:solidFill>
          <a:ln w="12700">
            <a:solidFill>
              <a:srgbClr val="FBBF24"/>
            </a:solidFill>
            <a:prstDash val="solid"/>
          </a:ln>
        </p:spPr>
        <p:txBody>
          <a:bodyPr wrap="square" lIns="118872" tIns="45720" rIns="91440" bIns="45720" rtlCol="0" anchor="ctr">
            <a:noAutofit/>
          </a:bodyPr>
          <a:lstStyle/>
          <a:p>
            <a:pPr marL="0" indent="0" algn="l">
              <a:spcBef>
                <a:spcPts val="0"/>
              </a:spcBef>
              <a:spcAft>
                <a:spcPts val="0"/>
              </a:spcAft>
              <a:buNone/>
            </a:pPr>
            <a:r>
              <a:rPr lang="en-US" sz="1100" b="1" dirty="0">
                <a:solidFill>
                  <a:srgbClr val="FBBF24"/>
                </a:solidFill>
                <a:latin typeface="Consolas"/>
                <a:ea typeface="Consolas"/>
                <a:cs typeface="Consolas"/>
              </a:rPr>
              <a:t>HttpResponseMessage</a:t>
            </a:r>
            <a:endParaRPr lang="en-US" sz="1100" dirty="0"/>
          </a:p>
          <a:p>
            <a:pPr marL="0" indent="0" algn="l">
              <a:spcBef>
                <a:spcPts val="0"/>
              </a:spcBef>
              <a:spcAft>
                <a:spcPts val="0"/>
              </a:spcAft>
              <a:buNone/>
            </a:pPr>
            <a:r>
              <a:rPr lang="en-US" sz="1000" b="0" dirty="0">
                <a:solidFill>
                  <a:srgbClr val="E2E8F0"/>
                </a:solidFill>
                <a:latin typeface="Segoe UI"/>
                <a:ea typeface="Segoe UI"/>
                <a:cs typeface="Segoe UI"/>
              </a:rPr>
              <a:t>free the response stream and the network connection</a:t>
            </a:r>
            <a:endParaRPr lang="en-US" sz="1000" dirty="0"/>
          </a:p>
        </p:txBody>
      </p:sp>
    </p:spTree>
    <p:extLst>
      <p:ext uri="{BB962C8B-B14F-4D97-AF65-F5344CB8AC3E}">
        <p14:creationId xmlns:p14="http://schemas.microsoft.com/office/powerpoint/2010/main" val="253748970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400"/>
                                        <p:tgtEl>
                                          <p:spTgt spid="10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400"/>
                                        <p:tgtEl>
                                          <p:spTgt spid="105"/>
                                        </p:tgtEl>
                                      </p:cBhvr>
                                    </p:animEffect>
                                  </p:childTnLst>
                                </p:cTn>
                              </p:par>
                            </p:childTnLst>
                          </p:cTn>
                        </p:par>
                        <p:par>
                          <p:cTn id="28" fill="hold">
                            <p:stCondLst>
                              <p:cond delay="400"/>
                            </p:stCondLst>
                            <p:childTnLst>
                              <p:par>
                                <p:cTn id="29" presetID="10" presetClass="entr" presetSubtype="0" fill="hold" grpId="0" nodeType="after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200"/>
                                        <p:tgtEl>
                                          <p:spTgt spid="106"/>
                                        </p:tgtEl>
                                      </p:cBhvr>
                                    </p:animEffect>
                                  </p:childTnLst>
                                </p:cTn>
                              </p:par>
                            </p:childTnLst>
                          </p:cTn>
                        </p:par>
                        <p:par>
                          <p:cTn id="32" fill="hold">
                            <p:stCondLst>
                              <p:cond delay="600"/>
                            </p:stCondLst>
                            <p:childTnLst>
                              <p:par>
                                <p:cTn id="33" presetID="10" presetClass="entr" presetSubtype="0" fill="hold" grpId="0" nodeType="afterEffect">
                                  <p:stCondLst>
                                    <p:cond delay="0"/>
                                  </p:stCondLst>
                                  <p:childTnLst>
                                    <p:set>
                                      <p:cBhvr>
                                        <p:cTn id="34" dur="1" fill="hold">
                                          <p:stCondLst>
                                            <p:cond delay="0"/>
                                          </p:stCondLst>
                                        </p:cTn>
                                        <p:tgtEl>
                                          <p:spTgt spid="107"/>
                                        </p:tgtEl>
                                        <p:attrNameLst>
                                          <p:attrName>style.visibility</p:attrName>
                                        </p:attrNameLst>
                                      </p:cBhvr>
                                      <p:to>
                                        <p:strVal val="visible"/>
                                      </p:to>
                                    </p:set>
                                    <p:animEffect transition="in" filter="fade">
                                      <p:cBhvr>
                                        <p:cTn id="35" dur="200"/>
                                        <p:tgtEl>
                                          <p:spTgt spid="107"/>
                                        </p:tgtEl>
                                      </p:cBhvr>
                                    </p:animEffect>
                                  </p:childTnLst>
                                </p:cTn>
                              </p:par>
                            </p:childTnLst>
                          </p:cTn>
                        </p:par>
                        <p:par>
                          <p:cTn id="36" fill="hold">
                            <p:stCondLst>
                              <p:cond delay="800"/>
                            </p:stCondLst>
                            <p:childTnLst>
                              <p:par>
                                <p:cTn id="37" presetID="10" presetClass="entr" presetSubtype="0" fill="hold" grpId="0" nodeType="afterEffect">
                                  <p:stCondLst>
                                    <p:cond delay="0"/>
                                  </p:stCondLst>
                                  <p:childTnLst>
                                    <p:set>
                                      <p:cBhvr>
                                        <p:cTn id="38" dur="1" fill="hold">
                                          <p:stCondLst>
                                            <p:cond delay="0"/>
                                          </p:stCondLst>
                                        </p:cTn>
                                        <p:tgtEl>
                                          <p:spTgt spid="108"/>
                                        </p:tgtEl>
                                        <p:attrNameLst>
                                          <p:attrName>style.visibility</p:attrName>
                                        </p:attrNameLst>
                                      </p:cBhvr>
                                      <p:to>
                                        <p:strVal val="visible"/>
                                      </p:to>
                                    </p:set>
                                    <p:animEffect transition="in" filter="fade">
                                      <p:cBhvr>
                                        <p:cTn id="39" dur="200"/>
                                        <p:tgtEl>
                                          <p:spTgt spid="108"/>
                                        </p:tgtEl>
                                      </p:cBhvr>
                                    </p:animEffect>
                                  </p:childTnLst>
                                </p:cTn>
                              </p:par>
                            </p:childTnLst>
                          </p:cTn>
                        </p:par>
                        <p:par>
                          <p:cTn id="40" fill="hold">
                            <p:stCondLst>
                              <p:cond delay="1000"/>
                            </p:stCondLst>
                            <p:childTnLst>
                              <p:par>
                                <p:cTn id="41" presetID="10" presetClass="entr" presetSubtype="0" fill="hold" grpId="0" nodeType="after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2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P spid="107" grpId="0" animBg="1"/>
      <p:bldP spid="108" grpId="0" animBg="1"/>
      <p:bldP spid="10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IDISPOSABLE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Why IDisposable? A File Is an OS Resource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IDISPOSABLE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20</a:t>
            </a:r>
            <a:endParaRPr lang="en-US" sz="850" dirty="0"/>
          </a:p>
        </p:txBody>
      </p:sp>
      <p:sp>
        <p:nvSpPr>
          <p:cNvPr id="101" name="proc"/>
          <p:cNvSpPr/>
          <p:nvPr/>
        </p:nvSpPr>
        <p:spPr>
          <a:xfrm>
            <a:off x="543154" y="1600200"/>
            <a:ext cx="4572000" cy="2377440"/>
          </a:xfrm>
          <a:prstGeom prst="roundRect">
            <a:avLst>
              <a:gd name="adj" fmla="val 12000"/>
            </a:avLst>
          </a:prstGeom>
          <a:solidFill>
            <a:srgbClr val="111B2E"/>
          </a:solidFill>
          <a:ln w="12700">
            <a:solidFill>
              <a:srgbClr val="13D0F7"/>
            </a:solidFill>
            <a:prstDash val="solid"/>
          </a:ln>
        </p:spPr>
        <p:txBody>
          <a:bodyPr wrap="square" lIns="137160" tIns="91440" rIns="137160" bIns="91440" rtlCol="0" anchor="t">
            <a:noAutofit/>
          </a:bodyPr>
          <a:lstStyle/>
          <a:p>
            <a:pPr marL="0" indent="0" algn="ctr">
              <a:spcBef>
                <a:spcPts val="0"/>
              </a:spcBef>
              <a:spcAft>
                <a:spcPts val="0"/>
              </a:spcAft>
              <a:buNone/>
            </a:pPr>
            <a:r>
              <a:rPr lang="en-US" sz="1200" b="1" dirty="0">
                <a:solidFill>
                  <a:srgbClr val="13D0F7"/>
                </a:solidFill>
                <a:latin typeface="Segoe UI"/>
                <a:ea typeface="Segoe UI"/>
                <a:cs typeface="Segoe UI"/>
              </a:rPr>
              <a:t>SwiftBite process</a:t>
            </a:r>
            <a:endParaRPr lang="en-US" sz="1200" dirty="0"/>
          </a:p>
        </p:txBody>
      </p:sp>
      <p:sp>
        <p:nvSpPr>
          <p:cNvPr id="102" name="mem"/>
          <p:cNvSpPr/>
          <p:nvPr/>
        </p:nvSpPr>
        <p:spPr>
          <a:xfrm>
            <a:off x="731520" y="2011680"/>
            <a:ext cx="2011680" cy="91440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MEMORY</a:t>
            </a:r>
            <a:endParaRPr lang="en-US" sz="1050" dirty="0"/>
          </a:p>
          <a:p>
            <a:pPr marL="0" indent="0" algn="ctr">
              <a:spcBef>
                <a:spcPts val="0"/>
              </a:spcBef>
              <a:spcAft>
                <a:spcPts val="0"/>
              </a:spcAft>
              <a:buNone/>
            </a:pPr>
            <a:r>
              <a:rPr lang="en-US" sz="1000" b="0" dirty="0">
                <a:solidFill>
                  <a:srgbClr val="CBD5E1"/>
                </a:solidFill>
                <a:latin typeface="Segoe UI"/>
                <a:ea typeface="Segoe UI"/>
                <a:cs typeface="Segoe UI"/>
              </a:rPr>
              <a:t>the GC frees it,</a:t>
            </a:r>
            <a:endParaRPr lang="en-US" sz="1000" dirty="0"/>
          </a:p>
          <a:p>
            <a:pPr marL="0" indent="0" algn="ctr">
              <a:spcBef>
                <a:spcPts val="0"/>
              </a:spcBef>
              <a:spcAft>
                <a:spcPts val="0"/>
              </a:spcAft>
              <a:buNone/>
            </a:pPr>
            <a:r>
              <a:rPr lang="en-US" sz="1000" b="0" dirty="0">
                <a:solidFill>
                  <a:srgbClr val="CBD5E1"/>
                </a:solidFill>
                <a:latin typeface="Segoe UI"/>
                <a:ea typeface="Segoe UI"/>
                <a:cs typeface="Segoe UI"/>
              </a:rPr>
              <a:t>some time later</a:t>
            </a:r>
            <a:endParaRPr lang="en-US" sz="1000" dirty="0"/>
          </a:p>
        </p:txBody>
      </p:sp>
      <p:sp>
        <p:nvSpPr>
          <p:cNvPr id="103" name="hnd"/>
          <p:cNvSpPr/>
          <p:nvPr/>
        </p:nvSpPr>
        <p:spPr>
          <a:xfrm>
            <a:off x="2926080" y="2011680"/>
            <a:ext cx="2011680" cy="914400"/>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HANDLES</a:t>
            </a:r>
            <a:endParaRPr lang="en-US" sz="1050" dirty="0"/>
          </a:p>
          <a:p>
            <a:pPr marL="0" indent="0" algn="ctr">
              <a:spcBef>
                <a:spcPts val="0"/>
              </a:spcBef>
              <a:spcAft>
                <a:spcPts val="0"/>
              </a:spcAft>
              <a:buNone/>
            </a:pPr>
            <a:r>
              <a:rPr lang="en-US" sz="1000" b="0" dirty="0">
                <a:solidFill>
                  <a:srgbClr val="CBD5E1"/>
                </a:solidFill>
                <a:latin typeface="Segoe UI"/>
                <a:ea typeface="Segoe UI"/>
                <a:cs typeface="Segoe UI"/>
              </a:rPr>
              <a:t>the OS waits for</a:t>
            </a:r>
            <a:endParaRPr lang="en-US" sz="1000" dirty="0"/>
          </a:p>
          <a:p>
            <a:pPr marL="0" indent="0" algn="ctr">
              <a:spcBef>
                <a:spcPts val="0"/>
              </a:spcBef>
              <a:spcAft>
                <a:spcPts val="0"/>
              </a:spcAft>
              <a:buNone/>
            </a:pPr>
            <a:r>
              <a:rPr lang="en-US" sz="1000" b="0" dirty="0">
                <a:solidFill>
                  <a:srgbClr val="CBD5E1"/>
                </a:solidFill>
                <a:latin typeface="Segoe UI"/>
                <a:ea typeface="Segoe UI"/>
                <a:cs typeface="Segoe UI"/>
              </a:rPr>
              <a:t>YOU to give them back</a:t>
            </a:r>
            <a:endParaRPr lang="en-US" sz="1000" dirty="0"/>
          </a:p>
        </p:txBody>
      </p:sp>
      <p:sp>
        <p:nvSpPr>
          <p:cNvPr id="104" name="h1"/>
          <p:cNvSpPr/>
          <p:nvPr/>
        </p:nvSpPr>
        <p:spPr>
          <a:xfrm>
            <a:off x="2926080" y="3090672"/>
            <a:ext cx="2011680" cy="365760"/>
          </a:xfrm>
          <a:prstGeom prst="roundRect">
            <a:avLst>
              <a:gd name="adj" fmla="val 12000"/>
            </a:avLst>
          </a:prstGeom>
          <a:solidFill>
            <a:srgbClr val="FBBF24"/>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0F172A"/>
                </a:solidFill>
                <a:latin typeface="Consolas"/>
                <a:ea typeface="Consolas"/>
                <a:cs typeface="Consolas"/>
              </a:rPr>
              <a:t>handle → audit.log</a:t>
            </a:r>
            <a:endParaRPr lang="en-US" sz="1000" dirty="0"/>
          </a:p>
        </p:txBody>
      </p:sp>
      <p:sp>
        <p:nvSpPr>
          <p:cNvPr id="105" name="lock"/>
          <p:cNvSpPr/>
          <p:nvPr/>
        </p:nvSpPr>
        <p:spPr>
          <a:xfrm>
            <a:off x="731520" y="3090672"/>
            <a:ext cx="2011680" cy="365760"/>
          </a:xfrm>
          <a:prstGeom prst="roundRect">
            <a:avLst>
              <a:gd name="adj" fmla="val 12000"/>
            </a:avLst>
          </a:prstGeom>
          <a:solidFill>
            <a:srgbClr val="F87171">
              <a:alpha val="16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F87171"/>
                </a:solidFill>
                <a:latin typeface="Consolas"/>
                <a:ea typeface="Consolas"/>
                <a:cs typeface="Consolas"/>
              </a:rPr>
              <a:t>audit.log: LOCKED</a:t>
            </a:r>
            <a:endParaRPr lang="en-US" sz="1000" dirty="0"/>
          </a:p>
        </p:txBody>
      </p:sp>
      <p:sp>
        <p:nvSpPr>
          <p:cNvPr id="106" name="free"/>
          <p:cNvSpPr/>
          <p:nvPr/>
        </p:nvSpPr>
        <p:spPr>
          <a:xfrm>
            <a:off x="731520" y="3502152"/>
            <a:ext cx="4206240" cy="365760"/>
          </a:xfrm>
          <a:prstGeom prst="roundRect">
            <a:avLst>
              <a:gd name="adj" fmla="val 12000"/>
            </a:avLst>
          </a:prstGeom>
          <a:solidFill>
            <a:srgbClr val="34D399">
              <a:alpha val="16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Dispose(): handle returned, file free</a:t>
            </a:r>
            <a:endParaRPr lang="en-US" sz="1000" dirty="0"/>
          </a:p>
        </p:txBody>
      </p:sp>
      <p:grpSp>
        <p:nvGrpSpPr>
          <p:cNvPr id="121" name="code"/>
          <p:cNvGrpSpPr/>
          <p:nvPr/>
        </p:nvGrpSpPr>
        <p:grpSpPr>
          <a:xfrm>
            <a:off x="5349240" y="1572768"/>
            <a:ext cx="6281014" cy="2333260"/>
            <a:chOff x="5349240" y="1572768"/>
            <a:chExt cx="6281014" cy="2333260"/>
          </a:xfrm>
        </p:grpSpPr>
        <p:sp>
          <p:nvSpPr>
            <p:cNvPr id="107" name="code_win"/>
            <p:cNvSpPr/>
            <p:nvPr/>
          </p:nvSpPr>
          <p:spPr>
            <a:xfrm>
              <a:off x="5349240" y="1572768"/>
              <a:ext cx="6281014" cy="2333260"/>
            </a:xfrm>
            <a:prstGeom prst="roundRect">
              <a:avLst>
                <a:gd name="adj" fmla="val 2938"/>
              </a:avLst>
            </a:prstGeom>
            <a:solidFill>
              <a:srgbClr val="060D18"/>
            </a:solidFill>
            <a:ln w="12700">
              <a:solidFill>
                <a:srgbClr val="1E3A5F"/>
              </a:solidFill>
              <a:prstDash val="solid"/>
            </a:ln>
          </p:spPr>
          <p:txBody>
            <a:bodyPr/>
            <a:lstStyle/>
            <a:p>
              <a:endParaRPr lang="en-US"/>
            </a:p>
          </p:txBody>
        </p:sp>
        <p:sp>
          <p:nvSpPr>
            <p:cNvPr id="108" name="code_bar"/>
            <p:cNvSpPr/>
            <p:nvPr/>
          </p:nvSpPr>
          <p:spPr>
            <a:xfrm>
              <a:off x="5349240" y="1572768"/>
              <a:ext cx="628101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9" name="code_barfill"/>
            <p:cNvSpPr/>
            <p:nvPr/>
          </p:nvSpPr>
          <p:spPr>
            <a:xfrm>
              <a:off x="5349240" y="1744218"/>
              <a:ext cx="6281014" cy="171450"/>
            </a:xfrm>
            <a:prstGeom prst="rect">
              <a:avLst/>
            </a:prstGeom>
            <a:solidFill>
              <a:srgbClr val="0A1220"/>
            </a:solidFill>
            <a:ln w="12700">
              <a:solidFill>
                <a:srgbClr val="0A1220"/>
              </a:solidFill>
              <a:prstDash val="solid"/>
            </a:ln>
          </p:spPr>
          <p:txBody>
            <a:bodyPr/>
            <a:lstStyle/>
            <a:p>
              <a:endParaRPr lang="en-US"/>
            </a:p>
          </p:txBody>
        </p:sp>
        <p:sp>
          <p:nvSpPr>
            <p:cNvPr id="110" name="code_dot0"/>
            <p:cNvSpPr/>
            <p:nvPr/>
          </p:nvSpPr>
          <p:spPr>
            <a:xfrm>
              <a:off x="551108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11" name="code_dot1"/>
            <p:cNvSpPr/>
            <p:nvPr/>
          </p:nvSpPr>
          <p:spPr>
            <a:xfrm>
              <a:off x="569671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12" name="code_dot2"/>
            <p:cNvSpPr/>
            <p:nvPr/>
          </p:nvSpPr>
          <p:spPr>
            <a:xfrm>
              <a:off x="588233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13" name="code_tab"/>
            <p:cNvSpPr/>
            <p:nvPr/>
          </p:nvSpPr>
          <p:spPr>
            <a:xfrm>
              <a:off x="6130137"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14" name="code_L00"/>
            <p:cNvSpPr txBox="1"/>
            <p:nvPr/>
          </p:nvSpPr>
          <p:spPr>
            <a:xfrm>
              <a:off x="5577840" y="2048668"/>
              <a:ext cx="598101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FileStream open = File.Open(</a:t>
              </a:r>
              <a:r>
                <a:rPr lang="en-US" sz="950" b="0" dirty="0">
                  <a:solidFill>
                    <a:srgbClr val="F0A98B"/>
                  </a:solidFill>
                  <a:latin typeface="Consolas"/>
                  <a:ea typeface="Consolas"/>
                  <a:cs typeface="Consolas"/>
                </a:rPr>
                <a:t>"audit.log"</a:t>
              </a:r>
              <a:r>
                <a:rPr lang="en-US" sz="950" b="0" dirty="0">
                  <a:solidFill>
                    <a:srgbClr val="E2E8F0"/>
                  </a:solidFill>
                  <a:latin typeface="Consolas"/>
                  <a:ea typeface="Consolas"/>
                  <a:cs typeface="Consolas"/>
                </a:rPr>
                <a:t>, FileMode.Open,</a:t>
              </a:r>
              <a:endParaRPr lang="en-US" sz="950" dirty="0"/>
            </a:p>
          </p:txBody>
        </p:sp>
        <p:sp>
          <p:nvSpPr>
            <p:cNvPr id="115" name="code_L01"/>
            <p:cNvSpPr txBox="1"/>
            <p:nvPr/>
          </p:nvSpPr>
          <p:spPr>
            <a:xfrm>
              <a:off x="5577840" y="2241708"/>
              <a:ext cx="5981014" cy="193040"/>
            </a:xfrm>
            <a:prstGeom prst="rect">
              <a:avLst/>
            </a:prstGeom>
            <a:noFill/>
            <a:ln>
              <a:noFill/>
            </a:ln>
          </p:spPr>
          <p:txBody>
            <a:bodyPr wrap="none" lIns="0" tIns="0" rIns="0" bIns="0" rtlCol="0" anchor="ctr">
              <a:noAutofit/>
            </a:bodyPr>
            <a:lstStyle/>
            <a:p>
              <a:pPr marL="1858010" indent="0" algn="l">
                <a:spcBef>
                  <a:spcPts val="0"/>
                </a:spcBef>
                <a:spcAft>
                  <a:spcPts val="0"/>
                </a:spcAft>
                <a:buNone/>
              </a:pPr>
              <a:r>
                <a:rPr lang="en-US" sz="950" b="0" dirty="0">
                  <a:solidFill>
                    <a:srgbClr val="E2E8F0"/>
                  </a:solidFill>
                  <a:latin typeface="Consolas"/>
                  <a:ea typeface="Consolas"/>
                  <a:cs typeface="Consolas"/>
                </a:rPr>
                <a:t>FileAccess.ReadWrite, FileShare.None);</a:t>
              </a:r>
              <a:endParaRPr lang="en-US" sz="950" dirty="0"/>
            </a:p>
          </p:txBody>
        </p:sp>
        <p:sp>
          <p:nvSpPr>
            <p:cNvPr id="116" name="code_L03"/>
            <p:cNvSpPr txBox="1"/>
            <p:nvPr/>
          </p:nvSpPr>
          <p:spPr>
            <a:xfrm>
              <a:off x="5577840" y="2627788"/>
              <a:ext cx="598101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File.ReadAllText(</a:t>
              </a:r>
              <a:r>
                <a:rPr lang="en-US" sz="950" b="0" dirty="0">
                  <a:solidFill>
                    <a:srgbClr val="F0A98B"/>
                  </a:solidFill>
                  <a:latin typeface="Consolas"/>
                  <a:ea typeface="Consolas"/>
                  <a:cs typeface="Consolas"/>
                </a:rPr>
                <a:t>"audit.log"</a:t>
              </a:r>
              <a:r>
                <a:rPr lang="en-US" sz="950" b="0" dirty="0">
                  <a:solidFill>
                    <a:srgbClr val="E2E8F0"/>
                  </a:solidFill>
                  <a:latin typeface="Consolas"/>
                  <a:ea typeface="Consolas"/>
                  <a:cs typeface="Consolas"/>
                </a:rPr>
                <a:t>);</a:t>
              </a:r>
              <a:endParaRPr lang="en-US" sz="950" dirty="0"/>
            </a:p>
          </p:txBody>
        </p:sp>
        <p:sp>
          <p:nvSpPr>
            <p:cNvPr id="117" name="code_L04"/>
            <p:cNvSpPr txBox="1"/>
            <p:nvPr/>
          </p:nvSpPr>
          <p:spPr>
            <a:xfrm>
              <a:off x="5577840" y="2820828"/>
              <a:ext cx="598101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IOException: The process cannot access the file</a:t>
              </a:r>
              <a:endParaRPr lang="en-US" sz="950" dirty="0"/>
            </a:p>
          </p:txBody>
        </p:sp>
        <p:sp>
          <p:nvSpPr>
            <p:cNvPr id="118" name="code_L05"/>
            <p:cNvSpPr txBox="1"/>
            <p:nvPr/>
          </p:nvSpPr>
          <p:spPr>
            <a:xfrm>
              <a:off x="5577840" y="3013868"/>
              <a:ext cx="598101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'audit.log' because it is being used by another process.</a:t>
              </a:r>
              <a:endParaRPr lang="en-US" sz="950" dirty="0"/>
            </a:p>
          </p:txBody>
        </p:sp>
        <p:sp>
          <p:nvSpPr>
            <p:cNvPr id="119" name="code_L07"/>
            <p:cNvSpPr txBox="1"/>
            <p:nvPr/>
          </p:nvSpPr>
          <p:spPr>
            <a:xfrm>
              <a:off x="5577840" y="3399948"/>
              <a:ext cx="598101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open.Dispose();                 </a:t>
              </a:r>
              <a:r>
                <a:rPr lang="en-US" sz="950" b="0" dirty="0">
                  <a:solidFill>
                    <a:srgbClr val="6FAE7A"/>
                  </a:solidFill>
                  <a:latin typeface="Consolas"/>
                  <a:ea typeface="Consolas"/>
                  <a:cs typeface="Consolas"/>
                </a:rPr>
                <a:t>// give the handle back</a:t>
              </a:r>
              <a:endParaRPr lang="en-US" sz="950" dirty="0"/>
            </a:p>
          </p:txBody>
        </p:sp>
        <p:sp>
          <p:nvSpPr>
            <p:cNvPr id="120" name="code_L08"/>
            <p:cNvSpPr txBox="1"/>
            <p:nvPr/>
          </p:nvSpPr>
          <p:spPr>
            <a:xfrm>
              <a:off x="5577840" y="3592988"/>
              <a:ext cx="598101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File.ReadAllText(</a:t>
              </a:r>
              <a:r>
                <a:rPr lang="en-US" sz="950" b="0" dirty="0">
                  <a:solidFill>
                    <a:srgbClr val="F0A98B"/>
                  </a:solidFill>
                  <a:latin typeface="Consolas"/>
                  <a:ea typeface="Consolas"/>
                  <a:cs typeface="Consolas"/>
                </a:rPr>
                <a:t>"audit.log"</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works</a:t>
              </a:r>
              <a:endParaRPr lang="en-US" sz="950" dirty="0"/>
            </a:p>
          </p:txBody>
        </p:sp>
      </p:grpSp>
      <p:sp>
        <p:nvSpPr>
          <p:cNvPr id="122" name="code_hl3"/>
          <p:cNvSpPr/>
          <p:nvPr/>
        </p:nvSpPr>
        <p:spPr>
          <a:xfrm>
            <a:off x="5482742" y="2609500"/>
            <a:ext cx="6014014"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3" name="code_hl7"/>
          <p:cNvSpPr/>
          <p:nvPr/>
        </p:nvSpPr>
        <p:spPr>
          <a:xfrm>
            <a:off x="5482742" y="3381660"/>
            <a:ext cx="6014014"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24" name="k1"/>
          <p:cNvSpPr/>
          <p:nvPr/>
        </p:nvSpPr>
        <p:spPr>
          <a:xfrm>
            <a:off x="543154" y="4114800"/>
            <a:ext cx="4572000" cy="914400"/>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THE GC IS NOT ENOUGH</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It frees memory, someday. It does not know a file is locked right now.</a:t>
            </a:r>
            <a:endParaRPr lang="en-US" sz="1150" dirty="0"/>
          </a:p>
        </p:txBody>
      </p:sp>
      <p:sp>
        <p:nvSpPr>
          <p:cNvPr id="125" name="k2"/>
          <p:cNvSpPr/>
          <p:nvPr/>
        </p:nvSpPr>
        <p:spPr>
          <a:xfrm>
            <a:off x="5349240" y="4114800"/>
            <a:ext cx="6281014" cy="91440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public interface IDisposable { void Dispose(); }</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FileStream · StreamReader/Writer · HttpResponseMessage · DbContext · SemaphoreSlim · CancellationTokenSource</a:t>
            </a:r>
            <a:endParaRPr lang="en-US" sz="1100" dirty="0"/>
          </a:p>
        </p:txBody>
      </p:sp>
      <p:sp>
        <p:nvSpPr>
          <p:cNvPr id="126" name="b"/>
          <p:cNvSpPr/>
          <p:nvPr/>
        </p:nvSpPr>
        <p:spPr>
          <a:xfrm>
            <a:off x="543154" y="5166360"/>
            <a:ext cx="11087100" cy="640080"/>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IDisposable means: "I hold something the GC cannot release on time. Call Dispose when you are done."</a:t>
            </a:r>
            <a:endParaRPr lang="en-US" sz="1400" dirty="0"/>
          </a:p>
        </p:txBody>
      </p:sp>
    </p:spTree>
    <p:extLst>
      <p:ext uri="{BB962C8B-B14F-4D97-AF65-F5344CB8AC3E}">
        <p14:creationId xmlns:p14="http://schemas.microsoft.com/office/powerpoint/2010/main" val="50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400"/>
                                        <p:tgtEl>
                                          <p:spTgt spid="10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400"/>
                                        <p:tgtEl>
                                          <p:spTgt spid="10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1"/>
                                        </p:tgtEl>
                                        <p:attrNameLst>
                                          <p:attrName>style.visibility</p:attrName>
                                        </p:attrNameLst>
                                      </p:cBhvr>
                                      <p:to>
                                        <p:strVal val="visible"/>
                                      </p:to>
                                    </p:set>
                                    <p:animEffect transition="in" filter="fade">
                                      <p:cBhvr>
                                        <p:cTn id="18" dur="400"/>
                                        <p:tgtEl>
                                          <p:spTgt spid="1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2"/>
                                        </p:tgtEl>
                                        <p:attrNameLst>
                                          <p:attrName>style.visibility</p:attrName>
                                        </p:attrNameLst>
                                      </p:cBhvr>
                                      <p:to>
                                        <p:strVal val="visible"/>
                                      </p:to>
                                    </p:set>
                                    <p:animEffect transition="in" filter="fade">
                                      <p:cBhvr>
                                        <p:cTn id="21" dur="400"/>
                                        <p:tgtEl>
                                          <p:spTgt spid="1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3"/>
                                        </p:tgtEl>
                                        <p:attrNameLst>
                                          <p:attrName>style.visibility</p:attrName>
                                        </p:attrNameLst>
                                      </p:cBhvr>
                                      <p:to>
                                        <p:strVal val="visible"/>
                                      </p:to>
                                    </p:set>
                                    <p:animEffect transition="in" filter="fade">
                                      <p:cBhvr>
                                        <p:cTn id="24" dur="400"/>
                                        <p:tgtEl>
                                          <p:spTgt spid="123"/>
                                        </p:tgtEl>
                                      </p:cBhvr>
                                    </p:animEffect>
                                  </p:childTnLst>
                                </p:cTn>
                              </p:par>
                            </p:childTnLst>
                          </p:cTn>
                        </p:par>
                        <p:par>
                          <p:cTn id="25" fill="hold">
                            <p:stCondLst>
                              <p:cond delay="400"/>
                            </p:stCondLst>
                            <p:childTnLst>
                              <p:par>
                                <p:cTn id="26" presetID="10" presetClass="entr" presetSubtype="0" fill="hold" grpId="0" nodeType="afterEffect">
                                  <p:stCondLst>
                                    <p:cond delay="0"/>
                                  </p:stCondLst>
                                  <p:childTnLst>
                                    <p:set>
                                      <p:cBhvr>
                                        <p:cTn id="27" dur="1" fill="hold">
                                          <p:stCondLst>
                                            <p:cond delay="0"/>
                                          </p:stCondLst>
                                        </p:cTn>
                                        <p:tgtEl>
                                          <p:spTgt spid="104"/>
                                        </p:tgtEl>
                                        <p:attrNameLst>
                                          <p:attrName>style.visibility</p:attrName>
                                        </p:attrNameLst>
                                      </p:cBhvr>
                                      <p:to>
                                        <p:strVal val="visible"/>
                                      </p:to>
                                    </p:set>
                                    <p:animEffect transition="in" filter="fade">
                                      <p:cBhvr>
                                        <p:cTn id="28" dur="400"/>
                                        <p:tgtEl>
                                          <p:spTgt spid="10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animEffect transition="in" filter="fade">
                                      <p:cBhvr>
                                        <p:cTn id="31" dur="400"/>
                                        <p:tgtEl>
                                          <p:spTgt spid="10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400"/>
                                        <p:tgtEl>
                                          <p:spTgt spid="105"/>
                                        </p:tgtEl>
                                      </p:cBhvr>
                                    </p:animEffect>
                                    <p:set>
                                      <p:cBhvr>
                                        <p:cTn id="36" dur="1" fill="hold">
                                          <p:stCondLst>
                                            <p:cond delay="399"/>
                                          </p:stCondLst>
                                        </p:cTn>
                                        <p:tgtEl>
                                          <p:spTgt spid="105"/>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400"/>
                                        <p:tgtEl>
                                          <p:spTgt spid="104"/>
                                        </p:tgtEl>
                                      </p:cBhvr>
                                    </p:animEffect>
                                    <p:set>
                                      <p:cBhvr>
                                        <p:cTn id="39" dur="1" fill="hold">
                                          <p:stCondLst>
                                            <p:cond delay="399"/>
                                          </p:stCondLst>
                                        </p:cTn>
                                        <p:tgtEl>
                                          <p:spTgt spid="104"/>
                                        </p:tgtEl>
                                        <p:attrNameLst>
                                          <p:attrName>style.visibility</p:attrName>
                                        </p:attrNameLst>
                                      </p:cBhvr>
                                      <p:to>
                                        <p:strVal val="hidden"/>
                                      </p:to>
                                    </p:set>
                                  </p:childTnLst>
                                </p:cTn>
                              </p:par>
                            </p:childTnLst>
                          </p:cTn>
                        </p:par>
                        <p:par>
                          <p:cTn id="40" fill="hold">
                            <p:stCondLst>
                              <p:cond delay="400"/>
                            </p:stCondLst>
                            <p:childTnLst>
                              <p:par>
                                <p:cTn id="41" presetID="10" presetClass="entr" presetSubtype="0" fill="hold" grpId="0" nodeType="afterEffect">
                                  <p:stCondLst>
                                    <p:cond delay="0"/>
                                  </p:stCondLst>
                                  <p:childTnLst>
                                    <p:set>
                                      <p:cBhvr>
                                        <p:cTn id="42" dur="1" fill="hold">
                                          <p:stCondLst>
                                            <p:cond delay="0"/>
                                          </p:stCondLst>
                                        </p:cTn>
                                        <p:tgtEl>
                                          <p:spTgt spid="106"/>
                                        </p:tgtEl>
                                        <p:attrNameLst>
                                          <p:attrName>style.visibility</p:attrName>
                                        </p:attrNameLst>
                                      </p:cBhvr>
                                      <p:to>
                                        <p:strVal val="visible"/>
                                      </p:to>
                                    </p:set>
                                    <p:animEffect transition="in" filter="fade">
                                      <p:cBhvr>
                                        <p:cTn id="43" dur="400"/>
                                        <p:tgtEl>
                                          <p:spTgt spid="10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4"/>
                                        </p:tgtEl>
                                        <p:attrNameLst>
                                          <p:attrName>style.visibility</p:attrName>
                                        </p:attrNameLst>
                                      </p:cBhvr>
                                      <p:to>
                                        <p:strVal val="visible"/>
                                      </p:to>
                                    </p:set>
                                    <p:animEffect transition="in" filter="fade">
                                      <p:cBhvr>
                                        <p:cTn id="48" dur="400"/>
                                        <p:tgtEl>
                                          <p:spTgt spid="12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5"/>
                                        </p:tgtEl>
                                        <p:attrNameLst>
                                          <p:attrName>style.visibility</p:attrName>
                                        </p:attrNameLst>
                                      </p:cBhvr>
                                      <p:to>
                                        <p:strVal val="visible"/>
                                      </p:to>
                                    </p:set>
                                    <p:animEffect transition="in" filter="fade">
                                      <p:cBhvr>
                                        <p:cTn id="53" dur="400"/>
                                        <p:tgtEl>
                                          <p:spTgt spid="12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6"/>
                                        </p:tgtEl>
                                        <p:attrNameLst>
                                          <p:attrName>style.visibility</p:attrName>
                                        </p:attrNameLst>
                                      </p:cBhvr>
                                      <p:to>
                                        <p:strVal val="visible"/>
                                      </p:to>
                                    </p:set>
                                    <p:animEffect transition="in" filter="fade">
                                      <p:cBhvr>
                                        <p:cTn id="58" dur="4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4" grpId="1" animBg="1"/>
      <p:bldP spid="105" grpId="0" animBg="1"/>
      <p:bldP spid="105" grpId="1" animBg="1"/>
      <p:bldP spid="106" grpId="0" animBg="1"/>
      <p:bldP spid="122" grpId="0" animBg="1"/>
      <p:bldP spid="123" grpId="0" animBg="1"/>
      <p:bldP spid="124" grpId="0" animBg="1"/>
      <p:bldP spid="125" grpId="0" animBg="1"/>
      <p:bldP spid="12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04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DISPOSE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Forgot to Dispose? The Data Is Still in Memory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DISPOSAL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21</a:t>
            </a:r>
            <a:endParaRPr lang="en-US" sz="850" dirty="0"/>
          </a:p>
        </p:txBody>
      </p:sp>
      <p:grpSp>
        <p:nvGrpSpPr>
          <p:cNvPr id="114" name="code"/>
          <p:cNvGrpSpPr/>
          <p:nvPr/>
        </p:nvGrpSpPr>
        <p:grpSpPr>
          <a:xfrm>
            <a:off x="543154" y="1481328"/>
            <a:ext cx="11087100" cy="1750900"/>
            <a:chOff x="543154" y="1481328"/>
            <a:chExt cx="11087100" cy="1750900"/>
          </a:xfrm>
        </p:grpSpPr>
        <p:sp>
          <p:nvSpPr>
            <p:cNvPr id="101" name="code_win"/>
            <p:cNvSpPr/>
            <p:nvPr/>
          </p:nvSpPr>
          <p:spPr>
            <a:xfrm>
              <a:off x="543154" y="1481328"/>
              <a:ext cx="11087100" cy="1750900"/>
            </a:xfrm>
            <a:prstGeom prst="roundRect">
              <a:avLst>
                <a:gd name="adj" fmla="val 3915"/>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81328"/>
              <a:ext cx="110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652778"/>
              <a:ext cx="110871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8" name="code_L00"/>
            <p:cNvSpPr txBox="1"/>
            <p:nvPr/>
          </p:nvSpPr>
          <p:spPr>
            <a:xfrm>
              <a:off x="771754" y="1957228"/>
              <a:ext cx="1078710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StreamWriter writer = </a:t>
              </a:r>
              <a:r>
                <a:rPr lang="en-US" sz="900" b="0" dirty="0">
                  <a:solidFill>
                    <a:srgbClr val="60A5FA"/>
                  </a:solidFill>
                  <a:latin typeface="Consolas"/>
                  <a:ea typeface="Consolas"/>
                  <a:cs typeface="Consolas"/>
                </a:rPr>
                <a:t>new</a:t>
              </a:r>
              <a:r>
                <a:rPr lang="en-US" sz="900" b="0" dirty="0">
                  <a:solidFill>
                    <a:srgbClr val="E2E8F0"/>
                  </a:solidFill>
                  <a:latin typeface="Consolas"/>
                  <a:ea typeface="Consolas"/>
                  <a:cs typeface="Consolas"/>
                </a:rPr>
                <a:t> StreamWriter(</a:t>
              </a:r>
              <a:r>
                <a:rPr lang="en-US" sz="900" b="0" dirty="0">
                  <a:solidFill>
                    <a:srgbClr val="F0A98B"/>
                  </a:solidFill>
                  <a:latin typeface="Consolas"/>
                  <a:ea typeface="Consolas"/>
                  <a:cs typeface="Consolas"/>
                </a:rPr>
                <a:t>"forgot.txt"</a:t>
              </a:r>
              <a:r>
                <a:rPr lang="en-US" sz="900" b="0" dirty="0">
                  <a:solidFill>
                    <a:srgbClr val="E2E8F0"/>
                  </a:solidFill>
                  <a:latin typeface="Consolas"/>
                  <a:ea typeface="Consolas"/>
                  <a:cs typeface="Consolas"/>
                </a:rPr>
                <a:t>);</a:t>
              </a:r>
              <a:endParaRPr lang="en-US" sz="900" dirty="0"/>
            </a:p>
          </p:txBody>
        </p:sp>
        <p:sp>
          <p:nvSpPr>
            <p:cNvPr id="109" name="code_L01"/>
            <p:cNvSpPr txBox="1"/>
            <p:nvPr/>
          </p:nvSpPr>
          <p:spPr>
            <a:xfrm>
              <a:off x="771754" y="2122228"/>
              <a:ext cx="1078710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writer.WriteLine(</a:t>
              </a:r>
              <a:r>
                <a:rPr lang="en-US" sz="900" b="0" dirty="0">
                  <a:solidFill>
                    <a:srgbClr val="F0A98B"/>
                  </a:solidFill>
                  <a:latin typeface="Consolas"/>
                  <a:ea typeface="Consolas"/>
                  <a:cs typeface="Consolas"/>
                </a:rPr>
                <a:t>"Important data"</a:t>
              </a:r>
              <a:r>
                <a:rPr lang="en-US" sz="900" b="0" dirty="0">
                  <a:solidFill>
                    <a:srgbClr val="E2E8F0"/>
                  </a:solidFill>
                  <a:latin typeface="Consolas"/>
                  <a:ea typeface="Consolas"/>
                  <a:cs typeface="Consolas"/>
                </a:rPr>
                <a:t>);</a:t>
              </a:r>
              <a:endParaRPr lang="en-US" sz="900" dirty="0"/>
            </a:p>
          </p:txBody>
        </p:sp>
        <p:sp>
          <p:nvSpPr>
            <p:cNvPr id="110" name="code_L02"/>
            <p:cNvSpPr txBox="1"/>
            <p:nvPr/>
          </p:nvSpPr>
          <p:spPr>
            <a:xfrm>
              <a:off x="771754" y="2287228"/>
              <a:ext cx="1078710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FAE7A"/>
                  </a:solidFill>
                  <a:latin typeface="Consolas"/>
                  <a:ea typeface="Consolas"/>
                  <a:cs typeface="Consolas"/>
                </a:rPr>
                <a:t>// no Dispose: the text is still in the buffer, in memory</a:t>
              </a:r>
              <a:endParaRPr lang="en-US" sz="900" dirty="0"/>
            </a:p>
          </p:txBody>
        </p:sp>
        <p:sp>
          <p:nvSpPr>
            <p:cNvPr id="111" name="code_L03"/>
            <p:cNvSpPr txBox="1"/>
            <p:nvPr/>
          </p:nvSpPr>
          <p:spPr>
            <a:xfrm>
              <a:off x="771754" y="2452228"/>
              <a:ext cx="1078710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a:t>
              </a:r>
              <a:r>
                <a:rPr lang="en-US" sz="900" b="0" dirty="0">
                  <a:solidFill>
                    <a:srgbClr val="F0A98B"/>
                  </a:solidFill>
                  <a:latin typeface="Consolas"/>
                  <a:ea typeface="Consolas"/>
                  <a:cs typeface="Consolas"/>
                </a:rPr>
                <a:t>$"without dispose: {new FileInfo("</a:t>
              </a:r>
              <a:r>
                <a:rPr lang="en-US" sz="900" b="0" dirty="0">
                  <a:solidFill>
                    <a:srgbClr val="E2E8F0"/>
                  </a:solidFill>
                  <a:latin typeface="Consolas"/>
                  <a:ea typeface="Consolas"/>
                  <a:cs typeface="Consolas"/>
                </a:rPr>
                <a:t>forgot.txt</a:t>
              </a:r>
              <a:r>
                <a:rPr lang="en-US" sz="900" b="0" dirty="0">
                  <a:solidFill>
                    <a:srgbClr val="F0A98B"/>
                  </a:solidFill>
                  <a:latin typeface="Consolas"/>
                  <a:ea typeface="Consolas"/>
                  <a:cs typeface="Consolas"/>
                </a:rPr>
                <a:t>").Length} bytes on disk"</a:t>
              </a:r>
              <a:r>
                <a:rPr lang="en-US" sz="900" b="0" dirty="0">
                  <a:solidFill>
                    <a:srgbClr val="E2E8F0"/>
                  </a:solidFill>
                  <a:latin typeface="Consolas"/>
                  <a:ea typeface="Consolas"/>
                  <a:cs typeface="Consolas"/>
                </a:rPr>
                <a:t>);</a:t>
              </a:r>
              <a:endParaRPr lang="en-US" sz="900" dirty="0"/>
            </a:p>
          </p:txBody>
        </p:sp>
        <p:sp>
          <p:nvSpPr>
            <p:cNvPr id="112" name="code_L05"/>
            <p:cNvSpPr txBox="1"/>
            <p:nvPr/>
          </p:nvSpPr>
          <p:spPr>
            <a:xfrm>
              <a:off x="771754" y="2782228"/>
              <a:ext cx="1078710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writer.Dispose();                     </a:t>
              </a:r>
              <a:r>
                <a:rPr lang="en-US" sz="900" b="0" dirty="0">
                  <a:solidFill>
                    <a:srgbClr val="6FAE7A"/>
                  </a:solidFill>
                  <a:latin typeface="Consolas"/>
                  <a:ea typeface="Consolas"/>
                  <a:cs typeface="Consolas"/>
                </a:rPr>
                <a:t>// flush + close the file handle</a:t>
              </a:r>
              <a:endParaRPr lang="en-US" sz="900" dirty="0"/>
            </a:p>
          </p:txBody>
        </p:sp>
        <p:sp>
          <p:nvSpPr>
            <p:cNvPr id="113" name="code_L06"/>
            <p:cNvSpPr txBox="1"/>
            <p:nvPr/>
          </p:nvSpPr>
          <p:spPr>
            <a:xfrm>
              <a:off x="771754" y="2947228"/>
              <a:ext cx="1078710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Console.WriteLine(</a:t>
              </a:r>
              <a:r>
                <a:rPr lang="en-US" sz="900" b="0" dirty="0">
                  <a:solidFill>
                    <a:srgbClr val="F0A98B"/>
                  </a:solidFill>
                  <a:latin typeface="Consolas"/>
                  <a:ea typeface="Consolas"/>
                  <a:cs typeface="Consolas"/>
                </a:rPr>
                <a:t>$"after dispose:   {new FileInfo("</a:t>
              </a:r>
              <a:r>
                <a:rPr lang="en-US" sz="900" b="0" dirty="0">
                  <a:solidFill>
                    <a:srgbClr val="E2E8F0"/>
                  </a:solidFill>
                  <a:latin typeface="Consolas"/>
                  <a:ea typeface="Consolas"/>
                  <a:cs typeface="Consolas"/>
                </a:rPr>
                <a:t>forgot.txt</a:t>
              </a:r>
              <a:r>
                <a:rPr lang="en-US" sz="900" b="0" dirty="0">
                  <a:solidFill>
                    <a:srgbClr val="F0A98B"/>
                  </a:solidFill>
                  <a:latin typeface="Consolas"/>
                  <a:ea typeface="Consolas"/>
                  <a:cs typeface="Consolas"/>
                </a:rPr>
                <a:t>").Length} bytes on disk"</a:t>
              </a:r>
              <a:r>
                <a:rPr lang="en-US" sz="900" b="0" dirty="0">
                  <a:solidFill>
                    <a:srgbClr val="E2E8F0"/>
                  </a:solidFill>
                  <a:latin typeface="Consolas"/>
                  <a:ea typeface="Consolas"/>
                  <a:cs typeface="Consolas"/>
                </a:rPr>
                <a:t>);</a:t>
              </a:r>
              <a:endParaRPr lang="en-US" sz="900" dirty="0"/>
            </a:p>
          </p:txBody>
        </p:sp>
      </p:grpSp>
      <p:sp>
        <p:nvSpPr>
          <p:cNvPr id="115" name="code_hl3"/>
          <p:cNvSpPr/>
          <p:nvPr/>
        </p:nvSpPr>
        <p:spPr>
          <a:xfrm>
            <a:off x="676656" y="2433940"/>
            <a:ext cx="10820100" cy="201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16" name="code_hl5"/>
          <p:cNvSpPr/>
          <p:nvPr/>
        </p:nvSpPr>
        <p:spPr>
          <a:xfrm>
            <a:off x="676656" y="2763940"/>
            <a:ext cx="1082010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7" name="ram"/>
          <p:cNvSpPr/>
          <p:nvPr/>
        </p:nvSpPr>
        <p:spPr>
          <a:xfrm>
            <a:off x="543154" y="3108960"/>
            <a:ext cx="3291840" cy="1371600"/>
          </a:xfrm>
          <a:prstGeom prst="roundRect">
            <a:avLst>
              <a:gd name="adj" fmla="val 12000"/>
            </a:avLst>
          </a:prstGeom>
          <a:solidFill>
            <a:srgbClr val="FBBF24">
              <a:alpha val="10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 BUFFER · in RAM</a:t>
            </a:r>
            <a:endParaRPr lang="en-US" sz="1050" dirty="0"/>
          </a:p>
          <a:p>
            <a:pPr marL="0" indent="0" algn="ctr">
              <a:spcBef>
                <a:spcPts val="0"/>
              </a:spcBef>
              <a:spcAft>
                <a:spcPts val="0"/>
              </a:spcAft>
              <a:buNone/>
            </a:pPr>
            <a:r>
              <a:rPr lang="en-US" sz="1200" b="0" dirty="0">
                <a:solidFill>
                  <a:srgbClr val="FFFFFF"/>
                </a:solidFill>
                <a:latin typeface="Consolas"/>
                <a:ea typeface="Consolas"/>
                <a:cs typeface="Consolas"/>
              </a:rPr>
              <a:t>"Important data"</a:t>
            </a:r>
            <a:endParaRPr lang="en-US" sz="1200" dirty="0"/>
          </a:p>
        </p:txBody>
      </p:sp>
      <p:sp>
        <p:nvSpPr>
          <p:cNvPr id="118" name="disk0"/>
          <p:cNvSpPr/>
          <p:nvPr/>
        </p:nvSpPr>
        <p:spPr>
          <a:xfrm>
            <a:off x="5115154" y="3108960"/>
            <a:ext cx="3108960" cy="1371600"/>
          </a:xfrm>
          <a:prstGeom prst="can">
            <a:avLst/>
          </a:prstGeom>
          <a:solidFill>
            <a:srgbClr val="111B2E"/>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F87171"/>
                </a:solidFill>
                <a:latin typeface="Segoe UI"/>
                <a:ea typeface="Segoe UI"/>
                <a:cs typeface="Segoe UI"/>
              </a:rPr>
              <a:t>forgot.txt · on disk</a:t>
            </a:r>
            <a:endParaRPr lang="en-US" sz="1050" dirty="0"/>
          </a:p>
          <a:p>
            <a:pPr marL="0" indent="0" algn="ctr">
              <a:spcBef>
                <a:spcPts val="0"/>
              </a:spcBef>
              <a:spcAft>
                <a:spcPts val="0"/>
              </a:spcAft>
              <a:buNone/>
            </a:pPr>
            <a:r>
              <a:rPr lang="en-US" sz="1600" b="1" dirty="0">
                <a:solidFill>
                  <a:srgbClr val="F87171"/>
                </a:solidFill>
                <a:latin typeface="Segoe UI"/>
                <a:ea typeface="Segoe UI"/>
                <a:cs typeface="Segoe UI"/>
              </a:rPr>
              <a:t>0 bytes</a:t>
            </a:r>
            <a:endParaRPr lang="en-US" sz="1600" dirty="0"/>
          </a:p>
        </p:txBody>
      </p:sp>
      <p:cxnSp>
        <p:nvCxnSpPr>
          <p:cNvPr id="119" name="fl"/>
          <p:cNvCxnSpPr/>
          <p:nvPr/>
        </p:nvCxnSpPr>
        <p:spPr>
          <a:xfrm>
            <a:off x="3880714" y="3794760"/>
            <a:ext cx="1188720" cy="0"/>
          </a:xfrm>
          <a:prstGeom prst="line">
            <a:avLst/>
          </a:prstGeom>
          <a:ln w="28575">
            <a:solidFill>
              <a:srgbClr val="34D399"/>
            </a:solidFill>
            <a:tailEnd type="triangle" w="med" len="med"/>
          </a:ln>
        </p:spPr>
      </p:cxnSp>
      <p:sp>
        <p:nvSpPr>
          <p:cNvPr id="120" name="flt"/>
          <p:cNvSpPr txBox="1"/>
          <p:nvPr/>
        </p:nvSpPr>
        <p:spPr>
          <a:xfrm>
            <a:off x="3834994" y="3383280"/>
            <a:ext cx="128016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34D399"/>
                </a:solidFill>
                <a:latin typeface="Segoe UI"/>
                <a:ea typeface="Segoe UI"/>
                <a:cs typeface="Segoe UI"/>
              </a:rPr>
              <a:t>Dispose()</a:t>
            </a:r>
            <a:endParaRPr lang="en-US" sz="1000" dirty="0"/>
          </a:p>
        </p:txBody>
      </p:sp>
      <p:sp>
        <p:nvSpPr>
          <p:cNvPr id="121" name="disk1"/>
          <p:cNvSpPr/>
          <p:nvPr/>
        </p:nvSpPr>
        <p:spPr>
          <a:xfrm>
            <a:off x="5115154" y="3108960"/>
            <a:ext cx="3108960" cy="1371600"/>
          </a:xfrm>
          <a:prstGeom prst="can">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forgot.txt · on disk</a:t>
            </a:r>
            <a:endParaRPr lang="en-US" sz="1050" dirty="0"/>
          </a:p>
          <a:p>
            <a:pPr marL="0" indent="0" algn="ctr">
              <a:spcBef>
                <a:spcPts val="0"/>
              </a:spcBef>
              <a:spcAft>
                <a:spcPts val="0"/>
              </a:spcAft>
              <a:buNone/>
            </a:pPr>
            <a:r>
              <a:rPr lang="en-US" sz="1600" b="1" dirty="0">
                <a:solidFill>
                  <a:srgbClr val="34D399"/>
                </a:solidFill>
                <a:latin typeface="Segoe UI"/>
                <a:ea typeface="Segoe UI"/>
                <a:cs typeface="Segoe UI"/>
              </a:rPr>
              <a:t>15 bytes</a:t>
            </a:r>
            <a:endParaRPr lang="en-US" sz="1600" dirty="0"/>
          </a:p>
        </p:txBody>
      </p:sp>
      <p:grpSp>
        <p:nvGrpSpPr>
          <p:cNvPr id="131" name="out"/>
          <p:cNvGrpSpPr/>
          <p:nvPr/>
        </p:nvGrpSpPr>
        <p:grpSpPr>
          <a:xfrm>
            <a:off x="8589874" y="3108960"/>
            <a:ext cx="3040380" cy="955900"/>
            <a:chOff x="8589874" y="3108960"/>
            <a:chExt cx="3040380" cy="955900"/>
          </a:xfrm>
        </p:grpSpPr>
        <p:sp>
          <p:nvSpPr>
            <p:cNvPr id="122" name="out_win"/>
            <p:cNvSpPr/>
            <p:nvPr/>
          </p:nvSpPr>
          <p:spPr>
            <a:xfrm>
              <a:off x="8589874" y="3108960"/>
              <a:ext cx="3040380" cy="955900"/>
            </a:xfrm>
            <a:prstGeom prst="roundRect">
              <a:avLst>
                <a:gd name="adj" fmla="val 7171"/>
              </a:avLst>
            </a:prstGeom>
            <a:solidFill>
              <a:srgbClr val="060D18"/>
            </a:solidFill>
            <a:ln w="12700">
              <a:solidFill>
                <a:srgbClr val="1E3A5F"/>
              </a:solidFill>
              <a:prstDash val="solid"/>
            </a:ln>
          </p:spPr>
          <p:txBody>
            <a:bodyPr/>
            <a:lstStyle/>
            <a:p>
              <a:endParaRPr lang="en-US"/>
            </a:p>
          </p:txBody>
        </p:sp>
        <p:sp>
          <p:nvSpPr>
            <p:cNvPr id="123" name="out_bar"/>
            <p:cNvSpPr/>
            <p:nvPr/>
          </p:nvSpPr>
          <p:spPr>
            <a:xfrm>
              <a:off x="8589874" y="3108960"/>
              <a:ext cx="30403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out_barfill"/>
            <p:cNvSpPr/>
            <p:nvPr/>
          </p:nvSpPr>
          <p:spPr>
            <a:xfrm>
              <a:off x="8589874" y="3280410"/>
              <a:ext cx="3040380" cy="171450"/>
            </a:xfrm>
            <a:prstGeom prst="rect">
              <a:avLst/>
            </a:prstGeom>
            <a:solidFill>
              <a:srgbClr val="0A1220"/>
            </a:solidFill>
            <a:ln w="12700">
              <a:solidFill>
                <a:srgbClr val="0A1220"/>
              </a:solidFill>
              <a:prstDash val="solid"/>
            </a:ln>
          </p:spPr>
          <p:txBody>
            <a:bodyPr/>
            <a:lstStyle/>
            <a:p>
              <a:endParaRPr lang="en-US"/>
            </a:p>
          </p:txBody>
        </p:sp>
        <p:sp>
          <p:nvSpPr>
            <p:cNvPr id="125" name="out_dot0"/>
            <p:cNvSpPr/>
            <p:nvPr/>
          </p:nvSpPr>
          <p:spPr>
            <a:xfrm>
              <a:off x="8751722" y="3232770"/>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out_dot1"/>
            <p:cNvSpPr/>
            <p:nvPr/>
          </p:nvSpPr>
          <p:spPr>
            <a:xfrm>
              <a:off x="8937346" y="3232770"/>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out_dot2"/>
            <p:cNvSpPr/>
            <p:nvPr/>
          </p:nvSpPr>
          <p:spPr>
            <a:xfrm>
              <a:off x="9122970" y="3232770"/>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out_tab"/>
            <p:cNvSpPr/>
            <p:nvPr/>
          </p:nvSpPr>
          <p:spPr>
            <a:xfrm>
              <a:off x="9370771" y="31565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29" name="out_L00"/>
            <p:cNvSpPr txBox="1"/>
            <p:nvPr/>
          </p:nvSpPr>
          <p:spPr>
            <a:xfrm>
              <a:off x="8818474" y="3584860"/>
              <a:ext cx="2740380" cy="18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without dispose: 0 bytes</a:t>
              </a:r>
              <a:endParaRPr lang="en-US" sz="900" dirty="0"/>
            </a:p>
          </p:txBody>
        </p:sp>
        <p:sp>
          <p:nvSpPr>
            <p:cNvPr id="130" name="out_L01"/>
            <p:cNvSpPr txBox="1"/>
            <p:nvPr/>
          </p:nvSpPr>
          <p:spPr>
            <a:xfrm>
              <a:off x="8818474" y="3764860"/>
              <a:ext cx="2740380" cy="18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after dispose:   15 bytes</a:t>
              </a:r>
              <a:endParaRPr lang="en-US" sz="900" dirty="0"/>
            </a:p>
          </p:txBody>
        </p:sp>
      </p:grpSp>
      <p:sp>
        <p:nvSpPr>
          <p:cNvPr id="132" name="bn"/>
          <p:cNvSpPr/>
          <p:nvPr/>
        </p:nvSpPr>
        <p:spPr>
          <a:xfrm>
            <a:off x="543154" y="4846320"/>
            <a:ext cx="11087100" cy="566928"/>
          </a:xfrm>
          <a:prstGeom prst="roundRect">
            <a:avLst>
              <a:gd name="adj" fmla="val 10975"/>
            </a:avLst>
          </a:prstGeom>
          <a:solidFill>
            <a:srgbClr val="0C1628"/>
          </a:solidFill>
          <a:ln w="12700">
            <a:solidFill>
              <a:srgbClr val="FBBF24"/>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Dispose = flush the buffer to the disk + give the file handle back. Never skip it.</a:t>
            </a:r>
            <a:endParaRPr lang="en-US" sz="1400" dirty="0"/>
          </a:p>
        </p:txBody>
      </p:sp>
    </p:spTree>
    <p:extLst>
      <p:ext uri="{BB962C8B-B14F-4D97-AF65-F5344CB8AC3E}">
        <p14:creationId xmlns:p14="http://schemas.microsoft.com/office/powerpoint/2010/main" val="50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400"/>
                                        <p:tgtEl>
                                          <p:spTgt spid="1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400"/>
                                        <p:tgtEl>
                                          <p:spTgt spid="1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animEffect transition="in" filter="fade">
                                      <p:cBhvr>
                                        <p:cTn id="13" dur="400"/>
                                        <p:tgtEl>
                                          <p:spTgt spid="1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7"/>
                                        </p:tgtEl>
                                        <p:attrNameLst>
                                          <p:attrName>style.visibility</p:attrName>
                                        </p:attrNameLst>
                                      </p:cBhvr>
                                      <p:to>
                                        <p:strVal val="visible"/>
                                      </p:to>
                                    </p:set>
                                    <p:animEffect transition="in" filter="fade">
                                      <p:cBhvr>
                                        <p:cTn id="18" dur="400"/>
                                        <p:tgtEl>
                                          <p:spTgt spid="1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animEffect transition="in" filter="fade">
                                      <p:cBhvr>
                                        <p:cTn id="21" dur="400"/>
                                        <p:tgtEl>
                                          <p:spTgt spid="1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400"/>
                                        <p:tgtEl>
                                          <p:spTgt spid="1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0"/>
                                        </p:tgtEl>
                                        <p:attrNameLst>
                                          <p:attrName>style.visibility</p:attrName>
                                        </p:attrNameLst>
                                      </p:cBhvr>
                                      <p:to>
                                        <p:strVal val="visible"/>
                                      </p:to>
                                    </p:set>
                                    <p:animEffect transition="in" filter="fade">
                                      <p:cBhvr>
                                        <p:cTn id="29" dur="400"/>
                                        <p:tgtEl>
                                          <p:spTgt spid="120"/>
                                        </p:tgtEl>
                                      </p:cBhvr>
                                    </p:animEffect>
                                  </p:childTnLst>
                                </p:cTn>
                              </p:par>
                            </p:childTnLst>
                          </p:cTn>
                        </p:par>
                        <p:par>
                          <p:cTn id="30" fill="hold">
                            <p:stCondLst>
                              <p:cond delay="400"/>
                            </p:stCondLst>
                            <p:childTnLst>
                              <p:par>
                                <p:cTn id="31" presetID="10" presetClass="exit" presetSubtype="0" fill="hold" grpId="1" nodeType="afterEffect">
                                  <p:stCondLst>
                                    <p:cond delay="0"/>
                                  </p:stCondLst>
                                  <p:childTnLst>
                                    <p:animEffect transition="out" filter="fade">
                                      <p:cBhvr>
                                        <p:cTn id="32" dur="400"/>
                                        <p:tgtEl>
                                          <p:spTgt spid="118"/>
                                        </p:tgtEl>
                                      </p:cBhvr>
                                    </p:animEffect>
                                    <p:set>
                                      <p:cBhvr>
                                        <p:cTn id="33" dur="1" fill="hold">
                                          <p:stCondLst>
                                            <p:cond delay="399"/>
                                          </p:stCondLst>
                                        </p:cTn>
                                        <p:tgtEl>
                                          <p:spTgt spid="118"/>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21"/>
                                        </p:tgtEl>
                                        <p:attrNameLst>
                                          <p:attrName>style.visibility</p:attrName>
                                        </p:attrNameLst>
                                      </p:cBhvr>
                                      <p:to>
                                        <p:strVal val="visible"/>
                                      </p:to>
                                    </p:set>
                                    <p:animEffect transition="in" filter="fade">
                                      <p:cBhvr>
                                        <p:cTn id="36" dur="400"/>
                                        <p:tgtEl>
                                          <p:spTgt spid="1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1"/>
                                        </p:tgtEl>
                                        <p:attrNameLst>
                                          <p:attrName>style.visibility</p:attrName>
                                        </p:attrNameLst>
                                      </p:cBhvr>
                                      <p:to>
                                        <p:strVal val="visible"/>
                                      </p:to>
                                    </p:set>
                                    <p:animEffect transition="in" filter="fade">
                                      <p:cBhvr>
                                        <p:cTn id="41" dur="400"/>
                                        <p:tgtEl>
                                          <p:spTgt spid="13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32"/>
                                        </p:tgtEl>
                                        <p:attrNameLst>
                                          <p:attrName>style.visibility</p:attrName>
                                        </p:attrNameLst>
                                      </p:cBhvr>
                                      <p:to>
                                        <p:strVal val="visible"/>
                                      </p:to>
                                    </p:set>
                                    <p:animEffect transition="in" filter="fade">
                                      <p:cBhvr>
                                        <p:cTn id="46" dur="4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P spid="117" grpId="0" animBg="1"/>
      <p:bldP spid="118" grpId="0" animBg="1"/>
      <p:bldP spid="118" grpId="1" animBg="1"/>
      <p:bldP spid="120" grpId="0" animBg="1"/>
      <p:bldP spid="121" grpId="0" animBg="1"/>
      <p:bldP spid="13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USING</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using Keyword: Three Ways to Write It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DISPOSAL</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22</a:t>
            </a:r>
            <a:endParaRPr lang="en-US" sz="850" dirty="0"/>
          </a:p>
        </p:txBody>
      </p:sp>
      <p:sp>
        <p:nvSpPr>
          <p:cNvPr id="101" name="h0"/>
          <p:cNvSpPr txBox="1"/>
          <p:nvPr/>
        </p:nvSpPr>
        <p:spPr>
          <a:xfrm>
            <a:off x="543154" y="1444752"/>
            <a:ext cx="35433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13D0F7"/>
                </a:solidFill>
                <a:latin typeface="Segoe UI"/>
                <a:ea typeface="Segoe UI"/>
                <a:cs typeface="Segoe UI"/>
              </a:rPr>
              <a:t>TRADITIONAL STATEMENT</a:t>
            </a:r>
            <a:endParaRPr lang="en-US" sz="1050" dirty="0"/>
          </a:p>
        </p:txBody>
      </p:sp>
      <p:grpSp>
        <p:nvGrpSpPr>
          <p:cNvPr id="113" name="c0"/>
          <p:cNvGrpSpPr/>
          <p:nvPr/>
        </p:nvGrpSpPr>
        <p:grpSpPr>
          <a:xfrm>
            <a:off x="543154" y="1737360"/>
            <a:ext cx="3543300" cy="1600200"/>
            <a:chOff x="543154" y="1737360"/>
            <a:chExt cx="3543300" cy="1600200"/>
          </a:xfrm>
        </p:grpSpPr>
        <p:sp>
          <p:nvSpPr>
            <p:cNvPr id="102" name="c0_win"/>
            <p:cNvSpPr/>
            <p:nvPr/>
          </p:nvSpPr>
          <p:spPr>
            <a:xfrm>
              <a:off x="543154" y="1737360"/>
              <a:ext cx="3543300" cy="1600200"/>
            </a:xfrm>
            <a:prstGeom prst="roundRect">
              <a:avLst>
                <a:gd name="adj" fmla="val 4284"/>
              </a:avLst>
            </a:prstGeom>
            <a:solidFill>
              <a:srgbClr val="060D18"/>
            </a:solidFill>
            <a:ln w="12700">
              <a:solidFill>
                <a:srgbClr val="1E3A5F"/>
              </a:solidFill>
              <a:prstDash val="solid"/>
            </a:ln>
          </p:spPr>
          <p:txBody>
            <a:bodyPr/>
            <a:lstStyle/>
            <a:p>
              <a:endParaRPr lang="en-US"/>
            </a:p>
          </p:txBody>
        </p:sp>
        <p:sp>
          <p:nvSpPr>
            <p:cNvPr id="103" name="c0_bar"/>
            <p:cNvSpPr/>
            <p:nvPr/>
          </p:nvSpPr>
          <p:spPr>
            <a:xfrm>
              <a:off x="543154" y="1737360"/>
              <a:ext cx="35433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c0_barfill"/>
            <p:cNvSpPr/>
            <p:nvPr/>
          </p:nvSpPr>
          <p:spPr>
            <a:xfrm>
              <a:off x="543154" y="1908810"/>
              <a:ext cx="3543300" cy="171450"/>
            </a:xfrm>
            <a:prstGeom prst="rect">
              <a:avLst/>
            </a:prstGeom>
            <a:solidFill>
              <a:srgbClr val="0A1220"/>
            </a:solidFill>
            <a:ln w="12700">
              <a:solidFill>
                <a:srgbClr val="0A1220"/>
              </a:solidFill>
              <a:prstDash val="solid"/>
            </a:ln>
          </p:spPr>
          <p:txBody>
            <a:bodyPr/>
            <a:lstStyle/>
            <a:p>
              <a:endParaRPr lang="en-US"/>
            </a:p>
          </p:txBody>
        </p:sp>
        <p:sp>
          <p:nvSpPr>
            <p:cNvPr id="105" name="c0_dot0"/>
            <p:cNvSpPr/>
            <p:nvPr/>
          </p:nvSpPr>
          <p:spPr>
            <a:xfrm>
              <a:off x="705002" y="1861170"/>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c0_dot1"/>
            <p:cNvSpPr/>
            <p:nvPr/>
          </p:nvSpPr>
          <p:spPr>
            <a:xfrm>
              <a:off x="890626" y="1861170"/>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c0_dot2"/>
            <p:cNvSpPr/>
            <p:nvPr/>
          </p:nvSpPr>
          <p:spPr>
            <a:xfrm>
              <a:off x="1076250" y="1861170"/>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c0_tab"/>
            <p:cNvSpPr/>
            <p:nvPr/>
          </p:nvSpPr>
          <p:spPr>
            <a:xfrm>
              <a:off x="1324051" y="1784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9" name="c0_L00"/>
            <p:cNvSpPr txBox="1"/>
            <p:nvPr/>
          </p:nvSpPr>
          <p:spPr>
            <a:xfrm>
              <a:off x="771754" y="221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using</a:t>
              </a:r>
              <a:r>
                <a:rPr lang="en-US" sz="760" b="0" dirty="0">
                  <a:solidFill>
                    <a:srgbClr val="E2E8F0"/>
                  </a:solidFill>
                  <a:latin typeface="Consolas"/>
                  <a:ea typeface="Consolas"/>
                  <a:cs typeface="Consolas"/>
                </a:rPr>
                <a:t> (StreamReader reader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r>
                <a:rPr lang="en-US" sz="760" b="0" dirty="0">
                  <a:solidFill>
                    <a:srgbClr val="F0A98B"/>
                  </a:solidFill>
                  <a:latin typeface="Consolas"/>
                  <a:ea typeface="Consolas"/>
                  <a:cs typeface="Consolas"/>
                </a:rPr>
                <a:t>"data.txt"</a:t>
              </a:r>
              <a:r>
                <a:rPr lang="en-US" sz="760" b="0" dirty="0">
                  <a:solidFill>
                    <a:srgbClr val="E2E8F0"/>
                  </a:solidFill>
                  <a:latin typeface="Consolas"/>
                  <a:ea typeface="Consolas"/>
                  <a:cs typeface="Consolas"/>
                </a:rPr>
                <a:t>))</a:t>
              </a:r>
              <a:endParaRPr lang="en-US" sz="760" dirty="0"/>
            </a:p>
          </p:txBody>
        </p:sp>
        <p:sp>
          <p:nvSpPr>
            <p:cNvPr id="110" name="c0_L01"/>
            <p:cNvSpPr txBox="1"/>
            <p:nvPr/>
          </p:nvSpPr>
          <p:spPr>
            <a:xfrm>
              <a:off x="771754" y="236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1" name="c0_L02"/>
            <p:cNvSpPr txBox="1"/>
            <p:nvPr/>
          </p:nvSpPr>
          <p:spPr>
            <a:xfrm>
              <a:off x="771754" y="2513260"/>
              <a:ext cx="324330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Console.WriteLine(reader.ReadToEnd());</a:t>
              </a:r>
              <a:endParaRPr lang="en-US" sz="760" dirty="0"/>
            </a:p>
          </p:txBody>
        </p:sp>
        <p:sp>
          <p:nvSpPr>
            <p:cNvPr id="112" name="c0_L03"/>
            <p:cNvSpPr txBox="1"/>
            <p:nvPr/>
          </p:nvSpPr>
          <p:spPr>
            <a:xfrm>
              <a:off x="771754" y="266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 disposed HERE: end of the block</a:t>
              </a:r>
              <a:endParaRPr lang="en-US" sz="760" dirty="0"/>
            </a:p>
          </p:txBody>
        </p:sp>
      </p:grpSp>
      <p:sp>
        <p:nvSpPr>
          <p:cNvPr id="114" name="c0_hl3"/>
          <p:cNvSpPr/>
          <p:nvPr/>
        </p:nvSpPr>
        <p:spPr>
          <a:xfrm>
            <a:off x="676656" y="2644972"/>
            <a:ext cx="327630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5" name="h1"/>
          <p:cNvSpPr txBox="1"/>
          <p:nvPr/>
        </p:nvSpPr>
        <p:spPr>
          <a:xfrm>
            <a:off x="4315054" y="1444752"/>
            <a:ext cx="35433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A78BFA"/>
                </a:solidFill>
                <a:latin typeface="Segoe UI"/>
                <a:ea typeface="Segoe UI"/>
                <a:cs typeface="Segoe UI"/>
              </a:rPr>
              <a:t>DECLARATION (C# 8)</a:t>
            </a:r>
            <a:endParaRPr lang="en-US" sz="1050" dirty="0"/>
          </a:p>
        </p:txBody>
      </p:sp>
      <p:grpSp>
        <p:nvGrpSpPr>
          <p:cNvPr id="127" name="c1"/>
          <p:cNvGrpSpPr/>
          <p:nvPr/>
        </p:nvGrpSpPr>
        <p:grpSpPr>
          <a:xfrm>
            <a:off x="4315054" y="1737360"/>
            <a:ext cx="3543300" cy="1600200"/>
            <a:chOff x="4315054" y="1737360"/>
            <a:chExt cx="3543300" cy="1600200"/>
          </a:xfrm>
        </p:grpSpPr>
        <p:sp>
          <p:nvSpPr>
            <p:cNvPr id="116" name="c1_win"/>
            <p:cNvSpPr/>
            <p:nvPr/>
          </p:nvSpPr>
          <p:spPr>
            <a:xfrm>
              <a:off x="4315054" y="1737360"/>
              <a:ext cx="3543300" cy="1600200"/>
            </a:xfrm>
            <a:prstGeom prst="roundRect">
              <a:avLst>
                <a:gd name="adj" fmla="val 4284"/>
              </a:avLst>
            </a:prstGeom>
            <a:solidFill>
              <a:srgbClr val="060D18"/>
            </a:solidFill>
            <a:ln w="12700">
              <a:solidFill>
                <a:srgbClr val="1E3A5F"/>
              </a:solidFill>
              <a:prstDash val="solid"/>
            </a:ln>
          </p:spPr>
          <p:txBody>
            <a:bodyPr/>
            <a:lstStyle/>
            <a:p>
              <a:endParaRPr lang="en-US"/>
            </a:p>
          </p:txBody>
        </p:sp>
        <p:sp>
          <p:nvSpPr>
            <p:cNvPr id="117" name="c1_bar"/>
            <p:cNvSpPr/>
            <p:nvPr/>
          </p:nvSpPr>
          <p:spPr>
            <a:xfrm>
              <a:off x="4315054" y="1737360"/>
              <a:ext cx="35433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8" name="c1_barfill"/>
            <p:cNvSpPr/>
            <p:nvPr/>
          </p:nvSpPr>
          <p:spPr>
            <a:xfrm>
              <a:off x="4315054" y="1908810"/>
              <a:ext cx="3543300" cy="171450"/>
            </a:xfrm>
            <a:prstGeom prst="rect">
              <a:avLst/>
            </a:prstGeom>
            <a:solidFill>
              <a:srgbClr val="0A1220"/>
            </a:solidFill>
            <a:ln w="12700">
              <a:solidFill>
                <a:srgbClr val="0A1220"/>
              </a:solidFill>
              <a:prstDash val="solid"/>
            </a:ln>
          </p:spPr>
          <p:txBody>
            <a:bodyPr/>
            <a:lstStyle/>
            <a:p>
              <a:endParaRPr lang="en-US"/>
            </a:p>
          </p:txBody>
        </p:sp>
        <p:sp>
          <p:nvSpPr>
            <p:cNvPr id="119" name="c1_dot0"/>
            <p:cNvSpPr/>
            <p:nvPr/>
          </p:nvSpPr>
          <p:spPr>
            <a:xfrm>
              <a:off x="4476902" y="1861170"/>
              <a:ext cx="95098" cy="95098"/>
            </a:xfrm>
            <a:prstGeom prst="ellipse">
              <a:avLst/>
            </a:prstGeom>
            <a:solidFill>
              <a:srgbClr val="F87171"/>
            </a:solidFill>
            <a:ln w="12700">
              <a:solidFill>
                <a:srgbClr val="F87171"/>
              </a:solidFill>
              <a:prstDash val="solid"/>
            </a:ln>
          </p:spPr>
          <p:txBody>
            <a:bodyPr/>
            <a:lstStyle/>
            <a:p>
              <a:endParaRPr lang="en-US"/>
            </a:p>
          </p:txBody>
        </p:sp>
        <p:sp>
          <p:nvSpPr>
            <p:cNvPr id="120" name="c1_dot1"/>
            <p:cNvSpPr/>
            <p:nvPr/>
          </p:nvSpPr>
          <p:spPr>
            <a:xfrm>
              <a:off x="4662526" y="1861170"/>
              <a:ext cx="95098" cy="95098"/>
            </a:xfrm>
            <a:prstGeom prst="ellipse">
              <a:avLst/>
            </a:prstGeom>
            <a:solidFill>
              <a:srgbClr val="FBBF24"/>
            </a:solidFill>
            <a:ln w="12700">
              <a:solidFill>
                <a:srgbClr val="FBBF24"/>
              </a:solidFill>
              <a:prstDash val="solid"/>
            </a:ln>
          </p:spPr>
          <p:txBody>
            <a:bodyPr/>
            <a:lstStyle/>
            <a:p>
              <a:endParaRPr lang="en-US"/>
            </a:p>
          </p:txBody>
        </p:sp>
        <p:sp>
          <p:nvSpPr>
            <p:cNvPr id="121" name="c1_dot2"/>
            <p:cNvSpPr/>
            <p:nvPr/>
          </p:nvSpPr>
          <p:spPr>
            <a:xfrm>
              <a:off x="4848150" y="1861170"/>
              <a:ext cx="95098" cy="95098"/>
            </a:xfrm>
            <a:prstGeom prst="ellipse">
              <a:avLst/>
            </a:prstGeom>
            <a:solidFill>
              <a:srgbClr val="34D399"/>
            </a:solidFill>
            <a:ln w="12700">
              <a:solidFill>
                <a:srgbClr val="34D399"/>
              </a:solidFill>
              <a:prstDash val="solid"/>
            </a:ln>
          </p:spPr>
          <p:txBody>
            <a:bodyPr/>
            <a:lstStyle/>
            <a:p>
              <a:endParaRPr lang="en-US"/>
            </a:p>
          </p:txBody>
        </p:sp>
        <p:sp>
          <p:nvSpPr>
            <p:cNvPr id="122" name="c1_tab"/>
            <p:cNvSpPr/>
            <p:nvPr/>
          </p:nvSpPr>
          <p:spPr>
            <a:xfrm>
              <a:off x="5095951" y="1784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23" name="c1_L00"/>
            <p:cNvSpPr txBox="1"/>
            <p:nvPr/>
          </p:nvSpPr>
          <p:spPr>
            <a:xfrm>
              <a:off x="4543654" y="221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using</a:t>
              </a:r>
              <a:r>
                <a:rPr lang="en-US" sz="760" b="0" dirty="0">
                  <a:solidFill>
                    <a:srgbClr val="E2E8F0"/>
                  </a:solidFill>
                  <a:latin typeface="Consolas"/>
                  <a:ea typeface="Consolas"/>
                  <a:cs typeface="Consolas"/>
                </a:rPr>
                <a:t> StreamReader reader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r>
                <a:rPr lang="en-US" sz="760" b="0" dirty="0">
                  <a:solidFill>
                    <a:srgbClr val="F0A98B"/>
                  </a:solidFill>
                  <a:latin typeface="Consolas"/>
                  <a:ea typeface="Consolas"/>
                  <a:cs typeface="Consolas"/>
                </a:rPr>
                <a:t>"data.txt"</a:t>
              </a:r>
              <a:r>
                <a:rPr lang="en-US" sz="760" b="0" dirty="0">
                  <a:solidFill>
                    <a:srgbClr val="E2E8F0"/>
                  </a:solidFill>
                  <a:latin typeface="Consolas"/>
                  <a:ea typeface="Consolas"/>
                  <a:cs typeface="Consolas"/>
                </a:rPr>
                <a:t>);</a:t>
              </a:r>
              <a:endParaRPr lang="en-US" sz="760" dirty="0"/>
            </a:p>
          </p:txBody>
        </p:sp>
        <p:sp>
          <p:nvSpPr>
            <p:cNvPr id="124" name="c1_L02"/>
            <p:cNvSpPr txBox="1"/>
            <p:nvPr/>
          </p:nvSpPr>
          <p:spPr>
            <a:xfrm>
              <a:off x="4543654" y="251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Console.WriteLine(reader.ReadToEnd());</a:t>
              </a:r>
              <a:endParaRPr lang="en-US" sz="760" dirty="0"/>
            </a:p>
          </p:txBody>
        </p:sp>
        <p:sp>
          <p:nvSpPr>
            <p:cNvPr id="125" name="c1_L03"/>
            <p:cNvSpPr txBox="1"/>
            <p:nvPr/>
          </p:nvSpPr>
          <p:spPr>
            <a:xfrm>
              <a:off x="4543654" y="266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…more code…</a:t>
              </a:r>
              <a:endParaRPr lang="en-US" sz="760" dirty="0"/>
            </a:p>
          </p:txBody>
        </p:sp>
        <p:sp>
          <p:nvSpPr>
            <p:cNvPr id="126" name="c1_L04"/>
            <p:cNvSpPr txBox="1"/>
            <p:nvPr/>
          </p:nvSpPr>
          <p:spPr>
            <a:xfrm>
              <a:off x="4543654" y="281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 disposed at the END of the scope</a:t>
              </a:r>
              <a:endParaRPr lang="en-US" sz="760" dirty="0"/>
            </a:p>
          </p:txBody>
        </p:sp>
      </p:grpSp>
      <p:sp>
        <p:nvSpPr>
          <p:cNvPr id="128" name="c1_hl4"/>
          <p:cNvSpPr/>
          <p:nvPr/>
        </p:nvSpPr>
        <p:spPr>
          <a:xfrm>
            <a:off x="4448556" y="2794972"/>
            <a:ext cx="327630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29" name="h2"/>
          <p:cNvSpPr txBox="1"/>
          <p:nvPr/>
        </p:nvSpPr>
        <p:spPr>
          <a:xfrm>
            <a:off x="8086954" y="1444752"/>
            <a:ext cx="35433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BBF24"/>
                </a:solidFill>
                <a:latin typeface="Segoe UI"/>
                <a:ea typeface="Segoe UI"/>
                <a:cs typeface="Segoe UI"/>
              </a:rPr>
              <a:t>TARGET-TYPED new()</a:t>
            </a:r>
            <a:endParaRPr lang="en-US" sz="1050" dirty="0"/>
          </a:p>
        </p:txBody>
      </p:sp>
      <p:grpSp>
        <p:nvGrpSpPr>
          <p:cNvPr id="142" name="c2"/>
          <p:cNvGrpSpPr/>
          <p:nvPr/>
        </p:nvGrpSpPr>
        <p:grpSpPr>
          <a:xfrm>
            <a:off x="8086954" y="1737360"/>
            <a:ext cx="3543300" cy="1600200"/>
            <a:chOff x="8086954" y="1737360"/>
            <a:chExt cx="3543300" cy="1600200"/>
          </a:xfrm>
        </p:grpSpPr>
        <p:sp>
          <p:nvSpPr>
            <p:cNvPr id="130" name="c2_win"/>
            <p:cNvSpPr/>
            <p:nvPr/>
          </p:nvSpPr>
          <p:spPr>
            <a:xfrm>
              <a:off x="8086954" y="1737360"/>
              <a:ext cx="3543300" cy="1600200"/>
            </a:xfrm>
            <a:prstGeom prst="roundRect">
              <a:avLst>
                <a:gd name="adj" fmla="val 4284"/>
              </a:avLst>
            </a:prstGeom>
            <a:solidFill>
              <a:srgbClr val="060D18"/>
            </a:solidFill>
            <a:ln w="12700">
              <a:solidFill>
                <a:srgbClr val="1E3A5F"/>
              </a:solidFill>
              <a:prstDash val="solid"/>
            </a:ln>
          </p:spPr>
          <p:txBody>
            <a:bodyPr/>
            <a:lstStyle/>
            <a:p>
              <a:endParaRPr lang="en-US"/>
            </a:p>
          </p:txBody>
        </p:sp>
        <p:sp>
          <p:nvSpPr>
            <p:cNvPr id="131" name="c2_bar"/>
            <p:cNvSpPr/>
            <p:nvPr/>
          </p:nvSpPr>
          <p:spPr>
            <a:xfrm>
              <a:off x="8086954" y="1737360"/>
              <a:ext cx="35433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2" name="c2_barfill"/>
            <p:cNvSpPr/>
            <p:nvPr/>
          </p:nvSpPr>
          <p:spPr>
            <a:xfrm>
              <a:off x="8086954" y="1908810"/>
              <a:ext cx="3543300" cy="171450"/>
            </a:xfrm>
            <a:prstGeom prst="rect">
              <a:avLst/>
            </a:prstGeom>
            <a:solidFill>
              <a:srgbClr val="0A1220"/>
            </a:solidFill>
            <a:ln w="12700">
              <a:solidFill>
                <a:srgbClr val="0A1220"/>
              </a:solidFill>
              <a:prstDash val="solid"/>
            </a:ln>
          </p:spPr>
          <p:txBody>
            <a:bodyPr/>
            <a:lstStyle/>
            <a:p>
              <a:endParaRPr lang="en-US"/>
            </a:p>
          </p:txBody>
        </p:sp>
        <p:sp>
          <p:nvSpPr>
            <p:cNvPr id="133" name="c2_dot0"/>
            <p:cNvSpPr/>
            <p:nvPr/>
          </p:nvSpPr>
          <p:spPr>
            <a:xfrm>
              <a:off x="8248802" y="1861170"/>
              <a:ext cx="95098" cy="95098"/>
            </a:xfrm>
            <a:prstGeom prst="ellipse">
              <a:avLst/>
            </a:prstGeom>
            <a:solidFill>
              <a:srgbClr val="F87171"/>
            </a:solidFill>
            <a:ln w="12700">
              <a:solidFill>
                <a:srgbClr val="F87171"/>
              </a:solidFill>
              <a:prstDash val="solid"/>
            </a:ln>
          </p:spPr>
          <p:txBody>
            <a:bodyPr/>
            <a:lstStyle/>
            <a:p>
              <a:endParaRPr lang="en-US"/>
            </a:p>
          </p:txBody>
        </p:sp>
        <p:sp>
          <p:nvSpPr>
            <p:cNvPr id="134" name="c2_dot1"/>
            <p:cNvSpPr/>
            <p:nvPr/>
          </p:nvSpPr>
          <p:spPr>
            <a:xfrm>
              <a:off x="8434426" y="1861170"/>
              <a:ext cx="95098" cy="95098"/>
            </a:xfrm>
            <a:prstGeom prst="ellipse">
              <a:avLst/>
            </a:prstGeom>
            <a:solidFill>
              <a:srgbClr val="FBBF24"/>
            </a:solidFill>
            <a:ln w="12700">
              <a:solidFill>
                <a:srgbClr val="FBBF24"/>
              </a:solidFill>
              <a:prstDash val="solid"/>
            </a:ln>
          </p:spPr>
          <p:txBody>
            <a:bodyPr/>
            <a:lstStyle/>
            <a:p>
              <a:endParaRPr lang="en-US"/>
            </a:p>
          </p:txBody>
        </p:sp>
        <p:sp>
          <p:nvSpPr>
            <p:cNvPr id="135" name="c2_dot2"/>
            <p:cNvSpPr/>
            <p:nvPr/>
          </p:nvSpPr>
          <p:spPr>
            <a:xfrm>
              <a:off x="8620050" y="1861170"/>
              <a:ext cx="95098" cy="95098"/>
            </a:xfrm>
            <a:prstGeom prst="ellipse">
              <a:avLst/>
            </a:prstGeom>
            <a:solidFill>
              <a:srgbClr val="34D399"/>
            </a:solidFill>
            <a:ln w="12700">
              <a:solidFill>
                <a:srgbClr val="34D399"/>
              </a:solidFill>
              <a:prstDash val="solid"/>
            </a:ln>
          </p:spPr>
          <p:txBody>
            <a:bodyPr/>
            <a:lstStyle/>
            <a:p>
              <a:endParaRPr lang="en-US"/>
            </a:p>
          </p:txBody>
        </p:sp>
        <p:sp>
          <p:nvSpPr>
            <p:cNvPr id="136" name="c2_tab"/>
            <p:cNvSpPr/>
            <p:nvPr/>
          </p:nvSpPr>
          <p:spPr>
            <a:xfrm>
              <a:off x="8867851" y="1784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37" name="c2_L00"/>
            <p:cNvSpPr txBox="1"/>
            <p:nvPr/>
          </p:nvSpPr>
          <p:spPr>
            <a:xfrm>
              <a:off x="8315554" y="221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long form</a:t>
              </a:r>
              <a:endParaRPr lang="en-US" sz="760" dirty="0"/>
            </a:p>
          </p:txBody>
        </p:sp>
        <p:sp>
          <p:nvSpPr>
            <p:cNvPr id="138" name="c2_L01"/>
            <p:cNvSpPr txBox="1"/>
            <p:nvPr/>
          </p:nvSpPr>
          <p:spPr>
            <a:xfrm>
              <a:off x="8315554" y="236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using</a:t>
              </a:r>
              <a:r>
                <a:rPr lang="en-US" sz="760" b="0" dirty="0">
                  <a:solidFill>
                    <a:srgbClr val="E2E8F0"/>
                  </a:solidFill>
                  <a:latin typeface="Consolas"/>
                  <a:ea typeface="Consolas"/>
                  <a:cs typeface="Consolas"/>
                </a:rPr>
                <a:t> StreamReader reader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StreamReader(</a:t>
              </a:r>
              <a:r>
                <a:rPr lang="en-US" sz="760" b="0" dirty="0">
                  <a:solidFill>
                    <a:srgbClr val="F0A98B"/>
                  </a:solidFill>
                  <a:latin typeface="Consolas"/>
                  <a:ea typeface="Consolas"/>
                  <a:cs typeface="Consolas"/>
                </a:rPr>
                <a:t>"data.txt"</a:t>
              </a:r>
              <a:r>
                <a:rPr lang="en-US" sz="760" b="0" dirty="0">
                  <a:solidFill>
                    <a:srgbClr val="E2E8F0"/>
                  </a:solidFill>
                  <a:latin typeface="Consolas"/>
                  <a:ea typeface="Consolas"/>
                  <a:cs typeface="Consolas"/>
                </a:rPr>
                <a:t>);</a:t>
              </a:r>
              <a:endParaRPr lang="en-US" sz="760" dirty="0"/>
            </a:p>
          </p:txBody>
        </p:sp>
        <p:sp>
          <p:nvSpPr>
            <p:cNvPr id="139" name="c2_L02"/>
            <p:cNvSpPr txBox="1"/>
            <p:nvPr/>
          </p:nvSpPr>
          <p:spPr>
            <a:xfrm>
              <a:off x="8315554" y="251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short form: same object</a:t>
              </a:r>
              <a:endParaRPr lang="en-US" sz="760" dirty="0"/>
            </a:p>
          </p:txBody>
        </p:sp>
        <p:sp>
          <p:nvSpPr>
            <p:cNvPr id="140" name="c2_L03"/>
            <p:cNvSpPr txBox="1"/>
            <p:nvPr/>
          </p:nvSpPr>
          <p:spPr>
            <a:xfrm>
              <a:off x="8315554" y="266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using</a:t>
              </a:r>
              <a:r>
                <a:rPr lang="en-US" sz="760" b="0" dirty="0">
                  <a:solidFill>
                    <a:srgbClr val="E2E8F0"/>
                  </a:solidFill>
                  <a:latin typeface="Consolas"/>
                  <a:ea typeface="Consolas"/>
                  <a:cs typeface="Consolas"/>
                </a:rPr>
                <a:t> StreamReader reader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r>
                <a:rPr lang="en-US" sz="760" b="0" dirty="0">
                  <a:solidFill>
                    <a:srgbClr val="F0A98B"/>
                  </a:solidFill>
                  <a:latin typeface="Consolas"/>
                  <a:ea typeface="Consolas"/>
                  <a:cs typeface="Consolas"/>
                </a:rPr>
                <a:t>"data.txt"</a:t>
              </a:r>
              <a:r>
                <a:rPr lang="en-US" sz="760" b="0" dirty="0">
                  <a:solidFill>
                    <a:srgbClr val="E2E8F0"/>
                  </a:solidFill>
                  <a:latin typeface="Consolas"/>
                  <a:ea typeface="Consolas"/>
                  <a:cs typeface="Consolas"/>
                </a:rPr>
                <a:t>);</a:t>
              </a:r>
              <a:endParaRPr lang="en-US" sz="760" dirty="0"/>
            </a:p>
          </p:txBody>
        </p:sp>
        <p:sp>
          <p:nvSpPr>
            <p:cNvPr id="141" name="c2_L04"/>
            <p:cNvSpPr txBox="1"/>
            <p:nvPr/>
          </p:nvSpPr>
          <p:spPr>
            <a:xfrm>
              <a:off x="8315554" y="2813260"/>
              <a:ext cx="324330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only shorter syntax: same disposal</a:t>
              </a:r>
              <a:endParaRPr lang="en-US" sz="760" dirty="0"/>
            </a:p>
          </p:txBody>
        </p:sp>
      </p:grpSp>
      <p:sp>
        <p:nvSpPr>
          <p:cNvPr id="143" name="c2_hl3"/>
          <p:cNvSpPr/>
          <p:nvPr/>
        </p:nvSpPr>
        <p:spPr>
          <a:xfrm>
            <a:off x="8220456" y="2644972"/>
            <a:ext cx="327630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44" name="h3"/>
          <p:cNvSpPr txBox="1"/>
          <p:nvPr/>
        </p:nvSpPr>
        <p:spPr>
          <a:xfrm>
            <a:off x="543154" y="3474720"/>
            <a:ext cx="58521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34D399"/>
                </a:solidFill>
                <a:latin typeface="Segoe UI"/>
                <a:ea typeface="Segoe UI"/>
                <a:cs typeface="Segoe UI"/>
              </a:rPr>
              <a:t>await using · ASYNC DISPOSAL</a:t>
            </a:r>
            <a:endParaRPr lang="en-US" sz="1050" dirty="0"/>
          </a:p>
        </p:txBody>
      </p:sp>
      <p:grpSp>
        <p:nvGrpSpPr>
          <p:cNvPr id="157" name="c3"/>
          <p:cNvGrpSpPr/>
          <p:nvPr/>
        </p:nvGrpSpPr>
        <p:grpSpPr>
          <a:xfrm>
            <a:off x="543154" y="3767328"/>
            <a:ext cx="5852160" cy="1345900"/>
            <a:chOff x="543154" y="3767328"/>
            <a:chExt cx="5852160" cy="1345900"/>
          </a:xfrm>
        </p:grpSpPr>
        <p:sp>
          <p:nvSpPr>
            <p:cNvPr id="145" name="c3_win"/>
            <p:cNvSpPr/>
            <p:nvPr/>
          </p:nvSpPr>
          <p:spPr>
            <a:xfrm>
              <a:off x="543154" y="3767328"/>
              <a:ext cx="5852160" cy="1345900"/>
            </a:xfrm>
            <a:prstGeom prst="roundRect">
              <a:avLst>
                <a:gd name="adj" fmla="val 5093"/>
              </a:avLst>
            </a:prstGeom>
            <a:solidFill>
              <a:srgbClr val="060D18"/>
            </a:solidFill>
            <a:ln w="12700">
              <a:solidFill>
                <a:srgbClr val="1E3A5F"/>
              </a:solidFill>
              <a:prstDash val="solid"/>
            </a:ln>
          </p:spPr>
          <p:txBody>
            <a:bodyPr/>
            <a:lstStyle/>
            <a:p>
              <a:endParaRPr lang="en-US"/>
            </a:p>
          </p:txBody>
        </p:sp>
        <p:sp>
          <p:nvSpPr>
            <p:cNvPr id="146" name="c3_bar"/>
            <p:cNvSpPr/>
            <p:nvPr/>
          </p:nvSpPr>
          <p:spPr>
            <a:xfrm>
              <a:off x="543154" y="3767328"/>
              <a:ext cx="58521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7" name="c3_barfill"/>
            <p:cNvSpPr/>
            <p:nvPr/>
          </p:nvSpPr>
          <p:spPr>
            <a:xfrm>
              <a:off x="543154" y="3938778"/>
              <a:ext cx="5852160" cy="171450"/>
            </a:xfrm>
            <a:prstGeom prst="rect">
              <a:avLst/>
            </a:prstGeom>
            <a:solidFill>
              <a:srgbClr val="0A1220"/>
            </a:solidFill>
            <a:ln w="12700">
              <a:solidFill>
                <a:srgbClr val="0A1220"/>
              </a:solidFill>
              <a:prstDash val="solid"/>
            </a:ln>
          </p:spPr>
          <p:txBody>
            <a:bodyPr/>
            <a:lstStyle/>
            <a:p>
              <a:endParaRPr lang="en-US"/>
            </a:p>
          </p:txBody>
        </p:sp>
        <p:sp>
          <p:nvSpPr>
            <p:cNvPr id="148" name="c3_dot0"/>
            <p:cNvSpPr/>
            <p:nvPr/>
          </p:nvSpPr>
          <p:spPr>
            <a:xfrm>
              <a:off x="705002" y="3891138"/>
              <a:ext cx="95098" cy="95098"/>
            </a:xfrm>
            <a:prstGeom prst="ellipse">
              <a:avLst/>
            </a:prstGeom>
            <a:solidFill>
              <a:srgbClr val="F87171"/>
            </a:solidFill>
            <a:ln w="12700">
              <a:solidFill>
                <a:srgbClr val="F87171"/>
              </a:solidFill>
              <a:prstDash val="solid"/>
            </a:ln>
          </p:spPr>
          <p:txBody>
            <a:bodyPr/>
            <a:lstStyle/>
            <a:p>
              <a:endParaRPr lang="en-US"/>
            </a:p>
          </p:txBody>
        </p:sp>
        <p:sp>
          <p:nvSpPr>
            <p:cNvPr id="149" name="c3_dot1"/>
            <p:cNvSpPr/>
            <p:nvPr/>
          </p:nvSpPr>
          <p:spPr>
            <a:xfrm>
              <a:off x="890626" y="3891138"/>
              <a:ext cx="95098" cy="95098"/>
            </a:xfrm>
            <a:prstGeom prst="ellipse">
              <a:avLst/>
            </a:prstGeom>
            <a:solidFill>
              <a:srgbClr val="FBBF24"/>
            </a:solidFill>
            <a:ln w="12700">
              <a:solidFill>
                <a:srgbClr val="FBBF24"/>
              </a:solidFill>
              <a:prstDash val="solid"/>
            </a:ln>
          </p:spPr>
          <p:txBody>
            <a:bodyPr/>
            <a:lstStyle/>
            <a:p>
              <a:endParaRPr lang="en-US"/>
            </a:p>
          </p:txBody>
        </p:sp>
        <p:sp>
          <p:nvSpPr>
            <p:cNvPr id="150" name="c3_dot2"/>
            <p:cNvSpPr/>
            <p:nvPr/>
          </p:nvSpPr>
          <p:spPr>
            <a:xfrm>
              <a:off x="1076250" y="3891138"/>
              <a:ext cx="95098" cy="95098"/>
            </a:xfrm>
            <a:prstGeom prst="ellipse">
              <a:avLst/>
            </a:prstGeom>
            <a:solidFill>
              <a:srgbClr val="34D399"/>
            </a:solidFill>
            <a:ln w="12700">
              <a:solidFill>
                <a:srgbClr val="34D399"/>
              </a:solidFill>
              <a:prstDash val="solid"/>
            </a:ln>
          </p:spPr>
          <p:txBody>
            <a:bodyPr/>
            <a:lstStyle/>
            <a:p>
              <a:endParaRPr lang="en-US"/>
            </a:p>
          </p:txBody>
        </p:sp>
        <p:sp>
          <p:nvSpPr>
            <p:cNvPr id="151" name="c3_tab"/>
            <p:cNvSpPr/>
            <p:nvPr/>
          </p:nvSpPr>
          <p:spPr>
            <a:xfrm>
              <a:off x="1324051" y="3814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52" name="c3_L00"/>
            <p:cNvSpPr txBox="1"/>
            <p:nvPr/>
          </p:nvSpPr>
          <p:spPr>
            <a:xfrm>
              <a:off x="771754" y="4243228"/>
              <a:ext cx="55521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await</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using</a:t>
              </a:r>
              <a:r>
                <a:rPr lang="en-US" sz="820" b="0" dirty="0">
                  <a:solidFill>
                    <a:srgbClr val="E2E8F0"/>
                  </a:solidFill>
                  <a:latin typeface="Consolas"/>
                  <a:ea typeface="Consolas"/>
                  <a:cs typeface="Consolas"/>
                </a:rPr>
                <a:t> FileStream stream = </a:t>
              </a:r>
              <a:r>
                <a:rPr lang="en-US" sz="820" b="0" dirty="0">
                  <a:solidFill>
                    <a:srgbClr val="60A5FA"/>
                  </a:solidFill>
                  <a:latin typeface="Consolas"/>
                  <a:ea typeface="Consolas"/>
                  <a:cs typeface="Consolas"/>
                </a:rPr>
                <a:t>new</a:t>
              </a:r>
              <a:r>
                <a:rPr lang="en-US" sz="820" b="0" dirty="0">
                  <a:solidFill>
                    <a:srgbClr val="E2E8F0"/>
                  </a:solidFill>
                  <a:latin typeface="Consolas"/>
                  <a:ea typeface="Consolas"/>
                  <a:cs typeface="Consolas"/>
                </a:rPr>
                <a:t>(</a:t>
              </a:r>
              <a:endParaRPr lang="en-US" sz="820" dirty="0"/>
            </a:p>
          </p:txBody>
        </p:sp>
        <p:sp>
          <p:nvSpPr>
            <p:cNvPr id="153" name="c3_L01"/>
            <p:cNvSpPr txBox="1"/>
            <p:nvPr/>
          </p:nvSpPr>
          <p:spPr>
            <a:xfrm>
              <a:off x="771754" y="439322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F0A98B"/>
                  </a:solidFill>
                  <a:latin typeface="Consolas"/>
                  <a:ea typeface="Consolas"/>
                  <a:cs typeface="Consolas"/>
                </a:rPr>
                <a:t>"data.txt"</a:t>
              </a:r>
              <a:r>
                <a:rPr lang="en-US" sz="820" b="0" dirty="0">
                  <a:solidFill>
                    <a:srgbClr val="E2E8F0"/>
                  </a:solidFill>
                  <a:latin typeface="Consolas"/>
                  <a:ea typeface="Consolas"/>
                  <a:cs typeface="Consolas"/>
                </a:rPr>
                <a:t>, FileMode.Open, FileAccess.Read, FileShare.Read,</a:t>
              </a:r>
              <a:endParaRPr lang="en-US" sz="820" dirty="0"/>
            </a:p>
          </p:txBody>
        </p:sp>
        <p:sp>
          <p:nvSpPr>
            <p:cNvPr id="154" name="c3_L02"/>
            <p:cNvSpPr txBox="1"/>
            <p:nvPr/>
          </p:nvSpPr>
          <p:spPr>
            <a:xfrm>
              <a:off x="771754" y="454322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bufferSize: 4096,</a:t>
              </a:r>
              <a:endParaRPr lang="en-US" sz="820" dirty="0"/>
            </a:p>
          </p:txBody>
        </p:sp>
        <p:sp>
          <p:nvSpPr>
            <p:cNvPr id="155" name="c3_L03"/>
            <p:cNvSpPr txBox="1"/>
            <p:nvPr/>
          </p:nvSpPr>
          <p:spPr>
            <a:xfrm>
              <a:off x="771754" y="469322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useAsync: </a:t>
              </a:r>
              <a:r>
                <a:rPr lang="en-US" sz="820" b="0" dirty="0">
                  <a:solidFill>
                    <a:srgbClr val="60A5FA"/>
                  </a:solidFill>
                  <a:latin typeface="Consolas"/>
                  <a:ea typeface="Consolas"/>
                  <a:cs typeface="Consolas"/>
                </a:rPr>
                <a:t>true</a:t>
              </a:r>
              <a:r>
                <a:rPr lang="en-US" sz="820" b="0" dirty="0">
                  <a:solidFill>
                    <a:srgbClr val="E2E8F0"/>
                  </a:solidFill>
                  <a:latin typeface="Consolas"/>
                  <a:ea typeface="Consolas"/>
                  <a:cs typeface="Consolas"/>
                </a:rPr>
                <a:t>);</a:t>
              </a:r>
              <a:endParaRPr lang="en-US" sz="820" dirty="0"/>
            </a:p>
          </p:txBody>
        </p:sp>
        <p:sp>
          <p:nvSpPr>
            <p:cNvPr id="156" name="c3_L04"/>
            <p:cNvSpPr txBox="1"/>
            <p:nvPr/>
          </p:nvSpPr>
          <p:spPr>
            <a:xfrm>
              <a:off x="771754" y="4843228"/>
              <a:ext cx="55521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FAE7A"/>
                  </a:solidFill>
                  <a:latin typeface="Consolas"/>
                  <a:ea typeface="Consolas"/>
                  <a:cs typeface="Consolas"/>
                </a:rPr>
                <a:t>// DisposeAsync(): flush + close without blocking a thread</a:t>
              </a:r>
              <a:endParaRPr lang="en-US" sz="820" dirty="0"/>
            </a:p>
          </p:txBody>
        </p:sp>
      </p:grpSp>
      <p:sp>
        <p:nvSpPr>
          <p:cNvPr id="158" name="c3_hl3"/>
          <p:cNvSpPr/>
          <p:nvPr/>
        </p:nvSpPr>
        <p:spPr>
          <a:xfrm>
            <a:off x="676656" y="4674940"/>
            <a:ext cx="558516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9" name="k"/>
          <p:cNvSpPr/>
          <p:nvPr/>
        </p:nvSpPr>
        <p:spPr>
          <a:xfrm>
            <a:off x="6669634" y="3474720"/>
            <a:ext cx="4960620" cy="224028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KEY POINTS</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  using ensures Dispose, even when an exception is thrown.</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  Statement: disposed at the end of its block.</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  Declaration: disposed at the end of the containing scope.</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  new() is only shorter syntax: same disposal.</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  Streams hold OS resources: file handles.</a:t>
            </a:r>
            <a:endParaRPr lang="en-US" sz="1050" dirty="0"/>
          </a:p>
        </p:txBody>
      </p:sp>
    </p:spTree>
    <p:extLst>
      <p:ext uri="{BB962C8B-B14F-4D97-AF65-F5344CB8AC3E}">
        <p14:creationId xmlns:p14="http://schemas.microsoft.com/office/powerpoint/2010/main" val="502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3"/>
                                        </p:tgtEl>
                                        <p:attrNameLst>
                                          <p:attrName>style.visibility</p:attrName>
                                        </p:attrNameLst>
                                      </p:cBhvr>
                                      <p:to>
                                        <p:strVal val="visible"/>
                                      </p:to>
                                    </p:set>
                                    <p:animEffect transition="in" filter="fade">
                                      <p:cBhvr>
                                        <p:cTn id="10" dur="400"/>
                                        <p:tgtEl>
                                          <p:spTgt spid="1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4"/>
                                        </p:tgtEl>
                                        <p:attrNameLst>
                                          <p:attrName>style.visibility</p:attrName>
                                        </p:attrNameLst>
                                      </p:cBhvr>
                                      <p:to>
                                        <p:strVal val="visible"/>
                                      </p:to>
                                    </p:set>
                                    <p:animEffect transition="in" filter="fade">
                                      <p:cBhvr>
                                        <p:cTn id="13" dur="400"/>
                                        <p:tgtEl>
                                          <p:spTgt spid="1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5"/>
                                        </p:tgtEl>
                                        <p:attrNameLst>
                                          <p:attrName>style.visibility</p:attrName>
                                        </p:attrNameLst>
                                      </p:cBhvr>
                                      <p:to>
                                        <p:strVal val="visible"/>
                                      </p:to>
                                    </p:set>
                                    <p:animEffect transition="in" filter="fade">
                                      <p:cBhvr>
                                        <p:cTn id="18" dur="400"/>
                                        <p:tgtEl>
                                          <p:spTgt spid="115"/>
                                        </p:tgtEl>
                                      </p:cBhvr>
                                    </p:animEffect>
                                  </p:childTnLst>
                                </p:cTn>
                              </p:par>
                              <p:par>
                                <p:cTn id="19" presetID="10" presetClass="entr" presetSubtype="0" fill="hold" nodeType="withEffect">
                                  <p:stCondLst>
                                    <p:cond delay="0"/>
                                  </p:stCondLst>
                                  <p:childTnLst>
                                    <p:set>
                                      <p:cBhvr>
                                        <p:cTn id="20" dur="1" fill="hold">
                                          <p:stCondLst>
                                            <p:cond delay="0"/>
                                          </p:stCondLst>
                                        </p:cTn>
                                        <p:tgtEl>
                                          <p:spTgt spid="127"/>
                                        </p:tgtEl>
                                        <p:attrNameLst>
                                          <p:attrName>style.visibility</p:attrName>
                                        </p:attrNameLst>
                                      </p:cBhvr>
                                      <p:to>
                                        <p:strVal val="visible"/>
                                      </p:to>
                                    </p:set>
                                    <p:animEffect transition="in" filter="fade">
                                      <p:cBhvr>
                                        <p:cTn id="21" dur="400"/>
                                        <p:tgtEl>
                                          <p:spTgt spid="1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8"/>
                                        </p:tgtEl>
                                        <p:attrNameLst>
                                          <p:attrName>style.visibility</p:attrName>
                                        </p:attrNameLst>
                                      </p:cBhvr>
                                      <p:to>
                                        <p:strVal val="visible"/>
                                      </p:to>
                                    </p:set>
                                    <p:animEffect transition="in" filter="fade">
                                      <p:cBhvr>
                                        <p:cTn id="24" dur="400"/>
                                        <p:tgtEl>
                                          <p:spTgt spid="1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9"/>
                                        </p:tgtEl>
                                        <p:attrNameLst>
                                          <p:attrName>style.visibility</p:attrName>
                                        </p:attrNameLst>
                                      </p:cBhvr>
                                      <p:to>
                                        <p:strVal val="visible"/>
                                      </p:to>
                                    </p:set>
                                    <p:animEffect transition="in" filter="fade">
                                      <p:cBhvr>
                                        <p:cTn id="29" dur="400"/>
                                        <p:tgtEl>
                                          <p:spTgt spid="129"/>
                                        </p:tgtEl>
                                      </p:cBhvr>
                                    </p:animEffect>
                                  </p:childTnLst>
                                </p:cTn>
                              </p:par>
                              <p:par>
                                <p:cTn id="30" presetID="10" presetClass="entr" presetSubtype="0" fill="hold" nodeType="withEffect">
                                  <p:stCondLst>
                                    <p:cond delay="0"/>
                                  </p:stCondLst>
                                  <p:childTnLst>
                                    <p:set>
                                      <p:cBhvr>
                                        <p:cTn id="31" dur="1" fill="hold">
                                          <p:stCondLst>
                                            <p:cond delay="0"/>
                                          </p:stCondLst>
                                        </p:cTn>
                                        <p:tgtEl>
                                          <p:spTgt spid="142"/>
                                        </p:tgtEl>
                                        <p:attrNameLst>
                                          <p:attrName>style.visibility</p:attrName>
                                        </p:attrNameLst>
                                      </p:cBhvr>
                                      <p:to>
                                        <p:strVal val="visible"/>
                                      </p:to>
                                    </p:set>
                                    <p:animEffect transition="in" filter="fade">
                                      <p:cBhvr>
                                        <p:cTn id="32" dur="400"/>
                                        <p:tgtEl>
                                          <p:spTgt spid="14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3"/>
                                        </p:tgtEl>
                                        <p:attrNameLst>
                                          <p:attrName>style.visibility</p:attrName>
                                        </p:attrNameLst>
                                      </p:cBhvr>
                                      <p:to>
                                        <p:strVal val="visible"/>
                                      </p:to>
                                    </p:set>
                                    <p:animEffect transition="in" filter="fade">
                                      <p:cBhvr>
                                        <p:cTn id="35" dur="400"/>
                                        <p:tgtEl>
                                          <p:spTgt spid="14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4"/>
                                        </p:tgtEl>
                                        <p:attrNameLst>
                                          <p:attrName>style.visibility</p:attrName>
                                        </p:attrNameLst>
                                      </p:cBhvr>
                                      <p:to>
                                        <p:strVal val="visible"/>
                                      </p:to>
                                    </p:set>
                                    <p:animEffect transition="in" filter="fade">
                                      <p:cBhvr>
                                        <p:cTn id="40" dur="400"/>
                                        <p:tgtEl>
                                          <p:spTgt spid="144"/>
                                        </p:tgtEl>
                                      </p:cBhvr>
                                    </p:animEffect>
                                  </p:childTnLst>
                                </p:cTn>
                              </p:par>
                              <p:par>
                                <p:cTn id="41" presetID="10" presetClass="entr" presetSubtype="0" fill="hold" nodeType="withEffect">
                                  <p:stCondLst>
                                    <p:cond delay="0"/>
                                  </p:stCondLst>
                                  <p:childTnLst>
                                    <p:set>
                                      <p:cBhvr>
                                        <p:cTn id="42" dur="1" fill="hold">
                                          <p:stCondLst>
                                            <p:cond delay="0"/>
                                          </p:stCondLst>
                                        </p:cTn>
                                        <p:tgtEl>
                                          <p:spTgt spid="157"/>
                                        </p:tgtEl>
                                        <p:attrNameLst>
                                          <p:attrName>style.visibility</p:attrName>
                                        </p:attrNameLst>
                                      </p:cBhvr>
                                      <p:to>
                                        <p:strVal val="visible"/>
                                      </p:to>
                                    </p:set>
                                    <p:animEffect transition="in" filter="fade">
                                      <p:cBhvr>
                                        <p:cTn id="43" dur="400"/>
                                        <p:tgtEl>
                                          <p:spTgt spid="15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8"/>
                                        </p:tgtEl>
                                        <p:attrNameLst>
                                          <p:attrName>style.visibility</p:attrName>
                                        </p:attrNameLst>
                                      </p:cBhvr>
                                      <p:to>
                                        <p:strVal val="visible"/>
                                      </p:to>
                                    </p:set>
                                    <p:animEffect transition="in" filter="fade">
                                      <p:cBhvr>
                                        <p:cTn id="46" dur="400"/>
                                        <p:tgtEl>
                                          <p:spTgt spid="15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9"/>
                                        </p:tgtEl>
                                        <p:attrNameLst>
                                          <p:attrName>style.visibility</p:attrName>
                                        </p:attrNameLst>
                                      </p:cBhvr>
                                      <p:to>
                                        <p:strVal val="visible"/>
                                      </p:to>
                                    </p:set>
                                    <p:animEffect transition="in" filter="fade">
                                      <p:cBhvr>
                                        <p:cTn id="51" dur="4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14" grpId="0" animBg="1"/>
      <p:bldP spid="115" grpId="0" animBg="1"/>
      <p:bldP spid="128" grpId="0" animBg="1"/>
      <p:bldP spid="129" grpId="0" animBg="1"/>
      <p:bldP spid="143" grpId="0" animBg="1"/>
      <p:bldP spid="144" grpId="0" animBg="1"/>
      <p:bldP spid="158" grpId="0" animBg="1"/>
      <p:bldP spid="15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SESSION 3</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JSON</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24</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3</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JSON &amp; Serialization</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Turn C# objects into text you can store, and back.</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JSON syntax  ·  serialize  ·  deserialize  ·  lists  ·  options  ·  errors  ·  streams</a:t>
            </a:r>
            <a:endParaRPr lang="en-US" sz="1350" dirty="0"/>
          </a:p>
        </p:txBody>
      </p:sp>
    </p:spTree>
    <p:extLst>
      <p:ext uri="{BB962C8B-B14F-4D97-AF65-F5344CB8AC3E}">
        <p14:creationId xmlns:p14="http://schemas.microsoft.com/office/powerpoint/2010/main" val="126590752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JSON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What Is JSON?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JSON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25</a:t>
            </a:r>
            <a:endParaRPr lang="en-US" sz="850" dirty="0"/>
          </a:p>
        </p:txBody>
      </p:sp>
      <p:grpSp>
        <p:nvGrpSpPr>
          <p:cNvPr id="117" name="json"/>
          <p:cNvGrpSpPr/>
          <p:nvPr/>
        </p:nvGrpSpPr>
        <p:grpSpPr>
          <a:xfrm>
            <a:off x="543154" y="1481328"/>
            <a:ext cx="4937760" cy="2665900"/>
            <a:chOff x="543154" y="1481328"/>
            <a:chExt cx="4937760" cy="2665900"/>
          </a:xfrm>
        </p:grpSpPr>
        <p:sp>
          <p:nvSpPr>
            <p:cNvPr id="101" name="json_win"/>
            <p:cNvSpPr/>
            <p:nvPr/>
          </p:nvSpPr>
          <p:spPr>
            <a:xfrm>
              <a:off x="543154" y="1481328"/>
              <a:ext cx="4937760" cy="2665900"/>
            </a:xfrm>
            <a:prstGeom prst="roundRect">
              <a:avLst>
                <a:gd name="adj" fmla="val 2571"/>
              </a:avLst>
            </a:prstGeom>
            <a:solidFill>
              <a:srgbClr val="060D18"/>
            </a:solidFill>
            <a:ln w="12700">
              <a:solidFill>
                <a:srgbClr val="1E3A5F"/>
              </a:solidFill>
              <a:prstDash val="solid"/>
            </a:ln>
          </p:spPr>
          <p:txBody>
            <a:bodyPr/>
            <a:lstStyle/>
            <a:p>
              <a:endParaRPr lang="en-US"/>
            </a:p>
          </p:txBody>
        </p:sp>
        <p:sp>
          <p:nvSpPr>
            <p:cNvPr id="102" name="json_bar"/>
            <p:cNvSpPr/>
            <p:nvPr/>
          </p:nvSpPr>
          <p:spPr>
            <a:xfrm>
              <a:off x="543154" y="1481328"/>
              <a:ext cx="49377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json_barfill"/>
            <p:cNvSpPr/>
            <p:nvPr/>
          </p:nvSpPr>
          <p:spPr>
            <a:xfrm>
              <a:off x="543154" y="1652778"/>
              <a:ext cx="4937760" cy="171450"/>
            </a:xfrm>
            <a:prstGeom prst="rect">
              <a:avLst/>
            </a:prstGeom>
            <a:solidFill>
              <a:srgbClr val="0A1220"/>
            </a:solidFill>
            <a:ln w="12700">
              <a:solidFill>
                <a:srgbClr val="0A1220"/>
              </a:solidFill>
              <a:prstDash val="solid"/>
            </a:ln>
          </p:spPr>
          <p:txBody>
            <a:bodyPr/>
            <a:lstStyle/>
            <a:p>
              <a:endParaRPr lang="en-US"/>
            </a:p>
          </p:txBody>
        </p:sp>
        <p:sp>
          <p:nvSpPr>
            <p:cNvPr id="104" name="json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json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json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json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employee.json</a:t>
              </a:r>
              <a:endParaRPr lang="en-US" sz="950" dirty="0"/>
            </a:p>
          </p:txBody>
        </p:sp>
        <p:sp>
          <p:nvSpPr>
            <p:cNvPr id="108" name="json_L00"/>
            <p:cNvSpPr txBox="1"/>
            <p:nvPr/>
          </p:nvSpPr>
          <p:spPr>
            <a:xfrm>
              <a:off x="771754" y="195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sp>
          <p:nvSpPr>
            <p:cNvPr id="109" name="json_L01"/>
            <p:cNvSpPr txBox="1"/>
            <p:nvPr/>
          </p:nvSpPr>
          <p:spPr>
            <a:xfrm>
              <a:off x="771754" y="218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  "id": 1,</a:t>
              </a:r>
              <a:endParaRPr lang="en-US" sz="1150" dirty="0"/>
            </a:p>
          </p:txBody>
        </p:sp>
        <p:sp>
          <p:nvSpPr>
            <p:cNvPr id="110" name="json_L02"/>
            <p:cNvSpPr txBox="1"/>
            <p:nvPr/>
          </p:nvSpPr>
          <p:spPr>
            <a:xfrm>
              <a:off x="771754" y="241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  "name": "Ahmed",</a:t>
              </a:r>
              <a:endParaRPr lang="en-US" sz="1150" dirty="0"/>
            </a:p>
          </p:txBody>
        </p:sp>
        <p:sp>
          <p:nvSpPr>
            <p:cNvPr id="111" name="json_L03"/>
            <p:cNvSpPr txBox="1"/>
            <p:nvPr/>
          </p:nvSpPr>
          <p:spPr>
            <a:xfrm>
              <a:off x="771754" y="264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  "salary": 15000,</a:t>
              </a:r>
              <a:endParaRPr lang="en-US" sz="1150" dirty="0"/>
            </a:p>
          </p:txBody>
        </p:sp>
        <p:sp>
          <p:nvSpPr>
            <p:cNvPr id="112" name="json_L04"/>
            <p:cNvSpPr txBox="1"/>
            <p:nvPr/>
          </p:nvSpPr>
          <p:spPr>
            <a:xfrm>
              <a:off x="771754" y="287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  "isActive": true,</a:t>
              </a:r>
              <a:endParaRPr lang="en-US" sz="1150" dirty="0"/>
            </a:p>
          </p:txBody>
        </p:sp>
        <p:sp>
          <p:nvSpPr>
            <p:cNvPr id="113" name="json_L05"/>
            <p:cNvSpPr txBox="1"/>
            <p:nvPr/>
          </p:nvSpPr>
          <p:spPr>
            <a:xfrm>
              <a:off x="771754" y="310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  "manager": null,</a:t>
              </a:r>
              <a:endParaRPr lang="en-US" sz="1150" dirty="0"/>
            </a:p>
          </p:txBody>
        </p:sp>
        <p:sp>
          <p:nvSpPr>
            <p:cNvPr id="114" name="json_L06"/>
            <p:cNvSpPr txBox="1"/>
            <p:nvPr/>
          </p:nvSpPr>
          <p:spPr>
            <a:xfrm>
              <a:off x="771754" y="333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  "skills": ["C</a:t>
              </a:r>
              <a:r>
                <a:rPr lang="en-US" sz="1150" b="0" dirty="0">
                  <a:solidFill>
                    <a:srgbClr val="6FAE7A"/>
                  </a:solidFill>
                  <a:latin typeface="Consolas"/>
                  <a:ea typeface="Consolas"/>
                  <a:cs typeface="Consolas"/>
                </a:rPr>
                <a:t>#", "SQL"],</a:t>
              </a:r>
              <a:endParaRPr lang="en-US" sz="1150" dirty="0"/>
            </a:p>
          </p:txBody>
        </p:sp>
        <p:sp>
          <p:nvSpPr>
            <p:cNvPr id="115" name="json_L07"/>
            <p:cNvSpPr txBox="1"/>
            <p:nvPr/>
          </p:nvSpPr>
          <p:spPr>
            <a:xfrm>
              <a:off x="771754" y="356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  "address": { "city": "Cairo" }</a:t>
              </a:r>
              <a:endParaRPr lang="en-US" sz="1150" dirty="0"/>
            </a:p>
          </p:txBody>
        </p:sp>
        <p:sp>
          <p:nvSpPr>
            <p:cNvPr id="116" name="json_L08"/>
            <p:cNvSpPr txBox="1"/>
            <p:nvPr/>
          </p:nvSpPr>
          <p:spPr>
            <a:xfrm>
              <a:off x="771754" y="3797228"/>
              <a:ext cx="4637760" cy="23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150" b="0" dirty="0">
                  <a:solidFill>
                    <a:srgbClr val="E2E8F0"/>
                  </a:solidFill>
                  <a:latin typeface="Consolas"/>
                  <a:ea typeface="Consolas"/>
                  <a:cs typeface="Consolas"/>
                </a:rPr>
                <a:t>}</a:t>
              </a:r>
              <a:endParaRPr lang="en-US" sz="1150" dirty="0"/>
            </a:p>
          </p:txBody>
        </p:sp>
      </p:grpSp>
      <p:sp>
        <p:nvSpPr>
          <p:cNvPr id="118" name="c0"/>
          <p:cNvSpPr/>
          <p:nvPr/>
        </p:nvSpPr>
        <p:spPr>
          <a:xfrm>
            <a:off x="5800954" y="1481328"/>
            <a:ext cx="5829300" cy="512064"/>
          </a:xfrm>
          <a:prstGeom prst="roundRect">
            <a:avLst>
              <a:gd name="adj" fmla="val 12000"/>
            </a:avLst>
          </a:prstGeom>
          <a:solidFill>
            <a:srgbClr val="111B2E"/>
          </a:solidFill>
          <a:ln w="12700">
            <a:solidFill>
              <a:srgbClr val="13D0F7"/>
            </a:solidFill>
            <a:prstDash val="solid"/>
          </a:ln>
        </p:spPr>
        <p:txBody>
          <a:bodyPr wrap="square" lIns="164592" tIns="27432" rIns="91440" bIns="27432" rtlCol="0" anchor="ctr">
            <a:noAutofit/>
          </a:bodyPr>
          <a:lstStyle/>
          <a:p>
            <a:pPr marL="0" indent="0" algn="l">
              <a:spcBef>
                <a:spcPts val="0"/>
              </a:spcBef>
              <a:spcAft>
                <a:spcPts val="0"/>
              </a:spcAft>
              <a:buNone/>
            </a:pPr>
            <a:r>
              <a:rPr lang="en-US" sz="1150" b="1" dirty="0">
                <a:solidFill>
                  <a:srgbClr val="13D0F7"/>
                </a:solidFill>
                <a:latin typeface="Consolas"/>
                <a:ea typeface="Consolas"/>
                <a:cs typeface="Consolas"/>
              </a:rPr>
              <a:t>{ }  OBJECT</a:t>
            </a:r>
            <a:r>
              <a:rPr lang="en-US" sz="1050" b="0" dirty="0">
                <a:solidFill>
                  <a:srgbClr val="E2E8F0"/>
                </a:solidFill>
                <a:latin typeface="Segoe UI"/>
                <a:ea typeface="Segoe UI"/>
                <a:cs typeface="Segoe UI"/>
              </a:rPr>
              <a:t>   a set of "key": value pairs</a:t>
            </a:r>
            <a:endParaRPr lang="en-US" sz="1150" dirty="0"/>
          </a:p>
        </p:txBody>
      </p:sp>
      <p:sp>
        <p:nvSpPr>
          <p:cNvPr id="119" name="c1"/>
          <p:cNvSpPr/>
          <p:nvPr/>
        </p:nvSpPr>
        <p:spPr>
          <a:xfrm>
            <a:off x="5800954" y="2084832"/>
            <a:ext cx="5829300" cy="512064"/>
          </a:xfrm>
          <a:prstGeom prst="roundRect">
            <a:avLst>
              <a:gd name="adj" fmla="val 12000"/>
            </a:avLst>
          </a:prstGeom>
          <a:solidFill>
            <a:srgbClr val="111B2E"/>
          </a:solidFill>
          <a:ln w="12700">
            <a:solidFill>
              <a:srgbClr val="FBBF24"/>
            </a:solidFill>
            <a:prstDash val="solid"/>
          </a:ln>
        </p:spPr>
        <p:txBody>
          <a:bodyPr wrap="square" lIns="164592" tIns="27432" rIns="91440" bIns="27432" rtlCol="0" anchor="ctr">
            <a:noAutofit/>
          </a:bodyPr>
          <a:lstStyle/>
          <a:p>
            <a:pPr marL="0" indent="0" algn="l">
              <a:spcBef>
                <a:spcPts val="0"/>
              </a:spcBef>
              <a:spcAft>
                <a:spcPts val="0"/>
              </a:spcAft>
              <a:buNone/>
            </a:pPr>
            <a:r>
              <a:rPr lang="en-US" sz="1150" b="1" dirty="0">
                <a:solidFill>
                  <a:srgbClr val="FBBF24"/>
                </a:solidFill>
                <a:latin typeface="Consolas"/>
                <a:ea typeface="Consolas"/>
                <a:cs typeface="Consolas"/>
              </a:rPr>
              <a:t>"key": value</a:t>
            </a:r>
            <a:r>
              <a:rPr lang="en-US" sz="1050" b="0" dirty="0">
                <a:solidFill>
                  <a:srgbClr val="E2E8F0"/>
                </a:solidFill>
                <a:latin typeface="Segoe UI"/>
                <a:ea typeface="Segoe UI"/>
                <a:cs typeface="Segoe UI"/>
              </a:rPr>
              <a:t>   keys are strings in double quotes</a:t>
            </a:r>
            <a:endParaRPr lang="en-US" sz="1150" dirty="0"/>
          </a:p>
        </p:txBody>
      </p:sp>
      <p:sp>
        <p:nvSpPr>
          <p:cNvPr id="120" name="c2"/>
          <p:cNvSpPr/>
          <p:nvPr/>
        </p:nvSpPr>
        <p:spPr>
          <a:xfrm>
            <a:off x="5800954" y="2688336"/>
            <a:ext cx="5829300" cy="512064"/>
          </a:xfrm>
          <a:prstGeom prst="roundRect">
            <a:avLst>
              <a:gd name="adj" fmla="val 12000"/>
            </a:avLst>
          </a:prstGeom>
          <a:solidFill>
            <a:srgbClr val="111B2E"/>
          </a:solidFill>
          <a:ln w="12700">
            <a:solidFill>
              <a:srgbClr val="34D399"/>
            </a:solidFill>
            <a:prstDash val="solid"/>
          </a:ln>
        </p:spPr>
        <p:txBody>
          <a:bodyPr wrap="square" lIns="164592" tIns="27432" rIns="91440" bIns="27432" rtlCol="0" anchor="ctr">
            <a:noAutofit/>
          </a:bodyPr>
          <a:lstStyle/>
          <a:p>
            <a:pPr marL="0" indent="0" algn="l">
              <a:spcBef>
                <a:spcPts val="0"/>
              </a:spcBef>
              <a:spcAft>
                <a:spcPts val="0"/>
              </a:spcAft>
              <a:buNone/>
            </a:pPr>
            <a:r>
              <a:rPr lang="en-US" sz="1150" b="1" dirty="0">
                <a:solidFill>
                  <a:srgbClr val="34D399"/>
                </a:solidFill>
                <a:latin typeface="Consolas"/>
                <a:ea typeface="Consolas"/>
                <a:cs typeface="Consolas"/>
              </a:rPr>
              <a:t>VALUE TYPES</a:t>
            </a:r>
            <a:r>
              <a:rPr lang="en-US" sz="1050" b="0" dirty="0">
                <a:solidFill>
                  <a:srgbClr val="E2E8F0"/>
                </a:solidFill>
                <a:latin typeface="Segoe UI"/>
                <a:ea typeface="Segoe UI"/>
                <a:cs typeface="Segoe UI"/>
              </a:rPr>
              <a:t>   string "Ahmed" · number 15000 · true / false · null</a:t>
            </a:r>
            <a:endParaRPr lang="en-US" sz="1150" dirty="0"/>
          </a:p>
        </p:txBody>
      </p:sp>
      <p:sp>
        <p:nvSpPr>
          <p:cNvPr id="121" name="c3"/>
          <p:cNvSpPr/>
          <p:nvPr/>
        </p:nvSpPr>
        <p:spPr>
          <a:xfrm>
            <a:off x="5800954" y="3291840"/>
            <a:ext cx="5829300" cy="512064"/>
          </a:xfrm>
          <a:prstGeom prst="roundRect">
            <a:avLst>
              <a:gd name="adj" fmla="val 12000"/>
            </a:avLst>
          </a:prstGeom>
          <a:solidFill>
            <a:srgbClr val="111B2E"/>
          </a:solidFill>
          <a:ln w="12700">
            <a:solidFill>
              <a:srgbClr val="A78BFA"/>
            </a:solidFill>
            <a:prstDash val="solid"/>
          </a:ln>
        </p:spPr>
        <p:txBody>
          <a:bodyPr wrap="square" lIns="164592" tIns="27432" rIns="91440" bIns="27432" rtlCol="0" anchor="ctr">
            <a:noAutofit/>
          </a:bodyPr>
          <a:lstStyle/>
          <a:p>
            <a:pPr marL="0" indent="0" algn="l">
              <a:spcBef>
                <a:spcPts val="0"/>
              </a:spcBef>
              <a:spcAft>
                <a:spcPts val="0"/>
              </a:spcAft>
              <a:buNone/>
            </a:pPr>
            <a:r>
              <a:rPr lang="en-US" sz="1150" b="1" dirty="0">
                <a:solidFill>
                  <a:srgbClr val="A78BFA"/>
                </a:solidFill>
                <a:latin typeface="Consolas"/>
                <a:ea typeface="Consolas"/>
                <a:cs typeface="Consolas"/>
              </a:rPr>
              <a:t>[ ]  ARRAY</a:t>
            </a:r>
            <a:r>
              <a:rPr lang="en-US" sz="1050" b="0" dirty="0">
                <a:solidFill>
                  <a:srgbClr val="E2E8F0"/>
                </a:solidFill>
                <a:latin typeface="Segoe UI"/>
                <a:ea typeface="Segoe UI"/>
                <a:cs typeface="Segoe UI"/>
              </a:rPr>
              <a:t>   an ordered list: ["C#", "SQL"]</a:t>
            </a:r>
            <a:endParaRPr lang="en-US" sz="1150" dirty="0"/>
          </a:p>
        </p:txBody>
      </p:sp>
      <p:sp>
        <p:nvSpPr>
          <p:cNvPr id="122" name="c4"/>
          <p:cNvSpPr/>
          <p:nvPr/>
        </p:nvSpPr>
        <p:spPr>
          <a:xfrm>
            <a:off x="5800954" y="3895344"/>
            <a:ext cx="5829300" cy="512064"/>
          </a:xfrm>
          <a:prstGeom prst="roundRect">
            <a:avLst>
              <a:gd name="adj" fmla="val 12000"/>
            </a:avLst>
          </a:prstGeom>
          <a:solidFill>
            <a:srgbClr val="111B2E"/>
          </a:solidFill>
          <a:ln w="12700">
            <a:solidFill>
              <a:srgbClr val="F472B6"/>
            </a:solidFill>
            <a:prstDash val="solid"/>
          </a:ln>
        </p:spPr>
        <p:txBody>
          <a:bodyPr wrap="square" lIns="164592" tIns="27432" rIns="91440" bIns="27432" rtlCol="0" anchor="ctr">
            <a:noAutofit/>
          </a:bodyPr>
          <a:lstStyle/>
          <a:p>
            <a:pPr marL="0" indent="0" algn="l">
              <a:spcBef>
                <a:spcPts val="0"/>
              </a:spcBef>
              <a:spcAft>
                <a:spcPts val="0"/>
              </a:spcAft>
              <a:buNone/>
            </a:pPr>
            <a:r>
              <a:rPr lang="en-US" sz="1150" b="1" dirty="0">
                <a:solidFill>
                  <a:srgbClr val="F472B6"/>
                </a:solidFill>
                <a:latin typeface="Consolas"/>
                <a:ea typeface="Consolas"/>
                <a:cs typeface="Consolas"/>
              </a:rPr>
              <a:t>NESTED</a:t>
            </a:r>
            <a:r>
              <a:rPr lang="en-US" sz="1050" b="0" dirty="0">
                <a:solidFill>
                  <a:srgbClr val="E2E8F0"/>
                </a:solidFill>
                <a:latin typeface="Segoe UI"/>
                <a:ea typeface="Segoe UI"/>
                <a:cs typeface="Segoe UI"/>
              </a:rPr>
              <a:t>   "address" holds another object</a:t>
            </a:r>
            <a:endParaRPr lang="en-US" sz="1150" dirty="0"/>
          </a:p>
        </p:txBody>
      </p:sp>
      <p:sp>
        <p:nvSpPr>
          <p:cNvPr id="123" name="vs"/>
          <p:cNvSpPr/>
          <p:nvPr/>
        </p:nvSpPr>
        <p:spPr>
          <a:xfrm>
            <a:off x="5800954" y="4572000"/>
            <a:ext cx="5829300" cy="1143000"/>
          </a:xfrm>
          <a:prstGeom prst="roundRect">
            <a:avLst>
              <a:gd name="adj" fmla="val 12000"/>
            </a:avLst>
          </a:prstGeom>
          <a:solidFill>
            <a:srgbClr val="111B2E"/>
          </a:solidFill>
          <a:ln w="12700">
            <a:solidFill>
              <a:srgbClr val="1E3A5F"/>
            </a:solidFill>
            <a:prstDash val="solid"/>
          </a:ln>
        </p:spPr>
        <p:txBody>
          <a:bodyPr wrap="square" lIns="164592" tIns="45720" rIns="91440" bIns="45720" rtlCol="0" anchor="ctr">
            <a:noAutofit/>
          </a:bodyPr>
          <a:lstStyle/>
          <a:p>
            <a:pPr marL="0" indent="0" algn="l">
              <a:spcBef>
                <a:spcPts val="0"/>
              </a:spcBef>
              <a:spcAft>
                <a:spcPts val="0"/>
              </a:spcAft>
              <a:buNone/>
            </a:pPr>
            <a:r>
              <a:rPr lang="en-US" sz="1150" b="1" dirty="0">
                <a:solidFill>
                  <a:srgbClr val="FFFFFF"/>
                </a:solidFill>
                <a:latin typeface="Segoe UI"/>
                <a:ea typeface="Segoe UI"/>
                <a:cs typeface="Segoe UI"/>
              </a:rPr>
              <a:t>JSON vs C# object</a:t>
            </a:r>
            <a:endParaRPr lang="en-US" sz="1150" dirty="0"/>
          </a:p>
          <a:p>
            <a:pPr marL="0" indent="0" algn="l">
              <a:spcBef>
                <a:spcPts val="0"/>
              </a:spcBef>
              <a:spcAft>
                <a:spcPts val="0"/>
              </a:spcAft>
              <a:buNone/>
            </a:pPr>
            <a:r>
              <a:rPr lang="en-US" sz="1050" b="0" dirty="0">
                <a:solidFill>
                  <a:srgbClr val="CBD5E1"/>
                </a:solidFill>
                <a:latin typeface="Segoe UI"/>
                <a:ea typeface="Segoe UI"/>
                <a:cs typeface="Segoe UI"/>
              </a:rPr>
              <a:t>JSON is only TEXT: no types, no methods. </a:t>
            </a:r>
            <a:endParaRPr lang="en-US" sz="1050" dirty="0"/>
          </a:p>
          <a:p>
            <a:pPr marL="0" indent="0" algn="l">
              <a:spcBef>
                <a:spcPts val="0"/>
              </a:spcBef>
              <a:spcAft>
                <a:spcPts val="0"/>
              </a:spcAft>
              <a:buNone/>
            </a:pPr>
            <a:r>
              <a:rPr lang="en-US" sz="1050" b="1" dirty="0">
                <a:solidFill>
                  <a:srgbClr val="13D0F7"/>
                </a:solidFill>
                <a:latin typeface="Segoe UI"/>
                <a:ea typeface="Segoe UI"/>
                <a:cs typeface="Segoe UI"/>
              </a:rPr>
              <a:t>Used everywhere: </a:t>
            </a:r>
            <a:r>
              <a:rPr lang="en-US" sz="1050" b="0" dirty="0">
                <a:solidFill>
                  <a:srgbClr val="CBD5E1"/>
                </a:solidFill>
                <a:latin typeface="Segoe UI"/>
                <a:ea typeface="Segoe UI"/>
                <a:cs typeface="Segoe UI"/>
              </a:rPr>
              <a:t>API requests and responses · appsettings.json</a:t>
            </a:r>
            <a:endParaRPr lang="en-US" sz="1050" dirty="0"/>
          </a:p>
        </p:txBody>
      </p:sp>
    </p:spTree>
    <p:extLst>
      <p:ext uri="{BB962C8B-B14F-4D97-AF65-F5344CB8AC3E}">
        <p14:creationId xmlns:p14="http://schemas.microsoft.com/office/powerpoint/2010/main" val="502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4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fade">
                                      <p:cBhvr>
                                        <p:cTn id="12" dur="400"/>
                                        <p:tgtEl>
                                          <p:spTgt spid="1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9"/>
                                        </p:tgtEl>
                                        <p:attrNameLst>
                                          <p:attrName>style.visibility</p:attrName>
                                        </p:attrNameLst>
                                      </p:cBhvr>
                                      <p:to>
                                        <p:strVal val="visible"/>
                                      </p:to>
                                    </p:set>
                                    <p:animEffect transition="in" filter="fade">
                                      <p:cBhvr>
                                        <p:cTn id="17" dur="400"/>
                                        <p:tgtEl>
                                          <p:spTgt spid="1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fade">
                                      <p:cBhvr>
                                        <p:cTn id="22" dur="4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fade">
                                      <p:cBhvr>
                                        <p:cTn id="27" dur="400"/>
                                        <p:tgtEl>
                                          <p:spTgt spid="1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2"/>
                                        </p:tgtEl>
                                        <p:attrNameLst>
                                          <p:attrName>style.visibility</p:attrName>
                                        </p:attrNameLst>
                                      </p:cBhvr>
                                      <p:to>
                                        <p:strVal val="visible"/>
                                      </p:to>
                                    </p:set>
                                    <p:animEffect transition="in" filter="fade">
                                      <p:cBhvr>
                                        <p:cTn id="32" dur="400"/>
                                        <p:tgtEl>
                                          <p:spTgt spid="1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3"/>
                                        </p:tgtEl>
                                        <p:attrNameLst>
                                          <p:attrName>style.visibility</p:attrName>
                                        </p:attrNameLst>
                                      </p:cBhvr>
                                      <p:to>
                                        <p:strVal val="visible"/>
                                      </p:to>
                                    </p:set>
                                    <p:animEffect transition="in" filter="fade">
                                      <p:cBhvr>
                                        <p:cTn id="37" dur="4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19" grpId="0" animBg="1"/>
      <p:bldP spid="120" grpId="0" animBg="1"/>
      <p:bldP spid="121" grpId="0" animBg="1"/>
      <p:bldP spid="122" grpId="0" animBg="1"/>
      <p:bldP spid="12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5600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SERIALIZATION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Serialization: Objects → Text, and Back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SERIALIZATION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26</a:t>
            </a:r>
            <a:endParaRPr lang="en-US" sz="850" dirty="0"/>
          </a:p>
        </p:txBody>
      </p:sp>
      <p:sp>
        <p:nvSpPr>
          <p:cNvPr id="101" name="o1"/>
          <p:cNvSpPr/>
          <p:nvPr/>
        </p:nvSpPr>
        <p:spPr>
          <a:xfrm>
            <a:off x="543154" y="1645920"/>
            <a:ext cx="3017520" cy="1417320"/>
          </a:xfrm>
          <a:prstGeom prst="roundRect">
            <a:avLst>
              <a:gd name="adj" fmla="val 12000"/>
            </a:avLst>
          </a:prstGeom>
          <a:solidFill>
            <a:srgbClr val="111B2E"/>
          </a:solidFill>
          <a:ln w="12700">
            <a:solidFill>
              <a:srgbClr val="F472B6"/>
            </a:solidFill>
            <a:prstDash val="solid"/>
          </a:ln>
        </p:spPr>
        <p:txBody>
          <a:bodyPr wrap="square" lIns="182880" tIns="45720" rIns="91440" bIns="45720" rtlCol="0" anchor="ctr">
            <a:noAutofit/>
          </a:bodyPr>
          <a:lstStyle/>
          <a:p>
            <a:pPr marL="0" indent="0" algn="l">
              <a:spcBef>
                <a:spcPts val="0"/>
              </a:spcBef>
              <a:spcAft>
                <a:spcPts val="0"/>
              </a:spcAft>
              <a:buNone/>
            </a:pPr>
            <a:r>
              <a:rPr lang="en-US" sz="1150" b="1" dirty="0">
                <a:solidFill>
                  <a:srgbClr val="F472B6"/>
                </a:solidFill>
                <a:latin typeface="Segoe UI"/>
                <a:ea typeface="Segoe UI"/>
                <a:cs typeface="Segoe UI"/>
              </a:rPr>
              <a:t>Employee object  ·  in RAM</a:t>
            </a:r>
            <a:endParaRPr lang="en-US" sz="1150" dirty="0"/>
          </a:p>
          <a:p>
            <a:pPr marL="0" indent="0" algn="l">
              <a:spcBef>
                <a:spcPts val="0"/>
              </a:spcBef>
              <a:spcAft>
                <a:spcPts val="0"/>
              </a:spcAft>
              <a:buNone/>
            </a:pPr>
            <a:r>
              <a:rPr lang="en-US" sz="1100" b="0" dirty="0">
                <a:solidFill>
                  <a:srgbClr val="E2E8F0"/>
                </a:solidFill>
                <a:latin typeface="Consolas"/>
                <a:ea typeface="Consolas"/>
                <a:cs typeface="Consolas"/>
              </a:rPr>
              <a:t>Id     = 1</a:t>
            </a:r>
            <a:endParaRPr lang="en-US" sz="1100" dirty="0"/>
          </a:p>
          <a:p>
            <a:pPr marL="0" indent="0" algn="l">
              <a:spcBef>
                <a:spcPts val="0"/>
              </a:spcBef>
              <a:spcAft>
                <a:spcPts val="0"/>
              </a:spcAft>
              <a:buNone/>
            </a:pPr>
            <a:r>
              <a:rPr lang="en-US" sz="1100" b="0" dirty="0">
                <a:solidFill>
                  <a:srgbClr val="E2E8F0"/>
                </a:solidFill>
                <a:latin typeface="Consolas"/>
                <a:ea typeface="Consolas"/>
                <a:cs typeface="Consolas"/>
              </a:rPr>
              <a:t>Name   = "Mona"</a:t>
            </a:r>
            <a:endParaRPr lang="en-US" sz="1100" dirty="0"/>
          </a:p>
          <a:p>
            <a:pPr marL="0" indent="0" algn="l">
              <a:spcBef>
                <a:spcPts val="0"/>
              </a:spcBef>
              <a:spcAft>
                <a:spcPts val="0"/>
              </a:spcAft>
              <a:buNone/>
            </a:pPr>
            <a:r>
              <a:rPr lang="en-US" sz="1100" b="0" dirty="0">
                <a:solidFill>
                  <a:srgbClr val="E2E8F0"/>
                </a:solidFill>
                <a:latin typeface="Consolas"/>
                <a:ea typeface="Consolas"/>
                <a:cs typeface="Consolas"/>
              </a:rPr>
              <a:t>Salary = 15000</a:t>
            </a:r>
            <a:endParaRPr lang="en-US" sz="1100" dirty="0"/>
          </a:p>
        </p:txBody>
      </p:sp>
      <p:sp>
        <p:nvSpPr>
          <p:cNvPr id="102" name="tok"/>
          <p:cNvSpPr/>
          <p:nvPr/>
        </p:nvSpPr>
        <p:spPr>
          <a:xfrm>
            <a:off x="1143000" y="2148840"/>
            <a:ext cx="1828800" cy="384048"/>
          </a:xfrm>
          <a:prstGeom prst="roundRect">
            <a:avLst>
              <a:gd name="adj" fmla="val 12000"/>
            </a:avLst>
          </a:prstGeom>
          <a:solidFill>
            <a:srgbClr val="F472B6"/>
          </a:solidFill>
          <a:ln w="12700">
            <a:solidFill>
              <a:srgbClr val="F472B6"/>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0F172A"/>
                </a:solidFill>
                <a:latin typeface="Consolas"/>
                <a:ea typeface="Consolas"/>
                <a:cs typeface="Consolas"/>
              </a:rPr>
              <a:t>Employee</a:t>
            </a:r>
            <a:endParaRPr lang="en-US" sz="1100" dirty="0"/>
          </a:p>
        </p:txBody>
      </p:sp>
      <p:cxnSp>
        <p:nvCxnSpPr>
          <p:cNvPr id="103" name="a1"/>
          <p:cNvCxnSpPr/>
          <p:nvPr/>
        </p:nvCxnSpPr>
        <p:spPr>
          <a:xfrm>
            <a:off x="3657600" y="2350008"/>
            <a:ext cx="896112" cy="0"/>
          </a:xfrm>
          <a:prstGeom prst="line">
            <a:avLst/>
          </a:prstGeom>
          <a:ln w="28575">
            <a:solidFill>
              <a:srgbClr val="F472B6"/>
            </a:solidFill>
            <a:tailEnd type="triangle" w="med" len="med"/>
          </a:ln>
        </p:spPr>
      </p:cxnSp>
      <p:sp>
        <p:nvSpPr>
          <p:cNvPr id="104" name="a1L"/>
          <p:cNvSpPr txBox="1"/>
          <p:nvPr/>
        </p:nvSpPr>
        <p:spPr>
          <a:xfrm>
            <a:off x="3566160" y="1947672"/>
            <a:ext cx="109728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100" b="1" dirty="0">
                <a:solidFill>
                  <a:srgbClr val="F472B6"/>
                </a:solidFill>
                <a:latin typeface="Segoe UI"/>
                <a:ea typeface="Segoe UI"/>
                <a:cs typeface="Segoe UI"/>
              </a:rPr>
              <a:t>Serialize</a:t>
            </a:r>
            <a:endParaRPr lang="en-US" sz="1100" dirty="0"/>
          </a:p>
        </p:txBody>
      </p:sp>
      <p:sp>
        <p:nvSpPr>
          <p:cNvPr id="105" name="j1"/>
          <p:cNvSpPr/>
          <p:nvPr/>
        </p:nvSpPr>
        <p:spPr>
          <a:xfrm>
            <a:off x="4663440" y="1984248"/>
            <a:ext cx="3840480" cy="731520"/>
          </a:xfrm>
          <a:prstGeom prst="roundRect">
            <a:avLst>
              <a:gd name="adj" fmla="val 12000"/>
            </a:avLst>
          </a:prstGeom>
          <a:solidFill>
            <a:srgbClr val="060D1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0" dirty="0">
                <a:solidFill>
                  <a:srgbClr val="F0A98B"/>
                </a:solidFill>
                <a:latin typeface="Consolas"/>
                <a:ea typeface="Consolas"/>
                <a:cs typeface="Consolas"/>
              </a:rPr>
              <a:t>{"id":1,"name":"Mona","salary":15000}</a:t>
            </a:r>
            <a:endParaRPr lang="en-US" sz="1100" dirty="0"/>
          </a:p>
        </p:txBody>
      </p:sp>
      <p:sp>
        <p:nvSpPr>
          <p:cNvPr id="106" name="j1L"/>
          <p:cNvSpPr txBox="1"/>
          <p:nvPr/>
        </p:nvSpPr>
        <p:spPr>
          <a:xfrm>
            <a:off x="4663440" y="2743200"/>
            <a:ext cx="384048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b="0" dirty="0">
                <a:solidFill>
                  <a:srgbClr val="94A3B8"/>
                </a:solidFill>
                <a:latin typeface="Segoe UI"/>
                <a:ea typeface="Segoe UI"/>
                <a:cs typeface="Segoe UI"/>
              </a:rPr>
              <a:t>JSON: plain text, any program can read it</a:t>
            </a:r>
            <a:endParaRPr lang="en-US" sz="1000" dirty="0"/>
          </a:p>
        </p:txBody>
      </p:sp>
      <p:sp>
        <p:nvSpPr>
          <p:cNvPr id="107" name="d0"/>
          <p:cNvSpPr/>
          <p:nvPr/>
        </p:nvSpPr>
        <p:spPr>
          <a:xfrm>
            <a:off x="9098280" y="1645920"/>
            <a:ext cx="2532888" cy="438912"/>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E2E8F0"/>
                </a:solidFill>
                <a:latin typeface="Segoe UI"/>
                <a:ea typeface="Segoe UI"/>
                <a:cs typeface="Segoe UI"/>
              </a:rPr>
              <a:t>file: employees.json</a:t>
            </a:r>
            <a:endParaRPr lang="en-US" sz="1050" dirty="0"/>
          </a:p>
        </p:txBody>
      </p:sp>
      <p:sp>
        <p:nvSpPr>
          <p:cNvPr id="108" name="d1"/>
          <p:cNvSpPr/>
          <p:nvPr/>
        </p:nvSpPr>
        <p:spPr>
          <a:xfrm>
            <a:off x="9098280" y="2194560"/>
            <a:ext cx="2532888" cy="438912"/>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E2E8F0"/>
                </a:solidFill>
                <a:latin typeface="Segoe UI"/>
                <a:ea typeface="Segoe UI"/>
                <a:cs typeface="Segoe UI"/>
              </a:rPr>
              <a:t>network: HTTP response</a:t>
            </a:r>
            <a:endParaRPr lang="en-US" sz="1050" dirty="0"/>
          </a:p>
        </p:txBody>
      </p:sp>
      <p:sp>
        <p:nvSpPr>
          <p:cNvPr id="109" name="d2"/>
          <p:cNvSpPr/>
          <p:nvPr/>
        </p:nvSpPr>
        <p:spPr>
          <a:xfrm>
            <a:off x="9098280" y="2743200"/>
            <a:ext cx="2532888" cy="438912"/>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E2E8F0"/>
                </a:solidFill>
                <a:latin typeface="Segoe UI"/>
                <a:ea typeface="Segoe UI"/>
                <a:cs typeface="Segoe UI"/>
              </a:rPr>
              <a:t>cache / message queue</a:t>
            </a:r>
            <a:endParaRPr lang="en-US" sz="1050" dirty="0"/>
          </a:p>
        </p:txBody>
      </p:sp>
      <p:cxnSp>
        <p:nvCxnSpPr>
          <p:cNvPr id="110" name="da0"/>
          <p:cNvCxnSpPr/>
          <p:nvPr/>
        </p:nvCxnSpPr>
        <p:spPr>
          <a:xfrm flipV="1">
            <a:off x="8577072" y="1865376"/>
            <a:ext cx="475488" cy="484632"/>
          </a:xfrm>
          <a:prstGeom prst="line">
            <a:avLst/>
          </a:prstGeom>
          <a:ln w="15875">
            <a:solidFill>
              <a:srgbClr val="FBBF24"/>
            </a:solidFill>
            <a:tailEnd type="triangle" w="med" len="med"/>
          </a:ln>
        </p:spPr>
      </p:cxnSp>
      <p:cxnSp>
        <p:nvCxnSpPr>
          <p:cNvPr id="111" name="da1"/>
          <p:cNvCxnSpPr/>
          <p:nvPr/>
        </p:nvCxnSpPr>
        <p:spPr>
          <a:xfrm>
            <a:off x="8577072" y="2350008"/>
            <a:ext cx="475488" cy="64008"/>
          </a:xfrm>
          <a:prstGeom prst="line">
            <a:avLst/>
          </a:prstGeom>
          <a:ln w="15875">
            <a:solidFill>
              <a:srgbClr val="FBBF24"/>
            </a:solidFill>
            <a:tailEnd type="triangle" w="med" len="med"/>
          </a:ln>
        </p:spPr>
      </p:cxnSp>
      <p:cxnSp>
        <p:nvCxnSpPr>
          <p:cNvPr id="112" name="da2"/>
          <p:cNvCxnSpPr/>
          <p:nvPr/>
        </p:nvCxnSpPr>
        <p:spPr>
          <a:xfrm>
            <a:off x="8577072" y="2350008"/>
            <a:ext cx="475488" cy="612648"/>
          </a:xfrm>
          <a:prstGeom prst="line">
            <a:avLst/>
          </a:prstGeom>
          <a:ln w="15875">
            <a:solidFill>
              <a:srgbClr val="FBBF24"/>
            </a:solidFill>
            <a:tailEnd type="triangle" w="med" len="med"/>
          </a:ln>
        </p:spPr>
      </p:cxnSp>
      <p:cxnSp>
        <p:nvCxnSpPr>
          <p:cNvPr id="113" name="back"/>
          <p:cNvCxnSpPr/>
          <p:nvPr/>
        </p:nvCxnSpPr>
        <p:spPr>
          <a:xfrm flipH="1">
            <a:off x="8595360" y="3246120"/>
            <a:ext cx="1737360" cy="777240"/>
          </a:xfrm>
          <a:prstGeom prst="line">
            <a:avLst/>
          </a:prstGeom>
          <a:ln w="19050">
            <a:solidFill>
              <a:srgbClr val="60A5FA"/>
            </a:solidFill>
            <a:tailEnd type="triangle" w="med" len="med"/>
          </a:ln>
        </p:spPr>
      </p:cxnSp>
      <p:sp>
        <p:nvSpPr>
          <p:cNvPr id="114" name="backL"/>
          <p:cNvSpPr txBox="1"/>
          <p:nvPr/>
        </p:nvSpPr>
        <p:spPr>
          <a:xfrm>
            <a:off x="9235440" y="3703320"/>
            <a:ext cx="2377440"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00" b="1" dirty="0">
                <a:solidFill>
                  <a:srgbClr val="60A5FA"/>
                </a:solidFill>
                <a:latin typeface="Segoe UI"/>
                <a:ea typeface="Segoe UI"/>
                <a:cs typeface="Segoe UI"/>
              </a:rPr>
              <a:t>read it back later</a:t>
            </a:r>
            <a:endParaRPr lang="en-US" sz="1000" dirty="0"/>
          </a:p>
        </p:txBody>
      </p:sp>
      <p:sp>
        <p:nvSpPr>
          <p:cNvPr id="115" name="j2"/>
          <p:cNvSpPr/>
          <p:nvPr/>
        </p:nvSpPr>
        <p:spPr>
          <a:xfrm>
            <a:off x="4663440" y="3703320"/>
            <a:ext cx="3840480" cy="731520"/>
          </a:xfrm>
          <a:prstGeom prst="roundRect">
            <a:avLst>
              <a:gd name="adj" fmla="val 12000"/>
            </a:avLst>
          </a:prstGeom>
          <a:solidFill>
            <a:srgbClr val="060D18"/>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0" dirty="0">
                <a:solidFill>
                  <a:srgbClr val="F0A98B"/>
                </a:solidFill>
                <a:latin typeface="Consolas"/>
                <a:ea typeface="Consolas"/>
                <a:cs typeface="Consolas"/>
              </a:rPr>
              <a:t>{"id":1,"name":"Mona","salary":15000}</a:t>
            </a:r>
            <a:endParaRPr lang="en-US" sz="1100" dirty="0"/>
          </a:p>
        </p:txBody>
      </p:sp>
      <p:cxnSp>
        <p:nvCxnSpPr>
          <p:cNvPr id="116" name="a2"/>
          <p:cNvCxnSpPr/>
          <p:nvPr/>
        </p:nvCxnSpPr>
        <p:spPr>
          <a:xfrm flipH="1">
            <a:off x="3657600" y="4069080"/>
            <a:ext cx="896112" cy="0"/>
          </a:xfrm>
          <a:prstGeom prst="line">
            <a:avLst/>
          </a:prstGeom>
          <a:ln w="28575">
            <a:solidFill>
              <a:srgbClr val="60A5FA"/>
            </a:solidFill>
            <a:tailEnd type="triangle" w="med" len="med"/>
          </a:ln>
        </p:spPr>
      </p:cxnSp>
      <p:sp>
        <p:nvSpPr>
          <p:cNvPr id="117" name="a2L"/>
          <p:cNvSpPr txBox="1"/>
          <p:nvPr/>
        </p:nvSpPr>
        <p:spPr>
          <a:xfrm>
            <a:off x="3520440" y="3657600"/>
            <a:ext cx="118872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100" b="1" dirty="0">
                <a:solidFill>
                  <a:srgbClr val="60A5FA"/>
                </a:solidFill>
                <a:latin typeface="Segoe UI"/>
                <a:ea typeface="Segoe UI"/>
                <a:cs typeface="Segoe UI"/>
              </a:rPr>
              <a:t>Deserialize</a:t>
            </a:r>
            <a:endParaRPr lang="en-US" sz="1100" dirty="0"/>
          </a:p>
        </p:txBody>
      </p:sp>
      <p:sp>
        <p:nvSpPr>
          <p:cNvPr id="118" name="o2"/>
          <p:cNvSpPr/>
          <p:nvPr/>
        </p:nvSpPr>
        <p:spPr>
          <a:xfrm>
            <a:off x="543154" y="3383280"/>
            <a:ext cx="3017520" cy="1417320"/>
          </a:xfrm>
          <a:prstGeom prst="roundRect">
            <a:avLst>
              <a:gd name="adj" fmla="val 12000"/>
            </a:avLst>
          </a:prstGeom>
          <a:solidFill>
            <a:srgbClr val="111B2E"/>
          </a:solidFill>
          <a:ln w="12700">
            <a:solidFill>
              <a:srgbClr val="60A5FA"/>
            </a:solidFill>
            <a:prstDash val="solid"/>
          </a:ln>
        </p:spPr>
        <p:txBody>
          <a:bodyPr wrap="square" lIns="182880" tIns="45720" rIns="91440" bIns="45720" rtlCol="0" anchor="ctr">
            <a:noAutofit/>
          </a:bodyPr>
          <a:lstStyle/>
          <a:p>
            <a:pPr marL="0" indent="0" algn="l">
              <a:spcBef>
                <a:spcPts val="0"/>
              </a:spcBef>
              <a:spcAft>
                <a:spcPts val="0"/>
              </a:spcAft>
              <a:buNone/>
            </a:pPr>
            <a:r>
              <a:rPr lang="en-US" sz="1150" b="1" dirty="0">
                <a:solidFill>
                  <a:srgbClr val="60A5FA"/>
                </a:solidFill>
                <a:latin typeface="Segoe UI"/>
                <a:ea typeface="Segoe UI"/>
                <a:cs typeface="Segoe UI"/>
              </a:rPr>
              <a:t>NEW Employee object</a:t>
            </a:r>
            <a:endParaRPr lang="en-US" sz="1150" dirty="0"/>
          </a:p>
          <a:p>
            <a:pPr marL="0" indent="0" algn="l">
              <a:spcBef>
                <a:spcPts val="0"/>
              </a:spcBef>
              <a:spcAft>
                <a:spcPts val="0"/>
              </a:spcAft>
              <a:buNone/>
            </a:pPr>
            <a:r>
              <a:rPr lang="en-US" sz="1100" b="0" dirty="0">
                <a:solidFill>
                  <a:srgbClr val="E2E8F0"/>
                </a:solidFill>
                <a:latin typeface="Consolas"/>
                <a:ea typeface="Consolas"/>
                <a:cs typeface="Consolas"/>
              </a:rPr>
              <a:t>Id     = 1</a:t>
            </a:r>
            <a:endParaRPr lang="en-US" sz="1100" dirty="0"/>
          </a:p>
          <a:p>
            <a:pPr marL="0" indent="0" algn="l">
              <a:spcBef>
                <a:spcPts val="0"/>
              </a:spcBef>
              <a:spcAft>
                <a:spcPts val="0"/>
              </a:spcAft>
              <a:buNone/>
            </a:pPr>
            <a:r>
              <a:rPr lang="en-US" sz="1100" b="0" dirty="0">
                <a:solidFill>
                  <a:srgbClr val="E2E8F0"/>
                </a:solidFill>
                <a:latin typeface="Consolas"/>
                <a:ea typeface="Consolas"/>
                <a:cs typeface="Consolas"/>
              </a:rPr>
              <a:t>Name   = "Mona"</a:t>
            </a:r>
            <a:endParaRPr lang="en-US" sz="1100" dirty="0"/>
          </a:p>
          <a:p>
            <a:pPr marL="0" indent="0" algn="l">
              <a:spcBef>
                <a:spcPts val="0"/>
              </a:spcBef>
              <a:spcAft>
                <a:spcPts val="0"/>
              </a:spcAft>
              <a:buNone/>
            </a:pPr>
            <a:r>
              <a:rPr lang="en-US" sz="1000" b="0" dirty="0">
                <a:solidFill>
                  <a:srgbClr val="94A3B8"/>
                </a:solidFill>
                <a:latin typeface="Segoe UI"/>
                <a:ea typeface="Segoe UI"/>
                <a:cs typeface="Segoe UI"/>
              </a:rPr>
              <a:t>same data, a different object</a:t>
            </a:r>
            <a:endParaRPr lang="en-US" sz="1000" dirty="0"/>
          </a:p>
        </p:txBody>
      </p:sp>
      <p:sp>
        <p:nvSpPr>
          <p:cNvPr id="119" name="b"/>
          <p:cNvSpPr/>
          <p:nvPr/>
        </p:nvSpPr>
        <p:spPr>
          <a:xfrm>
            <a:off x="543154" y="5074920"/>
            <a:ext cx="11087100" cy="731520"/>
          </a:xfrm>
          <a:prstGeom prst="roundRect">
            <a:avLst>
              <a:gd name="adj" fmla="val 10975"/>
            </a:avLst>
          </a:prstGeom>
          <a:solidFill>
            <a:srgbClr val="0C1628"/>
          </a:solidFill>
          <a:ln w="12700">
            <a:solidFill>
              <a:srgbClr val="F472B6"/>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Serialize = object → text you can store or send. Deserialize = text → a new object with the same data.</a:t>
            </a:r>
            <a:endParaRPr lang="en-US" sz="1500" dirty="0"/>
          </a:p>
        </p:txBody>
      </p:sp>
    </p:spTree>
    <p:extLst>
      <p:ext uri="{BB962C8B-B14F-4D97-AF65-F5344CB8AC3E}">
        <p14:creationId xmlns:p14="http://schemas.microsoft.com/office/powerpoint/2010/main" val="50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200"/>
                                        <p:tgtEl>
                                          <p:spTgt spid="102"/>
                                        </p:tgtEl>
                                      </p:cBhvr>
                                    </p:animEffect>
                                  </p:childTnLst>
                                </p:cTn>
                              </p:par>
                              <p:par>
                                <p:cTn id="13" presetID="10" presetClass="entr" presetSubtype="0" fill="hold" nodeType="with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fade">
                                      <p:cBhvr>
                                        <p:cTn id="15" dur="400"/>
                                        <p:tgtEl>
                                          <p:spTgt spid="10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4"/>
                                        </p:tgtEl>
                                        <p:attrNameLst>
                                          <p:attrName>style.visibility</p:attrName>
                                        </p:attrNameLst>
                                      </p:cBhvr>
                                      <p:to>
                                        <p:strVal val="visible"/>
                                      </p:to>
                                    </p:set>
                                    <p:animEffect transition="in" filter="fade">
                                      <p:cBhvr>
                                        <p:cTn id="18" dur="400"/>
                                        <p:tgtEl>
                                          <p:spTgt spid="104"/>
                                        </p:tgtEl>
                                      </p:cBhvr>
                                    </p:animEffect>
                                  </p:childTnLst>
                                </p:cTn>
                              </p:par>
                            </p:childTnLst>
                          </p:cTn>
                        </p:par>
                        <p:par>
                          <p:cTn id="19" fill="hold">
                            <p:stCondLst>
                              <p:cond delay="400"/>
                            </p:stCondLst>
                            <p:childTnLst>
                              <p:par>
                                <p:cTn id="20" presetID="0" presetClass="path" presetSubtype="0" accel="50000" decel="50000" fill="hold" grpId="1" nodeType="afterEffect">
                                  <p:stCondLst>
                                    <p:cond delay="0"/>
                                  </p:stCondLst>
                                  <p:childTnLst>
                                    <p:animMotion origin="layout" path="M 0.00000 0.00000 L 0.39000 -0.02000 E" pathEditMode="relative" rAng="0" ptsTypes="AA">
                                      <p:cBhvr>
                                        <p:cTn id="21" dur="800" fill="hold"/>
                                        <p:tgtEl>
                                          <p:spTgt spid="102"/>
                                        </p:tgtEl>
                                        <p:attrNameLst>
                                          <p:attrName>ppt_x</p:attrName>
                                          <p:attrName>ppt_y</p:attrName>
                                        </p:attrNameLst>
                                      </p:cBhvr>
                                      <p:rCtr x="19500" y="-1000"/>
                                    </p:animMotion>
                                  </p:childTnLst>
                                </p:cTn>
                              </p:par>
                            </p:childTnLst>
                          </p:cTn>
                        </p:par>
                        <p:par>
                          <p:cTn id="22" fill="hold">
                            <p:stCondLst>
                              <p:cond delay="1200"/>
                            </p:stCondLst>
                            <p:childTnLst>
                              <p:par>
                                <p:cTn id="23" presetID="10" presetClass="exit" presetSubtype="0" fill="hold" grpId="2" nodeType="afterEffect">
                                  <p:stCondLst>
                                    <p:cond delay="0"/>
                                  </p:stCondLst>
                                  <p:childTnLst>
                                    <p:animEffect transition="out" filter="fade">
                                      <p:cBhvr>
                                        <p:cTn id="24" dur="250"/>
                                        <p:tgtEl>
                                          <p:spTgt spid="102"/>
                                        </p:tgtEl>
                                      </p:cBhvr>
                                    </p:animEffect>
                                    <p:set>
                                      <p:cBhvr>
                                        <p:cTn id="25" dur="1" fill="hold">
                                          <p:stCondLst>
                                            <p:cond delay="249"/>
                                          </p:stCondLst>
                                        </p:cTn>
                                        <p:tgtEl>
                                          <p:spTgt spid="102"/>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7" dur="1" fill="hold">
                                          <p:stCondLst>
                                            <p:cond delay="0"/>
                                          </p:stCondLst>
                                        </p:cTn>
                                        <p:tgtEl>
                                          <p:spTgt spid="105"/>
                                        </p:tgtEl>
                                        <p:attrNameLst>
                                          <p:attrName>style.visibility</p:attrName>
                                        </p:attrNameLst>
                                      </p:cBhvr>
                                      <p:to>
                                        <p:strVal val="visible"/>
                                      </p:to>
                                    </p:set>
                                    <p:animEffect transition="in" filter="fade">
                                      <p:cBhvr>
                                        <p:cTn id="28" dur="400"/>
                                        <p:tgtEl>
                                          <p:spTgt spid="105"/>
                                        </p:tgtEl>
                                      </p:cBhvr>
                                    </p:animEffect>
                                  </p:childTnLst>
                                </p:cTn>
                              </p:par>
                            </p:childTnLst>
                          </p:cTn>
                        </p:par>
                        <p:par>
                          <p:cTn id="29" fill="hold">
                            <p:stCondLst>
                              <p:cond delay="1600"/>
                            </p:stCondLst>
                            <p:childTnLst>
                              <p:par>
                                <p:cTn id="30" presetID="10" presetClass="entr" presetSubtype="0" fill="hold" grpId="0" nodeType="after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fade">
                                      <p:cBhvr>
                                        <p:cTn id="32" dur="400"/>
                                        <p:tgtEl>
                                          <p:spTgt spid="10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0"/>
                                        </p:tgtEl>
                                        <p:attrNameLst>
                                          <p:attrName>style.visibility</p:attrName>
                                        </p:attrNameLst>
                                      </p:cBhvr>
                                      <p:to>
                                        <p:strVal val="visible"/>
                                      </p:to>
                                    </p:set>
                                    <p:animEffect transition="in" filter="fade">
                                      <p:cBhvr>
                                        <p:cTn id="37" dur="400"/>
                                        <p:tgtEl>
                                          <p:spTgt spid="11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7"/>
                                        </p:tgtEl>
                                        <p:attrNameLst>
                                          <p:attrName>style.visibility</p:attrName>
                                        </p:attrNameLst>
                                      </p:cBhvr>
                                      <p:to>
                                        <p:strVal val="visible"/>
                                      </p:to>
                                    </p:set>
                                    <p:animEffect transition="in" filter="fade">
                                      <p:cBhvr>
                                        <p:cTn id="40" dur="400"/>
                                        <p:tgtEl>
                                          <p:spTgt spid="107"/>
                                        </p:tgtEl>
                                      </p:cBhvr>
                                    </p:animEffect>
                                  </p:childTnLst>
                                </p:cTn>
                              </p:par>
                            </p:childTnLst>
                          </p:cTn>
                        </p:par>
                        <p:par>
                          <p:cTn id="41" fill="hold">
                            <p:stCondLst>
                              <p:cond delay="400"/>
                            </p:stCondLst>
                            <p:childTnLst>
                              <p:par>
                                <p:cTn id="42" presetID="10" presetClass="entr" presetSubtype="0" fill="hold" nodeType="afterEffect">
                                  <p:stCondLst>
                                    <p:cond delay="0"/>
                                  </p:stCondLst>
                                  <p:childTnLst>
                                    <p:set>
                                      <p:cBhvr>
                                        <p:cTn id="43" dur="1" fill="hold">
                                          <p:stCondLst>
                                            <p:cond delay="0"/>
                                          </p:stCondLst>
                                        </p:cTn>
                                        <p:tgtEl>
                                          <p:spTgt spid="111"/>
                                        </p:tgtEl>
                                        <p:attrNameLst>
                                          <p:attrName>style.visibility</p:attrName>
                                        </p:attrNameLst>
                                      </p:cBhvr>
                                      <p:to>
                                        <p:strVal val="visible"/>
                                      </p:to>
                                    </p:set>
                                    <p:animEffect transition="in" filter="fade">
                                      <p:cBhvr>
                                        <p:cTn id="44" dur="250"/>
                                        <p:tgtEl>
                                          <p:spTgt spid="1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fade">
                                      <p:cBhvr>
                                        <p:cTn id="47" dur="250"/>
                                        <p:tgtEl>
                                          <p:spTgt spid="108"/>
                                        </p:tgtEl>
                                      </p:cBhvr>
                                    </p:animEffect>
                                  </p:childTnLst>
                                </p:cTn>
                              </p:par>
                            </p:childTnLst>
                          </p:cTn>
                        </p:par>
                        <p:par>
                          <p:cTn id="48" fill="hold">
                            <p:stCondLst>
                              <p:cond delay="650"/>
                            </p:stCondLst>
                            <p:childTnLst>
                              <p:par>
                                <p:cTn id="49" presetID="10" presetClass="entr" presetSubtype="0" fill="hold" nodeType="afterEffect">
                                  <p:stCondLst>
                                    <p:cond delay="0"/>
                                  </p:stCondLst>
                                  <p:childTnLst>
                                    <p:set>
                                      <p:cBhvr>
                                        <p:cTn id="50" dur="1" fill="hold">
                                          <p:stCondLst>
                                            <p:cond delay="0"/>
                                          </p:stCondLst>
                                        </p:cTn>
                                        <p:tgtEl>
                                          <p:spTgt spid="112"/>
                                        </p:tgtEl>
                                        <p:attrNameLst>
                                          <p:attrName>style.visibility</p:attrName>
                                        </p:attrNameLst>
                                      </p:cBhvr>
                                      <p:to>
                                        <p:strVal val="visible"/>
                                      </p:to>
                                    </p:set>
                                    <p:animEffect transition="in" filter="fade">
                                      <p:cBhvr>
                                        <p:cTn id="51" dur="250"/>
                                        <p:tgtEl>
                                          <p:spTgt spid="11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9"/>
                                        </p:tgtEl>
                                        <p:attrNameLst>
                                          <p:attrName>style.visibility</p:attrName>
                                        </p:attrNameLst>
                                      </p:cBhvr>
                                      <p:to>
                                        <p:strVal val="visible"/>
                                      </p:to>
                                    </p:set>
                                    <p:animEffect transition="in" filter="fade">
                                      <p:cBhvr>
                                        <p:cTn id="54" dur="250"/>
                                        <p:tgtEl>
                                          <p:spTgt spid="10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13"/>
                                        </p:tgtEl>
                                        <p:attrNameLst>
                                          <p:attrName>style.visibility</p:attrName>
                                        </p:attrNameLst>
                                      </p:cBhvr>
                                      <p:to>
                                        <p:strVal val="visible"/>
                                      </p:to>
                                    </p:set>
                                    <p:animEffect transition="in" filter="fade">
                                      <p:cBhvr>
                                        <p:cTn id="59" dur="400"/>
                                        <p:tgtEl>
                                          <p:spTgt spid="11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14"/>
                                        </p:tgtEl>
                                        <p:attrNameLst>
                                          <p:attrName>style.visibility</p:attrName>
                                        </p:attrNameLst>
                                      </p:cBhvr>
                                      <p:to>
                                        <p:strVal val="visible"/>
                                      </p:to>
                                    </p:set>
                                    <p:animEffect transition="in" filter="fade">
                                      <p:cBhvr>
                                        <p:cTn id="62" dur="400"/>
                                        <p:tgtEl>
                                          <p:spTgt spid="114"/>
                                        </p:tgtEl>
                                      </p:cBhvr>
                                    </p:animEffect>
                                  </p:childTnLst>
                                </p:cTn>
                              </p:par>
                            </p:childTnLst>
                          </p:cTn>
                        </p:par>
                        <p:par>
                          <p:cTn id="63" fill="hold">
                            <p:stCondLst>
                              <p:cond delay="400"/>
                            </p:stCondLst>
                            <p:childTnLst>
                              <p:par>
                                <p:cTn id="64" presetID="10" presetClass="entr" presetSubtype="0" fill="hold" grpId="0" nodeType="afterEffect">
                                  <p:stCondLst>
                                    <p:cond delay="0"/>
                                  </p:stCondLst>
                                  <p:childTnLst>
                                    <p:set>
                                      <p:cBhvr>
                                        <p:cTn id="65" dur="1" fill="hold">
                                          <p:stCondLst>
                                            <p:cond delay="0"/>
                                          </p:stCondLst>
                                        </p:cTn>
                                        <p:tgtEl>
                                          <p:spTgt spid="115"/>
                                        </p:tgtEl>
                                        <p:attrNameLst>
                                          <p:attrName>style.visibility</p:attrName>
                                        </p:attrNameLst>
                                      </p:cBhvr>
                                      <p:to>
                                        <p:strVal val="visible"/>
                                      </p:to>
                                    </p:set>
                                    <p:animEffect transition="in" filter="fade">
                                      <p:cBhvr>
                                        <p:cTn id="66" dur="400"/>
                                        <p:tgtEl>
                                          <p:spTgt spid="115"/>
                                        </p:tgtEl>
                                      </p:cBhvr>
                                    </p:animEffect>
                                  </p:childTnLst>
                                </p:cTn>
                              </p:par>
                            </p:childTnLst>
                          </p:cTn>
                        </p:par>
                        <p:par>
                          <p:cTn id="67" fill="hold">
                            <p:stCondLst>
                              <p:cond delay="800"/>
                            </p:stCondLst>
                            <p:childTnLst>
                              <p:par>
                                <p:cTn id="68" presetID="10" presetClass="entr" presetSubtype="0" fill="hold" nodeType="afterEffect">
                                  <p:stCondLst>
                                    <p:cond delay="0"/>
                                  </p:stCondLst>
                                  <p:childTnLst>
                                    <p:set>
                                      <p:cBhvr>
                                        <p:cTn id="69" dur="1" fill="hold">
                                          <p:stCondLst>
                                            <p:cond delay="0"/>
                                          </p:stCondLst>
                                        </p:cTn>
                                        <p:tgtEl>
                                          <p:spTgt spid="116"/>
                                        </p:tgtEl>
                                        <p:attrNameLst>
                                          <p:attrName>style.visibility</p:attrName>
                                        </p:attrNameLst>
                                      </p:cBhvr>
                                      <p:to>
                                        <p:strVal val="visible"/>
                                      </p:to>
                                    </p:set>
                                    <p:animEffect transition="in" filter="fade">
                                      <p:cBhvr>
                                        <p:cTn id="70" dur="400"/>
                                        <p:tgtEl>
                                          <p:spTgt spid="11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17"/>
                                        </p:tgtEl>
                                        <p:attrNameLst>
                                          <p:attrName>style.visibility</p:attrName>
                                        </p:attrNameLst>
                                      </p:cBhvr>
                                      <p:to>
                                        <p:strVal val="visible"/>
                                      </p:to>
                                    </p:set>
                                    <p:animEffect transition="in" filter="fade">
                                      <p:cBhvr>
                                        <p:cTn id="73" dur="400"/>
                                        <p:tgtEl>
                                          <p:spTgt spid="117"/>
                                        </p:tgtEl>
                                      </p:cBhvr>
                                    </p:animEffect>
                                  </p:childTnLst>
                                </p:cTn>
                              </p:par>
                            </p:childTnLst>
                          </p:cTn>
                        </p:par>
                        <p:par>
                          <p:cTn id="74" fill="hold">
                            <p:stCondLst>
                              <p:cond delay="1200"/>
                            </p:stCondLst>
                            <p:childTnLst>
                              <p:par>
                                <p:cTn id="75" presetID="10" presetClass="entr" presetSubtype="0" fill="hold" grpId="0" nodeType="afterEffect">
                                  <p:stCondLst>
                                    <p:cond delay="0"/>
                                  </p:stCondLst>
                                  <p:childTnLst>
                                    <p:set>
                                      <p:cBhvr>
                                        <p:cTn id="76" dur="1" fill="hold">
                                          <p:stCondLst>
                                            <p:cond delay="0"/>
                                          </p:stCondLst>
                                        </p:cTn>
                                        <p:tgtEl>
                                          <p:spTgt spid="118"/>
                                        </p:tgtEl>
                                        <p:attrNameLst>
                                          <p:attrName>style.visibility</p:attrName>
                                        </p:attrNameLst>
                                      </p:cBhvr>
                                      <p:to>
                                        <p:strVal val="visible"/>
                                      </p:to>
                                    </p:set>
                                    <p:animEffect transition="in" filter="fade">
                                      <p:cBhvr>
                                        <p:cTn id="77" dur="400"/>
                                        <p:tgtEl>
                                          <p:spTgt spid="11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19"/>
                                        </p:tgtEl>
                                        <p:attrNameLst>
                                          <p:attrName>style.visibility</p:attrName>
                                        </p:attrNameLst>
                                      </p:cBhvr>
                                      <p:to>
                                        <p:strVal val="visible"/>
                                      </p:to>
                                    </p:set>
                                    <p:animEffect transition="in" filter="fade">
                                      <p:cBhvr>
                                        <p:cTn id="82" dur="4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2" grpId="1" animBg="1"/>
      <p:bldP spid="102" grpId="2" animBg="1"/>
      <p:bldP spid="104" grpId="0" animBg="1"/>
      <p:bldP spid="105" grpId="0" animBg="1"/>
      <p:bldP spid="106" grpId="0" animBg="1"/>
      <p:bldP spid="107" grpId="0" animBg="1"/>
      <p:bldP spid="108" grpId="0" animBg="1"/>
      <p:bldP spid="109" grpId="0" animBg="1"/>
      <p:bldP spid="114" grpId="0" animBg="1"/>
      <p:bldP spid="115" grpId="0" animBg="1"/>
      <p:bldP spid="117" grpId="0" animBg="1"/>
      <p:bldP spid="118" grpId="0" animBg="1"/>
      <p:bldP spid="11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SERIALIZE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Serialize and Deserialize One Employee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JSON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27</a:t>
            </a:r>
            <a:endParaRPr lang="en-US" sz="850" dirty="0"/>
          </a:p>
        </p:txBody>
      </p:sp>
      <p:grpSp>
        <p:nvGrpSpPr>
          <p:cNvPr id="114" name="cls"/>
          <p:cNvGrpSpPr/>
          <p:nvPr/>
        </p:nvGrpSpPr>
        <p:grpSpPr>
          <a:xfrm>
            <a:off x="543154" y="1481328"/>
            <a:ext cx="4206240" cy="1585900"/>
            <a:chOff x="543154" y="1481328"/>
            <a:chExt cx="4206240" cy="1585900"/>
          </a:xfrm>
        </p:grpSpPr>
        <p:sp>
          <p:nvSpPr>
            <p:cNvPr id="101" name="cls_win"/>
            <p:cNvSpPr/>
            <p:nvPr/>
          </p:nvSpPr>
          <p:spPr>
            <a:xfrm>
              <a:off x="543154" y="1481328"/>
              <a:ext cx="4206240" cy="1585900"/>
            </a:xfrm>
            <a:prstGeom prst="roundRect">
              <a:avLst>
                <a:gd name="adj" fmla="val 4322"/>
              </a:avLst>
            </a:prstGeom>
            <a:solidFill>
              <a:srgbClr val="060D18"/>
            </a:solidFill>
            <a:ln w="12700">
              <a:solidFill>
                <a:srgbClr val="1E3A5F"/>
              </a:solidFill>
              <a:prstDash val="solid"/>
            </a:ln>
          </p:spPr>
          <p:txBody>
            <a:bodyPr/>
            <a:lstStyle/>
            <a:p>
              <a:endParaRPr lang="en-US"/>
            </a:p>
          </p:txBody>
        </p:sp>
        <p:sp>
          <p:nvSpPr>
            <p:cNvPr id="102" name="cls_bar"/>
            <p:cNvSpPr/>
            <p:nvPr/>
          </p:nvSpPr>
          <p:spPr>
            <a:xfrm>
              <a:off x="543154" y="1481328"/>
              <a:ext cx="4206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ls_barfill"/>
            <p:cNvSpPr/>
            <p:nvPr/>
          </p:nvSpPr>
          <p:spPr>
            <a:xfrm>
              <a:off x="543154" y="1652778"/>
              <a:ext cx="4206240" cy="171450"/>
            </a:xfrm>
            <a:prstGeom prst="rect">
              <a:avLst/>
            </a:prstGeom>
            <a:solidFill>
              <a:srgbClr val="0A1220"/>
            </a:solidFill>
            <a:ln w="12700">
              <a:solidFill>
                <a:srgbClr val="0A1220"/>
              </a:solidFill>
              <a:prstDash val="solid"/>
            </a:ln>
          </p:spPr>
          <p:txBody>
            <a:bodyPr/>
            <a:lstStyle/>
            <a:p>
              <a:endParaRPr lang="en-US"/>
            </a:p>
          </p:txBody>
        </p:sp>
        <p:sp>
          <p:nvSpPr>
            <p:cNvPr id="104" name="cls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ls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ls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ls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Employee.cs</a:t>
              </a:r>
              <a:endParaRPr lang="en-US" sz="950" dirty="0"/>
            </a:p>
          </p:txBody>
        </p:sp>
        <p:sp>
          <p:nvSpPr>
            <p:cNvPr id="108" name="cls_L00"/>
            <p:cNvSpPr txBox="1"/>
            <p:nvPr/>
          </p:nvSpPr>
          <p:spPr>
            <a:xfrm>
              <a:off x="771754" y="1957228"/>
              <a:ext cx="39062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0A5FA"/>
                  </a:solidFill>
                  <a:latin typeface="Consolas"/>
                  <a:ea typeface="Consolas"/>
                  <a:cs typeface="Consolas"/>
                </a:rPr>
                <a:t>public</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class</a:t>
              </a:r>
              <a:r>
                <a:rPr lang="en-US" sz="900" b="0" dirty="0">
                  <a:solidFill>
                    <a:srgbClr val="E2E8F0"/>
                  </a:solidFill>
                  <a:latin typeface="Consolas"/>
                  <a:ea typeface="Consolas"/>
                  <a:cs typeface="Consolas"/>
                </a:rPr>
                <a:t> Employee</a:t>
              </a:r>
              <a:endParaRPr lang="en-US" sz="900" dirty="0"/>
            </a:p>
          </p:txBody>
        </p:sp>
        <p:sp>
          <p:nvSpPr>
            <p:cNvPr id="109" name="cls_L01"/>
            <p:cNvSpPr txBox="1"/>
            <p:nvPr/>
          </p:nvSpPr>
          <p:spPr>
            <a:xfrm>
              <a:off x="771754" y="2122228"/>
              <a:ext cx="39062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sp>
          <p:nvSpPr>
            <p:cNvPr id="110" name="cls_L02"/>
            <p:cNvSpPr txBox="1"/>
            <p:nvPr/>
          </p:nvSpPr>
          <p:spPr>
            <a:xfrm>
              <a:off x="771754" y="2287228"/>
              <a:ext cx="390624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60A5FA"/>
                  </a:solidFill>
                  <a:latin typeface="Consolas"/>
                  <a:ea typeface="Consolas"/>
                  <a:cs typeface="Consolas"/>
                </a:rPr>
                <a:t>public</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int</a:t>
              </a:r>
              <a:r>
                <a:rPr lang="en-US" sz="900" b="0" dirty="0">
                  <a:solidFill>
                    <a:srgbClr val="E2E8F0"/>
                  </a:solidFill>
                  <a:latin typeface="Consolas"/>
                  <a:ea typeface="Consolas"/>
                  <a:cs typeface="Consolas"/>
                </a:rPr>
                <a:t> Id { </a:t>
              </a:r>
              <a:r>
                <a:rPr lang="en-US" sz="900" b="0" dirty="0">
                  <a:solidFill>
                    <a:srgbClr val="60A5FA"/>
                  </a:solidFill>
                  <a:latin typeface="Consolas"/>
                  <a:ea typeface="Consolas"/>
                  <a:cs typeface="Consolas"/>
                </a:rPr>
                <a:t>get</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set</a:t>
              </a:r>
              <a:r>
                <a:rPr lang="en-US" sz="900" b="0" dirty="0">
                  <a:solidFill>
                    <a:srgbClr val="E2E8F0"/>
                  </a:solidFill>
                  <a:latin typeface="Consolas"/>
                  <a:ea typeface="Consolas"/>
                  <a:cs typeface="Consolas"/>
                </a:rPr>
                <a:t>; }</a:t>
              </a:r>
              <a:endParaRPr lang="en-US" sz="900" dirty="0"/>
            </a:p>
          </p:txBody>
        </p:sp>
        <p:sp>
          <p:nvSpPr>
            <p:cNvPr id="111" name="cls_L03"/>
            <p:cNvSpPr txBox="1"/>
            <p:nvPr/>
          </p:nvSpPr>
          <p:spPr>
            <a:xfrm>
              <a:off x="771754" y="2452228"/>
              <a:ext cx="390624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60A5FA"/>
                  </a:solidFill>
                  <a:latin typeface="Consolas"/>
                  <a:ea typeface="Consolas"/>
                  <a:cs typeface="Consolas"/>
                </a:rPr>
                <a:t>public</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string</a:t>
              </a:r>
              <a:r>
                <a:rPr lang="en-US" sz="900" b="0" dirty="0">
                  <a:solidFill>
                    <a:srgbClr val="E2E8F0"/>
                  </a:solidFill>
                  <a:latin typeface="Consolas"/>
                  <a:ea typeface="Consolas"/>
                  <a:cs typeface="Consolas"/>
                </a:rPr>
                <a:t> Name { </a:t>
              </a:r>
              <a:r>
                <a:rPr lang="en-US" sz="900" b="0" dirty="0">
                  <a:solidFill>
                    <a:srgbClr val="60A5FA"/>
                  </a:solidFill>
                  <a:latin typeface="Consolas"/>
                  <a:ea typeface="Consolas"/>
                  <a:cs typeface="Consolas"/>
                </a:rPr>
                <a:t>get</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set</a:t>
              </a:r>
              <a:r>
                <a:rPr lang="en-US" sz="900" b="0" dirty="0">
                  <a:solidFill>
                    <a:srgbClr val="E2E8F0"/>
                  </a:solidFill>
                  <a:latin typeface="Consolas"/>
                  <a:ea typeface="Consolas"/>
                  <a:cs typeface="Consolas"/>
                </a:rPr>
                <a:t>; } = </a:t>
              </a:r>
              <a:r>
                <a:rPr lang="en-US" sz="900" b="0" dirty="0">
                  <a:solidFill>
                    <a:srgbClr val="F0A98B"/>
                  </a:solidFill>
                  <a:latin typeface="Consolas"/>
                  <a:ea typeface="Consolas"/>
                  <a:cs typeface="Consolas"/>
                </a:rPr>
                <a:t>""</a:t>
              </a:r>
              <a:r>
                <a:rPr lang="en-US" sz="900" b="0" dirty="0">
                  <a:solidFill>
                    <a:srgbClr val="E2E8F0"/>
                  </a:solidFill>
                  <a:latin typeface="Consolas"/>
                  <a:ea typeface="Consolas"/>
                  <a:cs typeface="Consolas"/>
                </a:rPr>
                <a:t>;</a:t>
              </a:r>
              <a:endParaRPr lang="en-US" sz="900" dirty="0"/>
            </a:p>
          </p:txBody>
        </p:sp>
        <p:sp>
          <p:nvSpPr>
            <p:cNvPr id="112" name="cls_L04"/>
            <p:cNvSpPr txBox="1"/>
            <p:nvPr/>
          </p:nvSpPr>
          <p:spPr>
            <a:xfrm>
              <a:off x="771754" y="2617228"/>
              <a:ext cx="390624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60A5FA"/>
                  </a:solidFill>
                  <a:latin typeface="Consolas"/>
                  <a:ea typeface="Consolas"/>
                  <a:cs typeface="Consolas"/>
                </a:rPr>
                <a:t>public</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decimal</a:t>
              </a:r>
              <a:r>
                <a:rPr lang="en-US" sz="900" b="0" dirty="0">
                  <a:solidFill>
                    <a:srgbClr val="E2E8F0"/>
                  </a:solidFill>
                  <a:latin typeface="Consolas"/>
                  <a:ea typeface="Consolas"/>
                  <a:cs typeface="Consolas"/>
                </a:rPr>
                <a:t> Salary { </a:t>
              </a:r>
              <a:r>
                <a:rPr lang="en-US" sz="900" b="0" dirty="0">
                  <a:solidFill>
                    <a:srgbClr val="60A5FA"/>
                  </a:solidFill>
                  <a:latin typeface="Consolas"/>
                  <a:ea typeface="Consolas"/>
                  <a:cs typeface="Consolas"/>
                </a:rPr>
                <a:t>get</a:t>
              </a:r>
              <a:r>
                <a:rPr lang="en-US" sz="900" b="0" dirty="0">
                  <a:solidFill>
                    <a:srgbClr val="E2E8F0"/>
                  </a:solidFill>
                  <a:latin typeface="Consolas"/>
                  <a:ea typeface="Consolas"/>
                  <a:cs typeface="Consolas"/>
                </a:rPr>
                <a:t>; </a:t>
              </a:r>
              <a:r>
                <a:rPr lang="en-US" sz="900" b="0" dirty="0">
                  <a:solidFill>
                    <a:srgbClr val="60A5FA"/>
                  </a:solidFill>
                  <a:latin typeface="Consolas"/>
                  <a:ea typeface="Consolas"/>
                  <a:cs typeface="Consolas"/>
                </a:rPr>
                <a:t>set</a:t>
              </a:r>
              <a:r>
                <a:rPr lang="en-US" sz="900" b="0" dirty="0">
                  <a:solidFill>
                    <a:srgbClr val="E2E8F0"/>
                  </a:solidFill>
                  <a:latin typeface="Consolas"/>
                  <a:ea typeface="Consolas"/>
                  <a:cs typeface="Consolas"/>
                </a:rPr>
                <a:t>; }</a:t>
              </a:r>
              <a:endParaRPr lang="en-US" sz="900" dirty="0"/>
            </a:p>
          </p:txBody>
        </p:sp>
        <p:sp>
          <p:nvSpPr>
            <p:cNvPr id="113" name="cls_L05"/>
            <p:cNvSpPr txBox="1"/>
            <p:nvPr/>
          </p:nvSpPr>
          <p:spPr>
            <a:xfrm>
              <a:off x="771754" y="2782228"/>
              <a:ext cx="390624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t>
              </a:r>
              <a:endParaRPr lang="en-US" sz="900" dirty="0"/>
            </a:p>
          </p:txBody>
        </p:sp>
      </p:grpSp>
      <p:grpSp>
        <p:nvGrpSpPr>
          <p:cNvPr id="130" name="code"/>
          <p:cNvGrpSpPr/>
          <p:nvPr/>
        </p:nvGrpSpPr>
        <p:grpSpPr>
          <a:xfrm>
            <a:off x="5023714" y="1481328"/>
            <a:ext cx="6606540" cy="2300900"/>
            <a:chOff x="5023714" y="1481328"/>
            <a:chExt cx="6606540" cy="2300900"/>
          </a:xfrm>
        </p:grpSpPr>
        <p:sp>
          <p:nvSpPr>
            <p:cNvPr id="115" name="code_win"/>
            <p:cNvSpPr/>
            <p:nvPr/>
          </p:nvSpPr>
          <p:spPr>
            <a:xfrm>
              <a:off x="5023714" y="1481328"/>
              <a:ext cx="6606540" cy="2300900"/>
            </a:xfrm>
            <a:prstGeom prst="roundRect">
              <a:avLst>
                <a:gd name="adj" fmla="val 2979"/>
              </a:avLst>
            </a:prstGeom>
            <a:solidFill>
              <a:srgbClr val="060D18"/>
            </a:solidFill>
            <a:ln w="12700">
              <a:solidFill>
                <a:srgbClr val="1E3A5F"/>
              </a:solidFill>
              <a:prstDash val="solid"/>
            </a:ln>
          </p:spPr>
          <p:txBody>
            <a:bodyPr/>
            <a:lstStyle/>
            <a:p>
              <a:endParaRPr lang="en-US"/>
            </a:p>
          </p:txBody>
        </p:sp>
        <p:sp>
          <p:nvSpPr>
            <p:cNvPr id="116" name="code_bar"/>
            <p:cNvSpPr/>
            <p:nvPr/>
          </p:nvSpPr>
          <p:spPr>
            <a:xfrm>
              <a:off x="5023714" y="1481328"/>
              <a:ext cx="66065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7" name="code_barfill"/>
            <p:cNvSpPr/>
            <p:nvPr/>
          </p:nvSpPr>
          <p:spPr>
            <a:xfrm>
              <a:off x="5023714" y="1652778"/>
              <a:ext cx="6606540" cy="171450"/>
            </a:xfrm>
            <a:prstGeom prst="rect">
              <a:avLst/>
            </a:prstGeom>
            <a:solidFill>
              <a:srgbClr val="0A1220"/>
            </a:solidFill>
            <a:ln w="12700">
              <a:solidFill>
                <a:srgbClr val="0A1220"/>
              </a:solidFill>
              <a:prstDash val="solid"/>
            </a:ln>
          </p:spPr>
          <p:txBody>
            <a:bodyPr/>
            <a:lstStyle/>
            <a:p>
              <a:endParaRPr lang="en-US"/>
            </a:p>
          </p:txBody>
        </p:sp>
        <p:sp>
          <p:nvSpPr>
            <p:cNvPr id="118" name="code_dot0"/>
            <p:cNvSpPr/>
            <p:nvPr/>
          </p:nvSpPr>
          <p:spPr>
            <a:xfrm>
              <a:off x="518556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19" name="code_dot1"/>
            <p:cNvSpPr/>
            <p:nvPr/>
          </p:nvSpPr>
          <p:spPr>
            <a:xfrm>
              <a:off x="537118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20" name="code_dot2"/>
            <p:cNvSpPr/>
            <p:nvPr/>
          </p:nvSpPr>
          <p:spPr>
            <a:xfrm>
              <a:off x="555681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21" name="code_tab"/>
            <p:cNvSpPr/>
            <p:nvPr/>
          </p:nvSpPr>
          <p:spPr>
            <a:xfrm>
              <a:off x="5804611" y="1528877"/>
              <a:ext cx="2850543"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 using System.Text.Json;</a:t>
              </a:r>
              <a:endParaRPr lang="en-US" sz="950" dirty="0"/>
            </a:p>
          </p:txBody>
        </p:sp>
        <p:sp>
          <p:nvSpPr>
            <p:cNvPr id="122" name="code_L00"/>
            <p:cNvSpPr txBox="1"/>
            <p:nvPr/>
          </p:nvSpPr>
          <p:spPr>
            <a:xfrm>
              <a:off x="5252314" y="1957228"/>
              <a:ext cx="63065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Employee employee = </a:t>
              </a: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 { Id = 1, Name = </a:t>
              </a:r>
              <a:r>
                <a:rPr lang="en-US" sz="860" b="0" dirty="0">
                  <a:solidFill>
                    <a:srgbClr val="F0A98B"/>
                  </a:solidFill>
                  <a:latin typeface="Consolas"/>
                  <a:ea typeface="Consolas"/>
                  <a:cs typeface="Consolas"/>
                </a:rPr>
                <a:t>"Ahmed"</a:t>
              </a:r>
              <a:r>
                <a:rPr lang="en-US" sz="860" b="0" dirty="0">
                  <a:solidFill>
                    <a:srgbClr val="E2E8F0"/>
                  </a:solidFill>
                  <a:latin typeface="Consolas"/>
                  <a:ea typeface="Consolas"/>
                  <a:cs typeface="Consolas"/>
                </a:rPr>
                <a:t>, Salary = 15000 };</a:t>
              </a:r>
              <a:endParaRPr lang="en-US" sz="860" dirty="0"/>
            </a:p>
          </p:txBody>
        </p:sp>
        <p:sp>
          <p:nvSpPr>
            <p:cNvPr id="123" name="code_L02"/>
            <p:cNvSpPr txBox="1"/>
            <p:nvPr/>
          </p:nvSpPr>
          <p:spPr>
            <a:xfrm>
              <a:off x="5252314" y="2267228"/>
              <a:ext cx="63065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json = JsonSerializer.Serialize(</a:t>
              </a:r>
              <a:endParaRPr lang="en-US" sz="860" dirty="0"/>
            </a:p>
          </p:txBody>
        </p:sp>
        <p:sp>
          <p:nvSpPr>
            <p:cNvPr id="124" name="code_L03"/>
            <p:cNvSpPr txBox="1"/>
            <p:nvPr/>
          </p:nvSpPr>
          <p:spPr>
            <a:xfrm>
              <a:off x="5252314" y="2422228"/>
              <a:ext cx="6306540" cy="15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employee, </a:t>
              </a: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 JsonSerializerOptions { WriteIndented = </a:t>
              </a:r>
              <a:r>
                <a:rPr lang="en-US" sz="860" b="0" dirty="0">
                  <a:solidFill>
                    <a:srgbClr val="60A5FA"/>
                  </a:solidFill>
                  <a:latin typeface="Consolas"/>
                  <a:ea typeface="Consolas"/>
                  <a:cs typeface="Consolas"/>
                </a:rPr>
                <a:t>true</a:t>
              </a:r>
              <a:r>
                <a:rPr lang="en-US" sz="860" b="0" dirty="0">
                  <a:solidFill>
                    <a:srgbClr val="E2E8F0"/>
                  </a:solidFill>
                  <a:latin typeface="Consolas"/>
                  <a:ea typeface="Consolas"/>
                  <a:cs typeface="Consolas"/>
                </a:rPr>
                <a:t> });</a:t>
              </a:r>
              <a:endParaRPr lang="en-US" sz="860" dirty="0"/>
            </a:p>
          </p:txBody>
        </p:sp>
        <p:sp>
          <p:nvSpPr>
            <p:cNvPr id="125" name="code_L04"/>
            <p:cNvSpPr txBox="1"/>
            <p:nvPr/>
          </p:nvSpPr>
          <p:spPr>
            <a:xfrm>
              <a:off x="5252314" y="2577228"/>
              <a:ext cx="63065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Console.WriteLine(json);</a:t>
              </a:r>
              <a:endParaRPr lang="en-US" sz="860" dirty="0"/>
            </a:p>
          </p:txBody>
        </p:sp>
        <p:sp>
          <p:nvSpPr>
            <p:cNvPr id="126" name="code_L06"/>
            <p:cNvSpPr txBox="1"/>
            <p:nvPr/>
          </p:nvSpPr>
          <p:spPr>
            <a:xfrm>
              <a:off x="5252314" y="2887228"/>
              <a:ext cx="63065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Employee? copy = JsonSerializer.Deserialize&lt;Employee&gt;(json);</a:t>
              </a:r>
              <a:endParaRPr lang="en-US" sz="860" dirty="0"/>
            </a:p>
          </p:txBody>
        </p:sp>
        <p:sp>
          <p:nvSpPr>
            <p:cNvPr id="127" name="code_L07"/>
            <p:cNvSpPr txBox="1"/>
            <p:nvPr/>
          </p:nvSpPr>
          <p:spPr>
            <a:xfrm>
              <a:off x="5252314" y="3042228"/>
              <a:ext cx="63065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Console.WriteLine(</a:t>
              </a:r>
              <a:r>
                <a:rPr lang="en-US" sz="860" b="0" dirty="0">
                  <a:solidFill>
                    <a:srgbClr val="F0A98B"/>
                  </a:solidFill>
                  <a:latin typeface="Consolas"/>
                  <a:ea typeface="Consolas"/>
                  <a:cs typeface="Consolas"/>
                </a:rPr>
                <a:t>$"{copy?.Name} earns {copy?.Salary}"</a:t>
              </a:r>
              <a:r>
                <a:rPr lang="en-US" sz="860" b="0" dirty="0">
                  <a:solidFill>
                    <a:srgbClr val="E2E8F0"/>
                  </a:solidFill>
                  <a:latin typeface="Consolas"/>
                  <a:ea typeface="Consolas"/>
                  <a:cs typeface="Consolas"/>
                </a:rPr>
                <a:t>);</a:t>
              </a:r>
              <a:endParaRPr lang="en-US" sz="860" dirty="0"/>
            </a:p>
          </p:txBody>
        </p:sp>
        <p:sp>
          <p:nvSpPr>
            <p:cNvPr id="128" name="code_L09"/>
            <p:cNvSpPr txBox="1"/>
            <p:nvPr/>
          </p:nvSpPr>
          <p:spPr>
            <a:xfrm>
              <a:off x="5252314" y="3352228"/>
              <a:ext cx="63065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Employee? nothing = JsonSerializer.Deserialize&lt;Employee&gt;(</a:t>
              </a:r>
              <a:r>
                <a:rPr lang="en-US" sz="860" b="0" dirty="0">
                  <a:solidFill>
                    <a:srgbClr val="F0A98B"/>
                  </a:solidFill>
                  <a:latin typeface="Consolas"/>
                  <a:ea typeface="Consolas"/>
                  <a:cs typeface="Consolas"/>
                </a:rPr>
                <a:t>"null"</a:t>
              </a:r>
              <a:r>
                <a:rPr lang="en-US" sz="860" b="0" dirty="0">
                  <a:solidFill>
                    <a:srgbClr val="E2E8F0"/>
                  </a:solidFill>
                  <a:latin typeface="Consolas"/>
                  <a:ea typeface="Consolas"/>
                  <a:cs typeface="Consolas"/>
                </a:rPr>
                <a:t>);</a:t>
              </a:r>
              <a:endParaRPr lang="en-US" sz="860" dirty="0"/>
            </a:p>
          </p:txBody>
        </p:sp>
        <p:sp>
          <p:nvSpPr>
            <p:cNvPr id="129" name="code_L10"/>
            <p:cNvSpPr txBox="1"/>
            <p:nvPr/>
          </p:nvSpPr>
          <p:spPr>
            <a:xfrm>
              <a:off x="5252314" y="3507228"/>
              <a:ext cx="63065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Console.WriteLine(nothing </a:t>
              </a:r>
              <a:r>
                <a:rPr lang="en-US" sz="860" b="0" dirty="0">
                  <a:solidFill>
                    <a:srgbClr val="60A5FA"/>
                  </a:solidFill>
                  <a:latin typeface="Consolas"/>
                  <a:ea typeface="Consolas"/>
                  <a:cs typeface="Consolas"/>
                </a:rPr>
                <a:t>is</a:t>
              </a: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null</a:t>
              </a:r>
              <a:r>
                <a:rPr lang="en-US" sz="860" b="0" dirty="0">
                  <a:solidFill>
                    <a:srgbClr val="E2E8F0"/>
                  </a:solidFill>
                  <a:latin typeface="Consolas"/>
                  <a:ea typeface="Consolas"/>
                  <a:cs typeface="Consolas"/>
                </a:rPr>
                <a:t> ? </a:t>
              </a:r>
              <a:r>
                <a:rPr lang="en-US" sz="860" b="0" dirty="0">
                  <a:solidFill>
                    <a:srgbClr val="F0A98B"/>
                  </a:solidFill>
                  <a:latin typeface="Consolas"/>
                  <a:ea typeface="Consolas"/>
                  <a:cs typeface="Consolas"/>
                </a:rPr>
                <a:t>"\"null\" → null"</a:t>
              </a:r>
              <a:r>
                <a:rPr lang="en-US" sz="860" b="0" dirty="0">
                  <a:solidFill>
                    <a:srgbClr val="E2E8F0"/>
                  </a:solidFill>
                  <a:latin typeface="Consolas"/>
                  <a:ea typeface="Consolas"/>
                  <a:cs typeface="Consolas"/>
                </a:rPr>
                <a:t> : </a:t>
              </a:r>
              <a:r>
                <a:rPr lang="en-US" sz="860" b="0" dirty="0">
                  <a:solidFill>
                    <a:srgbClr val="F0A98B"/>
                  </a:solidFill>
                  <a:latin typeface="Consolas"/>
                  <a:ea typeface="Consolas"/>
                  <a:cs typeface="Consolas"/>
                </a:rPr>
                <a:t>"not null"</a:t>
              </a:r>
              <a:r>
                <a:rPr lang="en-US" sz="860" b="0" dirty="0">
                  <a:solidFill>
                    <a:srgbClr val="E2E8F0"/>
                  </a:solidFill>
                  <a:latin typeface="Consolas"/>
                  <a:ea typeface="Consolas"/>
                  <a:cs typeface="Consolas"/>
                </a:rPr>
                <a:t>);</a:t>
              </a:r>
              <a:endParaRPr lang="en-US" sz="860" dirty="0"/>
            </a:p>
          </p:txBody>
        </p:sp>
      </p:grpSp>
      <p:sp>
        <p:nvSpPr>
          <p:cNvPr id="131" name="code_hl2"/>
          <p:cNvSpPr/>
          <p:nvPr/>
        </p:nvSpPr>
        <p:spPr>
          <a:xfrm>
            <a:off x="5157216" y="2248940"/>
            <a:ext cx="6339540" cy="19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32" name="code_hl3"/>
          <p:cNvSpPr/>
          <p:nvPr/>
        </p:nvSpPr>
        <p:spPr>
          <a:xfrm>
            <a:off x="5157216" y="2403940"/>
            <a:ext cx="6339540" cy="19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33" name="code_hl6"/>
          <p:cNvSpPr/>
          <p:nvPr/>
        </p:nvSpPr>
        <p:spPr>
          <a:xfrm>
            <a:off x="5157216" y="2868940"/>
            <a:ext cx="6339540" cy="191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48" name="out"/>
          <p:cNvGrpSpPr/>
          <p:nvPr/>
        </p:nvGrpSpPr>
        <p:grpSpPr>
          <a:xfrm>
            <a:off x="543154" y="3017520"/>
            <a:ext cx="4206240" cy="1820900"/>
            <a:chOff x="543154" y="3017520"/>
            <a:chExt cx="4206240" cy="1820900"/>
          </a:xfrm>
        </p:grpSpPr>
        <p:sp>
          <p:nvSpPr>
            <p:cNvPr id="134" name="out_win"/>
            <p:cNvSpPr/>
            <p:nvPr/>
          </p:nvSpPr>
          <p:spPr>
            <a:xfrm>
              <a:off x="543154" y="3017520"/>
              <a:ext cx="4206240" cy="1820900"/>
            </a:xfrm>
            <a:prstGeom prst="roundRect">
              <a:avLst>
                <a:gd name="adj" fmla="val 3764"/>
              </a:avLst>
            </a:prstGeom>
            <a:solidFill>
              <a:srgbClr val="060D18"/>
            </a:solidFill>
            <a:ln w="12700">
              <a:solidFill>
                <a:srgbClr val="1E3A5F"/>
              </a:solidFill>
              <a:prstDash val="solid"/>
            </a:ln>
          </p:spPr>
          <p:txBody>
            <a:bodyPr/>
            <a:lstStyle/>
            <a:p>
              <a:endParaRPr lang="en-US"/>
            </a:p>
          </p:txBody>
        </p:sp>
        <p:sp>
          <p:nvSpPr>
            <p:cNvPr id="135" name="out_bar"/>
            <p:cNvSpPr/>
            <p:nvPr/>
          </p:nvSpPr>
          <p:spPr>
            <a:xfrm>
              <a:off x="543154" y="3017520"/>
              <a:ext cx="4206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6" name="out_barfill"/>
            <p:cNvSpPr/>
            <p:nvPr/>
          </p:nvSpPr>
          <p:spPr>
            <a:xfrm>
              <a:off x="543154" y="3188970"/>
              <a:ext cx="4206240" cy="171450"/>
            </a:xfrm>
            <a:prstGeom prst="rect">
              <a:avLst/>
            </a:prstGeom>
            <a:solidFill>
              <a:srgbClr val="0A1220"/>
            </a:solidFill>
            <a:ln w="12700">
              <a:solidFill>
                <a:srgbClr val="0A1220"/>
              </a:solidFill>
              <a:prstDash val="solid"/>
            </a:ln>
          </p:spPr>
          <p:txBody>
            <a:bodyPr/>
            <a:lstStyle/>
            <a:p>
              <a:endParaRPr lang="en-US"/>
            </a:p>
          </p:txBody>
        </p:sp>
        <p:sp>
          <p:nvSpPr>
            <p:cNvPr id="137" name="out_dot0"/>
            <p:cNvSpPr/>
            <p:nvPr/>
          </p:nvSpPr>
          <p:spPr>
            <a:xfrm>
              <a:off x="705002" y="3141330"/>
              <a:ext cx="95098" cy="95098"/>
            </a:xfrm>
            <a:prstGeom prst="ellipse">
              <a:avLst/>
            </a:prstGeom>
            <a:solidFill>
              <a:srgbClr val="F87171"/>
            </a:solidFill>
            <a:ln w="12700">
              <a:solidFill>
                <a:srgbClr val="F87171"/>
              </a:solidFill>
              <a:prstDash val="solid"/>
            </a:ln>
          </p:spPr>
          <p:txBody>
            <a:bodyPr/>
            <a:lstStyle/>
            <a:p>
              <a:endParaRPr lang="en-US"/>
            </a:p>
          </p:txBody>
        </p:sp>
        <p:sp>
          <p:nvSpPr>
            <p:cNvPr id="138" name="out_dot1"/>
            <p:cNvSpPr/>
            <p:nvPr/>
          </p:nvSpPr>
          <p:spPr>
            <a:xfrm>
              <a:off x="890626" y="3141330"/>
              <a:ext cx="95098" cy="95098"/>
            </a:xfrm>
            <a:prstGeom prst="ellipse">
              <a:avLst/>
            </a:prstGeom>
            <a:solidFill>
              <a:srgbClr val="FBBF24"/>
            </a:solidFill>
            <a:ln w="12700">
              <a:solidFill>
                <a:srgbClr val="FBBF24"/>
              </a:solidFill>
              <a:prstDash val="solid"/>
            </a:ln>
          </p:spPr>
          <p:txBody>
            <a:bodyPr/>
            <a:lstStyle/>
            <a:p>
              <a:endParaRPr lang="en-US"/>
            </a:p>
          </p:txBody>
        </p:sp>
        <p:sp>
          <p:nvSpPr>
            <p:cNvPr id="139" name="out_dot2"/>
            <p:cNvSpPr/>
            <p:nvPr/>
          </p:nvSpPr>
          <p:spPr>
            <a:xfrm>
              <a:off x="1076250" y="3141330"/>
              <a:ext cx="95098" cy="95098"/>
            </a:xfrm>
            <a:prstGeom prst="ellipse">
              <a:avLst/>
            </a:prstGeom>
            <a:solidFill>
              <a:srgbClr val="34D399"/>
            </a:solidFill>
            <a:ln w="12700">
              <a:solidFill>
                <a:srgbClr val="34D399"/>
              </a:solidFill>
              <a:prstDash val="solid"/>
            </a:ln>
          </p:spPr>
          <p:txBody>
            <a:bodyPr/>
            <a:lstStyle/>
            <a:p>
              <a:endParaRPr lang="en-US"/>
            </a:p>
          </p:txBody>
        </p:sp>
        <p:sp>
          <p:nvSpPr>
            <p:cNvPr id="140" name="out_tab"/>
            <p:cNvSpPr/>
            <p:nvPr/>
          </p:nvSpPr>
          <p:spPr>
            <a:xfrm>
              <a:off x="1324051" y="306506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41" name="out_L00"/>
            <p:cNvSpPr txBox="1"/>
            <p:nvPr/>
          </p:nvSpPr>
          <p:spPr>
            <a:xfrm>
              <a:off x="771754" y="3493420"/>
              <a:ext cx="39062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2" name="out_L01"/>
            <p:cNvSpPr txBox="1"/>
            <p:nvPr/>
          </p:nvSpPr>
          <p:spPr>
            <a:xfrm>
              <a:off x="771754" y="3668420"/>
              <a:ext cx="39062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"Id": 1,</a:t>
              </a:r>
              <a:endParaRPr lang="en-US" sz="950" dirty="0"/>
            </a:p>
          </p:txBody>
        </p:sp>
        <p:sp>
          <p:nvSpPr>
            <p:cNvPr id="143" name="out_L02"/>
            <p:cNvSpPr txBox="1"/>
            <p:nvPr/>
          </p:nvSpPr>
          <p:spPr>
            <a:xfrm>
              <a:off x="771754" y="3843420"/>
              <a:ext cx="39062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"Name": "Ahmed",</a:t>
              </a:r>
              <a:endParaRPr lang="en-US" sz="950" dirty="0"/>
            </a:p>
          </p:txBody>
        </p:sp>
        <p:sp>
          <p:nvSpPr>
            <p:cNvPr id="144" name="out_L03"/>
            <p:cNvSpPr txBox="1"/>
            <p:nvPr/>
          </p:nvSpPr>
          <p:spPr>
            <a:xfrm>
              <a:off x="771754" y="4018420"/>
              <a:ext cx="39062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"Salary": 15000</a:t>
              </a:r>
              <a:endParaRPr lang="en-US" sz="950" dirty="0"/>
            </a:p>
          </p:txBody>
        </p:sp>
        <p:sp>
          <p:nvSpPr>
            <p:cNvPr id="145" name="out_L04"/>
            <p:cNvSpPr txBox="1"/>
            <p:nvPr/>
          </p:nvSpPr>
          <p:spPr>
            <a:xfrm>
              <a:off x="771754" y="4193420"/>
              <a:ext cx="39062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6" name="out_L05"/>
            <p:cNvSpPr txBox="1"/>
            <p:nvPr/>
          </p:nvSpPr>
          <p:spPr>
            <a:xfrm>
              <a:off x="771754" y="4368420"/>
              <a:ext cx="39062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Ahmed earns 15000</a:t>
              </a:r>
              <a:endParaRPr lang="en-US" sz="950" dirty="0"/>
            </a:p>
          </p:txBody>
        </p:sp>
        <p:sp>
          <p:nvSpPr>
            <p:cNvPr id="147" name="out_L06"/>
            <p:cNvSpPr txBox="1"/>
            <p:nvPr/>
          </p:nvSpPr>
          <p:spPr>
            <a:xfrm>
              <a:off x="771754" y="4543420"/>
              <a:ext cx="39062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"null" → null</a:t>
              </a:r>
              <a:endParaRPr lang="en-US" sz="950" dirty="0"/>
            </a:p>
          </p:txBody>
        </p:sp>
      </p:grpSp>
      <p:sp>
        <p:nvSpPr>
          <p:cNvPr id="149" name="k1"/>
          <p:cNvSpPr/>
          <p:nvPr/>
        </p:nvSpPr>
        <p:spPr>
          <a:xfrm>
            <a:off x="5023714" y="4343400"/>
            <a:ext cx="3188970" cy="1325880"/>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&lt;Employee&gt;: WHICH CLASS?</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The text has no type. The generic argument tells the serializer what to create.</a:t>
            </a:r>
            <a:endParaRPr lang="en-US" sz="1050" dirty="0"/>
          </a:p>
        </p:txBody>
      </p:sp>
      <p:sp>
        <p:nvSpPr>
          <p:cNvPr id="150" name="k2"/>
          <p:cNvSpPr/>
          <p:nvPr/>
        </p:nvSpPr>
        <p:spPr>
          <a:xfrm>
            <a:off x="8441284" y="4343400"/>
            <a:ext cx="3188970" cy="132588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WHY Employee? (NULLABLE)</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The JSON can be the literal null. Then you get null back.</a:t>
            </a:r>
            <a:endParaRPr lang="en-US" sz="1050" dirty="0"/>
          </a:p>
        </p:txBody>
      </p:sp>
    </p:spTree>
    <p:extLst>
      <p:ext uri="{BB962C8B-B14F-4D97-AF65-F5344CB8AC3E}">
        <p14:creationId xmlns:p14="http://schemas.microsoft.com/office/powerpoint/2010/main" val="50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4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0"/>
                                        </p:tgtEl>
                                        <p:attrNameLst>
                                          <p:attrName>style.visibility</p:attrName>
                                        </p:attrNameLst>
                                      </p:cBhvr>
                                      <p:to>
                                        <p:strVal val="visible"/>
                                      </p:to>
                                    </p:set>
                                    <p:animEffect transition="in" filter="fade">
                                      <p:cBhvr>
                                        <p:cTn id="12" dur="400"/>
                                        <p:tgtEl>
                                          <p:spTgt spid="13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1"/>
                                        </p:tgtEl>
                                        <p:attrNameLst>
                                          <p:attrName>style.visibility</p:attrName>
                                        </p:attrNameLst>
                                      </p:cBhvr>
                                      <p:to>
                                        <p:strVal val="visible"/>
                                      </p:to>
                                    </p:set>
                                    <p:animEffect transition="in" filter="fade">
                                      <p:cBhvr>
                                        <p:cTn id="15" dur="400"/>
                                        <p:tgtEl>
                                          <p:spTgt spid="13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2"/>
                                        </p:tgtEl>
                                        <p:attrNameLst>
                                          <p:attrName>style.visibility</p:attrName>
                                        </p:attrNameLst>
                                      </p:cBhvr>
                                      <p:to>
                                        <p:strVal val="visible"/>
                                      </p:to>
                                    </p:set>
                                    <p:animEffect transition="in" filter="fade">
                                      <p:cBhvr>
                                        <p:cTn id="18" dur="400"/>
                                        <p:tgtEl>
                                          <p:spTgt spid="13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3"/>
                                        </p:tgtEl>
                                        <p:attrNameLst>
                                          <p:attrName>style.visibility</p:attrName>
                                        </p:attrNameLst>
                                      </p:cBhvr>
                                      <p:to>
                                        <p:strVal val="visible"/>
                                      </p:to>
                                    </p:set>
                                    <p:animEffect transition="in" filter="fade">
                                      <p:cBhvr>
                                        <p:cTn id="21" dur="400"/>
                                        <p:tgtEl>
                                          <p:spTgt spid="13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8"/>
                                        </p:tgtEl>
                                        <p:attrNameLst>
                                          <p:attrName>style.visibility</p:attrName>
                                        </p:attrNameLst>
                                      </p:cBhvr>
                                      <p:to>
                                        <p:strVal val="visible"/>
                                      </p:to>
                                    </p:set>
                                    <p:animEffect transition="in" filter="fade">
                                      <p:cBhvr>
                                        <p:cTn id="26" dur="400"/>
                                        <p:tgtEl>
                                          <p:spTgt spid="14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9"/>
                                        </p:tgtEl>
                                        <p:attrNameLst>
                                          <p:attrName>style.visibility</p:attrName>
                                        </p:attrNameLst>
                                      </p:cBhvr>
                                      <p:to>
                                        <p:strVal val="visible"/>
                                      </p:to>
                                    </p:set>
                                    <p:animEffect transition="in" filter="fade">
                                      <p:cBhvr>
                                        <p:cTn id="31" dur="400"/>
                                        <p:tgtEl>
                                          <p:spTgt spid="14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0"/>
                                        </p:tgtEl>
                                        <p:attrNameLst>
                                          <p:attrName>style.visibility</p:attrName>
                                        </p:attrNameLst>
                                      </p:cBhvr>
                                      <p:to>
                                        <p:strVal val="visible"/>
                                      </p:to>
                                    </p:set>
                                    <p:animEffect transition="in" filter="fade">
                                      <p:cBhvr>
                                        <p:cTn id="36" dur="4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49" grpId="0" animBg="1"/>
      <p:bldP spid="15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COLLECTIONS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List of Employees to a File, and Back</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JSON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28</a:t>
            </a:r>
            <a:endParaRPr lang="en-US" sz="850" dirty="0"/>
          </a:p>
        </p:txBody>
      </p:sp>
      <p:sp>
        <p:nvSpPr>
          <p:cNvPr id="101" name="l1"/>
          <p:cNvSpPr txBox="1"/>
          <p:nvPr/>
        </p:nvSpPr>
        <p:spPr>
          <a:xfrm>
            <a:off x="543154" y="1444752"/>
            <a:ext cx="540639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SAVE: list → JSON → file</a:t>
            </a:r>
            <a:endParaRPr lang="en-US" sz="1100" dirty="0"/>
          </a:p>
        </p:txBody>
      </p:sp>
      <p:grpSp>
        <p:nvGrpSpPr>
          <p:cNvPr id="117" name="save"/>
          <p:cNvGrpSpPr/>
          <p:nvPr/>
        </p:nvGrpSpPr>
        <p:grpSpPr>
          <a:xfrm>
            <a:off x="543154" y="1737360"/>
            <a:ext cx="5406390" cy="2035900"/>
            <a:chOff x="543154" y="1737360"/>
            <a:chExt cx="5406390" cy="2035900"/>
          </a:xfrm>
        </p:grpSpPr>
        <p:sp>
          <p:nvSpPr>
            <p:cNvPr id="102" name="save_win"/>
            <p:cNvSpPr/>
            <p:nvPr/>
          </p:nvSpPr>
          <p:spPr>
            <a:xfrm>
              <a:off x="543154" y="1737360"/>
              <a:ext cx="5406390" cy="2035900"/>
            </a:xfrm>
            <a:prstGeom prst="roundRect">
              <a:avLst>
                <a:gd name="adj" fmla="val 3367"/>
              </a:avLst>
            </a:prstGeom>
            <a:solidFill>
              <a:srgbClr val="060D18"/>
            </a:solidFill>
            <a:ln w="12700">
              <a:solidFill>
                <a:srgbClr val="1E3A5F"/>
              </a:solidFill>
              <a:prstDash val="solid"/>
            </a:ln>
          </p:spPr>
          <p:txBody>
            <a:bodyPr/>
            <a:lstStyle/>
            <a:p>
              <a:endParaRPr lang="en-US"/>
            </a:p>
          </p:txBody>
        </p:sp>
        <p:sp>
          <p:nvSpPr>
            <p:cNvPr id="103" name="save_bar"/>
            <p:cNvSpPr/>
            <p:nvPr/>
          </p:nvSpPr>
          <p:spPr>
            <a:xfrm>
              <a:off x="543154" y="1737360"/>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save_barfill"/>
            <p:cNvSpPr/>
            <p:nvPr/>
          </p:nvSpPr>
          <p:spPr>
            <a:xfrm>
              <a:off x="543154" y="1908810"/>
              <a:ext cx="5406390" cy="171450"/>
            </a:xfrm>
            <a:prstGeom prst="rect">
              <a:avLst/>
            </a:prstGeom>
            <a:solidFill>
              <a:srgbClr val="0A1220"/>
            </a:solidFill>
            <a:ln w="12700">
              <a:solidFill>
                <a:srgbClr val="0A1220"/>
              </a:solidFill>
              <a:prstDash val="solid"/>
            </a:ln>
          </p:spPr>
          <p:txBody>
            <a:bodyPr/>
            <a:lstStyle/>
            <a:p>
              <a:endParaRPr lang="en-US"/>
            </a:p>
          </p:txBody>
        </p:sp>
        <p:sp>
          <p:nvSpPr>
            <p:cNvPr id="105" name="save_dot0"/>
            <p:cNvSpPr/>
            <p:nvPr/>
          </p:nvSpPr>
          <p:spPr>
            <a:xfrm>
              <a:off x="705002" y="1861170"/>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save_dot1"/>
            <p:cNvSpPr/>
            <p:nvPr/>
          </p:nvSpPr>
          <p:spPr>
            <a:xfrm>
              <a:off x="890626" y="1861170"/>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save_dot2"/>
            <p:cNvSpPr/>
            <p:nvPr/>
          </p:nvSpPr>
          <p:spPr>
            <a:xfrm>
              <a:off x="1076250" y="1861170"/>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save_tab"/>
            <p:cNvSpPr/>
            <p:nvPr/>
          </p:nvSpPr>
          <p:spPr>
            <a:xfrm>
              <a:off x="1324051" y="1784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09" name="save_L00"/>
            <p:cNvSpPr txBox="1"/>
            <p:nvPr/>
          </p:nvSpPr>
          <p:spPr>
            <a:xfrm>
              <a:off x="771754" y="221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List&lt;Employee&gt; employees = </a:t>
              </a: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a:t>
              </a:r>
              <a:endParaRPr lang="en-US" sz="860" dirty="0"/>
            </a:p>
          </p:txBody>
        </p:sp>
        <p:sp>
          <p:nvSpPr>
            <p:cNvPr id="110" name="save_L01"/>
            <p:cNvSpPr txBox="1"/>
            <p:nvPr/>
          </p:nvSpPr>
          <p:spPr>
            <a:xfrm>
              <a:off x="771754" y="237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1" name="save_L02"/>
            <p:cNvSpPr txBox="1"/>
            <p:nvPr/>
          </p:nvSpPr>
          <p:spPr>
            <a:xfrm>
              <a:off x="771754" y="2533260"/>
              <a:ext cx="510639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 { Id = 1, Name = </a:t>
              </a:r>
              <a:r>
                <a:rPr lang="en-US" sz="860" b="0" dirty="0">
                  <a:solidFill>
                    <a:srgbClr val="F0A98B"/>
                  </a:solidFill>
                  <a:latin typeface="Consolas"/>
                  <a:ea typeface="Consolas"/>
                  <a:cs typeface="Consolas"/>
                </a:rPr>
                <a:t>"Ahmed"</a:t>
              </a:r>
              <a:r>
                <a:rPr lang="en-US" sz="860" b="0" dirty="0">
                  <a:solidFill>
                    <a:srgbClr val="E2E8F0"/>
                  </a:solidFill>
                  <a:latin typeface="Consolas"/>
                  <a:ea typeface="Consolas"/>
                  <a:cs typeface="Consolas"/>
                </a:rPr>
                <a:t>, Salary = 15000 },</a:t>
              </a:r>
              <a:endParaRPr lang="en-US" sz="860" dirty="0"/>
            </a:p>
          </p:txBody>
        </p:sp>
        <p:sp>
          <p:nvSpPr>
            <p:cNvPr id="112" name="save_L03"/>
            <p:cNvSpPr txBox="1"/>
            <p:nvPr/>
          </p:nvSpPr>
          <p:spPr>
            <a:xfrm>
              <a:off x="771754" y="2693260"/>
              <a:ext cx="510639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 { Id = 2, Name = </a:t>
              </a:r>
              <a:r>
                <a:rPr lang="en-US" sz="860" b="0" dirty="0">
                  <a:solidFill>
                    <a:srgbClr val="F0A98B"/>
                  </a:solidFill>
                  <a:latin typeface="Consolas"/>
                  <a:ea typeface="Consolas"/>
                  <a:cs typeface="Consolas"/>
                </a:rPr>
                <a:t>"Sara"</a:t>
              </a:r>
              <a:r>
                <a:rPr lang="en-US" sz="860" b="0" dirty="0">
                  <a:solidFill>
                    <a:srgbClr val="E2E8F0"/>
                  </a:solidFill>
                  <a:latin typeface="Consolas"/>
                  <a:ea typeface="Consolas"/>
                  <a:cs typeface="Consolas"/>
                </a:rPr>
                <a:t>,  Salary = 18000 }</a:t>
              </a:r>
              <a:endParaRPr lang="en-US" sz="860" dirty="0"/>
            </a:p>
          </p:txBody>
        </p:sp>
        <p:sp>
          <p:nvSpPr>
            <p:cNvPr id="113" name="save_L04"/>
            <p:cNvSpPr txBox="1"/>
            <p:nvPr/>
          </p:nvSpPr>
          <p:spPr>
            <a:xfrm>
              <a:off x="771754" y="285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a:t>
              </a:r>
              <a:endParaRPr lang="en-US" sz="860" dirty="0"/>
            </a:p>
          </p:txBody>
        </p:sp>
        <p:sp>
          <p:nvSpPr>
            <p:cNvPr id="114" name="save_L06"/>
            <p:cNvSpPr txBox="1"/>
            <p:nvPr/>
          </p:nvSpPr>
          <p:spPr>
            <a:xfrm>
              <a:off x="771754" y="317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json = JsonSerializer.Serialize(</a:t>
              </a:r>
              <a:endParaRPr lang="en-US" sz="860" dirty="0"/>
            </a:p>
          </p:txBody>
        </p:sp>
        <p:sp>
          <p:nvSpPr>
            <p:cNvPr id="115" name="save_L07"/>
            <p:cNvSpPr txBox="1"/>
            <p:nvPr/>
          </p:nvSpPr>
          <p:spPr>
            <a:xfrm>
              <a:off x="771754" y="3333260"/>
              <a:ext cx="510639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employees, </a:t>
              </a: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 JsonSerializerOptions { WriteIndented = </a:t>
              </a:r>
              <a:r>
                <a:rPr lang="en-US" sz="860" b="0" dirty="0">
                  <a:solidFill>
                    <a:srgbClr val="60A5FA"/>
                  </a:solidFill>
                  <a:latin typeface="Consolas"/>
                  <a:ea typeface="Consolas"/>
                  <a:cs typeface="Consolas"/>
                </a:rPr>
                <a:t>true</a:t>
              </a:r>
              <a:r>
                <a:rPr lang="en-US" sz="860" b="0" dirty="0">
                  <a:solidFill>
                    <a:srgbClr val="E2E8F0"/>
                  </a:solidFill>
                  <a:latin typeface="Consolas"/>
                  <a:ea typeface="Consolas"/>
                  <a:cs typeface="Consolas"/>
                </a:rPr>
                <a:t> });</a:t>
              </a:r>
              <a:endParaRPr lang="en-US" sz="860" dirty="0"/>
            </a:p>
          </p:txBody>
        </p:sp>
        <p:sp>
          <p:nvSpPr>
            <p:cNvPr id="116" name="save_L08"/>
            <p:cNvSpPr txBox="1"/>
            <p:nvPr/>
          </p:nvSpPr>
          <p:spPr>
            <a:xfrm>
              <a:off x="771754" y="349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File.WriteAllText(</a:t>
              </a:r>
              <a:r>
                <a:rPr lang="en-US" sz="860" b="0" dirty="0">
                  <a:solidFill>
                    <a:srgbClr val="F0A98B"/>
                  </a:solidFill>
                  <a:latin typeface="Consolas"/>
                  <a:ea typeface="Consolas"/>
                  <a:cs typeface="Consolas"/>
                </a:rPr>
                <a:t>"employees.json"</a:t>
              </a:r>
              <a:r>
                <a:rPr lang="en-US" sz="860" b="0" dirty="0">
                  <a:solidFill>
                    <a:srgbClr val="E2E8F0"/>
                  </a:solidFill>
                  <a:latin typeface="Consolas"/>
                  <a:ea typeface="Consolas"/>
                  <a:cs typeface="Consolas"/>
                </a:rPr>
                <a:t>, json);</a:t>
              </a:r>
              <a:endParaRPr lang="en-US" sz="860" dirty="0"/>
            </a:p>
          </p:txBody>
        </p:sp>
      </p:grpSp>
      <p:sp>
        <p:nvSpPr>
          <p:cNvPr id="118" name="save_hl8"/>
          <p:cNvSpPr/>
          <p:nvPr/>
        </p:nvSpPr>
        <p:spPr>
          <a:xfrm>
            <a:off x="676656" y="3474972"/>
            <a:ext cx="5139390" cy="19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19" name="l2"/>
          <p:cNvSpPr txBox="1"/>
          <p:nvPr/>
        </p:nvSpPr>
        <p:spPr>
          <a:xfrm>
            <a:off x="6223864" y="1444752"/>
            <a:ext cx="540639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LOAD: file → JSON → list</a:t>
            </a:r>
            <a:endParaRPr lang="en-US" sz="1100" dirty="0"/>
          </a:p>
        </p:txBody>
      </p:sp>
      <p:grpSp>
        <p:nvGrpSpPr>
          <p:cNvPr id="133" name="load"/>
          <p:cNvGrpSpPr/>
          <p:nvPr/>
        </p:nvGrpSpPr>
        <p:grpSpPr>
          <a:xfrm>
            <a:off x="6223864" y="1737360"/>
            <a:ext cx="5406390" cy="1875900"/>
            <a:chOff x="6223864" y="1737360"/>
            <a:chExt cx="5406390" cy="1875900"/>
          </a:xfrm>
        </p:grpSpPr>
        <p:sp>
          <p:nvSpPr>
            <p:cNvPr id="120" name="load_win"/>
            <p:cNvSpPr/>
            <p:nvPr/>
          </p:nvSpPr>
          <p:spPr>
            <a:xfrm>
              <a:off x="6223864" y="1737360"/>
              <a:ext cx="5406390" cy="1875900"/>
            </a:xfrm>
            <a:prstGeom prst="roundRect">
              <a:avLst>
                <a:gd name="adj" fmla="val 3654"/>
              </a:avLst>
            </a:prstGeom>
            <a:solidFill>
              <a:srgbClr val="060D18"/>
            </a:solidFill>
            <a:ln w="12700">
              <a:solidFill>
                <a:srgbClr val="1E3A5F"/>
              </a:solidFill>
              <a:prstDash val="solid"/>
            </a:ln>
          </p:spPr>
          <p:txBody>
            <a:bodyPr/>
            <a:lstStyle/>
            <a:p>
              <a:endParaRPr lang="en-US"/>
            </a:p>
          </p:txBody>
        </p:sp>
        <p:sp>
          <p:nvSpPr>
            <p:cNvPr id="121" name="load_bar"/>
            <p:cNvSpPr/>
            <p:nvPr/>
          </p:nvSpPr>
          <p:spPr>
            <a:xfrm>
              <a:off x="6223864" y="1737360"/>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load_barfill"/>
            <p:cNvSpPr/>
            <p:nvPr/>
          </p:nvSpPr>
          <p:spPr>
            <a:xfrm>
              <a:off x="6223864" y="1908810"/>
              <a:ext cx="5406390" cy="171450"/>
            </a:xfrm>
            <a:prstGeom prst="rect">
              <a:avLst/>
            </a:prstGeom>
            <a:solidFill>
              <a:srgbClr val="0A1220"/>
            </a:solidFill>
            <a:ln w="12700">
              <a:solidFill>
                <a:srgbClr val="0A1220"/>
              </a:solidFill>
              <a:prstDash val="solid"/>
            </a:ln>
          </p:spPr>
          <p:txBody>
            <a:bodyPr/>
            <a:lstStyle/>
            <a:p>
              <a:endParaRPr lang="en-US"/>
            </a:p>
          </p:txBody>
        </p:sp>
        <p:sp>
          <p:nvSpPr>
            <p:cNvPr id="123" name="load_dot0"/>
            <p:cNvSpPr/>
            <p:nvPr/>
          </p:nvSpPr>
          <p:spPr>
            <a:xfrm>
              <a:off x="6385712" y="1861170"/>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load_dot1"/>
            <p:cNvSpPr/>
            <p:nvPr/>
          </p:nvSpPr>
          <p:spPr>
            <a:xfrm>
              <a:off x="6571336" y="1861170"/>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load_dot2"/>
            <p:cNvSpPr/>
            <p:nvPr/>
          </p:nvSpPr>
          <p:spPr>
            <a:xfrm>
              <a:off x="6756960" y="1861170"/>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load_tab"/>
            <p:cNvSpPr/>
            <p:nvPr/>
          </p:nvSpPr>
          <p:spPr>
            <a:xfrm>
              <a:off x="7004761" y="1784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27" name="load_L00"/>
            <p:cNvSpPr txBox="1"/>
            <p:nvPr/>
          </p:nvSpPr>
          <p:spPr>
            <a:xfrm>
              <a:off x="6452464" y="221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string</a:t>
              </a:r>
              <a:r>
                <a:rPr lang="en-US" sz="860" b="0" dirty="0">
                  <a:solidFill>
                    <a:srgbClr val="E2E8F0"/>
                  </a:solidFill>
                  <a:latin typeface="Consolas"/>
                  <a:ea typeface="Consolas"/>
                  <a:cs typeface="Consolas"/>
                </a:rPr>
                <a:t> content = File.ReadAllText(</a:t>
              </a:r>
              <a:r>
                <a:rPr lang="en-US" sz="860" b="0" dirty="0">
                  <a:solidFill>
                    <a:srgbClr val="F0A98B"/>
                  </a:solidFill>
                  <a:latin typeface="Consolas"/>
                  <a:ea typeface="Consolas"/>
                  <a:cs typeface="Consolas"/>
                </a:rPr>
                <a:t>"employees.json"</a:t>
              </a:r>
              <a:r>
                <a:rPr lang="en-US" sz="860" b="0" dirty="0">
                  <a:solidFill>
                    <a:srgbClr val="E2E8F0"/>
                  </a:solidFill>
                  <a:latin typeface="Consolas"/>
                  <a:ea typeface="Consolas"/>
                  <a:cs typeface="Consolas"/>
                </a:rPr>
                <a:t>);</a:t>
              </a:r>
              <a:endParaRPr lang="en-US" sz="860" dirty="0"/>
            </a:p>
          </p:txBody>
        </p:sp>
        <p:sp>
          <p:nvSpPr>
            <p:cNvPr id="128" name="load_L02"/>
            <p:cNvSpPr txBox="1"/>
            <p:nvPr/>
          </p:nvSpPr>
          <p:spPr>
            <a:xfrm>
              <a:off x="6452464" y="253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E2E8F0"/>
                  </a:solidFill>
                  <a:latin typeface="Consolas"/>
                  <a:ea typeface="Consolas"/>
                  <a:cs typeface="Consolas"/>
                </a:rPr>
                <a:t>List&lt;Employee&gt; loaded =</a:t>
              </a:r>
              <a:endParaRPr lang="en-US" sz="860" dirty="0"/>
            </a:p>
          </p:txBody>
        </p:sp>
        <p:sp>
          <p:nvSpPr>
            <p:cNvPr id="129" name="load_L03"/>
            <p:cNvSpPr txBox="1"/>
            <p:nvPr/>
          </p:nvSpPr>
          <p:spPr>
            <a:xfrm>
              <a:off x="6452464" y="2693260"/>
              <a:ext cx="510639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JsonSerializer.Deserialize&lt;List&lt;Employee&gt;&gt;(content)</a:t>
              </a:r>
              <a:endParaRPr lang="en-US" sz="860" dirty="0"/>
            </a:p>
          </p:txBody>
        </p:sp>
        <p:sp>
          <p:nvSpPr>
            <p:cNvPr id="130" name="load_L04"/>
            <p:cNvSpPr txBox="1"/>
            <p:nvPr/>
          </p:nvSpPr>
          <p:spPr>
            <a:xfrm>
              <a:off x="6452464" y="2853260"/>
              <a:ext cx="510639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 </a:t>
              </a:r>
              <a:r>
                <a:rPr lang="en-US" sz="860" b="0" dirty="0">
                  <a:solidFill>
                    <a:srgbClr val="60A5FA"/>
                  </a:solidFill>
                  <a:latin typeface="Consolas"/>
                  <a:ea typeface="Consolas"/>
                  <a:cs typeface="Consolas"/>
                </a:rPr>
                <a:t>new</a:t>
              </a:r>
              <a:r>
                <a:rPr lang="en-US" sz="860" b="0" dirty="0">
                  <a:solidFill>
                    <a:srgbClr val="E2E8F0"/>
                  </a:solidFill>
                  <a:latin typeface="Consolas"/>
                  <a:ea typeface="Consolas"/>
                  <a:cs typeface="Consolas"/>
                </a:rPr>
                <a:t> List&lt;Employee&gt;();          </a:t>
              </a:r>
              <a:r>
                <a:rPr lang="en-US" sz="860" b="0" dirty="0">
                  <a:solidFill>
                    <a:srgbClr val="6FAE7A"/>
                  </a:solidFill>
                  <a:latin typeface="Consolas"/>
                  <a:ea typeface="Consolas"/>
                  <a:cs typeface="Consolas"/>
                </a:rPr>
                <a:t>// never null</a:t>
              </a:r>
              <a:endParaRPr lang="en-US" sz="860" dirty="0"/>
            </a:p>
          </p:txBody>
        </p:sp>
        <p:sp>
          <p:nvSpPr>
            <p:cNvPr id="131" name="load_L06"/>
            <p:cNvSpPr txBox="1"/>
            <p:nvPr/>
          </p:nvSpPr>
          <p:spPr>
            <a:xfrm>
              <a:off x="6452464" y="3173260"/>
              <a:ext cx="510639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60" b="0" dirty="0">
                  <a:solidFill>
                    <a:srgbClr val="60A5FA"/>
                  </a:solidFill>
                  <a:latin typeface="Consolas"/>
                  <a:ea typeface="Consolas"/>
                  <a:cs typeface="Consolas"/>
                </a:rPr>
                <a:t>foreach</a:t>
              </a:r>
              <a:r>
                <a:rPr lang="en-US" sz="860" b="0" dirty="0">
                  <a:solidFill>
                    <a:srgbClr val="E2E8F0"/>
                  </a:solidFill>
                  <a:latin typeface="Consolas"/>
                  <a:ea typeface="Consolas"/>
                  <a:cs typeface="Consolas"/>
                </a:rPr>
                <a:t> (Employee e </a:t>
              </a:r>
              <a:r>
                <a:rPr lang="en-US" sz="860" b="0" dirty="0">
                  <a:solidFill>
                    <a:srgbClr val="60A5FA"/>
                  </a:solidFill>
                  <a:latin typeface="Consolas"/>
                  <a:ea typeface="Consolas"/>
                  <a:cs typeface="Consolas"/>
                </a:rPr>
                <a:t>in</a:t>
              </a:r>
              <a:r>
                <a:rPr lang="en-US" sz="860" b="0" dirty="0">
                  <a:solidFill>
                    <a:srgbClr val="E2E8F0"/>
                  </a:solidFill>
                  <a:latin typeface="Consolas"/>
                  <a:ea typeface="Consolas"/>
                  <a:cs typeface="Consolas"/>
                </a:rPr>
                <a:t> loaded)</a:t>
              </a:r>
              <a:endParaRPr lang="en-US" sz="860" dirty="0"/>
            </a:p>
          </p:txBody>
        </p:sp>
        <p:sp>
          <p:nvSpPr>
            <p:cNvPr id="132" name="load_L07"/>
            <p:cNvSpPr txBox="1"/>
            <p:nvPr/>
          </p:nvSpPr>
          <p:spPr>
            <a:xfrm>
              <a:off x="6452464" y="3333260"/>
              <a:ext cx="510639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60" b="0" dirty="0">
                  <a:solidFill>
                    <a:srgbClr val="E2E8F0"/>
                  </a:solidFill>
                  <a:latin typeface="Consolas"/>
                  <a:ea typeface="Consolas"/>
                  <a:cs typeface="Consolas"/>
                </a:rPr>
                <a:t>Console.WriteLine(</a:t>
              </a:r>
              <a:r>
                <a:rPr lang="en-US" sz="860" b="0" dirty="0">
                  <a:solidFill>
                    <a:srgbClr val="F0A98B"/>
                  </a:solidFill>
                  <a:latin typeface="Consolas"/>
                  <a:ea typeface="Consolas"/>
                  <a:cs typeface="Consolas"/>
                </a:rPr>
                <a:t>$"{e.Id}  {e.Name,-6} {e.Salary}"</a:t>
              </a:r>
              <a:r>
                <a:rPr lang="en-US" sz="860" b="0" dirty="0">
                  <a:solidFill>
                    <a:srgbClr val="E2E8F0"/>
                  </a:solidFill>
                  <a:latin typeface="Consolas"/>
                  <a:ea typeface="Consolas"/>
                  <a:cs typeface="Consolas"/>
                </a:rPr>
                <a:t>);</a:t>
              </a:r>
              <a:endParaRPr lang="en-US" sz="860" dirty="0"/>
            </a:p>
          </p:txBody>
        </p:sp>
      </p:grpSp>
      <p:sp>
        <p:nvSpPr>
          <p:cNvPr id="134" name="load_hl3"/>
          <p:cNvSpPr/>
          <p:nvPr/>
        </p:nvSpPr>
        <p:spPr>
          <a:xfrm>
            <a:off x="6357366" y="2674972"/>
            <a:ext cx="513939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5" name="load_hl4"/>
          <p:cNvSpPr/>
          <p:nvPr/>
        </p:nvSpPr>
        <p:spPr>
          <a:xfrm>
            <a:off x="6357366" y="2834972"/>
            <a:ext cx="5139390" cy="196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47" name="file"/>
          <p:cNvGrpSpPr/>
          <p:nvPr/>
        </p:nvGrpSpPr>
        <p:grpSpPr>
          <a:xfrm>
            <a:off x="543154" y="3794760"/>
            <a:ext cx="5406390" cy="1255900"/>
            <a:chOff x="543154" y="3794760"/>
            <a:chExt cx="5406390" cy="1255900"/>
          </a:xfrm>
        </p:grpSpPr>
        <p:sp>
          <p:nvSpPr>
            <p:cNvPr id="136" name="file_win"/>
            <p:cNvSpPr/>
            <p:nvPr/>
          </p:nvSpPr>
          <p:spPr>
            <a:xfrm>
              <a:off x="543154" y="3794760"/>
              <a:ext cx="5406390" cy="1255900"/>
            </a:xfrm>
            <a:prstGeom prst="roundRect">
              <a:avLst>
                <a:gd name="adj" fmla="val 5458"/>
              </a:avLst>
            </a:prstGeom>
            <a:solidFill>
              <a:srgbClr val="060D18"/>
            </a:solidFill>
            <a:ln w="12700">
              <a:solidFill>
                <a:srgbClr val="1E3A5F"/>
              </a:solidFill>
              <a:prstDash val="solid"/>
            </a:ln>
          </p:spPr>
          <p:txBody>
            <a:bodyPr/>
            <a:lstStyle/>
            <a:p>
              <a:endParaRPr lang="en-US"/>
            </a:p>
          </p:txBody>
        </p:sp>
        <p:sp>
          <p:nvSpPr>
            <p:cNvPr id="137" name="file_bar"/>
            <p:cNvSpPr/>
            <p:nvPr/>
          </p:nvSpPr>
          <p:spPr>
            <a:xfrm>
              <a:off x="543154" y="3794760"/>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8" name="file_barfill"/>
            <p:cNvSpPr/>
            <p:nvPr/>
          </p:nvSpPr>
          <p:spPr>
            <a:xfrm>
              <a:off x="543154" y="3966210"/>
              <a:ext cx="5406390" cy="171450"/>
            </a:xfrm>
            <a:prstGeom prst="rect">
              <a:avLst/>
            </a:prstGeom>
            <a:solidFill>
              <a:srgbClr val="0A1220"/>
            </a:solidFill>
            <a:ln w="12700">
              <a:solidFill>
                <a:srgbClr val="0A1220"/>
              </a:solidFill>
              <a:prstDash val="solid"/>
            </a:ln>
          </p:spPr>
          <p:txBody>
            <a:bodyPr/>
            <a:lstStyle/>
            <a:p>
              <a:endParaRPr lang="en-US"/>
            </a:p>
          </p:txBody>
        </p:sp>
        <p:sp>
          <p:nvSpPr>
            <p:cNvPr id="139" name="file_dot0"/>
            <p:cNvSpPr/>
            <p:nvPr/>
          </p:nvSpPr>
          <p:spPr>
            <a:xfrm>
              <a:off x="705002" y="3918570"/>
              <a:ext cx="95098" cy="95098"/>
            </a:xfrm>
            <a:prstGeom prst="ellipse">
              <a:avLst/>
            </a:prstGeom>
            <a:solidFill>
              <a:srgbClr val="F87171"/>
            </a:solidFill>
            <a:ln w="12700">
              <a:solidFill>
                <a:srgbClr val="F87171"/>
              </a:solidFill>
              <a:prstDash val="solid"/>
            </a:ln>
          </p:spPr>
          <p:txBody>
            <a:bodyPr/>
            <a:lstStyle/>
            <a:p>
              <a:endParaRPr lang="en-US"/>
            </a:p>
          </p:txBody>
        </p:sp>
        <p:sp>
          <p:nvSpPr>
            <p:cNvPr id="140" name="file_dot1"/>
            <p:cNvSpPr/>
            <p:nvPr/>
          </p:nvSpPr>
          <p:spPr>
            <a:xfrm>
              <a:off x="890626" y="3918570"/>
              <a:ext cx="95098" cy="95098"/>
            </a:xfrm>
            <a:prstGeom prst="ellipse">
              <a:avLst/>
            </a:prstGeom>
            <a:solidFill>
              <a:srgbClr val="FBBF24"/>
            </a:solidFill>
            <a:ln w="12700">
              <a:solidFill>
                <a:srgbClr val="FBBF24"/>
              </a:solidFill>
              <a:prstDash val="solid"/>
            </a:ln>
          </p:spPr>
          <p:txBody>
            <a:bodyPr/>
            <a:lstStyle/>
            <a:p>
              <a:endParaRPr lang="en-US"/>
            </a:p>
          </p:txBody>
        </p:sp>
        <p:sp>
          <p:nvSpPr>
            <p:cNvPr id="141" name="file_dot2"/>
            <p:cNvSpPr/>
            <p:nvPr/>
          </p:nvSpPr>
          <p:spPr>
            <a:xfrm>
              <a:off x="1076250" y="3918570"/>
              <a:ext cx="95098" cy="95098"/>
            </a:xfrm>
            <a:prstGeom prst="ellipse">
              <a:avLst/>
            </a:prstGeom>
            <a:solidFill>
              <a:srgbClr val="34D399"/>
            </a:solidFill>
            <a:ln w="12700">
              <a:solidFill>
                <a:srgbClr val="34D399"/>
              </a:solidFill>
              <a:prstDash val="solid"/>
            </a:ln>
          </p:spPr>
          <p:txBody>
            <a:bodyPr/>
            <a:lstStyle/>
            <a:p>
              <a:endParaRPr lang="en-US"/>
            </a:p>
          </p:txBody>
        </p:sp>
        <p:sp>
          <p:nvSpPr>
            <p:cNvPr id="142" name="file_tab"/>
            <p:cNvSpPr/>
            <p:nvPr/>
          </p:nvSpPr>
          <p:spPr>
            <a:xfrm>
              <a:off x="1324051" y="3842309"/>
              <a:ext cx="2169315"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employees.json  (shortened)</a:t>
              </a:r>
              <a:endParaRPr lang="en-US" sz="950" dirty="0"/>
            </a:p>
          </p:txBody>
        </p:sp>
        <p:sp>
          <p:nvSpPr>
            <p:cNvPr id="143" name="file_L00"/>
            <p:cNvSpPr txBox="1"/>
            <p:nvPr/>
          </p:nvSpPr>
          <p:spPr>
            <a:xfrm>
              <a:off x="771754" y="4270660"/>
              <a:ext cx="510639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sp>
          <p:nvSpPr>
            <p:cNvPr id="144" name="file_L01"/>
            <p:cNvSpPr txBox="1"/>
            <p:nvPr/>
          </p:nvSpPr>
          <p:spPr>
            <a:xfrm>
              <a:off x="771754" y="4435660"/>
              <a:ext cx="510639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 "Id": 1, "Name": "Ahmed", "Salary": 15000 },</a:t>
              </a:r>
              <a:endParaRPr lang="en-US" sz="880" dirty="0"/>
            </a:p>
          </p:txBody>
        </p:sp>
        <p:sp>
          <p:nvSpPr>
            <p:cNvPr id="145" name="file_L02"/>
            <p:cNvSpPr txBox="1"/>
            <p:nvPr/>
          </p:nvSpPr>
          <p:spPr>
            <a:xfrm>
              <a:off x="771754" y="4600660"/>
              <a:ext cx="510639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 "Id": 2, "Name": "Sara", "Salary": 18000 }</a:t>
              </a:r>
              <a:endParaRPr lang="en-US" sz="880" dirty="0"/>
            </a:p>
          </p:txBody>
        </p:sp>
        <p:sp>
          <p:nvSpPr>
            <p:cNvPr id="146" name="file_L03"/>
            <p:cNvSpPr txBox="1"/>
            <p:nvPr/>
          </p:nvSpPr>
          <p:spPr>
            <a:xfrm>
              <a:off x="771754" y="4765660"/>
              <a:ext cx="510639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grpSp>
      <p:grpSp>
        <p:nvGrpSpPr>
          <p:cNvPr id="157" name="out"/>
          <p:cNvGrpSpPr/>
          <p:nvPr/>
        </p:nvGrpSpPr>
        <p:grpSpPr>
          <a:xfrm>
            <a:off x="6223864" y="3794760"/>
            <a:ext cx="5406390" cy="965900"/>
            <a:chOff x="6223864" y="3794760"/>
            <a:chExt cx="5406390" cy="965900"/>
          </a:xfrm>
        </p:grpSpPr>
        <p:sp>
          <p:nvSpPr>
            <p:cNvPr id="148" name="out_win"/>
            <p:cNvSpPr/>
            <p:nvPr/>
          </p:nvSpPr>
          <p:spPr>
            <a:xfrm>
              <a:off x="6223864" y="3794760"/>
              <a:ext cx="5406390" cy="965900"/>
            </a:xfrm>
            <a:prstGeom prst="roundRect">
              <a:avLst>
                <a:gd name="adj" fmla="val 7097"/>
              </a:avLst>
            </a:prstGeom>
            <a:solidFill>
              <a:srgbClr val="060D18"/>
            </a:solidFill>
            <a:ln w="12700">
              <a:solidFill>
                <a:srgbClr val="1E3A5F"/>
              </a:solidFill>
              <a:prstDash val="solid"/>
            </a:ln>
          </p:spPr>
          <p:txBody>
            <a:bodyPr/>
            <a:lstStyle/>
            <a:p>
              <a:endParaRPr lang="en-US"/>
            </a:p>
          </p:txBody>
        </p:sp>
        <p:sp>
          <p:nvSpPr>
            <p:cNvPr id="149" name="out_bar"/>
            <p:cNvSpPr/>
            <p:nvPr/>
          </p:nvSpPr>
          <p:spPr>
            <a:xfrm>
              <a:off x="6223864" y="3794760"/>
              <a:ext cx="540639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50" name="out_barfill"/>
            <p:cNvSpPr/>
            <p:nvPr/>
          </p:nvSpPr>
          <p:spPr>
            <a:xfrm>
              <a:off x="6223864" y="3966210"/>
              <a:ext cx="5406390" cy="171450"/>
            </a:xfrm>
            <a:prstGeom prst="rect">
              <a:avLst/>
            </a:prstGeom>
            <a:solidFill>
              <a:srgbClr val="0A1220"/>
            </a:solidFill>
            <a:ln w="12700">
              <a:solidFill>
                <a:srgbClr val="0A1220"/>
              </a:solidFill>
              <a:prstDash val="solid"/>
            </a:ln>
          </p:spPr>
          <p:txBody>
            <a:bodyPr/>
            <a:lstStyle/>
            <a:p>
              <a:endParaRPr lang="en-US"/>
            </a:p>
          </p:txBody>
        </p:sp>
        <p:sp>
          <p:nvSpPr>
            <p:cNvPr id="151" name="out_dot0"/>
            <p:cNvSpPr/>
            <p:nvPr/>
          </p:nvSpPr>
          <p:spPr>
            <a:xfrm>
              <a:off x="6385712" y="3918570"/>
              <a:ext cx="95098" cy="95098"/>
            </a:xfrm>
            <a:prstGeom prst="ellipse">
              <a:avLst/>
            </a:prstGeom>
            <a:solidFill>
              <a:srgbClr val="F87171"/>
            </a:solidFill>
            <a:ln w="12700">
              <a:solidFill>
                <a:srgbClr val="F87171"/>
              </a:solidFill>
              <a:prstDash val="solid"/>
            </a:ln>
          </p:spPr>
          <p:txBody>
            <a:bodyPr/>
            <a:lstStyle/>
            <a:p>
              <a:endParaRPr lang="en-US"/>
            </a:p>
          </p:txBody>
        </p:sp>
        <p:sp>
          <p:nvSpPr>
            <p:cNvPr id="152" name="out_dot1"/>
            <p:cNvSpPr/>
            <p:nvPr/>
          </p:nvSpPr>
          <p:spPr>
            <a:xfrm>
              <a:off x="6571336" y="3918570"/>
              <a:ext cx="95098" cy="95098"/>
            </a:xfrm>
            <a:prstGeom prst="ellipse">
              <a:avLst/>
            </a:prstGeom>
            <a:solidFill>
              <a:srgbClr val="FBBF24"/>
            </a:solidFill>
            <a:ln w="12700">
              <a:solidFill>
                <a:srgbClr val="FBBF24"/>
              </a:solidFill>
              <a:prstDash val="solid"/>
            </a:ln>
          </p:spPr>
          <p:txBody>
            <a:bodyPr/>
            <a:lstStyle/>
            <a:p>
              <a:endParaRPr lang="en-US"/>
            </a:p>
          </p:txBody>
        </p:sp>
        <p:sp>
          <p:nvSpPr>
            <p:cNvPr id="153" name="out_dot2"/>
            <p:cNvSpPr/>
            <p:nvPr/>
          </p:nvSpPr>
          <p:spPr>
            <a:xfrm>
              <a:off x="6756960" y="3918570"/>
              <a:ext cx="95098" cy="95098"/>
            </a:xfrm>
            <a:prstGeom prst="ellipse">
              <a:avLst/>
            </a:prstGeom>
            <a:solidFill>
              <a:srgbClr val="34D399"/>
            </a:solidFill>
            <a:ln w="12700">
              <a:solidFill>
                <a:srgbClr val="34D399"/>
              </a:solidFill>
              <a:prstDash val="solid"/>
            </a:ln>
          </p:spPr>
          <p:txBody>
            <a:bodyPr/>
            <a:lstStyle/>
            <a:p>
              <a:endParaRPr lang="en-US"/>
            </a:p>
          </p:txBody>
        </p:sp>
        <p:sp>
          <p:nvSpPr>
            <p:cNvPr id="154" name="out_tab"/>
            <p:cNvSpPr/>
            <p:nvPr/>
          </p:nvSpPr>
          <p:spPr>
            <a:xfrm>
              <a:off x="7004761" y="38423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55" name="out_L00"/>
            <p:cNvSpPr txBox="1"/>
            <p:nvPr/>
          </p:nvSpPr>
          <p:spPr>
            <a:xfrm>
              <a:off x="6452464" y="4270660"/>
              <a:ext cx="510639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1  Ahmed  15000</a:t>
              </a:r>
              <a:endParaRPr lang="en-US" sz="1000" dirty="0"/>
            </a:p>
          </p:txBody>
        </p:sp>
        <p:sp>
          <p:nvSpPr>
            <p:cNvPr id="156" name="out_L01"/>
            <p:cNvSpPr txBox="1"/>
            <p:nvPr/>
          </p:nvSpPr>
          <p:spPr>
            <a:xfrm>
              <a:off x="6452464" y="4455660"/>
              <a:ext cx="5106390" cy="18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2  Sara   18000</a:t>
              </a:r>
              <a:endParaRPr lang="en-US" sz="1000" dirty="0"/>
            </a:p>
          </p:txBody>
        </p:sp>
      </p:grpSp>
      <p:sp>
        <p:nvSpPr>
          <p:cNvPr id="158" name="k"/>
          <p:cNvSpPr txBox="1"/>
          <p:nvPr/>
        </p:nvSpPr>
        <p:spPr>
          <a:xfrm>
            <a:off x="6223864" y="4937760"/>
            <a:ext cx="5406390" cy="5486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 new List&lt;Employee&gt;()</a:t>
            </a:r>
            <a:r>
              <a:rPr lang="en-US" sz="1000" b="0" dirty="0">
                <a:solidFill>
                  <a:srgbClr val="CBD5E1"/>
                </a:solidFill>
                <a:latin typeface="Segoe UI"/>
                <a:ea typeface="Segoe UI"/>
                <a:cs typeface="Segoe UI"/>
              </a:rPr>
              <a:t>  the rest of the code never sees null</a:t>
            </a:r>
            <a:endParaRPr lang="en-US" sz="1000" dirty="0"/>
          </a:p>
        </p:txBody>
      </p:sp>
    </p:spTree>
    <p:extLst>
      <p:ext uri="{BB962C8B-B14F-4D97-AF65-F5344CB8AC3E}">
        <p14:creationId xmlns:p14="http://schemas.microsoft.com/office/powerpoint/2010/main" val="50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7"/>
                                        </p:tgtEl>
                                        <p:attrNameLst>
                                          <p:attrName>style.visibility</p:attrName>
                                        </p:attrNameLst>
                                      </p:cBhvr>
                                      <p:to>
                                        <p:strVal val="visible"/>
                                      </p:to>
                                    </p:set>
                                    <p:animEffect transition="in" filter="fade">
                                      <p:cBhvr>
                                        <p:cTn id="10" dur="400"/>
                                        <p:tgtEl>
                                          <p:spTgt spid="1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animEffect transition="in" filter="fade">
                                      <p:cBhvr>
                                        <p:cTn id="13" dur="400"/>
                                        <p:tgtEl>
                                          <p:spTgt spid="1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7"/>
                                        </p:tgtEl>
                                        <p:attrNameLst>
                                          <p:attrName>style.visibility</p:attrName>
                                        </p:attrNameLst>
                                      </p:cBhvr>
                                      <p:to>
                                        <p:strVal val="visible"/>
                                      </p:to>
                                    </p:set>
                                    <p:animEffect transition="in" filter="fade">
                                      <p:cBhvr>
                                        <p:cTn id="18" dur="400"/>
                                        <p:tgtEl>
                                          <p:spTgt spid="14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9"/>
                                        </p:tgtEl>
                                        <p:attrNameLst>
                                          <p:attrName>style.visibility</p:attrName>
                                        </p:attrNameLst>
                                      </p:cBhvr>
                                      <p:to>
                                        <p:strVal val="visible"/>
                                      </p:to>
                                    </p:set>
                                    <p:animEffect transition="in" filter="fade">
                                      <p:cBhvr>
                                        <p:cTn id="23" dur="400"/>
                                        <p:tgtEl>
                                          <p:spTgt spid="119"/>
                                        </p:tgtEl>
                                      </p:cBhvr>
                                    </p:animEffect>
                                  </p:childTnLst>
                                </p:cTn>
                              </p:par>
                              <p:par>
                                <p:cTn id="24" presetID="10" presetClass="entr" presetSubtype="0" fill="hold" nodeType="withEffect">
                                  <p:stCondLst>
                                    <p:cond delay="0"/>
                                  </p:stCondLst>
                                  <p:childTnLst>
                                    <p:set>
                                      <p:cBhvr>
                                        <p:cTn id="25" dur="1" fill="hold">
                                          <p:stCondLst>
                                            <p:cond delay="0"/>
                                          </p:stCondLst>
                                        </p:cTn>
                                        <p:tgtEl>
                                          <p:spTgt spid="133"/>
                                        </p:tgtEl>
                                        <p:attrNameLst>
                                          <p:attrName>style.visibility</p:attrName>
                                        </p:attrNameLst>
                                      </p:cBhvr>
                                      <p:to>
                                        <p:strVal val="visible"/>
                                      </p:to>
                                    </p:set>
                                    <p:animEffect transition="in" filter="fade">
                                      <p:cBhvr>
                                        <p:cTn id="26" dur="400"/>
                                        <p:tgtEl>
                                          <p:spTgt spid="1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4"/>
                                        </p:tgtEl>
                                        <p:attrNameLst>
                                          <p:attrName>style.visibility</p:attrName>
                                        </p:attrNameLst>
                                      </p:cBhvr>
                                      <p:to>
                                        <p:strVal val="visible"/>
                                      </p:to>
                                    </p:set>
                                    <p:animEffect transition="in" filter="fade">
                                      <p:cBhvr>
                                        <p:cTn id="29" dur="400"/>
                                        <p:tgtEl>
                                          <p:spTgt spid="1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5"/>
                                        </p:tgtEl>
                                        <p:attrNameLst>
                                          <p:attrName>style.visibility</p:attrName>
                                        </p:attrNameLst>
                                      </p:cBhvr>
                                      <p:to>
                                        <p:strVal val="visible"/>
                                      </p:to>
                                    </p:set>
                                    <p:animEffect transition="in" filter="fade">
                                      <p:cBhvr>
                                        <p:cTn id="32" dur="400"/>
                                        <p:tgtEl>
                                          <p:spTgt spid="1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7"/>
                                        </p:tgtEl>
                                        <p:attrNameLst>
                                          <p:attrName>style.visibility</p:attrName>
                                        </p:attrNameLst>
                                      </p:cBhvr>
                                      <p:to>
                                        <p:strVal val="visible"/>
                                      </p:to>
                                    </p:set>
                                    <p:animEffect transition="in" filter="fade">
                                      <p:cBhvr>
                                        <p:cTn id="37" dur="400"/>
                                        <p:tgtEl>
                                          <p:spTgt spid="157"/>
                                        </p:tgtEl>
                                      </p:cBhvr>
                                    </p:animEffect>
                                  </p:childTnLst>
                                </p:cTn>
                              </p:par>
                            </p:childTnLst>
                          </p:cTn>
                        </p:par>
                        <p:par>
                          <p:cTn id="38" fill="hold">
                            <p:stCondLst>
                              <p:cond delay="400"/>
                            </p:stCondLst>
                            <p:childTnLst>
                              <p:par>
                                <p:cTn id="39" presetID="10" presetClass="entr" presetSubtype="0" fill="hold" grpId="0" nodeType="afterEffect">
                                  <p:stCondLst>
                                    <p:cond delay="0"/>
                                  </p:stCondLst>
                                  <p:childTnLst>
                                    <p:set>
                                      <p:cBhvr>
                                        <p:cTn id="40" dur="1" fill="hold">
                                          <p:stCondLst>
                                            <p:cond delay="0"/>
                                          </p:stCondLst>
                                        </p:cTn>
                                        <p:tgtEl>
                                          <p:spTgt spid="158"/>
                                        </p:tgtEl>
                                        <p:attrNameLst>
                                          <p:attrName>style.visibility</p:attrName>
                                        </p:attrNameLst>
                                      </p:cBhvr>
                                      <p:to>
                                        <p:strVal val="visible"/>
                                      </p:to>
                                    </p:set>
                                    <p:animEffect transition="in" filter="fade">
                                      <p:cBhvr>
                                        <p:cTn id="41" dur="4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18" grpId="0" animBg="1"/>
      <p:bldP spid="119" grpId="0" animBg="1"/>
      <p:bldP spid="134" grpId="0" animBg="1"/>
      <p:bldP spid="135" grpId="0" animBg="1"/>
      <p:bldP spid="15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0400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OPTIONS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JsonSerializerOptions and [JsonPropertyName]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JSON</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29</a:t>
            </a:r>
            <a:endParaRPr lang="en-US" sz="850" dirty="0"/>
          </a:p>
        </p:txBody>
      </p:sp>
      <p:grpSp>
        <p:nvGrpSpPr>
          <p:cNvPr id="103" name="t_h"/>
          <p:cNvGrpSpPr/>
          <p:nvPr/>
        </p:nvGrpSpPr>
        <p:grpSpPr>
          <a:xfrm>
            <a:off x="689458" y="1444752"/>
            <a:ext cx="10904220" cy="256032"/>
            <a:chOff x="689458" y="1444752"/>
            <a:chExt cx="10904220" cy="256032"/>
          </a:xfrm>
        </p:grpSpPr>
        <p:sp>
          <p:nvSpPr>
            <p:cNvPr id="101" name="t_h0"/>
            <p:cNvSpPr txBox="1"/>
            <p:nvPr/>
          </p:nvSpPr>
          <p:spPr>
            <a:xfrm>
              <a:off x="689458" y="1444752"/>
              <a:ext cx="40233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OPTION</a:t>
              </a:r>
              <a:endParaRPr lang="en-US" sz="1000" dirty="0"/>
            </a:p>
          </p:txBody>
        </p:sp>
        <p:sp>
          <p:nvSpPr>
            <p:cNvPr id="102" name="t_h1"/>
            <p:cNvSpPr txBox="1"/>
            <p:nvPr/>
          </p:nvSpPr>
          <p:spPr>
            <a:xfrm>
              <a:off x="4895698" y="1444752"/>
              <a:ext cx="66979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EFFECT</a:t>
              </a:r>
              <a:endParaRPr lang="en-US" sz="1000" dirty="0"/>
            </a:p>
          </p:txBody>
        </p:sp>
      </p:grpSp>
      <p:grpSp>
        <p:nvGrpSpPr>
          <p:cNvPr id="107" name="t_r0"/>
          <p:cNvGrpSpPr/>
          <p:nvPr/>
        </p:nvGrpSpPr>
        <p:grpSpPr>
          <a:xfrm>
            <a:off x="543154" y="1746504"/>
            <a:ext cx="11087100" cy="329184"/>
            <a:chOff x="543154" y="1746504"/>
            <a:chExt cx="11087100" cy="329184"/>
          </a:xfrm>
        </p:grpSpPr>
        <p:sp>
          <p:nvSpPr>
            <p:cNvPr id="104" name="t_r0_bg"/>
            <p:cNvSpPr/>
            <p:nvPr/>
          </p:nvSpPr>
          <p:spPr>
            <a:xfrm>
              <a:off x="543154" y="1746504"/>
              <a:ext cx="1108710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5" name="t_r0_c0"/>
            <p:cNvSpPr txBox="1"/>
            <p:nvPr/>
          </p:nvSpPr>
          <p:spPr>
            <a:xfrm>
              <a:off x="689458" y="1746504"/>
              <a:ext cx="402336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472B6"/>
                  </a:solidFill>
                  <a:latin typeface="Consolas"/>
                  <a:ea typeface="Consolas"/>
                  <a:cs typeface="Consolas"/>
                </a:rPr>
                <a:t>WriteIndented = true</a:t>
              </a:r>
              <a:endParaRPr lang="en-US" sz="1050" dirty="0"/>
            </a:p>
          </p:txBody>
        </p:sp>
        <p:sp>
          <p:nvSpPr>
            <p:cNvPr id="106" name="t_r0_c1"/>
            <p:cNvSpPr txBox="1"/>
            <p:nvPr/>
          </p:nvSpPr>
          <p:spPr>
            <a:xfrm>
              <a:off x="4895698" y="1746504"/>
              <a:ext cx="669798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line breaks and spaces: readable JSON</a:t>
              </a:r>
              <a:endParaRPr lang="en-US" sz="1050" dirty="0"/>
            </a:p>
          </p:txBody>
        </p:sp>
      </p:grpSp>
      <p:grpSp>
        <p:nvGrpSpPr>
          <p:cNvPr id="111" name="t_r1"/>
          <p:cNvGrpSpPr/>
          <p:nvPr/>
        </p:nvGrpSpPr>
        <p:grpSpPr>
          <a:xfrm>
            <a:off x="543154" y="2121408"/>
            <a:ext cx="11087100" cy="329184"/>
            <a:chOff x="543154" y="2121408"/>
            <a:chExt cx="11087100" cy="329184"/>
          </a:xfrm>
        </p:grpSpPr>
        <p:sp>
          <p:nvSpPr>
            <p:cNvPr id="108" name="t_r1_bg"/>
            <p:cNvSpPr/>
            <p:nvPr/>
          </p:nvSpPr>
          <p:spPr>
            <a:xfrm>
              <a:off x="543154" y="2121408"/>
              <a:ext cx="1108710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9" name="t_r1_c0"/>
            <p:cNvSpPr txBox="1"/>
            <p:nvPr/>
          </p:nvSpPr>
          <p:spPr>
            <a:xfrm>
              <a:off x="689458" y="2121408"/>
              <a:ext cx="402336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472B6"/>
                  </a:solidFill>
                  <a:latin typeface="Consolas"/>
                  <a:ea typeface="Consolas"/>
                  <a:cs typeface="Consolas"/>
                </a:rPr>
                <a:t>PropertyNameCaseInsensitive = true</a:t>
              </a:r>
              <a:endParaRPr lang="en-US" sz="1050" dirty="0"/>
            </a:p>
          </p:txBody>
        </p:sp>
        <p:sp>
          <p:nvSpPr>
            <p:cNvPr id="110" name="t_r1_c1"/>
            <p:cNvSpPr txBox="1"/>
            <p:nvPr/>
          </p:nvSpPr>
          <p:spPr>
            <a:xfrm>
              <a:off x="4895698" y="2121408"/>
              <a:ext cx="669798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"name" in JSON fills Name in C#</a:t>
              </a:r>
              <a:endParaRPr lang="en-US" sz="1050" dirty="0"/>
            </a:p>
          </p:txBody>
        </p:sp>
      </p:grpSp>
      <p:grpSp>
        <p:nvGrpSpPr>
          <p:cNvPr id="115" name="t_r2"/>
          <p:cNvGrpSpPr/>
          <p:nvPr/>
        </p:nvGrpSpPr>
        <p:grpSpPr>
          <a:xfrm>
            <a:off x="543154" y="2496312"/>
            <a:ext cx="11087100" cy="329184"/>
            <a:chOff x="543154" y="2496312"/>
            <a:chExt cx="11087100" cy="329184"/>
          </a:xfrm>
        </p:grpSpPr>
        <p:sp>
          <p:nvSpPr>
            <p:cNvPr id="112" name="t_r2_bg"/>
            <p:cNvSpPr/>
            <p:nvPr/>
          </p:nvSpPr>
          <p:spPr>
            <a:xfrm>
              <a:off x="543154" y="2496312"/>
              <a:ext cx="11087100" cy="329184"/>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3" name="t_r2_c0"/>
            <p:cNvSpPr txBox="1"/>
            <p:nvPr/>
          </p:nvSpPr>
          <p:spPr>
            <a:xfrm>
              <a:off x="689458" y="2496312"/>
              <a:ext cx="402336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1" dirty="0">
                  <a:solidFill>
                    <a:srgbClr val="F472B6"/>
                  </a:solidFill>
                  <a:latin typeface="Consolas"/>
                  <a:ea typeface="Consolas"/>
                  <a:cs typeface="Consolas"/>
                </a:rPr>
                <a:t>[JsonPropertyName("product_name")]</a:t>
              </a:r>
              <a:endParaRPr lang="en-US" sz="1050" dirty="0"/>
            </a:p>
          </p:txBody>
        </p:sp>
        <p:sp>
          <p:nvSpPr>
            <p:cNvPr id="114" name="t_r2_c1"/>
            <p:cNvSpPr txBox="1"/>
            <p:nvPr/>
          </p:nvSpPr>
          <p:spPr>
            <a:xfrm>
              <a:off x="4895698" y="2496312"/>
              <a:ext cx="669798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a different name in JSON for one property</a:t>
              </a:r>
              <a:endParaRPr lang="en-US" sz="1050" dirty="0"/>
            </a:p>
          </p:txBody>
        </p:sp>
      </p:grpSp>
      <p:grpSp>
        <p:nvGrpSpPr>
          <p:cNvPr id="130" name="code"/>
          <p:cNvGrpSpPr/>
          <p:nvPr/>
        </p:nvGrpSpPr>
        <p:grpSpPr>
          <a:xfrm>
            <a:off x="543154" y="2816352"/>
            <a:ext cx="7406640" cy="2095900"/>
            <a:chOff x="543154" y="2816352"/>
            <a:chExt cx="7406640" cy="2095900"/>
          </a:xfrm>
        </p:grpSpPr>
        <p:sp>
          <p:nvSpPr>
            <p:cNvPr id="116" name="code_win"/>
            <p:cNvSpPr/>
            <p:nvPr/>
          </p:nvSpPr>
          <p:spPr>
            <a:xfrm>
              <a:off x="543154" y="2816352"/>
              <a:ext cx="7406640" cy="2095900"/>
            </a:xfrm>
            <a:prstGeom prst="roundRect">
              <a:avLst>
                <a:gd name="adj" fmla="val 3270"/>
              </a:avLst>
            </a:prstGeom>
            <a:solidFill>
              <a:srgbClr val="060D18"/>
            </a:solidFill>
            <a:ln w="12700">
              <a:solidFill>
                <a:srgbClr val="1E3A5F"/>
              </a:solidFill>
              <a:prstDash val="solid"/>
            </a:ln>
          </p:spPr>
          <p:txBody>
            <a:bodyPr/>
            <a:lstStyle/>
            <a:p>
              <a:endParaRPr lang="en-US"/>
            </a:p>
          </p:txBody>
        </p:sp>
        <p:sp>
          <p:nvSpPr>
            <p:cNvPr id="117" name="code_bar"/>
            <p:cNvSpPr/>
            <p:nvPr/>
          </p:nvSpPr>
          <p:spPr>
            <a:xfrm>
              <a:off x="543154" y="2816352"/>
              <a:ext cx="7406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8" name="code_barfill"/>
            <p:cNvSpPr/>
            <p:nvPr/>
          </p:nvSpPr>
          <p:spPr>
            <a:xfrm>
              <a:off x="543154" y="2987802"/>
              <a:ext cx="7406640" cy="171450"/>
            </a:xfrm>
            <a:prstGeom prst="rect">
              <a:avLst/>
            </a:prstGeom>
            <a:solidFill>
              <a:srgbClr val="0A1220"/>
            </a:solidFill>
            <a:ln w="12700">
              <a:solidFill>
                <a:srgbClr val="0A1220"/>
              </a:solidFill>
              <a:prstDash val="solid"/>
            </a:ln>
          </p:spPr>
          <p:txBody>
            <a:bodyPr/>
            <a:lstStyle/>
            <a:p>
              <a:endParaRPr lang="en-US"/>
            </a:p>
          </p:txBody>
        </p:sp>
        <p:sp>
          <p:nvSpPr>
            <p:cNvPr id="119" name="code_dot0"/>
            <p:cNvSpPr/>
            <p:nvPr/>
          </p:nvSpPr>
          <p:spPr>
            <a:xfrm>
              <a:off x="705002" y="2940162"/>
              <a:ext cx="95098" cy="95098"/>
            </a:xfrm>
            <a:prstGeom prst="ellipse">
              <a:avLst/>
            </a:prstGeom>
            <a:solidFill>
              <a:srgbClr val="F87171"/>
            </a:solidFill>
            <a:ln w="12700">
              <a:solidFill>
                <a:srgbClr val="F87171"/>
              </a:solidFill>
              <a:prstDash val="solid"/>
            </a:ln>
          </p:spPr>
          <p:txBody>
            <a:bodyPr/>
            <a:lstStyle/>
            <a:p>
              <a:endParaRPr lang="en-US"/>
            </a:p>
          </p:txBody>
        </p:sp>
        <p:sp>
          <p:nvSpPr>
            <p:cNvPr id="120" name="code_dot1"/>
            <p:cNvSpPr/>
            <p:nvPr/>
          </p:nvSpPr>
          <p:spPr>
            <a:xfrm>
              <a:off x="890626" y="2940162"/>
              <a:ext cx="95098" cy="95098"/>
            </a:xfrm>
            <a:prstGeom prst="ellipse">
              <a:avLst/>
            </a:prstGeom>
            <a:solidFill>
              <a:srgbClr val="FBBF24"/>
            </a:solidFill>
            <a:ln w="12700">
              <a:solidFill>
                <a:srgbClr val="FBBF24"/>
              </a:solidFill>
              <a:prstDash val="solid"/>
            </a:ln>
          </p:spPr>
          <p:txBody>
            <a:bodyPr/>
            <a:lstStyle/>
            <a:p>
              <a:endParaRPr lang="en-US"/>
            </a:p>
          </p:txBody>
        </p:sp>
        <p:sp>
          <p:nvSpPr>
            <p:cNvPr id="121" name="code_dot2"/>
            <p:cNvSpPr/>
            <p:nvPr/>
          </p:nvSpPr>
          <p:spPr>
            <a:xfrm>
              <a:off x="1076250" y="2940162"/>
              <a:ext cx="95098" cy="95098"/>
            </a:xfrm>
            <a:prstGeom prst="ellipse">
              <a:avLst/>
            </a:prstGeom>
            <a:solidFill>
              <a:srgbClr val="34D399"/>
            </a:solidFill>
            <a:ln w="12700">
              <a:solidFill>
                <a:srgbClr val="34D399"/>
              </a:solidFill>
              <a:prstDash val="solid"/>
            </a:ln>
          </p:spPr>
          <p:txBody>
            <a:bodyPr/>
            <a:lstStyle/>
            <a:p>
              <a:endParaRPr lang="en-US"/>
            </a:p>
          </p:txBody>
        </p:sp>
        <p:sp>
          <p:nvSpPr>
            <p:cNvPr id="122" name="code_tab"/>
            <p:cNvSpPr/>
            <p:nvPr/>
          </p:nvSpPr>
          <p:spPr>
            <a:xfrm>
              <a:off x="1324051" y="2863901"/>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a:t>
              </a:r>
              <a:endParaRPr lang="en-US" sz="950" dirty="0"/>
            </a:p>
          </p:txBody>
        </p:sp>
        <p:sp>
          <p:nvSpPr>
            <p:cNvPr id="123" name="code_L00"/>
            <p:cNvSpPr txBox="1"/>
            <p:nvPr/>
          </p:nvSpPr>
          <p:spPr>
            <a:xfrm>
              <a:off x="771754" y="3292252"/>
              <a:ext cx="71066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string</a:t>
              </a:r>
              <a:r>
                <a:rPr lang="en-US" sz="850" b="0" dirty="0">
                  <a:solidFill>
                    <a:srgbClr val="E2E8F0"/>
                  </a:solidFill>
                  <a:latin typeface="Consolas"/>
                  <a:ea typeface="Consolas"/>
                  <a:cs typeface="Consolas"/>
                </a:rPr>
                <a:t> fromApi = </a:t>
              </a:r>
              <a:r>
                <a:rPr lang="en-US" sz="850" b="0" dirty="0">
                  <a:solidFill>
                    <a:srgbClr val="F0A98B"/>
                  </a:solidFill>
                  <a:latin typeface="Consolas"/>
                  <a:ea typeface="Consolas"/>
                  <a:cs typeface="Consolas"/>
                </a:rPr>
                <a:t>"""{ "</a:t>
              </a:r>
              <a:r>
                <a:rPr lang="en-US" sz="850" b="0" dirty="0">
                  <a:solidFill>
                    <a:srgbClr val="E2E8F0"/>
                  </a:solidFill>
                  <a:latin typeface="Consolas"/>
                  <a:ea typeface="Consolas"/>
                  <a:cs typeface="Consolas"/>
                </a:rPr>
                <a:t>id</a:t>
              </a:r>
              <a:r>
                <a:rPr lang="en-US" sz="850" b="0" dirty="0">
                  <a:solidFill>
                    <a:srgbClr val="F0A98B"/>
                  </a:solidFill>
                  <a:latin typeface="Consolas"/>
                  <a:ea typeface="Consolas"/>
                  <a:cs typeface="Consolas"/>
                </a:rPr>
                <a:t>": 7, "</a:t>
              </a:r>
              <a:r>
                <a:rPr lang="en-US" sz="850" b="0" dirty="0">
                  <a:solidFill>
                    <a:srgbClr val="E2E8F0"/>
                  </a:solidFill>
                  <a:latin typeface="Consolas"/>
                  <a:ea typeface="Consolas"/>
                  <a:cs typeface="Consolas"/>
                </a:rPr>
                <a:t>name</a:t>
              </a:r>
              <a:r>
                <a:rPr lang="en-US" sz="850" b="0" dirty="0">
                  <a:solidFill>
                    <a:srgbClr val="F0A98B"/>
                  </a:solidFill>
                  <a:latin typeface="Consolas"/>
                  <a:ea typeface="Consolas"/>
                  <a:cs typeface="Consolas"/>
                </a:rPr>
                <a:t>": "</a:t>
              </a:r>
              <a:r>
                <a:rPr lang="en-US" sz="850" b="0" dirty="0">
                  <a:solidFill>
                    <a:srgbClr val="E2E8F0"/>
                  </a:solidFill>
                  <a:latin typeface="Consolas"/>
                  <a:ea typeface="Consolas"/>
                  <a:cs typeface="Consolas"/>
                </a:rPr>
                <a:t>Mona</a:t>
              </a:r>
              <a:r>
                <a:rPr lang="en-US" sz="850" b="0" dirty="0">
                  <a:solidFill>
                    <a:srgbClr val="F0A98B"/>
                  </a:solidFill>
                  <a:latin typeface="Consolas"/>
                  <a:ea typeface="Consolas"/>
                  <a:cs typeface="Consolas"/>
                </a:rPr>
                <a:t>", "</a:t>
              </a:r>
              <a:r>
                <a:rPr lang="en-US" sz="850" b="0" dirty="0">
                  <a:solidFill>
                    <a:srgbClr val="E2E8F0"/>
                  </a:solidFill>
                  <a:latin typeface="Consolas"/>
                  <a:ea typeface="Consolas"/>
                  <a:cs typeface="Consolas"/>
                </a:rPr>
                <a:t>salary</a:t>
              </a:r>
              <a:r>
                <a:rPr lang="en-US" sz="850" b="0" dirty="0">
                  <a:solidFill>
                    <a:srgbClr val="F0A98B"/>
                  </a:solidFill>
                  <a:latin typeface="Consolas"/>
                  <a:ea typeface="Consolas"/>
                  <a:cs typeface="Consolas"/>
                </a:rPr>
                <a:t>": 21000 }"""</a:t>
              </a:r>
              <a:r>
                <a:rPr lang="en-US" sz="850" b="0" dirty="0">
                  <a:solidFill>
                    <a:srgbClr val="E2E8F0"/>
                  </a:solidFill>
                  <a:latin typeface="Consolas"/>
                  <a:ea typeface="Consolas"/>
                  <a:cs typeface="Consolas"/>
                </a:rPr>
                <a:t>;</a:t>
              </a:r>
              <a:endParaRPr lang="en-US" sz="850" dirty="0"/>
            </a:p>
          </p:txBody>
        </p:sp>
        <p:sp>
          <p:nvSpPr>
            <p:cNvPr id="124" name="code_L02"/>
            <p:cNvSpPr txBox="1"/>
            <p:nvPr/>
          </p:nvSpPr>
          <p:spPr>
            <a:xfrm>
              <a:off x="771754" y="3592252"/>
              <a:ext cx="71066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Employee? strict = JsonSerializer.Deserialize&lt;Employee&gt;(fromApi);</a:t>
              </a:r>
              <a:endParaRPr lang="en-US" sz="850" dirty="0"/>
            </a:p>
          </p:txBody>
        </p:sp>
        <p:sp>
          <p:nvSpPr>
            <p:cNvPr id="125" name="code_L03"/>
            <p:cNvSpPr txBox="1"/>
            <p:nvPr/>
          </p:nvSpPr>
          <p:spPr>
            <a:xfrm>
              <a:off x="771754" y="3742252"/>
              <a:ext cx="71066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Console.WriteLine(</a:t>
              </a:r>
              <a:r>
                <a:rPr lang="en-US" sz="850" b="0" dirty="0">
                  <a:solidFill>
                    <a:srgbClr val="F0A98B"/>
                  </a:solidFill>
                  <a:latin typeface="Consolas"/>
                  <a:ea typeface="Consolas"/>
                  <a:cs typeface="Consolas"/>
                </a:rPr>
                <a:t>$"default:          Name = '{strict?.Name}'"</a:t>
              </a:r>
              <a:r>
                <a:rPr lang="en-US" sz="850" b="0" dirty="0">
                  <a:solidFill>
                    <a:srgbClr val="E2E8F0"/>
                  </a:solidFill>
                  <a:latin typeface="Consolas"/>
                  <a:ea typeface="Consolas"/>
                  <a:cs typeface="Consolas"/>
                </a:rPr>
                <a:t>);</a:t>
              </a:r>
              <a:endParaRPr lang="en-US" sz="850" dirty="0"/>
            </a:p>
          </p:txBody>
        </p:sp>
        <p:sp>
          <p:nvSpPr>
            <p:cNvPr id="126" name="code_L05"/>
            <p:cNvSpPr txBox="1"/>
            <p:nvPr/>
          </p:nvSpPr>
          <p:spPr>
            <a:xfrm>
              <a:off x="771754" y="4042252"/>
              <a:ext cx="71066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JsonSerializerOptions options =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 PropertyNameCaseInsensitive = </a:t>
              </a:r>
              <a:r>
                <a:rPr lang="en-US" sz="850" b="0" dirty="0">
                  <a:solidFill>
                    <a:srgbClr val="60A5FA"/>
                  </a:solidFill>
                  <a:latin typeface="Consolas"/>
                  <a:ea typeface="Consolas"/>
                  <a:cs typeface="Consolas"/>
                </a:rPr>
                <a:t>true</a:t>
              </a:r>
              <a:r>
                <a:rPr lang="en-US" sz="850" b="0" dirty="0">
                  <a:solidFill>
                    <a:srgbClr val="E2E8F0"/>
                  </a:solidFill>
                  <a:latin typeface="Consolas"/>
                  <a:ea typeface="Consolas"/>
                  <a:cs typeface="Consolas"/>
                </a:rPr>
                <a:t> };</a:t>
              </a:r>
              <a:endParaRPr lang="en-US" sz="850" dirty="0"/>
            </a:p>
          </p:txBody>
        </p:sp>
        <p:sp>
          <p:nvSpPr>
            <p:cNvPr id="127" name="code_L06"/>
            <p:cNvSpPr txBox="1"/>
            <p:nvPr/>
          </p:nvSpPr>
          <p:spPr>
            <a:xfrm>
              <a:off x="771754" y="4192252"/>
              <a:ext cx="71066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Employee? relaxed = JsonSerializer.Deserialize&lt;Employee&gt;(fromApi, options);</a:t>
              </a:r>
              <a:endParaRPr lang="en-US" sz="850" dirty="0"/>
            </a:p>
          </p:txBody>
        </p:sp>
        <p:sp>
          <p:nvSpPr>
            <p:cNvPr id="128" name="code_L07"/>
            <p:cNvSpPr txBox="1"/>
            <p:nvPr/>
          </p:nvSpPr>
          <p:spPr>
            <a:xfrm>
              <a:off x="771754" y="4342252"/>
              <a:ext cx="71066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Console.WriteLine(</a:t>
              </a:r>
              <a:r>
                <a:rPr lang="en-US" sz="850" b="0" dirty="0">
                  <a:solidFill>
                    <a:srgbClr val="F0A98B"/>
                  </a:solidFill>
                  <a:latin typeface="Consolas"/>
                  <a:ea typeface="Consolas"/>
                  <a:cs typeface="Consolas"/>
                </a:rPr>
                <a:t>$"case-insensitive: Name = '{relaxed?.Name}'"</a:t>
              </a:r>
              <a:r>
                <a:rPr lang="en-US" sz="850" b="0" dirty="0">
                  <a:solidFill>
                    <a:srgbClr val="E2E8F0"/>
                  </a:solidFill>
                  <a:latin typeface="Consolas"/>
                  <a:ea typeface="Consolas"/>
                  <a:cs typeface="Consolas"/>
                </a:rPr>
                <a:t>);</a:t>
              </a:r>
              <a:endParaRPr lang="en-US" sz="850" dirty="0"/>
            </a:p>
          </p:txBody>
        </p:sp>
        <p:sp>
          <p:nvSpPr>
            <p:cNvPr id="129" name="code_L09"/>
            <p:cNvSpPr txBox="1"/>
            <p:nvPr/>
          </p:nvSpPr>
          <p:spPr>
            <a:xfrm>
              <a:off x="771754" y="4642252"/>
              <a:ext cx="71066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Console.WriteLine(JsonSerializer.Serialize(</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Product { Name = </a:t>
              </a:r>
              <a:r>
                <a:rPr lang="en-US" sz="850" b="0" dirty="0">
                  <a:solidFill>
                    <a:srgbClr val="F0A98B"/>
                  </a:solidFill>
                  <a:latin typeface="Consolas"/>
                  <a:ea typeface="Consolas"/>
                  <a:cs typeface="Consolas"/>
                </a:rPr>
                <a:t>"Laptop"</a:t>
              </a:r>
              <a:r>
                <a:rPr lang="en-US" sz="850" b="0" dirty="0">
                  <a:solidFill>
                    <a:srgbClr val="E2E8F0"/>
                  </a:solidFill>
                  <a:latin typeface="Consolas"/>
                  <a:ea typeface="Consolas"/>
                  <a:cs typeface="Consolas"/>
                </a:rPr>
                <a:t>, Price = 30000 }));</a:t>
              </a:r>
              <a:endParaRPr lang="en-US" sz="850" dirty="0"/>
            </a:p>
          </p:txBody>
        </p:sp>
      </p:grpSp>
      <p:sp>
        <p:nvSpPr>
          <p:cNvPr id="131" name="code_hl2"/>
          <p:cNvSpPr/>
          <p:nvPr/>
        </p:nvSpPr>
        <p:spPr>
          <a:xfrm>
            <a:off x="676656" y="3573964"/>
            <a:ext cx="713964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2" name="code_hl6"/>
          <p:cNvSpPr/>
          <p:nvPr/>
        </p:nvSpPr>
        <p:spPr>
          <a:xfrm>
            <a:off x="676656" y="4173964"/>
            <a:ext cx="7139640" cy="186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46" name="prod"/>
          <p:cNvGrpSpPr/>
          <p:nvPr/>
        </p:nvGrpSpPr>
        <p:grpSpPr>
          <a:xfrm>
            <a:off x="8224114" y="2816352"/>
            <a:ext cx="3406140" cy="1495900"/>
            <a:chOff x="8224114" y="2816352"/>
            <a:chExt cx="3406140" cy="1495900"/>
          </a:xfrm>
        </p:grpSpPr>
        <p:sp>
          <p:nvSpPr>
            <p:cNvPr id="133" name="prod_win"/>
            <p:cNvSpPr/>
            <p:nvPr/>
          </p:nvSpPr>
          <p:spPr>
            <a:xfrm>
              <a:off x="8224114" y="2816352"/>
              <a:ext cx="3406140" cy="1495900"/>
            </a:xfrm>
            <a:prstGeom prst="roundRect">
              <a:avLst>
                <a:gd name="adj" fmla="val 4582"/>
              </a:avLst>
            </a:prstGeom>
            <a:solidFill>
              <a:srgbClr val="060D18"/>
            </a:solidFill>
            <a:ln w="12700">
              <a:solidFill>
                <a:srgbClr val="1E3A5F"/>
              </a:solidFill>
              <a:prstDash val="solid"/>
            </a:ln>
          </p:spPr>
          <p:txBody>
            <a:bodyPr/>
            <a:lstStyle/>
            <a:p>
              <a:endParaRPr lang="en-US"/>
            </a:p>
          </p:txBody>
        </p:sp>
        <p:sp>
          <p:nvSpPr>
            <p:cNvPr id="134" name="prod_bar"/>
            <p:cNvSpPr/>
            <p:nvPr/>
          </p:nvSpPr>
          <p:spPr>
            <a:xfrm>
              <a:off x="8224114" y="2816352"/>
              <a:ext cx="34061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5" name="prod_barfill"/>
            <p:cNvSpPr/>
            <p:nvPr/>
          </p:nvSpPr>
          <p:spPr>
            <a:xfrm>
              <a:off x="8224114" y="2987802"/>
              <a:ext cx="3406140" cy="171450"/>
            </a:xfrm>
            <a:prstGeom prst="rect">
              <a:avLst/>
            </a:prstGeom>
            <a:solidFill>
              <a:srgbClr val="0A1220"/>
            </a:solidFill>
            <a:ln w="12700">
              <a:solidFill>
                <a:srgbClr val="0A1220"/>
              </a:solidFill>
              <a:prstDash val="solid"/>
            </a:ln>
          </p:spPr>
          <p:txBody>
            <a:bodyPr/>
            <a:lstStyle/>
            <a:p>
              <a:endParaRPr lang="en-US"/>
            </a:p>
          </p:txBody>
        </p:sp>
        <p:sp>
          <p:nvSpPr>
            <p:cNvPr id="136" name="prod_dot0"/>
            <p:cNvSpPr/>
            <p:nvPr/>
          </p:nvSpPr>
          <p:spPr>
            <a:xfrm>
              <a:off x="8385962" y="2940162"/>
              <a:ext cx="95098" cy="95098"/>
            </a:xfrm>
            <a:prstGeom prst="ellipse">
              <a:avLst/>
            </a:prstGeom>
            <a:solidFill>
              <a:srgbClr val="F87171"/>
            </a:solidFill>
            <a:ln w="12700">
              <a:solidFill>
                <a:srgbClr val="F87171"/>
              </a:solidFill>
              <a:prstDash val="solid"/>
            </a:ln>
          </p:spPr>
          <p:txBody>
            <a:bodyPr/>
            <a:lstStyle/>
            <a:p>
              <a:endParaRPr lang="en-US"/>
            </a:p>
          </p:txBody>
        </p:sp>
        <p:sp>
          <p:nvSpPr>
            <p:cNvPr id="137" name="prod_dot1"/>
            <p:cNvSpPr/>
            <p:nvPr/>
          </p:nvSpPr>
          <p:spPr>
            <a:xfrm>
              <a:off x="8571586" y="2940162"/>
              <a:ext cx="95098" cy="95098"/>
            </a:xfrm>
            <a:prstGeom prst="ellipse">
              <a:avLst/>
            </a:prstGeom>
            <a:solidFill>
              <a:srgbClr val="FBBF24"/>
            </a:solidFill>
            <a:ln w="12700">
              <a:solidFill>
                <a:srgbClr val="FBBF24"/>
              </a:solidFill>
              <a:prstDash val="solid"/>
            </a:ln>
          </p:spPr>
          <p:txBody>
            <a:bodyPr/>
            <a:lstStyle/>
            <a:p>
              <a:endParaRPr lang="en-US"/>
            </a:p>
          </p:txBody>
        </p:sp>
        <p:sp>
          <p:nvSpPr>
            <p:cNvPr id="138" name="prod_dot2"/>
            <p:cNvSpPr/>
            <p:nvPr/>
          </p:nvSpPr>
          <p:spPr>
            <a:xfrm>
              <a:off x="8757210" y="2940162"/>
              <a:ext cx="95098" cy="95098"/>
            </a:xfrm>
            <a:prstGeom prst="ellipse">
              <a:avLst/>
            </a:prstGeom>
            <a:solidFill>
              <a:srgbClr val="34D399"/>
            </a:solidFill>
            <a:ln w="12700">
              <a:solidFill>
                <a:srgbClr val="34D399"/>
              </a:solidFill>
              <a:prstDash val="solid"/>
            </a:ln>
          </p:spPr>
          <p:txBody>
            <a:bodyPr/>
            <a:lstStyle/>
            <a:p>
              <a:endParaRPr lang="en-US"/>
            </a:p>
          </p:txBody>
        </p:sp>
        <p:sp>
          <p:nvSpPr>
            <p:cNvPr id="139" name="prod_tab"/>
            <p:cNvSpPr/>
            <p:nvPr/>
          </p:nvSpPr>
          <p:spPr>
            <a:xfrm>
              <a:off x="9005011" y="2863901"/>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Product.cs</a:t>
              </a:r>
              <a:endParaRPr lang="en-US" sz="950" dirty="0"/>
            </a:p>
          </p:txBody>
        </p:sp>
        <p:sp>
          <p:nvSpPr>
            <p:cNvPr id="140" name="prod_L00"/>
            <p:cNvSpPr txBox="1"/>
            <p:nvPr/>
          </p:nvSpPr>
          <p:spPr>
            <a:xfrm>
              <a:off x="8452714" y="3292252"/>
              <a:ext cx="31061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class</a:t>
              </a:r>
              <a:r>
                <a:rPr lang="en-US" sz="820" b="0" dirty="0">
                  <a:solidFill>
                    <a:srgbClr val="E2E8F0"/>
                  </a:solidFill>
                  <a:latin typeface="Consolas"/>
                  <a:ea typeface="Consolas"/>
                  <a:cs typeface="Consolas"/>
                </a:rPr>
                <a:t> Product</a:t>
              </a:r>
              <a:endParaRPr lang="en-US" sz="820" dirty="0"/>
            </a:p>
          </p:txBody>
        </p:sp>
        <p:sp>
          <p:nvSpPr>
            <p:cNvPr id="141" name="prod_L01"/>
            <p:cNvSpPr txBox="1"/>
            <p:nvPr/>
          </p:nvSpPr>
          <p:spPr>
            <a:xfrm>
              <a:off x="8452714" y="3442252"/>
              <a:ext cx="31061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2" name="prod_L02"/>
            <p:cNvSpPr txBox="1"/>
            <p:nvPr/>
          </p:nvSpPr>
          <p:spPr>
            <a:xfrm>
              <a:off x="8452714" y="3592252"/>
              <a:ext cx="31061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[JsonPropertyName(</a:t>
              </a:r>
              <a:r>
                <a:rPr lang="en-US" sz="820" b="0" dirty="0">
                  <a:solidFill>
                    <a:srgbClr val="F0A98B"/>
                  </a:solidFill>
                  <a:latin typeface="Consolas"/>
                  <a:ea typeface="Consolas"/>
                  <a:cs typeface="Consolas"/>
                </a:rPr>
                <a:t>"product_name"</a:t>
              </a:r>
              <a:r>
                <a:rPr lang="en-US" sz="820" b="0" dirty="0">
                  <a:solidFill>
                    <a:srgbClr val="E2E8F0"/>
                  </a:solidFill>
                  <a:latin typeface="Consolas"/>
                  <a:ea typeface="Consolas"/>
                  <a:cs typeface="Consolas"/>
                </a:rPr>
                <a:t>)]</a:t>
              </a:r>
              <a:endParaRPr lang="en-US" sz="820" dirty="0"/>
            </a:p>
          </p:txBody>
        </p:sp>
        <p:sp>
          <p:nvSpPr>
            <p:cNvPr id="143" name="prod_L03"/>
            <p:cNvSpPr txBox="1"/>
            <p:nvPr/>
          </p:nvSpPr>
          <p:spPr>
            <a:xfrm>
              <a:off x="8452714" y="3742252"/>
              <a:ext cx="31061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string</a:t>
              </a:r>
              <a:r>
                <a:rPr lang="en-US" sz="820" b="0" dirty="0">
                  <a:solidFill>
                    <a:srgbClr val="E2E8F0"/>
                  </a:solidFill>
                  <a:latin typeface="Consolas"/>
                  <a:ea typeface="Consolas"/>
                  <a:cs typeface="Consolas"/>
                </a:rPr>
                <a:t> Name { </a:t>
              </a:r>
              <a:r>
                <a:rPr lang="en-US" sz="820" b="0" dirty="0">
                  <a:solidFill>
                    <a:srgbClr val="60A5FA"/>
                  </a:solidFill>
                  <a:latin typeface="Consolas"/>
                  <a:ea typeface="Consolas"/>
                  <a:cs typeface="Consolas"/>
                </a:rPr>
                <a:t>get</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set</a:t>
              </a:r>
              <a:r>
                <a:rPr lang="en-US" sz="820" b="0" dirty="0">
                  <a:solidFill>
                    <a:srgbClr val="E2E8F0"/>
                  </a:solidFill>
                  <a:latin typeface="Consolas"/>
                  <a:ea typeface="Consolas"/>
                  <a:cs typeface="Consolas"/>
                </a:rPr>
                <a:t>; } = </a:t>
              </a:r>
              <a:r>
                <a:rPr lang="en-US" sz="820" b="0" dirty="0">
                  <a:solidFill>
                    <a:srgbClr val="F0A98B"/>
                  </a:solidFill>
                  <a:latin typeface="Consolas"/>
                  <a:ea typeface="Consolas"/>
                  <a:cs typeface="Consolas"/>
                </a:rPr>
                <a:t>""</a:t>
              </a:r>
              <a:r>
                <a:rPr lang="en-US" sz="820" b="0" dirty="0">
                  <a:solidFill>
                    <a:srgbClr val="E2E8F0"/>
                  </a:solidFill>
                  <a:latin typeface="Consolas"/>
                  <a:ea typeface="Consolas"/>
                  <a:cs typeface="Consolas"/>
                </a:rPr>
                <a:t>;</a:t>
              </a:r>
              <a:endParaRPr lang="en-US" sz="820" dirty="0"/>
            </a:p>
          </p:txBody>
        </p:sp>
        <p:sp>
          <p:nvSpPr>
            <p:cNvPr id="144" name="prod_L04"/>
            <p:cNvSpPr txBox="1"/>
            <p:nvPr/>
          </p:nvSpPr>
          <p:spPr>
            <a:xfrm>
              <a:off x="8452714" y="3892252"/>
              <a:ext cx="31061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decimal</a:t>
              </a:r>
              <a:r>
                <a:rPr lang="en-US" sz="820" b="0" dirty="0">
                  <a:solidFill>
                    <a:srgbClr val="E2E8F0"/>
                  </a:solidFill>
                  <a:latin typeface="Consolas"/>
                  <a:ea typeface="Consolas"/>
                  <a:cs typeface="Consolas"/>
                </a:rPr>
                <a:t> Price { </a:t>
              </a:r>
              <a:r>
                <a:rPr lang="en-US" sz="820" b="0" dirty="0">
                  <a:solidFill>
                    <a:srgbClr val="60A5FA"/>
                  </a:solidFill>
                  <a:latin typeface="Consolas"/>
                  <a:ea typeface="Consolas"/>
                  <a:cs typeface="Consolas"/>
                </a:rPr>
                <a:t>get</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set</a:t>
              </a:r>
              <a:r>
                <a:rPr lang="en-US" sz="820" b="0" dirty="0">
                  <a:solidFill>
                    <a:srgbClr val="E2E8F0"/>
                  </a:solidFill>
                  <a:latin typeface="Consolas"/>
                  <a:ea typeface="Consolas"/>
                  <a:cs typeface="Consolas"/>
                </a:rPr>
                <a:t>; }</a:t>
              </a:r>
              <a:endParaRPr lang="en-US" sz="820" dirty="0"/>
            </a:p>
          </p:txBody>
        </p:sp>
        <p:sp>
          <p:nvSpPr>
            <p:cNvPr id="145" name="prod_L05"/>
            <p:cNvSpPr txBox="1"/>
            <p:nvPr/>
          </p:nvSpPr>
          <p:spPr>
            <a:xfrm>
              <a:off x="8452714" y="4042252"/>
              <a:ext cx="31061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grpSp>
      <p:sp>
        <p:nvSpPr>
          <p:cNvPr id="147" name="prod_hl2"/>
          <p:cNvSpPr/>
          <p:nvPr/>
        </p:nvSpPr>
        <p:spPr>
          <a:xfrm>
            <a:off x="8357616" y="3573964"/>
            <a:ext cx="3139140" cy="18657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59" name="out"/>
          <p:cNvGrpSpPr/>
          <p:nvPr/>
        </p:nvGrpSpPr>
        <p:grpSpPr>
          <a:xfrm>
            <a:off x="8224114" y="4315968"/>
            <a:ext cx="3406140" cy="1235900"/>
            <a:chOff x="8224114" y="4315968"/>
            <a:chExt cx="3406140" cy="1235900"/>
          </a:xfrm>
        </p:grpSpPr>
        <p:sp>
          <p:nvSpPr>
            <p:cNvPr id="148" name="out_win"/>
            <p:cNvSpPr/>
            <p:nvPr/>
          </p:nvSpPr>
          <p:spPr>
            <a:xfrm>
              <a:off x="8224114" y="4315968"/>
              <a:ext cx="3406140" cy="1235900"/>
            </a:xfrm>
            <a:prstGeom prst="roundRect">
              <a:avLst>
                <a:gd name="adj" fmla="val 5546"/>
              </a:avLst>
            </a:prstGeom>
            <a:solidFill>
              <a:srgbClr val="060D18"/>
            </a:solidFill>
            <a:ln w="12700">
              <a:solidFill>
                <a:srgbClr val="1E3A5F"/>
              </a:solidFill>
              <a:prstDash val="solid"/>
            </a:ln>
          </p:spPr>
          <p:txBody>
            <a:bodyPr/>
            <a:lstStyle/>
            <a:p>
              <a:endParaRPr lang="en-US"/>
            </a:p>
          </p:txBody>
        </p:sp>
        <p:sp>
          <p:nvSpPr>
            <p:cNvPr id="149" name="out_bar"/>
            <p:cNvSpPr/>
            <p:nvPr/>
          </p:nvSpPr>
          <p:spPr>
            <a:xfrm>
              <a:off x="8224114" y="4315968"/>
              <a:ext cx="34061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50" name="out_barfill"/>
            <p:cNvSpPr/>
            <p:nvPr/>
          </p:nvSpPr>
          <p:spPr>
            <a:xfrm>
              <a:off x="8224114" y="4487418"/>
              <a:ext cx="3406140" cy="171450"/>
            </a:xfrm>
            <a:prstGeom prst="rect">
              <a:avLst/>
            </a:prstGeom>
            <a:solidFill>
              <a:srgbClr val="0A1220"/>
            </a:solidFill>
            <a:ln w="12700">
              <a:solidFill>
                <a:srgbClr val="0A1220"/>
              </a:solidFill>
              <a:prstDash val="solid"/>
            </a:ln>
          </p:spPr>
          <p:txBody>
            <a:bodyPr/>
            <a:lstStyle/>
            <a:p>
              <a:endParaRPr lang="en-US"/>
            </a:p>
          </p:txBody>
        </p:sp>
        <p:sp>
          <p:nvSpPr>
            <p:cNvPr id="151" name="out_dot0"/>
            <p:cNvSpPr/>
            <p:nvPr/>
          </p:nvSpPr>
          <p:spPr>
            <a:xfrm>
              <a:off x="8385962" y="4439778"/>
              <a:ext cx="95098" cy="95098"/>
            </a:xfrm>
            <a:prstGeom prst="ellipse">
              <a:avLst/>
            </a:prstGeom>
            <a:solidFill>
              <a:srgbClr val="F87171"/>
            </a:solidFill>
            <a:ln w="12700">
              <a:solidFill>
                <a:srgbClr val="F87171"/>
              </a:solidFill>
              <a:prstDash val="solid"/>
            </a:ln>
          </p:spPr>
          <p:txBody>
            <a:bodyPr/>
            <a:lstStyle/>
            <a:p>
              <a:endParaRPr lang="en-US"/>
            </a:p>
          </p:txBody>
        </p:sp>
        <p:sp>
          <p:nvSpPr>
            <p:cNvPr id="152" name="out_dot1"/>
            <p:cNvSpPr/>
            <p:nvPr/>
          </p:nvSpPr>
          <p:spPr>
            <a:xfrm>
              <a:off x="8571586" y="4439778"/>
              <a:ext cx="95098" cy="95098"/>
            </a:xfrm>
            <a:prstGeom prst="ellipse">
              <a:avLst/>
            </a:prstGeom>
            <a:solidFill>
              <a:srgbClr val="FBBF24"/>
            </a:solidFill>
            <a:ln w="12700">
              <a:solidFill>
                <a:srgbClr val="FBBF24"/>
              </a:solidFill>
              <a:prstDash val="solid"/>
            </a:ln>
          </p:spPr>
          <p:txBody>
            <a:bodyPr/>
            <a:lstStyle/>
            <a:p>
              <a:endParaRPr lang="en-US"/>
            </a:p>
          </p:txBody>
        </p:sp>
        <p:sp>
          <p:nvSpPr>
            <p:cNvPr id="153" name="out_dot2"/>
            <p:cNvSpPr/>
            <p:nvPr/>
          </p:nvSpPr>
          <p:spPr>
            <a:xfrm>
              <a:off x="8757210" y="4439778"/>
              <a:ext cx="95098" cy="95098"/>
            </a:xfrm>
            <a:prstGeom prst="ellipse">
              <a:avLst/>
            </a:prstGeom>
            <a:solidFill>
              <a:srgbClr val="34D399"/>
            </a:solidFill>
            <a:ln w="12700">
              <a:solidFill>
                <a:srgbClr val="34D399"/>
              </a:solidFill>
              <a:prstDash val="solid"/>
            </a:ln>
          </p:spPr>
          <p:txBody>
            <a:bodyPr/>
            <a:lstStyle/>
            <a:p>
              <a:endParaRPr lang="en-US"/>
            </a:p>
          </p:txBody>
        </p:sp>
        <p:sp>
          <p:nvSpPr>
            <p:cNvPr id="154" name="out_tab"/>
            <p:cNvSpPr/>
            <p:nvPr/>
          </p:nvSpPr>
          <p:spPr>
            <a:xfrm>
              <a:off x="9005011" y="43635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55" name="out_L00"/>
            <p:cNvSpPr txBox="1"/>
            <p:nvPr/>
          </p:nvSpPr>
          <p:spPr>
            <a:xfrm>
              <a:off x="8452714" y="4791868"/>
              <a:ext cx="310614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default:          Name = ''</a:t>
              </a:r>
              <a:endParaRPr lang="en-US" sz="820" dirty="0"/>
            </a:p>
          </p:txBody>
        </p:sp>
        <p:sp>
          <p:nvSpPr>
            <p:cNvPr id="156" name="out_L01"/>
            <p:cNvSpPr txBox="1"/>
            <p:nvPr/>
          </p:nvSpPr>
          <p:spPr>
            <a:xfrm>
              <a:off x="8452714" y="4951868"/>
              <a:ext cx="310614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case-insensitive: Name = 'Mona'</a:t>
              </a:r>
              <a:endParaRPr lang="en-US" sz="820" dirty="0"/>
            </a:p>
          </p:txBody>
        </p:sp>
        <p:sp>
          <p:nvSpPr>
            <p:cNvPr id="157" name="out_L02"/>
            <p:cNvSpPr txBox="1"/>
            <p:nvPr/>
          </p:nvSpPr>
          <p:spPr>
            <a:xfrm>
              <a:off x="8452714" y="5111868"/>
              <a:ext cx="310614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{"product_name":"Laptop",</a:t>
              </a:r>
              <a:endParaRPr lang="en-US" sz="820" dirty="0"/>
            </a:p>
          </p:txBody>
        </p:sp>
        <p:sp>
          <p:nvSpPr>
            <p:cNvPr id="158" name="out_L03"/>
            <p:cNvSpPr txBox="1"/>
            <p:nvPr/>
          </p:nvSpPr>
          <p:spPr>
            <a:xfrm>
              <a:off x="8452714" y="5271868"/>
              <a:ext cx="310614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 "Price":30000}</a:t>
              </a:r>
              <a:endParaRPr lang="en-US" sz="820" dirty="0"/>
            </a:p>
          </p:txBody>
        </p:sp>
      </p:grpSp>
    </p:spTree>
    <p:extLst>
      <p:ext uri="{BB962C8B-B14F-4D97-AF65-F5344CB8AC3E}">
        <p14:creationId xmlns:p14="http://schemas.microsoft.com/office/powerpoint/2010/main" val="502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400"/>
                                        <p:tgtEl>
                                          <p:spTgt spid="10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07"/>
                                        </p:tgtEl>
                                        <p:attrNameLst>
                                          <p:attrName>style.visibility</p:attrName>
                                        </p:attrNameLst>
                                      </p:cBhvr>
                                      <p:to>
                                        <p:strVal val="visible"/>
                                      </p:to>
                                    </p:set>
                                    <p:animEffect transition="in" filter="fade">
                                      <p:cBhvr>
                                        <p:cTn id="11" dur="200"/>
                                        <p:tgtEl>
                                          <p:spTgt spid="107"/>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fade">
                                      <p:cBhvr>
                                        <p:cTn id="15" dur="200"/>
                                        <p:tgtEl>
                                          <p:spTgt spid="111"/>
                                        </p:tgtEl>
                                      </p:cBhvr>
                                    </p:animEffect>
                                  </p:childTnLst>
                                </p:cTn>
                              </p:par>
                            </p:childTnLst>
                          </p:cTn>
                        </p:par>
                        <p:par>
                          <p:cTn id="16" fill="hold">
                            <p:stCondLst>
                              <p:cond delay="800"/>
                            </p:stCondLst>
                            <p:childTnLst>
                              <p:par>
                                <p:cTn id="17" presetID="10" presetClass="entr" presetSubtype="0" fill="hold" nodeType="afterEffect">
                                  <p:stCondLst>
                                    <p:cond delay="0"/>
                                  </p:stCondLst>
                                  <p:childTnLst>
                                    <p:set>
                                      <p:cBhvr>
                                        <p:cTn id="18" dur="1" fill="hold">
                                          <p:stCondLst>
                                            <p:cond delay="0"/>
                                          </p:stCondLst>
                                        </p:cTn>
                                        <p:tgtEl>
                                          <p:spTgt spid="115"/>
                                        </p:tgtEl>
                                        <p:attrNameLst>
                                          <p:attrName>style.visibility</p:attrName>
                                        </p:attrNameLst>
                                      </p:cBhvr>
                                      <p:to>
                                        <p:strVal val="visible"/>
                                      </p:to>
                                    </p:set>
                                    <p:animEffect transition="in" filter="fade">
                                      <p:cBhvr>
                                        <p:cTn id="19" dur="200"/>
                                        <p:tgtEl>
                                          <p:spTgt spid="1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0"/>
                                        </p:tgtEl>
                                        <p:attrNameLst>
                                          <p:attrName>style.visibility</p:attrName>
                                        </p:attrNameLst>
                                      </p:cBhvr>
                                      <p:to>
                                        <p:strVal val="visible"/>
                                      </p:to>
                                    </p:set>
                                    <p:animEffect transition="in" filter="fade">
                                      <p:cBhvr>
                                        <p:cTn id="24" dur="400"/>
                                        <p:tgtEl>
                                          <p:spTgt spid="1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1"/>
                                        </p:tgtEl>
                                        <p:attrNameLst>
                                          <p:attrName>style.visibility</p:attrName>
                                        </p:attrNameLst>
                                      </p:cBhvr>
                                      <p:to>
                                        <p:strVal val="visible"/>
                                      </p:to>
                                    </p:set>
                                    <p:animEffect transition="in" filter="fade">
                                      <p:cBhvr>
                                        <p:cTn id="27" dur="400"/>
                                        <p:tgtEl>
                                          <p:spTgt spid="13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2"/>
                                        </p:tgtEl>
                                        <p:attrNameLst>
                                          <p:attrName>style.visibility</p:attrName>
                                        </p:attrNameLst>
                                      </p:cBhvr>
                                      <p:to>
                                        <p:strVal val="visible"/>
                                      </p:to>
                                    </p:set>
                                    <p:animEffect transition="in" filter="fade">
                                      <p:cBhvr>
                                        <p:cTn id="30" dur="400"/>
                                        <p:tgtEl>
                                          <p:spTgt spid="13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6"/>
                                        </p:tgtEl>
                                        <p:attrNameLst>
                                          <p:attrName>style.visibility</p:attrName>
                                        </p:attrNameLst>
                                      </p:cBhvr>
                                      <p:to>
                                        <p:strVal val="visible"/>
                                      </p:to>
                                    </p:set>
                                    <p:animEffect transition="in" filter="fade">
                                      <p:cBhvr>
                                        <p:cTn id="35" dur="400"/>
                                        <p:tgtEl>
                                          <p:spTgt spid="14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7"/>
                                        </p:tgtEl>
                                        <p:attrNameLst>
                                          <p:attrName>style.visibility</p:attrName>
                                        </p:attrNameLst>
                                      </p:cBhvr>
                                      <p:to>
                                        <p:strVal val="visible"/>
                                      </p:to>
                                    </p:set>
                                    <p:animEffect transition="in" filter="fade">
                                      <p:cBhvr>
                                        <p:cTn id="38" dur="400"/>
                                        <p:tgtEl>
                                          <p:spTgt spid="14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59"/>
                                        </p:tgtEl>
                                        <p:attrNameLst>
                                          <p:attrName>style.visibility</p:attrName>
                                        </p:attrNameLst>
                                      </p:cBhvr>
                                      <p:to>
                                        <p:strVal val="visible"/>
                                      </p:to>
                                    </p:set>
                                    <p:animEffect transition="in" filter="fade">
                                      <p:cBhvr>
                                        <p:cTn id="43" dur="4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4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SESSION 4</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FINAL PROJECT</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32</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4</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Final Project</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Employee Management: a console app that keeps employees in a JSON file.</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structure  ·  model  ·  service  ·  CRUD flow  ·  menu  ·  checklist</a:t>
            </a:r>
            <a:endParaRPr lang="en-US" sz="1350" dirty="0"/>
          </a:p>
        </p:txBody>
      </p:sp>
    </p:spTree>
    <p:extLst>
      <p:ext uri="{BB962C8B-B14F-4D97-AF65-F5344CB8AC3E}">
        <p14:creationId xmlns:p14="http://schemas.microsoft.com/office/powerpoint/2010/main" val="39159596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04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PROJECT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Employee Management: Store Employees in a JSON File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FINAL PROJECT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33</a:t>
            </a:r>
            <a:endParaRPr lang="en-US" sz="850" dirty="0"/>
          </a:p>
        </p:txBody>
      </p:sp>
      <p:grpSp>
        <p:nvGrpSpPr>
          <p:cNvPr id="118" name="tree"/>
          <p:cNvGrpSpPr/>
          <p:nvPr/>
        </p:nvGrpSpPr>
        <p:grpSpPr>
          <a:xfrm>
            <a:off x="543154" y="1481328"/>
            <a:ext cx="5120640" cy="2345900"/>
            <a:chOff x="543154" y="1481328"/>
            <a:chExt cx="5120640" cy="2345900"/>
          </a:xfrm>
        </p:grpSpPr>
        <p:sp>
          <p:nvSpPr>
            <p:cNvPr id="101" name="tree_win"/>
            <p:cNvSpPr/>
            <p:nvPr/>
          </p:nvSpPr>
          <p:spPr>
            <a:xfrm>
              <a:off x="543154" y="1481328"/>
              <a:ext cx="5120640" cy="2345900"/>
            </a:xfrm>
            <a:prstGeom prst="roundRect">
              <a:avLst>
                <a:gd name="adj" fmla="val 2922"/>
              </a:avLst>
            </a:prstGeom>
            <a:solidFill>
              <a:srgbClr val="060D18"/>
            </a:solidFill>
            <a:ln w="12700">
              <a:solidFill>
                <a:srgbClr val="1E3A5F"/>
              </a:solidFill>
              <a:prstDash val="solid"/>
            </a:ln>
          </p:spPr>
          <p:txBody>
            <a:bodyPr/>
            <a:lstStyle/>
            <a:p>
              <a:endParaRPr lang="en-US"/>
            </a:p>
          </p:txBody>
        </p:sp>
        <p:sp>
          <p:nvSpPr>
            <p:cNvPr id="102" name="tree_bar"/>
            <p:cNvSpPr/>
            <p:nvPr/>
          </p:nvSpPr>
          <p:spPr>
            <a:xfrm>
              <a:off x="543154" y="1481328"/>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tree_barfill"/>
            <p:cNvSpPr/>
            <p:nvPr/>
          </p:nvSpPr>
          <p:spPr>
            <a:xfrm>
              <a:off x="543154" y="1652778"/>
              <a:ext cx="5120640" cy="171450"/>
            </a:xfrm>
            <a:prstGeom prst="rect">
              <a:avLst/>
            </a:prstGeom>
            <a:solidFill>
              <a:srgbClr val="0A1220"/>
            </a:solidFill>
            <a:ln w="12700">
              <a:solidFill>
                <a:srgbClr val="0A1220"/>
              </a:solidFill>
              <a:prstDash val="solid"/>
            </a:ln>
          </p:spPr>
          <p:txBody>
            <a:bodyPr/>
            <a:lstStyle/>
            <a:p>
              <a:endParaRPr lang="en-US"/>
            </a:p>
          </p:txBody>
        </p:sp>
        <p:sp>
          <p:nvSpPr>
            <p:cNvPr id="104" name="tree_dot0"/>
            <p:cNvSpPr/>
            <p:nvPr/>
          </p:nvSpPr>
          <p:spPr>
            <a:xfrm>
              <a:off x="70500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tree_dot1"/>
            <p:cNvSpPr/>
            <p:nvPr/>
          </p:nvSpPr>
          <p:spPr>
            <a:xfrm>
              <a:off x="89062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tree_dot2"/>
            <p:cNvSpPr/>
            <p:nvPr/>
          </p:nvSpPr>
          <p:spPr>
            <a:xfrm>
              <a:off x="107625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tree_tab"/>
            <p:cNvSpPr/>
            <p:nvPr/>
          </p:nvSpPr>
          <p:spPr>
            <a:xfrm>
              <a:off x="132405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Project</a:t>
              </a:r>
              <a:endParaRPr lang="en-US" sz="950" dirty="0"/>
            </a:p>
          </p:txBody>
        </p:sp>
        <p:sp>
          <p:nvSpPr>
            <p:cNvPr id="108" name="tree_L00"/>
            <p:cNvSpPr txBox="1"/>
            <p:nvPr/>
          </p:nvSpPr>
          <p:spPr>
            <a:xfrm>
              <a:off x="771754" y="1957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EmployeeManagement</a:t>
              </a:r>
              <a:endParaRPr lang="en-US" sz="920" dirty="0"/>
            </a:p>
          </p:txBody>
        </p:sp>
        <p:sp>
          <p:nvSpPr>
            <p:cNvPr id="109" name="tree_L01"/>
            <p:cNvSpPr txBox="1"/>
            <p:nvPr/>
          </p:nvSpPr>
          <p:spPr>
            <a:xfrm>
              <a:off x="771754" y="2132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a:t>
              </a:r>
              <a:endParaRPr lang="en-US" sz="920" dirty="0"/>
            </a:p>
          </p:txBody>
        </p:sp>
        <p:sp>
          <p:nvSpPr>
            <p:cNvPr id="110" name="tree_L02"/>
            <p:cNvSpPr txBox="1"/>
            <p:nvPr/>
          </p:nvSpPr>
          <p:spPr>
            <a:xfrm>
              <a:off x="771754" y="2307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 Program.cs              ← the menu</a:t>
              </a:r>
              <a:endParaRPr lang="en-US" sz="920" dirty="0"/>
            </a:p>
          </p:txBody>
        </p:sp>
        <p:sp>
          <p:nvSpPr>
            <p:cNvPr id="111" name="tree_L03"/>
            <p:cNvSpPr txBox="1"/>
            <p:nvPr/>
          </p:nvSpPr>
          <p:spPr>
            <a:xfrm>
              <a:off x="771754" y="2482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 Models</a:t>
              </a:r>
              <a:endParaRPr lang="en-US" sz="920" dirty="0"/>
            </a:p>
          </p:txBody>
        </p:sp>
        <p:sp>
          <p:nvSpPr>
            <p:cNvPr id="112" name="tree_L04"/>
            <p:cNvSpPr txBox="1"/>
            <p:nvPr/>
          </p:nvSpPr>
          <p:spPr>
            <a:xfrm>
              <a:off x="771754" y="2657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   └── Employee.cs         ← the data</a:t>
              </a:r>
              <a:endParaRPr lang="en-US" sz="920" dirty="0"/>
            </a:p>
          </p:txBody>
        </p:sp>
        <p:sp>
          <p:nvSpPr>
            <p:cNvPr id="113" name="tree_L05"/>
            <p:cNvSpPr txBox="1"/>
            <p:nvPr/>
          </p:nvSpPr>
          <p:spPr>
            <a:xfrm>
              <a:off x="771754" y="2832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 Services</a:t>
              </a:r>
              <a:endParaRPr lang="en-US" sz="920" dirty="0"/>
            </a:p>
          </p:txBody>
        </p:sp>
        <p:sp>
          <p:nvSpPr>
            <p:cNvPr id="114" name="tree_L06"/>
            <p:cNvSpPr txBox="1"/>
            <p:nvPr/>
          </p:nvSpPr>
          <p:spPr>
            <a:xfrm>
              <a:off x="771754" y="3007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   └── EmployeeService.cs  ← the work</a:t>
              </a:r>
              <a:endParaRPr lang="en-US" sz="920" dirty="0"/>
            </a:p>
          </p:txBody>
        </p:sp>
        <p:sp>
          <p:nvSpPr>
            <p:cNvPr id="115" name="tree_L07"/>
            <p:cNvSpPr txBox="1"/>
            <p:nvPr/>
          </p:nvSpPr>
          <p:spPr>
            <a:xfrm>
              <a:off x="771754" y="3182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a:t>
              </a:r>
              <a:endParaRPr lang="en-US" sz="920" dirty="0"/>
            </a:p>
          </p:txBody>
        </p:sp>
        <p:sp>
          <p:nvSpPr>
            <p:cNvPr id="116" name="tree_L08"/>
            <p:cNvSpPr txBox="1"/>
            <p:nvPr/>
          </p:nvSpPr>
          <p:spPr>
            <a:xfrm>
              <a:off x="771754" y="3357228"/>
              <a:ext cx="4820640" cy="17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20" b="0" dirty="0">
                  <a:solidFill>
                    <a:srgbClr val="E2E8F0"/>
                  </a:solidFill>
                  <a:latin typeface="Consolas"/>
                  <a:ea typeface="Consolas"/>
                  <a:cs typeface="Consolas"/>
                </a:rPr>
                <a:t>└── Data</a:t>
              </a:r>
              <a:endParaRPr lang="en-US" sz="920" dirty="0"/>
            </a:p>
          </p:txBody>
        </p:sp>
        <p:sp>
          <p:nvSpPr>
            <p:cNvPr id="117" name="tree_L09"/>
            <p:cNvSpPr txBox="1"/>
            <p:nvPr/>
          </p:nvSpPr>
          <p:spPr>
            <a:xfrm>
              <a:off x="771754" y="3532228"/>
              <a:ext cx="4820640" cy="17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20" b="0" dirty="0">
                  <a:solidFill>
                    <a:srgbClr val="E2E8F0"/>
                  </a:solidFill>
                  <a:latin typeface="Consolas"/>
                  <a:ea typeface="Consolas"/>
                  <a:cs typeface="Consolas"/>
                </a:rPr>
                <a:t>└── employees.json      ← the storage</a:t>
              </a:r>
              <a:endParaRPr lang="en-US" sz="920" dirty="0"/>
            </a:p>
          </p:txBody>
        </p:sp>
      </p:grpSp>
      <p:sp>
        <p:nvSpPr>
          <p:cNvPr id="119" name="tree_hl9"/>
          <p:cNvSpPr/>
          <p:nvPr/>
        </p:nvSpPr>
        <p:spPr>
          <a:xfrm>
            <a:off x="676656" y="3513940"/>
            <a:ext cx="4853640" cy="21157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35" name="model"/>
          <p:cNvGrpSpPr/>
          <p:nvPr/>
        </p:nvGrpSpPr>
        <p:grpSpPr>
          <a:xfrm>
            <a:off x="543154" y="3840480"/>
            <a:ext cx="5120640" cy="1835900"/>
            <a:chOff x="543154" y="3840480"/>
            <a:chExt cx="5120640" cy="1835900"/>
          </a:xfrm>
        </p:grpSpPr>
        <p:sp>
          <p:nvSpPr>
            <p:cNvPr id="120" name="model_win"/>
            <p:cNvSpPr/>
            <p:nvPr/>
          </p:nvSpPr>
          <p:spPr>
            <a:xfrm>
              <a:off x="543154" y="3840480"/>
              <a:ext cx="5120640" cy="1835900"/>
            </a:xfrm>
            <a:prstGeom prst="roundRect">
              <a:avLst>
                <a:gd name="adj" fmla="val 3734"/>
              </a:avLst>
            </a:prstGeom>
            <a:solidFill>
              <a:srgbClr val="060D18"/>
            </a:solidFill>
            <a:ln w="12700">
              <a:solidFill>
                <a:srgbClr val="1E3A5F"/>
              </a:solidFill>
              <a:prstDash val="solid"/>
            </a:ln>
          </p:spPr>
          <p:txBody>
            <a:bodyPr/>
            <a:lstStyle/>
            <a:p>
              <a:endParaRPr lang="en-US"/>
            </a:p>
          </p:txBody>
        </p:sp>
        <p:sp>
          <p:nvSpPr>
            <p:cNvPr id="121" name="model_bar"/>
            <p:cNvSpPr/>
            <p:nvPr/>
          </p:nvSpPr>
          <p:spPr>
            <a:xfrm>
              <a:off x="543154" y="3840480"/>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model_barfill"/>
            <p:cNvSpPr/>
            <p:nvPr/>
          </p:nvSpPr>
          <p:spPr>
            <a:xfrm>
              <a:off x="543154" y="4011930"/>
              <a:ext cx="5120640" cy="171450"/>
            </a:xfrm>
            <a:prstGeom prst="rect">
              <a:avLst/>
            </a:prstGeom>
            <a:solidFill>
              <a:srgbClr val="0A1220"/>
            </a:solidFill>
            <a:ln w="12700">
              <a:solidFill>
                <a:srgbClr val="0A1220"/>
              </a:solidFill>
              <a:prstDash val="solid"/>
            </a:ln>
          </p:spPr>
          <p:txBody>
            <a:bodyPr/>
            <a:lstStyle/>
            <a:p>
              <a:endParaRPr lang="en-US"/>
            </a:p>
          </p:txBody>
        </p:sp>
        <p:sp>
          <p:nvSpPr>
            <p:cNvPr id="123" name="model_dot0"/>
            <p:cNvSpPr/>
            <p:nvPr/>
          </p:nvSpPr>
          <p:spPr>
            <a:xfrm>
              <a:off x="705002" y="3964290"/>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model_dot1"/>
            <p:cNvSpPr/>
            <p:nvPr/>
          </p:nvSpPr>
          <p:spPr>
            <a:xfrm>
              <a:off x="890626" y="3964290"/>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model_dot2"/>
            <p:cNvSpPr/>
            <p:nvPr/>
          </p:nvSpPr>
          <p:spPr>
            <a:xfrm>
              <a:off x="1076250" y="3964290"/>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model_tab"/>
            <p:cNvSpPr/>
            <p:nvPr/>
          </p:nvSpPr>
          <p:spPr>
            <a:xfrm>
              <a:off x="1324051" y="3888029"/>
              <a:ext cx="155621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Models/Employee.cs</a:t>
              </a:r>
              <a:endParaRPr lang="en-US" sz="950" dirty="0"/>
            </a:p>
          </p:txBody>
        </p:sp>
        <p:sp>
          <p:nvSpPr>
            <p:cNvPr id="127" name="model_L00"/>
            <p:cNvSpPr txBox="1"/>
            <p:nvPr/>
          </p:nvSpPr>
          <p:spPr>
            <a:xfrm>
              <a:off x="771754" y="4316380"/>
              <a:ext cx="48206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class</a:t>
              </a:r>
              <a:r>
                <a:rPr lang="en-US" sz="880" b="0" dirty="0">
                  <a:solidFill>
                    <a:srgbClr val="E2E8F0"/>
                  </a:solidFill>
                  <a:latin typeface="Consolas"/>
                  <a:ea typeface="Consolas"/>
                  <a:cs typeface="Consolas"/>
                </a:rPr>
                <a:t> Employee</a:t>
              </a:r>
              <a:endParaRPr lang="en-US" sz="880" dirty="0"/>
            </a:p>
          </p:txBody>
        </p:sp>
        <p:sp>
          <p:nvSpPr>
            <p:cNvPr id="128" name="model_L01"/>
            <p:cNvSpPr txBox="1"/>
            <p:nvPr/>
          </p:nvSpPr>
          <p:spPr>
            <a:xfrm>
              <a:off x="771754" y="4471380"/>
              <a:ext cx="48206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sp>
          <p:nvSpPr>
            <p:cNvPr id="129" name="model_L02"/>
            <p:cNvSpPr txBox="1"/>
            <p:nvPr/>
          </p:nvSpPr>
          <p:spPr>
            <a:xfrm>
              <a:off x="771754" y="4626380"/>
              <a:ext cx="4820640" cy="15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int</a:t>
              </a:r>
              <a:r>
                <a:rPr lang="en-US" sz="880" b="0" dirty="0">
                  <a:solidFill>
                    <a:srgbClr val="E2E8F0"/>
                  </a:solidFill>
                  <a:latin typeface="Consolas"/>
                  <a:ea typeface="Consolas"/>
                  <a:cs typeface="Consolas"/>
                </a:rPr>
                <a:t> Id { </a:t>
              </a:r>
              <a:r>
                <a:rPr lang="en-US" sz="880" b="0" dirty="0">
                  <a:solidFill>
                    <a:srgbClr val="60A5FA"/>
                  </a:solidFill>
                  <a:latin typeface="Consolas"/>
                  <a:ea typeface="Consolas"/>
                  <a:cs typeface="Consolas"/>
                </a:rPr>
                <a:t>get</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set</a:t>
              </a:r>
              <a:r>
                <a:rPr lang="en-US" sz="880" b="0" dirty="0">
                  <a:solidFill>
                    <a:srgbClr val="E2E8F0"/>
                  </a:solidFill>
                  <a:latin typeface="Consolas"/>
                  <a:ea typeface="Consolas"/>
                  <a:cs typeface="Consolas"/>
                </a:rPr>
                <a:t>; }</a:t>
              </a:r>
              <a:endParaRPr lang="en-US" sz="880" dirty="0"/>
            </a:p>
          </p:txBody>
        </p:sp>
        <p:sp>
          <p:nvSpPr>
            <p:cNvPr id="130" name="model_L03"/>
            <p:cNvSpPr txBox="1"/>
            <p:nvPr/>
          </p:nvSpPr>
          <p:spPr>
            <a:xfrm>
              <a:off x="771754" y="4781380"/>
              <a:ext cx="4820640" cy="15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string</a:t>
              </a:r>
              <a:r>
                <a:rPr lang="en-US" sz="880" b="0" dirty="0">
                  <a:solidFill>
                    <a:srgbClr val="E2E8F0"/>
                  </a:solidFill>
                  <a:latin typeface="Consolas"/>
                  <a:ea typeface="Consolas"/>
                  <a:cs typeface="Consolas"/>
                </a:rPr>
                <a:t> Name { </a:t>
              </a:r>
              <a:r>
                <a:rPr lang="en-US" sz="880" b="0" dirty="0">
                  <a:solidFill>
                    <a:srgbClr val="60A5FA"/>
                  </a:solidFill>
                  <a:latin typeface="Consolas"/>
                  <a:ea typeface="Consolas"/>
                  <a:cs typeface="Consolas"/>
                </a:rPr>
                <a:t>get</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set</a:t>
              </a:r>
              <a:r>
                <a:rPr lang="en-US" sz="880" b="0" dirty="0">
                  <a:solidFill>
                    <a:srgbClr val="E2E8F0"/>
                  </a:solidFill>
                  <a:latin typeface="Consolas"/>
                  <a:ea typeface="Consolas"/>
                  <a:cs typeface="Consolas"/>
                </a:rPr>
                <a:t>; } = </a:t>
              </a:r>
              <a:r>
                <a:rPr lang="en-US" sz="880" b="0" dirty="0">
                  <a:solidFill>
                    <a:srgbClr val="F0A98B"/>
                  </a:solidFill>
                  <a:latin typeface="Consolas"/>
                  <a:ea typeface="Consolas"/>
                  <a:cs typeface="Consolas"/>
                </a:rPr>
                <a:t>""</a:t>
              </a:r>
              <a:r>
                <a:rPr lang="en-US" sz="880" b="0" dirty="0">
                  <a:solidFill>
                    <a:srgbClr val="E2E8F0"/>
                  </a:solidFill>
                  <a:latin typeface="Consolas"/>
                  <a:ea typeface="Consolas"/>
                  <a:cs typeface="Consolas"/>
                </a:rPr>
                <a:t>;</a:t>
              </a:r>
              <a:endParaRPr lang="en-US" sz="880" dirty="0"/>
            </a:p>
          </p:txBody>
        </p:sp>
        <p:sp>
          <p:nvSpPr>
            <p:cNvPr id="131" name="model_L04"/>
            <p:cNvSpPr txBox="1"/>
            <p:nvPr/>
          </p:nvSpPr>
          <p:spPr>
            <a:xfrm>
              <a:off x="771754" y="4936380"/>
              <a:ext cx="4820640" cy="15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string</a:t>
              </a:r>
              <a:r>
                <a:rPr lang="en-US" sz="880" b="0" dirty="0">
                  <a:solidFill>
                    <a:srgbClr val="E2E8F0"/>
                  </a:solidFill>
                  <a:latin typeface="Consolas"/>
                  <a:ea typeface="Consolas"/>
                  <a:cs typeface="Consolas"/>
                </a:rPr>
                <a:t> Department { </a:t>
              </a:r>
              <a:r>
                <a:rPr lang="en-US" sz="880" b="0" dirty="0">
                  <a:solidFill>
                    <a:srgbClr val="60A5FA"/>
                  </a:solidFill>
                  <a:latin typeface="Consolas"/>
                  <a:ea typeface="Consolas"/>
                  <a:cs typeface="Consolas"/>
                </a:rPr>
                <a:t>get</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set</a:t>
              </a:r>
              <a:r>
                <a:rPr lang="en-US" sz="880" b="0" dirty="0">
                  <a:solidFill>
                    <a:srgbClr val="E2E8F0"/>
                  </a:solidFill>
                  <a:latin typeface="Consolas"/>
                  <a:ea typeface="Consolas"/>
                  <a:cs typeface="Consolas"/>
                </a:rPr>
                <a:t>; } = </a:t>
              </a:r>
              <a:r>
                <a:rPr lang="en-US" sz="880" b="0" dirty="0">
                  <a:solidFill>
                    <a:srgbClr val="F0A98B"/>
                  </a:solidFill>
                  <a:latin typeface="Consolas"/>
                  <a:ea typeface="Consolas"/>
                  <a:cs typeface="Consolas"/>
                </a:rPr>
                <a:t>""</a:t>
              </a:r>
              <a:r>
                <a:rPr lang="en-US" sz="880" b="0" dirty="0">
                  <a:solidFill>
                    <a:srgbClr val="E2E8F0"/>
                  </a:solidFill>
                  <a:latin typeface="Consolas"/>
                  <a:ea typeface="Consolas"/>
                  <a:cs typeface="Consolas"/>
                </a:rPr>
                <a:t>;</a:t>
              </a:r>
              <a:endParaRPr lang="en-US" sz="880" dirty="0"/>
            </a:p>
          </p:txBody>
        </p:sp>
        <p:sp>
          <p:nvSpPr>
            <p:cNvPr id="132" name="model_L05"/>
            <p:cNvSpPr txBox="1"/>
            <p:nvPr/>
          </p:nvSpPr>
          <p:spPr>
            <a:xfrm>
              <a:off x="771754" y="5091380"/>
              <a:ext cx="4820640" cy="15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decimal</a:t>
              </a:r>
              <a:r>
                <a:rPr lang="en-US" sz="880" b="0" dirty="0">
                  <a:solidFill>
                    <a:srgbClr val="E2E8F0"/>
                  </a:solidFill>
                  <a:latin typeface="Consolas"/>
                  <a:ea typeface="Consolas"/>
                  <a:cs typeface="Consolas"/>
                </a:rPr>
                <a:t> Salary { </a:t>
              </a:r>
              <a:r>
                <a:rPr lang="en-US" sz="880" b="0" dirty="0">
                  <a:solidFill>
                    <a:srgbClr val="60A5FA"/>
                  </a:solidFill>
                  <a:latin typeface="Consolas"/>
                  <a:ea typeface="Consolas"/>
                  <a:cs typeface="Consolas"/>
                </a:rPr>
                <a:t>get</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set</a:t>
              </a:r>
              <a:r>
                <a:rPr lang="en-US" sz="880" b="0" dirty="0">
                  <a:solidFill>
                    <a:srgbClr val="E2E8F0"/>
                  </a:solidFill>
                  <a:latin typeface="Consolas"/>
                  <a:ea typeface="Consolas"/>
                  <a:cs typeface="Consolas"/>
                </a:rPr>
                <a:t>; }</a:t>
              </a:r>
              <a:endParaRPr lang="en-US" sz="880" dirty="0"/>
            </a:p>
          </p:txBody>
        </p:sp>
        <p:sp>
          <p:nvSpPr>
            <p:cNvPr id="133" name="model_L06"/>
            <p:cNvSpPr txBox="1"/>
            <p:nvPr/>
          </p:nvSpPr>
          <p:spPr>
            <a:xfrm>
              <a:off x="771754" y="5246380"/>
              <a:ext cx="4820640" cy="15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DateTime HireDate { </a:t>
              </a:r>
              <a:r>
                <a:rPr lang="en-US" sz="880" b="0" dirty="0">
                  <a:solidFill>
                    <a:srgbClr val="60A5FA"/>
                  </a:solidFill>
                  <a:latin typeface="Consolas"/>
                  <a:ea typeface="Consolas"/>
                  <a:cs typeface="Consolas"/>
                </a:rPr>
                <a:t>get</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set</a:t>
              </a:r>
              <a:r>
                <a:rPr lang="en-US" sz="880" b="0" dirty="0">
                  <a:solidFill>
                    <a:srgbClr val="E2E8F0"/>
                  </a:solidFill>
                  <a:latin typeface="Consolas"/>
                  <a:ea typeface="Consolas"/>
                  <a:cs typeface="Consolas"/>
                </a:rPr>
                <a:t>; }</a:t>
              </a:r>
              <a:endParaRPr lang="en-US" sz="880" dirty="0"/>
            </a:p>
          </p:txBody>
        </p:sp>
        <p:sp>
          <p:nvSpPr>
            <p:cNvPr id="134" name="model_L07"/>
            <p:cNvSpPr txBox="1"/>
            <p:nvPr/>
          </p:nvSpPr>
          <p:spPr>
            <a:xfrm>
              <a:off x="771754" y="5401380"/>
              <a:ext cx="4820640" cy="15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grpSp>
      <p:grpSp>
        <p:nvGrpSpPr>
          <p:cNvPr id="152" name="menu"/>
          <p:cNvGrpSpPr/>
          <p:nvPr/>
        </p:nvGrpSpPr>
        <p:grpSpPr>
          <a:xfrm>
            <a:off x="5938114" y="1481328"/>
            <a:ext cx="5692140" cy="2395900"/>
            <a:chOff x="5938114" y="1481328"/>
            <a:chExt cx="5692140" cy="2395900"/>
          </a:xfrm>
        </p:grpSpPr>
        <p:sp>
          <p:nvSpPr>
            <p:cNvPr id="136" name="menu_win"/>
            <p:cNvSpPr/>
            <p:nvPr/>
          </p:nvSpPr>
          <p:spPr>
            <a:xfrm>
              <a:off x="5938114" y="1481328"/>
              <a:ext cx="5692140" cy="2395900"/>
            </a:xfrm>
            <a:prstGeom prst="roundRect">
              <a:avLst>
                <a:gd name="adj" fmla="val 2861"/>
              </a:avLst>
            </a:prstGeom>
            <a:solidFill>
              <a:srgbClr val="060D18"/>
            </a:solidFill>
            <a:ln w="12700">
              <a:solidFill>
                <a:srgbClr val="1E3A5F"/>
              </a:solidFill>
              <a:prstDash val="solid"/>
            </a:ln>
          </p:spPr>
          <p:txBody>
            <a:bodyPr/>
            <a:lstStyle/>
            <a:p>
              <a:endParaRPr lang="en-US"/>
            </a:p>
          </p:txBody>
        </p:sp>
        <p:sp>
          <p:nvSpPr>
            <p:cNvPr id="137" name="menu_bar"/>
            <p:cNvSpPr/>
            <p:nvPr/>
          </p:nvSpPr>
          <p:spPr>
            <a:xfrm>
              <a:off x="5938114" y="1481328"/>
              <a:ext cx="56921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8" name="menu_barfill"/>
            <p:cNvSpPr/>
            <p:nvPr/>
          </p:nvSpPr>
          <p:spPr>
            <a:xfrm>
              <a:off x="5938114" y="1652778"/>
              <a:ext cx="5692140" cy="171450"/>
            </a:xfrm>
            <a:prstGeom prst="rect">
              <a:avLst/>
            </a:prstGeom>
            <a:solidFill>
              <a:srgbClr val="0A1220"/>
            </a:solidFill>
            <a:ln w="12700">
              <a:solidFill>
                <a:srgbClr val="0A1220"/>
              </a:solidFill>
              <a:prstDash val="solid"/>
            </a:ln>
          </p:spPr>
          <p:txBody>
            <a:bodyPr/>
            <a:lstStyle/>
            <a:p>
              <a:endParaRPr lang="en-US"/>
            </a:p>
          </p:txBody>
        </p:sp>
        <p:sp>
          <p:nvSpPr>
            <p:cNvPr id="139" name="menu_dot0"/>
            <p:cNvSpPr/>
            <p:nvPr/>
          </p:nvSpPr>
          <p:spPr>
            <a:xfrm>
              <a:off x="6099962" y="1605138"/>
              <a:ext cx="95098" cy="95098"/>
            </a:xfrm>
            <a:prstGeom prst="ellipse">
              <a:avLst/>
            </a:prstGeom>
            <a:solidFill>
              <a:srgbClr val="F87171"/>
            </a:solidFill>
            <a:ln w="12700">
              <a:solidFill>
                <a:srgbClr val="F87171"/>
              </a:solidFill>
              <a:prstDash val="solid"/>
            </a:ln>
          </p:spPr>
          <p:txBody>
            <a:bodyPr/>
            <a:lstStyle/>
            <a:p>
              <a:endParaRPr lang="en-US"/>
            </a:p>
          </p:txBody>
        </p:sp>
        <p:sp>
          <p:nvSpPr>
            <p:cNvPr id="140" name="menu_dot1"/>
            <p:cNvSpPr/>
            <p:nvPr/>
          </p:nvSpPr>
          <p:spPr>
            <a:xfrm>
              <a:off x="6285586" y="1605138"/>
              <a:ext cx="95098" cy="95098"/>
            </a:xfrm>
            <a:prstGeom prst="ellipse">
              <a:avLst/>
            </a:prstGeom>
            <a:solidFill>
              <a:srgbClr val="FBBF24"/>
            </a:solidFill>
            <a:ln w="12700">
              <a:solidFill>
                <a:srgbClr val="FBBF24"/>
              </a:solidFill>
              <a:prstDash val="solid"/>
            </a:ln>
          </p:spPr>
          <p:txBody>
            <a:bodyPr/>
            <a:lstStyle/>
            <a:p>
              <a:endParaRPr lang="en-US"/>
            </a:p>
          </p:txBody>
        </p:sp>
        <p:sp>
          <p:nvSpPr>
            <p:cNvPr id="141" name="menu_dot2"/>
            <p:cNvSpPr/>
            <p:nvPr/>
          </p:nvSpPr>
          <p:spPr>
            <a:xfrm>
              <a:off x="6471210" y="1605138"/>
              <a:ext cx="95098" cy="95098"/>
            </a:xfrm>
            <a:prstGeom prst="ellipse">
              <a:avLst/>
            </a:prstGeom>
            <a:solidFill>
              <a:srgbClr val="34D399"/>
            </a:solidFill>
            <a:ln w="12700">
              <a:solidFill>
                <a:srgbClr val="34D399"/>
              </a:solidFill>
              <a:prstDash val="solid"/>
            </a:ln>
          </p:spPr>
          <p:txBody>
            <a:bodyPr/>
            <a:lstStyle/>
            <a:p>
              <a:endParaRPr lang="en-US"/>
            </a:p>
          </p:txBody>
        </p:sp>
        <p:sp>
          <p:nvSpPr>
            <p:cNvPr id="142" name="menu_tab"/>
            <p:cNvSpPr/>
            <p:nvPr/>
          </p:nvSpPr>
          <p:spPr>
            <a:xfrm>
              <a:off x="6719011" y="152887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Console</a:t>
              </a:r>
              <a:endParaRPr lang="en-US" sz="950" dirty="0"/>
            </a:p>
          </p:txBody>
        </p:sp>
        <p:sp>
          <p:nvSpPr>
            <p:cNvPr id="143" name="menu_L00"/>
            <p:cNvSpPr txBox="1"/>
            <p:nvPr/>
          </p:nvSpPr>
          <p:spPr>
            <a:xfrm>
              <a:off x="6166714" y="19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 Employee Management =====</a:t>
              </a:r>
              <a:endParaRPr lang="en-US" sz="1000" dirty="0"/>
            </a:p>
          </p:txBody>
        </p:sp>
        <p:sp>
          <p:nvSpPr>
            <p:cNvPr id="144" name="menu_L01"/>
            <p:cNvSpPr txBox="1"/>
            <p:nvPr/>
          </p:nvSpPr>
          <p:spPr>
            <a:xfrm>
              <a:off x="6166714" y="21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1. Add Employee</a:t>
              </a:r>
              <a:endParaRPr lang="en-US" sz="1000" dirty="0"/>
            </a:p>
          </p:txBody>
        </p:sp>
        <p:sp>
          <p:nvSpPr>
            <p:cNvPr id="145" name="menu_L02"/>
            <p:cNvSpPr txBox="1"/>
            <p:nvPr/>
          </p:nvSpPr>
          <p:spPr>
            <a:xfrm>
              <a:off x="6166714" y="23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2. Get Employee By ID</a:t>
              </a:r>
              <a:endParaRPr lang="en-US" sz="1000" dirty="0"/>
            </a:p>
          </p:txBody>
        </p:sp>
        <p:sp>
          <p:nvSpPr>
            <p:cNvPr id="146" name="menu_L03"/>
            <p:cNvSpPr txBox="1"/>
            <p:nvPr/>
          </p:nvSpPr>
          <p:spPr>
            <a:xfrm>
              <a:off x="6166714" y="25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3. Get All Employees</a:t>
              </a:r>
              <a:endParaRPr lang="en-US" sz="1000" dirty="0"/>
            </a:p>
          </p:txBody>
        </p:sp>
        <p:sp>
          <p:nvSpPr>
            <p:cNvPr id="147" name="menu_L04"/>
            <p:cNvSpPr txBox="1"/>
            <p:nvPr/>
          </p:nvSpPr>
          <p:spPr>
            <a:xfrm>
              <a:off x="6166714" y="27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4. Update Employee</a:t>
              </a:r>
              <a:endParaRPr lang="en-US" sz="1000" dirty="0"/>
            </a:p>
          </p:txBody>
        </p:sp>
        <p:sp>
          <p:nvSpPr>
            <p:cNvPr id="148" name="menu_L05"/>
            <p:cNvSpPr txBox="1"/>
            <p:nvPr/>
          </p:nvSpPr>
          <p:spPr>
            <a:xfrm>
              <a:off x="6166714" y="29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5. Delete Employee</a:t>
              </a:r>
              <a:endParaRPr lang="en-US" sz="1000" dirty="0"/>
            </a:p>
          </p:txBody>
        </p:sp>
        <p:sp>
          <p:nvSpPr>
            <p:cNvPr id="149" name="menu_L06"/>
            <p:cNvSpPr txBox="1"/>
            <p:nvPr/>
          </p:nvSpPr>
          <p:spPr>
            <a:xfrm>
              <a:off x="6166714" y="31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6. Search Employees</a:t>
              </a:r>
              <a:endParaRPr lang="en-US" sz="1000" dirty="0"/>
            </a:p>
          </p:txBody>
        </p:sp>
        <p:sp>
          <p:nvSpPr>
            <p:cNvPr id="150" name="menu_L07"/>
            <p:cNvSpPr txBox="1"/>
            <p:nvPr/>
          </p:nvSpPr>
          <p:spPr>
            <a:xfrm>
              <a:off x="6166714" y="33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0. Exit</a:t>
              </a:r>
              <a:endParaRPr lang="en-US" sz="1000" dirty="0"/>
            </a:p>
          </p:txBody>
        </p:sp>
        <p:sp>
          <p:nvSpPr>
            <p:cNvPr id="151" name="menu_L08"/>
            <p:cNvSpPr txBox="1"/>
            <p:nvPr/>
          </p:nvSpPr>
          <p:spPr>
            <a:xfrm>
              <a:off x="6166714" y="3557228"/>
              <a:ext cx="5392140" cy="20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1000" b="0" dirty="0">
                  <a:solidFill>
                    <a:srgbClr val="E2E8F0"/>
                  </a:solidFill>
                  <a:latin typeface="Consolas"/>
                  <a:ea typeface="Consolas"/>
                  <a:cs typeface="Consolas"/>
                </a:rPr>
                <a:t>Choose an option: _</a:t>
              </a:r>
              <a:endParaRPr lang="en-US" sz="1000" dirty="0"/>
            </a:p>
          </p:txBody>
        </p:sp>
      </p:grpSp>
      <p:sp>
        <p:nvSpPr>
          <p:cNvPr id="153" name="goal"/>
          <p:cNvSpPr/>
          <p:nvPr/>
        </p:nvSpPr>
        <p:spPr>
          <a:xfrm>
            <a:off x="5938114" y="3840480"/>
            <a:ext cx="5692140" cy="1783080"/>
          </a:xfrm>
          <a:prstGeom prst="roundRect">
            <a:avLst>
              <a:gd name="adj" fmla="val 8132"/>
            </a:avLst>
          </a:prstGeom>
          <a:solidFill>
            <a:srgbClr val="111B2E"/>
          </a:solidFill>
          <a:ln w="12700">
            <a:solidFill>
              <a:srgbClr val="60A5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60A5FA"/>
                </a:solidFill>
                <a:latin typeface="Segoe UI"/>
                <a:ea typeface="Segoe UI"/>
                <a:cs typeface="Segoe UI"/>
              </a:rPr>
              <a:t>PROJECT GOAL</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A console app that stores employees in a JSON file instead of a database.</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Uses paths, Directory, File, JSON and error handling from sessions 1-3.</a:t>
            </a:r>
            <a:endParaRPr lang="en-US" sz="1100" dirty="0"/>
          </a:p>
        </p:txBody>
      </p:sp>
    </p:spTree>
    <p:extLst>
      <p:ext uri="{BB962C8B-B14F-4D97-AF65-F5344CB8AC3E}">
        <p14:creationId xmlns:p14="http://schemas.microsoft.com/office/powerpoint/2010/main" val="50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4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animEffect transition="in" filter="fade">
                                      <p:cBhvr>
                                        <p:cTn id="15" dur="400"/>
                                        <p:tgtEl>
                                          <p:spTgt spid="1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2"/>
                                        </p:tgtEl>
                                        <p:attrNameLst>
                                          <p:attrName>style.visibility</p:attrName>
                                        </p:attrNameLst>
                                      </p:cBhvr>
                                      <p:to>
                                        <p:strVal val="visible"/>
                                      </p:to>
                                    </p:set>
                                    <p:animEffect transition="in" filter="fade">
                                      <p:cBhvr>
                                        <p:cTn id="20" dur="400"/>
                                        <p:tgtEl>
                                          <p:spTgt spid="15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3"/>
                                        </p:tgtEl>
                                        <p:attrNameLst>
                                          <p:attrName>style.visibility</p:attrName>
                                        </p:attrNameLst>
                                      </p:cBhvr>
                                      <p:to>
                                        <p:strVal val="visible"/>
                                      </p:to>
                                    </p:set>
                                    <p:animEffect transition="in" filter="fade">
                                      <p:cBhvr>
                                        <p:cTn id="25" dur="4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5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CRUD FLOW</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How Every Operation Flows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FINAL PROJECT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34</a:t>
            </a:r>
            <a:endParaRPr lang="en-US" sz="850" dirty="0"/>
          </a:p>
        </p:txBody>
      </p:sp>
      <p:sp>
        <p:nvSpPr>
          <p:cNvPr id="101" name="b0"/>
          <p:cNvSpPr/>
          <p:nvPr/>
        </p:nvSpPr>
        <p:spPr>
          <a:xfrm>
            <a:off x="543154" y="1554480"/>
            <a:ext cx="2011680" cy="86868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13D0F7"/>
                </a:solidFill>
                <a:latin typeface="Segoe UI"/>
                <a:ea typeface="Segoe UI"/>
                <a:cs typeface="Segoe UI"/>
              </a:rPr>
              <a:t>Console Menu</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the user picks an option</a:t>
            </a:r>
            <a:endParaRPr lang="en-US" sz="900" dirty="0"/>
          </a:p>
        </p:txBody>
      </p:sp>
      <p:cxnSp>
        <p:nvCxnSpPr>
          <p:cNvPr id="102" name="a0"/>
          <p:cNvCxnSpPr/>
          <p:nvPr/>
        </p:nvCxnSpPr>
        <p:spPr>
          <a:xfrm>
            <a:off x="2582266" y="1984248"/>
            <a:ext cx="202311" cy="0"/>
          </a:xfrm>
          <a:prstGeom prst="line">
            <a:avLst/>
          </a:prstGeom>
          <a:ln w="28575">
            <a:solidFill>
              <a:srgbClr val="94A3B8"/>
            </a:solidFill>
            <a:tailEnd type="triangle" w="med" len="med"/>
          </a:ln>
        </p:spPr>
      </p:cxnSp>
      <p:sp>
        <p:nvSpPr>
          <p:cNvPr id="103" name="b1"/>
          <p:cNvSpPr/>
          <p:nvPr/>
        </p:nvSpPr>
        <p:spPr>
          <a:xfrm>
            <a:off x="2812009" y="1554480"/>
            <a:ext cx="2011680" cy="868680"/>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A78BFA"/>
                </a:solidFill>
                <a:latin typeface="Segoe UI"/>
                <a:ea typeface="Segoe UI"/>
                <a:cs typeface="Segoe UI"/>
              </a:rPr>
              <a:t>EmployeeService</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one method per operation</a:t>
            </a:r>
            <a:endParaRPr lang="en-US" sz="900" dirty="0"/>
          </a:p>
        </p:txBody>
      </p:sp>
      <p:cxnSp>
        <p:nvCxnSpPr>
          <p:cNvPr id="104" name="a1"/>
          <p:cNvCxnSpPr/>
          <p:nvPr/>
        </p:nvCxnSpPr>
        <p:spPr>
          <a:xfrm>
            <a:off x="4851121" y="1984248"/>
            <a:ext cx="202311" cy="0"/>
          </a:xfrm>
          <a:prstGeom prst="line">
            <a:avLst/>
          </a:prstGeom>
          <a:ln w="28575">
            <a:solidFill>
              <a:srgbClr val="94A3B8"/>
            </a:solidFill>
            <a:tailEnd type="triangle" w="med" len="med"/>
          </a:ln>
        </p:spPr>
      </p:cxnSp>
      <p:sp>
        <p:nvSpPr>
          <p:cNvPr id="105" name="b2"/>
          <p:cNvSpPr/>
          <p:nvPr/>
        </p:nvSpPr>
        <p:spPr>
          <a:xfrm>
            <a:off x="5080864" y="1554480"/>
            <a:ext cx="2011680" cy="868680"/>
          </a:xfrm>
          <a:prstGeom prst="roundRect">
            <a:avLst>
              <a:gd name="adj" fmla="val 12000"/>
            </a:avLst>
          </a:prstGeom>
          <a:solidFill>
            <a:srgbClr val="111B2E"/>
          </a:solidFill>
          <a:ln w="12700">
            <a:solidFill>
              <a:srgbClr val="F472B6"/>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F472B6"/>
                </a:solidFill>
                <a:latin typeface="Segoe UI"/>
                <a:ea typeface="Segoe UI"/>
                <a:cs typeface="Segoe UI"/>
              </a:rPr>
              <a:t>Read &amp; Deserialize</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employees.json → List&lt;Employee&gt;</a:t>
            </a:r>
            <a:endParaRPr lang="en-US" sz="900" dirty="0"/>
          </a:p>
        </p:txBody>
      </p:sp>
      <p:cxnSp>
        <p:nvCxnSpPr>
          <p:cNvPr id="106" name="a2"/>
          <p:cNvCxnSpPr/>
          <p:nvPr/>
        </p:nvCxnSpPr>
        <p:spPr>
          <a:xfrm>
            <a:off x="7119976" y="1984248"/>
            <a:ext cx="202311" cy="0"/>
          </a:xfrm>
          <a:prstGeom prst="line">
            <a:avLst/>
          </a:prstGeom>
          <a:ln w="28575">
            <a:solidFill>
              <a:srgbClr val="94A3B8"/>
            </a:solidFill>
            <a:tailEnd type="triangle" w="med" len="med"/>
          </a:ln>
        </p:spPr>
      </p:cxnSp>
      <p:sp>
        <p:nvSpPr>
          <p:cNvPr id="107" name="b3"/>
          <p:cNvSpPr/>
          <p:nvPr/>
        </p:nvSpPr>
        <p:spPr>
          <a:xfrm>
            <a:off x="7349719" y="1554480"/>
            <a:ext cx="2011680" cy="86868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34D399"/>
                </a:solidFill>
                <a:latin typeface="Segoe UI"/>
                <a:ea typeface="Segoe UI"/>
                <a:cs typeface="Segoe UI"/>
              </a:rPr>
              <a:t>Operation in memory</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add · find · change · remove</a:t>
            </a:r>
            <a:endParaRPr lang="en-US" sz="900" dirty="0"/>
          </a:p>
        </p:txBody>
      </p:sp>
      <p:cxnSp>
        <p:nvCxnSpPr>
          <p:cNvPr id="108" name="a3"/>
          <p:cNvCxnSpPr/>
          <p:nvPr/>
        </p:nvCxnSpPr>
        <p:spPr>
          <a:xfrm>
            <a:off x="9388831" y="1984248"/>
            <a:ext cx="202311" cy="0"/>
          </a:xfrm>
          <a:prstGeom prst="line">
            <a:avLst/>
          </a:prstGeom>
          <a:ln w="28575">
            <a:solidFill>
              <a:srgbClr val="94A3B8"/>
            </a:solidFill>
            <a:tailEnd type="triangle" w="med" len="med"/>
          </a:ln>
        </p:spPr>
      </p:cxnSp>
      <p:sp>
        <p:nvSpPr>
          <p:cNvPr id="109" name="b4"/>
          <p:cNvSpPr/>
          <p:nvPr/>
        </p:nvSpPr>
        <p:spPr>
          <a:xfrm>
            <a:off x="9618574" y="1554480"/>
            <a:ext cx="2011680" cy="868680"/>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FBBF24"/>
                </a:solidFill>
                <a:latin typeface="Segoe UI"/>
                <a:ea typeface="Segoe UI"/>
                <a:cs typeface="Segoe UI"/>
              </a:rPr>
              <a:t>Serialize &amp; Save</a:t>
            </a:r>
            <a:endParaRPr lang="en-US" sz="1100" dirty="0"/>
          </a:p>
          <a:p>
            <a:pPr marL="0" indent="0" algn="ctr">
              <a:spcBef>
                <a:spcPts val="0"/>
              </a:spcBef>
              <a:spcAft>
                <a:spcPts val="0"/>
              </a:spcAft>
              <a:buNone/>
            </a:pPr>
            <a:r>
              <a:rPr lang="en-US" sz="900" b="0" dirty="0">
                <a:solidFill>
                  <a:srgbClr val="CBD5E1"/>
                </a:solidFill>
                <a:latin typeface="Segoe UI"/>
                <a:ea typeface="Segoe UI"/>
                <a:cs typeface="Segoe UI"/>
              </a:rPr>
              <a:t>List&lt;Employee&gt; → employees.json</a:t>
            </a:r>
            <a:endParaRPr lang="en-US" sz="900" dirty="0"/>
          </a:p>
        </p:txBody>
      </p:sp>
      <p:sp>
        <p:nvSpPr>
          <p:cNvPr id="110" name="only"/>
          <p:cNvSpPr txBox="1"/>
          <p:nvPr/>
        </p:nvSpPr>
        <p:spPr>
          <a:xfrm>
            <a:off x="9161374" y="2468880"/>
            <a:ext cx="2468880" cy="4572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950" b="1" dirty="0">
                <a:solidFill>
                  <a:srgbClr val="FBBF24"/>
                </a:solidFill>
                <a:latin typeface="Segoe UI"/>
                <a:ea typeface="Segoe UI"/>
                <a:cs typeface="Segoe UI"/>
              </a:rPr>
              <a:t>only Add · Update · Delete</a:t>
            </a:r>
            <a:endParaRPr lang="en-US" sz="950" dirty="0"/>
          </a:p>
          <a:p>
            <a:pPr marL="0" indent="0" algn="ctr">
              <a:spcBef>
                <a:spcPts val="0"/>
              </a:spcBef>
              <a:spcAft>
                <a:spcPts val="0"/>
              </a:spcAft>
              <a:buNone/>
            </a:pPr>
            <a:r>
              <a:rPr lang="en-US" sz="900" b="0" dirty="0">
                <a:solidFill>
                  <a:srgbClr val="94A3B8"/>
                </a:solidFill>
                <a:latin typeface="Segoe UI"/>
                <a:ea typeface="Segoe UI"/>
                <a:cs typeface="Segoe UI"/>
              </a:rPr>
              <a:t>read-only operations never write</a:t>
            </a:r>
            <a:endParaRPr lang="en-US" sz="900" dirty="0"/>
          </a:p>
        </p:txBody>
      </p:sp>
      <p:grpSp>
        <p:nvGrpSpPr>
          <p:cNvPr id="114" name="t_h"/>
          <p:cNvGrpSpPr/>
          <p:nvPr/>
        </p:nvGrpSpPr>
        <p:grpSpPr>
          <a:xfrm>
            <a:off x="689458" y="3017520"/>
            <a:ext cx="10904220" cy="256032"/>
            <a:chOff x="689458" y="3017520"/>
            <a:chExt cx="10904220" cy="256032"/>
          </a:xfrm>
        </p:grpSpPr>
        <p:sp>
          <p:nvSpPr>
            <p:cNvPr id="111" name="t_h0"/>
            <p:cNvSpPr txBox="1"/>
            <p:nvPr/>
          </p:nvSpPr>
          <p:spPr>
            <a:xfrm>
              <a:off x="689458" y="3017520"/>
              <a:ext cx="31089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METHOD</a:t>
              </a:r>
              <a:endParaRPr lang="en-US" sz="1000" dirty="0"/>
            </a:p>
          </p:txBody>
        </p:sp>
        <p:sp>
          <p:nvSpPr>
            <p:cNvPr id="112" name="t_h1"/>
            <p:cNvSpPr txBox="1"/>
            <p:nvPr/>
          </p:nvSpPr>
          <p:spPr>
            <a:xfrm>
              <a:off x="3981298" y="3017520"/>
              <a:ext cx="566928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RESPONSIBILITY</a:t>
              </a:r>
              <a:endParaRPr lang="en-US" sz="1000" dirty="0"/>
            </a:p>
          </p:txBody>
        </p:sp>
        <p:sp>
          <p:nvSpPr>
            <p:cNvPr id="113" name="t_h2"/>
            <p:cNvSpPr txBox="1"/>
            <p:nvPr/>
          </p:nvSpPr>
          <p:spPr>
            <a:xfrm>
              <a:off x="9833458" y="3017520"/>
              <a:ext cx="176022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FILE</a:t>
              </a:r>
              <a:endParaRPr lang="en-US" sz="1000" dirty="0"/>
            </a:p>
          </p:txBody>
        </p:sp>
      </p:grpSp>
      <p:grpSp>
        <p:nvGrpSpPr>
          <p:cNvPr id="119" name="t_r0"/>
          <p:cNvGrpSpPr/>
          <p:nvPr/>
        </p:nvGrpSpPr>
        <p:grpSpPr>
          <a:xfrm>
            <a:off x="543154" y="3319272"/>
            <a:ext cx="11087100" cy="292608"/>
            <a:chOff x="543154" y="3319272"/>
            <a:chExt cx="11087100" cy="292608"/>
          </a:xfrm>
        </p:grpSpPr>
        <p:sp>
          <p:nvSpPr>
            <p:cNvPr id="115" name="t_r0_bg"/>
            <p:cNvSpPr/>
            <p:nvPr/>
          </p:nvSpPr>
          <p:spPr>
            <a:xfrm>
              <a:off x="543154" y="3319272"/>
              <a:ext cx="11087100" cy="29260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6" name="t_r0_c0"/>
            <p:cNvSpPr txBox="1"/>
            <p:nvPr/>
          </p:nvSpPr>
          <p:spPr>
            <a:xfrm>
              <a:off x="689458" y="3319272"/>
              <a:ext cx="31089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60A5FA"/>
                  </a:solidFill>
                  <a:latin typeface="Consolas"/>
                  <a:ea typeface="Consolas"/>
                  <a:cs typeface="Consolas"/>
                </a:rPr>
                <a:t>GetAll()</a:t>
              </a:r>
              <a:endParaRPr lang="en-US" sz="1000" dirty="0"/>
            </a:p>
          </p:txBody>
        </p:sp>
        <p:sp>
          <p:nvSpPr>
            <p:cNvPr id="117" name="t_r0_c1"/>
            <p:cNvSpPr txBox="1"/>
            <p:nvPr/>
          </p:nvSpPr>
          <p:spPr>
            <a:xfrm>
              <a:off x="3981298" y="3319272"/>
              <a:ext cx="56692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read and deserialize the JSON file</a:t>
              </a:r>
              <a:endParaRPr lang="en-US" sz="1000" dirty="0"/>
            </a:p>
          </p:txBody>
        </p:sp>
        <p:sp>
          <p:nvSpPr>
            <p:cNvPr id="118" name="t_r0_c2"/>
            <p:cNvSpPr txBox="1"/>
            <p:nvPr/>
          </p:nvSpPr>
          <p:spPr>
            <a:xfrm>
              <a:off x="9833458" y="3319272"/>
              <a:ext cx="17602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read</a:t>
              </a:r>
              <a:endParaRPr lang="en-US" sz="1000" dirty="0"/>
            </a:p>
          </p:txBody>
        </p:sp>
      </p:grpSp>
      <p:grpSp>
        <p:nvGrpSpPr>
          <p:cNvPr id="124" name="t_r1"/>
          <p:cNvGrpSpPr/>
          <p:nvPr/>
        </p:nvGrpSpPr>
        <p:grpSpPr>
          <a:xfrm>
            <a:off x="543154" y="3648456"/>
            <a:ext cx="11087100" cy="292608"/>
            <a:chOff x="543154" y="3648456"/>
            <a:chExt cx="11087100" cy="292608"/>
          </a:xfrm>
        </p:grpSpPr>
        <p:sp>
          <p:nvSpPr>
            <p:cNvPr id="120" name="t_r1_bg"/>
            <p:cNvSpPr/>
            <p:nvPr/>
          </p:nvSpPr>
          <p:spPr>
            <a:xfrm>
              <a:off x="543154" y="3648456"/>
              <a:ext cx="11087100" cy="29260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1" name="t_r1_c0"/>
            <p:cNvSpPr txBox="1"/>
            <p:nvPr/>
          </p:nvSpPr>
          <p:spPr>
            <a:xfrm>
              <a:off x="689458" y="3648456"/>
              <a:ext cx="31089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60A5FA"/>
                  </a:solidFill>
                  <a:latin typeface="Consolas"/>
                  <a:ea typeface="Consolas"/>
                  <a:cs typeface="Consolas"/>
                </a:rPr>
                <a:t>GetById(int id)</a:t>
              </a:r>
              <a:endParaRPr lang="en-US" sz="1000" dirty="0"/>
            </a:p>
          </p:txBody>
        </p:sp>
        <p:sp>
          <p:nvSpPr>
            <p:cNvPr id="122" name="t_r1_c1"/>
            <p:cNvSpPr txBox="1"/>
            <p:nvPr/>
          </p:nvSpPr>
          <p:spPr>
            <a:xfrm>
              <a:off x="3981298" y="3648456"/>
              <a:ext cx="56692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find one employee</a:t>
              </a:r>
              <a:endParaRPr lang="en-US" sz="1000" dirty="0"/>
            </a:p>
          </p:txBody>
        </p:sp>
        <p:sp>
          <p:nvSpPr>
            <p:cNvPr id="123" name="t_r1_c2"/>
            <p:cNvSpPr txBox="1"/>
            <p:nvPr/>
          </p:nvSpPr>
          <p:spPr>
            <a:xfrm>
              <a:off x="9833458" y="3648456"/>
              <a:ext cx="17602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read</a:t>
              </a:r>
              <a:endParaRPr lang="en-US" sz="1000" dirty="0"/>
            </a:p>
          </p:txBody>
        </p:sp>
      </p:grpSp>
      <p:grpSp>
        <p:nvGrpSpPr>
          <p:cNvPr id="129" name="t_r2"/>
          <p:cNvGrpSpPr/>
          <p:nvPr/>
        </p:nvGrpSpPr>
        <p:grpSpPr>
          <a:xfrm>
            <a:off x="543154" y="3977640"/>
            <a:ext cx="11087100" cy="292608"/>
            <a:chOff x="543154" y="3977640"/>
            <a:chExt cx="11087100" cy="292608"/>
          </a:xfrm>
        </p:grpSpPr>
        <p:sp>
          <p:nvSpPr>
            <p:cNvPr id="125" name="t_r2_bg"/>
            <p:cNvSpPr/>
            <p:nvPr/>
          </p:nvSpPr>
          <p:spPr>
            <a:xfrm>
              <a:off x="543154" y="3977640"/>
              <a:ext cx="11087100" cy="29260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6" name="t_r2_c0"/>
            <p:cNvSpPr txBox="1"/>
            <p:nvPr/>
          </p:nvSpPr>
          <p:spPr>
            <a:xfrm>
              <a:off x="689458" y="3977640"/>
              <a:ext cx="31089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60A5FA"/>
                  </a:solidFill>
                  <a:latin typeface="Consolas"/>
                  <a:ea typeface="Consolas"/>
                  <a:cs typeface="Consolas"/>
                </a:rPr>
                <a:t>SearchByName(string text)</a:t>
              </a:r>
              <a:endParaRPr lang="en-US" sz="1000" dirty="0"/>
            </a:p>
          </p:txBody>
        </p:sp>
        <p:sp>
          <p:nvSpPr>
            <p:cNvPr id="127" name="t_r2_c1"/>
            <p:cNvSpPr txBox="1"/>
            <p:nvPr/>
          </p:nvSpPr>
          <p:spPr>
            <a:xfrm>
              <a:off x="3981298" y="3977640"/>
              <a:ext cx="56692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employees whose name contains the text</a:t>
              </a:r>
              <a:endParaRPr lang="en-US" sz="1000" dirty="0"/>
            </a:p>
          </p:txBody>
        </p:sp>
        <p:sp>
          <p:nvSpPr>
            <p:cNvPr id="128" name="t_r2_c2"/>
            <p:cNvSpPr txBox="1"/>
            <p:nvPr/>
          </p:nvSpPr>
          <p:spPr>
            <a:xfrm>
              <a:off x="9833458" y="3977640"/>
              <a:ext cx="17602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Segoe UI"/>
                  <a:ea typeface="Segoe UI"/>
                  <a:cs typeface="Segoe UI"/>
                </a:rPr>
                <a:t>read</a:t>
              </a:r>
              <a:endParaRPr lang="en-US" sz="1000" dirty="0"/>
            </a:p>
          </p:txBody>
        </p:sp>
      </p:grpSp>
      <p:grpSp>
        <p:nvGrpSpPr>
          <p:cNvPr id="134" name="t_r3"/>
          <p:cNvGrpSpPr/>
          <p:nvPr/>
        </p:nvGrpSpPr>
        <p:grpSpPr>
          <a:xfrm>
            <a:off x="543154" y="4306824"/>
            <a:ext cx="11087100" cy="292608"/>
            <a:chOff x="543154" y="4306824"/>
            <a:chExt cx="11087100" cy="292608"/>
          </a:xfrm>
        </p:grpSpPr>
        <p:sp>
          <p:nvSpPr>
            <p:cNvPr id="130" name="t_r3_bg"/>
            <p:cNvSpPr/>
            <p:nvPr/>
          </p:nvSpPr>
          <p:spPr>
            <a:xfrm>
              <a:off x="543154" y="4306824"/>
              <a:ext cx="11087100" cy="29260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1" name="t_r3_c0"/>
            <p:cNvSpPr txBox="1"/>
            <p:nvPr/>
          </p:nvSpPr>
          <p:spPr>
            <a:xfrm>
              <a:off x="689458" y="4306824"/>
              <a:ext cx="31089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60A5FA"/>
                  </a:solidFill>
                  <a:latin typeface="Consolas"/>
                  <a:ea typeface="Consolas"/>
                  <a:cs typeface="Consolas"/>
                </a:rPr>
                <a:t>Add(Employee employee)</a:t>
              </a:r>
              <a:endParaRPr lang="en-US" sz="1000" dirty="0"/>
            </a:p>
          </p:txBody>
        </p:sp>
        <p:sp>
          <p:nvSpPr>
            <p:cNvPr id="132" name="t_r3_c1"/>
            <p:cNvSpPr txBox="1"/>
            <p:nvPr/>
          </p:nvSpPr>
          <p:spPr>
            <a:xfrm>
              <a:off x="3981298" y="4306824"/>
              <a:ext cx="56692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validate, refuse a duplicate Id, insert</a:t>
              </a:r>
              <a:endParaRPr lang="en-US" sz="1000" dirty="0"/>
            </a:p>
          </p:txBody>
        </p:sp>
        <p:sp>
          <p:nvSpPr>
            <p:cNvPr id="133" name="t_r3_c2"/>
            <p:cNvSpPr txBox="1"/>
            <p:nvPr/>
          </p:nvSpPr>
          <p:spPr>
            <a:xfrm>
              <a:off x="9833458" y="4306824"/>
              <a:ext cx="17602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BBF24"/>
                  </a:solidFill>
                  <a:latin typeface="Segoe UI"/>
                  <a:ea typeface="Segoe UI"/>
                  <a:cs typeface="Segoe UI"/>
                </a:rPr>
                <a:t>read + save</a:t>
              </a:r>
              <a:endParaRPr lang="en-US" sz="1000" dirty="0"/>
            </a:p>
          </p:txBody>
        </p:sp>
      </p:grpSp>
      <p:grpSp>
        <p:nvGrpSpPr>
          <p:cNvPr id="139" name="t_r4"/>
          <p:cNvGrpSpPr/>
          <p:nvPr/>
        </p:nvGrpSpPr>
        <p:grpSpPr>
          <a:xfrm>
            <a:off x="543154" y="4636008"/>
            <a:ext cx="11087100" cy="292608"/>
            <a:chOff x="543154" y="4636008"/>
            <a:chExt cx="11087100" cy="292608"/>
          </a:xfrm>
        </p:grpSpPr>
        <p:sp>
          <p:nvSpPr>
            <p:cNvPr id="135" name="t_r4_bg"/>
            <p:cNvSpPr/>
            <p:nvPr/>
          </p:nvSpPr>
          <p:spPr>
            <a:xfrm>
              <a:off x="543154" y="4636008"/>
              <a:ext cx="11087100" cy="29260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6" name="t_r4_c0"/>
            <p:cNvSpPr txBox="1"/>
            <p:nvPr/>
          </p:nvSpPr>
          <p:spPr>
            <a:xfrm>
              <a:off x="689458" y="4636008"/>
              <a:ext cx="31089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60A5FA"/>
                  </a:solidFill>
                  <a:latin typeface="Consolas"/>
                  <a:ea typeface="Consolas"/>
                  <a:cs typeface="Consolas"/>
                </a:rPr>
                <a:t>Update(Employee employee)</a:t>
              </a:r>
              <a:endParaRPr lang="en-US" sz="1000" dirty="0"/>
            </a:p>
          </p:txBody>
        </p:sp>
        <p:sp>
          <p:nvSpPr>
            <p:cNvPr id="137" name="t_r4_c1"/>
            <p:cNvSpPr txBox="1"/>
            <p:nvPr/>
          </p:nvSpPr>
          <p:spPr>
            <a:xfrm>
              <a:off x="3981298" y="4636008"/>
              <a:ext cx="56692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replace the record with the same Id</a:t>
              </a:r>
              <a:endParaRPr lang="en-US" sz="1000" dirty="0"/>
            </a:p>
          </p:txBody>
        </p:sp>
        <p:sp>
          <p:nvSpPr>
            <p:cNvPr id="138" name="t_r4_c2"/>
            <p:cNvSpPr txBox="1"/>
            <p:nvPr/>
          </p:nvSpPr>
          <p:spPr>
            <a:xfrm>
              <a:off x="9833458" y="4636008"/>
              <a:ext cx="17602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BBF24"/>
                  </a:solidFill>
                  <a:latin typeface="Segoe UI"/>
                  <a:ea typeface="Segoe UI"/>
                  <a:cs typeface="Segoe UI"/>
                </a:rPr>
                <a:t>read + save</a:t>
              </a:r>
              <a:endParaRPr lang="en-US" sz="1000" dirty="0"/>
            </a:p>
          </p:txBody>
        </p:sp>
      </p:grpSp>
      <p:grpSp>
        <p:nvGrpSpPr>
          <p:cNvPr id="144" name="t_r5"/>
          <p:cNvGrpSpPr/>
          <p:nvPr/>
        </p:nvGrpSpPr>
        <p:grpSpPr>
          <a:xfrm>
            <a:off x="543154" y="4965192"/>
            <a:ext cx="11087100" cy="292608"/>
            <a:chOff x="543154" y="4965192"/>
            <a:chExt cx="11087100" cy="292608"/>
          </a:xfrm>
        </p:grpSpPr>
        <p:sp>
          <p:nvSpPr>
            <p:cNvPr id="140" name="t_r5_bg"/>
            <p:cNvSpPr/>
            <p:nvPr/>
          </p:nvSpPr>
          <p:spPr>
            <a:xfrm>
              <a:off x="543154" y="4965192"/>
              <a:ext cx="11087100" cy="29260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1" name="t_r5_c0"/>
            <p:cNvSpPr txBox="1"/>
            <p:nvPr/>
          </p:nvSpPr>
          <p:spPr>
            <a:xfrm>
              <a:off x="689458" y="4965192"/>
              <a:ext cx="31089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60A5FA"/>
                  </a:solidFill>
                  <a:latin typeface="Consolas"/>
                  <a:ea typeface="Consolas"/>
                  <a:cs typeface="Consolas"/>
                </a:rPr>
                <a:t>Delete(int id)</a:t>
              </a:r>
              <a:endParaRPr lang="en-US" sz="1000" dirty="0"/>
            </a:p>
          </p:txBody>
        </p:sp>
        <p:sp>
          <p:nvSpPr>
            <p:cNvPr id="142" name="t_r5_c1"/>
            <p:cNvSpPr txBox="1"/>
            <p:nvPr/>
          </p:nvSpPr>
          <p:spPr>
            <a:xfrm>
              <a:off x="3981298" y="4965192"/>
              <a:ext cx="56692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remove the record</a:t>
              </a:r>
              <a:endParaRPr lang="en-US" sz="1000" dirty="0"/>
            </a:p>
          </p:txBody>
        </p:sp>
        <p:sp>
          <p:nvSpPr>
            <p:cNvPr id="143" name="t_r5_c2"/>
            <p:cNvSpPr txBox="1"/>
            <p:nvPr/>
          </p:nvSpPr>
          <p:spPr>
            <a:xfrm>
              <a:off x="9833458" y="4965192"/>
              <a:ext cx="17602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BBF24"/>
                  </a:solidFill>
                  <a:latin typeface="Segoe UI"/>
                  <a:ea typeface="Segoe UI"/>
                  <a:cs typeface="Segoe UI"/>
                </a:rPr>
                <a:t>read + save</a:t>
              </a:r>
              <a:endParaRPr lang="en-US" sz="1000" dirty="0"/>
            </a:p>
          </p:txBody>
        </p:sp>
      </p:grpSp>
      <p:grpSp>
        <p:nvGrpSpPr>
          <p:cNvPr id="149" name="t_r6"/>
          <p:cNvGrpSpPr/>
          <p:nvPr/>
        </p:nvGrpSpPr>
        <p:grpSpPr>
          <a:xfrm>
            <a:off x="543154" y="5294376"/>
            <a:ext cx="11087100" cy="292608"/>
            <a:chOff x="543154" y="5294376"/>
            <a:chExt cx="11087100" cy="292608"/>
          </a:xfrm>
        </p:grpSpPr>
        <p:sp>
          <p:nvSpPr>
            <p:cNvPr id="145" name="t_r6_bg"/>
            <p:cNvSpPr/>
            <p:nvPr/>
          </p:nvSpPr>
          <p:spPr>
            <a:xfrm>
              <a:off x="543154" y="5294376"/>
              <a:ext cx="11087100" cy="29260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6" name="t_r6_c0"/>
            <p:cNvSpPr txBox="1"/>
            <p:nvPr/>
          </p:nvSpPr>
          <p:spPr>
            <a:xfrm>
              <a:off x="689458" y="5294376"/>
              <a:ext cx="310896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60A5FA"/>
                  </a:solidFill>
                  <a:latin typeface="Consolas"/>
                  <a:ea typeface="Consolas"/>
                  <a:cs typeface="Consolas"/>
                </a:rPr>
                <a:t>Save(List&lt;Employee&gt;)</a:t>
              </a:r>
              <a:endParaRPr lang="en-US" sz="1000" dirty="0"/>
            </a:p>
          </p:txBody>
        </p:sp>
        <p:sp>
          <p:nvSpPr>
            <p:cNvPr id="147" name="t_r6_c1"/>
            <p:cNvSpPr txBox="1"/>
            <p:nvPr/>
          </p:nvSpPr>
          <p:spPr>
            <a:xfrm>
              <a:off x="3981298" y="5294376"/>
              <a:ext cx="566928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E2E8F0"/>
                  </a:solidFill>
                  <a:latin typeface="Segoe UI"/>
                  <a:ea typeface="Segoe UI"/>
                  <a:cs typeface="Segoe UI"/>
                </a:rPr>
                <a:t>serialize and write all records</a:t>
              </a:r>
              <a:endParaRPr lang="en-US" sz="1000" dirty="0"/>
            </a:p>
          </p:txBody>
        </p:sp>
        <p:sp>
          <p:nvSpPr>
            <p:cNvPr id="148" name="t_r6_c2"/>
            <p:cNvSpPr txBox="1"/>
            <p:nvPr/>
          </p:nvSpPr>
          <p:spPr>
            <a:xfrm>
              <a:off x="9833458" y="5294376"/>
              <a:ext cx="1760220" cy="2926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Segoe UI"/>
                  <a:ea typeface="Segoe UI"/>
                  <a:cs typeface="Segoe UI"/>
                </a:rPr>
                <a:t>write</a:t>
              </a:r>
              <a:endParaRPr lang="en-US" sz="1000" dirty="0"/>
            </a:p>
          </p:txBody>
        </p:sp>
      </p:grpSp>
    </p:spTree>
    <p:extLst>
      <p:ext uri="{BB962C8B-B14F-4D97-AF65-F5344CB8AC3E}">
        <p14:creationId xmlns:p14="http://schemas.microsoft.com/office/powerpoint/2010/main" val="503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par>
                          <p:cTn id="13" fill="hold">
                            <p:stCondLst>
                              <p:cond delay="400"/>
                            </p:stCondLst>
                            <p:childTnLst>
                              <p:par>
                                <p:cTn id="14" presetID="10" presetClass="entr" presetSubtype="0" fill="hold" grpId="0" nodeType="after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400"/>
                                        <p:tgtEl>
                                          <p:spTgt spid="10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fade">
                                      <p:cBhvr>
                                        <p:cTn id="21" dur="400"/>
                                        <p:tgtEl>
                                          <p:spTgt spid="104"/>
                                        </p:tgtEl>
                                      </p:cBhvr>
                                    </p:animEffect>
                                  </p:childTnLst>
                                </p:cTn>
                              </p:par>
                            </p:childTnLst>
                          </p:cTn>
                        </p:par>
                        <p:par>
                          <p:cTn id="22" fill="hold">
                            <p:stCondLst>
                              <p:cond delay="400"/>
                            </p:stCondLst>
                            <p:childTnLst>
                              <p:par>
                                <p:cTn id="23" presetID="10" presetClass="entr" presetSubtype="0" fill="hold" grpId="0" nodeType="after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400"/>
                                        <p:tgtEl>
                                          <p:spTgt spid="10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6"/>
                                        </p:tgtEl>
                                        <p:attrNameLst>
                                          <p:attrName>style.visibility</p:attrName>
                                        </p:attrNameLst>
                                      </p:cBhvr>
                                      <p:to>
                                        <p:strVal val="visible"/>
                                      </p:to>
                                    </p:set>
                                    <p:animEffect transition="in" filter="fade">
                                      <p:cBhvr>
                                        <p:cTn id="30" dur="400"/>
                                        <p:tgtEl>
                                          <p:spTgt spid="106"/>
                                        </p:tgtEl>
                                      </p:cBhvr>
                                    </p:animEffect>
                                  </p:childTnLst>
                                </p:cTn>
                              </p:par>
                            </p:childTnLst>
                          </p:cTn>
                        </p:par>
                        <p:par>
                          <p:cTn id="31" fill="hold">
                            <p:stCondLst>
                              <p:cond delay="400"/>
                            </p:stCondLst>
                            <p:childTnLst>
                              <p:par>
                                <p:cTn id="32" presetID="10" presetClass="entr" presetSubtype="0" fill="hold" grpId="0" nodeType="afterEffect">
                                  <p:stCondLst>
                                    <p:cond delay="0"/>
                                  </p:stCondLst>
                                  <p:childTnLst>
                                    <p:set>
                                      <p:cBhvr>
                                        <p:cTn id="33" dur="1" fill="hold">
                                          <p:stCondLst>
                                            <p:cond delay="0"/>
                                          </p:stCondLst>
                                        </p:cTn>
                                        <p:tgtEl>
                                          <p:spTgt spid="107"/>
                                        </p:tgtEl>
                                        <p:attrNameLst>
                                          <p:attrName>style.visibility</p:attrName>
                                        </p:attrNameLst>
                                      </p:cBhvr>
                                      <p:to>
                                        <p:strVal val="visible"/>
                                      </p:to>
                                    </p:set>
                                    <p:animEffect transition="in" filter="fade">
                                      <p:cBhvr>
                                        <p:cTn id="34" dur="400"/>
                                        <p:tgtEl>
                                          <p:spTgt spid="10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8"/>
                                        </p:tgtEl>
                                        <p:attrNameLst>
                                          <p:attrName>style.visibility</p:attrName>
                                        </p:attrNameLst>
                                      </p:cBhvr>
                                      <p:to>
                                        <p:strVal val="visible"/>
                                      </p:to>
                                    </p:set>
                                    <p:animEffect transition="in" filter="fade">
                                      <p:cBhvr>
                                        <p:cTn id="39" dur="400"/>
                                        <p:tgtEl>
                                          <p:spTgt spid="108"/>
                                        </p:tgtEl>
                                      </p:cBhvr>
                                    </p:animEffect>
                                  </p:childTnLst>
                                </p:cTn>
                              </p:par>
                            </p:childTnLst>
                          </p:cTn>
                        </p:par>
                        <p:par>
                          <p:cTn id="40" fill="hold">
                            <p:stCondLst>
                              <p:cond delay="400"/>
                            </p:stCondLst>
                            <p:childTnLst>
                              <p:par>
                                <p:cTn id="41" presetID="10" presetClass="entr" presetSubtype="0" fill="hold" grpId="0" nodeType="after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400"/>
                                        <p:tgtEl>
                                          <p:spTgt spid="10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0"/>
                                        </p:tgtEl>
                                        <p:attrNameLst>
                                          <p:attrName>style.visibility</p:attrName>
                                        </p:attrNameLst>
                                      </p:cBhvr>
                                      <p:to>
                                        <p:strVal val="visible"/>
                                      </p:to>
                                    </p:set>
                                    <p:animEffect transition="in" filter="fade">
                                      <p:cBhvr>
                                        <p:cTn id="48" dur="400"/>
                                        <p:tgtEl>
                                          <p:spTgt spid="11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14"/>
                                        </p:tgtEl>
                                        <p:attrNameLst>
                                          <p:attrName>style.visibility</p:attrName>
                                        </p:attrNameLst>
                                      </p:cBhvr>
                                      <p:to>
                                        <p:strVal val="visible"/>
                                      </p:to>
                                    </p:set>
                                    <p:animEffect transition="in" filter="fade">
                                      <p:cBhvr>
                                        <p:cTn id="53" dur="400"/>
                                        <p:tgtEl>
                                          <p:spTgt spid="114"/>
                                        </p:tgtEl>
                                      </p:cBhvr>
                                    </p:animEffect>
                                  </p:childTnLst>
                                </p:cTn>
                              </p:par>
                            </p:childTnLst>
                          </p:cTn>
                        </p:par>
                        <p:par>
                          <p:cTn id="54" fill="hold">
                            <p:stCondLst>
                              <p:cond delay="400"/>
                            </p:stCondLst>
                            <p:childTnLst>
                              <p:par>
                                <p:cTn id="55" presetID="10" presetClass="entr" presetSubtype="0" fill="hold" nodeType="afterEffect">
                                  <p:stCondLst>
                                    <p:cond delay="0"/>
                                  </p:stCondLst>
                                  <p:childTnLst>
                                    <p:set>
                                      <p:cBhvr>
                                        <p:cTn id="56" dur="1" fill="hold">
                                          <p:stCondLst>
                                            <p:cond delay="0"/>
                                          </p:stCondLst>
                                        </p:cTn>
                                        <p:tgtEl>
                                          <p:spTgt spid="119"/>
                                        </p:tgtEl>
                                        <p:attrNameLst>
                                          <p:attrName>style.visibility</p:attrName>
                                        </p:attrNameLst>
                                      </p:cBhvr>
                                      <p:to>
                                        <p:strVal val="visible"/>
                                      </p:to>
                                    </p:set>
                                    <p:animEffect transition="in" filter="fade">
                                      <p:cBhvr>
                                        <p:cTn id="57" dur="150"/>
                                        <p:tgtEl>
                                          <p:spTgt spid="119"/>
                                        </p:tgtEl>
                                      </p:cBhvr>
                                    </p:animEffect>
                                  </p:childTnLst>
                                </p:cTn>
                              </p:par>
                            </p:childTnLst>
                          </p:cTn>
                        </p:par>
                        <p:par>
                          <p:cTn id="58" fill="hold">
                            <p:stCondLst>
                              <p:cond delay="550"/>
                            </p:stCondLst>
                            <p:childTnLst>
                              <p:par>
                                <p:cTn id="59" presetID="10" presetClass="entr" presetSubtype="0" fill="hold" nodeType="afterEffect">
                                  <p:stCondLst>
                                    <p:cond delay="0"/>
                                  </p:stCondLst>
                                  <p:childTnLst>
                                    <p:set>
                                      <p:cBhvr>
                                        <p:cTn id="60" dur="1" fill="hold">
                                          <p:stCondLst>
                                            <p:cond delay="0"/>
                                          </p:stCondLst>
                                        </p:cTn>
                                        <p:tgtEl>
                                          <p:spTgt spid="124"/>
                                        </p:tgtEl>
                                        <p:attrNameLst>
                                          <p:attrName>style.visibility</p:attrName>
                                        </p:attrNameLst>
                                      </p:cBhvr>
                                      <p:to>
                                        <p:strVal val="visible"/>
                                      </p:to>
                                    </p:set>
                                    <p:animEffect transition="in" filter="fade">
                                      <p:cBhvr>
                                        <p:cTn id="61" dur="150"/>
                                        <p:tgtEl>
                                          <p:spTgt spid="124"/>
                                        </p:tgtEl>
                                      </p:cBhvr>
                                    </p:animEffect>
                                  </p:childTnLst>
                                </p:cTn>
                              </p:par>
                            </p:childTnLst>
                          </p:cTn>
                        </p:par>
                        <p:par>
                          <p:cTn id="62" fill="hold">
                            <p:stCondLst>
                              <p:cond delay="700"/>
                            </p:stCondLst>
                            <p:childTnLst>
                              <p:par>
                                <p:cTn id="63" presetID="10" presetClass="entr" presetSubtype="0" fill="hold" nodeType="afterEffect">
                                  <p:stCondLst>
                                    <p:cond delay="0"/>
                                  </p:stCondLst>
                                  <p:childTnLst>
                                    <p:set>
                                      <p:cBhvr>
                                        <p:cTn id="64" dur="1" fill="hold">
                                          <p:stCondLst>
                                            <p:cond delay="0"/>
                                          </p:stCondLst>
                                        </p:cTn>
                                        <p:tgtEl>
                                          <p:spTgt spid="129"/>
                                        </p:tgtEl>
                                        <p:attrNameLst>
                                          <p:attrName>style.visibility</p:attrName>
                                        </p:attrNameLst>
                                      </p:cBhvr>
                                      <p:to>
                                        <p:strVal val="visible"/>
                                      </p:to>
                                    </p:set>
                                    <p:animEffect transition="in" filter="fade">
                                      <p:cBhvr>
                                        <p:cTn id="65" dur="150"/>
                                        <p:tgtEl>
                                          <p:spTgt spid="129"/>
                                        </p:tgtEl>
                                      </p:cBhvr>
                                    </p:animEffect>
                                  </p:childTnLst>
                                </p:cTn>
                              </p:par>
                            </p:childTnLst>
                          </p:cTn>
                        </p:par>
                        <p:par>
                          <p:cTn id="66" fill="hold">
                            <p:stCondLst>
                              <p:cond delay="850"/>
                            </p:stCondLst>
                            <p:childTnLst>
                              <p:par>
                                <p:cTn id="67" presetID="10" presetClass="entr" presetSubtype="0" fill="hold" nodeType="afterEffect">
                                  <p:stCondLst>
                                    <p:cond delay="0"/>
                                  </p:stCondLst>
                                  <p:childTnLst>
                                    <p:set>
                                      <p:cBhvr>
                                        <p:cTn id="68" dur="1" fill="hold">
                                          <p:stCondLst>
                                            <p:cond delay="0"/>
                                          </p:stCondLst>
                                        </p:cTn>
                                        <p:tgtEl>
                                          <p:spTgt spid="134"/>
                                        </p:tgtEl>
                                        <p:attrNameLst>
                                          <p:attrName>style.visibility</p:attrName>
                                        </p:attrNameLst>
                                      </p:cBhvr>
                                      <p:to>
                                        <p:strVal val="visible"/>
                                      </p:to>
                                    </p:set>
                                    <p:animEffect transition="in" filter="fade">
                                      <p:cBhvr>
                                        <p:cTn id="69" dur="150"/>
                                        <p:tgtEl>
                                          <p:spTgt spid="134"/>
                                        </p:tgtEl>
                                      </p:cBhvr>
                                    </p:animEffect>
                                  </p:childTnLst>
                                </p:cTn>
                              </p:par>
                            </p:childTnLst>
                          </p:cTn>
                        </p:par>
                        <p:par>
                          <p:cTn id="70" fill="hold">
                            <p:stCondLst>
                              <p:cond delay="1000"/>
                            </p:stCondLst>
                            <p:childTnLst>
                              <p:par>
                                <p:cTn id="71" presetID="10" presetClass="entr" presetSubtype="0" fill="hold" nodeType="afterEffect">
                                  <p:stCondLst>
                                    <p:cond delay="0"/>
                                  </p:stCondLst>
                                  <p:childTnLst>
                                    <p:set>
                                      <p:cBhvr>
                                        <p:cTn id="72" dur="1" fill="hold">
                                          <p:stCondLst>
                                            <p:cond delay="0"/>
                                          </p:stCondLst>
                                        </p:cTn>
                                        <p:tgtEl>
                                          <p:spTgt spid="139"/>
                                        </p:tgtEl>
                                        <p:attrNameLst>
                                          <p:attrName>style.visibility</p:attrName>
                                        </p:attrNameLst>
                                      </p:cBhvr>
                                      <p:to>
                                        <p:strVal val="visible"/>
                                      </p:to>
                                    </p:set>
                                    <p:animEffect transition="in" filter="fade">
                                      <p:cBhvr>
                                        <p:cTn id="73" dur="150"/>
                                        <p:tgtEl>
                                          <p:spTgt spid="139"/>
                                        </p:tgtEl>
                                      </p:cBhvr>
                                    </p:animEffect>
                                  </p:childTnLst>
                                </p:cTn>
                              </p:par>
                            </p:childTnLst>
                          </p:cTn>
                        </p:par>
                        <p:par>
                          <p:cTn id="74" fill="hold">
                            <p:stCondLst>
                              <p:cond delay="1150"/>
                            </p:stCondLst>
                            <p:childTnLst>
                              <p:par>
                                <p:cTn id="75" presetID="10" presetClass="entr" presetSubtype="0" fill="hold" nodeType="afterEffect">
                                  <p:stCondLst>
                                    <p:cond delay="0"/>
                                  </p:stCondLst>
                                  <p:childTnLst>
                                    <p:set>
                                      <p:cBhvr>
                                        <p:cTn id="76" dur="1" fill="hold">
                                          <p:stCondLst>
                                            <p:cond delay="0"/>
                                          </p:stCondLst>
                                        </p:cTn>
                                        <p:tgtEl>
                                          <p:spTgt spid="144"/>
                                        </p:tgtEl>
                                        <p:attrNameLst>
                                          <p:attrName>style.visibility</p:attrName>
                                        </p:attrNameLst>
                                      </p:cBhvr>
                                      <p:to>
                                        <p:strVal val="visible"/>
                                      </p:to>
                                    </p:set>
                                    <p:animEffect transition="in" filter="fade">
                                      <p:cBhvr>
                                        <p:cTn id="77" dur="150"/>
                                        <p:tgtEl>
                                          <p:spTgt spid="144"/>
                                        </p:tgtEl>
                                      </p:cBhvr>
                                    </p:animEffect>
                                  </p:childTnLst>
                                </p:cTn>
                              </p:par>
                            </p:childTnLst>
                          </p:cTn>
                        </p:par>
                        <p:par>
                          <p:cTn id="78" fill="hold">
                            <p:stCondLst>
                              <p:cond delay="1300"/>
                            </p:stCondLst>
                            <p:childTnLst>
                              <p:par>
                                <p:cTn id="79" presetID="10" presetClass="entr" presetSubtype="0" fill="hold" nodeType="afterEffect">
                                  <p:stCondLst>
                                    <p:cond delay="0"/>
                                  </p:stCondLst>
                                  <p:childTnLst>
                                    <p:set>
                                      <p:cBhvr>
                                        <p:cTn id="80" dur="1" fill="hold">
                                          <p:stCondLst>
                                            <p:cond delay="0"/>
                                          </p:stCondLst>
                                        </p:cTn>
                                        <p:tgtEl>
                                          <p:spTgt spid="149"/>
                                        </p:tgtEl>
                                        <p:attrNameLst>
                                          <p:attrName>style.visibility</p:attrName>
                                        </p:attrNameLst>
                                      </p:cBhvr>
                                      <p:to>
                                        <p:strVal val="visible"/>
                                      </p:to>
                                    </p:set>
                                    <p:animEffect transition="in" filter="fade">
                                      <p:cBhvr>
                                        <p:cTn id="81" dur="15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3" grpId="0" animBg="1"/>
      <p:bldP spid="105" grpId="0" animBg="1"/>
      <p:bldP spid="107" grpId="0" animBg="1"/>
      <p:bldP spid="109" grpId="0" animBg="1"/>
      <p:bldP spid="11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SERVICE · 1</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EmployeeService: Create, Read and Save the File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FINAL PROJECT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35</a:t>
            </a:r>
            <a:endParaRPr lang="en-US" sz="850" dirty="0"/>
          </a:p>
        </p:txBody>
      </p:sp>
      <p:grpSp>
        <p:nvGrpSpPr>
          <p:cNvPr id="135" name="code"/>
          <p:cNvGrpSpPr/>
          <p:nvPr/>
        </p:nvGrpSpPr>
        <p:grpSpPr>
          <a:xfrm>
            <a:off x="543154" y="1417320"/>
            <a:ext cx="11087100" cy="4435900"/>
            <a:chOff x="543154" y="1417320"/>
            <a:chExt cx="11087100" cy="4435900"/>
          </a:xfrm>
        </p:grpSpPr>
        <p:sp>
          <p:nvSpPr>
            <p:cNvPr id="101" name="code_win"/>
            <p:cNvSpPr/>
            <p:nvPr/>
          </p:nvSpPr>
          <p:spPr>
            <a:xfrm>
              <a:off x="543154" y="1417320"/>
              <a:ext cx="11087100" cy="4435900"/>
            </a:xfrm>
            <a:prstGeom prst="roundRect">
              <a:avLst>
                <a:gd name="adj" fmla="val 1545"/>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17320"/>
              <a:ext cx="110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588770"/>
              <a:ext cx="110871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54113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54113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54113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464869"/>
              <a:ext cx="2169315"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Services/EmployeeService.cs</a:t>
              </a:r>
              <a:endParaRPr lang="en-US" sz="950" dirty="0"/>
            </a:p>
          </p:txBody>
        </p:sp>
        <p:sp>
          <p:nvSpPr>
            <p:cNvPr id="108" name="code_L00"/>
            <p:cNvSpPr txBox="1"/>
            <p:nvPr/>
          </p:nvSpPr>
          <p:spPr>
            <a:xfrm>
              <a:off x="771754" y="1893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static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JsonSerializerOptions Options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endParaRPr lang="en-US" sz="760" dirty="0"/>
            </a:p>
          </p:txBody>
        </p:sp>
        <p:sp>
          <p:nvSpPr>
            <p:cNvPr id="109" name="code_L01"/>
            <p:cNvSpPr txBox="1"/>
            <p:nvPr/>
          </p:nvSpPr>
          <p:spPr>
            <a:xfrm>
              <a:off x="771754" y="2021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 WriteIndented = </a:t>
              </a:r>
              <a:r>
                <a:rPr lang="en-US" sz="760" b="0" dirty="0">
                  <a:solidFill>
                    <a:srgbClr val="60A5FA"/>
                  </a:solidFill>
                  <a:latin typeface="Consolas"/>
                  <a:ea typeface="Consolas"/>
                  <a:cs typeface="Consolas"/>
                </a:rPr>
                <a:t>true</a:t>
              </a:r>
              <a:r>
                <a:rPr lang="en-US" sz="760" b="0" dirty="0">
                  <a:solidFill>
                    <a:srgbClr val="E2E8F0"/>
                  </a:solidFill>
                  <a:latin typeface="Consolas"/>
                  <a:ea typeface="Consolas"/>
                  <a:cs typeface="Consolas"/>
                </a:rPr>
                <a:t>, PropertyNameCaseInsensitive = </a:t>
              </a:r>
              <a:r>
                <a:rPr lang="en-US" sz="760" b="0" dirty="0">
                  <a:solidFill>
                    <a:srgbClr val="60A5FA"/>
                  </a:solidFill>
                  <a:latin typeface="Consolas"/>
                  <a:ea typeface="Consolas"/>
                  <a:cs typeface="Consolas"/>
                </a:rPr>
                <a:t>true</a:t>
              </a:r>
              <a:r>
                <a:rPr lang="en-US" sz="760" b="0" dirty="0">
                  <a:solidFill>
                    <a:srgbClr val="E2E8F0"/>
                  </a:solidFill>
                  <a:latin typeface="Consolas"/>
                  <a:ea typeface="Consolas"/>
                  <a:cs typeface="Consolas"/>
                </a:rPr>
                <a:t> };</a:t>
              </a:r>
              <a:endParaRPr lang="en-US" sz="760" dirty="0"/>
            </a:p>
          </p:txBody>
        </p:sp>
        <p:sp>
          <p:nvSpPr>
            <p:cNvPr id="110" name="code_L02"/>
            <p:cNvSpPr txBox="1"/>
            <p:nvPr/>
          </p:nvSpPr>
          <p:spPr>
            <a:xfrm>
              <a:off x="771754" y="2149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_filePath;</a:t>
              </a:r>
              <a:endParaRPr lang="en-US" sz="760" dirty="0"/>
            </a:p>
          </p:txBody>
        </p:sp>
        <p:sp>
          <p:nvSpPr>
            <p:cNvPr id="111" name="code_L04"/>
            <p:cNvSpPr txBox="1"/>
            <p:nvPr/>
          </p:nvSpPr>
          <p:spPr>
            <a:xfrm>
              <a:off x="771754" y="2405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EmployeeService(</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filePath)</a:t>
              </a:r>
              <a:endParaRPr lang="en-US" sz="760" dirty="0"/>
            </a:p>
          </p:txBody>
        </p:sp>
        <p:sp>
          <p:nvSpPr>
            <p:cNvPr id="112" name="code_L05"/>
            <p:cNvSpPr txBox="1"/>
            <p:nvPr/>
          </p:nvSpPr>
          <p:spPr>
            <a:xfrm>
              <a:off x="771754" y="2533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3" name="code_L06"/>
            <p:cNvSpPr txBox="1"/>
            <p:nvPr/>
          </p:nvSpPr>
          <p:spPr>
            <a:xfrm>
              <a:off x="771754" y="2661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_filePath = filePath;</a:t>
              </a:r>
              <a:endParaRPr lang="en-US" sz="760" dirty="0"/>
            </a:p>
          </p:txBody>
        </p:sp>
        <p:sp>
          <p:nvSpPr>
            <p:cNvPr id="114" name="code_L07"/>
            <p:cNvSpPr txBox="1"/>
            <p:nvPr/>
          </p:nvSpPr>
          <p:spPr>
            <a:xfrm>
              <a:off x="771754" y="2789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Directory.CreateDirectory(Path.GetDirectoryName(_filePath)!);   </a:t>
              </a:r>
              <a:r>
                <a:rPr lang="en-US" sz="760" b="0" dirty="0">
                  <a:solidFill>
                    <a:srgbClr val="6FAE7A"/>
                  </a:solidFill>
                  <a:latin typeface="Consolas"/>
                  <a:ea typeface="Consolas"/>
                  <a:cs typeface="Consolas"/>
                </a:rPr>
                <a:t>// 1. Data folder</a:t>
              </a:r>
              <a:endParaRPr lang="en-US" sz="760" dirty="0"/>
            </a:p>
          </p:txBody>
        </p:sp>
        <p:sp>
          <p:nvSpPr>
            <p:cNvPr id="115" name="code_L08"/>
            <p:cNvSpPr txBox="1"/>
            <p:nvPr/>
          </p:nvSpPr>
          <p:spPr>
            <a:xfrm>
              <a:off x="771754" y="2917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if</a:t>
              </a:r>
              <a:r>
                <a:rPr lang="en-US" sz="760" b="0" dirty="0">
                  <a:solidFill>
                    <a:srgbClr val="E2E8F0"/>
                  </a:solidFill>
                  <a:latin typeface="Consolas"/>
                  <a:ea typeface="Consolas"/>
                  <a:cs typeface="Consolas"/>
                </a:rPr>
                <a:t> (!File.Exists(_filePath)) Save(</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List&lt;Employee&gt;());         </a:t>
              </a:r>
              <a:r>
                <a:rPr lang="en-US" sz="760" b="0" dirty="0">
                  <a:solidFill>
                    <a:srgbClr val="6FAE7A"/>
                  </a:solidFill>
                  <a:latin typeface="Consolas"/>
                  <a:ea typeface="Consolas"/>
                  <a:cs typeface="Consolas"/>
                </a:rPr>
                <a:t>// 2. start with []</a:t>
              </a:r>
              <a:endParaRPr lang="en-US" sz="760" dirty="0"/>
            </a:p>
          </p:txBody>
        </p:sp>
        <p:sp>
          <p:nvSpPr>
            <p:cNvPr id="116" name="code_L09"/>
            <p:cNvSpPr txBox="1"/>
            <p:nvPr/>
          </p:nvSpPr>
          <p:spPr>
            <a:xfrm>
              <a:off x="771754" y="3045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7" name="code_L11"/>
            <p:cNvSpPr txBox="1"/>
            <p:nvPr/>
          </p:nvSpPr>
          <p:spPr>
            <a:xfrm>
              <a:off x="771754" y="3301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List&lt;Employee&gt; GetAll()</a:t>
              </a:r>
              <a:endParaRPr lang="en-US" sz="760" dirty="0"/>
            </a:p>
          </p:txBody>
        </p:sp>
        <p:sp>
          <p:nvSpPr>
            <p:cNvPr id="118" name="code_L12"/>
            <p:cNvSpPr txBox="1"/>
            <p:nvPr/>
          </p:nvSpPr>
          <p:spPr>
            <a:xfrm>
              <a:off x="771754" y="3429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9" name="code_L13"/>
            <p:cNvSpPr txBox="1"/>
            <p:nvPr/>
          </p:nvSpPr>
          <p:spPr>
            <a:xfrm>
              <a:off x="771754" y="3557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try</a:t>
              </a:r>
              <a:endParaRPr lang="en-US" sz="760" dirty="0"/>
            </a:p>
          </p:txBody>
        </p:sp>
        <p:sp>
          <p:nvSpPr>
            <p:cNvPr id="120" name="code_L14"/>
            <p:cNvSpPr txBox="1"/>
            <p:nvPr/>
          </p:nvSpPr>
          <p:spPr>
            <a:xfrm>
              <a:off x="771754" y="3685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1" name="code_L15"/>
            <p:cNvSpPr txBox="1"/>
            <p:nvPr/>
          </p:nvSpPr>
          <p:spPr>
            <a:xfrm>
              <a:off x="771754" y="3813220"/>
              <a:ext cx="10787100" cy="12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json = File.ReadAllText(_filePath);</a:t>
              </a:r>
              <a:endParaRPr lang="en-US" sz="760" dirty="0"/>
            </a:p>
          </p:txBody>
        </p:sp>
        <p:sp>
          <p:nvSpPr>
            <p:cNvPr id="122" name="code_L16"/>
            <p:cNvSpPr txBox="1"/>
            <p:nvPr/>
          </p:nvSpPr>
          <p:spPr>
            <a:xfrm>
              <a:off x="771754" y="3941220"/>
              <a:ext cx="10787100" cy="12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if</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.IsNullOrWhiteSpace(json)) </a:t>
              </a: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List&lt;Employee&gt;();</a:t>
              </a:r>
              <a:endParaRPr lang="en-US" sz="760" dirty="0"/>
            </a:p>
          </p:txBody>
        </p:sp>
        <p:sp>
          <p:nvSpPr>
            <p:cNvPr id="123" name="code_L17"/>
            <p:cNvSpPr txBox="1"/>
            <p:nvPr/>
          </p:nvSpPr>
          <p:spPr>
            <a:xfrm>
              <a:off x="771754" y="4069220"/>
              <a:ext cx="10787100" cy="12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JsonSerializer.Deserialize&lt;List&lt;Employee&gt;&gt;(json, Options)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List&lt;Employee&gt;();</a:t>
              </a:r>
              <a:endParaRPr lang="en-US" sz="760" dirty="0"/>
            </a:p>
          </p:txBody>
        </p:sp>
        <p:sp>
          <p:nvSpPr>
            <p:cNvPr id="124" name="code_L18"/>
            <p:cNvSpPr txBox="1"/>
            <p:nvPr/>
          </p:nvSpPr>
          <p:spPr>
            <a:xfrm>
              <a:off x="771754" y="4197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5" name="code_L19"/>
            <p:cNvSpPr txBox="1"/>
            <p:nvPr/>
          </p:nvSpPr>
          <p:spPr>
            <a:xfrm>
              <a:off x="771754" y="4325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catch</a:t>
              </a:r>
              <a:r>
                <a:rPr lang="en-US" sz="760" b="0" dirty="0">
                  <a:solidFill>
                    <a:srgbClr val="E2E8F0"/>
                  </a:solidFill>
                  <a:latin typeface="Consolas"/>
                  <a:ea typeface="Consolas"/>
                  <a:cs typeface="Consolas"/>
                </a:rPr>
                <a:t> (FileNotFoundException) { </a:t>
              </a: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List&lt;Employee&gt;(); }</a:t>
              </a:r>
              <a:endParaRPr lang="en-US" sz="760" dirty="0"/>
            </a:p>
          </p:txBody>
        </p:sp>
        <p:sp>
          <p:nvSpPr>
            <p:cNvPr id="126" name="code_L20"/>
            <p:cNvSpPr txBox="1"/>
            <p:nvPr/>
          </p:nvSpPr>
          <p:spPr>
            <a:xfrm>
              <a:off x="771754" y="4453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catch</a:t>
              </a:r>
              <a:r>
                <a:rPr lang="en-US" sz="760" b="0" dirty="0">
                  <a:solidFill>
                    <a:srgbClr val="E2E8F0"/>
                  </a:solidFill>
                  <a:latin typeface="Consolas"/>
                  <a:ea typeface="Consolas"/>
                  <a:cs typeface="Consolas"/>
                </a:rPr>
                <a:t> (JsonException ex)</a:t>
              </a:r>
              <a:endParaRPr lang="en-US" sz="760" dirty="0"/>
            </a:p>
          </p:txBody>
        </p:sp>
        <p:sp>
          <p:nvSpPr>
            <p:cNvPr id="127" name="code_L21"/>
            <p:cNvSpPr txBox="1"/>
            <p:nvPr/>
          </p:nvSpPr>
          <p:spPr>
            <a:xfrm>
              <a:off x="771754" y="4581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throw</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InvalidOperationException(</a:t>
              </a:r>
              <a:r>
                <a:rPr lang="en-US" sz="760" b="0" dirty="0">
                  <a:solidFill>
                    <a:srgbClr val="F0A98B"/>
                  </a:solidFill>
                  <a:latin typeface="Consolas"/>
                  <a:ea typeface="Consolas"/>
                  <a:cs typeface="Consolas"/>
                </a:rPr>
                <a:t>$"employees.json is not valid JSON: {ex.Message}"</a:t>
              </a:r>
              <a:r>
                <a:rPr lang="en-US" sz="760" b="0" dirty="0">
                  <a:solidFill>
                    <a:srgbClr val="E2E8F0"/>
                  </a:solidFill>
                  <a:latin typeface="Consolas"/>
                  <a:ea typeface="Consolas"/>
                  <a:cs typeface="Consolas"/>
                </a:rPr>
                <a:t>, ex); }</a:t>
              </a:r>
              <a:endParaRPr lang="en-US" sz="760" dirty="0"/>
            </a:p>
          </p:txBody>
        </p:sp>
        <p:sp>
          <p:nvSpPr>
            <p:cNvPr id="128" name="code_L22"/>
            <p:cNvSpPr txBox="1"/>
            <p:nvPr/>
          </p:nvSpPr>
          <p:spPr>
            <a:xfrm>
              <a:off x="771754" y="4709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9" name="code_L24"/>
            <p:cNvSpPr txBox="1"/>
            <p:nvPr/>
          </p:nvSpPr>
          <p:spPr>
            <a:xfrm>
              <a:off x="771754" y="4965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Save(List&lt;Employee&gt; employees)</a:t>
              </a:r>
              <a:endParaRPr lang="en-US" sz="760" dirty="0"/>
            </a:p>
          </p:txBody>
        </p:sp>
        <p:sp>
          <p:nvSpPr>
            <p:cNvPr id="130" name="code_L25"/>
            <p:cNvSpPr txBox="1"/>
            <p:nvPr/>
          </p:nvSpPr>
          <p:spPr>
            <a:xfrm>
              <a:off x="771754" y="5093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31" name="code_L26"/>
            <p:cNvSpPr txBox="1"/>
            <p:nvPr/>
          </p:nvSpPr>
          <p:spPr>
            <a:xfrm>
              <a:off x="771754" y="5221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temp = _filePath + </a:t>
              </a:r>
              <a:r>
                <a:rPr lang="en-US" sz="760" b="0" dirty="0">
                  <a:solidFill>
                    <a:srgbClr val="F0A98B"/>
                  </a:solidFill>
                  <a:latin typeface="Consolas"/>
                  <a:ea typeface="Consolas"/>
                  <a:cs typeface="Consolas"/>
                </a:rPr>
                <a:t>".tmp"</a:t>
              </a:r>
              <a:r>
                <a:rPr lang="en-US" sz="760" b="0" dirty="0">
                  <a:solidFill>
                    <a:srgbClr val="E2E8F0"/>
                  </a:solidFill>
                  <a:latin typeface="Consolas"/>
                  <a:ea typeface="Consolas"/>
                  <a:cs typeface="Consolas"/>
                </a:rPr>
                <a:t>;</a:t>
              </a:r>
              <a:endParaRPr lang="en-US" sz="760" dirty="0"/>
            </a:p>
          </p:txBody>
        </p:sp>
        <p:sp>
          <p:nvSpPr>
            <p:cNvPr id="132" name="code_L27"/>
            <p:cNvSpPr txBox="1"/>
            <p:nvPr/>
          </p:nvSpPr>
          <p:spPr>
            <a:xfrm>
              <a:off x="771754" y="5349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File.WriteAllText(temp, JsonSerializer.Serialize(employees, Options));   </a:t>
              </a:r>
              <a:r>
                <a:rPr lang="en-US" sz="760" b="0" dirty="0">
                  <a:solidFill>
                    <a:srgbClr val="6FAE7A"/>
                  </a:solidFill>
                  <a:latin typeface="Consolas"/>
                  <a:ea typeface="Consolas"/>
                  <a:cs typeface="Consolas"/>
                </a:rPr>
                <a:t>// new version first</a:t>
              </a:r>
              <a:endParaRPr lang="en-US" sz="760" dirty="0"/>
            </a:p>
          </p:txBody>
        </p:sp>
        <p:sp>
          <p:nvSpPr>
            <p:cNvPr id="133" name="code_L28"/>
            <p:cNvSpPr txBox="1"/>
            <p:nvPr/>
          </p:nvSpPr>
          <p:spPr>
            <a:xfrm>
              <a:off x="771754" y="5477220"/>
              <a:ext cx="10787100" cy="12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File.Move(temp, _filePath, overwrite: </a:t>
              </a:r>
              <a:r>
                <a:rPr lang="en-US" sz="760" b="0" dirty="0">
                  <a:solidFill>
                    <a:srgbClr val="60A5FA"/>
                  </a:solidFill>
                  <a:latin typeface="Consolas"/>
                  <a:ea typeface="Consolas"/>
                  <a:cs typeface="Consolas"/>
                </a:rPr>
                <a:t>true</a:t>
              </a: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then swap</a:t>
              </a:r>
              <a:endParaRPr lang="en-US" sz="760" dirty="0"/>
            </a:p>
          </p:txBody>
        </p:sp>
        <p:sp>
          <p:nvSpPr>
            <p:cNvPr id="134" name="code_L29"/>
            <p:cNvSpPr txBox="1"/>
            <p:nvPr/>
          </p:nvSpPr>
          <p:spPr>
            <a:xfrm>
              <a:off x="771754" y="5605220"/>
              <a:ext cx="10787100" cy="12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36" name="code_hl7"/>
          <p:cNvSpPr/>
          <p:nvPr/>
        </p:nvSpPr>
        <p:spPr>
          <a:xfrm>
            <a:off x="676656" y="2770932"/>
            <a:ext cx="10820100" cy="16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7" name="code_hl8"/>
          <p:cNvSpPr/>
          <p:nvPr/>
        </p:nvSpPr>
        <p:spPr>
          <a:xfrm>
            <a:off x="676656" y="2898932"/>
            <a:ext cx="10820100" cy="16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8" name="code_hl20"/>
          <p:cNvSpPr/>
          <p:nvPr/>
        </p:nvSpPr>
        <p:spPr>
          <a:xfrm>
            <a:off x="676656" y="4434932"/>
            <a:ext cx="10820100" cy="16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9" name="code_hl21"/>
          <p:cNvSpPr/>
          <p:nvPr/>
        </p:nvSpPr>
        <p:spPr>
          <a:xfrm>
            <a:off x="676656" y="4562932"/>
            <a:ext cx="10820100" cy="16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40" name="code_hl27"/>
          <p:cNvSpPr/>
          <p:nvPr/>
        </p:nvSpPr>
        <p:spPr>
          <a:xfrm>
            <a:off x="676656" y="5330932"/>
            <a:ext cx="10820100" cy="164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41" name="code_hl28"/>
          <p:cNvSpPr/>
          <p:nvPr/>
        </p:nvSpPr>
        <p:spPr>
          <a:xfrm>
            <a:off x="676656" y="5458932"/>
            <a:ext cx="10820100" cy="164576"/>
          </a:xfrm>
          <a:prstGeom prst="rect">
            <a:avLst/>
          </a:prstGeom>
          <a:solidFill>
            <a:srgbClr val="FBBF24">
              <a:alpha val="15000"/>
            </a:srgbClr>
          </a:solidFill>
          <a:ln w="12700">
            <a:solidFill>
              <a:srgbClr val="FBBF24"/>
            </a:solidFill>
            <a:prstDash val="solid"/>
          </a:ln>
        </p:spPr>
        <p:txBody>
          <a:bodyPr/>
          <a:lstStyle/>
          <a:p>
            <a:endParaRPr lang="en-US"/>
          </a:p>
        </p:txBody>
      </p:sp>
    </p:spTree>
    <p:extLst>
      <p:ext uri="{BB962C8B-B14F-4D97-AF65-F5344CB8AC3E}">
        <p14:creationId xmlns:p14="http://schemas.microsoft.com/office/powerpoint/2010/main" val="50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400"/>
                                        <p:tgtEl>
                                          <p:spTgt spid="1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6"/>
                                        </p:tgtEl>
                                        <p:attrNameLst>
                                          <p:attrName>style.visibility</p:attrName>
                                        </p:attrNameLst>
                                      </p:cBhvr>
                                      <p:to>
                                        <p:strVal val="visible"/>
                                      </p:to>
                                    </p:set>
                                    <p:animEffect transition="in" filter="fade">
                                      <p:cBhvr>
                                        <p:cTn id="10" dur="400"/>
                                        <p:tgtEl>
                                          <p:spTgt spid="1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7"/>
                                        </p:tgtEl>
                                        <p:attrNameLst>
                                          <p:attrName>style.visibility</p:attrName>
                                        </p:attrNameLst>
                                      </p:cBhvr>
                                      <p:to>
                                        <p:strVal val="visible"/>
                                      </p:to>
                                    </p:set>
                                    <p:animEffect transition="in" filter="fade">
                                      <p:cBhvr>
                                        <p:cTn id="13" dur="400"/>
                                        <p:tgtEl>
                                          <p:spTgt spid="1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8"/>
                                        </p:tgtEl>
                                        <p:attrNameLst>
                                          <p:attrName>style.visibility</p:attrName>
                                        </p:attrNameLst>
                                      </p:cBhvr>
                                      <p:to>
                                        <p:strVal val="visible"/>
                                      </p:to>
                                    </p:set>
                                    <p:animEffect transition="in" filter="fade">
                                      <p:cBhvr>
                                        <p:cTn id="16" dur="400"/>
                                        <p:tgtEl>
                                          <p:spTgt spid="13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9"/>
                                        </p:tgtEl>
                                        <p:attrNameLst>
                                          <p:attrName>style.visibility</p:attrName>
                                        </p:attrNameLst>
                                      </p:cBhvr>
                                      <p:to>
                                        <p:strVal val="visible"/>
                                      </p:to>
                                    </p:set>
                                    <p:animEffect transition="in" filter="fade">
                                      <p:cBhvr>
                                        <p:cTn id="19" dur="400"/>
                                        <p:tgtEl>
                                          <p:spTgt spid="13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0"/>
                                        </p:tgtEl>
                                        <p:attrNameLst>
                                          <p:attrName>style.visibility</p:attrName>
                                        </p:attrNameLst>
                                      </p:cBhvr>
                                      <p:to>
                                        <p:strVal val="visible"/>
                                      </p:to>
                                    </p:set>
                                    <p:animEffect transition="in" filter="fade">
                                      <p:cBhvr>
                                        <p:cTn id="22" dur="400"/>
                                        <p:tgtEl>
                                          <p:spTgt spid="14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1"/>
                                        </p:tgtEl>
                                        <p:attrNameLst>
                                          <p:attrName>style.visibility</p:attrName>
                                        </p:attrNameLst>
                                      </p:cBhvr>
                                      <p:to>
                                        <p:strVal val="visible"/>
                                      </p:to>
                                    </p:set>
                                    <p:animEffect transition="in" filter="fade">
                                      <p:cBhvr>
                                        <p:cTn id="25" dur="4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37" grpId="0" animBg="1"/>
      <p:bldP spid="138" grpId="0" animBg="1"/>
      <p:bldP spid="139" grpId="0" animBg="1"/>
      <p:bldP spid="140" grpId="0" animBg="1"/>
      <p:bldP spid="14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SERVICE · 2</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EmployeeService: Add, Find, Update, Delete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FINAL PROJECT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36</a:t>
            </a:r>
            <a:endParaRPr lang="en-US" sz="850" dirty="0"/>
          </a:p>
        </p:txBody>
      </p:sp>
      <p:grpSp>
        <p:nvGrpSpPr>
          <p:cNvPr id="123" name="l"/>
          <p:cNvGrpSpPr/>
          <p:nvPr/>
        </p:nvGrpSpPr>
        <p:grpSpPr>
          <a:xfrm>
            <a:off x="543154" y="1417320"/>
            <a:ext cx="5429250" cy="2975900"/>
            <a:chOff x="543154" y="1417320"/>
            <a:chExt cx="5429250" cy="2975900"/>
          </a:xfrm>
        </p:grpSpPr>
        <p:sp>
          <p:nvSpPr>
            <p:cNvPr id="101" name="l_win"/>
            <p:cNvSpPr/>
            <p:nvPr/>
          </p:nvSpPr>
          <p:spPr>
            <a:xfrm>
              <a:off x="543154" y="1417320"/>
              <a:ext cx="5429250" cy="2975900"/>
            </a:xfrm>
            <a:prstGeom prst="roundRect">
              <a:avLst>
                <a:gd name="adj" fmla="val 2303"/>
              </a:avLst>
            </a:prstGeom>
            <a:solidFill>
              <a:srgbClr val="060D18"/>
            </a:solidFill>
            <a:ln w="12700">
              <a:solidFill>
                <a:srgbClr val="1E3A5F"/>
              </a:solidFill>
              <a:prstDash val="solid"/>
            </a:ln>
          </p:spPr>
          <p:txBody>
            <a:bodyPr/>
            <a:lstStyle/>
            <a:p>
              <a:endParaRPr lang="en-US"/>
            </a:p>
          </p:txBody>
        </p:sp>
        <p:sp>
          <p:nvSpPr>
            <p:cNvPr id="102" name="l_bar"/>
            <p:cNvSpPr/>
            <p:nvPr/>
          </p:nvSpPr>
          <p:spPr>
            <a:xfrm>
              <a:off x="543154" y="1417320"/>
              <a:ext cx="54292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l_barfill"/>
            <p:cNvSpPr/>
            <p:nvPr/>
          </p:nvSpPr>
          <p:spPr>
            <a:xfrm>
              <a:off x="543154" y="1588770"/>
              <a:ext cx="5429250" cy="171450"/>
            </a:xfrm>
            <a:prstGeom prst="rect">
              <a:avLst/>
            </a:prstGeom>
            <a:solidFill>
              <a:srgbClr val="0A1220"/>
            </a:solidFill>
            <a:ln w="12700">
              <a:solidFill>
                <a:srgbClr val="0A1220"/>
              </a:solidFill>
              <a:prstDash val="solid"/>
            </a:ln>
          </p:spPr>
          <p:txBody>
            <a:bodyPr/>
            <a:lstStyle/>
            <a:p>
              <a:endParaRPr lang="en-US"/>
            </a:p>
          </p:txBody>
        </p:sp>
        <p:sp>
          <p:nvSpPr>
            <p:cNvPr id="104" name="l_dot0"/>
            <p:cNvSpPr/>
            <p:nvPr/>
          </p:nvSpPr>
          <p:spPr>
            <a:xfrm>
              <a:off x="705002" y="154113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l_dot1"/>
            <p:cNvSpPr/>
            <p:nvPr/>
          </p:nvSpPr>
          <p:spPr>
            <a:xfrm>
              <a:off x="890626" y="154113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l_dot2"/>
            <p:cNvSpPr/>
            <p:nvPr/>
          </p:nvSpPr>
          <p:spPr>
            <a:xfrm>
              <a:off x="1076250" y="154113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l_tab"/>
            <p:cNvSpPr/>
            <p:nvPr/>
          </p:nvSpPr>
          <p:spPr>
            <a:xfrm>
              <a:off x="1324051" y="1464869"/>
              <a:ext cx="257805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EmployeeService.cs · read and add</a:t>
              </a:r>
              <a:endParaRPr lang="en-US" sz="950" dirty="0"/>
            </a:p>
          </p:txBody>
        </p:sp>
        <p:sp>
          <p:nvSpPr>
            <p:cNvPr id="108" name="l_L00"/>
            <p:cNvSpPr txBox="1"/>
            <p:nvPr/>
          </p:nvSpPr>
          <p:spPr>
            <a:xfrm>
              <a:off x="771754" y="189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Employee? GetById(</a:t>
              </a:r>
              <a:r>
                <a:rPr lang="en-US" sz="800" b="0" dirty="0">
                  <a:solidFill>
                    <a:srgbClr val="60A5FA"/>
                  </a:solidFill>
                  <a:latin typeface="Consolas"/>
                  <a:ea typeface="Consolas"/>
                  <a:cs typeface="Consolas"/>
                </a:rPr>
                <a:t>int</a:t>
              </a:r>
              <a:r>
                <a:rPr lang="en-US" sz="800" b="0" dirty="0">
                  <a:solidFill>
                    <a:srgbClr val="E2E8F0"/>
                  </a:solidFill>
                  <a:latin typeface="Consolas"/>
                  <a:ea typeface="Consolas"/>
                  <a:cs typeface="Consolas"/>
                </a:rPr>
                <a:t> id) =&gt;</a:t>
              </a:r>
              <a:endParaRPr lang="en-US" sz="800" dirty="0"/>
            </a:p>
          </p:txBody>
        </p:sp>
        <p:sp>
          <p:nvSpPr>
            <p:cNvPr id="109" name="l_L01"/>
            <p:cNvSpPr txBox="1"/>
            <p:nvPr/>
          </p:nvSpPr>
          <p:spPr>
            <a:xfrm>
              <a:off x="771754" y="203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GetAll().FirstOrDefault(e =&gt; e.Id == id);</a:t>
              </a:r>
              <a:endParaRPr lang="en-US" sz="800" dirty="0"/>
            </a:p>
          </p:txBody>
        </p:sp>
        <p:sp>
          <p:nvSpPr>
            <p:cNvPr id="110" name="l_L03"/>
            <p:cNvSpPr txBox="1"/>
            <p:nvPr/>
          </p:nvSpPr>
          <p:spPr>
            <a:xfrm>
              <a:off x="771754" y="231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List&lt;Employee&gt; SearchByName(</a:t>
              </a:r>
              <a:r>
                <a:rPr lang="en-US" sz="800" b="0" dirty="0">
                  <a:solidFill>
                    <a:srgbClr val="60A5FA"/>
                  </a:solidFill>
                  <a:latin typeface="Consolas"/>
                  <a:ea typeface="Consolas"/>
                  <a:cs typeface="Consolas"/>
                </a:rPr>
                <a:t>string</a:t>
              </a:r>
              <a:r>
                <a:rPr lang="en-US" sz="800" b="0" dirty="0">
                  <a:solidFill>
                    <a:srgbClr val="E2E8F0"/>
                  </a:solidFill>
                  <a:latin typeface="Consolas"/>
                  <a:ea typeface="Consolas"/>
                  <a:cs typeface="Consolas"/>
                </a:rPr>
                <a:t> text) =&gt;</a:t>
              </a:r>
              <a:endParaRPr lang="en-US" sz="800" dirty="0"/>
            </a:p>
          </p:txBody>
        </p:sp>
        <p:sp>
          <p:nvSpPr>
            <p:cNvPr id="111" name="l_L04"/>
            <p:cNvSpPr txBox="1"/>
            <p:nvPr/>
          </p:nvSpPr>
          <p:spPr>
            <a:xfrm>
              <a:off x="771754" y="245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GetAll().Where(e =&gt; e.Name.Contains(text,</a:t>
              </a:r>
              <a:endParaRPr lang="en-US" sz="800" dirty="0"/>
            </a:p>
          </p:txBody>
        </p:sp>
        <p:sp>
          <p:nvSpPr>
            <p:cNvPr id="112" name="l_L05"/>
            <p:cNvSpPr txBox="1"/>
            <p:nvPr/>
          </p:nvSpPr>
          <p:spPr>
            <a:xfrm>
              <a:off x="771754" y="2593220"/>
              <a:ext cx="512925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00" b="0" dirty="0">
                  <a:solidFill>
                    <a:srgbClr val="E2E8F0"/>
                  </a:solidFill>
                  <a:latin typeface="Consolas"/>
                  <a:ea typeface="Consolas"/>
                  <a:cs typeface="Consolas"/>
                </a:rPr>
                <a:t>StringComparison.OrdinalIgnoreCase)).ToList();</a:t>
              </a:r>
              <a:endParaRPr lang="en-US" sz="800" dirty="0"/>
            </a:p>
          </p:txBody>
        </p:sp>
        <p:sp>
          <p:nvSpPr>
            <p:cNvPr id="113" name="l_L07"/>
            <p:cNvSpPr txBox="1"/>
            <p:nvPr/>
          </p:nvSpPr>
          <p:spPr>
            <a:xfrm>
              <a:off x="771754" y="287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void</a:t>
              </a:r>
              <a:r>
                <a:rPr lang="en-US" sz="800" b="0" dirty="0">
                  <a:solidFill>
                    <a:srgbClr val="E2E8F0"/>
                  </a:solidFill>
                  <a:latin typeface="Consolas"/>
                  <a:ea typeface="Consolas"/>
                  <a:cs typeface="Consolas"/>
                </a:rPr>
                <a:t> Add(Employee employee)</a:t>
              </a:r>
              <a:endParaRPr lang="en-US" sz="800" dirty="0"/>
            </a:p>
          </p:txBody>
        </p:sp>
        <p:sp>
          <p:nvSpPr>
            <p:cNvPr id="114" name="l_L08"/>
            <p:cNvSpPr txBox="1"/>
            <p:nvPr/>
          </p:nvSpPr>
          <p:spPr>
            <a:xfrm>
              <a:off x="771754" y="301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15" name="l_L09"/>
            <p:cNvSpPr txBox="1"/>
            <p:nvPr/>
          </p:nvSpPr>
          <p:spPr>
            <a:xfrm>
              <a:off x="771754" y="315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Validate(employee);</a:t>
              </a:r>
              <a:endParaRPr lang="en-US" sz="800" dirty="0"/>
            </a:p>
          </p:txBody>
        </p:sp>
        <p:sp>
          <p:nvSpPr>
            <p:cNvPr id="116" name="l_L10"/>
            <p:cNvSpPr txBox="1"/>
            <p:nvPr/>
          </p:nvSpPr>
          <p:spPr>
            <a:xfrm>
              <a:off x="771754" y="329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List&lt;Employee&gt; employees = GetAll();</a:t>
              </a:r>
              <a:endParaRPr lang="en-US" sz="800" dirty="0"/>
            </a:p>
          </p:txBody>
        </p:sp>
        <p:sp>
          <p:nvSpPr>
            <p:cNvPr id="117" name="l_L11"/>
            <p:cNvSpPr txBox="1"/>
            <p:nvPr/>
          </p:nvSpPr>
          <p:spPr>
            <a:xfrm>
              <a:off x="771754" y="343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if</a:t>
              </a:r>
              <a:r>
                <a:rPr lang="en-US" sz="800" b="0" dirty="0">
                  <a:solidFill>
                    <a:srgbClr val="E2E8F0"/>
                  </a:solidFill>
                  <a:latin typeface="Consolas"/>
                  <a:ea typeface="Consolas"/>
                  <a:cs typeface="Consolas"/>
                </a:rPr>
                <a:t> (employees.Any(e =&gt; e.Id == employee.Id))</a:t>
              </a:r>
              <a:endParaRPr lang="en-US" sz="800" dirty="0"/>
            </a:p>
          </p:txBody>
        </p:sp>
        <p:sp>
          <p:nvSpPr>
            <p:cNvPr id="118" name="l_L12"/>
            <p:cNvSpPr txBox="1"/>
            <p:nvPr/>
          </p:nvSpPr>
          <p:spPr>
            <a:xfrm>
              <a:off x="771754" y="3573220"/>
              <a:ext cx="512925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00" b="0" dirty="0">
                  <a:solidFill>
                    <a:srgbClr val="60A5FA"/>
                  </a:solidFill>
                  <a:latin typeface="Consolas"/>
                  <a:ea typeface="Consolas"/>
                  <a:cs typeface="Consolas"/>
                </a:rPr>
                <a:t>throw</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new</a:t>
              </a:r>
              <a:r>
                <a:rPr lang="en-US" sz="800" b="0" dirty="0">
                  <a:solidFill>
                    <a:srgbClr val="E2E8F0"/>
                  </a:solidFill>
                  <a:latin typeface="Consolas"/>
                  <a:ea typeface="Consolas"/>
                  <a:cs typeface="Consolas"/>
                </a:rPr>
                <a:t> InvalidOperationException(</a:t>
              </a:r>
              <a:endParaRPr lang="en-US" sz="800" dirty="0"/>
            </a:p>
          </p:txBody>
        </p:sp>
        <p:sp>
          <p:nvSpPr>
            <p:cNvPr id="119" name="l_L13"/>
            <p:cNvSpPr txBox="1"/>
            <p:nvPr/>
          </p:nvSpPr>
          <p:spPr>
            <a:xfrm>
              <a:off x="771754" y="3713220"/>
              <a:ext cx="5129250" cy="14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00" b="0" dirty="0">
                  <a:solidFill>
                    <a:srgbClr val="F0A98B"/>
                  </a:solidFill>
                  <a:latin typeface="Consolas"/>
                  <a:ea typeface="Consolas"/>
                  <a:cs typeface="Consolas"/>
                </a:rPr>
                <a:t>$"An employee with Id {employee.Id} already exists."</a:t>
              </a:r>
              <a:r>
                <a:rPr lang="en-US" sz="800" b="0" dirty="0">
                  <a:solidFill>
                    <a:srgbClr val="E2E8F0"/>
                  </a:solidFill>
                  <a:latin typeface="Consolas"/>
                  <a:ea typeface="Consolas"/>
                  <a:cs typeface="Consolas"/>
                </a:rPr>
                <a:t>);</a:t>
              </a:r>
              <a:endParaRPr lang="en-US" sz="800" dirty="0"/>
            </a:p>
          </p:txBody>
        </p:sp>
        <p:sp>
          <p:nvSpPr>
            <p:cNvPr id="120" name="l_L14"/>
            <p:cNvSpPr txBox="1"/>
            <p:nvPr/>
          </p:nvSpPr>
          <p:spPr>
            <a:xfrm>
              <a:off x="771754" y="385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employees.Add(employee);</a:t>
              </a:r>
              <a:endParaRPr lang="en-US" sz="800" dirty="0"/>
            </a:p>
          </p:txBody>
        </p:sp>
        <p:sp>
          <p:nvSpPr>
            <p:cNvPr id="121" name="l_L15"/>
            <p:cNvSpPr txBox="1"/>
            <p:nvPr/>
          </p:nvSpPr>
          <p:spPr>
            <a:xfrm>
              <a:off x="771754" y="399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Save(employees);</a:t>
              </a:r>
              <a:endParaRPr lang="en-US" sz="800" dirty="0"/>
            </a:p>
          </p:txBody>
        </p:sp>
        <p:sp>
          <p:nvSpPr>
            <p:cNvPr id="122" name="l_L16"/>
            <p:cNvSpPr txBox="1"/>
            <p:nvPr/>
          </p:nvSpPr>
          <p:spPr>
            <a:xfrm>
              <a:off x="771754" y="413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grpSp>
      <p:sp>
        <p:nvSpPr>
          <p:cNvPr id="124" name="l_hl11"/>
          <p:cNvSpPr/>
          <p:nvPr/>
        </p:nvSpPr>
        <p:spPr>
          <a:xfrm>
            <a:off x="676656" y="3414932"/>
            <a:ext cx="5162250"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5" name="l_hl12"/>
          <p:cNvSpPr/>
          <p:nvPr/>
        </p:nvSpPr>
        <p:spPr>
          <a:xfrm>
            <a:off x="676656" y="3554932"/>
            <a:ext cx="5162250"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6" name="l_hl13"/>
          <p:cNvSpPr/>
          <p:nvPr/>
        </p:nvSpPr>
        <p:spPr>
          <a:xfrm>
            <a:off x="676656" y="3694932"/>
            <a:ext cx="5162250"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7" name="l_hl15"/>
          <p:cNvSpPr/>
          <p:nvPr/>
        </p:nvSpPr>
        <p:spPr>
          <a:xfrm>
            <a:off x="676656" y="3974932"/>
            <a:ext cx="5162250" cy="17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52" name="r"/>
          <p:cNvGrpSpPr/>
          <p:nvPr/>
        </p:nvGrpSpPr>
        <p:grpSpPr>
          <a:xfrm>
            <a:off x="6201004" y="1417320"/>
            <a:ext cx="5429250" cy="3115900"/>
            <a:chOff x="6201004" y="1417320"/>
            <a:chExt cx="5429250" cy="3115900"/>
          </a:xfrm>
        </p:grpSpPr>
        <p:sp>
          <p:nvSpPr>
            <p:cNvPr id="128" name="r_win"/>
            <p:cNvSpPr/>
            <p:nvPr/>
          </p:nvSpPr>
          <p:spPr>
            <a:xfrm>
              <a:off x="6201004" y="1417320"/>
              <a:ext cx="5429250" cy="3115900"/>
            </a:xfrm>
            <a:prstGeom prst="roundRect">
              <a:avLst>
                <a:gd name="adj" fmla="val 2200"/>
              </a:avLst>
            </a:prstGeom>
            <a:solidFill>
              <a:srgbClr val="060D18"/>
            </a:solidFill>
            <a:ln w="12700">
              <a:solidFill>
                <a:srgbClr val="1E3A5F"/>
              </a:solidFill>
              <a:prstDash val="solid"/>
            </a:ln>
          </p:spPr>
          <p:txBody>
            <a:bodyPr/>
            <a:lstStyle/>
            <a:p>
              <a:endParaRPr lang="en-US"/>
            </a:p>
          </p:txBody>
        </p:sp>
        <p:sp>
          <p:nvSpPr>
            <p:cNvPr id="129" name="r_bar"/>
            <p:cNvSpPr/>
            <p:nvPr/>
          </p:nvSpPr>
          <p:spPr>
            <a:xfrm>
              <a:off x="6201004" y="1417320"/>
              <a:ext cx="542925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0" name="r_barfill"/>
            <p:cNvSpPr/>
            <p:nvPr/>
          </p:nvSpPr>
          <p:spPr>
            <a:xfrm>
              <a:off x="6201004" y="1588770"/>
              <a:ext cx="5429250" cy="171450"/>
            </a:xfrm>
            <a:prstGeom prst="rect">
              <a:avLst/>
            </a:prstGeom>
            <a:solidFill>
              <a:srgbClr val="0A1220"/>
            </a:solidFill>
            <a:ln w="12700">
              <a:solidFill>
                <a:srgbClr val="0A1220"/>
              </a:solidFill>
              <a:prstDash val="solid"/>
            </a:ln>
          </p:spPr>
          <p:txBody>
            <a:bodyPr/>
            <a:lstStyle/>
            <a:p>
              <a:endParaRPr lang="en-US"/>
            </a:p>
          </p:txBody>
        </p:sp>
        <p:sp>
          <p:nvSpPr>
            <p:cNvPr id="131" name="r_dot0"/>
            <p:cNvSpPr/>
            <p:nvPr/>
          </p:nvSpPr>
          <p:spPr>
            <a:xfrm>
              <a:off x="6362852" y="1541130"/>
              <a:ext cx="95098" cy="95098"/>
            </a:xfrm>
            <a:prstGeom prst="ellipse">
              <a:avLst/>
            </a:prstGeom>
            <a:solidFill>
              <a:srgbClr val="F87171"/>
            </a:solidFill>
            <a:ln w="12700">
              <a:solidFill>
                <a:srgbClr val="F87171"/>
              </a:solidFill>
              <a:prstDash val="solid"/>
            </a:ln>
          </p:spPr>
          <p:txBody>
            <a:bodyPr/>
            <a:lstStyle/>
            <a:p>
              <a:endParaRPr lang="en-US"/>
            </a:p>
          </p:txBody>
        </p:sp>
        <p:sp>
          <p:nvSpPr>
            <p:cNvPr id="132" name="r_dot1"/>
            <p:cNvSpPr/>
            <p:nvPr/>
          </p:nvSpPr>
          <p:spPr>
            <a:xfrm>
              <a:off x="6548476" y="1541130"/>
              <a:ext cx="95098" cy="95098"/>
            </a:xfrm>
            <a:prstGeom prst="ellipse">
              <a:avLst/>
            </a:prstGeom>
            <a:solidFill>
              <a:srgbClr val="FBBF24"/>
            </a:solidFill>
            <a:ln w="12700">
              <a:solidFill>
                <a:srgbClr val="FBBF24"/>
              </a:solidFill>
              <a:prstDash val="solid"/>
            </a:ln>
          </p:spPr>
          <p:txBody>
            <a:bodyPr/>
            <a:lstStyle/>
            <a:p>
              <a:endParaRPr lang="en-US"/>
            </a:p>
          </p:txBody>
        </p:sp>
        <p:sp>
          <p:nvSpPr>
            <p:cNvPr id="133" name="r_dot2"/>
            <p:cNvSpPr/>
            <p:nvPr/>
          </p:nvSpPr>
          <p:spPr>
            <a:xfrm>
              <a:off x="6734100" y="1541130"/>
              <a:ext cx="95098" cy="95098"/>
            </a:xfrm>
            <a:prstGeom prst="ellipse">
              <a:avLst/>
            </a:prstGeom>
            <a:solidFill>
              <a:srgbClr val="34D399"/>
            </a:solidFill>
            <a:ln w="12700">
              <a:solidFill>
                <a:srgbClr val="34D399"/>
              </a:solidFill>
              <a:prstDash val="solid"/>
            </a:ln>
          </p:spPr>
          <p:txBody>
            <a:bodyPr/>
            <a:lstStyle/>
            <a:p>
              <a:endParaRPr lang="en-US"/>
            </a:p>
          </p:txBody>
        </p:sp>
        <p:sp>
          <p:nvSpPr>
            <p:cNvPr id="134" name="r_tab"/>
            <p:cNvSpPr/>
            <p:nvPr/>
          </p:nvSpPr>
          <p:spPr>
            <a:xfrm>
              <a:off x="6981901" y="1464869"/>
              <a:ext cx="291866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EmployeeService.cs · update and delete</a:t>
              </a:r>
              <a:endParaRPr lang="en-US" sz="950" dirty="0"/>
            </a:p>
          </p:txBody>
        </p:sp>
        <p:sp>
          <p:nvSpPr>
            <p:cNvPr id="135" name="r_L00"/>
            <p:cNvSpPr txBox="1"/>
            <p:nvPr/>
          </p:nvSpPr>
          <p:spPr>
            <a:xfrm>
              <a:off x="6429604" y="189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bool</a:t>
              </a:r>
              <a:r>
                <a:rPr lang="en-US" sz="800" b="0" dirty="0">
                  <a:solidFill>
                    <a:srgbClr val="E2E8F0"/>
                  </a:solidFill>
                  <a:latin typeface="Consolas"/>
                  <a:ea typeface="Consolas"/>
                  <a:cs typeface="Consolas"/>
                </a:rPr>
                <a:t> Update(Employee employee)</a:t>
              </a:r>
              <a:endParaRPr lang="en-US" sz="800" dirty="0"/>
            </a:p>
          </p:txBody>
        </p:sp>
        <p:sp>
          <p:nvSpPr>
            <p:cNvPr id="136" name="r_L01"/>
            <p:cNvSpPr txBox="1"/>
            <p:nvPr/>
          </p:nvSpPr>
          <p:spPr>
            <a:xfrm>
              <a:off x="6429604" y="203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37" name="r_L02"/>
            <p:cNvSpPr txBox="1"/>
            <p:nvPr/>
          </p:nvSpPr>
          <p:spPr>
            <a:xfrm>
              <a:off x="6429604" y="217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Validate(employee);</a:t>
              </a:r>
              <a:endParaRPr lang="en-US" sz="800" dirty="0"/>
            </a:p>
          </p:txBody>
        </p:sp>
        <p:sp>
          <p:nvSpPr>
            <p:cNvPr id="138" name="r_L03"/>
            <p:cNvSpPr txBox="1"/>
            <p:nvPr/>
          </p:nvSpPr>
          <p:spPr>
            <a:xfrm>
              <a:off x="6429604" y="231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List&lt;Employee&gt; employees = GetAll();</a:t>
              </a:r>
              <a:endParaRPr lang="en-US" sz="800" dirty="0"/>
            </a:p>
          </p:txBody>
        </p:sp>
        <p:sp>
          <p:nvSpPr>
            <p:cNvPr id="139" name="r_L04"/>
            <p:cNvSpPr txBox="1"/>
            <p:nvPr/>
          </p:nvSpPr>
          <p:spPr>
            <a:xfrm>
              <a:off x="6429604" y="245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int</a:t>
              </a:r>
              <a:r>
                <a:rPr lang="en-US" sz="800" b="0" dirty="0">
                  <a:solidFill>
                    <a:srgbClr val="E2E8F0"/>
                  </a:solidFill>
                  <a:latin typeface="Consolas"/>
                  <a:ea typeface="Consolas"/>
                  <a:cs typeface="Consolas"/>
                </a:rPr>
                <a:t> index = employees.FindIndex(e =&gt; e.Id == employee.Id);</a:t>
              </a:r>
              <a:endParaRPr lang="en-US" sz="800" dirty="0"/>
            </a:p>
          </p:txBody>
        </p:sp>
        <p:sp>
          <p:nvSpPr>
            <p:cNvPr id="140" name="r_L05"/>
            <p:cNvSpPr txBox="1"/>
            <p:nvPr/>
          </p:nvSpPr>
          <p:spPr>
            <a:xfrm>
              <a:off x="6429604" y="259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if</a:t>
              </a:r>
              <a:r>
                <a:rPr lang="en-US" sz="800" b="0" dirty="0">
                  <a:solidFill>
                    <a:srgbClr val="E2E8F0"/>
                  </a:solidFill>
                  <a:latin typeface="Consolas"/>
                  <a:ea typeface="Consolas"/>
                  <a:cs typeface="Consolas"/>
                </a:rPr>
                <a:t> (index == -1) </a:t>
              </a:r>
              <a:r>
                <a:rPr lang="en-US" sz="800" b="0" dirty="0">
                  <a:solidFill>
                    <a:srgbClr val="60A5FA"/>
                  </a:solidFill>
                  <a:latin typeface="Consolas"/>
                  <a:ea typeface="Consolas"/>
                  <a:cs typeface="Consolas"/>
                </a:rPr>
                <a:t>return</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false</a:t>
              </a:r>
              <a:r>
                <a:rPr lang="en-US" sz="800" b="0" dirty="0">
                  <a:solidFill>
                    <a:srgbClr val="E2E8F0"/>
                  </a:solidFill>
                  <a:latin typeface="Consolas"/>
                  <a:ea typeface="Consolas"/>
                  <a:cs typeface="Consolas"/>
                </a:rPr>
                <a:t>;</a:t>
              </a:r>
              <a:endParaRPr lang="en-US" sz="800" dirty="0"/>
            </a:p>
          </p:txBody>
        </p:sp>
        <p:sp>
          <p:nvSpPr>
            <p:cNvPr id="141" name="r_L06"/>
            <p:cNvSpPr txBox="1"/>
            <p:nvPr/>
          </p:nvSpPr>
          <p:spPr>
            <a:xfrm>
              <a:off x="6429604" y="273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employees[index] = employee;</a:t>
              </a:r>
              <a:endParaRPr lang="en-US" sz="800" dirty="0"/>
            </a:p>
          </p:txBody>
        </p:sp>
        <p:sp>
          <p:nvSpPr>
            <p:cNvPr id="142" name="r_L07"/>
            <p:cNvSpPr txBox="1"/>
            <p:nvPr/>
          </p:nvSpPr>
          <p:spPr>
            <a:xfrm>
              <a:off x="6429604" y="287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Save(employees);</a:t>
              </a:r>
              <a:endParaRPr lang="en-US" sz="800" dirty="0"/>
            </a:p>
          </p:txBody>
        </p:sp>
        <p:sp>
          <p:nvSpPr>
            <p:cNvPr id="143" name="r_L08"/>
            <p:cNvSpPr txBox="1"/>
            <p:nvPr/>
          </p:nvSpPr>
          <p:spPr>
            <a:xfrm>
              <a:off x="6429604" y="301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return</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true</a:t>
              </a:r>
              <a:r>
                <a:rPr lang="en-US" sz="800" b="0" dirty="0">
                  <a:solidFill>
                    <a:srgbClr val="E2E8F0"/>
                  </a:solidFill>
                  <a:latin typeface="Consolas"/>
                  <a:ea typeface="Consolas"/>
                  <a:cs typeface="Consolas"/>
                </a:rPr>
                <a:t>;</a:t>
              </a:r>
              <a:endParaRPr lang="en-US" sz="800" dirty="0"/>
            </a:p>
          </p:txBody>
        </p:sp>
        <p:sp>
          <p:nvSpPr>
            <p:cNvPr id="144" name="r_L09"/>
            <p:cNvSpPr txBox="1"/>
            <p:nvPr/>
          </p:nvSpPr>
          <p:spPr>
            <a:xfrm>
              <a:off x="6429604" y="315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45" name="r_L11"/>
            <p:cNvSpPr txBox="1"/>
            <p:nvPr/>
          </p:nvSpPr>
          <p:spPr>
            <a:xfrm>
              <a:off x="6429604" y="343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bool</a:t>
              </a:r>
              <a:r>
                <a:rPr lang="en-US" sz="800" b="0" dirty="0">
                  <a:solidFill>
                    <a:srgbClr val="E2E8F0"/>
                  </a:solidFill>
                  <a:latin typeface="Consolas"/>
                  <a:ea typeface="Consolas"/>
                  <a:cs typeface="Consolas"/>
                </a:rPr>
                <a:t> Delete(</a:t>
              </a:r>
              <a:r>
                <a:rPr lang="en-US" sz="800" b="0" dirty="0">
                  <a:solidFill>
                    <a:srgbClr val="60A5FA"/>
                  </a:solidFill>
                  <a:latin typeface="Consolas"/>
                  <a:ea typeface="Consolas"/>
                  <a:cs typeface="Consolas"/>
                </a:rPr>
                <a:t>int</a:t>
              </a:r>
              <a:r>
                <a:rPr lang="en-US" sz="800" b="0" dirty="0">
                  <a:solidFill>
                    <a:srgbClr val="E2E8F0"/>
                  </a:solidFill>
                  <a:latin typeface="Consolas"/>
                  <a:ea typeface="Consolas"/>
                  <a:cs typeface="Consolas"/>
                </a:rPr>
                <a:t> id)</a:t>
              </a:r>
              <a:endParaRPr lang="en-US" sz="800" dirty="0"/>
            </a:p>
          </p:txBody>
        </p:sp>
        <p:sp>
          <p:nvSpPr>
            <p:cNvPr id="146" name="r_L12"/>
            <p:cNvSpPr txBox="1"/>
            <p:nvPr/>
          </p:nvSpPr>
          <p:spPr>
            <a:xfrm>
              <a:off x="6429604" y="357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47" name="r_L13"/>
            <p:cNvSpPr txBox="1"/>
            <p:nvPr/>
          </p:nvSpPr>
          <p:spPr>
            <a:xfrm>
              <a:off x="6429604" y="371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List&lt;Employee&gt; employees = GetAll();</a:t>
              </a:r>
              <a:endParaRPr lang="en-US" sz="800" dirty="0"/>
            </a:p>
          </p:txBody>
        </p:sp>
        <p:sp>
          <p:nvSpPr>
            <p:cNvPr id="148" name="r_L14"/>
            <p:cNvSpPr txBox="1"/>
            <p:nvPr/>
          </p:nvSpPr>
          <p:spPr>
            <a:xfrm>
              <a:off x="6429604" y="385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if</a:t>
              </a:r>
              <a:r>
                <a:rPr lang="en-US" sz="800" b="0" dirty="0">
                  <a:solidFill>
                    <a:srgbClr val="E2E8F0"/>
                  </a:solidFill>
                  <a:latin typeface="Consolas"/>
                  <a:ea typeface="Consolas"/>
                  <a:cs typeface="Consolas"/>
                </a:rPr>
                <a:t> (employees.RemoveAll(e =&gt; e.Id == id) == 0) </a:t>
              </a:r>
              <a:r>
                <a:rPr lang="en-US" sz="800" b="0" dirty="0">
                  <a:solidFill>
                    <a:srgbClr val="60A5FA"/>
                  </a:solidFill>
                  <a:latin typeface="Consolas"/>
                  <a:ea typeface="Consolas"/>
                  <a:cs typeface="Consolas"/>
                </a:rPr>
                <a:t>return</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false</a:t>
              </a:r>
              <a:r>
                <a:rPr lang="en-US" sz="800" b="0" dirty="0">
                  <a:solidFill>
                    <a:srgbClr val="E2E8F0"/>
                  </a:solidFill>
                  <a:latin typeface="Consolas"/>
                  <a:ea typeface="Consolas"/>
                  <a:cs typeface="Consolas"/>
                </a:rPr>
                <a:t>;</a:t>
              </a:r>
              <a:endParaRPr lang="en-US" sz="800" dirty="0"/>
            </a:p>
          </p:txBody>
        </p:sp>
        <p:sp>
          <p:nvSpPr>
            <p:cNvPr id="149" name="r_L15"/>
            <p:cNvSpPr txBox="1"/>
            <p:nvPr/>
          </p:nvSpPr>
          <p:spPr>
            <a:xfrm>
              <a:off x="6429604" y="399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Save(employees);</a:t>
              </a:r>
              <a:endParaRPr lang="en-US" sz="800" dirty="0"/>
            </a:p>
          </p:txBody>
        </p:sp>
        <p:sp>
          <p:nvSpPr>
            <p:cNvPr id="150" name="r_L16"/>
            <p:cNvSpPr txBox="1"/>
            <p:nvPr/>
          </p:nvSpPr>
          <p:spPr>
            <a:xfrm>
              <a:off x="6429604" y="4133220"/>
              <a:ext cx="512925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return</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true</a:t>
              </a:r>
              <a:r>
                <a:rPr lang="en-US" sz="800" b="0" dirty="0">
                  <a:solidFill>
                    <a:srgbClr val="E2E8F0"/>
                  </a:solidFill>
                  <a:latin typeface="Consolas"/>
                  <a:ea typeface="Consolas"/>
                  <a:cs typeface="Consolas"/>
                </a:rPr>
                <a:t>;</a:t>
              </a:r>
              <a:endParaRPr lang="en-US" sz="800" dirty="0"/>
            </a:p>
          </p:txBody>
        </p:sp>
        <p:sp>
          <p:nvSpPr>
            <p:cNvPr id="151" name="r_L17"/>
            <p:cNvSpPr txBox="1"/>
            <p:nvPr/>
          </p:nvSpPr>
          <p:spPr>
            <a:xfrm>
              <a:off x="6429604" y="4273220"/>
              <a:ext cx="512925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grpSp>
      <p:sp>
        <p:nvSpPr>
          <p:cNvPr id="153" name="r_hl7"/>
          <p:cNvSpPr/>
          <p:nvPr/>
        </p:nvSpPr>
        <p:spPr>
          <a:xfrm>
            <a:off x="6334506" y="2854932"/>
            <a:ext cx="5162250" cy="17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4" name="r_hl15"/>
          <p:cNvSpPr/>
          <p:nvPr/>
        </p:nvSpPr>
        <p:spPr>
          <a:xfrm>
            <a:off x="6334506" y="3974932"/>
            <a:ext cx="5162250" cy="176576"/>
          </a:xfrm>
          <a:prstGeom prst="rect">
            <a:avLst/>
          </a:prstGeom>
          <a:solidFill>
            <a:srgbClr val="FBBF24">
              <a:alpha val="15000"/>
            </a:srgbClr>
          </a:solidFill>
          <a:ln w="12700">
            <a:solidFill>
              <a:srgbClr val="FBBF24"/>
            </a:solidFill>
            <a:prstDash val="solid"/>
          </a:ln>
        </p:spPr>
        <p:txBody>
          <a:bodyPr/>
          <a:lstStyle/>
          <a:p>
            <a:endParaRPr lang="en-US"/>
          </a:p>
        </p:txBody>
      </p:sp>
    </p:spTree>
    <p:extLst>
      <p:ext uri="{BB962C8B-B14F-4D97-AF65-F5344CB8AC3E}">
        <p14:creationId xmlns:p14="http://schemas.microsoft.com/office/powerpoint/2010/main" val="50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400"/>
                                        <p:tgtEl>
                                          <p:spTgt spid="1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4"/>
                                        </p:tgtEl>
                                        <p:attrNameLst>
                                          <p:attrName>style.visibility</p:attrName>
                                        </p:attrNameLst>
                                      </p:cBhvr>
                                      <p:to>
                                        <p:strVal val="visible"/>
                                      </p:to>
                                    </p:set>
                                    <p:animEffect transition="in" filter="fade">
                                      <p:cBhvr>
                                        <p:cTn id="10" dur="400"/>
                                        <p:tgtEl>
                                          <p:spTgt spid="1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5"/>
                                        </p:tgtEl>
                                        <p:attrNameLst>
                                          <p:attrName>style.visibility</p:attrName>
                                        </p:attrNameLst>
                                      </p:cBhvr>
                                      <p:to>
                                        <p:strVal val="visible"/>
                                      </p:to>
                                    </p:set>
                                    <p:animEffect transition="in" filter="fade">
                                      <p:cBhvr>
                                        <p:cTn id="13" dur="400"/>
                                        <p:tgtEl>
                                          <p:spTgt spid="1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6"/>
                                        </p:tgtEl>
                                        <p:attrNameLst>
                                          <p:attrName>style.visibility</p:attrName>
                                        </p:attrNameLst>
                                      </p:cBhvr>
                                      <p:to>
                                        <p:strVal val="visible"/>
                                      </p:to>
                                    </p:set>
                                    <p:animEffect transition="in" filter="fade">
                                      <p:cBhvr>
                                        <p:cTn id="16" dur="400"/>
                                        <p:tgtEl>
                                          <p:spTgt spid="1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7"/>
                                        </p:tgtEl>
                                        <p:attrNameLst>
                                          <p:attrName>style.visibility</p:attrName>
                                        </p:attrNameLst>
                                      </p:cBhvr>
                                      <p:to>
                                        <p:strVal val="visible"/>
                                      </p:to>
                                    </p:set>
                                    <p:animEffect transition="in" filter="fade">
                                      <p:cBhvr>
                                        <p:cTn id="19" dur="400"/>
                                        <p:tgtEl>
                                          <p:spTgt spid="12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52"/>
                                        </p:tgtEl>
                                        <p:attrNameLst>
                                          <p:attrName>style.visibility</p:attrName>
                                        </p:attrNameLst>
                                      </p:cBhvr>
                                      <p:to>
                                        <p:strVal val="visible"/>
                                      </p:to>
                                    </p:set>
                                    <p:animEffect transition="in" filter="fade">
                                      <p:cBhvr>
                                        <p:cTn id="24" dur="400"/>
                                        <p:tgtEl>
                                          <p:spTgt spid="15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3"/>
                                        </p:tgtEl>
                                        <p:attrNameLst>
                                          <p:attrName>style.visibility</p:attrName>
                                        </p:attrNameLst>
                                      </p:cBhvr>
                                      <p:to>
                                        <p:strVal val="visible"/>
                                      </p:to>
                                    </p:set>
                                    <p:animEffect transition="in" filter="fade">
                                      <p:cBhvr>
                                        <p:cTn id="27" dur="400"/>
                                        <p:tgtEl>
                                          <p:spTgt spid="15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4"/>
                                        </p:tgtEl>
                                        <p:attrNameLst>
                                          <p:attrName>style.visibility</p:attrName>
                                        </p:attrNameLst>
                                      </p:cBhvr>
                                      <p:to>
                                        <p:strVal val="visible"/>
                                      </p:to>
                                    </p:set>
                                    <p:animEffect transition="in" filter="fade">
                                      <p:cBhvr>
                                        <p:cTn id="30" dur="4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5" grpId="0" animBg="1"/>
      <p:bldP spid="126" grpId="0" animBg="1"/>
      <p:bldP spid="127" grpId="0" animBg="1"/>
      <p:bldP spid="153" grpId="0" animBg="1"/>
      <p:bldP spid="15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04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PROGRAM</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Program.cs: The Menu Loop</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FINAL PROJECT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37</a:t>
            </a:r>
            <a:endParaRPr lang="en-US" sz="850" dirty="0"/>
          </a:p>
        </p:txBody>
      </p:sp>
      <p:grpSp>
        <p:nvGrpSpPr>
          <p:cNvPr id="134" name="code"/>
          <p:cNvGrpSpPr/>
          <p:nvPr/>
        </p:nvGrpSpPr>
        <p:grpSpPr>
          <a:xfrm>
            <a:off x="543154" y="1417320"/>
            <a:ext cx="11087100" cy="4291900"/>
            <a:chOff x="543154" y="1417320"/>
            <a:chExt cx="11087100" cy="4291900"/>
          </a:xfrm>
        </p:grpSpPr>
        <p:sp>
          <p:nvSpPr>
            <p:cNvPr id="101" name="code_win"/>
            <p:cNvSpPr/>
            <p:nvPr/>
          </p:nvSpPr>
          <p:spPr>
            <a:xfrm>
              <a:off x="543154" y="1417320"/>
              <a:ext cx="11087100" cy="4291900"/>
            </a:xfrm>
            <a:prstGeom prst="roundRect">
              <a:avLst>
                <a:gd name="adj" fmla="val 1597"/>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417320"/>
              <a:ext cx="11087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588770"/>
              <a:ext cx="110871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54113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54113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54113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464869"/>
              <a:ext cx="414487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Program.cs  (shortened: the full file is in the project)</a:t>
              </a:r>
              <a:endParaRPr lang="en-US" sz="950" dirty="0"/>
            </a:p>
          </p:txBody>
        </p:sp>
        <p:sp>
          <p:nvSpPr>
            <p:cNvPr id="108" name="code_L00"/>
            <p:cNvSpPr txBox="1"/>
            <p:nvPr/>
          </p:nvSpPr>
          <p:spPr>
            <a:xfrm>
              <a:off x="771754" y="1893220"/>
              <a:ext cx="10787100" cy="13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filePath = Path.Combine(AppContext.BaseDirectory, </a:t>
              </a:r>
              <a:r>
                <a:rPr lang="en-US" sz="780" b="0" dirty="0">
                  <a:solidFill>
                    <a:srgbClr val="F0A98B"/>
                  </a:solidFill>
                  <a:latin typeface="Consolas"/>
                  <a:ea typeface="Consolas"/>
                  <a:cs typeface="Consolas"/>
                </a:rPr>
                <a:t>"Data"</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"employees.json"</a:t>
              </a:r>
              <a:r>
                <a:rPr lang="en-US" sz="780" b="0" dirty="0">
                  <a:solidFill>
                    <a:srgbClr val="E2E8F0"/>
                  </a:solidFill>
                  <a:latin typeface="Consolas"/>
                  <a:ea typeface="Consolas"/>
                  <a:cs typeface="Consolas"/>
                </a:rPr>
                <a:t>);</a:t>
              </a:r>
              <a:endParaRPr lang="en-US" sz="780" dirty="0"/>
            </a:p>
          </p:txBody>
        </p:sp>
        <p:sp>
          <p:nvSpPr>
            <p:cNvPr id="109" name="code_L01"/>
            <p:cNvSpPr txBox="1"/>
            <p:nvPr/>
          </p:nvSpPr>
          <p:spPr>
            <a:xfrm>
              <a:off x="771754" y="2025220"/>
              <a:ext cx="10787100" cy="13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EmployeeService service = </a:t>
              </a:r>
              <a:r>
                <a:rPr lang="en-US" sz="780" b="0" dirty="0">
                  <a:solidFill>
                    <a:srgbClr val="60A5FA"/>
                  </a:solidFill>
                  <a:latin typeface="Consolas"/>
                  <a:ea typeface="Consolas"/>
                  <a:cs typeface="Consolas"/>
                </a:rPr>
                <a:t>new</a:t>
              </a:r>
              <a:r>
                <a:rPr lang="en-US" sz="780" b="0" dirty="0">
                  <a:solidFill>
                    <a:srgbClr val="E2E8F0"/>
                  </a:solidFill>
                  <a:latin typeface="Consolas"/>
                  <a:ea typeface="Consolas"/>
                  <a:cs typeface="Consolas"/>
                </a:rPr>
                <a:t>(filePath);</a:t>
              </a:r>
              <a:endParaRPr lang="en-US" sz="780" dirty="0"/>
            </a:p>
          </p:txBody>
        </p:sp>
        <p:sp>
          <p:nvSpPr>
            <p:cNvPr id="110" name="code_L03"/>
            <p:cNvSpPr txBox="1"/>
            <p:nvPr/>
          </p:nvSpPr>
          <p:spPr>
            <a:xfrm>
              <a:off x="771754" y="2289220"/>
              <a:ext cx="10787100" cy="13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while</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true</a:t>
              </a:r>
              <a:r>
                <a:rPr lang="en-US" sz="780" b="0" dirty="0">
                  <a:solidFill>
                    <a:srgbClr val="E2E8F0"/>
                  </a:solidFill>
                  <a:latin typeface="Consolas"/>
                  <a:ea typeface="Consolas"/>
                  <a:cs typeface="Consolas"/>
                </a:rPr>
                <a:t>)</a:t>
              </a:r>
              <a:endParaRPr lang="en-US" sz="780" dirty="0"/>
            </a:p>
          </p:txBody>
        </p:sp>
        <p:sp>
          <p:nvSpPr>
            <p:cNvPr id="111" name="code_L04"/>
            <p:cNvSpPr txBox="1"/>
            <p:nvPr/>
          </p:nvSpPr>
          <p:spPr>
            <a:xfrm>
              <a:off x="771754" y="2421220"/>
              <a:ext cx="10787100" cy="13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2" name="code_L05"/>
            <p:cNvSpPr txBox="1"/>
            <p:nvPr/>
          </p:nvSpPr>
          <p:spPr>
            <a:xfrm>
              <a:off x="771754" y="2553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PrintMenu();</a:t>
              </a:r>
              <a:endParaRPr lang="en-US" sz="780" dirty="0"/>
            </a:p>
          </p:txBody>
        </p:sp>
        <p:sp>
          <p:nvSpPr>
            <p:cNvPr id="113" name="code_L06"/>
            <p:cNvSpPr txBox="1"/>
            <p:nvPr/>
          </p:nvSpPr>
          <p:spPr>
            <a:xfrm>
              <a:off x="771754" y="2685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choice = Console.ReadLine();</a:t>
              </a:r>
              <a:endParaRPr lang="en-US" sz="780" dirty="0"/>
            </a:p>
          </p:txBody>
        </p:sp>
        <p:sp>
          <p:nvSpPr>
            <p:cNvPr id="114" name="code_L07"/>
            <p:cNvSpPr txBox="1"/>
            <p:nvPr/>
          </p:nvSpPr>
          <p:spPr>
            <a:xfrm>
              <a:off x="771754" y="2817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if</a:t>
              </a:r>
              <a:r>
                <a:rPr lang="en-US" sz="780" b="0" dirty="0">
                  <a:solidFill>
                    <a:srgbClr val="E2E8F0"/>
                  </a:solidFill>
                  <a:latin typeface="Consolas"/>
                  <a:ea typeface="Consolas"/>
                  <a:cs typeface="Consolas"/>
                </a:rPr>
                <a:t> (choice </a:t>
              </a:r>
              <a:r>
                <a:rPr lang="en-US" sz="780" b="0" dirty="0">
                  <a:solidFill>
                    <a:srgbClr val="60A5FA"/>
                  </a:solidFill>
                  <a:latin typeface="Consolas"/>
                  <a:ea typeface="Consolas"/>
                  <a:cs typeface="Consolas"/>
                </a:rPr>
                <a:t>is</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null</a:t>
              </a:r>
              <a:r>
                <a:rPr lang="en-US" sz="780" b="0" dirty="0">
                  <a:solidFill>
                    <a:srgbClr val="E2E8F0"/>
                  </a:solidFill>
                  <a:latin typeface="Consolas"/>
                  <a:ea typeface="Consolas"/>
                  <a:cs typeface="Consolas"/>
                </a:rPr>
                <a:t> || choice == </a:t>
              </a:r>
              <a:r>
                <a:rPr lang="en-US" sz="780" b="0" dirty="0">
                  <a:solidFill>
                    <a:srgbClr val="F0A98B"/>
                  </a:solidFill>
                  <a:latin typeface="Consolas"/>
                  <a:ea typeface="Consolas"/>
                  <a:cs typeface="Consolas"/>
                </a:rPr>
                <a:t>"0"</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15" name="code_L09"/>
            <p:cNvSpPr txBox="1"/>
            <p:nvPr/>
          </p:nvSpPr>
          <p:spPr>
            <a:xfrm>
              <a:off x="771754" y="3081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try</a:t>
              </a:r>
              <a:endParaRPr lang="en-US" sz="780" dirty="0"/>
            </a:p>
          </p:txBody>
        </p:sp>
        <p:sp>
          <p:nvSpPr>
            <p:cNvPr id="116" name="code_L10"/>
            <p:cNvSpPr txBox="1"/>
            <p:nvPr/>
          </p:nvSpPr>
          <p:spPr>
            <a:xfrm>
              <a:off x="771754" y="3213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7" name="code_L11"/>
            <p:cNvSpPr txBox="1"/>
            <p:nvPr/>
          </p:nvSpPr>
          <p:spPr>
            <a:xfrm>
              <a:off x="771754" y="3345220"/>
              <a:ext cx="10787100" cy="13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60A5FA"/>
                  </a:solidFill>
                  <a:latin typeface="Consolas"/>
                  <a:ea typeface="Consolas"/>
                  <a:cs typeface="Consolas"/>
                </a:rPr>
                <a:t>switch</a:t>
              </a:r>
              <a:r>
                <a:rPr lang="en-US" sz="780" b="0" dirty="0">
                  <a:solidFill>
                    <a:srgbClr val="E2E8F0"/>
                  </a:solidFill>
                  <a:latin typeface="Consolas"/>
                  <a:ea typeface="Consolas"/>
                  <a:cs typeface="Consolas"/>
                </a:rPr>
                <a:t> (choice)</a:t>
              </a:r>
              <a:endParaRPr lang="en-US" sz="780" dirty="0"/>
            </a:p>
          </p:txBody>
        </p:sp>
        <p:sp>
          <p:nvSpPr>
            <p:cNvPr id="118" name="code_L12"/>
            <p:cNvSpPr txBox="1"/>
            <p:nvPr/>
          </p:nvSpPr>
          <p:spPr>
            <a:xfrm>
              <a:off x="771754" y="3477220"/>
              <a:ext cx="10787100" cy="13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9" name="code_L13"/>
            <p:cNvSpPr txBox="1"/>
            <p:nvPr/>
          </p:nvSpPr>
          <p:spPr>
            <a:xfrm>
              <a:off x="771754" y="3609220"/>
              <a:ext cx="10787100" cy="13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60A5FA"/>
                  </a:solidFill>
                  <a:latin typeface="Consolas"/>
                  <a:ea typeface="Consolas"/>
                  <a:cs typeface="Consolas"/>
                </a:rPr>
                <a:t>case</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"1"</a:t>
              </a:r>
              <a:r>
                <a:rPr lang="en-US" sz="780" b="0" dirty="0">
                  <a:solidFill>
                    <a:srgbClr val="E2E8F0"/>
                  </a:solidFill>
                  <a:latin typeface="Consolas"/>
                  <a:ea typeface="Consolas"/>
                  <a:cs typeface="Consolas"/>
                </a:rPr>
                <a:t>: service.Add(ReadEmployee()); Console.WriteLine(</a:t>
              </a:r>
              <a:r>
                <a:rPr lang="en-US" sz="780" b="0" dirty="0">
                  <a:solidFill>
                    <a:srgbClr val="F0A98B"/>
                  </a:solidFill>
                  <a:latin typeface="Consolas"/>
                  <a:ea typeface="Consolas"/>
                  <a:cs typeface="Consolas"/>
                </a:rPr>
                <a:t>"Employee added."</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20" name="code_L14"/>
            <p:cNvSpPr txBox="1"/>
            <p:nvPr/>
          </p:nvSpPr>
          <p:spPr>
            <a:xfrm>
              <a:off x="771754" y="3741220"/>
              <a:ext cx="10787100" cy="13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60A5FA"/>
                  </a:solidFill>
                  <a:latin typeface="Consolas"/>
                  <a:ea typeface="Consolas"/>
                  <a:cs typeface="Consolas"/>
                </a:rPr>
                <a:t>case</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"2"</a:t>
              </a:r>
              <a:r>
                <a:rPr lang="en-US" sz="780" b="0" dirty="0">
                  <a:solidFill>
                    <a:srgbClr val="E2E8F0"/>
                  </a:solidFill>
                  <a:latin typeface="Consolas"/>
                  <a:ea typeface="Consolas"/>
                  <a:cs typeface="Consolas"/>
                </a:rPr>
                <a:t>: Console.WriteLine(service.GetById(ReadInt(</a:t>
              </a:r>
              <a:r>
                <a:rPr lang="en-US" sz="780" b="0" dirty="0">
                  <a:solidFill>
                    <a:srgbClr val="F0A98B"/>
                  </a:solidFill>
                  <a:latin typeface="Consolas"/>
                  <a:ea typeface="Consolas"/>
                  <a:cs typeface="Consolas"/>
                </a:rPr>
                <a:t>"Id: "</a:t>
              </a:r>
              <a:r>
                <a:rPr lang="en-US" sz="780" b="0" dirty="0">
                  <a:solidFill>
                    <a:srgbClr val="E2E8F0"/>
                  </a:solidFill>
                  <a:latin typeface="Consolas"/>
                  <a:ea typeface="Consolas"/>
                  <a:cs typeface="Consolas"/>
                </a:rPr>
                <a:t>))?.ToString() ?? </a:t>
              </a:r>
              <a:r>
                <a:rPr lang="en-US" sz="780" b="0" dirty="0">
                  <a:solidFill>
                    <a:srgbClr val="F0A98B"/>
                  </a:solidFill>
                  <a:latin typeface="Consolas"/>
                  <a:ea typeface="Consolas"/>
                  <a:cs typeface="Consolas"/>
                </a:rPr>
                <a:t>"Not found."</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21" name="code_L15"/>
            <p:cNvSpPr txBox="1"/>
            <p:nvPr/>
          </p:nvSpPr>
          <p:spPr>
            <a:xfrm>
              <a:off x="771754" y="3873220"/>
              <a:ext cx="10787100" cy="13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60A5FA"/>
                  </a:solidFill>
                  <a:latin typeface="Consolas"/>
                  <a:ea typeface="Consolas"/>
                  <a:cs typeface="Consolas"/>
                </a:rPr>
                <a:t>case</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"3"</a:t>
              </a:r>
              <a:r>
                <a:rPr lang="en-US" sz="780" b="0" dirty="0">
                  <a:solidFill>
                    <a:srgbClr val="E2E8F0"/>
                  </a:solidFill>
                  <a:latin typeface="Consolas"/>
                  <a:ea typeface="Consolas"/>
                  <a:cs typeface="Consolas"/>
                </a:rPr>
                <a:t>: service.GetAll().ForEach(e =&gt; Console.WriteLine(e));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22" name="code_L16"/>
            <p:cNvSpPr txBox="1"/>
            <p:nvPr/>
          </p:nvSpPr>
          <p:spPr>
            <a:xfrm>
              <a:off x="771754" y="4005220"/>
              <a:ext cx="10787100" cy="13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60A5FA"/>
                  </a:solidFill>
                  <a:latin typeface="Consolas"/>
                  <a:ea typeface="Consolas"/>
                  <a:cs typeface="Consolas"/>
                </a:rPr>
                <a:t>case</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"4"</a:t>
              </a:r>
              <a:r>
                <a:rPr lang="en-US" sz="780" b="0" dirty="0">
                  <a:solidFill>
                    <a:srgbClr val="E2E8F0"/>
                  </a:solidFill>
                  <a:latin typeface="Consolas"/>
                  <a:ea typeface="Consolas"/>
                  <a:cs typeface="Consolas"/>
                </a:rPr>
                <a:t>: Console.WriteLine(service.Update(ReadEmployee()) ? </a:t>
              </a:r>
              <a:r>
                <a:rPr lang="en-US" sz="780" b="0" dirty="0">
                  <a:solidFill>
                    <a:srgbClr val="F0A98B"/>
                  </a:solidFill>
                  <a:latin typeface="Consolas"/>
                  <a:ea typeface="Consolas"/>
                  <a:cs typeface="Consolas"/>
                </a:rPr>
                <a:t>"Employee updated."</a:t>
              </a:r>
              <a:r>
                <a:rPr lang="en-US" sz="780" b="0" dirty="0">
                  <a:solidFill>
                    <a:srgbClr val="E2E8F0"/>
                  </a:solidFill>
                  <a:latin typeface="Consolas"/>
                  <a:ea typeface="Consolas"/>
                  <a:cs typeface="Consolas"/>
                </a:rPr>
                <a:t> : </a:t>
              </a:r>
              <a:r>
                <a:rPr lang="en-US" sz="780" b="0" dirty="0">
                  <a:solidFill>
                    <a:srgbClr val="F0A98B"/>
                  </a:solidFill>
                  <a:latin typeface="Consolas"/>
                  <a:ea typeface="Consolas"/>
                  <a:cs typeface="Consolas"/>
                </a:rPr>
                <a:t>"Not found."</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23" name="code_L17"/>
            <p:cNvSpPr txBox="1"/>
            <p:nvPr/>
          </p:nvSpPr>
          <p:spPr>
            <a:xfrm>
              <a:off x="771754" y="4137220"/>
              <a:ext cx="10787100" cy="13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60A5FA"/>
                  </a:solidFill>
                  <a:latin typeface="Consolas"/>
                  <a:ea typeface="Consolas"/>
                  <a:cs typeface="Consolas"/>
                </a:rPr>
                <a:t>case</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"5"</a:t>
              </a:r>
              <a:r>
                <a:rPr lang="en-US" sz="780" b="0" dirty="0">
                  <a:solidFill>
                    <a:srgbClr val="E2E8F0"/>
                  </a:solidFill>
                  <a:latin typeface="Consolas"/>
                  <a:ea typeface="Consolas"/>
                  <a:cs typeface="Consolas"/>
                </a:rPr>
                <a:t>: Console.WriteLine(service.Delete(ReadInt(</a:t>
              </a:r>
              <a:r>
                <a:rPr lang="en-US" sz="780" b="0" dirty="0">
                  <a:solidFill>
                    <a:srgbClr val="F0A98B"/>
                  </a:solidFill>
                  <a:latin typeface="Consolas"/>
                  <a:ea typeface="Consolas"/>
                  <a:cs typeface="Consolas"/>
                </a:rPr>
                <a:t>"Id: "</a:t>
              </a:r>
              <a:r>
                <a:rPr lang="en-US" sz="780" b="0" dirty="0">
                  <a:solidFill>
                    <a:srgbClr val="E2E8F0"/>
                  </a:solidFill>
                  <a:latin typeface="Consolas"/>
                  <a:ea typeface="Consolas"/>
                  <a:cs typeface="Consolas"/>
                </a:rPr>
                <a:t>)) ? </a:t>
              </a:r>
              <a:r>
                <a:rPr lang="en-US" sz="780" b="0" dirty="0">
                  <a:solidFill>
                    <a:srgbClr val="F0A98B"/>
                  </a:solidFill>
                  <a:latin typeface="Consolas"/>
                  <a:ea typeface="Consolas"/>
                  <a:cs typeface="Consolas"/>
                </a:rPr>
                <a:t>"Employee deleted."</a:t>
              </a:r>
              <a:r>
                <a:rPr lang="en-US" sz="780" b="0" dirty="0">
                  <a:solidFill>
                    <a:srgbClr val="E2E8F0"/>
                  </a:solidFill>
                  <a:latin typeface="Consolas"/>
                  <a:ea typeface="Consolas"/>
                  <a:cs typeface="Consolas"/>
                </a:rPr>
                <a:t> : </a:t>
              </a:r>
              <a:r>
                <a:rPr lang="en-US" sz="780" b="0" dirty="0">
                  <a:solidFill>
                    <a:srgbClr val="F0A98B"/>
                  </a:solidFill>
                  <a:latin typeface="Consolas"/>
                  <a:ea typeface="Consolas"/>
                  <a:cs typeface="Consolas"/>
                </a:rPr>
                <a:t>"Not found."</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24" name="code_L18"/>
            <p:cNvSpPr txBox="1"/>
            <p:nvPr/>
          </p:nvSpPr>
          <p:spPr>
            <a:xfrm>
              <a:off x="771754" y="4269220"/>
              <a:ext cx="10787100" cy="13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60A5FA"/>
                  </a:solidFill>
                  <a:latin typeface="Consolas"/>
                  <a:ea typeface="Consolas"/>
                  <a:cs typeface="Consolas"/>
                </a:rPr>
                <a:t>case</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"6"</a:t>
              </a:r>
              <a:r>
                <a:rPr lang="en-US" sz="780" b="0" dirty="0">
                  <a:solidFill>
                    <a:srgbClr val="E2E8F0"/>
                  </a:solidFill>
                  <a:latin typeface="Consolas"/>
                  <a:ea typeface="Consolas"/>
                  <a:cs typeface="Consolas"/>
                </a:rPr>
                <a:t>: service.SearchByName(Read(</a:t>
              </a:r>
              <a:r>
                <a:rPr lang="en-US" sz="780" b="0" dirty="0">
                  <a:solidFill>
                    <a:srgbClr val="F0A98B"/>
                  </a:solidFill>
                  <a:latin typeface="Consolas"/>
                  <a:ea typeface="Consolas"/>
                  <a:cs typeface="Consolas"/>
                </a:rPr>
                <a:t>"Name contains: "</a:t>
              </a:r>
              <a:r>
                <a:rPr lang="en-US" sz="780" b="0" dirty="0">
                  <a:solidFill>
                    <a:srgbClr val="E2E8F0"/>
                  </a:solidFill>
                  <a:latin typeface="Consolas"/>
                  <a:ea typeface="Consolas"/>
                  <a:cs typeface="Consolas"/>
                </a:rPr>
                <a:t>)).ForEach(e =&gt; Console.WriteLine(e));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25" name="code_L19"/>
            <p:cNvSpPr txBox="1"/>
            <p:nvPr/>
          </p:nvSpPr>
          <p:spPr>
            <a:xfrm>
              <a:off x="771754" y="4401220"/>
              <a:ext cx="10787100" cy="13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60A5FA"/>
                  </a:solidFill>
                  <a:latin typeface="Consolas"/>
                  <a:ea typeface="Consolas"/>
                  <a:cs typeface="Consolas"/>
                </a:rPr>
                <a:t>default</a:t>
              </a:r>
              <a:r>
                <a:rPr lang="en-US" sz="780" b="0" dirty="0">
                  <a:solidFill>
                    <a:srgbClr val="E2E8F0"/>
                  </a:solidFill>
                  <a:latin typeface="Consolas"/>
                  <a:ea typeface="Consolas"/>
                  <a:cs typeface="Consolas"/>
                </a:rPr>
                <a:t>:  Console.WriteLine(</a:t>
              </a:r>
              <a:r>
                <a:rPr lang="en-US" sz="780" b="0" dirty="0">
                  <a:solidFill>
                    <a:srgbClr val="F0A98B"/>
                  </a:solidFill>
                  <a:latin typeface="Consolas"/>
                  <a:ea typeface="Consolas"/>
                  <a:cs typeface="Consolas"/>
                </a:rPr>
                <a:t>"Unknown option."</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break</a:t>
              </a:r>
              <a:r>
                <a:rPr lang="en-US" sz="780" b="0" dirty="0">
                  <a:solidFill>
                    <a:srgbClr val="E2E8F0"/>
                  </a:solidFill>
                  <a:latin typeface="Consolas"/>
                  <a:ea typeface="Consolas"/>
                  <a:cs typeface="Consolas"/>
                </a:rPr>
                <a:t>;</a:t>
              </a:r>
              <a:endParaRPr lang="en-US" sz="780" dirty="0"/>
            </a:p>
          </p:txBody>
        </p:sp>
        <p:sp>
          <p:nvSpPr>
            <p:cNvPr id="126" name="code_L20"/>
            <p:cNvSpPr txBox="1"/>
            <p:nvPr/>
          </p:nvSpPr>
          <p:spPr>
            <a:xfrm>
              <a:off x="771754" y="4533220"/>
              <a:ext cx="10787100" cy="13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27" name="code_L21"/>
            <p:cNvSpPr txBox="1"/>
            <p:nvPr/>
          </p:nvSpPr>
          <p:spPr>
            <a:xfrm>
              <a:off x="771754" y="4665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28" name="code_L22"/>
            <p:cNvSpPr txBox="1"/>
            <p:nvPr/>
          </p:nvSpPr>
          <p:spPr>
            <a:xfrm>
              <a:off x="771754" y="4797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catch</a:t>
              </a:r>
              <a:r>
                <a:rPr lang="en-US" sz="780" b="0" dirty="0">
                  <a:solidFill>
                    <a:srgbClr val="E2E8F0"/>
                  </a:solidFill>
                  <a:latin typeface="Consolas"/>
                  <a:ea typeface="Consolas"/>
                  <a:cs typeface="Consolas"/>
                </a:rPr>
                <a:t> (Exception ex) when (ex </a:t>
              </a:r>
              <a:r>
                <a:rPr lang="en-US" sz="780" b="0" dirty="0">
                  <a:solidFill>
                    <a:srgbClr val="60A5FA"/>
                  </a:solidFill>
                  <a:latin typeface="Consolas"/>
                  <a:ea typeface="Consolas"/>
                  <a:cs typeface="Consolas"/>
                </a:rPr>
                <a:t>is</a:t>
              </a:r>
              <a:r>
                <a:rPr lang="en-US" sz="780" b="0" dirty="0">
                  <a:solidFill>
                    <a:srgbClr val="E2E8F0"/>
                  </a:solidFill>
                  <a:latin typeface="Consolas"/>
                  <a:ea typeface="Consolas"/>
                  <a:cs typeface="Consolas"/>
                </a:rPr>
                <a:t> ArgumentException or InvalidOperationException</a:t>
              </a:r>
              <a:endParaRPr lang="en-US" sz="780" dirty="0"/>
            </a:p>
          </p:txBody>
        </p:sp>
        <p:sp>
          <p:nvSpPr>
            <p:cNvPr id="129" name="code_L23"/>
            <p:cNvSpPr txBox="1"/>
            <p:nvPr/>
          </p:nvSpPr>
          <p:spPr>
            <a:xfrm>
              <a:off x="771754" y="4929220"/>
              <a:ext cx="10787100" cy="132000"/>
            </a:xfrm>
            <a:prstGeom prst="rect">
              <a:avLst/>
            </a:prstGeom>
            <a:noFill/>
            <a:ln>
              <a:noFill/>
            </a:ln>
          </p:spPr>
          <p:txBody>
            <a:bodyPr wrap="none" lIns="0" tIns="0" rIns="0" bIns="0" rtlCol="0" anchor="ctr">
              <a:noAutofit/>
            </a:bodyPr>
            <a:lstStyle/>
            <a:p>
              <a:pPr marL="2123440" indent="0" algn="l">
                <a:spcBef>
                  <a:spcPts val="0"/>
                </a:spcBef>
                <a:spcAft>
                  <a:spcPts val="0"/>
                </a:spcAft>
                <a:buNone/>
              </a:pPr>
              <a:r>
                <a:rPr lang="en-US" sz="780" b="0" dirty="0">
                  <a:solidFill>
                    <a:srgbClr val="E2E8F0"/>
                  </a:solidFill>
                  <a:latin typeface="Consolas"/>
                  <a:ea typeface="Consolas"/>
                  <a:cs typeface="Consolas"/>
                </a:rPr>
                <a:t>   or IOException or UnauthorizedAccessException)</a:t>
              </a:r>
              <a:endParaRPr lang="en-US" sz="780" dirty="0"/>
            </a:p>
          </p:txBody>
        </p:sp>
        <p:sp>
          <p:nvSpPr>
            <p:cNvPr id="130" name="code_L24"/>
            <p:cNvSpPr txBox="1"/>
            <p:nvPr/>
          </p:nvSpPr>
          <p:spPr>
            <a:xfrm>
              <a:off x="771754" y="5061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31" name="code_L25"/>
            <p:cNvSpPr txBox="1"/>
            <p:nvPr/>
          </p:nvSpPr>
          <p:spPr>
            <a:xfrm>
              <a:off x="771754" y="5193220"/>
              <a:ext cx="10787100" cy="13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Console.WriteLine(</a:t>
              </a:r>
              <a:r>
                <a:rPr lang="en-US" sz="780" b="0" dirty="0">
                  <a:solidFill>
                    <a:srgbClr val="F0A98B"/>
                  </a:solidFill>
                  <a:latin typeface="Consolas"/>
                  <a:ea typeface="Consolas"/>
                  <a:cs typeface="Consolas"/>
                </a:rPr>
                <a:t>$"Error: {ex.Message}"</a:t>
              </a:r>
              <a:r>
                <a:rPr lang="en-US" sz="780" b="0" dirty="0">
                  <a:solidFill>
                    <a:srgbClr val="E2E8F0"/>
                  </a:solidFill>
                  <a:latin typeface="Consolas"/>
                  <a:ea typeface="Consolas"/>
                  <a:cs typeface="Consolas"/>
                </a:rPr>
                <a:t>);</a:t>
              </a:r>
              <a:endParaRPr lang="en-US" sz="780" dirty="0"/>
            </a:p>
          </p:txBody>
        </p:sp>
        <p:sp>
          <p:nvSpPr>
            <p:cNvPr id="132" name="code_L26"/>
            <p:cNvSpPr txBox="1"/>
            <p:nvPr/>
          </p:nvSpPr>
          <p:spPr>
            <a:xfrm>
              <a:off x="771754" y="5325220"/>
              <a:ext cx="10787100" cy="13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33" name="code_L27"/>
            <p:cNvSpPr txBox="1"/>
            <p:nvPr/>
          </p:nvSpPr>
          <p:spPr>
            <a:xfrm>
              <a:off x="771754" y="5457220"/>
              <a:ext cx="10787100" cy="13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grpSp>
      <p:sp>
        <p:nvSpPr>
          <p:cNvPr id="135" name="code_hl13"/>
          <p:cNvSpPr/>
          <p:nvPr/>
        </p:nvSpPr>
        <p:spPr>
          <a:xfrm>
            <a:off x="676656" y="3590932"/>
            <a:ext cx="10820100" cy="16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6" name="code_hl22"/>
          <p:cNvSpPr/>
          <p:nvPr/>
        </p:nvSpPr>
        <p:spPr>
          <a:xfrm>
            <a:off x="676656" y="4778932"/>
            <a:ext cx="10820100" cy="168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7" name="code_hl23"/>
          <p:cNvSpPr/>
          <p:nvPr/>
        </p:nvSpPr>
        <p:spPr>
          <a:xfrm>
            <a:off x="676656" y="4910932"/>
            <a:ext cx="10820100" cy="168576"/>
          </a:xfrm>
          <a:prstGeom prst="rect">
            <a:avLst/>
          </a:prstGeom>
          <a:solidFill>
            <a:srgbClr val="F87171">
              <a:alpha val="15000"/>
            </a:srgbClr>
          </a:solidFill>
          <a:ln w="12700">
            <a:solidFill>
              <a:srgbClr val="F87171"/>
            </a:solidFill>
            <a:prstDash val="solid"/>
          </a:ln>
        </p:spPr>
        <p:txBody>
          <a:bodyPr/>
          <a:lstStyle/>
          <a:p>
            <a:endParaRPr lang="en-US"/>
          </a:p>
        </p:txBody>
      </p:sp>
    </p:spTree>
    <p:extLst>
      <p:ext uri="{BB962C8B-B14F-4D97-AF65-F5344CB8AC3E}">
        <p14:creationId xmlns:p14="http://schemas.microsoft.com/office/powerpoint/2010/main" val="503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400"/>
                                        <p:tgtEl>
                                          <p:spTgt spid="1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fade">
                                      <p:cBhvr>
                                        <p:cTn id="10" dur="400"/>
                                        <p:tgtEl>
                                          <p:spTgt spid="13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6"/>
                                        </p:tgtEl>
                                        <p:attrNameLst>
                                          <p:attrName>style.visibility</p:attrName>
                                        </p:attrNameLst>
                                      </p:cBhvr>
                                      <p:to>
                                        <p:strVal val="visible"/>
                                      </p:to>
                                    </p:set>
                                    <p:animEffect transition="in" filter="fade">
                                      <p:cBhvr>
                                        <p:cTn id="13" dur="400"/>
                                        <p:tgtEl>
                                          <p:spTgt spid="13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7"/>
                                        </p:tgtEl>
                                        <p:attrNameLst>
                                          <p:attrName>style.visibility</p:attrName>
                                        </p:attrNameLst>
                                      </p:cBhvr>
                                      <p:to>
                                        <p:strVal val="visible"/>
                                      </p:to>
                                    </p:set>
                                    <p:animEffect transition="in" filter="fade">
                                      <p:cBhvr>
                                        <p:cTn id="16" dur="4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animBg="1"/>
      <p:bldP spid="13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PART 11</a:t>
            </a:r>
            <a:endParaRPr lang="en-US" sz="1000" dirty="0"/>
          </a:p>
        </p:txBody>
      </p:sp>
      <p:sp>
        <p:nvSpPr>
          <p:cNvPr id="8"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9"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0"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1"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2"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3"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104</a:t>
            </a:r>
            <a:endParaRPr lang="en-US" sz="850" dirty="0"/>
          </a:p>
        </p:txBody>
      </p:sp>
      <p:sp>
        <p:nvSpPr>
          <p:cNvPr id="14" name="div_num"/>
          <p:cNvSpPr txBox="1"/>
          <p:nvPr/>
        </p:nvSpPr>
        <p:spPr>
          <a:xfrm>
            <a:off x="548640" y="1280160"/>
            <a:ext cx="3657600" cy="14630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600" b="1" dirty="0">
                <a:solidFill>
                  <a:srgbClr val="F87171"/>
                </a:solidFill>
                <a:latin typeface="Segoe UI"/>
                <a:ea typeface="Segoe UI"/>
                <a:cs typeface="Segoe UI"/>
              </a:rPr>
              <a:t>11</a:t>
            </a:r>
            <a:endParaRPr lang="en-US" sz="9600" dirty="0"/>
          </a:p>
        </p:txBody>
      </p:sp>
      <p:sp>
        <p:nvSpPr>
          <p:cNvPr id="15" name="Title"/>
          <p:cNvSpPr txBox="1"/>
          <p:nvPr/>
        </p:nvSpPr>
        <p:spPr>
          <a:xfrm>
            <a:off x="566928" y="2743200"/>
            <a:ext cx="10972800" cy="9144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5000" b="1" dirty="0">
                <a:solidFill>
                  <a:srgbClr val="FFFFFF"/>
                </a:solidFill>
                <a:latin typeface="Segoe UI"/>
                <a:ea typeface="Segoe UI"/>
                <a:cs typeface="Segoe UI"/>
              </a:rPr>
              <a:t>Unit Testing</a:t>
            </a:r>
            <a:endParaRPr lang="en-US" sz="5000" dirty="0"/>
          </a:p>
        </p:txBody>
      </p:sp>
      <p:sp>
        <p:nvSpPr>
          <p:cNvPr id="16" name="div_sub"/>
          <p:cNvSpPr txBox="1"/>
          <p:nvPr/>
        </p:nvSpPr>
        <p:spPr>
          <a:xfrm>
            <a:off x="594360" y="3657600"/>
            <a:ext cx="1078992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dirty="0">
                <a:solidFill>
                  <a:srgbClr val="CBD5E1"/>
                </a:solidFill>
                <a:latin typeface="Segoe UI"/>
                <a:ea typeface="Segoe UI"/>
                <a:cs typeface="Segoe UI"/>
              </a:rPr>
              <a:t>Prove your code works, after every change, in seconds.</a:t>
            </a:r>
            <a:endParaRPr lang="en-US" sz="1900" dirty="0"/>
          </a:p>
        </p:txBody>
      </p:sp>
      <p:sp>
        <p:nvSpPr>
          <p:cNvPr id="17" name="div_road"/>
          <p:cNvSpPr txBox="1"/>
          <p:nvPr/>
        </p:nvSpPr>
        <p:spPr>
          <a:xfrm>
            <a:off x="594360" y="4251960"/>
            <a:ext cx="10881360" cy="109728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en-US" sz="1350" b="0" dirty="0">
                <a:solidFill>
                  <a:srgbClr val="94A3B8"/>
                </a:solidFill>
                <a:latin typeface="Segoe UI"/>
                <a:ea typeface="Segoe UI"/>
                <a:cs typeface="Segoe UI"/>
              </a:rPr>
              <a:t>Why test  ·  FIRST  ·  Test pyramid  ·  xUnit setup  ·  Fact &amp; Theory  ·  InlineData &amp; MemberData  ·  Boundaries  ·  Async tests  ·  Lifecycle  ·  Flaky tests  ·  Testable code  ·  Test doubles  ·  NSubstitute · Moq · FakeItEasy  ·  Shouldly  ·  Bogus  ·  TDD  ·  SwiftBite labs  ·  Coverage</a:t>
            </a:r>
            <a:endParaRPr lang="en-US" sz="1350" dirty="0"/>
          </a:p>
        </p:txBody>
      </p:sp>
    </p:spTree>
    <p:extLst>
      <p:ext uri="{BB962C8B-B14F-4D97-AF65-F5344CB8AC3E}">
        <p14:creationId xmlns:p14="http://schemas.microsoft.com/office/powerpoint/2010/main" val="34640536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0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ROADMAP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Prove Your Code Works, Every Time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105</a:t>
            </a:r>
            <a:endParaRPr lang="en-US" sz="850" dirty="0"/>
          </a:p>
        </p:txBody>
      </p:sp>
      <p:sp>
        <p:nvSpPr>
          <p:cNvPr id="101" name="c0"/>
          <p:cNvSpPr/>
          <p:nvPr/>
        </p:nvSpPr>
        <p:spPr>
          <a:xfrm>
            <a:off x="543154" y="1783080"/>
            <a:ext cx="1691640" cy="2834640"/>
          </a:xfrm>
          <a:prstGeom prst="roundRect">
            <a:avLst>
              <a:gd name="adj" fmla="val 12000"/>
            </a:avLst>
          </a:prstGeom>
          <a:solidFill>
            <a:srgbClr val="111B2E"/>
          </a:solidFill>
          <a:ln w="12700">
            <a:solidFill>
              <a:srgbClr val="13D0F7"/>
            </a:solidFill>
            <a:prstDash val="solid"/>
          </a:ln>
        </p:spPr>
        <p:txBody>
          <a:bodyPr wrap="square" lIns="118872" tIns="228600" rIns="118872" bIns="91440" rtlCol="0" anchor="t">
            <a:noAutofit/>
          </a:bodyPr>
          <a:lstStyle/>
          <a:p>
            <a:pPr marL="0" indent="0" algn="ctr">
              <a:spcBef>
                <a:spcPts val="0"/>
              </a:spcBef>
              <a:spcAft>
                <a:spcPts val="0"/>
              </a:spcAft>
              <a:buNone/>
            </a:pPr>
            <a:r>
              <a:rPr lang="en-US" sz="3200" b="1" dirty="0">
                <a:solidFill>
                  <a:srgbClr val="13D0F7"/>
                </a:solidFill>
                <a:latin typeface="Segoe UI"/>
                <a:ea typeface="Segoe UI"/>
                <a:cs typeface="Segoe UI"/>
              </a:rPr>
              <a:t>01</a:t>
            </a:r>
            <a:endParaRPr lang="en-US" sz="3200" dirty="0"/>
          </a:p>
          <a:p>
            <a:pPr marL="0" indent="0" algn="ctr">
              <a:spcBef>
                <a:spcPts val="0"/>
              </a:spcBef>
              <a:spcAft>
                <a:spcPts val="0"/>
              </a:spcAft>
              <a:buNone/>
            </a:pPr>
            <a:r>
              <a:rPr lang="en-US" sz="600" b="0" dirty="0">
                <a:solidFill>
                  <a:srgbClr val="13D0F7"/>
                </a:solidFill>
                <a:latin typeface="Segoe UI"/>
                <a:ea typeface="Segoe UI"/>
                <a:cs typeface="Segoe UI"/>
              </a:rPr>
              <a:t> </a:t>
            </a:r>
            <a:endParaRPr lang="en-US" sz="600" dirty="0"/>
          </a:p>
          <a:p>
            <a:pPr marL="0" indent="0" algn="ctr">
              <a:spcBef>
                <a:spcPts val="0"/>
              </a:spcBef>
              <a:spcAft>
                <a:spcPts val="0"/>
              </a:spcAft>
              <a:buNone/>
            </a:pPr>
            <a:r>
              <a:rPr lang="en-US" sz="1400" b="1" dirty="0">
                <a:solidFill>
                  <a:srgbClr val="FFFFFF"/>
                </a:solidFill>
                <a:latin typeface="Segoe UI"/>
                <a:ea typeface="Segoe UI"/>
                <a:cs typeface="Segoe UI"/>
              </a:rPr>
              <a:t>Why test</a:t>
            </a:r>
            <a:endParaRPr lang="en-US" sz="1400" dirty="0"/>
          </a:p>
          <a:p>
            <a:pPr marL="0" indent="0" algn="ctr">
              <a:spcBef>
                <a:spcPts val="0"/>
              </a:spcBef>
              <a:spcAft>
                <a:spcPts val="0"/>
              </a:spcAft>
              <a:buNone/>
            </a:pPr>
            <a:r>
              <a:rPr lang="en-US" sz="600" b="0" dirty="0">
                <a:solidFill>
                  <a:srgbClr val="13D0F7"/>
                </a:solidFill>
                <a:latin typeface="Segoe UI"/>
                <a:ea typeface="Segoe UI"/>
                <a:cs typeface="Segoe UI"/>
              </a:rPr>
              <a:t> </a:t>
            </a:r>
            <a:endParaRPr lang="en-US" sz="600" dirty="0"/>
          </a:p>
          <a:p>
            <a:pPr marL="0" indent="0" algn="ctr">
              <a:spcBef>
                <a:spcPts val="0"/>
              </a:spcBef>
              <a:spcAft>
                <a:spcPts val="0"/>
              </a:spcAft>
              <a:buNone/>
            </a:pPr>
            <a:r>
              <a:rPr lang="en-US" sz="1100" b="0" dirty="0">
                <a:solidFill>
                  <a:srgbClr val="CBD5E1"/>
                </a:solidFill>
                <a:latin typeface="Segoe UI"/>
                <a:ea typeface="Segoe UI"/>
                <a:cs typeface="Segoe UI"/>
              </a:rPr>
              <a:t>manual vs automated, FIRST, the pyramid</a:t>
            </a:r>
            <a:endParaRPr lang="en-US" sz="1100" dirty="0"/>
          </a:p>
        </p:txBody>
      </p:sp>
      <p:sp>
        <p:nvSpPr>
          <p:cNvPr id="102" name="c1"/>
          <p:cNvSpPr/>
          <p:nvPr/>
        </p:nvSpPr>
        <p:spPr>
          <a:xfrm>
            <a:off x="2422246" y="1783080"/>
            <a:ext cx="1691640" cy="2834640"/>
          </a:xfrm>
          <a:prstGeom prst="roundRect">
            <a:avLst>
              <a:gd name="adj" fmla="val 12000"/>
            </a:avLst>
          </a:prstGeom>
          <a:solidFill>
            <a:srgbClr val="111B2E"/>
          </a:solidFill>
          <a:ln w="12700">
            <a:solidFill>
              <a:srgbClr val="60A5FA"/>
            </a:solidFill>
            <a:prstDash val="solid"/>
          </a:ln>
        </p:spPr>
        <p:txBody>
          <a:bodyPr wrap="square" lIns="118872" tIns="228600" rIns="118872" bIns="91440" rtlCol="0" anchor="t">
            <a:noAutofit/>
          </a:bodyPr>
          <a:lstStyle/>
          <a:p>
            <a:pPr marL="0" indent="0" algn="ctr">
              <a:spcBef>
                <a:spcPts val="0"/>
              </a:spcBef>
              <a:spcAft>
                <a:spcPts val="0"/>
              </a:spcAft>
              <a:buNone/>
            </a:pPr>
            <a:r>
              <a:rPr lang="en-US" sz="3200" b="1" dirty="0">
                <a:solidFill>
                  <a:srgbClr val="60A5FA"/>
                </a:solidFill>
                <a:latin typeface="Segoe UI"/>
                <a:ea typeface="Segoe UI"/>
                <a:cs typeface="Segoe UI"/>
              </a:rPr>
              <a:t>02</a:t>
            </a:r>
            <a:endParaRPr lang="en-US" sz="3200" dirty="0"/>
          </a:p>
          <a:p>
            <a:pPr marL="0" indent="0" algn="ctr">
              <a:spcBef>
                <a:spcPts val="0"/>
              </a:spcBef>
              <a:spcAft>
                <a:spcPts val="0"/>
              </a:spcAft>
              <a:buNone/>
            </a:pPr>
            <a:r>
              <a:rPr lang="en-US" sz="600" b="0" dirty="0">
                <a:solidFill>
                  <a:srgbClr val="60A5FA"/>
                </a:solidFill>
                <a:latin typeface="Segoe UI"/>
                <a:ea typeface="Segoe UI"/>
                <a:cs typeface="Segoe UI"/>
              </a:rPr>
              <a:t> </a:t>
            </a:r>
            <a:endParaRPr lang="en-US" sz="600" dirty="0"/>
          </a:p>
          <a:p>
            <a:pPr marL="0" indent="0" algn="ctr">
              <a:spcBef>
                <a:spcPts val="0"/>
              </a:spcBef>
              <a:spcAft>
                <a:spcPts val="0"/>
              </a:spcAft>
              <a:buNone/>
            </a:pPr>
            <a:r>
              <a:rPr lang="en-US" sz="1400" b="1" dirty="0">
                <a:solidFill>
                  <a:srgbClr val="FFFFFF"/>
                </a:solidFill>
                <a:latin typeface="Segoe UI"/>
                <a:ea typeface="Segoe UI"/>
                <a:cs typeface="Segoe UI"/>
              </a:rPr>
              <a:t>xUnit</a:t>
            </a:r>
            <a:endParaRPr lang="en-US" sz="1400" dirty="0"/>
          </a:p>
          <a:p>
            <a:pPr marL="0" indent="0" algn="ctr">
              <a:spcBef>
                <a:spcPts val="0"/>
              </a:spcBef>
              <a:spcAft>
                <a:spcPts val="0"/>
              </a:spcAft>
              <a:buNone/>
            </a:pPr>
            <a:r>
              <a:rPr lang="en-US" sz="600" b="0" dirty="0">
                <a:solidFill>
                  <a:srgbClr val="60A5FA"/>
                </a:solidFill>
                <a:latin typeface="Segoe UI"/>
                <a:ea typeface="Segoe UI"/>
                <a:cs typeface="Segoe UI"/>
              </a:rPr>
              <a:t> </a:t>
            </a:r>
            <a:endParaRPr lang="en-US" sz="600" dirty="0"/>
          </a:p>
          <a:p>
            <a:pPr marL="0" indent="0" algn="ctr">
              <a:spcBef>
                <a:spcPts val="0"/>
              </a:spcBef>
              <a:spcAft>
                <a:spcPts val="0"/>
              </a:spcAft>
              <a:buNone/>
            </a:pPr>
            <a:r>
              <a:rPr lang="en-US" sz="1100" b="0" dirty="0">
                <a:solidFill>
                  <a:srgbClr val="CBD5E1"/>
                </a:solidFill>
                <a:latin typeface="Segoe UI"/>
                <a:ea typeface="Segoe UI"/>
                <a:cs typeface="Segoe UI"/>
              </a:rPr>
              <a:t>Fact · Theory · InlineData · MemberData</a:t>
            </a:r>
            <a:endParaRPr lang="en-US" sz="1100" dirty="0"/>
          </a:p>
        </p:txBody>
      </p:sp>
      <p:sp>
        <p:nvSpPr>
          <p:cNvPr id="103" name="c2"/>
          <p:cNvSpPr/>
          <p:nvPr/>
        </p:nvSpPr>
        <p:spPr>
          <a:xfrm>
            <a:off x="4301338" y="1783080"/>
            <a:ext cx="1691640" cy="2834640"/>
          </a:xfrm>
          <a:prstGeom prst="roundRect">
            <a:avLst>
              <a:gd name="adj" fmla="val 12000"/>
            </a:avLst>
          </a:prstGeom>
          <a:solidFill>
            <a:srgbClr val="111B2E"/>
          </a:solidFill>
          <a:ln w="12700">
            <a:solidFill>
              <a:srgbClr val="FBBF24"/>
            </a:solidFill>
            <a:prstDash val="solid"/>
          </a:ln>
        </p:spPr>
        <p:txBody>
          <a:bodyPr wrap="square" lIns="118872" tIns="228600" rIns="118872" bIns="91440" rtlCol="0" anchor="t">
            <a:noAutofit/>
          </a:bodyPr>
          <a:lstStyle/>
          <a:p>
            <a:pPr marL="0" indent="0" algn="ctr">
              <a:spcBef>
                <a:spcPts val="0"/>
              </a:spcBef>
              <a:spcAft>
                <a:spcPts val="0"/>
              </a:spcAft>
              <a:buNone/>
            </a:pPr>
            <a:r>
              <a:rPr lang="en-US" sz="3200" b="1" dirty="0">
                <a:solidFill>
                  <a:srgbClr val="FBBF24"/>
                </a:solidFill>
                <a:latin typeface="Segoe UI"/>
                <a:ea typeface="Segoe UI"/>
                <a:cs typeface="Segoe UI"/>
              </a:rPr>
              <a:t>03</a:t>
            </a:r>
            <a:endParaRPr lang="en-US" sz="3200" dirty="0"/>
          </a:p>
          <a:p>
            <a:pPr marL="0" indent="0" algn="ctr">
              <a:spcBef>
                <a:spcPts val="0"/>
              </a:spcBef>
              <a:spcAft>
                <a:spcPts val="0"/>
              </a:spcAft>
              <a:buNone/>
            </a:pPr>
            <a:r>
              <a:rPr lang="en-US" sz="600" b="0" dirty="0">
                <a:solidFill>
                  <a:srgbClr val="FBBF24"/>
                </a:solidFill>
                <a:latin typeface="Segoe UI"/>
                <a:ea typeface="Segoe UI"/>
                <a:cs typeface="Segoe UI"/>
              </a:rPr>
              <a:t> </a:t>
            </a:r>
            <a:endParaRPr lang="en-US" sz="600" dirty="0"/>
          </a:p>
          <a:p>
            <a:pPr marL="0" indent="0" algn="ctr">
              <a:spcBef>
                <a:spcPts val="0"/>
              </a:spcBef>
              <a:spcAft>
                <a:spcPts val="0"/>
              </a:spcAft>
              <a:buNone/>
            </a:pPr>
            <a:r>
              <a:rPr lang="en-US" sz="1400" b="1" dirty="0">
                <a:solidFill>
                  <a:srgbClr val="FFFFFF"/>
                </a:solidFill>
                <a:latin typeface="Segoe UI"/>
                <a:ea typeface="Segoe UI"/>
                <a:cs typeface="Segoe UI"/>
              </a:rPr>
              <a:t>Testable code</a:t>
            </a:r>
            <a:endParaRPr lang="en-US" sz="1400" dirty="0"/>
          </a:p>
          <a:p>
            <a:pPr marL="0" indent="0" algn="ctr">
              <a:spcBef>
                <a:spcPts val="0"/>
              </a:spcBef>
              <a:spcAft>
                <a:spcPts val="0"/>
              </a:spcAft>
              <a:buNone/>
            </a:pPr>
            <a:r>
              <a:rPr lang="en-US" sz="600" b="0" dirty="0">
                <a:solidFill>
                  <a:srgbClr val="FBBF24"/>
                </a:solidFill>
                <a:latin typeface="Segoe UI"/>
                <a:ea typeface="Segoe UI"/>
                <a:cs typeface="Segoe UI"/>
              </a:rPr>
              <a:t> </a:t>
            </a:r>
            <a:endParaRPr lang="en-US" sz="600" dirty="0"/>
          </a:p>
          <a:p>
            <a:pPr marL="0" indent="0" algn="ctr">
              <a:spcBef>
                <a:spcPts val="0"/>
              </a:spcBef>
              <a:spcAft>
                <a:spcPts val="0"/>
              </a:spcAft>
              <a:buNone/>
            </a:pPr>
            <a:r>
              <a:rPr lang="en-US" sz="1100" b="0" dirty="0">
                <a:solidFill>
                  <a:srgbClr val="CBD5E1"/>
                </a:solidFill>
                <a:latin typeface="Segoe UI"/>
                <a:ea typeface="Segoe UI"/>
                <a:cs typeface="Segoe UI"/>
              </a:rPr>
              <a:t>time, randomness, global state</a:t>
            </a:r>
            <a:endParaRPr lang="en-US" sz="1100" dirty="0"/>
          </a:p>
        </p:txBody>
      </p:sp>
      <p:sp>
        <p:nvSpPr>
          <p:cNvPr id="104" name="c3"/>
          <p:cNvSpPr/>
          <p:nvPr/>
        </p:nvSpPr>
        <p:spPr>
          <a:xfrm>
            <a:off x="6180430" y="1783080"/>
            <a:ext cx="1691640" cy="2834640"/>
          </a:xfrm>
          <a:prstGeom prst="roundRect">
            <a:avLst>
              <a:gd name="adj" fmla="val 12000"/>
            </a:avLst>
          </a:prstGeom>
          <a:solidFill>
            <a:srgbClr val="111B2E"/>
          </a:solidFill>
          <a:ln w="12700">
            <a:solidFill>
              <a:srgbClr val="A78BFA"/>
            </a:solidFill>
            <a:prstDash val="solid"/>
          </a:ln>
        </p:spPr>
        <p:txBody>
          <a:bodyPr wrap="square" lIns="118872" tIns="228600" rIns="118872" bIns="91440" rtlCol="0" anchor="t">
            <a:noAutofit/>
          </a:bodyPr>
          <a:lstStyle/>
          <a:p>
            <a:pPr marL="0" indent="0" algn="ctr">
              <a:spcBef>
                <a:spcPts val="0"/>
              </a:spcBef>
              <a:spcAft>
                <a:spcPts val="0"/>
              </a:spcAft>
              <a:buNone/>
            </a:pPr>
            <a:r>
              <a:rPr lang="en-US" sz="3200" b="1" dirty="0">
                <a:solidFill>
                  <a:srgbClr val="A78BFA"/>
                </a:solidFill>
                <a:latin typeface="Segoe UI"/>
                <a:ea typeface="Segoe UI"/>
                <a:cs typeface="Segoe UI"/>
              </a:rPr>
              <a:t>04</a:t>
            </a:r>
            <a:endParaRPr lang="en-US" sz="3200" dirty="0"/>
          </a:p>
          <a:p>
            <a:pPr marL="0" indent="0" algn="ctr">
              <a:spcBef>
                <a:spcPts val="0"/>
              </a:spcBef>
              <a:spcAft>
                <a:spcPts val="0"/>
              </a:spcAft>
              <a:buNone/>
            </a:pPr>
            <a:r>
              <a:rPr lang="en-US" sz="600" b="0" dirty="0">
                <a:solidFill>
                  <a:srgbClr val="A78BFA"/>
                </a:solidFill>
                <a:latin typeface="Segoe UI"/>
                <a:ea typeface="Segoe UI"/>
                <a:cs typeface="Segoe UI"/>
              </a:rPr>
              <a:t> </a:t>
            </a:r>
            <a:endParaRPr lang="en-US" sz="600" dirty="0"/>
          </a:p>
          <a:p>
            <a:pPr marL="0" indent="0" algn="ctr">
              <a:spcBef>
                <a:spcPts val="0"/>
              </a:spcBef>
              <a:spcAft>
                <a:spcPts val="0"/>
              </a:spcAft>
              <a:buNone/>
            </a:pPr>
            <a:r>
              <a:rPr lang="en-US" sz="1400" b="1" dirty="0">
                <a:solidFill>
                  <a:srgbClr val="FFFFFF"/>
                </a:solidFill>
                <a:latin typeface="Segoe UI"/>
                <a:ea typeface="Segoe UI"/>
                <a:cs typeface="Segoe UI"/>
              </a:rPr>
              <a:t>Test doubles</a:t>
            </a:r>
            <a:endParaRPr lang="en-US" sz="1400" dirty="0"/>
          </a:p>
          <a:p>
            <a:pPr marL="0" indent="0" algn="ctr">
              <a:spcBef>
                <a:spcPts val="0"/>
              </a:spcBef>
              <a:spcAft>
                <a:spcPts val="0"/>
              </a:spcAft>
              <a:buNone/>
            </a:pPr>
            <a:r>
              <a:rPr lang="en-US" sz="600" b="0" dirty="0">
                <a:solidFill>
                  <a:srgbClr val="A78BFA"/>
                </a:solidFill>
                <a:latin typeface="Segoe UI"/>
                <a:ea typeface="Segoe UI"/>
                <a:cs typeface="Segoe UI"/>
              </a:rPr>
              <a:t> </a:t>
            </a:r>
            <a:endParaRPr lang="en-US" sz="600" dirty="0"/>
          </a:p>
          <a:p>
            <a:pPr marL="0" indent="0" algn="ctr">
              <a:spcBef>
                <a:spcPts val="0"/>
              </a:spcBef>
              <a:spcAft>
                <a:spcPts val="0"/>
              </a:spcAft>
              <a:buNone/>
            </a:pPr>
            <a:r>
              <a:rPr lang="en-US" sz="1100" b="0" dirty="0">
                <a:solidFill>
                  <a:srgbClr val="CBD5E1"/>
                </a:solidFill>
                <a:latin typeface="Segoe UI"/>
                <a:ea typeface="Segoe UI"/>
                <a:cs typeface="Segoe UI"/>
              </a:rPr>
              <a:t>dummy · stub · fake · spy · mock</a:t>
            </a:r>
            <a:endParaRPr lang="en-US" sz="1100" dirty="0"/>
          </a:p>
        </p:txBody>
      </p:sp>
      <p:sp>
        <p:nvSpPr>
          <p:cNvPr id="105" name="c4"/>
          <p:cNvSpPr/>
          <p:nvPr/>
        </p:nvSpPr>
        <p:spPr>
          <a:xfrm>
            <a:off x="8059522" y="1783080"/>
            <a:ext cx="1691640" cy="2834640"/>
          </a:xfrm>
          <a:prstGeom prst="roundRect">
            <a:avLst>
              <a:gd name="adj" fmla="val 12000"/>
            </a:avLst>
          </a:prstGeom>
          <a:solidFill>
            <a:srgbClr val="111B2E"/>
          </a:solidFill>
          <a:ln w="12700">
            <a:solidFill>
              <a:srgbClr val="F472B6"/>
            </a:solidFill>
            <a:prstDash val="solid"/>
          </a:ln>
        </p:spPr>
        <p:txBody>
          <a:bodyPr wrap="square" lIns="118872" tIns="228600" rIns="118872" bIns="91440" rtlCol="0" anchor="t">
            <a:noAutofit/>
          </a:bodyPr>
          <a:lstStyle/>
          <a:p>
            <a:pPr marL="0" indent="0" algn="ctr">
              <a:spcBef>
                <a:spcPts val="0"/>
              </a:spcBef>
              <a:spcAft>
                <a:spcPts val="0"/>
              </a:spcAft>
              <a:buNone/>
            </a:pPr>
            <a:r>
              <a:rPr lang="en-US" sz="3200" b="1" dirty="0">
                <a:solidFill>
                  <a:srgbClr val="F472B6"/>
                </a:solidFill>
                <a:latin typeface="Segoe UI"/>
                <a:ea typeface="Segoe UI"/>
                <a:cs typeface="Segoe UI"/>
              </a:rPr>
              <a:t>05</a:t>
            </a:r>
            <a:endParaRPr lang="en-US" sz="3200" dirty="0"/>
          </a:p>
          <a:p>
            <a:pPr marL="0" indent="0" algn="ctr">
              <a:spcBef>
                <a:spcPts val="0"/>
              </a:spcBef>
              <a:spcAft>
                <a:spcPts val="0"/>
              </a:spcAft>
              <a:buNone/>
            </a:pPr>
            <a:r>
              <a:rPr lang="en-US" sz="600" b="0" dirty="0">
                <a:solidFill>
                  <a:srgbClr val="F472B6"/>
                </a:solidFill>
                <a:latin typeface="Segoe UI"/>
                <a:ea typeface="Segoe UI"/>
                <a:cs typeface="Segoe UI"/>
              </a:rPr>
              <a:t> </a:t>
            </a:r>
            <a:endParaRPr lang="en-US" sz="600" dirty="0"/>
          </a:p>
          <a:p>
            <a:pPr marL="0" indent="0" algn="ctr">
              <a:spcBef>
                <a:spcPts val="0"/>
              </a:spcBef>
              <a:spcAft>
                <a:spcPts val="0"/>
              </a:spcAft>
              <a:buNone/>
            </a:pPr>
            <a:r>
              <a:rPr lang="en-US" sz="1400" b="1" dirty="0">
                <a:solidFill>
                  <a:srgbClr val="FFFFFF"/>
                </a:solidFill>
                <a:latin typeface="Segoe UI"/>
                <a:ea typeface="Segoe UI"/>
                <a:cs typeface="Segoe UI"/>
              </a:rPr>
              <a:t>Libraries + TDD</a:t>
            </a:r>
            <a:endParaRPr lang="en-US" sz="1400" dirty="0"/>
          </a:p>
          <a:p>
            <a:pPr marL="0" indent="0" algn="ctr">
              <a:spcBef>
                <a:spcPts val="0"/>
              </a:spcBef>
              <a:spcAft>
                <a:spcPts val="0"/>
              </a:spcAft>
              <a:buNone/>
            </a:pPr>
            <a:r>
              <a:rPr lang="en-US" sz="600" b="0" dirty="0">
                <a:solidFill>
                  <a:srgbClr val="F472B6"/>
                </a:solidFill>
                <a:latin typeface="Segoe UI"/>
                <a:ea typeface="Segoe UI"/>
                <a:cs typeface="Segoe UI"/>
              </a:rPr>
              <a:t> </a:t>
            </a:r>
            <a:endParaRPr lang="en-US" sz="600" dirty="0"/>
          </a:p>
          <a:p>
            <a:pPr marL="0" indent="0" algn="ctr">
              <a:spcBef>
                <a:spcPts val="0"/>
              </a:spcBef>
              <a:spcAft>
                <a:spcPts val="0"/>
              </a:spcAft>
              <a:buNone/>
            </a:pPr>
            <a:r>
              <a:rPr lang="en-US" sz="1100" b="0" dirty="0">
                <a:solidFill>
                  <a:srgbClr val="CBD5E1"/>
                </a:solidFill>
                <a:latin typeface="Segoe UI"/>
                <a:ea typeface="Segoe UI"/>
                <a:cs typeface="Segoe UI"/>
              </a:rPr>
              <a:t>NSubstitute · Moq · Shouldly · Bogus</a:t>
            </a:r>
            <a:endParaRPr lang="en-US" sz="1100" dirty="0"/>
          </a:p>
        </p:txBody>
      </p:sp>
      <p:sp>
        <p:nvSpPr>
          <p:cNvPr id="106" name="c5"/>
          <p:cNvSpPr/>
          <p:nvPr/>
        </p:nvSpPr>
        <p:spPr>
          <a:xfrm>
            <a:off x="9938614" y="1783080"/>
            <a:ext cx="1691640" cy="2834640"/>
          </a:xfrm>
          <a:prstGeom prst="roundRect">
            <a:avLst>
              <a:gd name="adj" fmla="val 12000"/>
            </a:avLst>
          </a:prstGeom>
          <a:solidFill>
            <a:srgbClr val="111B2E"/>
          </a:solidFill>
          <a:ln w="12700">
            <a:solidFill>
              <a:srgbClr val="34D399"/>
            </a:solidFill>
            <a:prstDash val="solid"/>
          </a:ln>
        </p:spPr>
        <p:txBody>
          <a:bodyPr wrap="square" lIns="118872" tIns="228600" rIns="118872" bIns="91440" rtlCol="0" anchor="t">
            <a:noAutofit/>
          </a:bodyPr>
          <a:lstStyle/>
          <a:p>
            <a:pPr marL="0" indent="0" algn="ctr">
              <a:spcBef>
                <a:spcPts val="0"/>
              </a:spcBef>
              <a:spcAft>
                <a:spcPts val="0"/>
              </a:spcAft>
              <a:buNone/>
            </a:pPr>
            <a:r>
              <a:rPr lang="en-US" sz="3200" b="1" dirty="0">
                <a:solidFill>
                  <a:srgbClr val="34D399"/>
                </a:solidFill>
                <a:latin typeface="Segoe UI"/>
                <a:ea typeface="Segoe UI"/>
                <a:cs typeface="Segoe UI"/>
              </a:rPr>
              <a:t>06</a:t>
            </a:r>
            <a:endParaRPr lang="en-US" sz="3200" dirty="0"/>
          </a:p>
          <a:p>
            <a:pPr marL="0" indent="0" algn="ctr">
              <a:spcBef>
                <a:spcPts val="0"/>
              </a:spcBef>
              <a:spcAft>
                <a:spcPts val="0"/>
              </a:spcAft>
              <a:buNone/>
            </a:pPr>
            <a:r>
              <a:rPr lang="en-US" sz="600" b="0" dirty="0">
                <a:solidFill>
                  <a:srgbClr val="34D399"/>
                </a:solidFill>
                <a:latin typeface="Segoe UI"/>
                <a:ea typeface="Segoe UI"/>
                <a:cs typeface="Segoe UI"/>
              </a:rPr>
              <a:t> </a:t>
            </a:r>
            <a:endParaRPr lang="en-US" sz="600" dirty="0"/>
          </a:p>
          <a:p>
            <a:pPr marL="0" indent="0" algn="ctr">
              <a:spcBef>
                <a:spcPts val="0"/>
              </a:spcBef>
              <a:spcAft>
                <a:spcPts val="0"/>
              </a:spcAft>
              <a:buNone/>
            </a:pPr>
            <a:r>
              <a:rPr lang="en-US" sz="1400" b="1" dirty="0">
                <a:solidFill>
                  <a:srgbClr val="FFFFFF"/>
                </a:solidFill>
                <a:latin typeface="Segoe UI"/>
                <a:ea typeface="Segoe UI"/>
                <a:cs typeface="Segoe UI"/>
              </a:rPr>
              <a:t>Lab: the repo</a:t>
            </a:r>
            <a:endParaRPr lang="en-US" sz="1400" dirty="0"/>
          </a:p>
          <a:p>
            <a:pPr marL="0" indent="0" algn="ctr">
              <a:spcBef>
                <a:spcPts val="0"/>
              </a:spcBef>
              <a:spcAft>
                <a:spcPts val="0"/>
              </a:spcAft>
              <a:buNone/>
            </a:pPr>
            <a:r>
              <a:rPr lang="en-US" sz="600" b="0" dirty="0">
                <a:solidFill>
                  <a:srgbClr val="34D399"/>
                </a:solidFill>
                <a:latin typeface="Segoe UI"/>
                <a:ea typeface="Segoe UI"/>
                <a:cs typeface="Segoe UI"/>
              </a:rPr>
              <a:t> </a:t>
            </a:r>
            <a:endParaRPr lang="en-US" sz="600" dirty="0"/>
          </a:p>
          <a:p>
            <a:pPr marL="0" indent="0" algn="ctr">
              <a:spcBef>
                <a:spcPts val="0"/>
              </a:spcBef>
              <a:spcAft>
                <a:spcPts val="0"/>
              </a:spcAft>
              <a:buNone/>
            </a:pPr>
            <a:r>
              <a:rPr lang="en-US" sz="1100" b="0" dirty="0">
                <a:solidFill>
                  <a:srgbClr val="CBD5E1"/>
                </a:solidFill>
                <a:latin typeface="Segoe UI"/>
                <a:ea typeface="Segoe UI"/>
                <a:cs typeface="Segoe UI"/>
              </a:rPr>
              <a:t>many real tests on SwiftBite</a:t>
            </a:r>
            <a:endParaRPr lang="en-US" sz="1100" dirty="0"/>
          </a:p>
        </p:txBody>
      </p:sp>
      <p:sp>
        <p:nvSpPr>
          <p:cNvPr id="107" name="b"/>
          <p:cNvSpPr/>
          <p:nvPr/>
        </p:nvSpPr>
        <p:spPr>
          <a:xfrm>
            <a:off x="543154" y="5074920"/>
            <a:ext cx="11087100" cy="749808"/>
          </a:xfrm>
          <a:prstGeom prst="roundRect">
            <a:avLst>
              <a:gd name="adj" fmla="val 10975"/>
            </a:avLst>
          </a:prstGeom>
          <a:solidFill>
            <a:srgbClr val="0C1628"/>
          </a:solidFill>
          <a:ln w="12700">
            <a:solidFill>
              <a:srgbClr val="13D0F7"/>
            </a:solidFill>
            <a:prstDash val="solid"/>
          </a:ln>
        </p:spPr>
        <p:txBody>
          <a:bodyPr wrap="square" lIns="209398" tIns="75895" rIns="209398" bIns="75895" rtlCol="0" anchor="ctr">
            <a:noAutofit/>
          </a:bodyPr>
          <a:lstStyle/>
          <a:p>
            <a:pPr marL="0" indent="0" algn="ctr">
              <a:spcBef>
                <a:spcPts val="0"/>
              </a:spcBef>
              <a:spcAft>
                <a:spcPts val="0"/>
              </a:spcAft>
              <a:buNone/>
            </a:pPr>
            <a:r>
              <a:rPr lang="en-US" sz="1600" b="0" dirty="0">
                <a:solidFill>
                  <a:srgbClr val="FFFFFF"/>
                </a:solidFill>
                <a:latin typeface="Segoe UI"/>
                <a:ea typeface="Segoe UI"/>
                <a:cs typeface="Segoe UI"/>
              </a:rPr>
              <a:t>Concepts with small standalone classes. Then many real tests on github.com/SimulationEG/SwiftBite.</a:t>
            </a:r>
            <a:endParaRPr lang="en-US" sz="1600" dirty="0"/>
          </a:p>
        </p:txBody>
      </p:sp>
    </p:spTree>
    <p:extLst>
      <p:ext uri="{BB962C8B-B14F-4D97-AF65-F5344CB8AC3E}">
        <p14:creationId xmlns:p14="http://schemas.microsoft.com/office/powerpoint/2010/main" val="50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400"/>
                                        <p:tgtEl>
                                          <p:spTgt spid="10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400"/>
                                        <p:tgtEl>
                                          <p:spTgt spid="1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fade">
                                      <p:cBhvr>
                                        <p:cTn id="32" dur="400"/>
                                        <p:tgtEl>
                                          <p:spTgt spid="10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4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P spid="10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WHY TEST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Manual Checking Does Not Scale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106</a:t>
            </a:r>
            <a:endParaRPr lang="en-US" sz="850" dirty="0"/>
          </a:p>
        </p:txBody>
      </p:sp>
      <p:sp>
        <p:nvSpPr>
          <p:cNvPr id="101" name="m"/>
          <p:cNvSpPr/>
          <p:nvPr/>
        </p:nvSpPr>
        <p:spPr>
          <a:xfrm>
            <a:off x="543154" y="1645920"/>
            <a:ext cx="5394960" cy="2331720"/>
          </a:xfrm>
          <a:prstGeom prst="roundRect">
            <a:avLst>
              <a:gd name="adj" fmla="val 12000"/>
            </a:avLst>
          </a:prstGeom>
          <a:solidFill>
            <a:srgbClr val="111B2E"/>
          </a:solidFill>
          <a:ln w="12700">
            <a:solidFill>
              <a:srgbClr val="F87171"/>
            </a:solidFill>
            <a:prstDash val="solid"/>
          </a:ln>
        </p:spPr>
        <p:txBody>
          <a:bodyPr wrap="square" lIns="182880" tIns="137160" rIns="137160" bIns="91440" rtlCol="0" anchor="t">
            <a:noAutofit/>
          </a:bodyPr>
          <a:lstStyle/>
          <a:p>
            <a:pPr marL="0" indent="0" algn="l">
              <a:spcBef>
                <a:spcPts val="0"/>
              </a:spcBef>
              <a:spcAft>
                <a:spcPts val="0"/>
              </a:spcAft>
              <a:buNone/>
            </a:pPr>
            <a:r>
              <a:rPr lang="en-US" sz="1300" b="1" dirty="0">
                <a:solidFill>
                  <a:srgbClr val="F87171"/>
                </a:solidFill>
                <a:latin typeface="Segoe UI"/>
                <a:ea typeface="Segoe UI"/>
                <a:cs typeface="Segoe UI"/>
              </a:rPr>
              <a:t>✗  CHECKING BY HAND</a:t>
            </a:r>
            <a:endParaRPr lang="en-US" sz="1300" dirty="0"/>
          </a:p>
          <a:p>
            <a:pPr marL="0" indent="0" algn="l">
              <a:spcBef>
                <a:spcPts val="0"/>
              </a:spcBef>
              <a:spcAft>
                <a:spcPts val="0"/>
              </a:spcAft>
              <a:buNone/>
            </a:pPr>
            <a:r>
              <a:rPr lang="en-US" sz="600" b="0" dirty="0">
                <a:solidFill>
                  <a:srgbClr val="F87171"/>
                </a:solidFill>
                <a:latin typeface="Segoe UI"/>
                <a:ea typeface="Segoe UI"/>
                <a:cs typeface="Segoe UI"/>
              </a:rPr>
              <a:t> </a:t>
            </a:r>
            <a:endParaRPr lang="en-US" sz="600" dirty="0"/>
          </a:p>
          <a:p>
            <a:pPr marL="0" indent="0" algn="l">
              <a:spcBef>
                <a:spcPts val="0"/>
              </a:spcBef>
              <a:spcAft>
                <a:spcPts val="0"/>
              </a:spcAft>
              <a:buNone/>
            </a:pPr>
            <a:r>
              <a:rPr lang="en-US" sz="1150" b="0" dirty="0">
                <a:solidFill>
                  <a:srgbClr val="CBD5E1"/>
                </a:solidFill>
                <a:latin typeface="Segoe UI"/>
                <a:ea typeface="Segoe UI"/>
                <a:cs typeface="Segoe UI"/>
              </a:rPr>
              <a:t>1. run the app</a:t>
            </a:r>
            <a:endParaRPr lang="en-US" sz="1150" dirty="0"/>
          </a:p>
          <a:p>
            <a:pPr marL="0" indent="0" algn="l">
              <a:spcBef>
                <a:spcPts val="0"/>
              </a:spcBef>
              <a:spcAft>
                <a:spcPts val="0"/>
              </a:spcAft>
              <a:buNone/>
            </a:pPr>
            <a:r>
              <a:rPr lang="en-US" sz="1150" b="0" dirty="0">
                <a:solidFill>
                  <a:srgbClr val="CBD5E1"/>
                </a:solidFill>
                <a:latin typeface="Segoe UI"/>
                <a:ea typeface="Segoe UI"/>
                <a:cs typeface="Segoe UI"/>
              </a:rPr>
              <a:t>2. click through a scenario, read the result</a:t>
            </a:r>
            <a:endParaRPr lang="en-US" sz="1150" dirty="0"/>
          </a:p>
          <a:p>
            <a:pPr marL="0" indent="0" algn="l">
              <a:spcBef>
                <a:spcPts val="0"/>
              </a:spcBef>
              <a:spcAft>
                <a:spcPts val="0"/>
              </a:spcAft>
              <a:buNone/>
            </a:pPr>
            <a:r>
              <a:rPr lang="en-US" sz="1150" b="0" dirty="0">
                <a:solidFill>
                  <a:srgbClr val="CBD5E1"/>
                </a:solidFill>
                <a:latin typeface="Segoe UI"/>
                <a:ea typeface="Segoe UI"/>
                <a:cs typeface="Segoe UI"/>
              </a:rPr>
              <a:t>3. repeat for every rule, after every change</a:t>
            </a:r>
            <a:endParaRPr lang="en-US" sz="1150" dirty="0"/>
          </a:p>
          <a:p>
            <a:pPr marL="0" indent="0" algn="l">
              <a:spcBef>
                <a:spcPts val="0"/>
              </a:spcBef>
              <a:spcAft>
                <a:spcPts val="0"/>
              </a:spcAft>
              <a:buNone/>
            </a:pPr>
            <a:r>
              <a:rPr lang="en-US" sz="1100" b="1" dirty="0">
                <a:solidFill>
                  <a:srgbClr val="F87171"/>
                </a:solidFill>
                <a:latin typeface="Segoe UI"/>
                <a:ea typeface="Segoe UI"/>
                <a:cs typeface="Segoe UI"/>
              </a:rPr>
              <a:t>slow · boring · forgotten · not repeatable</a:t>
            </a:r>
            <a:endParaRPr lang="en-US" sz="1100" dirty="0"/>
          </a:p>
        </p:txBody>
      </p:sp>
      <p:sp>
        <p:nvSpPr>
          <p:cNvPr id="102" name="a"/>
          <p:cNvSpPr/>
          <p:nvPr/>
        </p:nvSpPr>
        <p:spPr>
          <a:xfrm>
            <a:off x="6236208" y="1645920"/>
            <a:ext cx="5394960" cy="2331720"/>
          </a:xfrm>
          <a:prstGeom prst="roundRect">
            <a:avLst>
              <a:gd name="adj" fmla="val 12000"/>
            </a:avLst>
          </a:prstGeom>
          <a:solidFill>
            <a:srgbClr val="111B2E"/>
          </a:solidFill>
          <a:ln w="12700">
            <a:solidFill>
              <a:srgbClr val="34D399"/>
            </a:solidFill>
            <a:prstDash val="solid"/>
          </a:ln>
        </p:spPr>
        <p:txBody>
          <a:bodyPr wrap="square" lIns="182880" tIns="137160" rIns="137160" bIns="91440" rtlCol="0" anchor="t">
            <a:noAutofit/>
          </a:bodyPr>
          <a:lstStyle/>
          <a:p>
            <a:pPr marL="0" indent="0" algn="l">
              <a:spcBef>
                <a:spcPts val="0"/>
              </a:spcBef>
              <a:spcAft>
                <a:spcPts val="0"/>
              </a:spcAft>
              <a:buNone/>
            </a:pPr>
            <a:r>
              <a:rPr lang="en-US" sz="1300" b="1" dirty="0">
                <a:solidFill>
                  <a:srgbClr val="34D399"/>
                </a:solidFill>
                <a:latin typeface="Segoe UI"/>
                <a:ea typeface="Segoe UI"/>
                <a:cs typeface="Segoe UI"/>
              </a:rPr>
              <a:t>✓  AUTOMATED TESTS</a:t>
            </a:r>
            <a:endParaRPr lang="en-US" sz="1300" dirty="0"/>
          </a:p>
          <a:p>
            <a:pPr marL="0" indent="0" algn="l">
              <a:spcBef>
                <a:spcPts val="0"/>
              </a:spcBef>
              <a:spcAft>
                <a:spcPts val="0"/>
              </a:spcAft>
              <a:buNone/>
            </a:pPr>
            <a:r>
              <a:rPr lang="en-US" sz="600" b="0" dirty="0">
                <a:solidFill>
                  <a:srgbClr val="34D399"/>
                </a:solidFill>
                <a:latin typeface="Segoe UI"/>
                <a:ea typeface="Segoe UI"/>
                <a:cs typeface="Segoe UI"/>
              </a:rPr>
              <a:t> </a:t>
            </a:r>
            <a:endParaRPr lang="en-US" sz="600" dirty="0"/>
          </a:p>
          <a:p>
            <a:pPr marL="0" indent="0" algn="l">
              <a:spcBef>
                <a:spcPts val="0"/>
              </a:spcBef>
              <a:spcAft>
                <a:spcPts val="0"/>
              </a:spcAft>
              <a:buNone/>
            </a:pPr>
            <a:r>
              <a:rPr lang="en-US" sz="1300" b="1" dirty="0">
                <a:solidFill>
                  <a:srgbClr val="13D0F7"/>
                </a:solidFill>
                <a:latin typeface="Consolas"/>
                <a:ea typeface="Consolas"/>
                <a:cs typeface="Consolas"/>
              </a:rPr>
              <a:t>dotnet test</a:t>
            </a:r>
            <a:endParaRPr lang="en-US" sz="1300" dirty="0"/>
          </a:p>
          <a:p>
            <a:pPr marL="0" indent="0" algn="l">
              <a:spcBef>
                <a:spcPts val="0"/>
              </a:spcBef>
              <a:spcAft>
                <a:spcPts val="0"/>
              </a:spcAft>
              <a:buNone/>
            </a:pPr>
            <a:r>
              <a:rPr lang="en-US" sz="1150" b="0" dirty="0">
                <a:solidFill>
                  <a:srgbClr val="CBD5E1"/>
                </a:solidFill>
                <a:latin typeface="Segoe UI"/>
                <a:ea typeface="Segoe UI"/>
                <a:cs typeface="Segoe UI"/>
              </a:rPr>
              <a:t>every rule checked in seconds</a:t>
            </a:r>
            <a:endParaRPr lang="en-US" sz="1150" dirty="0"/>
          </a:p>
          <a:p>
            <a:pPr marL="0" indent="0" algn="l">
              <a:spcBef>
                <a:spcPts val="0"/>
              </a:spcBef>
              <a:spcAft>
                <a:spcPts val="0"/>
              </a:spcAft>
              <a:buNone/>
            </a:pPr>
            <a:r>
              <a:rPr lang="en-US" sz="1150" b="0" dirty="0">
                <a:solidFill>
                  <a:srgbClr val="CBD5E1"/>
                </a:solidFill>
                <a:latin typeface="Segoe UI"/>
                <a:ea typeface="Segoe UI"/>
                <a:cs typeface="Segoe UI"/>
              </a:rPr>
              <a:t>after every change, by everyone, in CI</a:t>
            </a:r>
            <a:endParaRPr lang="en-US" sz="1150" dirty="0"/>
          </a:p>
          <a:p>
            <a:pPr marL="0" indent="0" algn="l">
              <a:spcBef>
                <a:spcPts val="0"/>
              </a:spcBef>
              <a:spcAft>
                <a:spcPts val="0"/>
              </a:spcAft>
              <a:buNone/>
            </a:pPr>
            <a:r>
              <a:rPr lang="en-US" sz="1100" b="1" dirty="0">
                <a:solidFill>
                  <a:srgbClr val="34D399"/>
                </a:solidFill>
                <a:latin typeface="Segoe UI"/>
                <a:ea typeface="Segoe UI"/>
                <a:cs typeface="Segoe UI"/>
              </a:rPr>
              <a:t>fast · repeatable · documents the rules</a:t>
            </a:r>
            <a:endParaRPr lang="en-US" sz="1100" dirty="0"/>
          </a:p>
        </p:txBody>
      </p:sp>
      <p:sp>
        <p:nvSpPr>
          <p:cNvPr id="103" name="cl"/>
          <p:cNvSpPr txBox="1"/>
          <p:nvPr/>
        </p:nvSpPr>
        <p:spPr>
          <a:xfrm>
            <a:off x="543154" y="4114800"/>
            <a:ext cx="5486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THE COST OF A BUG GROWS WITH TIME  (illustrative)</a:t>
            </a:r>
            <a:endParaRPr lang="en-US" sz="1000" dirty="0"/>
          </a:p>
        </p:txBody>
      </p:sp>
      <p:sp>
        <p:nvSpPr>
          <p:cNvPr id="104" name="bl0"/>
          <p:cNvSpPr txBox="1"/>
          <p:nvPr/>
        </p:nvSpPr>
        <p:spPr>
          <a:xfrm>
            <a:off x="543154" y="4407408"/>
            <a:ext cx="20116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while coding</a:t>
            </a:r>
            <a:endParaRPr lang="en-US" sz="1050" dirty="0"/>
          </a:p>
        </p:txBody>
      </p:sp>
      <p:sp>
        <p:nvSpPr>
          <p:cNvPr id="105" name="bb0"/>
          <p:cNvSpPr/>
          <p:nvPr/>
        </p:nvSpPr>
        <p:spPr>
          <a:xfrm>
            <a:off x="2651760" y="4443984"/>
            <a:ext cx="457200" cy="219456"/>
          </a:xfrm>
          <a:prstGeom prst="roundRect">
            <a:avLst>
              <a:gd name="adj" fmla="val 30000"/>
            </a:avLst>
          </a:prstGeom>
          <a:solidFill>
            <a:srgbClr val="34D399"/>
          </a:solidFill>
          <a:ln w="12700">
            <a:solidFill>
              <a:srgbClr val="34D399"/>
            </a:solidFill>
            <a:prstDash val="solid"/>
          </a:ln>
        </p:spPr>
        <p:txBody>
          <a:bodyPr/>
          <a:lstStyle/>
          <a:p>
            <a:endParaRPr lang="en-US"/>
          </a:p>
        </p:txBody>
      </p:sp>
      <p:sp>
        <p:nvSpPr>
          <p:cNvPr id="106" name="bl1"/>
          <p:cNvSpPr txBox="1"/>
          <p:nvPr/>
        </p:nvSpPr>
        <p:spPr>
          <a:xfrm>
            <a:off x="543154" y="4754880"/>
            <a:ext cx="20116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code review / tests</a:t>
            </a:r>
            <a:endParaRPr lang="en-US" sz="1050" dirty="0"/>
          </a:p>
        </p:txBody>
      </p:sp>
      <p:sp>
        <p:nvSpPr>
          <p:cNvPr id="107" name="bb1"/>
          <p:cNvSpPr/>
          <p:nvPr/>
        </p:nvSpPr>
        <p:spPr>
          <a:xfrm>
            <a:off x="2651760" y="4791456"/>
            <a:ext cx="1280160" cy="219456"/>
          </a:xfrm>
          <a:prstGeom prst="roundRect">
            <a:avLst>
              <a:gd name="adj" fmla="val 30000"/>
            </a:avLst>
          </a:prstGeom>
          <a:solidFill>
            <a:srgbClr val="13D0F7"/>
          </a:solidFill>
          <a:ln w="12700">
            <a:solidFill>
              <a:srgbClr val="13D0F7"/>
            </a:solidFill>
            <a:prstDash val="solid"/>
          </a:ln>
        </p:spPr>
        <p:txBody>
          <a:bodyPr/>
          <a:lstStyle/>
          <a:p>
            <a:endParaRPr lang="en-US"/>
          </a:p>
        </p:txBody>
      </p:sp>
      <p:sp>
        <p:nvSpPr>
          <p:cNvPr id="108" name="bl2"/>
          <p:cNvSpPr txBox="1"/>
          <p:nvPr/>
        </p:nvSpPr>
        <p:spPr>
          <a:xfrm>
            <a:off x="543154" y="5102352"/>
            <a:ext cx="20116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QA</a:t>
            </a:r>
            <a:endParaRPr lang="en-US" sz="1050" dirty="0"/>
          </a:p>
        </p:txBody>
      </p:sp>
      <p:sp>
        <p:nvSpPr>
          <p:cNvPr id="109" name="bb2"/>
          <p:cNvSpPr/>
          <p:nvPr/>
        </p:nvSpPr>
        <p:spPr>
          <a:xfrm>
            <a:off x="2651760" y="5138928"/>
            <a:ext cx="2926080" cy="219456"/>
          </a:xfrm>
          <a:prstGeom prst="roundRect">
            <a:avLst>
              <a:gd name="adj" fmla="val 30000"/>
            </a:avLst>
          </a:prstGeom>
          <a:solidFill>
            <a:srgbClr val="FBBF24"/>
          </a:solidFill>
          <a:ln w="12700">
            <a:solidFill>
              <a:srgbClr val="FBBF24"/>
            </a:solidFill>
            <a:prstDash val="solid"/>
          </a:ln>
        </p:spPr>
        <p:txBody>
          <a:bodyPr/>
          <a:lstStyle/>
          <a:p>
            <a:endParaRPr lang="en-US"/>
          </a:p>
        </p:txBody>
      </p:sp>
      <p:sp>
        <p:nvSpPr>
          <p:cNvPr id="110" name="bl3"/>
          <p:cNvSpPr txBox="1"/>
          <p:nvPr/>
        </p:nvSpPr>
        <p:spPr>
          <a:xfrm>
            <a:off x="543154" y="5449824"/>
            <a:ext cx="20116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production</a:t>
            </a:r>
            <a:endParaRPr lang="en-US" sz="1050" dirty="0"/>
          </a:p>
        </p:txBody>
      </p:sp>
      <p:sp>
        <p:nvSpPr>
          <p:cNvPr id="111" name="bb3"/>
          <p:cNvSpPr/>
          <p:nvPr/>
        </p:nvSpPr>
        <p:spPr>
          <a:xfrm>
            <a:off x="2651760" y="5486400"/>
            <a:ext cx="7132320" cy="219456"/>
          </a:xfrm>
          <a:prstGeom prst="roundRect">
            <a:avLst>
              <a:gd name="adj" fmla="val 30000"/>
            </a:avLst>
          </a:prstGeom>
          <a:solidFill>
            <a:srgbClr val="F87171"/>
          </a:solidFill>
          <a:ln w="12700">
            <a:solidFill>
              <a:srgbClr val="F87171"/>
            </a:solidFill>
            <a:prstDash val="solid"/>
          </a:ln>
        </p:spPr>
        <p:txBody>
          <a:bodyPr/>
          <a:lstStyle/>
          <a:p>
            <a:endParaRPr lang="en-US"/>
          </a:p>
        </p:txBody>
      </p:sp>
    </p:spTree>
    <p:extLst>
      <p:ext uri="{BB962C8B-B14F-4D97-AF65-F5344CB8AC3E}">
        <p14:creationId xmlns:p14="http://schemas.microsoft.com/office/powerpoint/2010/main" val="508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4"/>
                                        </p:tgtEl>
                                        <p:attrNameLst>
                                          <p:attrName>style.visibility</p:attrName>
                                        </p:attrNameLst>
                                      </p:cBhvr>
                                      <p:to>
                                        <p:strVal val="visible"/>
                                      </p:to>
                                    </p:set>
                                    <p:animEffect transition="in" filter="fade">
                                      <p:cBhvr>
                                        <p:cTn id="20" dur="250"/>
                                        <p:tgtEl>
                                          <p:spTgt spid="10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5"/>
                                        </p:tgtEl>
                                        <p:attrNameLst>
                                          <p:attrName>style.visibility</p:attrName>
                                        </p:attrNameLst>
                                      </p:cBhvr>
                                      <p:to>
                                        <p:strVal val="visible"/>
                                      </p:to>
                                    </p:set>
                                    <p:animEffect transition="in" filter="fade">
                                      <p:cBhvr>
                                        <p:cTn id="23" dur="250"/>
                                        <p:tgtEl>
                                          <p:spTgt spid="105"/>
                                        </p:tgtEl>
                                      </p:cBhvr>
                                    </p:animEffect>
                                  </p:childTnLst>
                                </p:cTn>
                              </p:par>
                            </p:childTnLst>
                          </p:cTn>
                        </p:par>
                        <p:par>
                          <p:cTn id="24" fill="hold">
                            <p:stCondLst>
                              <p:cond delay="400"/>
                            </p:stCondLst>
                            <p:childTnLst>
                              <p:par>
                                <p:cTn id="25" presetID="10" presetClass="entr" presetSubtype="0" fill="hold" grpId="0" nodeType="after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fade">
                                      <p:cBhvr>
                                        <p:cTn id="27" dur="250"/>
                                        <p:tgtEl>
                                          <p:spTgt spid="10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7"/>
                                        </p:tgtEl>
                                        <p:attrNameLst>
                                          <p:attrName>style.visibility</p:attrName>
                                        </p:attrNameLst>
                                      </p:cBhvr>
                                      <p:to>
                                        <p:strVal val="visible"/>
                                      </p:to>
                                    </p:set>
                                    <p:animEffect transition="in" filter="fade">
                                      <p:cBhvr>
                                        <p:cTn id="30" dur="250"/>
                                        <p:tgtEl>
                                          <p:spTgt spid="107"/>
                                        </p:tgtEl>
                                      </p:cBhvr>
                                    </p:animEffect>
                                  </p:childTnLst>
                                </p:cTn>
                              </p:par>
                            </p:childTnLst>
                          </p:cTn>
                        </p:par>
                        <p:par>
                          <p:cTn id="31" fill="hold">
                            <p:stCondLst>
                              <p:cond delay="650"/>
                            </p:stCondLst>
                            <p:childTnLst>
                              <p:par>
                                <p:cTn id="32" presetID="10" presetClass="entr" presetSubtype="0" fill="hold" grpId="0" nodeType="afterEffect">
                                  <p:stCondLst>
                                    <p:cond delay="0"/>
                                  </p:stCondLst>
                                  <p:childTnLst>
                                    <p:set>
                                      <p:cBhvr>
                                        <p:cTn id="33" dur="1" fill="hold">
                                          <p:stCondLst>
                                            <p:cond delay="0"/>
                                          </p:stCondLst>
                                        </p:cTn>
                                        <p:tgtEl>
                                          <p:spTgt spid="108"/>
                                        </p:tgtEl>
                                        <p:attrNameLst>
                                          <p:attrName>style.visibility</p:attrName>
                                        </p:attrNameLst>
                                      </p:cBhvr>
                                      <p:to>
                                        <p:strVal val="visible"/>
                                      </p:to>
                                    </p:set>
                                    <p:animEffect transition="in" filter="fade">
                                      <p:cBhvr>
                                        <p:cTn id="34" dur="250"/>
                                        <p:tgtEl>
                                          <p:spTgt spid="10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250"/>
                                        <p:tgtEl>
                                          <p:spTgt spid="109"/>
                                        </p:tgtEl>
                                      </p:cBhvr>
                                    </p:animEffect>
                                  </p:childTnLst>
                                </p:cTn>
                              </p:par>
                            </p:childTnLst>
                          </p:cTn>
                        </p:par>
                        <p:par>
                          <p:cTn id="38" fill="hold">
                            <p:stCondLst>
                              <p:cond delay="900"/>
                            </p:stCondLst>
                            <p:childTnLst>
                              <p:par>
                                <p:cTn id="39" presetID="10" presetClass="entr" presetSubtype="0" fill="hold" grpId="0" nodeType="afterEffect">
                                  <p:stCondLst>
                                    <p:cond delay="0"/>
                                  </p:stCondLst>
                                  <p:childTnLst>
                                    <p:set>
                                      <p:cBhvr>
                                        <p:cTn id="40" dur="1" fill="hold">
                                          <p:stCondLst>
                                            <p:cond delay="0"/>
                                          </p:stCondLst>
                                        </p:cTn>
                                        <p:tgtEl>
                                          <p:spTgt spid="110"/>
                                        </p:tgtEl>
                                        <p:attrNameLst>
                                          <p:attrName>style.visibility</p:attrName>
                                        </p:attrNameLst>
                                      </p:cBhvr>
                                      <p:to>
                                        <p:strVal val="visible"/>
                                      </p:to>
                                    </p:set>
                                    <p:animEffect transition="in" filter="fade">
                                      <p:cBhvr>
                                        <p:cTn id="41" dur="250"/>
                                        <p:tgtEl>
                                          <p:spTgt spid="1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1"/>
                                        </p:tgtEl>
                                        <p:attrNameLst>
                                          <p:attrName>style.visibility</p:attrName>
                                        </p:attrNameLst>
                                      </p:cBhvr>
                                      <p:to>
                                        <p:strVal val="visible"/>
                                      </p:to>
                                    </p:set>
                                    <p:animEffect transition="in" filter="fade">
                                      <p:cBhvr>
                                        <p:cTn id="44" dur="25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FIRST TEST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Unit Test: Arrange, Act, Assert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107</a:t>
            </a:r>
            <a:endParaRPr lang="en-US" sz="850" dirty="0"/>
          </a:p>
        </p:txBody>
      </p:sp>
      <p:sp>
        <p:nvSpPr>
          <p:cNvPr id="101" name="cl"/>
          <p:cNvSpPr txBox="1"/>
          <p:nvPr/>
        </p:nvSpPr>
        <p:spPr>
          <a:xfrm>
            <a:off x="543154" y="1463040"/>
            <a:ext cx="50749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5846674" y="1463040"/>
            <a:ext cx="57835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3" name="cls"/>
          <p:cNvGrpSpPr/>
          <p:nvPr/>
        </p:nvGrpSpPr>
        <p:grpSpPr>
          <a:xfrm>
            <a:off x="543154" y="1755648"/>
            <a:ext cx="5074920" cy="2995900"/>
            <a:chOff x="543154" y="1755648"/>
            <a:chExt cx="5074920" cy="2995900"/>
          </a:xfrm>
        </p:grpSpPr>
        <p:sp>
          <p:nvSpPr>
            <p:cNvPr id="103" name="cls_win"/>
            <p:cNvSpPr/>
            <p:nvPr/>
          </p:nvSpPr>
          <p:spPr>
            <a:xfrm>
              <a:off x="543154" y="1755648"/>
              <a:ext cx="5074920" cy="2995900"/>
            </a:xfrm>
            <a:prstGeom prst="roundRect">
              <a:avLst>
                <a:gd name="adj" fmla="val 2288"/>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0749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07492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BankAccount.cs</a:t>
              </a:r>
              <a:endParaRPr lang="en-US" sz="950" dirty="0"/>
            </a:p>
          </p:txBody>
        </p:sp>
        <p:sp>
          <p:nvSpPr>
            <p:cNvPr id="110" name="cls_L00"/>
            <p:cNvSpPr txBox="1"/>
            <p:nvPr/>
          </p:nvSpPr>
          <p:spPr>
            <a:xfrm>
              <a:off x="771754" y="2231548"/>
              <a:ext cx="47749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class</a:t>
              </a:r>
              <a:r>
                <a:rPr lang="en-US" sz="850" b="0" dirty="0">
                  <a:solidFill>
                    <a:srgbClr val="E2E8F0"/>
                  </a:solidFill>
                  <a:latin typeface="Consolas"/>
                  <a:ea typeface="Consolas"/>
                  <a:cs typeface="Consolas"/>
                </a:rPr>
                <a:t> BankAccount</a:t>
              </a:r>
              <a:endParaRPr lang="en-US" sz="850" dirty="0"/>
            </a:p>
          </p:txBody>
        </p:sp>
        <p:sp>
          <p:nvSpPr>
            <p:cNvPr id="111" name="cls_L01"/>
            <p:cNvSpPr txBox="1"/>
            <p:nvPr/>
          </p:nvSpPr>
          <p:spPr>
            <a:xfrm>
              <a:off x="771754" y="2391548"/>
              <a:ext cx="47749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12" name="cls_L02"/>
            <p:cNvSpPr txBox="1"/>
            <p:nvPr/>
          </p:nvSpPr>
          <p:spPr>
            <a:xfrm>
              <a:off x="771754" y="2551548"/>
              <a:ext cx="4774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string</a:t>
              </a:r>
              <a:r>
                <a:rPr lang="en-US" sz="850" b="0" dirty="0">
                  <a:solidFill>
                    <a:srgbClr val="E2E8F0"/>
                  </a:solidFill>
                  <a:latin typeface="Consolas"/>
                  <a:ea typeface="Consolas"/>
                  <a:cs typeface="Consolas"/>
                </a:rPr>
                <a:t> Owner { </a:t>
              </a:r>
              <a:r>
                <a:rPr lang="en-US" sz="850" b="0" dirty="0">
                  <a:solidFill>
                    <a:srgbClr val="60A5FA"/>
                  </a:solidFill>
                  <a:latin typeface="Consolas"/>
                  <a:ea typeface="Consolas"/>
                  <a:cs typeface="Consolas"/>
                </a:rPr>
                <a:t>get</a:t>
              </a:r>
              <a:r>
                <a:rPr lang="en-US" sz="850" b="0" dirty="0">
                  <a:solidFill>
                    <a:srgbClr val="E2E8F0"/>
                  </a:solidFill>
                  <a:latin typeface="Consolas"/>
                  <a:ea typeface="Consolas"/>
                  <a:cs typeface="Consolas"/>
                </a:rPr>
                <a:t>; }</a:t>
              </a:r>
              <a:endParaRPr lang="en-US" sz="850" dirty="0"/>
            </a:p>
          </p:txBody>
        </p:sp>
        <p:sp>
          <p:nvSpPr>
            <p:cNvPr id="113" name="cls_L03"/>
            <p:cNvSpPr txBox="1"/>
            <p:nvPr/>
          </p:nvSpPr>
          <p:spPr>
            <a:xfrm>
              <a:off x="771754" y="2711548"/>
              <a:ext cx="4774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Balance { </a:t>
              </a:r>
              <a:r>
                <a:rPr lang="en-US" sz="850" b="0" dirty="0">
                  <a:solidFill>
                    <a:srgbClr val="60A5FA"/>
                  </a:solidFill>
                  <a:latin typeface="Consolas"/>
                  <a:ea typeface="Consolas"/>
                  <a:cs typeface="Consolas"/>
                </a:rPr>
                <a:t>get</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private</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set</a:t>
              </a:r>
              <a:r>
                <a:rPr lang="en-US" sz="850" b="0" dirty="0">
                  <a:solidFill>
                    <a:srgbClr val="E2E8F0"/>
                  </a:solidFill>
                  <a:latin typeface="Consolas"/>
                  <a:ea typeface="Consolas"/>
                  <a:cs typeface="Consolas"/>
                </a:rPr>
                <a:t>; }</a:t>
              </a:r>
              <a:endParaRPr lang="en-US" sz="850" dirty="0"/>
            </a:p>
          </p:txBody>
        </p:sp>
        <p:sp>
          <p:nvSpPr>
            <p:cNvPr id="114" name="cls_L05"/>
            <p:cNvSpPr txBox="1"/>
            <p:nvPr/>
          </p:nvSpPr>
          <p:spPr>
            <a:xfrm>
              <a:off x="771754" y="3031548"/>
              <a:ext cx="4774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BankAccount(</a:t>
              </a:r>
              <a:r>
                <a:rPr lang="en-US" sz="850" b="0" dirty="0">
                  <a:solidFill>
                    <a:srgbClr val="60A5FA"/>
                  </a:solidFill>
                  <a:latin typeface="Consolas"/>
                  <a:ea typeface="Consolas"/>
                  <a:cs typeface="Consolas"/>
                </a:rPr>
                <a:t>string</a:t>
              </a:r>
              <a:r>
                <a:rPr lang="en-US" sz="850" b="0" dirty="0">
                  <a:solidFill>
                    <a:srgbClr val="E2E8F0"/>
                  </a:solidFill>
                  <a:latin typeface="Consolas"/>
                  <a:ea typeface="Consolas"/>
                  <a:cs typeface="Consolas"/>
                </a:rPr>
                <a:t> owner, </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openingBalance = 0)</a:t>
              </a:r>
              <a:endParaRPr lang="en-US" sz="850" dirty="0"/>
            </a:p>
          </p:txBody>
        </p:sp>
        <p:sp>
          <p:nvSpPr>
            <p:cNvPr id="115" name="cls_L06"/>
            <p:cNvSpPr txBox="1"/>
            <p:nvPr/>
          </p:nvSpPr>
          <p:spPr>
            <a:xfrm>
              <a:off x="771754" y="3191548"/>
              <a:ext cx="47749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=&gt; (Owner, Balance) = (owner, openingBalance);</a:t>
              </a:r>
              <a:endParaRPr lang="en-US" sz="850" dirty="0"/>
            </a:p>
          </p:txBody>
        </p:sp>
        <p:sp>
          <p:nvSpPr>
            <p:cNvPr id="116" name="cls_L08"/>
            <p:cNvSpPr txBox="1"/>
            <p:nvPr/>
          </p:nvSpPr>
          <p:spPr>
            <a:xfrm>
              <a:off x="771754" y="3511548"/>
              <a:ext cx="4774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void</a:t>
              </a:r>
              <a:r>
                <a:rPr lang="en-US" sz="850" b="0" dirty="0">
                  <a:solidFill>
                    <a:srgbClr val="E2E8F0"/>
                  </a:solidFill>
                  <a:latin typeface="Consolas"/>
                  <a:ea typeface="Consolas"/>
                  <a:cs typeface="Consolas"/>
                </a:rPr>
                <a:t> Deposit(</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amount)</a:t>
              </a:r>
              <a:endParaRPr lang="en-US" sz="850" dirty="0"/>
            </a:p>
          </p:txBody>
        </p:sp>
        <p:sp>
          <p:nvSpPr>
            <p:cNvPr id="117" name="cls_L09"/>
            <p:cNvSpPr txBox="1"/>
            <p:nvPr/>
          </p:nvSpPr>
          <p:spPr>
            <a:xfrm>
              <a:off x="771754" y="3671548"/>
              <a:ext cx="4774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18" name="cls_L10"/>
            <p:cNvSpPr txBox="1"/>
            <p:nvPr/>
          </p:nvSpPr>
          <p:spPr>
            <a:xfrm>
              <a:off x="771754" y="3831548"/>
              <a:ext cx="47749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0A5FA"/>
                  </a:solidFill>
                  <a:latin typeface="Consolas"/>
                  <a:ea typeface="Consolas"/>
                  <a:cs typeface="Consolas"/>
                </a:rPr>
                <a:t>if</a:t>
              </a:r>
              <a:r>
                <a:rPr lang="en-US" sz="850" b="0" dirty="0">
                  <a:solidFill>
                    <a:srgbClr val="E2E8F0"/>
                  </a:solidFill>
                  <a:latin typeface="Consolas"/>
                  <a:ea typeface="Consolas"/>
                  <a:cs typeface="Consolas"/>
                </a:rPr>
                <a:t> (amount &lt;= 0)</a:t>
              </a:r>
              <a:endParaRPr lang="en-US" sz="850" dirty="0"/>
            </a:p>
          </p:txBody>
        </p:sp>
        <p:sp>
          <p:nvSpPr>
            <p:cNvPr id="119" name="cls_L11"/>
            <p:cNvSpPr txBox="1"/>
            <p:nvPr/>
          </p:nvSpPr>
          <p:spPr>
            <a:xfrm>
              <a:off x="771754" y="3991548"/>
              <a:ext cx="477492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50" b="0" dirty="0">
                  <a:solidFill>
                    <a:srgbClr val="60A5FA"/>
                  </a:solidFill>
                  <a:latin typeface="Consolas"/>
                  <a:ea typeface="Consolas"/>
                  <a:cs typeface="Consolas"/>
                </a:rPr>
                <a:t>throw</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ArgumentOutOfRangeException(nameof(amount));</a:t>
              </a:r>
              <a:endParaRPr lang="en-US" sz="850" dirty="0"/>
            </a:p>
          </p:txBody>
        </p:sp>
        <p:sp>
          <p:nvSpPr>
            <p:cNvPr id="120" name="cls_L12"/>
            <p:cNvSpPr txBox="1"/>
            <p:nvPr/>
          </p:nvSpPr>
          <p:spPr>
            <a:xfrm>
              <a:off x="771754" y="4151548"/>
              <a:ext cx="47749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Balance += amount;</a:t>
              </a:r>
              <a:endParaRPr lang="en-US" sz="850" dirty="0"/>
            </a:p>
          </p:txBody>
        </p:sp>
        <p:sp>
          <p:nvSpPr>
            <p:cNvPr id="121" name="cls_L13"/>
            <p:cNvSpPr txBox="1"/>
            <p:nvPr/>
          </p:nvSpPr>
          <p:spPr>
            <a:xfrm>
              <a:off x="771754" y="4311548"/>
              <a:ext cx="4774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22" name="cls_L14"/>
            <p:cNvSpPr txBox="1"/>
            <p:nvPr/>
          </p:nvSpPr>
          <p:spPr>
            <a:xfrm>
              <a:off x="771754" y="4471548"/>
              <a:ext cx="47749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24" name="cls_hl8"/>
          <p:cNvSpPr/>
          <p:nvPr/>
        </p:nvSpPr>
        <p:spPr>
          <a:xfrm>
            <a:off x="676656" y="3493260"/>
            <a:ext cx="4807920" cy="19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5" name="tst"/>
          <p:cNvGrpSpPr/>
          <p:nvPr/>
        </p:nvGrpSpPr>
        <p:grpSpPr>
          <a:xfrm>
            <a:off x="5846674" y="1755648"/>
            <a:ext cx="5783580" cy="2995900"/>
            <a:chOff x="5846674" y="1755648"/>
            <a:chExt cx="5783580" cy="2995900"/>
          </a:xfrm>
        </p:grpSpPr>
        <p:sp>
          <p:nvSpPr>
            <p:cNvPr id="125" name="tst_win"/>
            <p:cNvSpPr/>
            <p:nvPr/>
          </p:nvSpPr>
          <p:spPr>
            <a:xfrm>
              <a:off x="5846674" y="1755648"/>
              <a:ext cx="5783580" cy="2995900"/>
            </a:xfrm>
            <a:prstGeom prst="roundRect">
              <a:avLst>
                <a:gd name="adj" fmla="val 2288"/>
              </a:avLst>
            </a:prstGeom>
            <a:solidFill>
              <a:srgbClr val="060D18"/>
            </a:solidFill>
            <a:ln w="12700">
              <a:solidFill>
                <a:srgbClr val="1E3A5F"/>
              </a:solidFill>
              <a:prstDash val="solid"/>
            </a:ln>
          </p:spPr>
          <p:txBody>
            <a:bodyPr/>
            <a:lstStyle/>
            <a:p>
              <a:endParaRPr lang="en-US"/>
            </a:p>
          </p:txBody>
        </p:sp>
        <p:sp>
          <p:nvSpPr>
            <p:cNvPr id="126" name="tst_bar"/>
            <p:cNvSpPr/>
            <p:nvPr/>
          </p:nvSpPr>
          <p:spPr>
            <a:xfrm>
              <a:off x="5846674" y="1755648"/>
              <a:ext cx="57835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7" name="tst_barfill"/>
            <p:cNvSpPr/>
            <p:nvPr/>
          </p:nvSpPr>
          <p:spPr>
            <a:xfrm>
              <a:off x="5846674" y="1927098"/>
              <a:ext cx="5783580" cy="171450"/>
            </a:xfrm>
            <a:prstGeom prst="rect">
              <a:avLst/>
            </a:prstGeom>
            <a:solidFill>
              <a:srgbClr val="0A1220"/>
            </a:solidFill>
            <a:ln w="12700">
              <a:solidFill>
                <a:srgbClr val="0A1220"/>
              </a:solidFill>
              <a:prstDash val="solid"/>
            </a:ln>
          </p:spPr>
          <p:txBody>
            <a:bodyPr/>
            <a:lstStyle/>
            <a:p>
              <a:endParaRPr lang="en-US"/>
            </a:p>
          </p:txBody>
        </p:sp>
        <p:sp>
          <p:nvSpPr>
            <p:cNvPr id="128" name="tst_dot0"/>
            <p:cNvSpPr/>
            <p:nvPr/>
          </p:nvSpPr>
          <p:spPr>
            <a:xfrm>
              <a:off x="600852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9" name="tst_dot1"/>
            <p:cNvSpPr/>
            <p:nvPr/>
          </p:nvSpPr>
          <p:spPr>
            <a:xfrm>
              <a:off x="619414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0" name="tst_dot2"/>
            <p:cNvSpPr/>
            <p:nvPr/>
          </p:nvSpPr>
          <p:spPr>
            <a:xfrm>
              <a:off x="637977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1" name="tst_tab"/>
            <p:cNvSpPr/>
            <p:nvPr/>
          </p:nvSpPr>
          <p:spPr>
            <a:xfrm>
              <a:off x="6627571" y="1803197"/>
              <a:ext cx="1624333"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BankAccountTests.cs</a:t>
              </a:r>
              <a:endParaRPr lang="en-US" sz="950" dirty="0"/>
            </a:p>
          </p:txBody>
        </p:sp>
        <p:sp>
          <p:nvSpPr>
            <p:cNvPr id="132" name="tst_L00"/>
            <p:cNvSpPr txBox="1"/>
            <p:nvPr/>
          </p:nvSpPr>
          <p:spPr>
            <a:xfrm>
              <a:off x="6075274" y="2231548"/>
              <a:ext cx="5483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class</a:t>
              </a:r>
              <a:r>
                <a:rPr lang="en-US" sz="850" b="0" dirty="0">
                  <a:solidFill>
                    <a:srgbClr val="E2E8F0"/>
                  </a:solidFill>
                  <a:latin typeface="Consolas"/>
                  <a:ea typeface="Consolas"/>
                  <a:cs typeface="Consolas"/>
                </a:rPr>
                <a:t> BankAccountTests</a:t>
              </a:r>
              <a:endParaRPr lang="en-US" sz="850" dirty="0"/>
            </a:p>
          </p:txBody>
        </p:sp>
        <p:sp>
          <p:nvSpPr>
            <p:cNvPr id="133" name="tst_L01"/>
            <p:cNvSpPr txBox="1"/>
            <p:nvPr/>
          </p:nvSpPr>
          <p:spPr>
            <a:xfrm>
              <a:off x="6075274" y="2391548"/>
              <a:ext cx="5483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34" name="tst_L02"/>
            <p:cNvSpPr txBox="1"/>
            <p:nvPr/>
          </p:nvSpPr>
          <p:spPr>
            <a:xfrm>
              <a:off x="6075274" y="2551548"/>
              <a:ext cx="5483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[Fact]</a:t>
              </a:r>
              <a:endParaRPr lang="en-US" sz="850" dirty="0"/>
            </a:p>
          </p:txBody>
        </p:sp>
        <p:sp>
          <p:nvSpPr>
            <p:cNvPr id="135" name="tst_L03"/>
            <p:cNvSpPr txBox="1"/>
            <p:nvPr/>
          </p:nvSpPr>
          <p:spPr>
            <a:xfrm>
              <a:off x="6075274" y="2711548"/>
              <a:ext cx="5483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void</a:t>
              </a:r>
              <a:r>
                <a:rPr lang="en-US" sz="850" b="0" dirty="0">
                  <a:solidFill>
                    <a:srgbClr val="E2E8F0"/>
                  </a:solidFill>
                  <a:latin typeface="Consolas"/>
                  <a:ea typeface="Consolas"/>
                  <a:cs typeface="Consolas"/>
                </a:rPr>
                <a:t> Deposit_ValidAmount_IncreasesBalance()</a:t>
              </a:r>
              <a:endParaRPr lang="en-US" sz="850" dirty="0"/>
            </a:p>
          </p:txBody>
        </p:sp>
        <p:sp>
          <p:nvSpPr>
            <p:cNvPr id="136" name="tst_L04"/>
            <p:cNvSpPr txBox="1"/>
            <p:nvPr/>
          </p:nvSpPr>
          <p:spPr>
            <a:xfrm>
              <a:off x="6075274" y="2871548"/>
              <a:ext cx="5483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37" name="tst_L05"/>
            <p:cNvSpPr txBox="1"/>
            <p:nvPr/>
          </p:nvSpPr>
          <p:spPr>
            <a:xfrm>
              <a:off x="6075274" y="3031548"/>
              <a:ext cx="548358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FAE7A"/>
                  </a:solidFill>
                  <a:latin typeface="Consolas"/>
                  <a:ea typeface="Consolas"/>
                  <a:cs typeface="Consolas"/>
                </a:rPr>
                <a:t>// Arrange</a:t>
              </a:r>
              <a:endParaRPr lang="en-US" sz="850" dirty="0"/>
            </a:p>
          </p:txBody>
        </p:sp>
        <p:sp>
          <p:nvSpPr>
            <p:cNvPr id="138" name="tst_L06"/>
            <p:cNvSpPr txBox="1"/>
            <p:nvPr/>
          </p:nvSpPr>
          <p:spPr>
            <a:xfrm>
              <a:off x="6075274" y="3191548"/>
              <a:ext cx="548358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0A5FA"/>
                  </a:solidFill>
                  <a:latin typeface="Consolas"/>
                  <a:ea typeface="Consolas"/>
                  <a:cs typeface="Consolas"/>
                </a:rPr>
                <a:t>var</a:t>
              </a:r>
              <a:r>
                <a:rPr lang="en-US" sz="850" b="0" dirty="0">
                  <a:solidFill>
                    <a:srgbClr val="E2E8F0"/>
                  </a:solidFill>
                  <a:latin typeface="Consolas"/>
                  <a:ea typeface="Consolas"/>
                  <a:cs typeface="Consolas"/>
                </a:rPr>
                <a:t> account =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BankAccount(</a:t>
              </a:r>
              <a:r>
                <a:rPr lang="en-US" sz="850" b="0" dirty="0">
                  <a:solidFill>
                    <a:srgbClr val="F0A98B"/>
                  </a:solidFill>
                  <a:latin typeface="Consolas"/>
                  <a:ea typeface="Consolas"/>
                  <a:cs typeface="Consolas"/>
                </a:rPr>
                <a:t>"mona@bank.eg"</a:t>
              </a:r>
              <a:r>
                <a:rPr lang="en-US" sz="850" b="0" dirty="0">
                  <a:solidFill>
                    <a:srgbClr val="E2E8F0"/>
                  </a:solidFill>
                  <a:latin typeface="Consolas"/>
                  <a:ea typeface="Consolas"/>
                  <a:cs typeface="Consolas"/>
                </a:rPr>
                <a:t>);</a:t>
              </a:r>
              <a:endParaRPr lang="en-US" sz="850" dirty="0"/>
            </a:p>
          </p:txBody>
        </p:sp>
        <p:sp>
          <p:nvSpPr>
            <p:cNvPr id="139" name="tst_L08"/>
            <p:cNvSpPr txBox="1"/>
            <p:nvPr/>
          </p:nvSpPr>
          <p:spPr>
            <a:xfrm>
              <a:off x="6075274" y="3511548"/>
              <a:ext cx="548358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FAE7A"/>
                  </a:solidFill>
                  <a:latin typeface="Consolas"/>
                  <a:ea typeface="Consolas"/>
                  <a:cs typeface="Consolas"/>
                </a:rPr>
                <a:t>// Act</a:t>
              </a:r>
              <a:endParaRPr lang="en-US" sz="850" dirty="0"/>
            </a:p>
          </p:txBody>
        </p:sp>
        <p:sp>
          <p:nvSpPr>
            <p:cNvPr id="140" name="tst_L09"/>
            <p:cNvSpPr txBox="1"/>
            <p:nvPr/>
          </p:nvSpPr>
          <p:spPr>
            <a:xfrm>
              <a:off x="6075274" y="3671548"/>
              <a:ext cx="548358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account.Deposit(100m);</a:t>
              </a:r>
              <a:endParaRPr lang="en-US" sz="850" dirty="0"/>
            </a:p>
          </p:txBody>
        </p:sp>
        <p:sp>
          <p:nvSpPr>
            <p:cNvPr id="141" name="tst_L11"/>
            <p:cNvSpPr txBox="1"/>
            <p:nvPr/>
          </p:nvSpPr>
          <p:spPr>
            <a:xfrm>
              <a:off x="6075274" y="3991548"/>
              <a:ext cx="548358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FAE7A"/>
                  </a:solidFill>
                  <a:latin typeface="Consolas"/>
                  <a:ea typeface="Consolas"/>
                  <a:cs typeface="Consolas"/>
                </a:rPr>
                <a:t>// Assert</a:t>
              </a:r>
              <a:endParaRPr lang="en-US" sz="850" dirty="0"/>
            </a:p>
          </p:txBody>
        </p:sp>
        <p:sp>
          <p:nvSpPr>
            <p:cNvPr id="142" name="tst_L12"/>
            <p:cNvSpPr txBox="1"/>
            <p:nvPr/>
          </p:nvSpPr>
          <p:spPr>
            <a:xfrm>
              <a:off x="6075274" y="4151548"/>
              <a:ext cx="548358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Assert.Equal(100m, account.Balance);</a:t>
              </a:r>
              <a:endParaRPr lang="en-US" sz="850" dirty="0"/>
            </a:p>
          </p:txBody>
        </p:sp>
        <p:sp>
          <p:nvSpPr>
            <p:cNvPr id="143" name="tst_L13"/>
            <p:cNvSpPr txBox="1"/>
            <p:nvPr/>
          </p:nvSpPr>
          <p:spPr>
            <a:xfrm>
              <a:off x="6075274" y="4311548"/>
              <a:ext cx="5483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44" name="tst_L14"/>
            <p:cNvSpPr txBox="1"/>
            <p:nvPr/>
          </p:nvSpPr>
          <p:spPr>
            <a:xfrm>
              <a:off x="6075274" y="4471548"/>
              <a:ext cx="5483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46" name="fa"/>
          <p:cNvSpPr/>
          <p:nvPr/>
        </p:nvSpPr>
        <p:spPr>
          <a:xfrm>
            <a:off x="5980176" y="2533260"/>
            <a:ext cx="551658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7" name="ar"/>
          <p:cNvSpPr/>
          <p:nvPr/>
        </p:nvSpPr>
        <p:spPr>
          <a:xfrm>
            <a:off x="5980176" y="3013260"/>
            <a:ext cx="5516580" cy="356576"/>
          </a:xfrm>
          <a:prstGeom prst="rect">
            <a:avLst/>
          </a:prstGeom>
          <a:solidFill>
            <a:srgbClr val="60A5FA">
              <a:alpha val="15000"/>
            </a:srgbClr>
          </a:solidFill>
          <a:ln w="12700">
            <a:solidFill>
              <a:srgbClr val="60A5FA"/>
            </a:solidFill>
            <a:prstDash val="solid"/>
          </a:ln>
        </p:spPr>
        <p:txBody>
          <a:bodyPr/>
          <a:lstStyle/>
          <a:p>
            <a:endParaRPr lang="en-US"/>
          </a:p>
        </p:txBody>
      </p:sp>
      <p:sp>
        <p:nvSpPr>
          <p:cNvPr id="148" name="ac"/>
          <p:cNvSpPr/>
          <p:nvPr/>
        </p:nvSpPr>
        <p:spPr>
          <a:xfrm>
            <a:off x="5980176" y="3493260"/>
            <a:ext cx="5516580" cy="35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49" name="as"/>
          <p:cNvSpPr/>
          <p:nvPr/>
        </p:nvSpPr>
        <p:spPr>
          <a:xfrm>
            <a:off x="5980176" y="3973260"/>
            <a:ext cx="5516580" cy="35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0" name="f0"/>
          <p:cNvSpPr/>
          <p:nvPr/>
        </p:nvSpPr>
        <p:spPr>
          <a:xfrm>
            <a:off x="543154" y="5212080"/>
            <a:ext cx="2107692" cy="54864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34D399"/>
                </a:solidFill>
                <a:latin typeface="Consolas"/>
                <a:ea typeface="Consolas"/>
                <a:cs typeface="Consolas"/>
              </a:rPr>
              <a:t>F  </a:t>
            </a:r>
            <a:r>
              <a:rPr lang="en-US" sz="1150" b="1" dirty="0">
                <a:solidFill>
                  <a:srgbClr val="FFFFFF"/>
                </a:solidFill>
                <a:latin typeface="Segoe UI"/>
                <a:ea typeface="Segoe UI"/>
                <a:cs typeface="Segoe UI"/>
              </a:rPr>
              <a:t>Fast</a:t>
            </a:r>
            <a:endParaRPr lang="en-US" sz="1400" dirty="0"/>
          </a:p>
        </p:txBody>
      </p:sp>
      <p:sp>
        <p:nvSpPr>
          <p:cNvPr id="151" name="f1"/>
          <p:cNvSpPr/>
          <p:nvPr/>
        </p:nvSpPr>
        <p:spPr>
          <a:xfrm>
            <a:off x="2788006" y="5212080"/>
            <a:ext cx="2107692" cy="54864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34D399"/>
                </a:solidFill>
                <a:latin typeface="Consolas"/>
                <a:ea typeface="Consolas"/>
                <a:cs typeface="Consolas"/>
              </a:rPr>
              <a:t>I  </a:t>
            </a:r>
            <a:r>
              <a:rPr lang="en-US" sz="1150" b="1" dirty="0">
                <a:solidFill>
                  <a:srgbClr val="FFFFFF"/>
                </a:solidFill>
                <a:latin typeface="Segoe UI"/>
                <a:ea typeface="Segoe UI"/>
                <a:cs typeface="Segoe UI"/>
              </a:rPr>
              <a:t>Isolated</a:t>
            </a:r>
            <a:endParaRPr lang="en-US" sz="1400" dirty="0"/>
          </a:p>
        </p:txBody>
      </p:sp>
      <p:sp>
        <p:nvSpPr>
          <p:cNvPr id="152" name="f2"/>
          <p:cNvSpPr/>
          <p:nvPr/>
        </p:nvSpPr>
        <p:spPr>
          <a:xfrm>
            <a:off x="5032858" y="5212080"/>
            <a:ext cx="2107692" cy="54864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34D399"/>
                </a:solidFill>
                <a:latin typeface="Consolas"/>
                <a:ea typeface="Consolas"/>
                <a:cs typeface="Consolas"/>
              </a:rPr>
              <a:t>R  </a:t>
            </a:r>
            <a:r>
              <a:rPr lang="en-US" sz="1150" b="1" dirty="0">
                <a:solidFill>
                  <a:srgbClr val="FFFFFF"/>
                </a:solidFill>
                <a:latin typeface="Segoe UI"/>
                <a:ea typeface="Segoe UI"/>
                <a:cs typeface="Segoe UI"/>
              </a:rPr>
              <a:t>Repeatable</a:t>
            </a:r>
            <a:endParaRPr lang="en-US" sz="1400" dirty="0"/>
          </a:p>
        </p:txBody>
      </p:sp>
      <p:sp>
        <p:nvSpPr>
          <p:cNvPr id="153" name="f3"/>
          <p:cNvSpPr/>
          <p:nvPr/>
        </p:nvSpPr>
        <p:spPr>
          <a:xfrm>
            <a:off x="7277710" y="5212080"/>
            <a:ext cx="2107692" cy="54864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34D399"/>
                </a:solidFill>
                <a:latin typeface="Consolas"/>
                <a:ea typeface="Consolas"/>
                <a:cs typeface="Consolas"/>
              </a:rPr>
              <a:t>S  </a:t>
            </a:r>
            <a:r>
              <a:rPr lang="en-US" sz="1150" b="1" dirty="0">
                <a:solidFill>
                  <a:srgbClr val="FFFFFF"/>
                </a:solidFill>
                <a:latin typeface="Segoe UI"/>
                <a:ea typeface="Segoe UI"/>
                <a:cs typeface="Segoe UI"/>
              </a:rPr>
              <a:t>Self-checking</a:t>
            </a:r>
            <a:endParaRPr lang="en-US" sz="1400" dirty="0"/>
          </a:p>
        </p:txBody>
      </p:sp>
      <p:sp>
        <p:nvSpPr>
          <p:cNvPr id="154" name="f4"/>
          <p:cNvSpPr/>
          <p:nvPr/>
        </p:nvSpPr>
        <p:spPr>
          <a:xfrm>
            <a:off x="9522562" y="5212080"/>
            <a:ext cx="2107692" cy="54864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34D399"/>
                </a:solidFill>
                <a:latin typeface="Consolas"/>
                <a:ea typeface="Consolas"/>
                <a:cs typeface="Consolas"/>
              </a:rPr>
              <a:t>T  </a:t>
            </a:r>
            <a:r>
              <a:rPr lang="en-US" sz="1150" b="1" dirty="0">
                <a:solidFill>
                  <a:srgbClr val="FFFFFF"/>
                </a:solidFill>
                <a:latin typeface="Segoe UI"/>
                <a:ea typeface="Segoe UI"/>
                <a:cs typeface="Segoe UI"/>
              </a:rPr>
              <a:t>Timely</a:t>
            </a:r>
            <a:endParaRPr lang="en-US" sz="1400" dirty="0"/>
          </a:p>
        </p:txBody>
      </p:sp>
    </p:spTree>
    <p:extLst>
      <p:ext uri="{BB962C8B-B14F-4D97-AF65-F5344CB8AC3E}">
        <p14:creationId xmlns:p14="http://schemas.microsoft.com/office/powerpoint/2010/main" val="50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400"/>
                                        <p:tgtEl>
                                          <p:spTgt spid="1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400"/>
                                        <p:tgtEl>
                                          <p:spTgt spid="1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2"/>
                                        </p:tgtEl>
                                        <p:attrNameLst>
                                          <p:attrName>style.visibility</p:attrName>
                                        </p:attrNameLst>
                                      </p:cBhvr>
                                      <p:to>
                                        <p:strVal val="visible"/>
                                      </p:to>
                                    </p:set>
                                    <p:animEffect transition="in" filter="fade">
                                      <p:cBhvr>
                                        <p:cTn id="18" dur="400"/>
                                        <p:tgtEl>
                                          <p:spTgt spid="102"/>
                                        </p:tgtEl>
                                      </p:cBhvr>
                                    </p:animEffect>
                                  </p:childTnLst>
                                </p:cTn>
                              </p:par>
                              <p:par>
                                <p:cTn id="19" presetID="10" presetClass="entr" presetSubtype="0" fill="hold" nodeType="withEffect">
                                  <p:stCondLst>
                                    <p:cond delay="0"/>
                                  </p:stCondLst>
                                  <p:childTnLst>
                                    <p:set>
                                      <p:cBhvr>
                                        <p:cTn id="20" dur="1" fill="hold">
                                          <p:stCondLst>
                                            <p:cond delay="0"/>
                                          </p:stCondLst>
                                        </p:cTn>
                                        <p:tgtEl>
                                          <p:spTgt spid="145"/>
                                        </p:tgtEl>
                                        <p:attrNameLst>
                                          <p:attrName>style.visibility</p:attrName>
                                        </p:attrNameLst>
                                      </p:cBhvr>
                                      <p:to>
                                        <p:strVal val="visible"/>
                                      </p:to>
                                    </p:set>
                                    <p:animEffect transition="in" filter="fade">
                                      <p:cBhvr>
                                        <p:cTn id="21" dur="400"/>
                                        <p:tgtEl>
                                          <p:spTgt spid="14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6"/>
                                        </p:tgtEl>
                                        <p:attrNameLst>
                                          <p:attrName>style.visibility</p:attrName>
                                        </p:attrNameLst>
                                      </p:cBhvr>
                                      <p:to>
                                        <p:strVal val="visible"/>
                                      </p:to>
                                    </p:set>
                                    <p:animEffect transition="in" filter="fade">
                                      <p:cBhvr>
                                        <p:cTn id="26" dur="400"/>
                                        <p:tgtEl>
                                          <p:spTgt spid="14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7"/>
                                        </p:tgtEl>
                                        <p:attrNameLst>
                                          <p:attrName>style.visibility</p:attrName>
                                        </p:attrNameLst>
                                      </p:cBhvr>
                                      <p:to>
                                        <p:strVal val="visible"/>
                                      </p:to>
                                    </p:set>
                                    <p:animEffect transition="in" filter="fade">
                                      <p:cBhvr>
                                        <p:cTn id="31" dur="400"/>
                                        <p:tgtEl>
                                          <p:spTgt spid="14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8"/>
                                        </p:tgtEl>
                                        <p:attrNameLst>
                                          <p:attrName>style.visibility</p:attrName>
                                        </p:attrNameLst>
                                      </p:cBhvr>
                                      <p:to>
                                        <p:strVal val="visible"/>
                                      </p:to>
                                    </p:set>
                                    <p:animEffect transition="in" filter="fade">
                                      <p:cBhvr>
                                        <p:cTn id="36" dur="400"/>
                                        <p:tgtEl>
                                          <p:spTgt spid="1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9"/>
                                        </p:tgtEl>
                                        <p:attrNameLst>
                                          <p:attrName>style.visibility</p:attrName>
                                        </p:attrNameLst>
                                      </p:cBhvr>
                                      <p:to>
                                        <p:strVal val="visible"/>
                                      </p:to>
                                    </p:set>
                                    <p:animEffect transition="in" filter="fade">
                                      <p:cBhvr>
                                        <p:cTn id="41" dur="400"/>
                                        <p:tgtEl>
                                          <p:spTgt spid="14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0"/>
                                        </p:tgtEl>
                                        <p:attrNameLst>
                                          <p:attrName>style.visibility</p:attrName>
                                        </p:attrNameLst>
                                      </p:cBhvr>
                                      <p:to>
                                        <p:strVal val="visible"/>
                                      </p:to>
                                    </p:set>
                                    <p:animEffect transition="in" filter="fade">
                                      <p:cBhvr>
                                        <p:cTn id="46" dur="250"/>
                                        <p:tgtEl>
                                          <p:spTgt spid="150"/>
                                        </p:tgtEl>
                                      </p:cBhvr>
                                    </p:animEffect>
                                  </p:childTnLst>
                                </p:cTn>
                              </p:par>
                            </p:childTnLst>
                          </p:cTn>
                        </p:par>
                        <p:par>
                          <p:cTn id="47" fill="hold">
                            <p:stCondLst>
                              <p:cond delay="250"/>
                            </p:stCondLst>
                            <p:childTnLst>
                              <p:par>
                                <p:cTn id="48" presetID="10" presetClass="entr" presetSubtype="0" fill="hold" grpId="0" nodeType="afterEffect">
                                  <p:stCondLst>
                                    <p:cond delay="0"/>
                                  </p:stCondLst>
                                  <p:childTnLst>
                                    <p:set>
                                      <p:cBhvr>
                                        <p:cTn id="49" dur="1" fill="hold">
                                          <p:stCondLst>
                                            <p:cond delay="0"/>
                                          </p:stCondLst>
                                        </p:cTn>
                                        <p:tgtEl>
                                          <p:spTgt spid="151"/>
                                        </p:tgtEl>
                                        <p:attrNameLst>
                                          <p:attrName>style.visibility</p:attrName>
                                        </p:attrNameLst>
                                      </p:cBhvr>
                                      <p:to>
                                        <p:strVal val="visible"/>
                                      </p:to>
                                    </p:set>
                                    <p:animEffect transition="in" filter="fade">
                                      <p:cBhvr>
                                        <p:cTn id="50" dur="250"/>
                                        <p:tgtEl>
                                          <p:spTgt spid="151"/>
                                        </p:tgtEl>
                                      </p:cBhvr>
                                    </p:animEffect>
                                  </p:childTnLst>
                                </p:cTn>
                              </p:par>
                            </p:childTnLst>
                          </p:cTn>
                        </p:par>
                        <p:par>
                          <p:cTn id="51"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152"/>
                                        </p:tgtEl>
                                        <p:attrNameLst>
                                          <p:attrName>style.visibility</p:attrName>
                                        </p:attrNameLst>
                                      </p:cBhvr>
                                      <p:to>
                                        <p:strVal val="visible"/>
                                      </p:to>
                                    </p:set>
                                    <p:animEffect transition="in" filter="fade">
                                      <p:cBhvr>
                                        <p:cTn id="54" dur="250"/>
                                        <p:tgtEl>
                                          <p:spTgt spid="152"/>
                                        </p:tgtEl>
                                      </p:cBhvr>
                                    </p:animEffect>
                                  </p:childTnLst>
                                </p:cTn>
                              </p:par>
                            </p:childTnLst>
                          </p:cTn>
                        </p:par>
                        <p:par>
                          <p:cTn id="55" fill="hold">
                            <p:stCondLst>
                              <p:cond delay="750"/>
                            </p:stCondLst>
                            <p:childTnLst>
                              <p:par>
                                <p:cTn id="56" presetID="10" presetClass="entr" presetSubtype="0" fill="hold" grpId="0" nodeType="afterEffect">
                                  <p:stCondLst>
                                    <p:cond delay="0"/>
                                  </p:stCondLst>
                                  <p:childTnLst>
                                    <p:set>
                                      <p:cBhvr>
                                        <p:cTn id="57" dur="1" fill="hold">
                                          <p:stCondLst>
                                            <p:cond delay="0"/>
                                          </p:stCondLst>
                                        </p:cTn>
                                        <p:tgtEl>
                                          <p:spTgt spid="153"/>
                                        </p:tgtEl>
                                        <p:attrNameLst>
                                          <p:attrName>style.visibility</p:attrName>
                                        </p:attrNameLst>
                                      </p:cBhvr>
                                      <p:to>
                                        <p:strVal val="visible"/>
                                      </p:to>
                                    </p:set>
                                    <p:animEffect transition="in" filter="fade">
                                      <p:cBhvr>
                                        <p:cTn id="58" dur="250"/>
                                        <p:tgtEl>
                                          <p:spTgt spid="153"/>
                                        </p:tgtEl>
                                      </p:cBhvr>
                                    </p:animEffect>
                                  </p:childTnLst>
                                </p:cTn>
                              </p:par>
                            </p:childTnLst>
                          </p:cTn>
                        </p:par>
                        <p:par>
                          <p:cTn id="59" fill="hold">
                            <p:stCondLst>
                              <p:cond delay="1000"/>
                            </p:stCondLst>
                            <p:childTnLst>
                              <p:par>
                                <p:cTn id="60" presetID="10" presetClass="entr" presetSubtype="0" fill="hold" grpId="0" nodeType="afterEffect">
                                  <p:stCondLst>
                                    <p:cond delay="0"/>
                                  </p:stCondLst>
                                  <p:childTnLst>
                                    <p:set>
                                      <p:cBhvr>
                                        <p:cTn id="61" dur="1" fill="hold">
                                          <p:stCondLst>
                                            <p:cond delay="0"/>
                                          </p:stCondLst>
                                        </p:cTn>
                                        <p:tgtEl>
                                          <p:spTgt spid="154"/>
                                        </p:tgtEl>
                                        <p:attrNameLst>
                                          <p:attrName>style.visibility</p:attrName>
                                        </p:attrNameLst>
                                      </p:cBhvr>
                                      <p:to>
                                        <p:strVal val="visible"/>
                                      </p:to>
                                    </p:set>
                                    <p:animEffect transition="in" filter="fade">
                                      <p:cBhvr>
                                        <p:cTn id="62" dur="25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4"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TEST PYRAMID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The Test Pyramid: Many Small, Few Big</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108</a:t>
            </a:r>
            <a:endParaRPr lang="en-US" sz="850" dirty="0"/>
          </a:p>
        </p:txBody>
      </p:sp>
      <p:sp>
        <p:nvSpPr>
          <p:cNvPr id="101" name="l0"/>
          <p:cNvSpPr/>
          <p:nvPr/>
        </p:nvSpPr>
        <p:spPr>
          <a:xfrm>
            <a:off x="634594" y="4160520"/>
            <a:ext cx="7863840" cy="960120"/>
          </a:xfrm>
          <a:prstGeom prst="roundRect">
            <a:avLst>
              <a:gd name="adj" fmla="val 12000"/>
            </a:avLst>
          </a:prstGeom>
          <a:solidFill>
            <a:srgbClr val="34D399">
              <a:alpha val="12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34D399"/>
                </a:solidFill>
                <a:latin typeface="Segoe UI"/>
                <a:ea typeface="Segoe UI"/>
                <a:cs typeface="Segoe UI"/>
              </a:rPr>
              <a:t>UNIT</a:t>
            </a:r>
            <a:endParaRPr lang="en-US" sz="1300" dirty="0"/>
          </a:p>
          <a:p>
            <a:pPr marL="0" indent="0" algn="ctr">
              <a:spcBef>
                <a:spcPts val="0"/>
              </a:spcBef>
              <a:spcAft>
                <a:spcPts val="0"/>
              </a:spcAft>
              <a:buNone/>
            </a:pPr>
            <a:r>
              <a:rPr lang="en-US" sz="1050" b="0" dirty="0">
                <a:solidFill>
                  <a:srgbClr val="CBD5E1"/>
                </a:solidFill>
                <a:latin typeface="Segoe UI"/>
                <a:ea typeface="Segoe UI"/>
                <a:cs typeface="Segoe UI"/>
              </a:rPr>
              <a:t>one class, in memory, milliseconds</a:t>
            </a:r>
            <a:endParaRPr lang="en-US" sz="1050" dirty="0"/>
          </a:p>
          <a:p>
            <a:pPr marL="0" indent="0" algn="ctr">
              <a:spcBef>
                <a:spcPts val="0"/>
              </a:spcBef>
              <a:spcAft>
                <a:spcPts val="0"/>
              </a:spcAft>
              <a:buNone/>
            </a:pPr>
            <a:r>
              <a:rPr lang="en-US" sz="1000" b="0" dirty="0">
                <a:solidFill>
                  <a:srgbClr val="94A3B8"/>
                </a:solidFill>
                <a:latin typeface="Consolas"/>
                <a:ea typeface="Consolas"/>
                <a:cs typeface="Consolas"/>
              </a:rPr>
              <a:t>BankAccount · EmailValidator · GradeCalculator</a:t>
            </a:r>
            <a:endParaRPr lang="en-US" sz="1000" dirty="0"/>
          </a:p>
        </p:txBody>
      </p:sp>
      <p:sp>
        <p:nvSpPr>
          <p:cNvPr id="102" name="l1"/>
          <p:cNvSpPr/>
          <p:nvPr/>
        </p:nvSpPr>
        <p:spPr>
          <a:xfrm>
            <a:off x="1640434" y="3063240"/>
            <a:ext cx="5852160" cy="960120"/>
          </a:xfrm>
          <a:prstGeom prst="roundRect">
            <a:avLst>
              <a:gd name="adj" fmla="val 12000"/>
            </a:avLst>
          </a:prstGeom>
          <a:solidFill>
            <a:srgbClr val="13D0F7">
              <a:alpha val="12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13D0F7"/>
                </a:solidFill>
                <a:latin typeface="Segoe UI"/>
                <a:ea typeface="Segoe UI"/>
                <a:cs typeface="Segoe UI"/>
              </a:rPr>
              <a:t>INTEGRATION</a:t>
            </a:r>
            <a:endParaRPr lang="en-US" sz="1300" dirty="0"/>
          </a:p>
          <a:p>
            <a:pPr marL="0" indent="0" algn="ctr">
              <a:spcBef>
                <a:spcPts val="0"/>
              </a:spcBef>
              <a:spcAft>
                <a:spcPts val="0"/>
              </a:spcAft>
              <a:buNone/>
            </a:pPr>
            <a:r>
              <a:rPr lang="en-US" sz="1050" b="0" dirty="0">
                <a:solidFill>
                  <a:srgbClr val="CBD5E1"/>
                </a:solidFill>
                <a:latin typeface="Segoe UI"/>
                <a:ea typeface="Segoe UI"/>
                <a:cs typeface="Segoe UI"/>
              </a:rPr>
              <a:t>real pieces together</a:t>
            </a:r>
            <a:endParaRPr lang="en-US" sz="1050" dirty="0"/>
          </a:p>
          <a:p>
            <a:pPr marL="0" indent="0" algn="ctr">
              <a:spcBef>
                <a:spcPts val="0"/>
              </a:spcBef>
              <a:spcAft>
                <a:spcPts val="0"/>
              </a:spcAft>
              <a:buNone/>
            </a:pPr>
            <a:r>
              <a:rPr lang="en-US" sz="1000" b="0" dirty="0">
                <a:solidFill>
                  <a:srgbClr val="94A3B8"/>
                </a:solidFill>
                <a:latin typeface="Consolas"/>
                <a:ea typeface="Consolas"/>
                <a:cs typeface="Consolas"/>
              </a:rPr>
              <a:t>FileEmployeeRepository + a real file</a:t>
            </a:r>
            <a:endParaRPr lang="en-US" sz="1000" dirty="0"/>
          </a:p>
        </p:txBody>
      </p:sp>
      <p:sp>
        <p:nvSpPr>
          <p:cNvPr id="103" name="l2"/>
          <p:cNvSpPr/>
          <p:nvPr/>
        </p:nvSpPr>
        <p:spPr>
          <a:xfrm>
            <a:off x="2646274" y="1965960"/>
            <a:ext cx="3840480" cy="960120"/>
          </a:xfrm>
          <a:prstGeom prst="roundRect">
            <a:avLst>
              <a:gd name="adj" fmla="val 12000"/>
            </a:avLst>
          </a:prstGeom>
          <a:solidFill>
            <a:srgbClr val="FBBF24">
              <a:alpha val="12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300" b="1" dirty="0">
                <a:solidFill>
                  <a:srgbClr val="FBBF24"/>
                </a:solidFill>
                <a:latin typeface="Segoe UI"/>
                <a:ea typeface="Segoe UI"/>
                <a:cs typeface="Segoe UI"/>
              </a:rPr>
              <a:t>END-TO-END</a:t>
            </a:r>
            <a:endParaRPr lang="en-US" sz="1300" dirty="0"/>
          </a:p>
          <a:p>
            <a:pPr marL="0" indent="0" algn="ctr">
              <a:spcBef>
                <a:spcPts val="0"/>
              </a:spcBef>
              <a:spcAft>
                <a:spcPts val="0"/>
              </a:spcAft>
              <a:buNone/>
            </a:pPr>
            <a:r>
              <a:rPr lang="en-US" sz="1050" b="0" dirty="0">
                <a:solidFill>
                  <a:srgbClr val="CBD5E1"/>
                </a:solidFill>
                <a:latin typeface="Segoe UI"/>
                <a:ea typeface="Segoe UI"/>
                <a:cs typeface="Segoe UI"/>
              </a:rPr>
              <a:t>the whole app, like a user</a:t>
            </a:r>
            <a:endParaRPr lang="en-US" sz="1050" dirty="0"/>
          </a:p>
          <a:p>
            <a:pPr marL="0" indent="0" algn="ctr">
              <a:spcBef>
                <a:spcPts val="0"/>
              </a:spcBef>
              <a:spcAft>
                <a:spcPts val="0"/>
              </a:spcAft>
              <a:buNone/>
            </a:pPr>
            <a:r>
              <a:rPr lang="en-US" sz="1000" b="0" dirty="0">
                <a:solidFill>
                  <a:srgbClr val="94A3B8"/>
                </a:solidFill>
                <a:latin typeface="Consolas"/>
                <a:ea typeface="Consolas"/>
                <a:cs typeface="Consolas"/>
              </a:rPr>
              <a:t>drive the app through its UI / API</a:t>
            </a:r>
            <a:endParaRPr lang="en-US" sz="1000" dirty="0"/>
          </a:p>
        </p:txBody>
      </p:sp>
      <p:sp>
        <p:nvSpPr>
          <p:cNvPr id="104" name="k1"/>
          <p:cNvSpPr/>
          <p:nvPr/>
        </p:nvSpPr>
        <p:spPr>
          <a:xfrm>
            <a:off x="8549640" y="1965960"/>
            <a:ext cx="3081528" cy="118872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MANY, FAST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Unit tests: hundreds, run on every save.</a:t>
            </a:r>
            <a:endParaRPr lang="en-US" sz="1150" dirty="0"/>
          </a:p>
        </p:txBody>
      </p:sp>
      <p:sp>
        <p:nvSpPr>
          <p:cNvPr id="105" name="k2"/>
          <p:cNvSpPr/>
          <p:nvPr/>
        </p:nvSpPr>
        <p:spPr>
          <a:xfrm>
            <a:off x="8549640" y="3291840"/>
            <a:ext cx="3081528" cy="118872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FEW, SLOW</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E2E tests: a handful of key journeys.</a:t>
            </a:r>
            <a:endParaRPr lang="en-US" sz="1150" dirty="0"/>
          </a:p>
        </p:txBody>
      </p:sp>
      <p:sp>
        <p:nvSpPr>
          <p:cNvPr id="106" name="b"/>
          <p:cNvSpPr/>
          <p:nvPr/>
        </p:nvSpPr>
        <p:spPr>
          <a:xfrm>
            <a:off x="543154" y="5257800"/>
            <a:ext cx="11087100" cy="566928"/>
          </a:xfrm>
          <a:prstGeom prst="roundRect">
            <a:avLst>
              <a:gd name="adj" fmla="val 10975"/>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Lots of fast unit tests at the base, fewer and slower tests as you go up.</a:t>
            </a:r>
            <a:endParaRPr lang="en-US" sz="1400" dirty="0"/>
          </a:p>
        </p:txBody>
      </p:sp>
    </p:spTree>
    <p:extLst>
      <p:ext uri="{BB962C8B-B14F-4D97-AF65-F5344CB8AC3E}">
        <p14:creationId xmlns:p14="http://schemas.microsoft.com/office/powerpoint/2010/main" val="509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400"/>
                                        <p:tgtEl>
                                          <p:spTgt spid="104"/>
                                        </p:tgtEl>
                                      </p:cBhvr>
                                    </p:animEffect>
                                  </p:childTnLst>
                                </p:cTn>
                              </p:par>
                            </p:childTnLst>
                          </p:cTn>
                        </p:par>
                        <p:par>
                          <p:cTn id="23" fill="hold">
                            <p:stCondLst>
                              <p:cond delay="400"/>
                            </p:stCondLst>
                            <p:childTnLst>
                              <p:par>
                                <p:cTn id="24" presetID="10" presetClass="entr" presetSubtype="0" fill="hold" grpId="0" nodeType="after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fade">
                                      <p:cBhvr>
                                        <p:cTn id="26" dur="400"/>
                                        <p:tgtEl>
                                          <p:spTgt spid="105"/>
                                        </p:tgtEl>
                                      </p:cBhvr>
                                    </p:animEffect>
                                  </p:childTnLst>
                                </p:cTn>
                              </p:par>
                            </p:childTnLst>
                          </p:cTn>
                        </p:par>
                        <p:par>
                          <p:cTn id="27" fill="hold">
                            <p:stCondLst>
                              <p:cond delay="800"/>
                            </p:stCondLst>
                            <p:childTnLst>
                              <p:par>
                                <p:cTn id="28" presetID="10" presetClass="entr" presetSubtype="0" fill="hold" grpId="0" nodeType="afterEffect">
                                  <p:stCondLst>
                                    <p:cond delay="0"/>
                                  </p:stCondLst>
                                  <p:childTnLst>
                                    <p:set>
                                      <p:cBhvr>
                                        <p:cTn id="29" dur="1" fill="hold">
                                          <p:stCondLst>
                                            <p:cond delay="0"/>
                                          </p:stCondLst>
                                        </p:cTn>
                                        <p:tgtEl>
                                          <p:spTgt spid="106"/>
                                        </p:tgtEl>
                                        <p:attrNameLst>
                                          <p:attrName>style.visibility</p:attrName>
                                        </p:attrNameLst>
                                      </p:cBhvr>
                                      <p:to>
                                        <p:strVal val="visible"/>
                                      </p:to>
                                    </p:set>
                                    <p:animEffect transition="in" filter="fade">
                                      <p:cBhvr>
                                        <p:cTn id="30"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SETUP</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Create the Test Project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109</a:t>
            </a:r>
            <a:endParaRPr lang="en-US" sz="850" dirty="0"/>
          </a:p>
        </p:txBody>
      </p:sp>
      <p:grpSp>
        <p:nvGrpSpPr>
          <p:cNvPr id="117" name="tree"/>
          <p:cNvGrpSpPr/>
          <p:nvPr/>
        </p:nvGrpSpPr>
        <p:grpSpPr>
          <a:xfrm>
            <a:off x="543154" y="1572768"/>
            <a:ext cx="5120640" cy="2333260"/>
            <a:chOff x="543154" y="1572768"/>
            <a:chExt cx="5120640" cy="2333260"/>
          </a:xfrm>
        </p:grpSpPr>
        <p:sp>
          <p:nvSpPr>
            <p:cNvPr id="101" name="tree_win"/>
            <p:cNvSpPr/>
            <p:nvPr/>
          </p:nvSpPr>
          <p:spPr>
            <a:xfrm>
              <a:off x="543154" y="1572768"/>
              <a:ext cx="5120640" cy="2333260"/>
            </a:xfrm>
            <a:prstGeom prst="roundRect">
              <a:avLst>
                <a:gd name="adj" fmla="val 2938"/>
              </a:avLst>
            </a:prstGeom>
            <a:solidFill>
              <a:srgbClr val="060D18"/>
            </a:solidFill>
            <a:ln w="12700">
              <a:solidFill>
                <a:srgbClr val="1E3A5F"/>
              </a:solidFill>
              <a:prstDash val="solid"/>
            </a:ln>
          </p:spPr>
          <p:txBody>
            <a:bodyPr/>
            <a:lstStyle/>
            <a:p>
              <a:endParaRPr lang="en-US"/>
            </a:p>
          </p:txBody>
        </p:sp>
        <p:sp>
          <p:nvSpPr>
            <p:cNvPr id="102" name="tree_bar"/>
            <p:cNvSpPr/>
            <p:nvPr/>
          </p:nvSpPr>
          <p:spPr>
            <a:xfrm>
              <a:off x="543154" y="1572768"/>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tree_barfill"/>
            <p:cNvSpPr/>
            <p:nvPr/>
          </p:nvSpPr>
          <p:spPr>
            <a:xfrm>
              <a:off x="543154" y="1744218"/>
              <a:ext cx="5120640" cy="171450"/>
            </a:xfrm>
            <a:prstGeom prst="rect">
              <a:avLst/>
            </a:prstGeom>
            <a:solidFill>
              <a:srgbClr val="0A1220"/>
            </a:solidFill>
            <a:ln w="12700">
              <a:solidFill>
                <a:srgbClr val="0A1220"/>
              </a:solidFill>
              <a:prstDash val="solid"/>
            </a:ln>
          </p:spPr>
          <p:txBody>
            <a:bodyPr/>
            <a:lstStyle/>
            <a:p>
              <a:endParaRPr lang="en-US"/>
            </a:p>
          </p:txBody>
        </p:sp>
        <p:sp>
          <p:nvSpPr>
            <p:cNvPr id="104" name="tre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tre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tre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tree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Solution</a:t>
              </a:r>
              <a:endParaRPr lang="en-US" sz="950" dirty="0"/>
            </a:p>
          </p:txBody>
        </p:sp>
        <p:sp>
          <p:nvSpPr>
            <p:cNvPr id="108" name="tree_L00"/>
            <p:cNvSpPr txBox="1"/>
            <p:nvPr/>
          </p:nvSpPr>
          <p:spPr>
            <a:xfrm>
              <a:off x="771754" y="2048668"/>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Bank/</a:t>
              </a:r>
              <a:endParaRPr lang="en-US" sz="950" dirty="0"/>
            </a:p>
          </p:txBody>
        </p:sp>
        <p:sp>
          <p:nvSpPr>
            <p:cNvPr id="109" name="tree_L01"/>
            <p:cNvSpPr txBox="1"/>
            <p:nvPr/>
          </p:nvSpPr>
          <p:spPr>
            <a:xfrm>
              <a:off x="771754" y="2241708"/>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src/</a:t>
              </a:r>
              <a:endParaRPr lang="en-US" sz="950" dirty="0"/>
            </a:p>
          </p:txBody>
        </p:sp>
        <p:sp>
          <p:nvSpPr>
            <p:cNvPr id="110" name="tree_L02"/>
            <p:cNvSpPr txBox="1"/>
            <p:nvPr/>
          </p:nvSpPr>
          <p:spPr>
            <a:xfrm>
              <a:off x="771754" y="2434748"/>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 Bank.Core/               ← the classes we test</a:t>
              </a:r>
              <a:endParaRPr lang="en-US" sz="950" dirty="0"/>
            </a:p>
          </p:txBody>
        </p:sp>
        <p:sp>
          <p:nvSpPr>
            <p:cNvPr id="111" name="tree_L03"/>
            <p:cNvSpPr txBox="1"/>
            <p:nvPr/>
          </p:nvSpPr>
          <p:spPr>
            <a:xfrm>
              <a:off x="771754" y="2627788"/>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 BankAccount.cs</a:t>
              </a:r>
              <a:endParaRPr lang="en-US" sz="950" dirty="0"/>
            </a:p>
          </p:txBody>
        </p:sp>
        <p:sp>
          <p:nvSpPr>
            <p:cNvPr id="112" name="tree_L04"/>
            <p:cNvSpPr txBox="1"/>
            <p:nvPr/>
          </p:nvSpPr>
          <p:spPr>
            <a:xfrm>
              <a:off x="771754" y="2820828"/>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 EmailValidator.cs ...</a:t>
              </a:r>
              <a:endParaRPr lang="en-US" sz="950" dirty="0"/>
            </a:p>
          </p:txBody>
        </p:sp>
        <p:sp>
          <p:nvSpPr>
            <p:cNvPr id="113" name="tree_L05"/>
            <p:cNvSpPr txBox="1"/>
            <p:nvPr/>
          </p:nvSpPr>
          <p:spPr>
            <a:xfrm>
              <a:off x="771754" y="3013868"/>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tests/</a:t>
              </a:r>
              <a:endParaRPr lang="en-US" sz="950" dirty="0"/>
            </a:p>
          </p:txBody>
        </p:sp>
        <p:sp>
          <p:nvSpPr>
            <p:cNvPr id="114" name="tree_L06"/>
            <p:cNvSpPr txBox="1"/>
            <p:nvPr/>
          </p:nvSpPr>
          <p:spPr>
            <a:xfrm>
              <a:off x="771754" y="3206908"/>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 Bank.Core.Tests/         ← new</a:t>
              </a:r>
              <a:endParaRPr lang="en-US" sz="950" dirty="0"/>
            </a:p>
          </p:txBody>
        </p:sp>
        <p:sp>
          <p:nvSpPr>
            <p:cNvPr id="115" name="tree_L07"/>
            <p:cNvSpPr txBox="1"/>
            <p:nvPr/>
          </p:nvSpPr>
          <p:spPr>
            <a:xfrm>
              <a:off x="771754" y="3399948"/>
              <a:ext cx="48206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  ├─ BankAccountTests.cs</a:t>
              </a:r>
              <a:endParaRPr lang="en-US" sz="950" dirty="0"/>
            </a:p>
          </p:txBody>
        </p:sp>
        <p:sp>
          <p:nvSpPr>
            <p:cNvPr id="116" name="tree_L08"/>
            <p:cNvSpPr txBox="1"/>
            <p:nvPr/>
          </p:nvSpPr>
          <p:spPr>
            <a:xfrm>
              <a:off x="771754" y="3592988"/>
              <a:ext cx="48206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  └─ ...</a:t>
              </a:r>
              <a:endParaRPr lang="en-US" sz="950" dirty="0"/>
            </a:p>
          </p:txBody>
        </p:sp>
      </p:grpSp>
      <p:sp>
        <p:nvSpPr>
          <p:cNvPr id="118" name="tree_hl6"/>
          <p:cNvSpPr/>
          <p:nvPr/>
        </p:nvSpPr>
        <p:spPr>
          <a:xfrm>
            <a:off x="676656" y="3188620"/>
            <a:ext cx="4853640" cy="22961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35" name="cmd"/>
          <p:cNvGrpSpPr/>
          <p:nvPr/>
        </p:nvGrpSpPr>
        <p:grpSpPr>
          <a:xfrm>
            <a:off x="5852160" y="1572768"/>
            <a:ext cx="5778094" cy="2465900"/>
            <a:chOff x="5852160" y="1572768"/>
            <a:chExt cx="5778094" cy="2465900"/>
          </a:xfrm>
        </p:grpSpPr>
        <p:sp>
          <p:nvSpPr>
            <p:cNvPr id="119" name="cmd_win"/>
            <p:cNvSpPr/>
            <p:nvPr/>
          </p:nvSpPr>
          <p:spPr>
            <a:xfrm>
              <a:off x="5852160" y="1572768"/>
              <a:ext cx="5778094" cy="2465900"/>
            </a:xfrm>
            <a:prstGeom prst="roundRect">
              <a:avLst>
                <a:gd name="adj" fmla="val 2780"/>
              </a:avLst>
            </a:prstGeom>
            <a:solidFill>
              <a:srgbClr val="060D18"/>
            </a:solidFill>
            <a:ln w="12700">
              <a:solidFill>
                <a:srgbClr val="1E3A5F"/>
              </a:solidFill>
              <a:prstDash val="solid"/>
            </a:ln>
          </p:spPr>
          <p:txBody>
            <a:bodyPr/>
            <a:lstStyle/>
            <a:p>
              <a:endParaRPr lang="en-US"/>
            </a:p>
          </p:txBody>
        </p:sp>
        <p:sp>
          <p:nvSpPr>
            <p:cNvPr id="120" name="cmd_bar"/>
            <p:cNvSpPr/>
            <p:nvPr/>
          </p:nvSpPr>
          <p:spPr>
            <a:xfrm>
              <a:off x="5852160" y="1572768"/>
              <a:ext cx="577809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1" name="cmd_barfill"/>
            <p:cNvSpPr/>
            <p:nvPr/>
          </p:nvSpPr>
          <p:spPr>
            <a:xfrm>
              <a:off x="5852160" y="1744218"/>
              <a:ext cx="5778094" cy="171450"/>
            </a:xfrm>
            <a:prstGeom prst="rect">
              <a:avLst/>
            </a:prstGeom>
            <a:solidFill>
              <a:srgbClr val="0A1220"/>
            </a:solidFill>
            <a:ln w="12700">
              <a:solidFill>
                <a:srgbClr val="0A1220"/>
              </a:solidFill>
              <a:prstDash val="solid"/>
            </a:ln>
          </p:spPr>
          <p:txBody>
            <a:bodyPr/>
            <a:lstStyle/>
            <a:p>
              <a:endParaRPr lang="en-US"/>
            </a:p>
          </p:txBody>
        </p:sp>
        <p:sp>
          <p:nvSpPr>
            <p:cNvPr id="122" name="cmd_dot0"/>
            <p:cNvSpPr/>
            <p:nvPr/>
          </p:nvSpPr>
          <p:spPr>
            <a:xfrm>
              <a:off x="601400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3" name="cmd_dot1"/>
            <p:cNvSpPr/>
            <p:nvPr/>
          </p:nvSpPr>
          <p:spPr>
            <a:xfrm>
              <a:off x="619963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4" name="cmd_dot2"/>
            <p:cNvSpPr/>
            <p:nvPr/>
          </p:nvSpPr>
          <p:spPr>
            <a:xfrm>
              <a:off x="638525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5" name="cmd_tab"/>
            <p:cNvSpPr/>
            <p:nvPr/>
          </p:nvSpPr>
          <p:spPr>
            <a:xfrm>
              <a:off x="6633057"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Terminal</a:t>
              </a:r>
              <a:endParaRPr lang="en-US" sz="950" dirty="0"/>
            </a:p>
          </p:txBody>
        </p:sp>
        <p:sp>
          <p:nvSpPr>
            <p:cNvPr id="126" name="cmd_L00"/>
            <p:cNvSpPr txBox="1"/>
            <p:nvPr/>
          </p:nvSpPr>
          <p:spPr>
            <a:xfrm>
              <a:off x="6080760" y="204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new xunit -n Bank.Core.Tests -o tests/Bank.Core.Tests</a:t>
              </a:r>
              <a:endParaRPr lang="en-US" sz="800" dirty="0"/>
            </a:p>
          </p:txBody>
        </p:sp>
        <p:sp>
          <p:nvSpPr>
            <p:cNvPr id="127" name="cmd_L01"/>
            <p:cNvSpPr txBox="1"/>
            <p:nvPr/>
          </p:nvSpPr>
          <p:spPr>
            <a:xfrm>
              <a:off x="6080760" y="221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sln add tests/Bank.Core.Tests</a:t>
              </a:r>
              <a:endParaRPr lang="en-US" sz="800" dirty="0"/>
            </a:p>
          </p:txBody>
        </p:sp>
        <p:sp>
          <p:nvSpPr>
            <p:cNvPr id="128" name="cmd_L02"/>
            <p:cNvSpPr txBox="1"/>
            <p:nvPr/>
          </p:nvSpPr>
          <p:spPr>
            <a:xfrm>
              <a:off x="6080760" y="238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add tests/Bank.Core.Tests reference src/Bank.Core</a:t>
              </a:r>
              <a:endParaRPr lang="en-US" sz="800" dirty="0"/>
            </a:p>
          </p:txBody>
        </p:sp>
        <p:sp>
          <p:nvSpPr>
            <p:cNvPr id="129" name="cmd_L04"/>
            <p:cNvSpPr txBox="1"/>
            <p:nvPr/>
          </p:nvSpPr>
          <p:spPr>
            <a:xfrm>
              <a:off x="6080760" y="272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FAE7A"/>
                  </a:solidFill>
                  <a:latin typeface="Consolas"/>
                  <a:ea typeface="Consolas"/>
                  <a:cs typeface="Consolas"/>
                </a:rPr>
                <a:t># helpers we use today</a:t>
              </a:r>
              <a:endParaRPr lang="en-US" sz="800" dirty="0"/>
            </a:p>
          </p:txBody>
        </p:sp>
        <p:sp>
          <p:nvSpPr>
            <p:cNvPr id="130" name="cmd_L05"/>
            <p:cNvSpPr txBox="1"/>
            <p:nvPr/>
          </p:nvSpPr>
          <p:spPr>
            <a:xfrm>
              <a:off x="6080760" y="289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add tests/Bank.Core.Tests package NSubstitute</a:t>
              </a:r>
              <a:endParaRPr lang="en-US" sz="800" dirty="0"/>
            </a:p>
          </p:txBody>
        </p:sp>
        <p:sp>
          <p:nvSpPr>
            <p:cNvPr id="131" name="cmd_L06"/>
            <p:cNvSpPr txBox="1"/>
            <p:nvPr/>
          </p:nvSpPr>
          <p:spPr>
            <a:xfrm>
              <a:off x="6080760" y="306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add tests/Bank.Core.Tests package Shouldly</a:t>
              </a:r>
              <a:endParaRPr lang="en-US" sz="800" dirty="0"/>
            </a:p>
          </p:txBody>
        </p:sp>
        <p:sp>
          <p:nvSpPr>
            <p:cNvPr id="132" name="cmd_L07"/>
            <p:cNvSpPr txBox="1"/>
            <p:nvPr/>
          </p:nvSpPr>
          <p:spPr>
            <a:xfrm>
              <a:off x="6080760" y="323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add tests/Bank.Core.Tests package Bogus</a:t>
              </a:r>
              <a:endParaRPr lang="en-US" sz="800" dirty="0"/>
            </a:p>
          </p:txBody>
        </p:sp>
        <p:sp>
          <p:nvSpPr>
            <p:cNvPr id="133" name="cmd_L08"/>
            <p:cNvSpPr txBox="1"/>
            <p:nvPr/>
          </p:nvSpPr>
          <p:spPr>
            <a:xfrm>
              <a:off x="6080760" y="340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add tests/Bank.Core.Tests package Microsoft.Extensions.TimeProvider.Testing</a:t>
              </a:r>
              <a:endParaRPr lang="en-US" sz="800" dirty="0"/>
            </a:p>
          </p:txBody>
        </p:sp>
        <p:sp>
          <p:nvSpPr>
            <p:cNvPr id="134" name="cmd_L10"/>
            <p:cNvSpPr txBox="1"/>
            <p:nvPr/>
          </p:nvSpPr>
          <p:spPr>
            <a:xfrm>
              <a:off x="6080760" y="3748668"/>
              <a:ext cx="5478094" cy="17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dotnet test</a:t>
              </a:r>
              <a:endParaRPr lang="en-US" sz="800" dirty="0"/>
            </a:p>
          </p:txBody>
        </p:sp>
      </p:grpSp>
      <p:sp>
        <p:nvSpPr>
          <p:cNvPr id="136" name="cmd_hl10"/>
          <p:cNvSpPr/>
          <p:nvPr/>
        </p:nvSpPr>
        <p:spPr>
          <a:xfrm>
            <a:off x="5985662" y="3730380"/>
            <a:ext cx="5511094" cy="206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45" name="out"/>
          <p:cNvGrpSpPr/>
          <p:nvPr/>
        </p:nvGrpSpPr>
        <p:grpSpPr>
          <a:xfrm>
            <a:off x="5852160" y="4251960"/>
            <a:ext cx="5778094" cy="788940"/>
            <a:chOff x="5852160" y="4251960"/>
            <a:chExt cx="5778094" cy="788940"/>
          </a:xfrm>
        </p:grpSpPr>
        <p:sp>
          <p:nvSpPr>
            <p:cNvPr id="137" name="out_win"/>
            <p:cNvSpPr/>
            <p:nvPr/>
          </p:nvSpPr>
          <p:spPr>
            <a:xfrm>
              <a:off x="5852160" y="4251960"/>
              <a:ext cx="5778094" cy="788940"/>
            </a:xfrm>
            <a:prstGeom prst="roundRect">
              <a:avLst>
                <a:gd name="adj" fmla="val 8689"/>
              </a:avLst>
            </a:prstGeom>
            <a:solidFill>
              <a:srgbClr val="060D18"/>
            </a:solidFill>
            <a:ln w="12700">
              <a:solidFill>
                <a:srgbClr val="1E3A5F"/>
              </a:solidFill>
              <a:prstDash val="solid"/>
            </a:ln>
          </p:spPr>
          <p:txBody>
            <a:bodyPr/>
            <a:lstStyle/>
            <a:p>
              <a:endParaRPr lang="en-US"/>
            </a:p>
          </p:txBody>
        </p:sp>
        <p:sp>
          <p:nvSpPr>
            <p:cNvPr id="138" name="out_bar"/>
            <p:cNvSpPr/>
            <p:nvPr/>
          </p:nvSpPr>
          <p:spPr>
            <a:xfrm>
              <a:off x="5852160" y="4251960"/>
              <a:ext cx="577809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9" name="out_barfill"/>
            <p:cNvSpPr/>
            <p:nvPr/>
          </p:nvSpPr>
          <p:spPr>
            <a:xfrm>
              <a:off x="5852160" y="4423410"/>
              <a:ext cx="5778094" cy="171450"/>
            </a:xfrm>
            <a:prstGeom prst="rect">
              <a:avLst/>
            </a:prstGeom>
            <a:solidFill>
              <a:srgbClr val="0A1220"/>
            </a:solidFill>
            <a:ln w="12700">
              <a:solidFill>
                <a:srgbClr val="0A1220"/>
              </a:solidFill>
              <a:prstDash val="solid"/>
            </a:ln>
          </p:spPr>
          <p:txBody>
            <a:bodyPr/>
            <a:lstStyle/>
            <a:p>
              <a:endParaRPr lang="en-US"/>
            </a:p>
          </p:txBody>
        </p:sp>
        <p:sp>
          <p:nvSpPr>
            <p:cNvPr id="140" name="out_dot0"/>
            <p:cNvSpPr/>
            <p:nvPr/>
          </p:nvSpPr>
          <p:spPr>
            <a:xfrm>
              <a:off x="6014008" y="4375770"/>
              <a:ext cx="95098" cy="95098"/>
            </a:xfrm>
            <a:prstGeom prst="ellipse">
              <a:avLst/>
            </a:prstGeom>
            <a:solidFill>
              <a:srgbClr val="F87171"/>
            </a:solidFill>
            <a:ln w="12700">
              <a:solidFill>
                <a:srgbClr val="F87171"/>
              </a:solidFill>
              <a:prstDash val="solid"/>
            </a:ln>
          </p:spPr>
          <p:txBody>
            <a:bodyPr/>
            <a:lstStyle/>
            <a:p>
              <a:endParaRPr lang="en-US"/>
            </a:p>
          </p:txBody>
        </p:sp>
        <p:sp>
          <p:nvSpPr>
            <p:cNvPr id="141" name="out_dot1"/>
            <p:cNvSpPr/>
            <p:nvPr/>
          </p:nvSpPr>
          <p:spPr>
            <a:xfrm>
              <a:off x="6199632" y="4375770"/>
              <a:ext cx="95098" cy="95098"/>
            </a:xfrm>
            <a:prstGeom prst="ellipse">
              <a:avLst/>
            </a:prstGeom>
            <a:solidFill>
              <a:srgbClr val="FBBF24"/>
            </a:solidFill>
            <a:ln w="12700">
              <a:solidFill>
                <a:srgbClr val="FBBF24"/>
              </a:solidFill>
              <a:prstDash val="solid"/>
            </a:ln>
          </p:spPr>
          <p:txBody>
            <a:bodyPr/>
            <a:lstStyle/>
            <a:p>
              <a:endParaRPr lang="en-US"/>
            </a:p>
          </p:txBody>
        </p:sp>
        <p:sp>
          <p:nvSpPr>
            <p:cNvPr id="142" name="out_dot2"/>
            <p:cNvSpPr/>
            <p:nvPr/>
          </p:nvSpPr>
          <p:spPr>
            <a:xfrm>
              <a:off x="6385256" y="4375770"/>
              <a:ext cx="95098" cy="95098"/>
            </a:xfrm>
            <a:prstGeom prst="ellipse">
              <a:avLst/>
            </a:prstGeom>
            <a:solidFill>
              <a:srgbClr val="34D399"/>
            </a:solidFill>
            <a:ln w="12700">
              <a:solidFill>
                <a:srgbClr val="34D399"/>
              </a:solidFill>
              <a:prstDash val="solid"/>
            </a:ln>
          </p:spPr>
          <p:txBody>
            <a:bodyPr/>
            <a:lstStyle/>
            <a:p>
              <a:endParaRPr lang="en-US"/>
            </a:p>
          </p:txBody>
        </p:sp>
        <p:sp>
          <p:nvSpPr>
            <p:cNvPr id="143" name="out_tab"/>
            <p:cNvSpPr/>
            <p:nvPr/>
          </p:nvSpPr>
          <p:spPr>
            <a:xfrm>
              <a:off x="6633057" y="42995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44" name="out_L00"/>
            <p:cNvSpPr txBox="1"/>
            <p:nvPr/>
          </p:nvSpPr>
          <p:spPr>
            <a:xfrm>
              <a:off x="6080760" y="4727860"/>
              <a:ext cx="547809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Passed!  - Failed: 0, Passed: 55, Skipped: 0, Total: 55</a:t>
              </a:r>
              <a:endParaRPr lang="en-US" sz="850" dirty="0"/>
            </a:p>
          </p:txBody>
        </p:sp>
      </p:grpSp>
      <p:sp>
        <p:nvSpPr>
          <p:cNvPr id="146" name="k"/>
          <p:cNvSpPr/>
          <p:nvPr/>
        </p:nvSpPr>
        <p:spPr>
          <a:xfrm>
            <a:off x="543154" y="4069080"/>
            <a:ext cx="5120640" cy="1188720"/>
          </a:xfrm>
          <a:prstGeom prst="roundRect">
            <a:avLst>
              <a:gd name="adj" fmla="val 8132"/>
            </a:avLst>
          </a:prstGeom>
          <a:solidFill>
            <a:srgbClr val="111B2E"/>
          </a:solidFill>
          <a:ln w="12700">
            <a:solidFill>
              <a:srgbClr val="60A5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60A5FA"/>
                </a:solidFill>
                <a:latin typeface="Segoe UI"/>
                <a:ea typeface="Segoe UI"/>
                <a:cs typeface="Segoe UI"/>
              </a:rPr>
              <a:t>IN THE TEMPLATE ALREADY</a:t>
            </a:r>
            <a:endParaRPr lang="en-US" sz="1100" dirty="0"/>
          </a:p>
          <a:p>
            <a:pPr marL="0" indent="0" algn="l">
              <a:spcBef>
                <a:spcPts val="0"/>
              </a:spcBef>
              <a:spcAft>
                <a:spcPts val="0"/>
              </a:spcAft>
              <a:buNone/>
            </a:pPr>
            <a:r>
              <a:rPr lang="en-US" sz="1050" b="0" dirty="0">
                <a:solidFill>
                  <a:srgbClr val="13D0F7"/>
                </a:solidFill>
                <a:latin typeface="Consolas"/>
                <a:ea typeface="Consolas"/>
                <a:cs typeface="Consolas"/>
              </a:rPr>
              <a:t>xunit · xunit.runner.visualstudio · Microsoft.NET.Test.Sdk</a:t>
            </a:r>
            <a:endParaRPr lang="en-US" sz="1050" dirty="0"/>
          </a:p>
          <a:p>
            <a:pPr marL="0" indent="0" algn="l">
              <a:spcBef>
                <a:spcPts val="0"/>
              </a:spcBef>
              <a:spcAft>
                <a:spcPts val="0"/>
              </a:spcAft>
              <a:buNone/>
            </a:pPr>
            <a:r>
              <a:rPr lang="en-US" sz="1100" b="0" dirty="0">
                <a:solidFill>
                  <a:srgbClr val="CBD5E1"/>
                </a:solidFill>
                <a:latin typeface="Segoe UI"/>
                <a:ea typeface="Segoe UI"/>
                <a:cs typeface="Segoe UI"/>
              </a:rPr>
              <a:t>NUnit and MSTest work the same way: only the attribute names change.</a:t>
            </a:r>
            <a:endParaRPr lang="en-US" sz="1100" dirty="0"/>
          </a:p>
        </p:txBody>
      </p:sp>
    </p:spTree>
    <p:extLst>
      <p:ext uri="{BB962C8B-B14F-4D97-AF65-F5344CB8AC3E}">
        <p14:creationId xmlns:p14="http://schemas.microsoft.com/office/powerpoint/2010/main" val="509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400"/>
                                        <p:tgtEl>
                                          <p:spTgt spid="1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8"/>
                                        </p:tgtEl>
                                        <p:attrNameLst>
                                          <p:attrName>style.visibility</p:attrName>
                                        </p:attrNameLst>
                                      </p:cBhvr>
                                      <p:to>
                                        <p:strVal val="visible"/>
                                      </p:to>
                                    </p:set>
                                    <p:animEffect transition="in" filter="fade">
                                      <p:cBhvr>
                                        <p:cTn id="10" dur="400"/>
                                        <p:tgtEl>
                                          <p:spTgt spid="1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animEffect transition="in" filter="fade">
                                      <p:cBhvr>
                                        <p:cTn id="15" dur="400"/>
                                        <p:tgtEl>
                                          <p:spTgt spid="1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fade">
                                      <p:cBhvr>
                                        <p:cTn id="18" dur="400"/>
                                        <p:tgtEl>
                                          <p:spTgt spid="1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6"/>
                                        </p:tgtEl>
                                        <p:attrNameLst>
                                          <p:attrName>style.visibility</p:attrName>
                                        </p:attrNameLst>
                                      </p:cBhvr>
                                      <p:to>
                                        <p:strVal val="visible"/>
                                      </p:to>
                                    </p:set>
                                    <p:animEffect transition="in" filter="fade">
                                      <p:cBhvr>
                                        <p:cTn id="23" dur="400"/>
                                        <p:tgtEl>
                                          <p:spTgt spid="14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5"/>
                                        </p:tgtEl>
                                        <p:attrNameLst>
                                          <p:attrName>style.visibility</p:attrName>
                                        </p:attrNameLst>
                                      </p:cBhvr>
                                      <p:to>
                                        <p:strVal val="visible"/>
                                      </p:to>
                                    </p:set>
                                    <p:animEffect transition="in" filter="fade">
                                      <p:cBhvr>
                                        <p:cTn id="28" dur="4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36" grpId="0" animBg="1"/>
      <p:bldP spid="14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EXCEPTIONS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Testing That the Code Says No</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110</a:t>
            </a:r>
            <a:endParaRPr lang="en-US" sz="850" dirty="0"/>
          </a:p>
        </p:txBody>
      </p:sp>
      <p:sp>
        <p:nvSpPr>
          <p:cNvPr id="101" name="cl"/>
          <p:cNvSpPr txBox="1"/>
          <p:nvPr/>
        </p:nvSpPr>
        <p:spPr>
          <a:xfrm>
            <a:off x="543154" y="1463040"/>
            <a:ext cx="50749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5846674" y="1463040"/>
            <a:ext cx="57835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19" name="cls"/>
          <p:cNvGrpSpPr/>
          <p:nvPr/>
        </p:nvGrpSpPr>
        <p:grpSpPr>
          <a:xfrm>
            <a:off x="543154" y="1755648"/>
            <a:ext cx="5074920" cy="2143900"/>
            <a:chOff x="543154" y="1755648"/>
            <a:chExt cx="5074920" cy="2143900"/>
          </a:xfrm>
        </p:grpSpPr>
        <p:sp>
          <p:nvSpPr>
            <p:cNvPr id="103" name="cls_win"/>
            <p:cNvSpPr/>
            <p:nvPr/>
          </p:nvSpPr>
          <p:spPr>
            <a:xfrm>
              <a:off x="543154" y="1755648"/>
              <a:ext cx="5074920" cy="2143900"/>
            </a:xfrm>
            <a:prstGeom prst="roundRect">
              <a:avLst>
                <a:gd name="adj" fmla="val 3197"/>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0749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07492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BankAccount.cs</a:t>
              </a:r>
              <a:endParaRPr lang="en-US" sz="950" dirty="0"/>
            </a:p>
          </p:txBody>
        </p:sp>
        <p:sp>
          <p:nvSpPr>
            <p:cNvPr id="110" name="cls_L00"/>
            <p:cNvSpPr txBox="1"/>
            <p:nvPr/>
          </p:nvSpPr>
          <p:spPr>
            <a:xfrm>
              <a:off x="771754" y="2231548"/>
              <a:ext cx="477492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void</a:t>
              </a:r>
              <a:r>
                <a:rPr lang="en-US" sz="850" b="0" dirty="0">
                  <a:solidFill>
                    <a:srgbClr val="E2E8F0"/>
                  </a:solidFill>
                  <a:latin typeface="Consolas"/>
                  <a:ea typeface="Consolas"/>
                  <a:cs typeface="Consolas"/>
                </a:rPr>
                <a:t> Withdraw(</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amount)</a:t>
              </a:r>
              <a:endParaRPr lang="en-US" sz="850" dirty="0"/>
            </a:p>
          </p:txBody>
        </p:sp>
        <p:sp>
          <p:nvSpPr>
            <p:cNvPr id="111" name="cls_L01"/>
            <p:cNvSpPr txBox="1"/>
            <p:nvPr/>
          </p:nvSpPr>
          <p:spPr>
            <a:xfrm>
              <a:off x="771754" y="2403548"/>
              <a:ext cx="477492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12" name="cls_L02"/>
            <p:cNvSpPr txBox="1"/>
            <p:nvPr/>
          </p:nvSpPr>
          <p:spPr>
            <a:xfrm>
              <a:off x="771754" y="2575548"/>
              <a:ext cx="477492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if</a:t>
              </a:r>
              <a:r>
                <a:rPr lang="en-US" sz="850" b="0" dirty="0">
                  <a:solidFill>
                    <a:srgbClr val="E2E8F0"/>
                  </a:solidFill>
                  <a:latin typeface="Consolas"/>
                  <a:ea typeface="Consolas"/>
                  <a:cs typeface="Consolas"/>
                </a:rPr>
                <a:t> (amount &lt;= 0)</a:t>
              </a:r>
              <a:endParaRPr lang="en-US" sz="850" dirty="0"/>
            </a:p>
          </p:txBody>
        </p:sp>
        <p:sp>
          <p:nvSpPr>
            <p:cNvPr id="113" name="cls_L03"/>
            <p:cNvSpPr txBox="1"/>
            <p:nvPr/>
          </p:nvSpPr>
          <p:spPr>
            <a:xfrm>
              <a:off x="771754" y="2747548"/>
              <a:ext cx="477492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0A5FA"/>
                  </a:solidFill>
                  <a:latin typeface="Consolas"/>
                  <a:ea typeface="Consolas"/>
                  <a:cs typeface="Consolas"/>
                </a:rPr>
                <a:t>throw</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ArgumentOutOfRangeException(</a:t>
              </a:r>
              <a:endParaRPr lang="en-US" sz="850" dirty="0"/>
            </a:p>
          </p:txBody>
        </p:sp>
        <p:sp>
          <p:nvSpPr>
            <p:cNvPr id="114" name="cls_L04"/>
            <p:cNvSpPr txBox="1"/>
            <p:nvPr/>
          </p:nvSpPr>
          <p:spPr>
            <a:xfrm>
              <a:off x="771754" y="2919548"/>
              <a:ext cx="4774920" cy="17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50" b="0" dirty="0">
                  <a:solidFill>
                    <a:srgbClr val="E2E8F0"/>
                  </a:solidFill>
                  <a:latin typeface="Consolas"/>
                  <a:ea typeface="Consolas"/>
                  <a:cs typeface="Consolas"/>
                </a:rPr>
                <a:t>nameof(amount), </a:t>
              </a:r>
              <a:r>
                <a:rPr lang="en-US" sz="850" b="0" dirty="0">
                  <a:solidFill>
                    <a:srgbClr val="F0A98B"/>
                  </a:solidFill>
                  <a:latin typeface="Consolas"/>
                  <a:ea typeface="Consolas"/>
                  <a:cs typeface="Consolas"/>
                </a:rPr>
                <a:t>"Amount must be positive."</a:t>
              </a:r>
              <a:r>
                <a:rPr lang="en-US" sz="850" b="0" dirty="0">
                  <a:solidFill>
                    <a:srgbClr val="E2E8F0"/>
                  </a:solidFill>
                  <a:latin typeface="Consolas"/>
                  <a:ea typeface="Consolas"/>
                  <a:cs typeface="Consolas"/>
                </a:rPr>
                <a:t>);</a:t>
              </a:r>
              <a:endParaRPr lang="en-US" sz="850" dirty="0"/>
            </a:p>
          </p:txBody>
        </p:sp>
        <p:sp>
          <p:nvSpPr>
            <p:cNvPr id="115" name="cls_L05"/>
            <p:cNvSpPr txBox="1"/>
            <p:nvPr/>
          </p:nvSpPr>
          <p:spPr>
            <a:xfrm>
              <a:off x="771754" y="3091548"/>
              <a:ext cx="477492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if</a:t>
              </a:r>
              <a:r>
                <a:rPr lang="en-US" sz="850" b="0" dirty="0">
                  <a:solidFill>
                    <a:srgbClr val="E2E8F0"/>
                  </a:solidFill>
                  <a:latin typeface="Consolas"/>
                  <a:ea typeface="Consolas"/>
                  <a:cs typeface="Consolas"/>
                </a:rPr>
                <a:t> (amount &gt; Balance)</a:t>
              </a:r>
              <a:endParaRPr lang="en-US" sz="850" dirty="0"/>
            </a:p>
          </p:txBody>
        </p:sp>
        <p:sp>
          <p:nvSpPr>
            <p:cNvPr id="116" name="cls_L06"/>
            <p:cNvSpPr txBox="1"/>
            <p:nvPr/>
          </p:nvSpPr>
          <p:spPr>
            <a:xfrm>
              <a:off x="771754" y="3263548"/>
              <a:ext cx="477492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0A5FA"/>
                  </a:solidFill>
                  <a:latin typeface="Consolas"/>
                  <a:ea typeface="Consolas"/>
                  <a:cs typeface="Consolas"/>
                </a:rPr>
                <a:t>throw</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InvalidOperationException(</a:t>
              </a:r>
              <a:r>
                <a:rPr lang="en-US" sz="850" b="0" dirty="0">
                  <a:solidFill>
                    <a:srgbClr val="F0A98B"/>
                  </a:solidFill>
                  <a:latin typeface="Consolas"/>
                  <a:ea typeface="Consolas"/>
                  <a:cs typeface="Consolas"/>
                </a:rPr>
                <a:t>"Insufficient funds."</a:t>
              </a:r>
              <a:r>
                <a:rPr lang="en-US" sz="850" b="0" dirty="0">
                  <a:solidFill>
                    <a:srgbClr val="E2E8F0"/>
                  </a:solidFill>
                  <a:latin typeface="Consolas"/>
                  <a:ea typeface="Consolas"/>
                  <a:cs typeface="Consolas"/>
                </a:rPr>
                <a:t>);</a:t>
              </a:r>
              <a:endParaRPr lang="en-US" sz="850" dirty="0"/>
            </a:p>
          </p:txBody>
        </p:sp>
        <p:sp>
          <p:nvSpPr>
            <p:cNvPr id="117" name="cls_L07"/>
            <p:cNvSpPr txBox="1"/>
            <p:nvPr/>
          </p:nvSpPr>
          <p:spPr>
            <a:xfrm>
              <a:off x="771754" y="3435548"/>
              <a:ext cx="477492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Balance -= amount;</a:t>
              </a:r>
              <a:endParaRPr lang="en-US" sz="850" dirty="0"/>
            </a:p>
          </p:txBody>
        </p:sp>
        <p:sp>
          <p:nvSpPr>
            <p:cNvPr id="118" name="cls_L08"/>
            <p:cNvSpPr txBox="1"/>
            <p:nvPr/>
          </p:nvSpPr>
          <p:spPr>
            <a:xfrm>
              <a:off x="771754" y="3607548"/>
              <a:ext cx="477492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20" name="cls_hl5"/>
          <p:cNvSpPr/>
          <p:nvPr/>
        </p:nvSpPr>
        <p:spPr>
          <a:xfrm>
            <a:off x="676656" y="3073260"/>
            <a:ext cx="4807920" cy="208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1" name="cls_hl6"/>
          <p:cNvSpPr/>
          <p:nvPr/>
        </p:nvSpPr>
        <p:spPr>
          <a:xfrm>
            <a:off x="676656" y="3245260"/>
            <a:ext cx="4807920" cy="208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38" name="tst"/>
          <p:cNvGrpSpPr/>
          <p:nvPr/>
        </p:nvGrpSpPr>
        <p:grpSpPr>
          <a:xfrm>
            <a:off x="5846674" y="1755648"/>
            <a:ext cx="5783580" cy="2487900"/>
            <a:chOff x="5846674" y="1755648"/>
            <a:chExt cx="5783580" cy="2487900"/>
          </a:xfrm>
        </p:grpSpPr>
        <p:sp>
          <p:nvSpPr>
            <p:cNvPr id="122" name="tst_win"/>
            <p:cNvSpPr/>
            <p:nvPr/>
          </p:nvSpPr>
          <p:spPr>
            <a:xfrm>
              <a:off x="5846674" y="1755648"/>
              <a:ext cx="5783580" cy="2487900"/>
            </a:xfrm>
            <a:prstGeom prst="roundRect">
              <a:avLst>
                <a:gd name="adj" fmla="val 2755"/>
              </a:avLst>
            </a:prstGeom>
            <a:solidFill>
              <a:srgbClr val="060D18"/>
            </a:solidFill>
            <a:ln w="12700">
              <a:solidFill>
                <a:srgbClr val="1E3A5F"/>
              </a:solidFill>
              <a:prstDash val="solid"/>
            </a:ln>
          </p:spPr>
          <p:txBody>
            <a:bodyPr/>
            <a:lstStyle/>
            <a:p>
              <a:endParaRPr lang="en-US"/>
            </a:p>
          </p:txBody>
        </p:sp>
        <p:sp>
          <p:nvSpPr>
            <p:cNvPr id="123" name="tst_bar"/>
            <p:cNvSpPr/>
            <p:nvPr/>
          </p:nvSpPr>
          <p:spPr>
            <a:xfrm>
              <a:off x="5846674" y="1755648"/>
              <a:ext cx="57835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tst_barfill"/>
            <p:cNvSpPr/>
            <p:nvPr/>
          </p:nvSpPr>
          <p:spPr>
            <a:xfrm>
              <a:off x="5846674" y="1927098"/>
              <a:ext cx="5783580" cy="171450"/>
            </a:xfrm>
            <a:prstGeom prst="rect">
              <a:avLst/>
            </a:prstGeom>
            <a:solidFill>
              <a:srgbClr val="0A1220"/>
            </a:solidFill>
            <a:ln w="12700">
              <a:solidFill>
                <a:srgbClr val="0A1220"/>
              </a:solidFill>
              <a:prstDash val="solid"/>
            </a:ln>
          </p:spPr>
          <p:txBody>
            <a:bodyPr/>
            <a:lstStyle/>
            <a:p>
              <a:endParaRPr lang="en-US"/>
            </a:p>
          </p:txBody>
        </p:sp>
        <p:sp>
          <p:nvSpPr>
            <p:cNvPr id="125" name="tst_dot0"/>
            <p:cNvSpPr/>
            <p:nvPr/>
          </p:nvSpPr>
          <p:spPr>
            <a:xfrm>
              <a:off x="600852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tst_dot1"/>
            <p:cNvSpPr/>
            <p:nvPr/>
          </p:nvSpPr>
          <p:spPr>
            <a:xfrm>
              <a:off x="619414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tst_dot2"/>
            <p:cNvSpPr/>
            <p:nvPr/>
          </p:nvSpPr>
          <p:spPr>
            <a:xfrm>
              <a:off x="637977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tst_tab"/>
            <p:cNvSpPr/>
            <p:nvPr/>
          </p:nvSpPr>
          <p:spPr>
            <a:xfrm>
              <a:off x="6627571" y="1803197"/>
              <a:ext cx="1624333"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BankAccountTests.cs</a:t>
              </a:r>
              <a:endParaRPr lang="en-US" sz="950" dirty="0"/>
            </a:p>
          </p:txBody>
        </p:sp>
        <p:sp>
          <p:nvSpPr>
            <p:cNvPr id="129" name="tst_L00"/>
            <p:cNvSpPr txBox="1"/>
            <p:nvPr/>
          </p:nvSpPr>
          <p:spPr>
            <a:xfrm>
              <a:off x="6075274" y="2231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[Fact]</a:t>
              </a:r>
              <a:endParaRPr lang="en-US" sz="850" dirty="0"/>
            </a:p>
          </p:txBody>
        </p:sp>
        <p:sp>
          <p:nvSpPr>
            <p:cNvPr id="130" name="tst_L01"/>
            <p:cNvSpPr txBox="1"/>
            <p:nvPr/>
          </p:nvSpPr>
          <p:spPr>
            <a:xfrm>
              <a:off x="6075274" y="2403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void</a:t>
              </a:r>
              <a:r>
                <a:rPr lang="en-US" sz="850" b="0" dirty="0">
                  <a:solidFill>
                    <a:srgbClr val="E2E8F0"/>
                  </a:solidFill>
                  <a:latin typeface="Consolas"/>
                  <a:ea typeface="Consolas"/>
                  <a:cs typeface="Consolas"/>
                </a:rPr>
                <a:t> Withdraw_MoreThanBalance_Throws()</a:t>
              </a:r>
              <a:endParaRPr lang="en-US" sz="850" dirty="0"/>
            </a:p>
          </p:txBody>
        </p:sp>
        <p:sp>
          <p:nvSpPr>
            <p:cNvPr id="131" name="tst_L02"/>
            <p:cNvSpPr txBox="1"/>
            <p:nvPr/>
          </p:nvSpPr>
          <p:spPr>
            <a:xfrm>
              <a:off x="6075274" y="2575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32" name="tst_L03"/>
            <p:cNvSpPr txBox="1"/>
            <p:nvPr/>
          </p:nvSpPr>
          <p:spPr>
            <a:xfrm>
              <a:off x="6075274" y="2747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var</a:t>
              </a:r>
              <a:r>
                <a:rPr lang="en-US" sz="850" b="0" dirty="0">
                  <a:solidFill>
                    <a:srgbClr val="E2E8F0"/>
                  </a:solidFill>
                  <a:latin typeface="Consolas"/>
                  <a:ea typeface="Consolas"/>
                  <a:cs typeface="Consolas"/>
                </a:rPr>
                <a:t> account =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BankAccount(</a:t>
              </a:r>
              <a:r>
                <a:rPr lang="en-US" sz="850" b="0" dirty="0">
                  <a:solidFill>
                    <a:srgbClr val="F0A98B"/>
                  </a:solidFill>
                  <a:latin typeface="Consolas"/>
                  <a:ea typeface="Consolas"/>
                  <a:cs typeface="Consolas"/>
                </a:rPr>
                <a:t>"mona@bank.eg"</a:t>
              </a:r>
              <a:r>
                <a:rPr lang="en-US" sz="850" b="0" dirty="0">
                  <a:solidFill>
                    <a:srgbClr val="E2E8F0"/>
                  </a:solidFill>
                  <a:latin typeface="Consolas"/>
                  <a:ea typeface="Consolas"/>
                  <a:cs typeface="Consolas"/>
                </a:rPr>
                <a:t>, 50m);</a:t>
              </a:r>
              <a:endParaRPr lang="en-US" sz="850" dirty="0"/>
            </a:p>
          </p:txBody>
        </p:sp>
        <p:sp>
          <p:nvSpPr>
            <p:cNvPr id="133" name="tst_L05"/>
            <p:cNvSpPr txBox="1"/>
            <p:nvPr/>
          </p:nvSpPr>
          <p:spPr>
            <a:xfrm>
              <a:off x="6075274" y="3091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var</a:t>
              </a:r>
              <a:r>
                <a:rPr lang="en-US" sz="850" b="0" dirty="0">
                  <a:solidFill>
                    <a:srgbClr val="E2E8F0"/>
                  </a:solidFill>
                  <a:latin typeface="Consolas"/>
                  <a:ea typeface="Consolas"/>
                  <a:cs typeface="Consolas"/>
                </a:rPr>
                <a:t> ex = Assert.Throws&lt;InvalidOperationException&gt;(</a:t>
              </a:r>
              <a:endParaRPr lang="en-US" sz="850" dirty="0"/>
            </a:p>
          </p:txBody>
        </p:sp>
        <p:sp>
          <p:nvSpPr>
            <p:cNvPr id="134" name="tst_L06"/>
            <p:cNvSpPr txBox="1"/>
            <p:nvPr/>
          </p:nvSpPr>
          <p:spPr>
            <a:xfrm>
              <a:off x="6075274" y="3263548"/>
              <a:ext cx="548358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 =&gt; account.Withdraw(80m));</a:t>
              </a:r>
              <a:endParaRPr lang="en-US" sz="850" dirty="0"/>
            </a:p>
          </p:txBody>
        </p:sp>
        <p:sp>
          <p:nvSpPr>
            <p:cNvPr id="135" name="tst_L08"/>
            <p:cNvSpPr txBox="1"/>
            <p:nvPr/>
          </p:nvSpPr>
          <p:spPr>
            <a:xfrm>
              <a:off x="6075274" y="3607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Assert.Equal(</a:t>
              </a:r>
              <a:r>
                <a:rPr lang="en-US" sz="850" b="0" dirty="0">
                  <a:solidFill>
                    <a:srgbClr val="F0A98B"/>
                  </a:solidFill>
                  <a:latin typeface="Consolas"/>
                  <a:ea typeface="Consolas"/>
                  <a:cs typeface="Consolas"/>
                </a:rPr>
                <a:t>"Insufficient funds."</a:t>
              </a:r>
              <a:r>
                <a:rPr lang="en-US" sz="850" b="0" dirty="0">
                  <a:solidFill>
                    <a:srgbClr val="E2E8F0"/>
                  </a:solidFill>
                  <a:latin typeface="Consolas"/>
                  <a:ea typeface="Consolas"/>
                  <a:cs typeface="Consolas"/>
                </a:rPr>
                <a:t>, ex.Message);  </a:t>
              </a:r>
              <a:r>
                <a:rPr lang="en-US" sz="850" b="0" dirty="0">
                  <a:solidFill>
                    <a:srgbClr val="6FAE7A"/>
                  </a:solidFill>
                  <a:latin typeface="Consolas"/>
                  <a:ea typeface="Consolas"/>
                  <a:cs typeface="Consolas"/>
                </a:rPr>
                <a:t>// the right reason</a:t>
              </a:r>
              <a:endParaRPr lang="en-US" sz="850" dirty="0"/>
            </a:p>
          </p:txBody>
        </p:sp>
        <p:sp>
          <p:nvSpPr>
            <p:cNvPr id="136" name="tst_L09"/>
            <p:cNvSpPr txBox="1"/>
            <p:nvPr/>
          </p:nvSpPr>
          <p:spPr>
            <a:xfrm>
              <a:off x="6075274" y="3779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Assert.Equal(50m, account.Balance);               </a:t>
              </a:r>
              <a:r>
                <a:rPr lang="en-US" sz="850" b="0" dirty="0">
                  <a:solidFill>
                    <a:srgbClr val="6FAE7A"/>
                  </a:solidFill>
                  <a:latin typeface="Consolas"/>
                  <a:ea typeface="Consolas"/>
                  <a:cs typeface="Consolas"/>
                </a:rPr>
                <a:t>// nothing changed</a:t>
              </a:r>
              <a:endParaRPr lang="en-US" sz="850" dirty="0"/>
            </a:p>
          </p:txBody>
        </p:sp>
        <p:sp>
          <p:nvSpPr>
            <p:cNvPr id="137" name="tst_L10"/>
            <p:cNvSpPr txBox="1"/>
            <p:nvPr/>
          </p:nvSpPr>
          <p:spPr>
            <a:xfrm>
              <a:off x="6075274" y="3951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39" name="tst_hl5"/>
          <p:cNvSpPr/>
          <p:nvPr/>
        </p:nvSpPr>
        <p:spPr>
          <a:xfrm>
            <a:off x="5980176" y="3073260"/>
            <a:ext cx="5516580" cy="208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0" name="tst_hl6"/>
          <p:cNvSpPr/>
          <p:nvPr/>
        </p:nvSpPr>
        <p:spPr>
          <a:xfrm>
            <a:off x="5980176" y="3245260"/>
            <a:ext cx="5516580" cy="208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1" name="tst_hl8"/>
          <p:cNvSpPr/>
          <p:nvPr/>
        </p:nvSpPr>
        <p:spPr>
          <a:xfrm>
            <a:off x="5980176" y="3589260"/>
            <a:ext cx="5516580" cy="20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2" name="tst_hl9"/>
          <p:cNvSpPr/>
          <p:nvPr/>
        </p:nvSpPr>
        <p:spPr>
          <a:xfrm>
            <a:off x="5980176" y="3761260"/>
            <a:ext cx="5516580" cy="208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53" name="te"/>
          <p:cNvGrpSpPr/>
          <p:nvPr/>
        </p:nvGrpSpPr>
        <p:grpSpPr>
          <a:xfrm>
            <a:off x="543154" y="4069080"/>
            <a:ext cx="5074920" cy="1175020"/>
            <a:chOff x="543154" y="4069080"/>
            <a:chExt cx="5074920" cy="1175020"/>
          </a:xfrm>
        </p:grpSpPr>
        <p:sp>
          <p:nvSpPr>
            <p:cNvPr id="143" name="te_win"/>
            <p:cNvSpPr/>
            <p:nvPr/>
          </p:nvSpPr>
          <p:spPr>
            <a:xfrm>
              <a:off x="543154" y="4069080"/>
              <a:ext cx="5074920" cy="1175020"/>
            </a:xfrm>
            <a:prstGeom prst="roundRect">
              <a:avLst>
                <a:gd name="adj" fmla="val 5834"/>
              </a:avLst>
            </a:prstGeom>
            <a:solidFill>
              <a:srgbClr val="060D18"/>
            </a:solidFill>
            <a:ln w="12700">
              <a:solidFill>
                <a:srgbClr val="1E3A5F"/>
              </a:solidFill>
              <a:prstDash val="solid"/>
            </a:ln>
          </p:spPr>
          <p:txBody>
            <a:bodyPr/>
            <a:lstStyle/>
            <a:p>
              <a:endParaRPr lang="en-US"/>
            </a:p>
          </p:txBody>
        </p:sp>
        <p:sp>
          <p:nvSpPr>
            <p:cNvPr id="144" name="te_bar"/>
            <p:cNvSpPr/>
            <p:nvPr/>
          </p:nvSpPr>
          <p:spPr>
            <a:xfrm>
              <a:off x="543154" y="4069080"/>
              <a:ext cx="50749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5" name="te_barfill"/>
            <p:cNvSpPr/>
            <p:nvPr/>
          </p:nvSpPr>
          <p:spPr>
            <a:xfrm>
              <a:off x="543154" y="4240530"/>
              <a:ext cx="5074920" cy="171450"/>
            </a:xfrm>
            <a:prstGeom prst="rect">
              <a:avLst/>
            </a:prstGeom>
            <a:solidFill>
              <a:srgbClr val="0A1220"/>
            </a:solidFill>
            <a:ln w="12700">
              <a:solidFill>
                <a:srgbClr val="0A1220"/>
              </a:solidFill>
              <a:prstDash val="solid"/>
            </a:ln>
          </p:spPr>
          <p:txBody>
            <a:bodyPr/>
            <a:lstStyle/>
            <a:p>
              <a:endParaRPr lang="en-US"/>
            </a:p>
          </p:txBody>
        </p:sp>
        <p:sp>
          <p:nvSpPr>
            <p:cNvPr id="146" name="te_dot0"/>
            <p:cNvSpPr/>
            <p:nvPr/>
          </p:nvSpPr>
          <p:spPr>
            <a:xfrm>
              <a:off x="705002" y="4192890"/>
              <a:ext cx="95098" cy="95098"/>
            </a:xfrm>
            <a:prstGeom prst="ellipse">
              <a:avLst/>
            </a:prstGeom>
            <a:solidFill>
              <a:srgbClr val="F87171"/>
            </a:solidFill>
            <a:ln w="12700">
              <a:solidFill>
                <a:srgbClr val="F87171"/>
              </a:solidFill>
              <a:prstDash val="solid"/>
            </a:ln>
          </p:spPr>
          <p:txBody>
            <a:bodyPr/>
            <a:lstStyle/>
            <a:p>
              <a:endParaRPr lang="en-US"/>
            </a:p>
          </p:txBody>
        </p:sp>
        <p:sp>
          <p:nvSpPr>
            <p:cNvPr id="147" name="te_dot1"/>
            <p:cNvSpPr/>
            <p:nvPr/>
          </p:nvSpPr>
          <p:spPr>
            <a:xfrm>
              <a:off x="890626" y="4192890"/>
              <a:ext cx="95098" cy="95098"/>
            </a:xfrm>
            <a:prstGeom prst="ellipse">
              <a:avLst/>
            </a:prstGeom>
            <a:solidFill>
              <a:srgbClr val="FBBF24"/>
            </a:solidFill>
            <a:ln w="12700">
              <a:solidFill>
                <a:srgbClr val="FBBF24"/>
              </a:solidFill>
              <a:prstDash val="solid"/>
            </a:ln>
          </p:spPr>
          <p:txBody>
            <a:bodyPr/>
            <a:lstStyle/>
            <a:p>
              <a:endParaRPr lang="en-US"/>
            </a:p>
          </p:txBody>
        </p:sp>
        <p:sp>
          <p:nvSpPr>
            <p:cNvPr id="148" name="te_dot2"/>
            <p:cNvSpPr/>
            <p:nvPr/>
          </p:nvSpPr>
          <p:spPr>
            <a:xfrm>
              <a:off x="1076250" y="4192890"/>
              <a:ext cx="95098" cy="95098"/>
            </a:xfrm>
            <a:prstGeom prst="ellipse">
              <a:avLst/>
            </a:prstGeom>
            <a:solidFill>
              <a:srgbClr val="34D399"/>
            </a:solidFill>
            <a:ln w="12700">
              <a:solidFill>
                <a:srgbClr val="34D399"/>
              </a:solidFill>
              <a:prstDash val="solid"/>
            </a:ln>
          </p:spPr>
          <p:txBody>
            <a:bodyPr/>
            <a:lstStyle/>
            <a:p>
              <a:endParaRPr lang="en-US"/>
            </a:p>
          </p:txBody>
        </p:sp>
        <p:sp>
          <p:nvSpPr>
            <p:cNvPr id="149" name="te_tab"/>
            <p:cNvSpPr/>
            <p:nvPr/>
          </p:nvSpPr>
          <p:spPr>
            <a:xfrm>
              <a:off x="1324051" y="411662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Test Explorer</a:t>
              </a:r>
              <a:endParaRPr lang="en-US" sz="950" dirty="0"/>
            </a:p>
          </p:txBody>
        </p:sp>
        <p:sp>
          <p:nvSpPr>
            <p:cNvPr id="150" name="te_L00"/>
            <p:cNvSpPr txBox="1"/>
            <p:nvPr/>
          </p:nvSpPr>
          <p:spPr>
            <a:xfrm>
              <a:off x="771754" y="4544980"/>
              <a:ext cx="47749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 if Withdraw allowed it:</a:t>
              </a:r>
              <a:endParaRPr lang="en-US" sz="830" dirty="0"/>
            </a:p>
          </p:txBody>
        </p:sp>
        <p:sp>
          <p:nvSpPr>
            <p:cNvPr id="151" name="te_L01"/>
            <p:cNvSpPr txBox="1"/>
            <p:nvPr/>
          </p:nvSpPr>
          <p:spPr>
            <a:xfrm>
              <a:off x="771754" y="4738020"/>
              <a:ext cx="47749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  Assert.Throws() Failure: No exception was thrown</a:t>
              </a:r>
              <a:endParaRPr lang="en-US" sz="830" dirty="0"/>
            </a:p>
          </p:txBody>
        </p:sp>
        <p:sp>
          <p:nvSpPr>
            <p:cNvPr id="152" name="te_L02"/>
            <p:cNvSpPr txBox="1"/>
            <p:nvPr/>
          </p:nvSpPr>
          <p:spPr>
            <a:xfrm>
              <a:off x="771754" y="4931060"/>
              <a:ext cx="47749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  Expected: typeof(System.InvalidOperationException)</a:t>
              </a:r>
              <a:endParaRPr lang="en-US" sz="830" dirty="0"/>
            </a:p>
          </p:txBody>
        </p:sp>
      </p:grpSp>
      <p:sp>
        <p:nvSpPr>
          <p:cNvPr id="154" name="k1"/>
          <p:cNvSpPr/>
          <p:nvPr/>
        </p:nvSpPr>
        <p:spPr>
          <a:xfrm>
            <a:off x="5532120" y="4251960"/>
            <a:ext cx="6098134" cy="73152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IT RETURNS THE EXCEPTION</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Check the message or a property: the RIGHT rule must fire.</a:t>
            </a:r>
            <a:endParaRPr lang="en-US" sz="1100" dirty="0"/>
          </a:p>
        </p:txBody>
      </p:sp>
      <p:sp>
        <p:nvSpPr>
          <p:cNvPr id="155" name="k2"/>
          <p:cNvSpPr/>
          <p:nvPr/>
        </p:nvSpPr>
        <p:spPr>
          <a:xfrm>
            <a:off x="5532120" y="5074920"/>
            <a:ext cx="6098134" cy="73152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ASYNC CODE</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await Assert.ThrowsAsync&lt;T&gt;(() =&gt; repo.AddAsync(...))</a:t>
            </a:r>
            <a:endParaRPr lang="en-US" sz="1100" dirty="0"/>
          </a:p>
        </p:txBody>
      </p:sp>
    </p:spTree>
    <p:extLst>
      <p:ext uri="{BB962C8B-B14F-4D97-AF65-F5344CB8AC3E}">
        <p14:creationId xmlns:p14="http://schemas.microsoft.com/office/powerpoint/2010/main" val="509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400"/>
                                        <p:tgtEl>
                                          <p:spTgt spid="1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38"/>
                                        </p:tgtEl>
                                        <p:attrNameLst>
                                          <p:attrName>style.visibility</p:attrName>
                                        </p:attrNameLst>
                                      </p:cBhvr>
                                      <p:to>
                                        <p:strVal val="visible"/>
                                      </p:to>
                                    </p:set>
                                    <p:animEffect transition="in" filter="fade">
                                      <p:cBhvr>
                                        <p:cTn id="24" dur="400"/>
                                        <p:tgtEl>
                                          <p:spTgt spid="13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9"/>
                                        </p:tgtEl>
                                        <p:attrNameLst>
                                          <p:attrName>style.visibility</p:attrName>
                                        </p:attrNameLst>
                                      </p:cBhvr>
                                      <p:to>
                                        <p:strVal val="visible"/>
                                      </p:to>
                                    </p:set>
                                    <p:animEffect transition="in" filter="fade">
                                      <p:cBhvr>
                                        <p:cTn id="27" dur="400"/>
                                        <p:tgtEl>
                                          <p:spTgt spid="13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0"/>
                                        </p:tgtEl>
                                        <p:attrNameLst>
                                          <p:attrName>style.visibility</p:attrName>
                                        </p:attrNameLst>
                                      </p:cBhvr>
                                      <p:to>
                                        <p:strVal val="visible"/>
                                      </p:to>
                                    </p:set>
                                    <p:animEffect transition="in" filter="fade">
                                      <p:cBhvr>
                                        <p:cTn id="30" dur="400"/>
                                        <p:tgtEl>
                                          <p:spTgt spid="14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1"/>
                                        </p:tgtEl>
                                        <p:attrNameLst>
                                          <p:attrName>style.visibility</p:attrName>
                                        </p:attrNameLst>
                                      </p:cBhvr>
                                      <p:to>
                                        <p:strVal val="visible"/>
                                      </p:to>
                                    </p:set>
                                    <p:animEffect transition="in" filter="fade">
                                      <p:cBhvr>
                                        <p:cTn id="33" dur="400"/>
                                        <p:tgtEl>
                                          <p:spTgt spid="14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2"/>
                                        </p:tgtEl>
                                        <p:attrNameLst>
                                          <p:attrName>style.visibility</p:attrName>
                                        </p:attrNameLst>
                                      </p:cBhvr>
                                      <p:to>
                                        <p:strVal val="visible"/>
                                      </p:to>
                                    </p:set>
                                    <p:animEffect transition="in" filter="fade">
                                      <p:cBhvr>
                                        <p:cTn id="36" dur="400"/>
                                        <p:tgtEl>
                                          <p:spTgt spid="14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3"/>
                                        </p:tgtEl>
                                        <p:attrNameLst>
                                          <p:attrName>style.visibility</p:attrName>
                                        </p:attrNameLst>
                                      </p:cBhvr>
                                      <p:to>
                                        <p:strVal val="visible"/>
                                      </p:to>
                                    </p:set>
                                    <p:animEffect transition="in" filter="fade">
                                      <p:cBhvr>
                                        <p:cTn id="41" dur="400"/>
                                        <p:tgtEl>
                                          <p:spTgt spid="15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4"/>
                                        </p:tgtEl>
                                        <p:attrNameLst>
                                          <p:attrName>style.visibility</p:attrName>
                                        </p:attrNameLst>
                                      </p:cBhvr>
                                      <p:to>
                                        <p:strVal val="visible"/>
                                      </p:to>
                                    </p:set>
                                    <p:animEffect transition="in" filter="fade">
                                      <p:cBhvr>
                                        <p:cTn id="46" dur="400"/>
                                        <p:tgtEl>
                                          <p:spTgt spid="15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5"/>
                                        </p:tgtEl>
                                        <p:attrNameLst>
                                          <p:attrName>style.visibility</p:attrName>
                                        </p:attrNameLst>
                                      </p:cBhvr>
                                      <p:to>
                                        <p:strVal val="visible"/>
                                      </p:to>
                                    </p:set>
                                    <p:animEffect transition="in" filter="fade">
                                      <p:cBhvr>
                                        <p:cTn id="51" dur="4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0" grpId="0" animBg="1"/>
      <p:bldP spid="121" grpId="0" animBg="1"/>
      <p:bldP spid="139" grpId="0" animBg="1"/>
      <p:bldP spid="140" grpId="0" animBg="1"/>
      <p:bldP spid="141" grpId="0" animBg="1"/>
      <p:bldP spid="142" grpId="0" animBg="1"/>
      <p:bldP spid="154" grpId="0" animBg="1"/>
      <p:bldP spid="15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THEORY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[Fact] vs [Theory] + [InlineData]</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111</a:t>
            </a:r>
            <a:endParaRPr lang="en-US" sz="850" dirty="0"/>
          </a:p>
        </p:txBody>
      </p:sp>
      <p:sp>
        <p:nvSpPr>
          <p:cNvPr id="101" name="cl"/>
          <p:cNvSpPr txBox="1"/>
          <p:nvPr/>
        </p:nvSpPr>
        <p:spPr>
          <a:xfrm>
            <a:off x="543154" y="1463040"/>
            <a:ext cx="5120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grpSp>
        <p:nvGrpSpPr>
          <p:cNvPr id="121" name="cls"/>
          <p:cNvGrpSpPr/>
          <p:nvPr/>
        </p:nvGrpSpPr>
        <p:grpSpPr>
          <a:xfrm>
            <a:off x="543154" y="1755648"/>
            <a:ext cx="5120640" cy="2611900"/>
            <a:chOff x="543154" y="1755648"/>
            <a:chExt cx="5120640" cy="2611900"/>
          </a:xfrm>
        </p:grpSpPr>
        <p:sp>
          <p:nvSpPr>
            <p:cNvPr id="102" name="cls_win"/>
            <p:cNvSpPr/>
            <p:nvPr/>
          </p:nvSpPr>
          <p:spPr>
            <a:xfrm>
              <a:off x="543154" y="1755648"/>
              <a:ext cx="5120640" cy="2611900"/>
            </a:xfrm>
            <a:prstGeom prst="roundRect">
              <a:avLst>
                <a:gd name="adj" fmla="val 2624"/>
              </a:avLst>
            </a:prstGeom>
            <a:solidFill>
              <a:srgbClr val="060D18"/>
            </a:solidFill>
            <a:ln w="12700">
              <a:solidFill>
                <a:srgbClr val="1E3A5F"/>
              </a:solidFill>
              <a:prstDash val="solid"/>
            </a:ln>
          </p:spPr>
          <p:txBody>
            <a:bodyPr/>
            <a:lstStyle/>
            <a:p>
              <a:endParaRPr lang="en-US"/>
            </a:p>
          </p:txBody>
        </p:sp>
        <p:sp>
          <p:nvSpPr>
            <p:cNvPr id="103" name="cls_bar"/>
            <p:cNvSpPr/>
            <p:nvPr/>
          </p:nvSpPr>
          <p:spPr>
            <a:xfrm>
              <a:off x="543154" y="1755648"/>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cls_barfill"/>
            <p:cNvSpPr/>
            <p:nvPr/>
          </p:nvSpPr>
          <p:spPr>
            <a:xfrm>
              <a:off x="543154" y="1927098"/>
              <a:ext cx="5120640" cy="171450"/>
            </a:xfrm>
            <a:prstGeom prst="rect">
              <a:avLst/>
            </a:prstGeom>
            <a:solidFill>
              <a:srgbClr val="0A1220"/>
            </a:solidFill>
            <a:ln w="12700">
              <a:solidFill>
                <a:srgbClr val="0A1220"/>
              </a:solidFill>
              <a:prstDash val="solid"/>
            </a:ln>
          </p:spPr>
          <p:txBody>
            <a:bodyPr/>
            <a:lstStyle/>
            <a:p>
              <a:endParaRPr lang="en-US"/>
            </a:p>
          </p:txBody>
        </p:sp>
        <p:sp>
          <p:nvSpPr>
            <p:cNvPr id="105"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cls_tab"/>
            <p:cNvSpPr/>
            <p:nvPr/>
          </p:nvSpPr>
          <p:spPr>
            <a:xfrm>
              <a:off x="1324051" y="1803197"/>
              <a:ext cx="148808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EmailValidator.cs</a:t>
              </a:r>
              <a:endParaRPr lang="en-US" sz="950" dirty="0"/>
            </a:p>
          </p:txBody>
        </p:sp>
        <p:sp>
          <p:nvSpPr>
            <p:cNvPr id="109" name="cls_L00"/>
            <p:cNvSpPr txBox="1"/>
            <p:nvPr/>
          </p:nvSpPr>
          <p:spPr>
            <a:xfrm>
              <a:off x="771754" y="2231548"/>
              <a:ext cx="4820640"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60A5FA"/>
                  </a:solidFill>
                  <a:latin typeface="Consolas"/>
                  <a:ea typeface="Consolas"/>
                  <a:cs typeface="Consolas"/>
                </a:rPr>
                <a:t>public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static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class</a:t>
              </a:r>
              <a:r>
                <a:rPr lang="en-US" sz="830" b="0" dirty="0">
                  <a:solidFill>
                    <a:srgbClr val="E2E8F0"/>
                  </a:solidFill>
                  <a:latin typeface="Consolas"/>
                  <a:ea typeface="Consolas"/>
                  <a:cs typeface="Consolas"/>
                </a:rPr>
                <a:t> EmailValidator</a:t>
              </a:r>
              <a:endParaRPr lang="en-US" sz="830" dirty="0"/>
            </a:p>
          </p:txBody>
        </p:sp>
        <p:sp>
          <p:nvSpPr>
            <p:cNvPr id="110" name="cls_L01"/>
            <p:cNvSpPr txBox="1"/>
            <p:nvPr/>
          </p:nvSpPr>
          <p:spPr>
            <a:xfrm>
              <a:off x="771754" y="2399548"/>
              <a:ext cx="4820640"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sp>
          <p:nvSpPr>
            <p:cNvPr id="111" name="cls_L02"/>
            <p:cNvSpPr txBox="1"/>
            <p:nvPr/>
          </p:nvSpPr>
          <p:spPr>
            <a:xfrm>
              <a:off x="771754" y="2567548"/>
              <a:ext cx="4820640" cy="16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60A5FA"/>
                  </a:solidFill>
                  <a:latin typeface="Consolas"/>
                  <a:ea typeface="Consolas"/>
                  <a:cs typeface="Consolas"/>
                </a:rPr>
                <a:t>public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static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bool</a:t>
              </a:r>
              <a:r>
                <a:rPr lang="en-US" sz="830" b="0" dirty="0">
                  <a:solidFill>
                    <a:srgbClr val="E2E8F0"/>
                  </a:solidFill>
                  <a:latin typeface="Consolas"/>
                  <a:ea typeface="Consolas"/>
                  <a:cs typeface="Consolas"/>
                </a:rPr>
                <a:t> IsValid(</a:t>
              </a:r>
              <a:r>
                <a:rPr lang="en-US" sz="830" b="0" dirty="0">
                  <a:solidFill>
                    <a:srgbClr val="60A5FA"/>
                  </a:solidFill>
                  <a:latin typeface="Consolas"/>
                  <a:ea typeface="Consolas"/>
                  <a:cs typeface="Consolas"/>
                </a:rPr>
                <a:t>string</a:t>
              </a:r>
              <a:r>
                <a:rPr lang="en-US" sz="830" b="0" dirty="0">
                  <a:solidFill>
                    <a:srgbClr val="E2E8F0"/>
                  </a:solidFill>
                  <a:latin typeface="Consolas"/>
                  <a:ea typeface="Consolas"/>
                  <a:cs typeface="Consolas"/>
                </a:rPr>
                <a:t>? email)</a:t>
              </a:r>
              <a:endParaRPr lang="en-US" sz="830" dirty="0"/>
            </a:p>
          </p:txBody>
        </p:sp>
        <p:sp>
          <p:nvSpPr>
            <p:cNvPr id="112" name="cls_L03"/>
            <p:cNvSpPr txBox="1"/>
            <p:nvPr/>
          </p:nvSpPr>
          <p:spPr>
            <a:xfrm>
              <a:off x="771754" y="2735548"/>
              <a:ext cx="4820640" cy="16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sp>
          <p:nvSpPr>
            <p:cNvPr id="113" name="cls_L04"/>
            <p:cNvSpPr txBox="1"/>
            <p:nvPr/>
          </p:nvSpPr>
          <p:spPr>
            <a:xfrm>
              <a:off x="771754" y="2903548"/>
              <a:ext cx="4820640" cy="16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30" b="0" dirty="0">
                  <a:solidFill>
                    <a:srgbClr val="60A5FA"/>
                  </a:solidFill>
                  <a:latin typeface="Consolas"/>
                  <a:ea typeface="Consolas"/>
                  <a:cs typeface="Consolas"/>
                </a:rPr>
                <a:t>if</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string</a:t>
              </a:r>
              <a:r>
                <a:rPr lang="en-US" sz="830" b="0" dirty="0">
                  <a:solidFill>
                    <a:srgbClr val="E2E8F0"/>
                  </a:solidFill>
                  <a:latin typeface="Consolas"/>
                  <a:ea typeface="Consolas"/>
                  <a:cs typeface="Consolas"/>
                </a:rPr>
                <a:t>.IsNullOrWhiteSpace(email)) </a:t>
              </a:r>
              <a:r>
                <a:rPr lang="en-US" sz="830" b="0" dirty="0">
                  <a:solidFill>
                    <a:srgbClr val="60A5FA"/>
                  </a:solidFill>
                  <a:latin typeface="Consolas"/>
                  <a:ea typeface="Consolas"/>
                  <a:cs typeface="Consolas"/>
                </a:rPr>
                <a:t>return</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false</a:t>
              </a:r>
              <a:r>
                <a:rPr lang="en-US" sz="830" b="0" dirty="0">
                  <a:solidFill>
                    <a:srgbClr val="E2E8F0"/>
                  </a:solidFill>
                  <a:latin typeface="Consolas"/>
                  <a:ea typeface="Consolas"/>
                  <a:cs typeface="Consolas"/>
                </a:rPr>
                <a:t>;</a:t>
              </a:r>
              <a:endParaRPr lang="en-US" sz="830" dirty="0"/>
            </a:p>
          </p:txBody>
        </p:sp>
        <p:sp>
          <p:nvSpPr>
            <p:cNvPr id="114" name="cls_L05"/>
            <p:cNvSpPr txBox="1"/>
            <p:nvPr/>
          </p:nvSpPr>
          <p:spPr>
            <a:xfrm>
              <a:off x="771754" y="3071548"/>
              <a:ext cx="4820640" cy="16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30" b="0" dirty="0">
                  <a:solidFill>
                    <a:srgbClr val="60A5FA"/>
                  </a:solidFill>
                  <a:latin typeface="Consolas"/>
                  <a:ea typeface="Consolas"/>
                  <a:cs typeface="Consolas"/>
                </a:rPr>
                <a:t>int</a:t>
              </a:r>
              <a:r>
                <a:rPr lang="en-US" sz="830" b="0" dirty="0">
                  <a:solidFill>
                    <a:srgbClr val="E2E8F0"/>
                  </a:solidFill>
                  <a:latin typeface="Consolas"/>
                  <a:ea typeface="Consolas"/>
                  <a:cs typeface="Consolas"/>
                </a:rPr>
                <a:t> at = email.IndexOf('@');</a:t>
              </a:r>
              <a:endParaRPr lang="en-US" sz="830" dirty="0"/>
            </a:p>
          </p:txBody>
        </p:sp>
        <p:sp>
          <p:nvSpPr>
            <p:cNvPr id="115" name="cls_L06"/>
            <p:cNvSpPr txBox="1"/>
            <p:nvPr/>
          </p:nvSpPr>
          <p:spPr>
            <a:xfrm>
              <a:off x="771754" y="3239548"/>
              <a:ext cx="4820640" cy="16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30" b="0" dirty="0">
                  <a:solidFill>
                    <a:srgbClr val="60A5FA"/>
                  </a:solidFill>
                  <a:latin typeface="Consolas"/>
                  <a:ea typeface="Consolas"/>
                  <a:cs typeface="Consolas"/>
                </a:rPr>
                <a:t>return</a:t>
              </a:r>
              <a:r>
                <a:rPr lang="en-US" sz="830" b="0" dirty="0">
                  <a:solidFill>
                    <a:srgbClr val="E2E8F0"/>
                  </a:solidFill>
                  <a:latin typeface="Consolas"/>
                  <a:ea typeface="Consolas"/>
                  <a:cs typeface="Consolas"/>
                </a:rPr>
                <a:t> at &gt; 0                            </a:t>
              </a:r>
              <a:r>
                <a:rPr lang="en-US" sz="830" b="0" dirty="0">
                  <a:solidFill>
                    <a:srgbClr val="6FAE7A"/>
                  </a:solidFill>
                  <a:latin typeface="Consolas"/>
                  <a:ea typeface="Consolas"/>
                  <a:cs typeface="Consolas"/>
                </a:rPr>
                <a:t>// text before @</a:t>
              </a:r>
              <a:endParaRPr lang="en-US" sz="830" dirty="0"/>
            </a:p>
          </p:txBody>
        </p:sp>
        <p:sp>
          <p:nvSpPr>
            <p:cNvPr id="116" name="cls_L07"/>
            <p:cNvSpPr txBox="1"/>
            <p:nvPr/>
          </p:nvSpPr>
          <p:spPr>
            <a:xfrm>
              <a:off x="771754" y="3407548"/>
              <a:ext cx="4820640" cy="168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30" b="0" dirty="0">
                  <a:solidFill>
                    <a:srgbClr val="E2E8F0"/>
                  </a:solidFill>
                  <a:latin typeface="Consolas"/>
                  <a:ea typeface="Consolas"/>
                  <a:cs typeface="Consolas"/>
                </a:rPr>
                <a:t>&amp;&amp; at == email.LastIndexOf('@')      </a:t>
              </a:r>
              <a:r>
                <a:rPr lang="en-US" sz="830" b="0" dirty="0">
                  <a:solidFill>
                    <a:srgbClr val="6FAE7A"/>
                  </a:solidFill>
                  <a:latin typeface="Consolas"/>
                  <a:ea typeface="Consolas"/>
                  <a:cs typeface="Consolas"/>
                </a:rPr>
                <a:t>// only one @</a:t>
              </a:r>
              <a:endParaRPr lang="en-US" sz="830" dirty="0"/>
            </a:p>
          </p:txBody>
        </p:sp>
        <p:sp>
          <p:nvSpPr>
            <p:cNvPr id="117" name="cls_L08"/>
            <p:cNvSpPr txBox="1"/>
            <p:nvPr/>
          </p:nvSpPr>
          <p:spPr>
            <a:xfrm>
              <a:off x="771754" y="3575548"/>
              <a:ext cx="4820640" cy="168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30" b="0" dirty="0">
                  <a:solidFill>
                    <a:srgbClr val="E2E8F0"/>
                  </a:solidFill>
                  <a:latin typeface="Consolas"/>
                  <a:ea typeface="Consolas"/>
                  <a:cs typeface="Consolas"/>
                </a:rPr>
                <a:t>&amp;&amp; email.IndexOf('.', at) &gt; at + 1   </a:t>
              </a:r>
              <a:r>
                <a:rPr lang="en-US" sz="830" b="0" dirty="0">
                  <a:solidFill>
                    <a:srgbClr val="6FAE7A"/>
                  </a:solidFill>
                  <a:latin typeface="Consolas"/>
                  <a:ea typeface="Consolas"/>
                  <a:cs typeface="Consolas"/>
                </a:rPr>
                <a:t>// a dot after it</a:t>
              </a:r>
              <a:endParaRPr lang="en-US" sz="830" dirty="0"/>
            </a:p>
          </p:txBody>
        </p:sp>
        <p:sp>
          <p:nvSpPr>
            <p:cNvPr id="118" name="cls_L09"/>
            <p:cNvSpPr txBox="1"/>
            <p:nvPr/>
          </p:nvSpPr>
          <p:spPr>
            <a:xfrm>
              <a:off x="771754" y="3743548"/>
              <a:ext cx="4820640" cy="168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30" b="0" dirty="0">
                  <a:solidFill>
                    <a:srgbClr val="E2E8F0"/>
                  </a:solidFill>
                  <a:latin typeface="Consolas"/>
                  <a:ea typeface="Consolas"/>
                  <a:cs typeface="Consolas"/>
                </a:rPr>
                <a:t>&amp;&amp; !email.EndsWith('.');</a:t>
              </a:r>
              <a:endParaRPr lang="en-US" sz="830" dirty="0"/>
            </a:p>
          </p:txBody>
        </p:sp>
        <p:sp>
          <p:nvSpPr>
            <p:cNvPr id="119" name="cls_L10"/>
            <p:cNvSpPr txBox="1"/>
            <p:nvPr/>
          </p:nvSpPr>
          <p:spPr>
            <a:xfrm>
              <a:off x="771754" y="3911548"/>
              <a:ext cx="4820640" cy="16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sp>
          <p:nvSpPr>
            <p:cNvPr id="120" name="cls_L11"/>
            <p:cNvSpPr txBox="1"/>
            <p:nvPr/>
          </p:nvSpPr>
          <p:spPr>
            <a:xfrm>
              <a:off x="771754" y="4079548"/>
              <a:ext cx="4820640"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grpSp>
      <p:sp>
        <p:nvSpPr>
          <p:cNvPr id="122" name="fl"/>
          <p:cNvSpPr txBox="1"/>
          <p:nvPr/>
        </p:nvSpPr>
        <p:spPr>
          <a:xfrm>
            <a:off x="5897880" y="1463040"/>
            <a:ext cx="5732374"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13D0F7"/>
                </a:solidFill>
                <a:latin typeface="Segoe UI"/>
                <a:ea typeface="Segoe UI"/>
                <a:cs typeface="Segoe UI"/>
              </a:rPr>
              <a:t>[Fact]  ·  ONE EXAMPLE</a:t>
            </a:r>
            <a:endParaRPr lang="en-US" sz="1100" dirty="0"/>
          </a:p>
        </p:txBody>
      </p:sp>
      <p:grpSp>
        <p:nvGrpSpPr>
          <p:cNvPr id="135" name="fact"/>
          <p:cNvGrpSpPr/>
          <p:nvPr/>
        </p:nvGrpSpPr>
        <p:grpSpPr>
          <a:xfrm>
            <a:off x="5897880" y="1755648"/>
            <a:ext cx="5732374" cy="1435900"/>
            <a:chOff x="5897880" y="1755648"/>
            <a:chExt cx="5732374" cy="1435900"/>
          </a:xfrm>
        </p:grpSpPr>
        <p:sp>
          <p:nvSpPr>
            <p:cNvPr id="123" name="fact_win"/>
            <p:cNvSpPr/>
            <p:nvPr/>
          </p:nvSpPr>
          <p:spPr>
            <a:xfrm>
              <a:off x="5897880" y="1755648"/>
              <a:ext cx="5732374" cy="1435900"/>
            </a:xfrm>
            <a:prstGeom prst="roundRect">
              <a:avLst>
                <a:gd name="adj" fmla="val 4774"/>
              </a:avLst>
            </a:prstGeom>
            <a:solidFill>
              <a:srgbClr val="060D18"/>
            </a:solidFill>
            <a:ln w="12700">
              <a:solidFill>
                <a:srgbClr val="1E3A5F"/>
              </a:solidFill>
              <a:prstDash val="solid"/>
            </a:ln>
          </p:spPr>
          <p:txBody>
            <a:bodyPr/>
            <a:lstStyle/>
            <a:p>
              <a:endParaRPr lang="en-US"/>
            </a:p>
          </p:txBody>
        </p:sp>
        <p:sp>
          <p:nvSpPr>
            <p:cNvPr id="124" name="fact_bar"/>
            <p:cNvSpPr/>
            <p:nvPr/>
          </p:nvSpPr>
          <p:spPr>
            <a:xfrm>
              <a:off x="5897880" y="1755648"/>
              <a:ext cx="57323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fact_barfill"/>
            <p:cNvSpPr/>
            <p:nvPr/>
          </p:nvSpPr>
          <p:spPr>
            <a:xfrm>
              <a:off x="5897880" y="1927098"/>
              <a:ext cx="5732374" cy="171450"/>
            </a:xfrm>
            <a:prstGeom prst="rect">
              <a:avLst/>
            </a:prstGeom>
            <a:solidFill>
              <a:srgbClr val="0A1220"/>
            </a:solidFill>
            <a:ln w="12700">
              <a:solidFill>
                <a:srgbClr val="0A1220"/>
              </a:solidFill>
              <a:prstDash val="solid"/>
            </a:ln>
          </p:spPr>
          <p:txBody>
            <a:bodyPr/>
            <a:lstStyle/>
            <a:p>
              <a:endParaRPr lang="en-US"/>
            </a:p>
          </p:txBody>
        </p:sp>
        <p:sp>
          <p:nvSpPr>
            <p:cNvPr id="126" name="fact_dot0"/>
            <p:cNvSpPr/>
            <p:nvPr/>
          </p:nvSpPr>
          <p:spPr>
            <a:xfrm>
              <a:off x="6059728"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fact_dot1"/>
            <p:cNvSpPr/>
            <p:nvPr/>
          </p:nvSpPr>
          <p:spPr>
            <a:xfrm>
              <a:off x="6245352"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fact_dot2"/>
            <p:cNvSpPr/>
            <p:nvPr/>
          </p:nvSpPr>
          <p:spPr>
            <a:xfrm>
              <a:off x="6430976"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fact_tab"/>
            <p:cNvSpPr/>
            <p:nvPr/>
          </p:nvSpPr>
          <p:spPr>
            <a:xfrm>
              <a:off x="6678777" y="1803197"/>
              <a:ext cx="1828701"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EmailValidatorTests.cs</a:t>
              </a:r>
              <a:endParaRPr lang="en-US" sz="950" dirty="0"/>
            </a:p>
          </p:txBody>
        </p:sp>
        <p:sp>
          <p:nvSpPr>
            <p:cNvPr id="130" name="fact_L00"/>
            <p:cNvSpPr txBox="1"/>
            <p:nvPr/>
          </p:nvSpPr>
          <p:spPr>
            <a:xfrm>
              <a:off x="6126480" y="223154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[Fact]                              </a:t>
              </a:r>
              <a:r>
                <a:rPr lang="en-US" sz="830" b="0" dirty="0">
                  <a:solidFill>
                    <a:srgbClr val="6FAE7A"/>
                  </a:solidFill>
                  <a:latin typeface="Consolas"/>
                  <a:ea typeface="Consolas"/>
                  <a:cs typeface="Consolas"/>
                </a:rPr>
                <a:t>// one example</a:t>
              </a:r>
              <a:endParaRPr lang="en-US" sz="830" dirty="0"/>
            </a:p>
          </p:txBody>
        </p:sp>
        <p:sp>
          <p:nvSpPr>
            <p:cNvPr id="131" name="fact_L01"/>
            <p:cNvSpPr txBox="1"/>
            <p:nvPr/>
          </p:nvSpPr>
          <p:spPr>
            <a:xfrm>
              <a:off x="6126480" y="239954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60A5FA"/>
                  </a:solidFill>
                  <a:latin typeface="Consolas"/>
                  <a:ea typeface="Consolas"/>
                  <a:cs typeface="Consolas"/>
                </a:rPr>
                <a:t>public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void</a:t>
              </a:r>
              <a:r>
                <a:rPr lang="en-US" sz="830" b="0" dirty="0">
                  <a:solidFill>
                    <a:srgbClr val="E2E8F0"/>
                  </a:solidFill>
                  <a:latin typeface="Consolas"/>
                  <a:ea typeface="Consolas"/>
                  <a:cs typeface="Consolas"/>
                </a:rPr>
                <a:t> IsValid_SimpleEmail_ReturnsTrue()</a:t>
              </a:r>
              <a:endParaRPr lang="en-US" sz="830" dirty="0"/>
            </a:p>
          </p:txBody>
        </p:sp>
        <p:sp>
          <p:nvSpPr>
            <p:cNvPr id="132" name="fact_L02"/>
            <p:cNvSpPr txBox="1"/>
            <p:nvPr/>
          </p:nvSpPr>
          <p:spPr>
            <a:xfrm>
              <a:off x="6126480" y="256754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sp>
          <p:nvSpPr>
            <p:cNvPr id="133" name="fact_L03"/>
            <p:cNvSpPr txBox="1"/>
            <p:nvPr/>
          </p:nvSpPr>
          <p:spPr>
            <a:xfrm>
              <a:off x="6126480" y="2735548"/>
              <a:ext cx="5432374" cy="16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Assert.True(EmailValidator.IsValid(</a:t>
              </a:r>
              <a:r>
                <a:rPr lang="en-US" sz="830" b="0" dirty="0">
                  <a:solidFill>
                    <a:srgbClr val="F0A98B"/>
                  </a:solidFill>
                  <a:latin typeface="Consolas"/>
                  <a:ea typeface="Consolas"/>
                  <a:cs typeface="Consolas"/>
                </a:rPr>
                <a:t>"mona@gmail.com"</a:t>
              </a:r>
              <a:r>
                <a:rPr lang="en-US" sz="830" b="0" dirty="0">
                  <a:solidFill>
                    <a:srgbClr val="E2E8F0"/>
                  </a:solidFill>
                  <a:latin typeface="Consolas"/>
                  <a:ea typeface="Consolas"/>
                  <a:cs typeface="Consolas"/>
                </a:rPr>
                <a:t>));</a:t>
              </a:r>
              <a:endParaRPr lang="en-US" sz="830" dirty="0"/>
            </a:p>
          </p:txBody>
        </p:sp>
        <p:sp>
          <p:nvSpPr>
            <p:cNvPr id="134" name="fact_L04"/>
            <p:cNvSpPr txBox="1"/>
            <p:nvPr/>
          </p:nvSpPr>
          <p:spPr>
            <a:xfrm>
              <a:off x="6126480" y="290354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grpSp>
      <p:sp>
        <p:nvSpPr>
          <p:cNvPr id="136" name="tl"/>
          <p:cNvSpPr txBox="1"/>
          <p:nvPr/>
        </p:nvSpPr>
        <p:spPr>
          <a:xfrm>
            <a:off x="5897880" y="3127248"/>
            <a:ext cx="5732374"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[Theory]  ·  ONE TEST, MANY ROWS</a:t>
            </a:r>
            <a:endParaRPr lang="en-US" sz="1100" dirty="0"/>
          </a:p>
        </p:txBody>
      </p:sp>
      <p:grpSp>
        <p:nvGrpSpPr>
          <p:cNvPr id="152" name="theory"/>
          <p:cNvGrpSpPr/>
          <p:nvPr/>
        </p:nvGrpSpPr>
        <p:grpSpPr>
          <a:xfrm>
            <a:off x="5897880" y="3401568"/>
            <a:ext cx="5732374" cy="1939900"/>
            <a:chOff x="5897880" y="3401568"/>
            <a:chExt cx="5732374" cy="1939900"/>
          </a:xfrm>
        </p:grpSpPr>
        <p:sp>
          <p:nvSpPr>
            <p:cNvPr id="137" name="theory_win"/>
            <p:cNvSpPr/>
            <p:nvPr/>
          </p:nvSpPr>
          <p:spPr>
            <a:xfrm>
              <a:off x="5897880" y="3401568"/>
              <a:ext cx="5732374" cy="1939900"/>
            </a:xfrm>
            <a:prstGeom prst="roundRect">
              <a:avLst>
                <a:gd name="adj" fmla="val 3533"/>
              </a:avLst>
            </a:prstGeom>
            <a:solidFill>
              <a:srgbClr val="060D18"/>
            </a:solidFill>
            <a:ln w="12700">
              <a:solidFill>
                <a:srgbClr val="1E3A5F"/>
              </a:solidFill>
              <a:prstDash val="solid"/>
            </a:ln>
          </p:spPr>
          <p:txBody>
            <a:bodyPr/>
            <a:lstStyle/>
            <a:p>
              <a:endParaRPr lang="en-US"/>
            </a:p>
          </p:txBody>
        </p:sp>
        <p:sp>
          <p:nvSpPr>
            <p:cNvPr id="138" name="theory_bar"/>
            <p:cNvSpPr/>
            <p:nvPr/>
          </p:nvSpPr>
          <p:spPr>
            <a:xfrm>
              <a:off x="5897880" y="3401568"/>
              <a:ext cx="57323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9" name="theory_barfill"/>
            <p:cNvSpPr/>
            <p:nvPr/>
          </p:nvSpPr>
          <p:spPr>
            <a:xfrm>
              <a:off x="5897880" y="3573018"/>
              <a:ext cx="5732374" cy="171450"/>
            </a:xfrm>
            <a:prstGeom prst="rect">
              <a:avLst/>
            </a:prstGeom>
            <a:solidFill>
              <a:srgbClr val="0A1220"/>
            </a:solidFill>
            <a:ln w="12700">
              <a:solidFill>
                <a:srgbClr val="0A1220"/>
              </a:solidFill>
              <a:prstDash val="solid"/>
            </a:ln>
          </p:spPr>
          <p:txBody>
            <a:bodyPr/>
            <a:lstStyle/>
            <a:p>
              <a:endParaRPr lang="en-US"/>
            </a:p>
          </p:txBody>
        </p:sp>
        <p:sp>
          <p:nvSpPr>
            <p:cNvPr id="140" name="theory_dot0"/>
            <p:cNvSpPr/>
            <p:nvPr/>
          </p:nvSpPr>
          <p:spPr>
            <a:xfrm>
              <a:off x="6059728" y="3525378"/>
              <a:ext cx="95098" cy="95098"/>
            </a:xfrm>
            <a:prstGeom prst="ellipse">
              <a:avLst/>
            </a:prstGeom>
            <a:solidFill>
              <a:srgbClr val="F87171"/>
            </a:solidFill>
            <a:ln w="12700">
              <a:solidFill>
                <a:srgbClr val="F87171"/>
              </a:solidFill>
              <a:prstDash val="solid"/>
            </a:ln>
          </p:spPr>
          <p:txBody>
            <a:bodyPr/>
            <a:lstStyle/>
            <a:p>
              <a:endParaRPr lang="en-US"/>
            </a:p>
          </p:txBody>
        </p:sp>
        <p:sp>
          <p:nvSpPr>
            <p:cNvPr id="141" name="theory_dot1"/>
            <p:cNvSpPr/>
            <p:nvPr/>
          </p:nvSpPr>
          <p:spPr>
            <a:xfrm>
              <a:off x="6245352" y="3525378"/>
              <a:ext cx="95098" cy="95098"/>
            </a:xfrm>
            <a:prstGeom prst="ellipse">
              <a:avLst/>
            </a:prstGeom>
            <a:solidFill>
              <a:srgbClr val="FBBF24"/>
            </a:solidFill>
            <a:ln w="12700">
              <a:solidFill>
                <a:srgbClr val="FBBF24"/>
              </a:solidFill>
              <a:prstDash val="solid"/>
            </a:ln>
          </p:spPr>
          <p:txBody>
            <a:bodyPr/>
            <a:lstStyle/>
            <a:p>
              <a:endParaRPr lang="en-US"/>
            </a:p>
          </p:txBody>
        </p:sp>
        <p:sp>
          <p:nvSpPr>
            <p:cNvPr id="142" name="theory_dot2"/>
            <p:cNvSpPr/>
            <p:nvPr/>
          </p:nvSpPr>
          <p:spPr>
            <a:xfrm>
              <a:off x="6430976" y="3525378"/>
              <a:ext cx="95098" cy="95098"/>
            </a:xfrm>
            <a:prstGeom prst="ellipse">
              <a:avLst/>
            </a:prstGeom>
            <a:solidFill>
              <a:srgbClr val="34D399"/>
            </a:solidFill>
            <a:ln w="12700">
              <a:solidFill>
                <a:srgbClr val="34D399"/>
              </a:solidFill>
              <a:prstDash val="solid"/>
            </a:ln>
          </p:spPr>
          <p:txBody>
            <a:bodyPr/>
            <a:lstStyle/>
            <a:p>
              <a:endParaRPr lang="en-US"/>
            </a:p>
          </p:txBody>
        </p:sp>
        <p:sp>
          <p:nvSpPr>
            <p:cNvPr id="143" name="theory_tab"/>
            <p:cNvSpPr/>
            <p:nvPr/>
          </p:nvSpPr>
          <p:spPr>
            <a:xfrm>
              <a:off x="6678777" y="3449117"/>
              <a:ext cx="1828701"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EmailValidatorTests.cs</a:t>
              </a:r>
              <a:endParaRPr lang="en-US" sz="950" dirty="0"/>
            </a:p>
          </p:txBody>
        </p:sp>
        <p:sp>
          <p:nvSpPr>
            <p:cNvPr id="144" name="theory_L00"/>
            <p:cNvSpPr txBox="1"/>
            <p:nvPr/>
          </p:nvSpPr>
          <p:spPr>
            <a:xfrm>
              <a:off x="6126480" y="387746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[Theory]                            </a:t>
              </a:r>
              <a:r>
                <a:rPr lang="en-US" sz="830" b="0" dirty="0">
                  <a:solidFill>
                    <a:srgbClr val="6FAE7A"/>
                  </a:solidFill>
                  <a:latin typeface="Consolas"/>
                  <a:ea typeface="Consolas"/>
                  <a:cs typeface="Consolas"/>
                </a:rPr>
                <a:t>// many inputs</a:t>
              </a:r>
              <a:endParaRPr lang="en-US" sz="830" dirty="0"/>
            </a:p>
          </p:txBody>
        </p:sp>
        <p:sp>
          <p:nvSpPr>
            <p:cNvPr id="145" name="theory_L01"/>
            <p:cNvSpPr txBox="1"/>
            <p:nvPr/>
          </p:nvSpPr>
          <p:spPr>
            <a:xfrm>
              <a:off x="6126480" y="404546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[InlineData(</a:t>
              </a:r>
              <a:r>
                <a:rPr lang="en-US" sz="830" b="0" dirty="0">
                  <a:solidFill>
                    <a:srgbClr val="F0A98B"/>
                  </a:solidFill>
                  <a:latin typeface="Consolas"/>
                  <a:ea typeface="Consolas"/>
                  <a:cs typeface="Consolas"/>
                </a:rPr>
                <a:t>"mona@gmail.com"</a:t>
              </a:r>
              <a:r>
                <a:rPr lang="en-US" sz="830" b="0" dirty="0">
                  <a:solidFill>
                    <a:srgbClr val="E2E8F0"/>
                  </a:solidFill>
                  <a:latin typeface="Consolas"/>
                  <a:ea typeface="Consolas"/>
                  <a:cs typeface="Consolas"/>
                </a:rPr>
                <a:t>)]</a:t>
              </a:r>
              <a:endParaRPr lang="en-US" sz="830" dirty="0"/>
            </a:p>
          </p:txBody>
        </p:sp>
        <p:sp>
          <p:nvSpPr>
            <p:cNvPr id="146" name="theory_L02"/>
            <p:cNvSpPr txBox="1"/>
            <p:nvPr/>
          </p:nvSpPr>
          <p:spPr>
            <a:xfrm>
              <a:off x="6126480" y="421346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[InlineData(</a:t>
              </a:r>
              <a:r>
                <a:rPr lang="en-US" sz="830" b="0" dirty="0">
                  <a:solidFill>
                    <a:srgbClr val="F0A98B"/>
                  </a:solidFill>
                  <a:latin typeface="Consolas"/>
                  <a:ea typeface="Consolas"/>
                  <a:cs typeface="Consolas"/>
                </a:rPr>
                <a:t>"ali.hassan@company.eg"</a:t>
              </a:r>
              <a:r>
                <a:rPr lang="en-US" sz="830" b="0" dirty="0">
                  <a:solidFill>
                    <a:srgbClr val="E2E8F0"/>
                  </a:solidFill>
                  <a:latin typeface="Consolas"/>
                  <a:ea typeface="Consolas"/>
                  <a:cs typeface="Consolas"/>
                </a:rPr>
                <a:t>)]</a:t>
              </a:r>
              <a:endParaRPr lang="en-US" sz="830" dirty="0"/>
            </a:p>
          </p:txBody>
        </p:sp>
        <p:sp>
          <p:nvSpPr>
            <p:cNvPr id="147" name="theory_L03"/>
            <p:cNvSpPr txBox="1"/>
            <p:nvPr/>
          </p:nvSpPr>
          <p:spPr>
            <a:xfrm>
              <a:off x="6126480" y="438146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[InlineData(</a:t>
              </a:r>
              <a:r>
                <a:rPr lang="en-US" sz="830" b="0" dirty="0">
                  <a:solidFill>
                    <a:srgbClr val="F0A98B"/>
                  </a:solidFill>
                  <a:latin typeface="Consolas"/>
                  <a:ea typeface="Consolas"/>
                  <a:cs typeface="Consolas"/>
                </a:rPr>
                <a:t>"a@b.co"</a:t>
              </a:r>
              <a:r>
                <a:rPr lang="en-US" sz="830" b="0" dirty="0">
                  <a:solidFill>
                    <a:srgbClr val="E2E8F0"/>
                  </a:solidFill>
                  <a:latin typeface="Consolas"/>
                  <a:ea typeface="Consolas"/>
                  <a:cs typeface="Consolas"/>
                </a:rPr>
                <a:t>)]</a:t>
              </a:r>
              <a:endParaRPr lang="en-US" sz="830" dirty="0"/>
            </a:p>
          </p:txBody>
        </p:sp>
        <p:sp>
          <p:nvSpPr>
            <p:cNvPr id="148" name="theory_L04"/>
            <p:cNvSpPr txBox="1"/>
            <p:nvPr/>
          </p:nvSpPr>
          <p:spPr>
            <a:xfrm>
              <a:off x="6126480" y="454946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60A5FA"/>
                  </a:solidFill>
                  <a:latin typeface="Consolas"/>
                  <a:ea typeface="Consolas"/>
                  <a:cs typeface="Consolas"/>
                </a:rPr>
                <a:t>public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void</a:t>
              </a:r>
              <a:r>
                <a:rPr lang="en-US" sz="830" b="0" dirty="0">
                  <a:solidFill>
                    <a:srgbClr val="E2E8F0"/>
                  </a:solidFill>
                  <a:latin typeface="Consolas"/>
                  <a:ea typeface="Consolas"/>
                  <a:cs typeface="Consolas"/>
                </a:rPr>
                <a:t> IsValid_GoodEmails_ReturnsTrue(</a:t>
              </a:r>
              <a:r>
                <a:rPr lang="en-US" sz="830" b="0" dirty="0">
                  <a:solidFill>
                    <a:srgbClr val="60A5FA"/>
                  </a:solidFill>
                  <a:latin typeface="Consolas"/>
                  <a:ea typeface="Consolas"/>
                  <a:cs typeface="Consolas"/>
                </a:rPr>
                <a:t>string</a:t>
              </a:r>
              <a:r>
                <a:rPr lang="en-US" sz="830" b="0" dirty="0">
                  <a:solidFill>
                    <a:srgbClr val="E2E8F0"/>
                  </a:solidFill>
                  <a:latin typeface="Consolas"/>
                  <a:ea typeface="Consolas"/>
                  <a:cs typeface="Consolas"/>
                </a:rPr>
                <a:t> email)</a:t>
              </a:r>
              <a:endParaRPr lang="en-US" sz="830" dirty="0"/>
            </a:p>
          </p:txBody>
        </p:sp>
        <p:sp>
          <p:nvSpPr>
            <p:cNvPr id="149" name="theory_L05"/>
            <p:cNvSpPr txBox="1"/>
            <p:nvPr/>
          </p:nvSpPr>
          <p:spPr>
            <a:xfrm>
              <a:off x="6126480" y="471746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sp>
          <p:nvSpPr>
            <p:cNvPr id="150" name="theory_L06"/>
            <p:cNvSpPr txBox="1"/>
            <p:nvPr/>
          </p:nvSpPr>
          <p:spPr>
            <a:xfrm>
              <a:off x="6126480" y="4885468"/>
              <a:ext cx="5432374" cy="16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Assert.True(EmailValidator.IsValid(email));</a:t>
              </a:r>
              <a:endParaRPr lang="en-US" sz="830" dirty="0"/>
            </a:p>
          </p:txBody>
        </p:sp>
        <p:sp>
          <p:nvSpPr>
            <p:cNvPr id="151" name="theory_L07"/>
            <p:cNvSpPr txBox="1"/>
            <p:nvPr/>
          </p:nvSpPr>
          <p:spPr>
            <a:xfrm>
              <a:off x="6126480" y="5053468"/>
              <a:ext cx="5432374" cy="16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grpSp>
      <p:sp>
        <p:nvSpPr>
          <p:cNvPr id="153" name="theory_hl1"/>
          <p:cNvSpPr/>
          <p:nvPr/>
        </p:nvSpPr>
        <p:spPr>
          <a:xfrm>
            <a:off x="6031382" y="4027180"/>
            <a:ext cx="5465374" cy="20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4" name="theory_hl2"/>
          <p:cNvSpPr/>
          <p:nvPr/>
        </p:nvSpPr>
        <p:spPr>
          <a:xfrm>
            <a:off x="6031382" y="4195180"/>
            <a:ext cx="5465374" cy="20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5" name="theory_hl3"/>
          <p:cNvSpPr/>
          <p:nvPr/>
        </p:nvSpPr>
        <p:spPr>
          <a:xfrm>
            <a:off x="6031382" y="4363180"/>
            <a:ext cx="5465374" cy="204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63" name="te"/>
          <p:cNvGrpSpPr/>
          <p:nvPr/>
        </p:nvGrpSpPr>
        <p:grpSpPr>
          <a:xfrm>
            <a:off x="543154" y="4370832"/>
            <a:ext cx="5120640" cy="1267900"/>
            <a:chOff x="543154" y="4370832"/>
            <a:chExt cx="5120640" cy="1267900"/>
          </a:xfrm>
        </p:grpSpPr>
        <p:sp>
          <p:nvSpPr>
            <p:cNvPr id="156" name="te_win"/>
            <p:cNvSpPr/>
            <p:nvPr/>
          </p:nvSpPr>
          <p:spPr>
            <a:xfrm>
              <a:off x="543154" y="4370832"/>
              <a:ext cx="5120640" cy="1267900"/>
            </a:xfrm>
            <a:prstGeom prst="roundRect">
              <a:avLst>
                <a:gd name="adj" fmla="val 5406"/>
              </a:avLst>
            </a:prstGeom>
            <a:solidFill>
              <a:srgbClr val="060D18"/>
            </a:solidFill>
            <a:ln w="12700">
              <a:solidFill>
                <a:srgbClr val="1E3A5F"/>
              </a:solidFill>
              <a:prstDash val="solid"/>
            </a:ln>
          </p:spPr>
          <p:txBody>
            <a:bodyPr/>
            <a:lstStyle/>
            <a:p>
              <a:endParaRPr lang="en-US"/>
            </a:p>
          </p:txBody>
        </p:sp>
        <p:sp>
          <p:nvSpPr>
            <p:cNvPr id="157" name="te_bar"/>
            <p:cNvSpPr/>
            <p:nvPr/>
          </p:nvSpPr>
          <p:spPr>
            <a:xfrm>
              <a:off x="543154" y="4370832"/>
              <a:ext cx="51206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58" name="te_barfill"/>
            <p:cNvSpPr/>
            <p:nvPr/>
          </p:nvSpPr>
          <p:spPr>
            <a:xfrm>
              <a:off x="543154" y="4542282"/>
              <a:ext cx="5120640" cy="171450"/>
            </a:xfrm>
            <a:prstGeom prst="rect">
              <a:avLst/>
            </a:prstGeom>
            <a:solidFill>
              <a:srgbClr val="0A1220"/>
            </a:solidFill>
            <a:ln w="12700">
              <a:solidFill>
                <a:srgbClr val="0A1220"/>
              </a:solidFill>
              <a:prstDash val="solid"/>
            </a:ln>
          </p:spPr>
          <p:txBody>
            <a:bodyPr/>
            <a:lstStyle/>
            <a:p>
              <a:endParaRPr lang="en-US"/>
            </a:p>
          </p:txBody>
        </p:sp>
        <p:sp>
          <p:nvSpPr>
            <p:cNvPr id="159" name="te_dot0"/>
            <p:cNvSpPr/>
            <p:nvPr/>
          </p:nvSpPr>
          <p:spPr>
            <a:xfrm>
              <a:off x="705002" y="4494642"/>
              <a:ext cx="95098" cy="95098"/>
            </a:xfrm>
            <a:prstGeom prst="ellipse">
              <a:avLst/>
            </a:prstGeom>
            <a:solidFill>
              <a:srgbClr val="F87171"/>
            </a:solidFill>
            <a:ln w="12700">
              <a:solidFill>
                <a:srgbClr val="F87171"/>
              </a:solidFill>
              <a:prstDash val="solid"/>
            </a:ln>
          </p:spPr>
          <p:txBody>
            <a:bodyPr/>
            <a:lstStyle/>
            <a:p>
              <a:endParaRPr lang="en-US"/>
            </a:p>
          </p:txBody>
        </p:sp>
        <p:sp>
          <p:nvSpPr>
            <p:cNvPr id="160" name="te_dot1"/>
            <p:cNvSpPr/>
            <p:nvPr/>
          </p:nvSpPr>
          <p:spPr>
            <a:xfrm>
              <a:off x="890626" y="4494642"/>
              <a:ext cx="95098" cy="95098"/>
            </a:xfrm>
            <a:prstGeom prst="ellipse">
              <a:avLst/>
            </a:prstGeom>
            <a:solidFill>
              <a:srgbClr val="FBBF24"/>
            </a:solidFill>
            <a:ln w="12700">
              <a:solidFill>
                <a:srgbClr val="FBBF24"/>
              </a:solidFill>
              <a:prstDash val="solid"/>
            </a:ln>
          </p:spPr>
          <p:txBody>
            <a:bodyPr/>
            <a:lstStyle/>
            <a:p>
              <a:endParaRPr lang="en-US"/>
            </a:p>
          </p:txBody>
        </p:sp>
        <p:sp>
          <p:nvSpPr>
            <p:cNvPr id="161" name="te_dot2"/>
            <p:cNvSpPr/>
            <p:nvPr/>
          </p:nvSpPr>
          <p:spPr>
            <a:xfrm>
              <a:off x="1076250" y="4494642"/>
              <a:ext cx="95098" cy="95098"/>
            </a:xfrm>
            <a:prstGeom prst="ellipse">
              <a:avLst/>
            </a:prstGeom>
            <a:solidFill>
              <a:srgbClr val="34D399"/>
            </a:solidFill>
            <a:ln w="12700">
              <a:solidFill>
                <a:srgbClr val="34D399"/>
              </a:solidFill>
              <a:prstDash val="solid"/>
            </a:ln>
          </p:spPr>
          <p:txBody>
            <a:bodyPr/>
            <a:lstStyle/>
            <a:p>
              <a:endParaRPr lang="en-US"/>
            </a:p>
          </p:txBody>
        </p:sp>
        <p:sp>
          <p:nvSpPr>
            <p:cNvPr id="162" name="te_tab"/>
            <p:cNvSpPr/>
            <p:nvPr/>
          </p:nvSpPr>
          <p:spPr>
            <a:xfrm>
              <a:off x="1324051" y="4418381"/>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Test Explorer</a:t>
              </a:r>
              <a:endParaRPr lang="en-US" sz="950" dirty="0"/>
            </a:p>
          </p:txBody>
        </p:sp>
      </p:grpSp>
      <p:grpSp>
        <p:nvGrpSpPr>
          <p:cNvPr id="165" name="te0"/>
          <p:cNvGrpSpPr/>
          <p:nvPr/>
        </p:nvGrpSpPr>
        <p:grpSpPr>
          <a:xfrm>
            <a:off x="771754" y="4846732"/>
            <a:ext cx="4820640" cy="193040"/>
            <a:chOff x="771754" y="4846732"/>
            <a:chExt cx="4820640" cy="193040"/>
          </a:xfrm>
        </p:grpSpPr>
        <p:sp>
          <p:nvSpPr>
            <p:cNvPr id="164" name="te0_0"/>
            <p:cNvSpPr txBox="1"/>
            <p:nvPr/>
          </p:nvSpPr>
          <p:spPr>
            <a:xfrm>
              <a:off x="771754" y="4846732"/>
              <a:ext cx="48206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 IsValid_GoodEmails_ReturnsTrue  (3 tests)</a:t>
              </a:r>
              <a:endParaRPr lang="en-US" sz="950" dirty="0"/>
            </a:p>
          </p:txBody>
        </p:sp>
      </p:grpSp>
      <p:grpSp>
        <p:nvGrpSpPr>
          <p:cNvPr id="167" name="te1"/>
          <p:cNvGrpSpPr/>
          <p:nvPr/>
        </p:nvGrpSpPr>
        <p:grpSpPr>
          <a:xfrm>
            <a:off x="771754" y="5039772"/>
            <a:ext cx="4820640" cy="193040"/>
            <a:chOff x="771754" y="5039772"/>
            <a:chExt cx="4820640" cy="193040"/>
          </a:xfrm>
        </p:grpSpPr>
        <p:sp>
          <p:nvSpPr>
            <p:cNvPr id="166" name="te1_0"/>
            <p:cNvSpPr txBox="1"/>
            <p:nvPr/>
          </p:nvSpPr>
          <p:spPr>
            <a:xfrm>
              <a:off x="771754" y="5039772"/>
              <a:ext cx="48206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 (email: "mona@gmail.com")</a:t>
              </a:r>
              <a:endParaRPr lang="en-US" sz="950" dirty="0"/>
            </a:p>
          </p:txBody>
        </p:sp>
      </p:grpSp>
      <p:grpSp>
        <p:nvGrpSpPr>
          <p:cNvPr id="169" name="te2"/>
          <p:cNvGrpSpPr/>
          <p:nvPr/>
        </p:nvGrpSpPr>
        <p:grpSpPr>
          <a:xfrm>
            <a:off x="771754" y="5232812"/>
            <a:ext cx="4820640" cy="193040"/>
            <a:chOff x="771754" y="5232812"/>
            <a:chExt cx="4820640" cy="193040"/>
          </a:xfrm>
        </p:grpSpPr>
        <p:sp>
          <p:nvSpPr>
            <p:cNvPr id="168" name="te2_0"/>
            <p:cNvSpPr txBox="1"/>
            <p:nvPr/>
          </p:nvSpPr>
          <p:spPr>
            <a:xfrm>
              <a:off x="771754" y="5232812"/>
              <a:ext cx="48206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 (email: "ali.hassan@company.eg")</a:t>
              </a:r>
              <a:endParaRPr lang="en-US" sz="950" dirty="0"/>
            </a:p>
          </p:txBody>
        </p:sp>
      </p:grpSp>
      <p:grpSp>
        <p:nvGrpSpPr>
          <p:cNvPr id="171" name="te3"/>
          <p:cNvGrpSpPr/>
          <p:nvPr/>
        </p:nvGrpSpPr>
        <p:grpSpPr>
          <a:xfrm>
            <a:off x="771754" y="5425852"/>
            <a:ext cx="4820640" cy="193040"/>
            <a:chOff x="771754" y="5425852"/>
            <a:chExt cx="4820640" cy="193040"/>
          </a:xfrm>
        </p:grpSpPr>
        <p:sp>
          <p:nvSpPr>
            <p:cNvPr id="170" name="te3_0"/>
            <p:cNvSpPr txBox="1"/>
            <p:nvPr/>
          </p:nvSpPr>
          <p:spPr>
            <a:xfrm>
              <a:off x="771754" y="5425852"/>
              <a:ext cx="48206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 (email: "a@b.co")</a:t>
              </a:r>
              <a:endParaRPr lang="en-US" sz="950" dirty="0"/>
            </a:p>
          </p:txBody>
        </p:sp>
      </p:grpSp>
    </p:spTree>
    <p:extLst>
      <p:ext uri="{BB962C8B-B14F-4D97-AF65-F5344CB8AC3E}">
        <p14:creationId xmlns:p14="http://schemas.microsoft.com/office/powerpoint/2010/main" val="509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1"/>
                                        </p:tgtEl>
                                        <p:attrNameLst>
                                          <p:attrName>style.visibility</p:attrName>
                                        </p:attrNameLst>
                                      </p:cBhvr>
                                      <p:to>
                                        <p:strVal val="visible"/>
                                      </p:to>
                                    </p:set>
                                    <p:animEffect transition="in" filter="fade">
                                      <p:cBhvr>
                                        <p:cTn id="10" dur="400"/>
                                        <p:tgtEl>
                                          <p:spTgt spid="1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2"/>
                                        </p:tgtEl>
                                        <p:attrNameLst>
                                          <p:attrName>style.visibility</p:attrName>
                                        </p:attrNameLst>
                                      </p:cBhvr>
                                      <p:to>
                                        <p:strVal val="visible"/>
                                      </p:to>
                                    </p:set>
                                    <p:animEffect transition="in" filter="fade">
                                      <p:cBhvr>
                                        <p:cTn id="15" dur="400"/>
                                        <p:tgtEl>
                                          <p:spTgt spid="122"/>
                                        </p:tgtEl>
                                      </p:cBhvr>
                                    </p:animEffect>
                                  </p:childTnLst>
                                </p:cTn>
                              </p:par>
                              <p:par>
                                <p:cTn id="16" presetID="10" presetClass="entr" presetSubtype="0" fill="hold" nodeType="withEffect">
                                  <p:stCondLst>
                                    <p:cond delay="0"/>
                                  </p:stCondLst>
                                  <p:childTnLst>
                                    <p:set>
                                      <p:cBhvr>
                                        <p:cTn id="17" dur="1" fill="hold">
                                          <p:stCondLst>
                                            <p:cond delay="0"/>
                                          </p:stCondLst>
                                        </p:cTn>
                                        <p:tgtEl>
                                          <p:spTgt spid="135"/>
                                        </p:tgtEl>
                                        <p:attrNameLst>
                                          <p:attrName>style.visibility</p:attrName>
                                        </p:attrNameLst>
                                      </p:cBhvr>
                                      <p:to>
                                        <p:strVal val="visible"/>
                                      </p:to>
                                    </p:set>
                                    <p:animEffect transition="in" filter="fade">
                                      <p:cBhvr>
                                        <p:cTn id="18" dur="400"/>
                                        <p:tgtEl>
                                          <p:spTgt spid="13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fade">
                                      <p:cBhvr>
                                        <p:cTn id="23" dur="400"/>
                                        <p:tgtEl>
                                          <p:spTgt spid="136"/>
                                        </p:tgtEl>
                                      </p:cBhvr>
                                    </p:animEffect>
                                  </p:childTnLst>
                                </p:cTn>
                              </p:par>
                              <p:par>
                                <p:cTn id="24" presetID="10" presetClass="entr" presetSubtype="0" fill="hold" nodeType="withEffect">
                                  <p:stCondLst>
                                    <p:cond delay="0"/>
                                  </p:stCondLst>
                                  <p:childTnLst>
                                    <p:set>
                                      <p:cBhvr>
                                        <p:cTn id="25" dur="1" fill="hold">
                                          <p:stCondLst>
                                            <p:cond delay="0"/>
                                          </p:stCondLst>
                                        </p:cTn>
                                        <p:tgtEl>
                                          <p:spTgt spid="152"/>
                                        </p:tgtEl>
                                        <p:attrNameLst>
                                          <p:attrName>style.visibility</p:attrName>
                                        </p:attrNameLst>
                                      </p:cBhvr>
                                      <p:to>
                                        <p:strVal val="visible"/>
                                      </p:to>
                                    </p:set>
                                    <p:animEffect transition="in" filter="fade">
                                      <p:cBhvr>
                                        <p:cTn id="26" dur="400"/>
                                        <p:tgtEl>
                                          <p:spTgt spid="15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3"/>
                                        </p:tgtEl>
                                        <p:attrNameLst>
                                          <p:attrName>style.visibility</p:attrName>
                                        </p:attrNameLst>
                                      </p:cBhvr>
                                      <p:to>
                                        <p:strVal val="visible"/>
                                      </p:to>
                                    </p:set>
                                    <p:animEffect transition="in" filter="fade">
                                      <p:cBhvr>
                                        <p:cTn id="29" dur="400"/>
                                        <p:tgtEl>
                                          <p:spTgt spid="15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4"/>
                                        </p:tgtEl>
                                        <p:attrNameLst>
                                          <p:attrName>style.visibility</p:attrName>
                                        </p:attrNameLst>
                                      </p:cBhvr>
                                      <p:to>
                                        <p:strVal val="visible"/>
                                      </p:to>
                                    </p:set>
                                    <p:animEffect transition="in" filter="fade">
                                      <p:cBhvr>
                                        <p:cTn id="32" dur="400"/>
                                        <p:tgtEl>
                                          <p:spTgt spid="15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5"/>
                                        </p:tgtEl>
                                        <p:attrNameLst>
                                          <p:attrName>style.visibility</p:attrName>
                                        </p:attrNameLst>
                                      </p:cBhvr>
                                      <p:to>
                                        <p:strVal val="visible"/>
                                      </p:to>
                                    </p:set>
                                    <p:animEffect transition="in" filter="fade">
                                      <p:cBhvr>
                                        <p:cTn id="35" dur="400"/>
                                        <p:tgtEl>
                                          <p:spTgt spid="15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3"/>
                                        </p:tgtEl>
                                        <p:attrNameLst>
                                          <p:attrName>style.visibility</p:attrName>
                                        </p:attrNameLst>
                                      </p:cBhvr>
                                      <p:to>
                                        <p:strVal val="visible"/>
                                      </p:to>
                                    </p:set>
                                    <p:animEffect transition="in" filter="fade">
                                      <p:cBhvr>
                                        <p:cTn id="40" dur="400"/>
                                        <p:tgtEl>
                                          <p:spTgt spid="163"/>
                                        </p:tgtEl>
                                      </p:cBhvr>
                                    </p:animEffect>
                                  </p:childTnLst>
                                </p:cTn>
                              </p:par>
                            </p:childTnLst>
                          </p:cTn>
                        </p:par>
                        <p:par>
                          <p:cTn id="41" fill="hold">
                            <p:stCondLst>
                              <p:cond delay="400"/>
                            </p:stCondLst>
                            <p:childTnLst>
                              <p:par>
                                <p:cTn id="42" presetID="10" presetClass="entr" presetSubtype="0" fill="hold" nodeType="afterEffect">
                                  <p:stCondLst>
                                    <p:cond delay="0"/>
                                  </p:stCondLst>
                                  <p:childTnLst>
                                    <p:set>
                                      <p:cBhvr>
                                        <p:cTn id="43" dur="1" fill="hold">
                                          <p:stCondLst>
                                            <p:cond delay="0"/>
                                          </p:stCondLst>
                                        </p:cTn>
                                        <p:tgtEl>
                                          <p:spTgt spid="165"/>
                                        </p:tgtEl>
                                        <p:attrNameLst>
                                          <p:attrName>style.visibility</p:attrName>
                                        </p:attrNameLst>
                                      </p:cBhvr>
                                      <p:to>
                                        <p:strVal val="visible"/>
                                      </p:to>
                                    </p:set>
                                    <p:animEffect transition="in" filter="fade">
                                      <p:cBhvr>
                                        <p:cTn id="44" dur="400"/>
                                        <p:tgtEl>
                                          <p:spTgt spid="165"/>
                                        </p:tgtEl>
                                      </p:cBhvr>
                                    </p:animEffect>
                                  </p:childTnLst>
                                </p:cTn>
                              </p:par>
                            </p:childTnLst>
                          </p:cTn>
                        </p:par>
                        <p:par>
                          <p:cTn id="45" fill="hold">
                            <p:stCondLst>
                              <p:cond delay="800"/>
                            </p:stCondLst>
                            <p:childTnLst>
                              <p:par>
                                <p:cTn id="46" presetID="10" presetClass="entr" presetSubtype="0" fill="hold" nodeType="afterEffect">
                                  <p:stCondLst>
                                    <p:cond delay="0"/>
                                  </p:stCondLst>
                                  <p:childTnLst>
                                    <p:set>
                                      <p:cBhvr>
                                        <p:cTn id="47" dur="1" fill="hold">
                                          <p:stCondLst>
                                            <p:cond delay="0"/>
                                          </p:stCondLst>
                                        </p:cTn>
                                        <p:tgtEl>
                                          <p:spTgt spid="167"/>
                                        </p:tgtEl>
                                        <p:attrNameLst>
                                          <p:attrName>style.visibility</p:attrName>
                                        </p:attrNameLst>
                                      </p:cBhvr>
                                      <p:to>
                                        <p:strVal val="visible"/>
                                      </p:to>
                                    </p:set>
                                    <p:animEffect transition="in" filter="fade">
                                      <p:cBhvr>
                                        <p:cTn id="48" dur="250"/>
                                        <p:tgtEl>
                                          <p:spTgt spid="167"/>
                                        </p:tgtEl>
                                      </p:cBhvr>
                                    </p:animEffect>
                                  </p:childTnLst>
                                </p:cTn>
                              </p:par>
                            </p:childTnLst>
                          </p:cTn>
                        </p:par>
                        <p:par>
                          <p:cTn id="49" fill="hold">
                            <p:stCondLst>
                              <p:cond delay="1050"/>
                            </p:stCondLst>
                            <p:childTnLst>
                              <p:par>
                                <p:cTn id="50" presetID="10" presetClass="entr" presetSubtype="0" fill="hold" nodeType="afterEffect">
                                  <p:stCondLst>
                                    <p:cond delay="0"/>
                                  </p:stCondLst>
                                  <p:childTnLst>
                                    <p:set>
                                      <p:cBhvr>
                                        <p:cTn id="51" dur="1" fill="hold">
                                          <p:stCondLst>
                                            <p:cond delay="0"/>
                                          </p:stCondLst>
                                        </p:cTn>
                                        <p:tgtEl>
                                          <p:spTgt spid="169"/>
                                        </p:tgtEl>
                                        <p:attrNameLst>
                                          <p:attrName>style.visibility</p:attrName>
                                        </p:attrNameLst>
                                      </p:cBhvr>
                                      <p:to>
                                        <p:strVal val="visible"/>
                                      </p:to>
                                    </p:set>
                                    <p:animEffect transition="in" filter="fade">
                                      <p:cBhvr>
                                        <p:cTn id="52" dur="250"/>
                                        <p:tgtEl>
                                          <p:spTgt spid="169"/>
                                        </p:tgtEl>
                                      </p:cBhvr>
                                    </p:animEffect>
                                  </p:childTnLst>
                                </p:cTn>
                              </p:par>
                            </p:childTnLst>
                          </p:cTn>
                        </p:par>
                        <p:par>
                          <p:cTn id="53" fill="hold">
                            <p:stCondLst>
                              <p:cond delay="1300"/>
                            </p:stCondLst>
                            <p:childTnLst>
                              <p:par>
                                <p:cTn id="54" presetID="10" presetClass="entr" presetSubtype="0" fill="hold" nodeType="afterEffect">
                                  <p:stCondLst>
                                    <p:cond delay="0"/>
                                  </p:stCondLst>
                                  <p:childTnLst>
                                    <p:set>
                                      <p:cBhvr>
                                        <p:cTn id="55" dur="1" fill="hold">
                                          <p:stCondLst>
                                            <p:cond delay="0"/>
                                          </p:stCondLst>
                                        </p:cTn>
                                        <p:tgtEl>
                                          <p:spTgt spid="171"/>
                                        </p:tgtEl>
                                        <p:attrNameLst>
                                          <p:attrName>style.visibility</p:attrName>
                                        </p:attrNameLst>
                                      </p:cBhvr>
                                      <p:to>
                                        <p:strVal val="visible"/>
                                      </p:to>
                                    </p:set>
                                    <p:animEffect transition="in" filter="fade">
                                      <p:cBhvr>
                                        <p:cTn id="56" dur="25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22" grpId="0" animBg="1"/>
      <p:bldP spid="136" grpId="0" animBg="1"/>
      <p:bldP spid="153" grpId="0" animBg="1"/>
      <p:bldP spid="154" grpId="0" animBg="1"/>
      <p:bldP spid="15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INLINEDATA</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InlineData for the Bad Inputs Too</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112</a:t>
            </a:r>
            <a:endParaRPr lang="en-US" sz="850" dirty="0"/>
          </a:p>
        </p:txBody>
      </p:sp>
      <p:grpSp>
        <p:nvGrpSpPr>
          <p:cNvPr id="119" name="tst"/>
          <p:cNvGrpSpPr/>
          <p:nvPr/>
        </p:nvGrpSpPr>
        <p:grpSpPr>
          <a:xfrm>
            <a:off x="543154" y="1572768"/>
            <a:ext cx="6309360" cy="2719340"/>
            <a:chOff x="543154" y="1572768"/>
            <a:chExt cx="6309360" cy="2719340"/>
          </a:xfrm>
        </p:grpSpPr>
        <p:sp>
          <p:nvSpPr>
            <p:cNvPr id="101" name="tst_win"/>
            <p:cNvSpPr/>
            <p:nvPr/>
          </p:nvSpPr>
          <p:spPr>
            <a:xfrm>
              <a:off x="543154" y="1572768"/>
              <a:ext cx="6309360" cy="2719340"/>
            </a:xfrm>
            <a:prstGeom prst="roundRect">
              <a:avLst>
                <a:gd name="adj" fmla="val 2520"/>
              </a:avLst>
            </a:prstGeom>
            <a:solidFill>
              <a:srgbClr val="060D18"/>
            </a:solidFill>
            <a:ln w="12700">
              <a:solidFill>
                <a:srgbClr val="1E3A5F"/>
              </a:solidFill>
              <a:prstDash val="solid"/>
            </a:ln>
          </p:spPr>
          <p:txBody>
            <a:bodyPr/>
            <a:lstStyle/>
            <a:p>
              <a:endParaRPr lang="en-US"/>
            </a:p>
          </p:txBody>
        </p:sp>
        <p:sp>
          <p:nvSpPr>
            <p:cNvPr id="102" name="tst_bar"/>
            <p:cNvSpPr/>
            <p:nvPr/>
          </p:nvSpPr>
          <p:spPr>
            <a:xfrm>
              <a:off x="543154" y="1572768"/>
              <a:ext cx="63093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tst_barfill"/>
            <p:cNvSpPr/>
            <p:nvPr/>
          </p:nvSpPr>
          <p:spPr>
            <a:xfrm>
              <a:off x="543154" y="1744218"/>
              <a:ext cx="6309360" cy="171450"/>
            </a:xfrm>
            <a:prstGeom prst="rect">
              <a:avLst/>
            </a:prstGeom>
            <a:solidFill>
              <a:srgbClr val="0A1220"/>
            </a:solidFill>
            <a:ln w="12700">
              <a:solidFill>
                <a:srgbClr val="0A1220"/>
              </a:solidFill>
              <a:prstDash val="solid"/>
            </a:ln>
          </p:spPr>
          <p:txBody>
            <a:bodyPr/>
            <a:lstStyle/>
            <a:p>
              <a:endParaRPr lang="en-US"/>
            </a:p>
          </p:txBody>
        </p:sp>
        <p:sp>
          <p:nvSpPr>
            <p:cNvPr id="104" name="ts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ts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ts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tst_tab"/>
            <p:cNvSpPr/>
            <p:nvPr/>
          </p:nvSpPr>
          <p:spPr>
            <a:xfrm>
              <a:off x="1324051" y="1620317"/>
              <a:ext cx="1828701"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EmailValidatorTests.cs</a:t>
              </a:r>
              <a:endParaRPr lang="en-US" sz="950" dirty="0"/>
            </a:p>
          </p:txBody>
        </p:sp>
        <p:sp>
          <p:nvSpPr>
            <p:cNvPr id="108" name="tst_L00"/>
            <p:cNvSpPr txBox="1"/>
            <p:nvPr/>
          </p:nvSpPr>
          <p:spPr>
            <a:xfrm>
              <a:off x="771754" y="204866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[Theory]</a:t>
              </a:r>
              <a:endParaRPr lang="en-US" sz="950" dirty="0"/>
            </a:p>
          </p:txBody>
        </p:sp>
        <p:sp>
          <p:nvSpPr>
            <p:cNvPr id="109" name="tst_L01"/>
            <p:cNvSpPr txBox="1"/>
            <p:nvPr/>
          </p:nvSpPr>
          <p:spPr>
            <a:xfrm>
              <a:off x="771754" y="224170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a:t>
              </a:r>
              <a:r>
                <a:rPr lang="en-US" sz="950" b="0" dirty="0">
                  <a:solidFill>
                    <a:srgbClr val="F0A98B"/>
                  </a:solidFill>
                  <a:latin typeface="Consolas"/>
                  <a:ea typeface="Consolas"/>
                  <a:cs typeface="Consolas"/>
                </a:rPr>
                <a:t>""</a:t>
              </a:r>
              <a:r>
                <a:rPr lang="en-US" sz="950" b="0" dirty="0">
                  <a:solidFill>
                    <a:srgbClr val="E2E8F0"/>
                  </a:solidFill>
                  <a:latin typeface="Consolas"/>
                  <a:ea typeface="Consolas"/>
                  <a:cs typeface="Consolas"/>
                </a:rPr>
                <a:t>)]</a:t>
              </a:r>
              <a:endParaRPr lang="en-US" sz="950" dirty="0"/>
            </a:p>
          </p:txBody>
        </p:sp>
        <p:sp>
          <p:nvSpPr>
            <p:cNvPr id="110" name="tst_L02"/>
            <p:cNvSpPr txBox="1"/>
            <p:nvPr/>
          </p:nvSpPr>
          <p:spPr>
            <a:xfrm>
              <a:off x="771754" y="243474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a:t>
              </a:r>
              <a:r>
                <a:rPr lang="en-US" sz="950" b="0" dirty="0">
                  <a:solidFill>
                    <a:srgbClr val="F0A98B"/>
                  </a:solidFill>
                  <a:latin typeface="Consolas"/>
                  <a:ea typeface="Consolas"/>
                  <a:cs typeface="Consolas"/>
                </a:rPr>
                <a:t>"mona"</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no @</a:t>
              </a:r>
              <a:endParaRPr lang="en-US" sz="950" dirty="0"/>
            </a:p>
          </p:txBody>
        </p:sp>
        <p:sp>
          <p:nvSpPr>
            <p:cNvPr id="111" name="tst_L03"/>
            <p:cNvSpPr txBox="1"/>
            <p:nvPr/>
          </p:nvSpPr>
          <p:spPr>
            <a:xfrm>
              <a:off x="771754" y="262778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a:t>
              </a:r>
              <a:r>
                <a:rPr lang="en-US" sz="950" b="0" dirty="0">
                  <a:solidFill>
                    <a:srgbClr val="F0A98B"/>
                  </a:solidFill>
                  <a:latin typeface="Consolas"/>
                  <a:ea typeface="Consolas"/>
                  <a:cs typeface="Consolas"/>
                </a:rPr>
                <a:t>"@gmail.com"</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nothing before @</a:t>
              </a:r>
              <a:endParaRPr lang="en-US" sz="950" dirty="0"/>
            </a:p>
          </p:txBody>
        </p:sp>
        <p:sp>
          <p:nvSpPr>
            <p:cNvPr id="112" name="tst_L04"/>
            <p:cNvSpPr txBox="1"/>
            <p:nvPr/>
          </p:nvSpPr>
          <p:spPr>
            <a:xfrm>
              <a:off x="771754" y="282082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a:t>
              </a:r>
              <a:r>
                <a:rPr lang="en-US" sz="950" b="0" dirty="0">
                  <a:solidFill>
                    <a:srgbClr val="F0A98B"/>
                  </a:solidFill>
                  <a:latin typeface="Consolas"/>
                  <a:ea typeface="Consolas"/>
                  <a:cs typeface="Consolas"/>
                </a:rPr>
                <a:t>"mona@@gmail.com"</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two @</a:t>
              </a:r>
              <a:endParaRPr lang="en-US" sz="950" dirty="0"/>
            </a:p>
          </p:txBody>
        </p:sp>
        <p:sp>
          <p:nvSpPr>
            <p:cNvPr id="113" name="tst_L05"/>
            <p:cNvSpPr txBox="1"/>
            <p:nvPr/>
          </p:nvSpPr>
          <p:spPr>
            <a:xfrm>
              <a:off x="771754" y="301386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a:t>
              </a:r>
              <a:r>
                <a:rPr lang="en-US" sz="950" b="0" dirty="0">
                  <a:solidFill>
                    <a:srgbClr val="F0A98B"/>
                  </a:solidFill>
                  <a:latin typeface="Consolas"/>
                  <a:ea typeface="Consolas"/>
                  <a:cs typeface="Consolas"/>
                </a:rPr>
                <a:t>"mona@gmail"</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no dot after @</a:t>
              </a:r>
              <a:endParaRPr lang="en-US" sz="950" dirty="0"/>
            </a:p>
          </p:txBody>
        </p:sp>
        <p:sp>
          <p:nvSpPr>
            <p:cNvPr id="114" name="tst_L06"/>
            <p:cNvSpPr txBox="1"/>
            <p:nvPr/>
          </p:nvSpPr>
          <p:spPr>
            <a:xfrm>
              <a:off x="771754" y="320690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a:t>
              </a:r>
              <a:r>
                <a:rPr lang="en-US" sz="950" b="0" dirty="0">
                  <a:solidFill>
                    <a:srgbClr val="F0A98B"/>
                  </a:solidFill>
                  <a:latin typeface="Consolas"/>
                  <a:ea typeface="Consolas"/>
                  <a:cs typeface="Consolas"/>
                </a:rPr>
                <a:t>"mona@gmail."</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ends with a dot</a:t>
              </a:r>
              <a:endParaRPr lang="en-US" sz="950" dirty="0"/>
            </a:p>
          </p:txBody>
        </p:sp>
        <p:sp>
          <p:nvSpPr>
            <p:cNvPr id="115" name="tst_L07"/>
            <p:cNvSpPr txBox="1"/>
            <p:nvPr/>
          </p:nvSpPr>
          <p:spPr>
            <a:xfrm>
              <a:off x="771754" y="339994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IsValid_BadEmails_ReturnsFalse(</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email)</a:t>
              </a:r>
              <a:endParaRPr lang="en-US" sz="950" dirty="0"/>
            </a:p>
          </p:txBody>
        </p:sp>
        <p:sp>
          <p:nvSpPr>
            <p:cNvPr id="116" name="tst_L08"/>
            <p:cNvSpPr txBox="1"/>
            <p:nvPr/>
          </p:nvSpPr>
          <p:spPr>
            <a:xfrm>
              <a:off x="771754" y="359298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7" name="tst_L09"/>
            <p:cNvSpPr txBox="1"/>
            <p:nvPr/>
          </p:nvSpPr>
          <p:spPr>
            <a:xfrm>
              <a:off x="771754" y="3786028"/>
              <a:ext cx="60093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Assert.False(EmailValidator.IsValid(email));</a:t>
              </a:r>
              <a:endParaRPr lang="en-US" sz="950" dirty="0"/>
            </a:p>
          </p:txBody>
        </p:sp>
        <p:sp>
          <p:nvSpPr>
            <p:cNvPr id="118" name="tst_L10"/>
            <p:cNvSpPr txBox="1"/>
            <p:nvPr/>
          </p:nvSpPr>
          <p:spPr>
            <a:xfrm>
              <a:off x="771754" y="3979068"/>
              <a:ext cx="60093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20" name="tst_hl4"/>
          <p:cNvSpPr/>
          <p:nvPr/>
        </p:nvSpPr>
        <p:spPr>
          <a:xfrm>
            <a:off x="676656" y="2802540"/>
            <a:ext cx="6042360" cy="22961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35" name="te"/>
          <p:cNvGrpSpPr/>
          <p:nvPr/>
        </p:nvGrpSpPr>
        <p:grpSpPr>
          <a:xfrm>
            <a:off x="7040880" y="1572768"/>
            <a:ext cx="4589374" cy="1947180"/>
            <a:chOff x="7040880" y="1572768"/>
            <a:chExt cx="4589374" cy="1947180"/>
          </a:xfrm>
        </p:grpSpPr>
        <p:sp>
          <p:nvSpPr>
            <p:cNvPr id="121" name="te_win"/>
            <p:cNvSpPr/>
            <p:nvPr/>
          </p:nvSpPr>
          <p:spPr>
            <a:xfrm>
              <a:off x="7040880" y="1572768"/>
              <a:ext cx="4589374" cy="1947180"/>
            </a:xfrm>
            <a:prstGeom prst="roundRect">
              <a:avLst>
                <a:gd name="adj" fmla="val 3520"/>
              </a:avLst>
            </a:prstGeom>
            <a:solidFill>
              <a:srgbClr val="060D18"/>
            </a:solidFill>
            <a:ln w="12700">
              <a:solidFill>
                <a:srgbClr val="1E3A5F"/>
              </a:solidFill>
              <a:prstDash val="solid"/>
            </a:ln>
          </p:spPr>
          <p:txBody>
            <a:bodyPr/>
            <a:lstStyle/>
            <a:p>
              <a:endParaRPr lang="en-US"/>
            </a:p>
          </p:txBody>
        </p:sp>
        <p:sp>
          <p:nvSpPr>
            <p:cNvPr id="122" name="te_bar"/>
            <p:cNvSpPr/>
            <p:nvPr/>
          </p:nvSpPr>
          <p:spPr>
            <a:xfrm>
              <a:off x="7040880" y="1572768"/>
              <a:ext cx="45893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3" name="te_barfill"/>
            <p:cNvSpPr/>
            <p:nvPr/>
          </p:nvSpPr>
          <p:spPr>
            <a:xfrm>
              <a:off x="7040880" y="1744218"/>
              <a:ext cx="4589374" cy="171450"/>
            </a:xfrm>
            <a:prstGeom prst="rect">
              <a:avLst/>
            </a:prstGeom>
            <a:solidFill>
              <a:srgbClr val="0A1220"/>
            </a:solidFill>
            <a:ln w="12700">
              <a:solidFill>
                <a:srgbClr val="0A1220"/>
              </a:solidFill>
              <a:prstDash val="solid"/>
            </a:ln>
          </p:spPr>
          <p:txBody>
            <a:bodyPr/>
            <a:lstStyle/>
            <a:p>
              <a:endParaRPr lang="en-US"/>
            </a:p>
          </p:txBody>
        </p:sp>
        <p:sp>
          <p:nvSpPr>
            <p:cNvPr id="124" name="te_dot0"/>
            <p:cNvSpPr/>
            <p:nvPr/>
          </p:nvSpPr>
          <p:spPr>
            <a:xfrm>
              <a:off x="720272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5" name="te_dot1"/>
            <p:cNvSpPr/>
            <p:nvPr/>
          </p:nvSpPr>
          <p:spPr>
            <a:xfrm>
              <a:off x="738835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6" name="te_dot2"/>
            <p:cNvSpPr/>
            <p:nvPr/>
          </p:nvSpPr>
          <p:spPr>
            <a:xfrm>
              <a:off x="757397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7" name="te_tab"/>
            <p:cNvSpPr/>
            <p:nvPr/>
          </p:nvSpPr>
          <p:spPr>
            <a:xfrm>
              <a:off x="7821777"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Test Explorer</a:t>
              </a:r>
              <a:endParaRPr lang="en-US" sz="950" dirty="0"/>
            </a:p>
          </p:txBody>
        </p:sp>
        <p:sp>
          <p:nvSpPr>
            <p:cNvPr id="128" name="te_L00"/>
            <p:cNvSpPr txBox="1"/>
            <p:nvPr/>
          </p:nvSpPr>
          <p:spPr>
            <a:xfrm>
              <a:off x="7269480" y="2048668"/>
              <a:ext cx="42893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IsValid_BadEmails_ReturnsFalse  (6 tests)</a:t>
              </a:r>
              <a:endParaRPr lang="en-US" sz="880" dirty="0"/>
            </a:p>
          </p:txBody>
        </p:sp>
        <p:sp>
          <p:nvSpPr>
            <p:cNvPr id="129" name="te_L01"/>
            <p:cNvSpPr txBox="1"/>
            <p:nvPr/>
          </p:nvSpPr>
          <p:spPr>
            <a:xfrm>
              <a:off x="7269480" y="2241708"/>
              <a:ext cx="42893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(email: "")</a:t>
              </a:r>
              <a:endParaRPr lang="en-US" sz="880" dirty="0"/>
            </a:p>
          </p:txBody>
        </p:sp>
        <p:sp>
          <p:nvSpPr>
            <p:cNvPr id="130" name="te_L02"/>
            <p:cNvSpPr txBox="1"/>
            <p:nvPr/>
          </p:nvSpPr>
          <p:spPr>
            <a:xfrm>
              <a:off x="7269480" y="2434748"/>
              <a:ext cx="42893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(email: "mona")</a:t>
              </a:r>
              <a:endParaRPr lang="en-US" sz="880" dirty="0"/>
            </a:p>
          </p:txBody>
        </p:sp>
        <p:sp>
          <p:nvSpPr>
            <p:cNvPr id="131" name="te_L03"/>
            <p:cNvSpPr txBox="1"/>
            <p:nvPr/>
          </p:nvSpPr>
          <p:spPr>
            <a:xfrm>
              <a:off x="7269480" y="2627788"/>
              <a:ext cx="42893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(email: "@gmail.com")</a:t>
              </a:r>
              <a:endParaRPr lang="en-US" sz="880" dirty="0"/>
            </a:p>
          </p:txBody>
        </p:sp>
        <p:sp>
          <p:nvSpPr>
            <p:cNvPr id="132" name="te_L04"/>
            <p:cNvSpPr txBox="1"/>
            <p:nvPr/>
          </p:nvSpPr>
          <p:spPr>
            <a:xfrm>
              <a:off x="7269480" y="2820828"/>
              <a:ext cx="42893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(email: "mona@@gmail.com")</a:t>
              </a:r>
              <a:endParaRPr lang="en-US" sz="880" dirty="0"/>
            </a:p>
          </p:txBody>
        </p:sp>
        <p:sp>
          <p:nvSpPr>
            <p:cNvPr id="133" name="te_L05"/>
            <p:cNvSpPr txBox="1"/>
            <p:nvPr/>
          </p:nvSpPr>
          <p:spPr>
            <a:xfrm>
              <a:off x="7269480" y="3013868"/>
              <a:ext cx="42893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(email: "mona@gmail")</a:t>
              </a:r>
              <a:endParaRPr lang="en-US" sz="880" dirty="0"/>
            </a:p>
          </p:txBody>
        </p:sp>
        <p:sp>
          <p:nvSpPr>
            <p:cNvPr id="134" name="te_L06"/>
            <p:cNvSpPr txBox="1"/>
            <p:nvPr/>
          </p:nvSpPr>
          <p:spPr>
            <a:xfrm>
              <a:off x="7269480" y="3206908"/>
              <a:ext cx="42893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(email: "mona@gmail.")</a:t>
              </a:r>
              <a:endParaRPr lang="en-US" sz="880" dirty="0"/>
            </a:p>
          </p:txBody>
        </p:sp>
      </p:grpSp>
      <p:sp>
        <p:nvSpPr>
          <p:cNvPr id="136" name="k"/>
          <p:cNvSpPr/>
          <p:nvPr/>
        </p:nvSpPr>
        <p:spPr>
          <a:xfrm>
            <a:off x="543154" y="4251960"/>
            <a:ext cx="11087100" cy="91440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ONE ROW = ONE WAY TO BREAK IT</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Think like an attacker: empty, missing parts, doubled parts, wrong endings. Comment why each row exists.</a:t>
            </a:r>
            <a:endParaRPr lang="en-US" sz="1200" dirty="0"/>
          </a:p>
        </p:txBody>
      </p:sp>
    </p:spTree>
    <p:extLst>
      <p:ext uri="{BB962C8B-B14F-4D97-AF65-F5344CB8AC3E}">
        <p14:creationId xmlns:p14="http://schemas.microsoft.com/office/powerpoint/2010/main" val="509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400"/>
                                        <p:tgtEl>
                                          <p:spTgt spid="1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fade">
                                      <p:cBhvr>
                                        <p:cTn id="10" dur="400"/>
                                        <p:tgtEl>
                                          <p:spTgt spid="1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animEffect transition="in" filter="fade">
                                      <p:cBhvr>
                                        <p:cTn id="15" dur="400"/>
                                        <p:tgtEl>
                                          <p:spTgt spid="1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6"/>
                                        </p:tgtEl>
                                        <p:attrNameLst>
                                          <p:attrName>style.visibility</p:attrName>
                                        </p:attrNameLst>
                                      </p:cBhvr>
                                      <p:to>
                                        <p:strVal val="visible"/>
                                      </p:to>
                                    </p:set>
                                    <p:animEffect transition="in" filter="fade">
                                      <p:cBhvr>
                                        <p:cTn id="20" dur="4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3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INLINEDATA</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InlineData With Inputs AND Expected Results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113</a:t>
            </a:r>
            <a:endParaRPr lang="en-US" sz="850" dirty="0"/>
          </a:p>
        </p:txBody>
      </p:sp>
      <p:sp>
        <p:nvSpPr>
          <p:cNvPr id="101" name="cl"/>
          <p:cNvSpPr txBox="1"/>
          <p:nvPr/>
        </p:nvSpPr>
        <p:spPr>
          <a:xfrm>
            <a:off x="543154" y="1463040"/>
            <a:ext cx="48463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5618074" y="1463040"/>
            <a:ext cx="60121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6" name="cls"/>
          <p:cNvGrpSpPr/>
          <p:nvPr/>
        </p:nvGrpSpPr>
        <p:grpSpPr>
          <a:xfrm>
            <a:off x="543154" y="1755648"/>
            <a:ext cx="4846320" cy="3315900"/>
            <a:chOff x="543154" y="1755648"/>
            <a:chExt cx="4846320" cy="3315900"/>
          </a:xfrm>
        </p:grpSpPr>
        <p:sp>
          <p:nvSpPr>
            <p:cNvPr id="103" name="cls_win"/>
            <p:cNvSpPr/>
            <p:nvPr/>
          </p:nvSpPr>
          <p:spPr>
            <a:xfrm>
              <a:off x="543154" y="1755648"/>
              <a:ext cx="4846320" cy="3315900"/>
            </a:xfrm>
            <a:prstGeom prst="roundRect">
              <a:avLst>
                <a:gd name="adj" fmla="val 2067"/>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48463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484632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155621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GradeCalculator.cs</a:t>
              </a:r>
              <a:endParaRPr lang="en-US" sz="950" dirty="0"/>
            </a:p>
          </p:txBody>
        </p:sp>
        <p:sp>
          <p:nvSpPr>
            <p:cNvPr id="110" name="cls_L00"/>
            <p:cNvSpPr txBox="1"/>
            <p:nvPr/>
          </p:nvSpPr>
          <p:spPr>
            <a:xfrm>
              <a:off x="771754" y="2231548"/>
              <a:ext cx="45463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static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class</a:t>
              </a:r>
              <a:r>
                <a:rPr lang="en-US" sz="820" b="0" dirty="0">
                  <a:solidFill>
                    <a:srgbClr val="E2E8F0"/>
                  </a:solidFill>
                  <a:latin typeface="Consolas"/>
                  <a:ea typeface="Consolas"/>
                  <a:cs typeface="Consolas"/>
                </a:rPr>
                <a:t> GradeCalculator</a:t>
              </a:r>
              <a:endParaRPr lang="en-US" sz="820" dirty="0"/>
            </a:p>
          </p:txBody>
        </p:sp>
        <p:sp>
          <p:nvSpPr>
            <p:cNvPr id="111" name="cls_L01"/>
            <p:cNvSpPr txBox="1"/>
            <p:nvPr/>
          </p:nvSpPr>
          <p:spPr>
            <a:xfrm>
              <a:off x="771754" y="2391548"/>
              <a:ext cx="45463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12" name="cls_L02"/>
            <p:cNvSpPr txBox="1"/>
            <p:nvPr/>
          </p:nvSpPr>
          <p:spPr>
            <a:xfrm>
              <a:off x="771754" y="2551548"/>
              <a:ext cx="45463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static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string</a:t>
              </a:r>
              <a:r>
                <a:rPr lang="en-US" sz="820" b="0" dirty="0">
                  <a:solidFill>
                    <a:srgbClr val="E2E8F0"/>
                  </a:solidFill>
                  <a:latin typeface="Consolas"/>
                  <a:ea typeface="Consolas"/>
                  <a:cs typeface="Consolas"/>
                </a:rPr>
                <a:t> Grade(</a:t>
              </a:r>
              <a:r>
                <a:rPr lang="en-US" sz="820" b="0" dirty="0">
                  <a:solidFill>
                    <a:srgbClr val="60A5FA"/>
                  </a:solidFill>
                  <a:latin typeface="Consolas"/>
                  <a:ea typeface="Consolas"/>
                  <a:cs typeface="Consolas"/>
                </a:rPr>
                <a:t>int</a:t>
              </a:r>
              <a:r>
                <a:rPr lang="en-US" sz="820" b="0" dirty="0">
                  <a:solidFill>
                    <a:srgbClr val="E2E8F0"/>
                  </a:solidFill>
                  <a:latin typeface="Consolas"/>
                  <a:ea typeface="Consolas"/>
                  <a:cs typeface="Consolas"/>
                </a:rPr>
                <a:t> score)</a:t>
              </a:r>
              <a:endParaRPr lang="en-US" sz="820" dirty="0"/>
            </a:p>
          </p:txBody>
        </p:sp>
        <p:sp>
          <p:nvSpPr>
            <p:cNvPr id="113" name="cls_L03"/>
            <p:cNvSpPr txBox="1"/>
            <p:nvPr/>
          </p:nvSpPr>
          <p:spPr>
            <a:xfrm>
              <a:off x="771754" y="2711548"/>
              <a:ext cx="45463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14" name="cls_L04"/>
            <p:cNvSpPr txBox="1"/>
            <p:nvPr/>
          </p:nvSpPr>
          <p:spPr>
            <a:xfrm>
              <a:off x="771754" y="2871548"/>
              <a:ext cx="45463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60A5FA"/>
                  </a:solidFill>
                  <a:latin typeface="Consolas"/>
                  <a:ea typeface="Consolas"/>
                  <a:cs typeface="Consolas"/>
                </a:rPr>
                <a:t>if</a:t>
              </a:r>
              <a:r>
                <a:rPr lang="en-US" sz="820" b="0" dirty="0">
                  <a:solidFill>
                    <a:srgbClr val="E2E8F0"/>
                  </a:solidFill>
                  <a:latin typeface="Consolas"/>
                  <a:ea typeface="Consolas"/>
                  <a:cs typeface="Consolas"/>
                </a:rPr>
                <a:t> (score &lt; 0 || score &gt; 100)</a:t>
              </a:r>
              <a:endParaRPr lang="en-US" sz="820" dirty="0"/>
            </a:p>
          </p:txBody>
        </p:sp>
        <p:sp>
          <p:nvSpPr>
            <p:cNvPr id="115" name="cls_L05"/>
            <p:cNvSpPr txBox="1"/>
            <p:nvPr/>
          </p:nvSpPr>
          <p:spPr>
            <a:xfrm>
              <a:off x="771754" y="3031548"/>
              <a:ext cx="454632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20" b="0" dirty="0">
                  <a:solidFill>
                    <a:srgbClr val="60A5FA"/>
                  </a:solidFill>
                  <a:latin typeface="Consolas"/>
                  <a:ea typeface="Consolas"/>
                  <a:cs typeface="Consolas"/>
                </a:rPr>
                <a:t>throw</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new</a:t>
              </a:r>
              <a:r>
                <a:rPr lang="en-US" sz="820" b="0" dirty="0">
                  <a:solidFill>
                    <a:srgbClr val="E2E8F0"/>
                  </a:solidFill>
                  <a:latin typeface="Consolas"/>
                  <a:ea typeface="Consolas"/>
                  <a:cs typeface="Consolas"/>
                </a:rPr>
                <a:t> ArgumentOutOfRangeException(nameof(score));</a:t>
              </a:r>
              <a:endParaRPr lang="en-US" sz="820" dirty="0"/>
            </a:p>
          </p:txBody>
        </p:sp>
        <p:sp>
          <p:nvSpPr>
            <p:cNvPr id="116" name="cls_L07"/>
            <p:cNvSpPr txBox="1"/>
            <p:nvPr/>
          </p:nvSpPr>
          <p:spPr>
            <a:xfrm>
              <a:off x="771754" y="3351548"/>
              <a:ext cx="45463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60A5FA"/>
                  </a:solidFill>
                  <a:latin typeface="Consolas"/>
                  <a:ea typeface="Consolas"/>
                  <a:cs typeface="Consolas"/>
                </a:rPr>
                <a:t>return</a:t>
              </a:r>
              <a:r>
                <a:rPr lang="en-US" sz="820" b="0" dirty="0">
                  <a:solidFill>
                    <a:srgbClr val="E2E8F0"/>
                  </a:solidFill>
                  <a:latin typeface="Consolas"/>
                  <a:ea typeface="Consolas"/>
                  <a:cs typeface="Consolas"/>
                </a:rPr>
                <a:t> score </a:t>
              </a:r>
              <a:r>
                <a:rPr lang="en-US" sz="820" b="0" dirty="0">
                  <a:solidFill>
                    <a:srgbClr val="60A5FA"/>
                  </a:solidFill>
                  <a:latin typeface="Consolas"/>
                  <a:ea typeface="Consolas"/>
                  <a:cs typeface="Consolas"/>
                </a:rPr>
                <a:t>switch</a:t>
              </a:r>
              <a:endParaRPr lang="en-US" sz="820" dirty="0"/>
            </a:p>
          </p:txBody>
        </p:sp>
        <p:sp>
          <p:nvSpPr>
            <p:cNvPr id="117" name="cls_L08"/>
            <p:cNvSpPr txBox="1"/>
            <p:nvPr/>
          </p:nvSpPr>
          <p:spPr>
            <a:xfrm>
              <a:off x="771754" y="3511548"/>
              <a:ext cx="45463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18" name="cls_L09"/>
            <p:cNvSpPr txBox="1"/>
            <p:nvPr/>
          </p:nvSpPr>
          <p:spPr>
            <a:xfrm>
              <a:off x="771754" y="3671548"/>
              <a:ext cx="454632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20" b="0" dirty="0">
                  <a:solidFill>
                    <a:srgbClr val="E2E8F0"/>
                  </a:solidFill>
                  <a:latin typeface="Consolas"/>
                  <a:ea typeface="Consolas"/>
                  <a:cs typeface="Consolas"/>
                </a:rPr>
                <a:t>&gt;= 85 =&gt; </a:t>
              </a:r>
              <a:r>
                <a:rPr lang="en-US" sz="820" b="0" dirty="0">
                  <a:solidFill>
                    <a:srgbClr val="F0A98B"/>
                  </a:solidFill>
                  <a:latin typeface="Consolas"/>
                  <a:ea typeface="Consolas"/>
                  <a:cs typeface="Consolas"/>
                </a:rPr>
                <a:t>"A"</a:t>
              </a:r>
              <a:r>
                <a:rPr lang="en-US" sz="820" b="0" dirty="0">
                  <a:solidFill>
                    <a:srgbClr val="E2E8F0"/>
                  </a:solidFill>
                  <a:latin typeface="Consolas"/>
                  <a:ea typeface="Consolas"/>
                  <a:cs typeface="Consolas"/>
                </a:rPr>
                <a:t>,</a:t>
              </a:r>
              <a:endParaRPr lang="en-US" sz="820" dirty="0"/>
            </a:p>
          </p:txBody>
        </p:sp>
        <p:sp>
          <p:nvSpPr>
            <p:cNvPr id="119" name="cls_L10"/>
            <p:cNvSpPr txBox="1"/>
            <p:nvPr/>
          </p:nvSpPr>
          <p:spPr>
            <a:xfrm>
              <a:off x="771754" y="3831548"/>
              <a:ext cx="454632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20" b="0" dirty="0">
                  <a:solidFill>
                    <a:srgbClr val="E2E8F0"/>
                  </a:solidFill>
                  <a:latin typeface="Consolas"/>
                  <a:ea typeface="Consolas"/>
                  <a:cs typeface="Consolas"/>
                </a:rPr>
                <a:t>&gt;= 75 =&gt; </a:t>
              </a:r>
              <a:r>
                <a:rPr lang="en-US" sz="820" b="0" dirty="0">
                  <a:solidFill>
                    <a:srgbClr val="F0A98B"/>
                  </a:solidFill>
                  <a:latin typeface="Consolas"/>
                  <a:ea typeface="Consolas"/>
                  <a:cs typeface="Consolas"/>
                </a:rPr>
                <a:t>"B"</a:t>
              </a:r>
              <a:r>
                <a:rPr lang="en-US" sz="820" b="0" dirty="0">
                  <a:solidFill>
                    <a:srgbClr val="E2E8F0"/>
                  </a:solidFill>
                  <a:latin typeface="Consolas"/>
                  <a:ea typeface="Consolas"/>
                  <a:cs typeface="Consolas"/>
                </a:rPr>
                <a:t>,</a:t>
              </a:r>
              <a:endParaRPr lang="en-US" sz="820" dirty="0"/>
            </a:p>
          </p:txBody>
        </p:sp>
        <p:sp>
          <p:nvSpPr>
            <p:cNvPr id="120" name="cls_L11"/>
            <p:cNvSpPr txBox="1"/>
            <p:nvPr/>
          </p:nvSpPr>
          <p:spPr>
            <a:xfrm>
              <a:off x="771754" y="3991548"/>
              <a:ext cx="454632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20" b="0" dirty="0">
                  <a:solidFill>
                    <a:srgbClr val="E2E8F0"/>
                  </a:solidFill>
                  <a:latin typeface="Consolas"/>
                  <a:ea typeface="Consolas"/>
                  <a:cs typeface="Consolas"/>
                </a:rPr>
                <a:t>&gt;= 65 =&gt; </a:t>
              </a:r>
              <a:r>
                <a:rPr lang="en-US" sz="820" b="0" dirty="0">
                  <a:solidFill>
                    <a:srgbClr val="F0A98B"/>
                  </a:solidFill>
                  <a:latin typeface="Consolas"/>
                  <a:ea typeface="Consolas"/>
                  <a:cs typeface="Consolas"/>
                </a:rPr>
                <a:t>"C"</a:t>
              </a:r>
              <a:r>
                <a:rPr lang="en-US" sz="820" b="0" dirty="0">
                  <a:solidFill>
                    <a:srgbClr val="E2E8F0"/>
                  </a:solidFill>
                  <a:latin typeface="Consolas"/>
                  <a:ea typeface="Consolas"/>
                  <a:cs typeface="Consolas"/>
                </a:rPr>
                <a:t>,</a:t>
              </a:r>
              <a:endParaRPr lang="en-US" sz="820" dirty="0"/>
            </a:p>
          </p:txBody>
        </p:sp>
        <p:sp>
          <p:nvSpPr>
            <p:cNvPr id="121" name="cls_L12"/>
            <p:cNvSpPr txBox="1"/>
            <p:nvPr/>
          </p:nvSpPr>
          <p:spPr>
            <a:xfrm>
              <a:off x="771754" y="4151548"/>
              <a:ext cx="454632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20" b="0" dirty="0">
                  <a:solidFill>
                    <a:srgbClr val="E2E8F0"/>
                  </a:solidFill>
                  <a:latin typeface="Consolas"/>
                  <a:ea typeface="Consolas"/>
                  <a:cs typeface="Consolas"/>
                </a:rPr>
                <a:t>&gt;= 50 =&gt; </a:t>
              </a:r>
              <a:r>
                <a:rPr lang="en-US" sz="820" b="0" dirty="0">
                  <a:solidFill>
                    <a:srgbClr val="F0A98B"/>
                  </a:solidFill>
                  <a:latin typeface="Consolas"/>
                  <a:ea typeface="Consolas"/>
                  <a:cs typeface="Consolas"/>
                </a:rPr>
                <a:t>"D"</a:t>
              </a:r>
              <a:r>
                <a:rPr lang="en-US" sz="820" b="0" dirty="0">
                  <a:solidFill>
                    <a:srgbClr val="E2E8F0"/>
                  </a:solidFill>
                  <a:latin typeface="Consolas"/>
                  <a:ea typeface="Consolas"/>
                  <a:cs typeface="Consolas"/>
                </a:rPr>
                <a:t>,</a:t>
              </a:r>
              <a:endParaRPr lang="en-US" sz="820" dirty="0"/>
            </a:p>
          </p:txBody>
        </p:sp>
        <p:sp>
          <p:nvSpPr>
            <p:cNvPr id="122" name="cls_L13"/>
            <p:cNvSpPr txBox="1"/>
            <p:nvPr/>
          </p:nvSpPr>
          <p:spPr>
            <a:xfrm>
              <a:off x="771754" y="4311548"/>
              <a:ext cx="454632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20" b="0" dirty="0">
                  <a:solidFill>
                    <a:srgbClr val="E2E8F0"/>
                  </a:solidFill>
                  <a:latin typeface="Consolas"/>
                  <a:ea typeface="Consolas"/>
                  <a:cs typeface="Consolas"/>
                </a:rPr>
                <a:t>_     =&gt; </a:t>
              </a:r>
              <a:r>
                <a:rPr lang="en-US" sz="820" b="0" dirty="0">
                  <a:solidFill>
                    <a:srgbClr val="F0A98B"/>
                  </a:solidFill>
                  <a:latin typeface="Consolas"/>
                  <a:ea typeface="Consolas"/>
                  <a:cs typeface="Consolas"/>
                </a:rPr>
                <a:t>"F"</a:t>
              </a:r>
              <a:r>
                <a:rPr lang="en-US" sz="820" b="0" dirty="0">
                  <a:solidFill>
                    <a:srgbClr val="E2E8F0"/>
                  </a:solidFill>
                  <a:latin typeface="Consolas"/>
                  <a:ea typeface="Consolas"/>
                  <a:cs typeface="Consolas"/>
                </a:rPr>
                <a:t>,</a:t>
              </a:r>
              <a:endParaRPr lang="en-US" sz="820" dirty="0"/>
            </a:p>
          </p:txBody>
        </p:sp>
        <p:sp>
          <p:nvSpPr>
            <p:cNvPr id="123" name="cls_L14"/>
            <p:cNvSpPr txBox="1"/>
            <p:nvPr/>
          </p:nvSpPr>
          <p:spPr>
            <a:xfrm>
              <a:off x="771754" y="4471548"/>
              <a:ext cx="45463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24" name="cls_L15"/>
            <p:cNvSpPr txBox="1"/>
            <p:nvPr/>
          </p:nvSpPr>
          <p:spPr>
            <a:xfrm>
              <a:off x="771754" y="4631548"/>
              <a:ext cx="45463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25" name="cls_L16"/>
            <p:cNvSpPr txBox="1"/>
            <p:nvPr/>
          </p:nvSpPr>
          <p:spPr>
            <a:xfrm>
              <a:off x="771754" y="4791548"/>
              <a:ext cx="45463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grpSp>
      <p:grpSp>
        <p:nvGrpSpPr>
          <p:cNvPr id="151" name="tst"/>
          <p:cNvGrpSpPr/>
          <p:nvPr/>
        </p:nvGrpSpPr>
        <p:grpSpPr>
          <a:xfrm>
            <a:off x="5618074" y="1755648"/>
            <a:ext cx="6012180" cy="3475900"/>
            <a:chOff x="5618074" y="1755648"/>
            <a:chExt cx="6012180" cy="3475900"/>
          </a:xfrm>
        </p:grpSpPr>
        <p:sp>
          <p:nvSpPr>
            <p:cNvPr id="127" name="tst_win"/>
            <p:cNvSpPr/>
            <p:nvPr/>
          </p:nvSpPr>
          <p:spPr>
            <a:xfrm>
              <a:off x="5618074" y="1755648"/>
              <a:ext cx="6012180" cy="3475900"/>
            </a:xfrm>
            <a:prstGeom prst="roundRect">
              <a:avLst>
                <a:gd name="adj" fmla="val 1972"/>
              </a:avLst>
            </a:prstGeom>
            <a:solidFill>
              <a:srgbClr val="060D18"/>
            </a:solidFill>
            <a:ln w="12700">
              <a:solidFill>
                <a:srgbClr val="1E3A5F"/>
              </a:solidFill>
              <a:prstDash val="solid"/>
            </a:ln>
          </p:spPr>
          <p:txBody>
            <a:bodyPr/>
            <a:lstStyle/>
            <a:p>
              <a:endParaRPr lang="en-US"/>
            </a:p>
          </p:txBody>
        </p:sp>
        <p:sp>
          <p:nvSpPr>
            <p:cNvPr id="128" name="tst_bar"/>
            <p:cNvSpPr/>
            <p:nvPr/>
          </p:nvSpPr>
          <p:spPr>
            <a:xfrm>
              <a:off x="5618074" y="1755648"/>
              <a:ext cx="60121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9" name="tst_barfill"/>
            <p:cNvSpPr/>
            <p:nvPr/>
          </p:nvSpPr>
          <p:spPr>
            <a:xfrm>
              <a:off x="5618074" y="1927098"/>
              <a:ext cx="6012180" cy="171450"/>
            </a:xfrm>
            <a:prstGeom prst="rect">
              <a:avLst/>
            </a:prstGeom>
            <a:solidFill>
              <a:srgbClr val="0A1220"/>
            </a:solidFill>
            <a:ln w="12700">
              <a:solidFill>
                <a:srgbClr val="0A1220"/>
              </a:solidFill>
              <a:prstDash val="solid"/>
            </a:ln>
          </p:spPr>
          <p:txBody>
            <a:bodyPr/>
            <a:lstStyle/>
            <a:p>
              <a:endParaRPr lang="en-US"/>
            </a:p>
          </p:txBody>
        </p:sp>
        <p:sp>
          <p:nvSpPr>
            <p:cNvPr id="130" name="tst_dot0"/>
            <p:cNvSpPr/>
            <p:nvPr/>
          </p:nvSpPr>
          <p:spPr>
            <a:xfrm>
              <a:off x="577992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1" name="tst_dot1"/>
            <p:cNvSpPr/>
            <p:nvPr/>
          </p:nvSpPr>
          <p:spPr>
            <a:xfrm>
              <a:off x="596554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2" name="tst_dot2"/>
            <p:cNvSpPr/>
            <p:nvPr/>
          </p:nvSpPr>
          <p:spPr>
            <a:xfrm>
              <a:off x="615117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3" name="tst_tab"/>
            <p:cNvSpPr/>
            <p:nvPr/>
          </p:nvSpPr>
          <p:spPr>
            <a:xfrm>
              <a:off x="6398971" y="18031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GradeCalculatorTests.cs</a:t>
              </a:r>
              <a:endParaRPr lang="en-US" sz="950" dirty="0"/>
            </a:p>
          </p:txBody>
        </p:sp>
        <p:sp>
          <p:nvSpPr>
            <p:cNvPr id="134" name="tst_L00"/>
            <p:cNvSpPr txBox="1"/>
            <p:nvPr/>
          </p:nvSpPr>
          <p:spPr>
            <a:xfrm>
              <a:off x="5846674" y="223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[Theory]</a:t>
              </a:r>
              <a:endParaRPr lang="en-US" sz="820" dirty="0"/>
            </a:p>
          </p:txBody>
        </p:sp>
        <p:sp>
          <p:nvSpPr>
            <p:cNvPr id="135" name="tst_L01"/>
            <p:cNvSpPr txBox="1"/>
            <p:nvPr/>
          </p:nvSpPr>
          <p:spPr>
            <a:xfrm>
              <a:off x="5846674" y="239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[InlineData(100, </a:t>
              </a:r>
              <a:r>
                <a:rPr lang="en-US" sz="820" b="0" dirty="0">
                  <a:solidFill>
                    <a:srgbClr val="F0A98B"/>
                  </a:solidFill>
                  <a:latin typeface="Consolas"/>
                  <a:ea typeface="Consolas"/>
                  <a:cs typeface="Consolas"/>
                </a:rPr>
                <a:t>"A"</a:t>
              </a:r>
              <a:r>
                <a:rPr lang="en-US" sz="820" b="0" dirty="0">
                  <a:solidFill>
                    <a:srgbClr val="E2E8F0"/>
                  </a:solidFill>
                  <a:latin typeface="Consolas"/>
                  <a:ea typeface="Consolas"/>
                  <a:cs typeface="Consolas"/>
                </a:rPr>
                <a:t>)]</a:t>
              </a:r>
              <a:endParaRPr lang="en-US" sz="820" dirty="0"/>
            </a:p>
          </p:txBody>
        </p:sp>
        <p:sp>
          <p:nvSpPr>
            <p:cNvPr id="136" name="tst_L02"/>
            <p:cNvSpPr txBox="1"/>
            <p:nvPr/>
          </p:nvSpPr>
          <p:spPr>
            <a:xfrm>
              <a:off x="5846674" y="255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[InlineData(85, </a:t>
              </a:r>
              <a:r>
                <a:rPr lang="en-US" sz="820" b="0" dirty="0">
                  <a:solidFill>
                    <a:srgbClr val="F0A98B"/>
                  </a:solidFill>
                  <a:latin typeface="Consolas"/>
                  <a:ea typeface="Consolas"/>
                  <a:cs typeface="Consolas"/>
                </a:rPr>
                <a:t>"A"</a:t>
              </a:r>
              <a:r>
                <a:rPr lang="en-US" sz="820" b="0" dirty="0">
                  <a:solidFill>
                    <a:srgbClr val="E2E8F0"/>
                  </a:solidFill>
                  <a:latin typeface="Consolas"/>
                  <a:ea typeface="Consolas"/>
                  <a:cs typeface="Consolas"/>
                </a:rPr>
                <a:t>)]     </a:t>
              </a:r>
              <a:r>
                <a:rPr lang="en-US" sz="820" b="0" dirty="0">
                  <a:solidFill>
                    <a:srgbClr val="6FAE7A"/>
                  </a:solidFill>
                  <a:latin typeface="Consolas"/>
                  <a:ea typeface="Consolas"/>
                  <a:cs typeface="Consolas"/>
                </a:rPr>
                <a:t>// lowest A</a:t>
              </a:r>
              <a:endParaRPr lang="en-US" sz="820" dirty="0"/>
            </a:p>
          </p:txBody>
        </p:sp>
        <p:sp>
          <p:nvSpPr>
            <p:cNvPr id="137" name="tst_L03"/>
            <p:cNvSpPr txBox="1"/>
            <p:nvPr/>
          </p:nvSpPr>
          <p:spPr>
            <a:xfrm>
              <a:off x="5846674" y="271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[InlineData(84, </a:t>
              </a:r>
              <a:r>
                <a:rPr lang="en-US" sz="820" b="0" dirty="0">
                  <a:solidFill>
                    <a:srgbClr val="F0A98B"/>
                  </a:solidFill>
                  <a:latin typeface="Consolas"/>
                  <a:ea typeface="Consolas"/>
                  <a:cs typeface="Consolas"/>
                </a:rPr>
                <a:t>"B"</a:t>
              </a:r>
              <a:r>
                <a:rPr lang="en-US" sz="820" b="0" dirty="0">
                  <a:solidFill>
                    <a:srgbClr val="E2E8F0"/>
                  </a:solidFill>
                  <a:latin typeface="Consolas"/>
                  <a:ea typeface="Consolas"/>
                  <a:cs typeface="Consolas"/>
                </a:rPr>
                <a:t>)]     </a:t>
              </a:r>
              <a:r>
                <a:rPr lang="en-US" sz="820" b="0" dirty="0">
                  <a:solidFill>
                    <a:srgbClr val="6FAE7A"/>
                  </a:solidFill>
                  <a:latin typeface="Consolas"/>
                  <a:ea typeface="Consolas"/>
                  <a:cs typeface="Consolas"/>
                </a:rPr>
                <a:t>// highest B</a:t>
              </a:r>
              <a:endParaRPr lang="en-US" sz="820" dirty="0"/>
            </a:p>
          </p:txBody>
        </p:sp>
        <p:sp>
          <p:nvSpPr>
            <p:cNvPr id="138" name="tst_L04"/>
            <p:cNvSpPr txBox="1"/>
            <p:nvPr/>
          </p:nvSpPr>
          <p:spPr>
            <a:xfrm>
              <a:off x="5846674" y="287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[InlineData(75, </a:t>
              </a:r>
              <a:r>
                <a:rPr lang="en-US" sz="820" b="0" dirty="0">
                  <a:solidFill>
                    <a:srgbClr val="F0A98B"/>
                  </a:solidFill>
                  <a:latin typeface="Consolas"/>
                  <a:ea typeface="Consolas"/>
                  <a:cs typeface="Consolas"/>
                </a:rPr>
                <a:t>"B"</a:t>
              </a:r>
              <a:r>
                <a:rPr lang="en-US" sz="820" b="0" dirty="0">
                  <a:solidFill>
                    <a:srgbClr val="E2E8F0"/>
                  </a:solidFill>
                  <a:latin typeface="Consolas"/>
                  <a:ea typeface="Consolas"/>
                  <a:cs typeface="Consolas"/>
                </a:rPr>
                <a:t>)]</a:t>
              </a:r>
              <a:endParaRPr lang="en-US" sz="820" dirty="0"/>
            </a:p>
          </p:txBody>
        </p:sp>
        <p:sp>
          <p:nvSpPr>
            <p:cNvPr id="139" name="tst_L05"/>
            <p:cNvSpPr txBox="1"/>
            <p:nvPr/>
          </p:nvSpPr>
          <p:spPr>
            <a:xfrm>
              <a:off x="5846674" y="303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[InlineData(65, </a:t>
              </a:r>
              <a:r>
                <a:rPr lang="en-US" sz="820" b="0" dirty="0">
                  <a:solidFill>
                    <a:srgbClr val="F0A98B"/>
                  </a:solidFill>
                  <a:latin typeface="Consolas"/>
                  <a:ea typeface="Consolas"/>
                  <a:cs typeface="Consolas"/>
                </a:rPr>
                <a:t>"C"</a:t>
              </a:r>
              <a:r>
                <a:rPr lang="en-US" sz="820" b="0" dirty="0">
                  <a:solidFill>
                    <a:srgbClr val="E2E8F0"/>
                  </a:solidFill>
                  <a:latin typeface="Consolas"/>
                  <a:ea typeface="Consolas"/>
                  <a:cs typeface="Consolas"/>
                </a:rPr>
                <a:t>)]</a:t>
              </a:r>
              <a:endParaRPr lang="en-US" sz="820" dirty="0"/>
            </a:p>
          </p:txBody>
        </p:sp>
        <p:sp>
          <p:nvSpPr>
            <p:cNvPr id="140" name="tst_L06"/>
            <p:cNvSpPr txBox="1"/>
            <p:nvPr/>
          </p:nvSpPr>
          <p:spPr>
            <a:xfrm>
              <a:off x="5846674" y="319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[InlineData(50, </a:t>
              </a:r>
              <a:r>
                <a:rPr lang="en-US" sz="820" b="0" dirty="0">
                  <a:solidFill>
                    <a:srgbClr val="F0A98B"/>
                  </a:solidFill>
                  <a:latin typeface="Consolas"/>
                  <a:ea typeface="Consolas"/>
                  <a:cs typeface="Consolas"/>
                </a:rPr>
                <a:t>"D"</a:t>
              </a:r>
              <a:r>
                <a:rPr lang="en-US" sz="820" b="0" dirty="0">
                  <a:solidFill>
                    <a:srgbClr val="E2E8F0"/>
                  </a:solidFill>
                  <a:latin typeface="Consolas"/>
                  <a:ea typeface="Consolas"/>
                  <a:cs typeface="Consolas"/>
                </a:rPr>
                <a:t>)]     </a:t>
              </a:r>
              <a:r>
                <a:rPr lang="en-US" sz="820" b="0" dirty="0">
                  <a:solidFill>
                    <a:srgbClr val="6FAE7A"/>
                  </a:solidFill>
                  <a:latin typeface="Consolas"/>
                  <a:ea typeface="Consolas"/>
                  <a:cs typeface="Consolas"/>
                </a:rPr>
                <a:t>// lowest pass</a:t>
              </a:r>
              <a:endParaRPr lang="en-US" sz="820" dirty="0"/>
            </a:p>
          </p:txBody>
        </p:sp>
        <p:sp>
          <p:nvSpPr>
            <p:cNvPr id="141" name="tst_L07"/>
            <p:cNvSpPr txBox="1"/>
            <p:nvPr/>
          </p:nvSpPr>
          <p:spPr>
            <a:xfrm>
              <a:off x="5846674" y="335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[InlineData(49, </a:t>
              </a:r>
              <a:r>
                <a:rPr lang="en-US" sz="820" b="0" dirty="0">
                  <a:solidFill>
                    <a:srgbClr val="F0A98B"/>
                  </a:solidFill>
                  <a:latin typeface="Consolas"/>
                  <a:ea typeface="Consolas"/>
                  <a:cs typeface="Consolas"/>
                </a:rPr>
                <a:t>"F"</a:t>
              </a:r>
              <a:r>
                <a:rPr lang="en-US" sz="820" b="0" dirty="0">
                  <a:solidFill>
                    <a:srgbClr val="E2E8F0"/>
                  </a:solidFill>
                  <a:latin typeface="Consolas"/>
                  <a:ea typeface="Consolas"/>
                  <a:cs typeface="Consolas"/>
                </a:rPr>
                <a:t>)]</a:t>
              </a:r>
              <a:endParaRPr lang="en-US" sz="820" dirty="0"/>
            </a:p>
          </p:txBody>
        </p:sp>
        <p:sp>
          <p:nvSpPr>
            <p:cNvPr id="142" name="tst_L08"/>
            <p:cNvSpPr txBox="1"/>
            <p:nvPr/>
          </p:nvSpPr>
          <p:spPr>
            <a:xfrm>
              <a:off x="5846674" y="351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void</a:t>
              </a:r>
              <a:r>
                <a:rPr lang="en-US" sz="820" b="0" dirty="0">
                  <a:solidFill>
                    <a:srgbClr val="E2E8F0"/>
                  </a:solidFill>
                  <a:latin typeface="Consolas"/>
                  <a:ea typeface="Consolas"/>
                  <a:cs typeface="Consolas"/>
                </a:rPr>
                <a:t> Grade_ByScore(</a:t>
              </a:r>
              <a:r>
                <a:rPr lang="en-US" sz="820" b="0" dirty="0">
                  <a:solidFill>
                    <a:srgbClr val="60A5FA"/>
                  </a:solidFill>
                  <a:latin typeface="Consolas"/>
                  <a:ea typeface="Consolas"/>
                  <a:cs typeface="Consolas"/>
                </a:rPr>
                <a:t>int</a:t>
              </a:r>
              <a:r>
                <a:rPr lang="en-US" sz="820" b="0" dirty="0">
                  <a:solidFill>
                    <a:srgbClr val="E2E8F0"/>
                  </a:solidFill>
                  <a:latin typeface="Consolas"/>
                  <a:ea typeface="Consolas"/>
                  <a:cs typeface="Consolas"/>
                </a:rPr>
                <a:t> score, </a:t>
              </a:r>
              <a:r>
                <a:rPr lang="en-US" sz="820" b="0" dirty="0">
                  <a:solidFill>
                    <a:srgbClr val="60A5FA"/>
                  </a:solidFill>
                  <a:latin typeface="Consolas"/>
                  <a:ea typeface="Consolas"/>
                  <a:cs typeface="Consolas"/>
                </a:rPr>
                <a:t>string</a:t>
              </a:r>
              <a:r>
                <a:rPr lang="en-US" sz="820" b="0" dirty="0">
                  <a:solidFill>
                    <a:srgbClr val="E2E8F0"/>
                  </a:solidFill>
                  <a:latin typeface="Consolas"/>
                  <a:ea typeface="Consolas"/>
                  <a:cs typeface="Consolas"/>
                </a:rPr>
                <a:t> expected)</a:t>
              </a:r>
              <a:endParaRPr lang="en-US" sz="820" dirty="0"/>
            </a:p>
          </p:txBody>
        </p:sp>
        <p:sp>
          <p:nvSpPr>
            <p:cNvPr id="143" name="tst_L09"/>
            <p:cNvSpPr txBox="1"/>
            <p:nvPr/>
          </p:nvSpPr>
          <p:spPr>
            <a:xfrm>
              <a:off x="5846674" y="367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4" name="tst_L10"/>
            <p:cNvSpPr txBox="1"/>
            <p:nvPr/>
          </p:nvSpPr>
          <p:spPr>
            <a:xfrm>
              <a:off x="5846674" y="3831548"/>
              <a:ext cx="57121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Assert.Equal(expected, GradeCalculator.Grade(score));</a:t>
              </a:r>
              <a:endParaRPr lang="en-US" sz="820" dirty="0"/>
            </a:p>
          </p:txBody>
        </p:sp>
        <p:sp>
          <p:nvSpPr>
            <p:cNvPr id="145" name="tst_L11"/>
            <p:cNvSpPr txBox="1"/>
            <p:nvPr/>
          </p:nvSpPr>
          <p:spPr>
            <a:xfrm>
              <a:off x="5846674" y="399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a:t>
              </a:r>
              <a:endParaRPr lang="en-US" sz="820" dirty="0"/>
            </a:p>
          </p:txBody>
        </p:sp>
        <p:sp>
          <p:nvSpPr>
            <p:cNvPr id="146" name="tst_L13"/>
            <p:cNvSpPr txBox="1"/>
            <p:nvPr/>
          </p:nvSpPr>
          <p:spPr>
            <a:xfrm>
              <a:off x="5846674" y="431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[Theory]</a:t>
              </a:r>
              <a:endParaRPr lang="en-US" sz="820" dirty="0"/>
            </a:p>
          </p:txBody>
        </p:sp>
        <p:sp>
          <p:nvSpPr>
            <p:cNvPr id="147" name="tst_L14"/>
            <p:cNvSpPr txBox="1"/>
            <p:nvPr/>
          </p:nvSpPr>
          <p:spPr>
            <a:xfrm>
              <a:off x="5846674" y="447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[InlineData(-1)]</a:t>
              </a:r>
              <a:endParaRPr lang="en-US" sz="820" dirty="0"/>
            </a:p>
          </p:txBody>
        </p:sp>
        <p:sp>
          <p:nvSpPr>
            <p:cNvPr id="148" name="tst_L15"/>
            <p:cNvSpPr txBox="1"/>
            <p:nvPr/>
          </p:nvSpPr>
          <p:spPr>
            <a:xfrm>
              <a:off x="5846674" y="463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E2E8F0"/>
                  </a:solidFill>
                  <a:latin typeface="Consolas"/>
                  <a:ea typeface="Consolas"/>
                  <a:cs typeface="Consolas"/>
                </a:rPr>
                <a:t>[InlineData(101)]</a:t>
              </a:r>
              <a:endParaRPr lang="en-US" sz="820" dirty="0"/>
            </a:p>
          </p:txBody>
        </p:sp>
        <p:sp>
          <p:nvSpPr>
            <p:cNvPr id="149" name="tst_L16"/>
            <p:cNvSpPr txBox="1"/>
            <p:nvPr/>
          </p:nvSpPr>
          <p:spPr>
            <a:xfrm>
              <a:off x="5846674" y="4791548"/>
              <a:ext cx="57121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20" b="0" dirty="0">
                  <a:solidFill>
                    <a:srgbClr val="60A5FA"/>
                  </a:solidFill>
                  <a:latin typeface="Consolas"/>
                  <a:ea typeface="Consolas"/>
                  <a:cs typeface="Consolas"/>
                </a:rPr>
                <a:t>public</a:t>
              </a:r>
              <a:r>
                <a:rPr lang="en-US" sz="820" b="0" dirty="0">
                  <a:solidFill>
                    <a:srgbClr val="E2E8F0"/>
                  </a:solidFill>
                  <a:latin typeface="Consolas"/>
                  <a:ea typeface="Consolas"/>
                  <a:cs typeface="Consolas"/>
                </a:rPr>
                <a:t> </a:t>
              </a:r>
              <a:r>
                <a:rPr lang="en-US" sz="820" b="0" dirty="0">
                  <a:solidFill>
                    <a:srgbClr val="60A5FA"/>
                  </a:solidFill>
                  <a:latin typeface="Consolas"/>
                  <a:ea typeface="Consolas"/>
                  <a:cs typeface="Consolas"/>
                </a:rPr>
                <a:t>void</a:t>
              </a:r>
              <a:r>
                <a:rPr lang="en-US" sz="820" b="0" dirty="0">
                  <a:solidFill>
                    <a:srgbClr val="E2E8F0"/>
                  </a:solidFill>
                  <a:latin typeface="Consolas"/>
                  <a:ea typeface="Consolas"/>
                  <a:cs typeface="Consolas"/>
                </a:rPr>
                <a:t> Grade_OutOfRange_Throws(</a:t>
              </a:r>
              <a:r>
                <a:rPr lang="en-US" sz="820" b="0" dirty="0">
                  <a:solidFill>
                    <a:srgbClr val="60A5FA"/>
                  </a:solidFill>
                  <a:latin typeface="Consolas"/>
                  <a:ea typeface="Consolas"/>
                  <a:cs typeface="Consolas"/>
                </a:rPr>
                <a:t>int</a:t>
              </a:r>
              <a:r>
                <a:rPr lang="en-US" sz="820" b="0" dirty="0">
                  <a:solidFill>
                    <a:srgbClr val="E2E8F0"/>
                  </a:solidFill>
                  <a:latin typeface="Consolas"/>
                  <a:ea typeface="Consolas"/>
                  <a:cs typeface="Consolas"/>
                </a:rPr>
                <a:t> score) =&gt;</a:t>
              </a:r>
              <a:endParaRPr lang="en-US" sz="820" dirty="0"/>
            </a:p>
          </p:txBody>
        </p:sp>
        <p:sp>
          <p:nvSpPr>
            <p:cNvPr id="150" name="tst_L17"/>
            <p:cNvSpPr txBox="1"/>
            <p:nvPr/>
          </p:nvSpPr>
          <p:spPr>
            <a:xfrm>
              <a:off x="5846674" y="4951548"/>
              <a:ext cx="57121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20" b="0" dirty="0">
                  <a:solidFill>
                    <a:srgbClr val="E2E8F0"/>
                  </a:solidFill>
                  <a:latin typeface="Consolas"/>
                  <a:ea typeface="Consolas"/>
                  <a:cs typeface="Consolas"/>
                </a:rPr>
                <a:t>Assert.Throws&lt;ArgumentOutOfRangeException&gt;(() =&gt; GradeCalculator.Grade(score));</a:t>
              </a:r>
              <a:endParaRPr lang="en-US" sz="820" dirty="0"/>
            </a:p>
          </p:txBody>
        </p:sp>
      </p:grpSp>
      <p:sp>
        <p:nvSpPr>
          <p:cNvPr id="152" name="tst_hl2"/>
          <p:cNvSpPr/>
          <p:nvPr/>
        </p:nvSpPr>
        <p:spPr>
          <a:xfrm>
            <a:off x="5751576" y="2533260"/>
            <a:ext cx="5745180" cy="19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3" name="tst_hl3"/>
          <p:cNvSpPr/>
          <p:nvPr/>
        </p:nvSpPr>
        <p:spPr>
          <a:xfrm>
            <a:off x="5751576" y="2693260"/>
            <a:ext cx="5745180" cy="19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4" name="k"/>
          <p:cNvSpPr/>
          <p:nvPr/>
        </p:nvSpPr>
        <p:spPr>
          <a:xfrm>
            <a:off x="543154" y="5029200"/>
            <a:ext cx="4846320" cy="777240"/>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INPUT + EXPECTED IN EACH ROW</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The rows are a table of the rule: easy to read, easy to extend.</a:t>
            </a:r>
            <a:endParaRPr lang="en-US" sz="1100" dirty="0"/>
          </a:p>
        </p:txBody>
      </p:sp>
    </p:spTree>
    <p:extLst>
      <p:ext uri="{BB962C8B-B14F-4D97-AF65-F5344CB8AC3E}">
        <p14:creationId xmlns:p14="http://schemas.microsoft.com/office/powerpoint/2010/main" val="50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6"/>
                                        </p:tgtEl>
                                        <p:attrNameLst>
                                          <p:attrName>style.visibility</p:attrName>
                                        </p:attrNameLst>
                                      </p:cBhvr>
                                      <p:to>
                                        <p:strVal val="visible"/>
                                      </p:to>
                                    </p:set>
                                    <p:animEffect transition="in" filter="fade">
                                      <p:cBhvr>
                                        <p:cTn id="10" dur="400"/>
                                        <p:tgtEl>
                                          <p:spTgt spid="1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400"/>
                                        <p:tgtEl>
                                          <p:spTgt spid="102"/>
                                        </p:tgtEl>
                                      </p:cBhvr>
                                    </p:animEffect>
                                  </p:childTnLst>
                                </p:cTn>
                              </p:par>
                              <p:par>
                                <p:cTn id="16" presetID="10" presetClass="entr" presetSubtype="0" fill="hold" nodeType="withEffect">
                                  <p:stCondLst>
                                    <p:cond delay="0"/>
                                  </p:stCondLst>
                                  <p:childTnLst>
                                    <p:set>
                                      <p:cBhvr>
                                        <p:cTn id="17" dur="1" fill="hold">
                                          <p:stCondLst>
                                            <p:cond delay="0"/>
                                          </p:stCondLst>
                                        </p:cTn>
                                        <p:tgtEl>
                                          <p:spTgt spid="151"/>
                                        </p:tgtEl>
                                        <p:attrNameLst>
                                          <p:attrName>style.visibility</p:attrName>
                                        </p:attrNameLst>
                                      </p:cBhvr>
                                      <p:to>
                                        <p:strVal val="visible"/>
                                      </p:to>
                                    </p:set>
                                    <p:animEffect transition="in" filter="fade">
                                      <p:cBhvr>
                                        <p:cTn id="18" dur="400"/>
                                        <p:tgtEl>
                                          <p:spTgt spid="15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2"/>
                                        </p:tgtEl>
                                        <p:attrNameLst>
                                          <p:attrName>style.visibility</p:attrName>
                                        </p:attrNameLst>
                                      </p:cBhvr>
                                      <p:to>
                                        <p:strVal val="visible"/>
                                      </p:to>
                                    </p:set>
                                    <p:animEffect transition="in" filter="fade">
                                      <p:cBhvr>
                                        <p:cTn id="21" dur="400"/>
                                        <p:tgtEl>
                                          <p:spTgt spid="15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3"/>
                                        </p:tgtEl>
                                        <p:attrNameLst>
                                          <p:attrName>style.visibility</p:attrName>
                                        </p:attrNameLst>
                                      </p:cBhvr>
                                      <p:to>
                                        <p:strVal val="visible"/>
                                      </p:to>
                                    </p:set>
                                    <p:animEffect transition="in" filter="fade">
                                      <p:cBhvr>
                                        <p:cTn id="24" dur="400"/>
                                        <p:tgtEl>
                                          <p:spTgt spid="15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4"/>
                                        </p:tgtEl>
                                        <p:attrNameLst>
                                          <p:attrName>style.visibility</p:attrName>
                                        </p:attrNameLst>
                                      </p:cBhvr>
                                      <p:to>
                                        <p:strVal val="visible"/>
                                      </p:to>
                                    </p:set>
                                    <p:animEffect transition="in" filter="fade">
                                      <p:cBhvr>
                                        <p:cTn id="29" dur="4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52" grpId="0" animBg="1"/>
      <p:bldP spid="153" grpId="0" animBg="1"/>
      <p:bldP spid="15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MEMBERDATA</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MemberData + TheoryData: Typed Rows, Any Type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114</a:t>
            </a:r>
            <a:endParaRPr lang="en-US" sz="850" dirty="0"/>
          </a:p>
        </p:txBody>
      </p:sp>
      <p:sp>
        <p:nvSpPr>
          <p:cNvPr id="101" name="cl"/>
          <p:cNvSpPr txBox="1"/>
          <p:nvPr/>
        </p:nvSpPr>
        <p:spPr>
          <a:xfrm>
            <a:off x="543154" y="1463040"/>
            <a:ext cx="50749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5846674" y="1463040"/>
            <a:ext cx="57835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19" name="cls"/>
          <p:cNvGrpSpPr/>
          <p:nvPr/>
        </p:nvGrpSpPr>
        <p:grpSpPr>
          <a:xfrm>
            <a:off x="543154" y="1755648"/>
            <a:ext cx="5074920" cy="2143900"/>
            <a:chOff x="543154" y="1755648"/>
            <a:chExt cx="5074920" cy="2143900"/>
          </a:xfrm>
        </p:grpSpPr>
        <p:sp>
          <p:nvSpPr>
            <p:cNvPr id="103" name="cls_win"/>
            <p:cNvSpPr/>
            <p:nvPr/>
          </p:nvSpPr>
          <p:spPr>
            <a:xfrm>
              <a:off x="543154" y="1755648"/>
              <a:ext cx="5074920" cy="2143900"/>
            </a:xfrm>
            <a:prstGeom prst="roundRect">
              <a:avLst>
                <a:gd name="adj" fmla="val 3197"/>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0749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07492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155621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PriceCalculator.cs</a:t>
              </a:r>
              <a:endParaRPr lang="en-US" sz="950" dirty="0"/>
            </a:p>
          </p:txBody>
        </p:sp>
        <p:sp>
          <p:nvSpPr>
            <p:cNvPr id="110" name="cls_L00"/>
            <p:cNvSpPr txBox="1"/>
            <p:nvPr/>
          </p:nvSpPr>
          <p:spPr>
            <a:xfrm>
              <a:off x="771754" y="2231548"/>
              <a:ext cx="477492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static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class</a:t>
              </a:r>
              <a:r>
                <a:rPr lang="en-US" sz="850" b="0" dirty="0">
                  <a:solidFill>
                    <a:srgbClr val="E2E8F0"/>
                  </a:solidFill>
                  <a:latin typeface="Consolas"/>
                  <a:ea typeface="Consolas"/>
                  <a:cs typeface="Consolas"/>
                </a:rPr>
                <a:t> PriceCalculator</a:t>
              </a:r>
              <a:endParaRPr lang="en-US" sz="850" dirty="0"/>
            </a:p>
          </p:txBody>
        </p:sp>
        <p:sp>
          <p:nvSpPr>
            <p:cNvPr id="111" name="cls_L01"/>
            <p:cNvSpPr txBox="1"/>
            <p:nvPr/>
          </p:nvSpPr>
          <p:spPr>
            <a:xfrm>
              <a:off x="771754" y="2403548"/>
              <a:ext cx="477492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12" name="cls_L02"/>
            <p:cNvSpPr txBox="1"/>
            <p:nvPr/>
          </p:nvSpPr>
          <p:spPr>
            <a:xfrm>
              <a:off x="771754" y="2575548"/>
              <a:ext cx="477492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FAE7A"/>
                  </a:solidFill>
                  <a:latin typeface="Consolas"/>
                  <a:ea typeface="Consolas"/>
                  <a:cs typeface="Consolas"/>
                </a:rPr>
                <a:t>// 10% off, but never more than 50 EGP</a:t>
              </a:r>
              <a:endParaRPr lang="en-US" sz="850" dirty="0"/>
            </a:p>
          </p:txBody>
        </p:sp>
        <p:sp>
          <p:nvSpPr>
            <p:cNvPr id="113" name="cls_L03"/>
            <p:cNvSpPr txBox="1"/>
            <p:nvPr/>
          </p:nvSpPr>
          <p:spPr>
            <a:xfrm>
              <a:off x="771754" y="2747548"/>
              <a:ext cx="477492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static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WithDiscount(</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price)</a:t>
              </a:r>
              <a:endParaRPr lang="en-US" sz="850" dirty="0"/>
            </a:p>
          </p:txBody>
        </p:sp>
        <p:sp>
          <p:nvSpPr>
            <p:cNvPr id="114" name="cls_L04"/>
            <p:cNvSpPr txBox="1"/>
            <p:nvPr/>
          </p:nvSpPr>
          <p:spPr>
            <a:xfrm>
              <a:off x="771754" y="2919548"/>
              <a:ext cx="477492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15" name="cls_L05"/>
            <p:cNvSpPr txBox="1"/>
            <p:nvPr/>
          </p:nvSpPr>
          <p:spPr>
            <a:xfrm>
              <a:off x="771754" y="3091548"/>
              <a:ext cx="477492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discount = Math.Min(price * 0.10m, 50m);</a:t>
              </a:r>
              <a:endParaRPr lang="en-US" sz="850" dirty="0"/>
            </a:p>
          </p:txBody>
        </p:sp>
        <p:sp>
          <p:nvSpPr>
            <p:cNvPr id="116" name="cls_L06"/>
            <p:cNvSpPr txBox="1"/>
            <p:nvPr/>
          </p:nvSpPr>
          <p:spPr>
            <a:xfrm>
              <a:off x="771754" y="3263548"/>
              <a:ext cx="477492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60A5FA"/>
                  </a:solidFill>
                  <a:latin typeface="Consolas"/>
                  <a:ea typeface="Consolas"/>
                  <a:cs typeface="Consolas"/>
                </a:rPr>
                <a:t>return</a:t>
              </a:r>
              <a:r>
                <a:rPr lang="en-US" sz="850" b="0" dirty="0">
                  <a:solidFill>
                    <a:srgbClr val="E2E8F0"/>
                  </a:solidFill>
                  <a:latin typeface="Consolas"/>
                  <a:ea typeface="Consolas"/>
                  <a:cs typeface="Consolas"/>
                </a:rPr>
                <a:t> price - discount;</a:t>
              </a:r>
              <a:endParaRPr lang="en-US" sz="850" dirty="0"/>
            </a:p>
          </p:txBody>
        </p:sp>
        <p:sp>
          <p:nvSpPr>
            <p:cNvPr id="117" name="cls_L07"/>
            <p:cNvSpPr txBox="1"/>
            <p:nvPr/>
          </p:nvSpPr>
          <p:spPr>
            <a:xfrm>
              <a:off x="771754" y="3435548"/>
              <a:ext cx="477492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18" name="cls_L08"/>
            <p:cNvSpPr txBox="1"/>
            <p:nvPr/>
          </p:nvSpPr>
          <p:spPr>
            <a:xfrm>
              <a:off x="771754" y="3607548"/>
              <a:ext cx="477492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20" name="cls_hl5"/>
          <p:cNvSpPr/>
          <p:nvPr/>
        </p:nvSpPr>
        <p:spPr>
          <a:xfrm>
            <a:off x="676656" y="3073260"/>
            <a:ext cx="4807920" cy="208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3" name="tst"/>
          <p:cNvGrpSpPr/>
          <p:nvPr/>
        </p:nvGrpSpPr>
        <p:grpSpPr>
          <a:xfrm>
            <a:off x="5846674" y="1755648"/>
            <a:ext cx="5783580" cy="3347900"/>
            <a:chOff x="5846674" y="1755648"/>
            <a:chExt cx="5783580" cy="3347900"/>
          </a:xfrm>
        </p:grpSpPr>
        <p:sp>
          <p:nvSpPr>
            <p:cNvPr id="121" name="tst_win"/>
            <p:cNvSpPr/>
            <p:nvPr/>
          </p:nvSpPr>
          <p:spPr>
            <a:xfrm>
              <a:off x="5846674" y="1755648"/>
              <a:ext cx="5783580" cy="3347900"/>
            </a:xfrm>
            <a:prstGeom prst="roundRect">
              <a:avLst>
                <a:gd name="adj" fmla="val 2047"/>
              </a:avLst>
            </a:prstGeom>
            <a:solidFill>
              <a:srgbClr val="060D18"/>
            </a:solidFill>
            <a:ln w="12700">
              <a:solidFill>
                <a:srgbClr val="1E3A5F"/>
              </a:solidFill>
              <a:prstDash val="solid"/>
            </a:ln>
          </p:spPr>
          <p:txBody>
            <a:bodyPr/>
            <a:lstStyle/>
            <a:p>
              <a:endParaRPr lang="en-US"/>
            </a:p>
          </p:txBody>
        </p:sp>
        <p:sp>
          <p:nvSpPr>
            <p:cNvPr id="122" name="tst_bar"/>
            <p:cNvSpPr/>
            <p:nvPr/>
          </p:nvSpPr>
          <p:spPr>
            <a:xfrm>
              <a:off x="5846674" y="1755648"/>
              <a:ext cx="57835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3" name="tst_barfill"/>
            <p:cNvSpPr/>
            <p:nvPr/>
          </p:nvSpPr>
          <p:spPr>
            <a:xfrm>
              <a:off x="5846674" y="1927098"/>
              <a:ext cx="5783580" cy="171450"/>
            </a:xfrm>
            <a:prstGeom prst="rect">
              <a:avLst/>
            </a:prstGeom>
            <a:solidFill>
              <a:srgbClr val="0A1220"/>
            </a:solidFill>
            <a:ln w="12700">
              <a:solidFill>
                <a:srgbClr val="0A1220"/>
              </a:solidFill>
              <a:prstDash val="solid"/>
            </a:ln>
          </p:spPr>
          <p:txBody>
            <a:bodyPr/>
            <a:lstStyle/>
            <a:p>
              <a:endParaRPr lang="en-US"/>
            </a:p>
          </p:txBody>
        </p:sp>
        <p:sp>
          <p:nvSpPr>
            <p:cNvPr id="124" name="tst_dot0"/>
            <p:cNvSpPr/>
            <p:nvPr/>
          </p:nvSpPr>
          <p:spPr>
            <a:xfrm>
              <a:off x="600852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5" name="tst_dot1"/>
            <p:cNvSpPr/>
            <p:nvPr/>
          </p:nvSpPr>
          <p:spPr>
            <a:xfrm>
              <a:off x="619414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6" name="tst_dot2"/>
            <p:cNvSpPr/>
            <p:nvPr/>
          </p:nvSpPr>
          <p:spPr>
            <a:xfrm>
              <a:off x="637977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7" name="tst_tab"/>
            <p:cNvSpPr/>
            <p:nvPr/>
          </p:nvSpPr>
          <p:spPr>
            <a:xfrm>
              <a:off x="6627571" y="18031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PriceCalculatorTests.cs</a:t>
              </a:r>
              <a:endParaRPr lang="en-US" sz="950" dirty="0"/>
            </a:p>
          </p:txBody>
        </p:sp>
        <p:sp>
          <p:nvSpPr>
            <p:cNvPr id="128" name="tst_L00"/>
            <p:cNvSpPr txBox="1"/>
            <p:nvPr/>
          </p:nvSpPr>
          <p:spPr>
            <a:xfrm>
              <a:off x="6075274" y="2231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static</a:t>
              </a:r>
              <a:r>
                <a:rPr lang="en-US" sz="850" b="0" dirty="0">
                  <a:solidFill>
                    <a:srgbClr val="E2E8F0"/>
                  </a:solidFill>
                  <a:latin typeface="Consolas"/>
                  <a:ea typeface="Consolas"/>
                  <a:cs typeface="Consolas"/>
                </a:rPr>
                <a:t> TheoryData&lt;</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&gt; Prices =&gt;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a:t>
              </a:r>
              <a:endParaRPr lang="en-US" sz="850" dirty="0"/>
            </a:p>
          </p:txBody>
        </p:sp>
        <p:sp>
          <p:nvSpPr>
            <p:cNvPr id="129" name="tst_L01"/>
            <p:cNvSpPr txBox="1"/>
            <p:nvPr/>
          </p:nvSpPr>
          <p:spPr>
            <a:xfrm>
              <a:off x="6075274" y="2403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30" name="tst_L02"/>
            <p:cNvSpPr txBox="1"/>
            <p:nvPr/>
          </p:nvSpPr>
          <p:spPr>
            <a:xfrm>
              <a:off x="6075274" y="2575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 100m, 90m },</a:t>
              </a:r>
              <a:endParaRPr lang="en-US" sz="850" dirty="0"/>
            </a:p>
          </p:txBody>
        </p:sp>
        <p:sp>
          <p:nvSpPr>
            <p:cNvPr id="131" name="tst_L03"/>
            <p:cNvSpPr txBox="1"/>
            <p:nvPr/>
          </p:nvSpPr>
          <p:spPr>
            <a:xfrm>
              <a:off x="6075274" y="2747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 200m, 180m },</a:t>
              </a:r>
              <a:endParaRPr lang="en-US" sz="850" dirty="0"/>
            </a:p>
          </p:txBody>
        </p:sp>
        <p:sp>
          <p:nvSpPr>
            <p:cNvPr id="132" name="tst_L04"/>
            <p:cNvSpPr txBox="1"/>
            <p:nvPr/>
          </p:nvSpPr>
          <p:spPr>
            <a:xfrm>
              <a:off x="6075274" y="2919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 500m, 450m },      </a:t>
              </a:r>
              <a:r>
                <a:rPr lang="en-US" sz="850" b="0" dirty="0">
                  <a:solidFill>
                    <a:srgbClr val="6FAE7A"/>
                  </a:solidFill>
                  <a:latin typeface="Consolas"/>
                  <a:ea typeface="Consolas"/>
                  <a:cs typeface="Consolas"/>
                </a:rPr>
                <a:t>// 10% is exactly the 50 cap</a:t>
              </a:r>
              <a:endParaRPr lang="en-US" sz="850" dirty="0"/>
            </a:p>
          </p:txBody>
        </p:sp>
        <p:sp>
          <p:nvSpPr>
            <p:cNvPr id="133" name="tst_L05"/>
            <p:cNvSpPr txBox="1"/>
            <p:nvPr/>
          </p:nvSpPr>
          <p:spPr>
            <a:xfrm>
              <a:off x="6075274" y="3091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 1000m, 950m },     </a:t>
              </a:r>
              <a:r>
                <a:rPr lang="en-US" sz="850" b="0" dirty="0">
                  <a:solidFill>
                    <a:srgbClr val="6FAE7A"/>
                  </a:solidFill>
                  <a:latin typeface="Consolas"/>
                  <a:ea typeface="Consolas"/>
                  <a:cs typeface="Consolas"/>
                </a:rPr>
                <a:t>// 10% would be 100: capped</a:t>
              </a:r>
              <a:endParaRPr lang="en-US" sz="850" dirty="0"/>
            </a:p>
          </p:txBody>
        </p:sp>
        <p:sp>
          <p:nvSpPr>
            <p:cNvPr id="134" name="tst_L06"/>
            <p:cNvSpPr txBox="1"/>
            <p:nvPr/>
          </p:nvSpPr>
          <p:spPr>
            <a:xfrm>
              <a:off x="6075274" y="3263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 99.90m, 89.91m },</a:t>
              </a:r>
              <a:endParaRPr lang="en-US" sz="850" dirty="0"/>
            </a:p>
          </p:txBody>
        </p:sp>
        <p:sp>
          <p:nvSpPr>
            <p:cNvPr id="135" name="tst_L07"/>
            <p:cNvSpPr txBox="1"/>
            <p:nvPr/>
          </p:nvSpPr>
          <p:spPr>
            <a:xfrm>
              <a:off x="6075274" y="3435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36" name="tst_L09"/>
            <p:cNvSpPr txBox="1"/>
            <p:nvPr/>
          </p:nvSpPr>
          <p:spPr>
            <a:xfrm>
              <a:off x="6075274" y="3779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[Theory]</a:t>
              </a:r>
              <a:endParaRPr lang="en-US" sz="850" dirty="0"/>
            </a:p>
          </p:txBody>
        </p:sp>
        <p:sp>
          <p:nvSpPr>
            <p:cNvPr id="137" name="tst_L10"/>
            <p:cNvSpPr txBox="1"/>
            <p:nvPr/>
          </p:nvSpPr>
          <p:spPr>
            <a:xfrm>
              <a:off x="6075274" y="3951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[MemberData(nameof(Prices))]</a:t>
              </a:r>
              <a:endParaRPr lang="en-US" sz="850" dirty="0"/>
            </a:p>
          </p:txBody>
        </p:sp>
        <p:sp>
          <p:nvSpPr>
            <p:cNvPr id="138" name="tst_L11"/>
            <p:cNvSpPr txBox="1"/>
            <p:nvPr/>
          </p:nvSpPr>
          <p:spPr>
            <a:xfrm>
              <a:off x="6075274" y="4123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void</a:t>
              </a:r>
              <a:r>
                <a:rPr lang="en-US" sz="850" b="0" dirty="0">
                  <a:solidFill>
                    <a:srgbClr val="E2E8F0"/>
                  </a:solidFill>
                  <a:latin typeface="Consolas"/>
                  <a:ea typeface="Consolas"/>
                  <a:cs typeface="Consolas"/>
                </a:rPr>
                <a:t> WithDiscount_TenPercentCappedAt50(</a:t>
              </a:r>
              <a:endParaRPr lang="en-US" sz="850" dirty="0"/>
            </a:p>
          </p:txBody>
        </p:sp>
        <p:sp>
          <p:nvSpPr>
            <p:cNvPr id="139" name="tst_L12"/>
            <p:cNvSpPr txBox="1"/>
            <p:nvPr/>
          </p:nvSpPr>
          <p:spPr>
            <a:xfrm>
              <a:off x="6075274" y="4295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price, </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expected)</a:t>
              </a:r>
              <a:endParaRPr lang="en-US" sz="850" dirty="0"/>
            </a:p>
          </p:txBody>
        </p:sp>
        <p:sp>
          <p:nvSpPr>
            <p:cNvPr id="140" name="tst_L13"/>
            <p:cNvSpPr txBox="1"/>
            <p:nvPr/>
          </p:nvSpPr>
          <p:spPr>
            <a:xfrm>
              <a:off x="6075274" y="4467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41" name="tst_L14"/>
            <p:cNvSpPr txBox="1"/>
            <p:nvPr/>
          </p:nvSpPr>
          <p:spPr>
            <a:xfrm>
              <a:off x="6075274" y="4639548"/>
              <a:ext cx="548358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Assert.Equal(expected, PriceCalculator.WithDiscount(price));</a:t>
              </a:r>
              <a:endParaRPr lang="en-US" sz="850" dirty="0"/>
            </a:p>
          </p:txBody>
        </p:sp>
        <p:sp>
          <p:nvSpPr>
            <p:cNvPr id="142" name="tst_L15"/>
            <p:cNvSpPr txBox="1"/>
            <p:nvPr/>
          </p:nvSpPr>
          <p:spPr>
            <a:xfrm>
              <a:off x="6075274" y="4811548"/>
              <a:ext cx="548358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44" name="tst_hl0"/>
          <p:cNvSpPr/>
          <p:nvPr/>
        </p:nvSpPr>
        <p:spPr>
          <a:xfrm>
            <a:off x="5980176" y="2213260"/>
            <a:ext cx="5516580" cy="208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5" name="tst_hl4"/>
          <p:cNvSpPr/>
          <p:nvPr/>
        </p:nvSpPr>
        <p:spPr>
          <a:xfrm>
            <a:off x="5980176" y="2901260"/>
            <a:ext cx="5516580" cy="20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46" name="tst_hl5"/>
          <p:cNvSpPr/>
          <p:nvPr/>
        </p:nvSpPr>
        <p:spPr>
          <a:xfrm>
            <a:off x="5980176" y="3073260"/>
            <a:ext cx="5516580" cy="20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47" name="tst_hl10"/>
          <p:cNvSpPr/>
          <p:nvPr/>
        </p:nvSpPr>
        <p:spPr>
          <a:xfrm>
            <a:off x="5980176" y="3933260"/>
            <a:ext cx="5516580" cy="20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8" name="r0"/>
          <p:cNvSpPr/>
          <p:nvPr/>
        </p:nvSpPr>
        <p:spPr>
          <a:xfrm>
            <a:off x="543154" y="3931920"/>
            <a:ext cx="5074920" cy="548640"/>
          </a:xfrm>
          <a:prstGeom prst="roundRect">
            <a:avLst>
              <a:gd name="adj" fmla="val 12000"/>
            </a:avLst>
          </a:prstGeom>
          <a:solidFill>
            <a:srgbClr val="111B2E"/>
          </a:solidFill>
          <a:ln w="12700">
            <a:solidFill>
              <a:srgbClr val="13D0F7"/>
            </a:solidFill>
            <a:prstDash val="solid"/>
          </a:ln>
        </p:spPr>
        <p:txBody>
          <a:bodyPr wrap="square" lIns="137160" tIns="0" rIns="91440" bIns="0" rtlCol="0" anchor="ctr">
            <a:noAutofit/>
          </a:bodyPr>
          <a:lstStyle/>
          <a:p>
            <a:pPr marL="0" indent="0" algn="l">
              <a:spcBef>
                <a:spcPts val="0"/>
              </a:spcBef>
              <a:spcAft>
                <a:spcPts val="0"/>
              </a:spcAft>
              <a:buNone/>
            </a:pPr>
            <a:r>
              <a:rPr lang="en-US" sz="1100" b="1" dirty="0">
                <a:solidFill>
                  <a:srgbClr val="13D0F7"/>
                </a:solidFill>
                <a:latin typeface="Consolas"/>
                <a:ea typeface="Consolas"/>
                <a:cs typeface="Consolas"/>
              </a:rPr>
              <a:t>[InlineData]  </a:t>
            </a:r>
            <a:r>
              <a:rPr lang="en-US" sz="1050" b="0" dirty="0">
                <a:solidFill>
                  <a:srgbClr val="CBD5E1"/>
                </a:solidFill>
                <a:latin typeface="Segoe UI"/>
                <a:ea typeface="Segoe UI"/>
                <a:cs typeface="Segoe UI"/>
              </a:rPr>
              <a:t>constants: numbers, strings, bool</a:t>
            </a:r>
            <a:endParaRPr lang="en-US" sz="1100" dirty="0"/>
          </a:p>
        </p:txBody>
      </p:sp>
      <p:sp>
        <p:nvSpPr>
          <p:cNvPr id="149" name="r1"/>
          <p:cNvSpPr/>
          <p:nvPr/>
        </p:nvSpPr>
        <p:spPr>
          <a:xfrm>
            <a:off x="543154" y="4572000"/>
            <a:ext cx="5074920" cy="548640"/>
          </a:xfrm>
          <a:prstGeom prst="roundRect">
            <a:avLst>
              <a:gd name="adj" fmla="val 12000"/>
            </a:avLst>
          </a:prstGeom>
          <a:solidFill>
            <a:srgbClr val="111B2E"/>
          </a:solidFill>
          <a:ln w="12700">
            <a:solidFill>
              <a:srgbClr val="34D399"/>
            </a:solidFill>
            <a:prstDash val="solid"/>
          </a:ln>
        </p:spPr>
        <p:txBody>
          <a:bodyPr wrap="square" lIns="137160" tIns="0" rIns="91440" bIns="0" rtlCol="0" anchor="ctr">
            <a:noAutofit/>
          </a:bodyPr>
          <a:lstStyle/>
          <a:p>
            <a:pPr marL="0" indent="0" algn="l">
              <a:spcBef>
                <a:spcPts val="0"/>
              </a:spcBef>
              <a:spcAft>
                <a:spcPts val="0"/>
              </a:spcAft>
              <a:buNone/>
            </a:pPr>
            <a:r>
              <a:rPr lang="en-US" sz="1100" b="1" dirty="0">
                <a:solidFill>
                  <a:srgbClr val="34D399"/>
                </a:solidFill>
                <a:latin typeface="Consolas"/>
                <a:ea typeface="Consolas"/>
                <a:cs typeface="Consolas"/>
              </a:rPr>
              <a:t>[MemberData]  </a:t>
            </a:r>
            <a:r>
              <a:rPr lang="en-US" sz="1050" b="0" dirty="0">
                <a:solidFill>
                  <a:srgbClr val="CBD5E1"/>
                </a:solidFill>
                <a:latin typeface="Segoe UI"/>
                <a:ea typeface="Segoe UI"/>
                <a:cs typeface="Segoe UI"/>
              </a:rPr>
              <a:t>a static property: decimal, objects, dates</a:t>
            </a:r>
            <a:endParaRPr lang="en-US" sz="1100" dirty="0"/>
          </a:p>
        </p:txBody>
      </p:sp>
      <p:sp>
        <p:nvSpPr>
          <p:cNvPr id="150" name="r2"/>
          <p:cNvSpPr/>
          <p:nvPr/>
        </p:nvSpPr>
        <p:spPr>
          <a:xfrm>
            <a:off x="543154" y="5212080"/>
            <a:ext cx="5074920" cy="548640"/>
          </a:xfrm>
          <a:prstGeom prst="roundRect">
            <a:avLst>
              <a:gd name="adj" fmla="val 12000"/>
            </a:avLst>
          </a:prstGeom>
          <a:solidFill>
            <a:srgbClr val="111B2E"/>
          </a:solidFill>
          <a:ln w="12700">
            <a:solidFill>
              <a:srgbClr val="A78BFA"/>
            </a:solidFill>
            <a:prstDash val="solid"/>
          </a:ln>
        </p:spPr>
        <p:txBody>
          <a:bodyPr wrap="square" lIns="137160" tIns="0" rIns="91440" bIns="0" rtlCol="0" anchor="ctr">
            <a:noAutofit/>
          </a:bodyPr>
          <a:lstStyle/>
          <a:p>
            <a:pPr marL="0" indent="0" algn="l">
              <a:spcBef>
                <a:spcPts val="0"/>
              </a:spcBef>
              <a:spcAft>
                <a:spcPts val="0"/>
              </a:spcAft>
              <a:buNone/>
            </a:pPr>
            <a:r>
              <a:rPr lang="en-US" sz="1100" b="1" dirty="0">
                <a:solidFill>
                  <a:srgbClr val="A78BFA"/>
                </a:solidFill>
                <a:latin typeface="Consolas"/>
                <a:ea typeface="Consolas"/>
                <a:cs typeface="Consolas"/>
              </a:rPr>
              <a:t>[ClassData]  </a:t>
            </a:r>
            <a:r>
              <a:rPr lang="en-US" sz="1050" b="0" dirty="0">
                <a:solidFill>
                  <a:srgbClr val="CBD5E1"/>
                </a:solidFill>
                <a:latin typeface="Segoe UI"/>
                <a:ea typeface="Segoe UI"/>
                <a:cs typeface="Segoe UI"/>
              </a:rPr>
              <a:t>a separate class of rows</a:t>
            </a:r>
            <a:endParaRPr lang="en-US" sz="1100" dirty="0"/>
          </a:p>
        </p:txBody>
      </p:sp>
    </p:spTree>
    <p:extLst>
      <p:ext uri="{BB962C8B-B14F-4D97-AF65-F5344CB8AC3E}">
        <p14:creationId xmlns:p14="http://schemas.microsoft.com/office/powerpoint/2010/main" val="509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2"/>
                                        </p:tgtEl>
                                        <p:attrNameLst>
                                          <p:attrName>style.visibility</p:attrName>
                                        </p:attrNameLst>
                                      </p:cBhvr>
                                      <p:to>
                                        <p:strVal val="visible"/>
                                      </p:to>
                                    </p:set>
                                    <p:animEffect transition="in" filter="fade">
                                      <p:cBhvr>
                                        <p:cTn id="18" dur="400"/>
                                        <p:tgtEl>
                                          <p:spTgt spid="102"/>
                                        </p:tgtEl>
                                      </p:cBhvr>
                                    </p:animEffect>
                                  </p:childTnLst>
                                </p:cTn>
                              </p:par>
                              <p:par>
                                <p:cTn id="19" presetID="10" presetClass="entr" presetSubtype="0" fill="hold" nodeType="withEffect">
                                  <p:stCondLst>
                                    <p:cond delay="0"/>
                                  </p:stCondLst>
                                  <p:childTnLst>
                                    <p:set>
                                      <p:cBhvr>
                                        <p:cTn id="20" dur="1" fill="hold">
                                          <p:stCondLst>
                                            <p:cond delay="0"/>
                                          </p:stCondLst>
                                        </p:cTn>
                                        <p:tgtEl>
                                          <p:spTgt spid="143"/>
                                        </p:tgtEl>
                                        <p:attrNameLst>
                                          <p:attrName>style.visibility</p:attrName>
                                        </p:attrNameLst>
                                      </p:cBhvr>
                                      <p:to>
                                        <p:strVal val="visible"/>
                                      </p:to>
                                    </p:set>
                                    <p:animEffect transition="in" filter="fade">
                                      <p:cBhvr>
                                        <p:cTn id="21" dur="400"/>
                                        <p:tgtEl>
                                          <p:spTgt spid="14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4"/>
                                        </p:tgtEl>
                                        <p:attrNameLst>
                                          <p:attrName>style.visibility</p:attrName>
                                        </p:attrNameLst>
                                      </p:cBhvr>
                                      <p:to>
                                        <p:strVal val="visible"/>
                                      </p:to>
                                    </p:set>
                                    <p:animEffect transition="in" filter="fade">
                                      <p:cBhvr>
                                        <p:cTn id="24" dur="400"/>
                                        <p:tgtEl>
                                          <p:spTgt spid="14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5"/>
                                        </p:tgtEl>
                                        <p:attrNameLst>
                                          <p:attrName>style.visibility</p:attrName>
                                        </p:attrNameLst>
                                      </p:cBhvr>
                                      <p:to>
                                        <p:strVal val="visible"/>
                                      </p:to>
                                    </p:set>
                                    <p:animEffect transition="in" filter="fade">
                                      <p:cBhvr>
                                        <p:cTn id="27" dur="400"/>
                                        <p:tgtEl>
                                          <p:spTgt spid="14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6"/>
                                        </p:tgtEl>
                                        <p:attrNameLst>
                                          <p:attrName>style.visibility</p:attrName>
                                        </p:attrNameLst>
                                      </p:cBhvr>
                                      <p:to>
                                        <p:strVal val="visible"/>
                                      </p:to>
                                    </p:set>
                                    <p:animEffect transition="in" filter="fade">
                                      <p:cBhvr>
                                        <p:cTn id="30" dur="400"/>
                                        <p:tgtEl>
                                          <p:spTgt spid="14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7"/>
                                        </p:tgtEl>
                                        <p:attrNameLst>
                                          <p:attrName>style.visibility</p:attrName>
                                        </p:attrNameLst>
                                      </p:cBhvr>
                                      <p:to>
                                        <p:strVal val="visible"/>
                                      </p:to>
                                    </p:set>
                                    <p:animEffect transition="in" filter="fade">
                                      <p:cBhvr>
                                        <p:cTn id="33" dur="400"/>
                                        <p:tgtEl>
                                          <p:spTgt spid="14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8"/>
                                        </p:tgtEl>
                                        <p:attrNameLst>
                                          <p:attrName>style.visibility</p:attrName>
                                        </p:attrNameLst>
                                      </p:cBhvr>
                                      <p:to>
                                        <p:strVal val="visible"/>
                                      </p:to>
                                    </p:set>
                                    <p:animEffect transition="in" filter="fade">
                                      <p:cBhvr>
                                        <p:cTn id="38" dur="250"/>
                                        <p:tgtEl>
                                          <p:spTgt spid="148"/>
                                        </p:tgtEl>
                                      </p:cBhvr>
                                    </p:animEffect>
                                  </p:childTnLst>
                                </p:cTn>
                              </p:par>
                            </p:childTnLst>
                          </p:cTn>
                        </p:par>
                        <p:par>
                          <p:cTn id="39" fill="hold">
                            <p:stCondLst>
                              <p:cond delay="250"/>
                            </p:stCondLst>
                            <p:childTnLst>
                              <p:par>
                                <p:cTn id="40" presetID="10" presetClass="entr" presetSubtype="0" fill="hold" grpId="0" nodeType="afterEffect">
                                  <p:stCondLst>
                                    <p:cond delay="0"/>
                                  </p:stCondLst>
                                  <p:childTnLst>
                                    <p:set>
                                      <p:cBhvr>
                                        <p:cTn id="41" dur="1" fill="hold">
                                          <p:stCondLst>
                                            <p:cond delay="0"/>
                                          </p:stCondLst>
                                        </p:cTn>
                                        <p:tgtEl>
                                          <p:spTgt spid="149"/>
                                        </p:tgtEl>
                                        <p:attrNameLst>
                                          <p:attrName>style.visibility</p:attrName>
                                        </p:attrNameLst>
                                      </p:cBhvr>
                                      <p:to>
                                        <p:strVal val="visible"/>
                                      </p:to>
                                    </p:set>
                                    <p:animEffect transition="in" filter="fade">
                                      <p:cBhvr>
                                        <p:cTn id="42" dur="250"/>
                                        <p:tgtEl>
                                          <p:spTgt spid="149"/>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50"/>
                                        </p:tgtEl>
                                        <p:attrNameLst>
                                          <p:attrName>style.visibility</p:attrName>
                                        </p:attrNameLst>
                                      </p:cBhvr>
                                      <p:to>
                                        <p:strVal val="visible"/>
                                      </p:to>
                                    </p:set>
                                    <p:animEffect transition="in" filter="fade">
                                      <p:cBhvr>
                                        <p:cTn id="46" dur="25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0" grpId="0" animBg="1"/>
      <p:bldP spid="144" grpId="0" animBg="1"/>
      <p:bldP spid="145" grpId="0" animBg="1"/>
      <p:bldP spid="146" grpId="0" animBg="1"/>
      <p:bldP spid="147" grpId="0" animBg="1"/>
      <p:bldP spid="148" grpId="0" animBg="1"/>
      <p:bldP spid="149" grpId="0" animBg="1"/>
      <p:bldP spid="15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BOUNDARIES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Pick Test Data at the Boundaries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115</a:t>
            </a:r>
            <a:endParaRPr lang="en-US" sz="850" dirty="0"/>
          </a:p>
        </p:txBody>
      </p:sp>
      <p:sp>
        <p:nvSpPr>
          <p:cNvPr id="101" name="bd0"/>
          <p:cNvSpPr/>
          <p:nvPr/>
        </p:nvSpPr>
        <p:spPr>
          <a:xfrm>
            <a:off x="543154" y="1554480"/>
            <a:ext cx="3291840" cy="365760"/>
          </a:xfrm>
          <a:prstGeom prst="roundRect">
            <a:avLst>
              <a:gd name="adj" fmla="val 12000"/>
            </a:avLst>
          </a:prstGeom>
          <a:solidFill>
            <a:srgbClr val="13D0F7">
              <a:alpha val="12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13D0F7"/>
                </a:solidFill>
                <a:latin typeface="Segoe UI"/>
                <a:ea typeface="Segoe UI"/>
                <a:cs typeface="Segoe UI"/>
              </a:rPr>
              <a:t>CHILD  &lt; 12  ·  60 EGP</a:t>
            </a:r>
            <a:endParaRPr lang="en-US" sz="1050" dirty="0"/>
          </a:p>
        </p:txBody>
      </p:sp>
      <p:sp>
        <p:nvSpPr>
          <p:cNvPr id="102" name="bd1"/>
          <p:cNvSpPr/>
          <p:nvPr/>
        </p:nvSpPr>
        <p:spPr>
          <a:xfrm>
            <a:off x="3977640" y="1554480"/>
            <a:ext cx="3931920" cy="365760"/>
          </a:xfrm>
          <a:prstGeom prst="roundRect">
            <a:avLst>
              <a:gd name="adj" fmla="val 12000"/>
            </a:avLst>
          </a:prstGeom>
          <a:solidFill>
            <a:srgbClr val="FBBF24">
              <a:alpha val="12000"/>
            </a:srgbClr>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FBBF24"/>
                </a:solidFill>
                <a:latin typeface="Segoe UI"/>
                <a:ea typeface="Segoe UI"/>
                <a:cs typeface="Segoe UI"/>
              </a:rPr>
              <a:t>ADULT  ·  120 EGP</a:t>
            </a:r>
            <a:endParaRPr lang="en-US" sz="1050" dirty="0"/>
          </a:p>
        </p:txBody>
      </p:sp>
      <p:sp>
        <p:nvSpPr>
          <p:cNvPr id="103" name="bd2"/>
          <p:cNvSpPr/>
          <p:nvPr/>
        </p:nvSpPr>
        <p:spPr>
          <a:xfrm>
            <a:off x="8046720" y="1554480"/>
            <a:ext cx="3583534" cy="365760"/>
          </a:xfrm>
          <a:prstGeom prst="roundRect">
            <a:avLst>
              <a:gd name="adj" fmla="val 12000"/>
            </a:avLst>
          </a:prstGeom>
          <a:solidFill>
            <a:srgbClr val="A78BFA">
              <a:alpha val="12000"/>
            </a:srgbClr>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A78BFA"/>
                </a:solidFill>
                <a:latin typeface="Segoe UI"/>
                <a:ea typeface="Segoe UI"/>
                <a:cs typeface="Segoe UI"/>
              </a:rPr>
              <a:t>SENIOR  ≥ 60  ·  80 EGP</a:t>
            </a:r>
            <a:endParaRPr lang="en-US" sz="1050" dirty="0"/>
          </a:p>
        </p:txBody>
      </p:sp>
      <p:sp>
        <p:nvSpPr>
          <p:cNvPr id="104" name="p0"/>
          <p:cNvSpPr/>
          <p:nvPr/>
        </p:nvSpPr>
        <p:spPr>
          <a:xfrm>
            <a:off x="2907792" y="2103120"/>
            <a:ext cx="768096" cy="45720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13D0F7"/>
                </a:solidFill>
                <a:latin typeface="Consolas"/>
                <a:ea typeface="Consolas"/>
                <a:cs typeface="Consolas"/>
              </a:rPr>
              <a:t>11</a:t>
            </a:r>
            <a:endParaRPr lang="en-US" sz="1400" dirty="0"/>
          </a:p>
        </p:txBody>
      </p:sp>
      <p:sp>
        <p:nvSpPr>
          <p:cNvPr id="105" name="p1"/>
          <p:cNvSpPr/>
          <p:nvPr/>
        </p:nvSpPr>
        <p:spPr>
          <a:xfrm>
            <a:off x="3959352" y="2103120"/>
            <a:ext cx="768096" cy="457200"/>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FBBF24"/>
                </a:solidFill>
                <a:latin typeface="Consolas"/>
                <a:ea typeface="Consolas"/>
                <a:cs typeface="Consolas"/>
              </a:rPr>
              <a:t>12</a:t>
            </a:r>
            <a:endParaRPr lang="en-US" sz="1400" dirty="0"/>
          </a:p>
        </p:txBody>
      </p:sp>
      <p:sp>
        <p:nvSpPr>
          <p:cNvPr id="106" name="p2"/>
          <p:cNvSpPr/>
          <p:nvPr/>
        </p:nvSpPr>
        <p:spPr>
          <a:xfrm>
            <a:off x="7296912" y="2103120"/>
            <a:ext cx="768096" cy="457200"/>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FBBF24"/>
                </a:solidFill>
                <a:latin typeface="Consolas"/>
                <a:ea typeface="Consolas"/>
                <a:cs typeface="Consolas"/>
              </a:rPr>
              <a:t>59</a:t>
            </a:r>
            <a:endParaRPr lang="en-US" sz="1400" dirty="0"/>
          </a:p>
        </p:txBody>
      </p:sp>
      <p:sp>
        <p:nvSpPr>
          <p:cNvPr id="107" name="p3"/>
          <p:cNvSpPr/>
          <p:nvPr/>
        </p:nvSpPr>
        <p:spPr>
          <a:xfrm>
            <a:off x="8348472" y="2103120"/>
            <a:ext cx="768096" cy="457200"/>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400" b="1" dirty="0">
                <a:solidFill>
                  <a:srgbClr val="A78BFA"/>
                </a:solidFill>
                <a:latin typeface="Consolas"/>
                <a:ea typeface="Consolas"/>
                <a:cs typeface="Consolas"/>
              </a:rPr>
              <a:t>60</a:t>
            </a:r>
            <a:endParaRPr lang="en-US" sz="1400" dirty="0"/>
          </a:p>
        </p:txBody>
      </p:sp>
      <p:sp>
        <p:nvSpPr>
          <p:cNvPr id="108" name="cl"/>
          <p:cNvSpPr txBox="1"/>
          <p:nvPr/>
        </p:nvSpPr>
        <p:spPr>
          <a:xfrm>
            <a:off x="543154" y="2679192"/>
            <a:ext cx="5486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9" name="tl"/>
          <p:cNvSpPr txBox="1"/>
          <p:nvPr/>
        </p:nvSpPr>
        <p:spPr>
          <a:xfrm>
            <a:off x="6258154" y="2679192"/>
            <a:ext cx="5372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7" name="cls"/>
          <p:cNvGrpSpPr/>
          <p:nvPr/>
        </p:nvGrpSpPr>
        <p:grpSpPr>
          <a:xfrm>
            <a:off x="543154" y="2971800"/>
            <a:ext cx="5486400" cy="2315900"/>
            <a:chOff x="543154" y="2971800"/>
            <a:chExt cx="5486400" cy="2315900"/>
          </a:xfrm>
        </p:grpSpPr>
        <p:sp>
          <p:nvSpPr>
            <p:cNvPr id="110" name="cls_win"/>
            <p:cNvSpPr/>
            <p:nvPr/>
          </p:nvSpPr>
          <p:spPr>
            <a:xfrm>
              <a:off x="543154" y="2971800"/>
              <a:ext cx="5486400" cy="2315900"/>
            </a:xfrm>
            <a:prstGeom prst="roundRect">
              <a:avLst>
                <a:gd name="adj" fmla="val 2960"/>
              </a:avLst>
            </a:prstGeom>
            <a:solidFill>
              <a:srgbClr val="060D18"/>
            </a:solidFill>
            <a:ln w="12700">
              <a:solidFill>
                <a:srgbClr val="1E3A5F"/>
              </a:solidFill>
              <a:prstDash val="solid"/>
            </a:ln>
          </p:spPr>
          <p:txBody>
            <a:bodyPr/>
            <a:lstStyle/>
            <a:p>
              <a:endParaRPr lang="en-US"/>
            </a:p>
          </p:txBody>
        </p:sp>
        <p:sp>
          <p:nvSpPr>
            <p:cNvPr id="111" name="cls_bar"/>
            <p:cNvSpPr/>
            <p:nvPr/>
          </p:nvSpPr>
          <p:spPr>
            <a:xfrm>
              <a:off x="543154" y="2971800"/>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2" name="cls_barfill"/>
            <p:cNvSpPr/>
            <p:nvPr/>
          </p:nvSpPr>
          <p:spPr>
            <a:xfrm>
              <a:off x="543154" y="3143250"/>
              <a:ext cx="5486400" cy="171450"/>
            </a:xfrm>
            <a:prstGeom prst="rect">
              <a:avLst/>
            </a:prstGeom>
            <a:solidFill>
              <a:srgbClr val="0A1220"/>
            </a:solidFill>
            <a:ln w="12700">
              <a:solidFill>
                <a:srgbClr val="0A1220"/>
              </a:solidFill>
              <a:prstDash val="solid"/>
            </a:ln>
          </p:spPr>
          <p:txBody>
            <a:bodyPr/>
            <a:lstStyle/>
            <a:p>
              <a:endParaRPr lang="en-US"/>
            </a:p>
          </p:txBody>
        </p:sp>
        <p:sp>
          <p:nvSpPr>
            <p:cNvPr id="113" name="cls_dot0"/>
            <p:cNvSpPr/>
            <p:nvPr/>
          </p:nvSpPr>
          <p:spPr>
            <a:xfrm>
              <a:off x="705002" y="3095610"/>
              <a:ext cx="95098" cy="95098"/>
            </a:xfrm>
            <a:prstGeom prst="ellipse">
              <a:avLst/>
            </a:prstGeom>
            <a:solidFill>
              <a:srgbClr val="F87171"/>
            </a:solidFill>
            <a:ln w="12700">
              <a:solidFill>
                <a:srgbClr val="F87171"/>
              </a:solidFill>
              <a:prstDash val="solid"/>
            </a:ln>
          </p:spPr>
          <p:txBody>
            <a:bodyPr/>
            <a:lstStyle/>
            <a:p>
              <a:endParaRPr lang="en-US"/>
            </a:p>
          </p:txBody>
        </p:sp>
        <p:sp>
          <p:nvSpPr>
            <p:cNvPr id="114" name="cls_dot1"/>
            <p:cNvSpPr/>
            <p:nvPr/>
          </p:nvSpPr>
          <p:spPr>
            <a:xfrm>
              <a:off x="890626" y="3095610"/>
              <a:ext cx="95098" cy="95098"/>
            </a:xfrm>
            <a:prstGeom prst="ellipse">
              <a:avLst/>
            </a:prstGeom>
            <a:solidFill>
              <a:srgbClr val="FBBF24"/>
            </a:solidFill>
            <a:ln w="12700">
              <a:solidFill>
                <a:srgbClr val="FBBF24"/>
              </a:solidFill>
              <a:prstDash val="solid"/>
            </a:ln>
          </p:spPr>
          <p:txBody>
            <a:bodyPr/>
            <a:lstStyle/>
            <a:p>
              <a:endParaRPr lang="en-US"/>
            </a:p>
          </p:txBody>
        </p:sp>
        <p:sp>
          <p:nvSpPr>
            <p:cNvPr id="115" name="cls_dot2"/>
            <p:cNvSpPr/>
            <p:nvPr/>
          </p:nvSpPr>
          <p:spPr>
            <a:xfrm>
              <a:off x="1076250" y="3095610"/>
              <a:ext cx="95098" cy="95098"/>
            </a:xfrm>
            <a:prstGeom prst="ellipse">
              <a:avLst/>
            </a:prstGeom>
            <a:solidFill>
              <a:srgbClr val="34D399"/>
            </a:solidFill>
            <a:ln w="12700">
              <a:solidFill>
                <a:srgbClr val="34D399"/>
              </a:solidFill>
              <a:prstDash val="solid"/>
            </a:ln>
          </p:spPr>
          <p:txBody>
            <a:bodyPr/>
            <a:lstStyle/>
            <a:p>
              <a:endParaRPr lang="en-US"/>
            </a:p>
          </p:txBody>
        </p:sp>
        <p:sp>
          <p:nvSpPr>
            <p:cNvPr id="116" name="cls_tab"/>
            <p:cNvSpPr/>
            <p:nvPr/>
          </p:nvSpPr>
          <p:spPr>
            <a:xfrm>
              <a:off x="1324051" y="3019349"/>
              <a:ext cx="135184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TicketPricer.cs</a:t>
              </a:r>
              <a:endParaRPr lang="en-US" sz="950" dirty="0"/>
            </a:p>
          </p:txBody>
        </p:sp>
        <p:sp>
          <p:nvSpPr>
            <p:cNvPr id="117" name="cls_L00"/>
            <p:cNvSpPr txBox="1"/>
            <p:nvPr/>
          </p:nvSpPr>
          <p:spPr>
            <a:xfrm>
              <a:off x="771754" y="3447700"/>
              <a:ext cx="51864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static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class</a:t>
              </a:r>
              <a:r>
                <a:rPr lang="en-US" sz="850" b="0" dirty="0">
                  <a:solidFill>
                    <a:srgbClr val="E2E8F0"/>
                  </a:solidFill>
                  <a:latin typeface="Consolas"/>
                  <a:ea typeface="Consolas"/>
                  <a:cs typeface="Consolas"/>
                </a:rPr>
                <a:t> TicketPricer</a:t>
              </a:r>
              <a:endParaRPr lang="en-US" sz="850" dirty="0"/>
            </a:p>
          </p:txBody>
        </p:sp>
        <p:sp>
          <p:nvSpPr>
            <p:cNvPr id="118" name="cls_L01"/>
            <p:cNvSpPr txBox="1"/>
            <p:nvPr/>
          </p:nvSpPr>
          <p:spPr>
            <a:xfrm>
              <a:off x="771754" y="3619700"/>
              <a:ext cx="51864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19" name="cls_L02"/>
            <p:cNvSpPr txBox="1"/>
            <p:nvPr/>
          </p:nvSpPr>
          <p:spPr>
            <a:xfrm>
              <a:off x="771754" y="3791700"/>
              <a:ext cx="51864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static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decimal</a:t>
              </a:r>
              <a:r>
                <a:rPr lang="en-US" sz="850" b="0" dirty="0">
                  <a:solidFill>
                    <a:srgbClr val="E2E8F0"/>
                  </a:solidFill>
                  <a:latin typeface="Consolas"/>
                  <a:ea typeface="Consolas"/>
                  <a:cs typeface="Consolas"/>
                </a:rPr>
                <a:t> PriceFor(</a:t>
              </a:r>
              <a:r>
                <a:rPr lang="en-US" sz="850" b="0" dirty="0">
                  <a:solidFill>
                    <a:srgbClr val="60A5FA"/>
                  </a:solidFill>
                  <a:latin typeface="Consolas"/>
                  <a:ea typeface="Consolas"/>
                  <a:cs typeface="Consolas"/>
                </a:rPr>
                <a:t>int</a:t>
              </a:r>
              <a:r>
                <a:rPr lang="en-US" sz="850" b="0" dirty="0">
                  <a:solidFill>
                    <a:srgbClr val="E2E8F0"/>
                  </a:solidFill>
                  <a:latin typeface="Consolas"/>
                  <a:ea typeface="Consolas"/>
                  <a:cs typeface="Consolas"/>
                </a:rPr>
                <a:t> age) =&gt; age </a:t>
              </a:r>
              <a:r>
                <a:rPr lang="en-US" sz="850" b="0" dirty="0">
                  <a:solidFill>
                    <a:srgbClr val="60A5FA"/>
                  </a:solidFill>
                  <a:latin typeface="Consolas"/>
                  <a:ea typeface="Consolas"/>
                  <a:cs typeface="Consolas"/>
                </a:rPr>
                <a:t>switch</a:t>
              </a:r>
              <a:endParaRPr lang="en-US" sz="850" dirty="0"/>
            </a:p>
          </p:txBody>
        </p:sp>
        <p:sp>
          <p:nvSpPr>
            <p:cNvPr id="120" name="cls_L03"/>
            <p:cNvSpPr txBox="1"/>
            <p:nvPr/>
          </p:nvSpPr>
          <p:spPr>
            <a:xfrm>
              <a:off x="771754" y="3963700"/>
              <a:ext cx="51864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21" name="cls_L04"/>
            <p:cNvSpPr txBox="1"/>
            <p:nvPr/>
          </p:nvSpPr>
          <p:spPr>
            <a:xfrm>
              <a:off x="771754" y="4135700"/>
              <a:ext cx="518640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&lt; 0   =&gt; </a:t>
              </a:r>
              <a:r>
                <a:rPr lang="en-US" sz="850" b="0" dirty="0">
                  <a:solidFill>
                    <a:srgbClr val="60A5FA"/>
                  </a:solidFill>
                  <a:latin typeface="Consolas"/>
                  <a:ea typeface="Consolas"/>
                  <a:cs typeface="Consolas"/>
                </a:rPr>
                <a:t>throw</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new</a:t>
              </a:r>
              <a:r>
                <a:rPr lang="en-US" sz="850" b="0" dirty="0">
                  <a:solidFill>
                    <a:srgbClr val="E2E8F0"/>
                  </a:solidFill>
                  <a:latin typeface="Consolas"/>
                  <a:ea typeface="Consolas"/>
                  <a:cs typeface="Consolas"/>
                </a:rPr>
                <a:t> ArgumentOutOfRangeException(nameof(age)),</a:t>
              </a:r>
              <a:endParaRPr lang="en-US" sz="850" dirty="0"/>
            </a:p>
          </p:txBody>
        </p:sp>
        <p:sp>
          <p:nvSpPr>
            <p:cNvPr id="122" name="cls_L05"/>
            <p:cNvSpPr txBox="1"/>
            <p:nvPr/>
          </p:nvSpPr>
          <p:spPr>
            <a:xfrm>
              <a:off x="771754" y="4307700"/>
              <a:ext cx="518640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&lt; 12  =&gt; 60m,      </a:t>
              </a:r>
              <a:r>
                <a:rPr lang="en-US" sz="850" b="0" dirty="0">
                  <a:solidFill>
                    <a:srgbClr val="6FAE7A"/>
                  </a:solidFill>
                  <a:latin typeface="Consolas"/>
                  <a:ea typeface="Consolas"/>
                  <a:cs typeface="Consolas"/>
                </a:rPr>
                <a:t>// child</a:t>
              </a:r>
              <a:endParaRPr lang="en-US" sz="850" dirty="0"/>
            </a:p>
          </p:txBody>
        </p:sp>
        <p:sp>
          <p:nvSpPr>
            <p:cNvPr id="123" name="cls_L06"/>
            <p:cNvSpPr txBox="1"/>
            <p:nvPr/>
          </p:nvSpPr>
          <p:spPr>
            <a:xfrm>
              <a:off x="771754" y="4479700"/>
              <a:ext cx="518640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&gt;= 60 =&gt; 80m,      </a:t>
              </a:r>
              <a:r>
                <a:rPr lang="en-US" sz="850" b="0" dirty="0">
                  <a:solidFill>
                    <a:srgbClr val="6FAE7A"/>
                  </a:solidFill>
                  <a:latin typeface="Consolas"/>
                  <a:ea typeface="Consolas"/>
                  <a:cs typeface="Consolas"/>
                </a:rPr>
                <a:t>// senior</a:t>
              </a:r>
              <a:endParaRPr lang="en-US" sz="850" dirty="0"/>
            </a:p>
          </p:txBody>
        </p:sp>
        <p:sp>
          <p:nvSpPr>
            <p:cNvPr id="124" name="cls_L07"/>
            <p:cNvSpPr txBox="1"/>
            <p:nvPr/>
          </p:nvSpPr>
          <p:spPr>
            <a:xfrm>
              <a:off x="771754" y="4651700"/>
              <a:ext cx="518640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50" b="0" dirty="0">
                  <a:solidFill>
                    <a:srgbClr val="E2E8F0"/>
                  </a:solidFill>
                  <a:latin typeface="Consolas"/>
                  <a:ea typeface="Consolas"/>
                  <a:cs typeface="Consolas"/>
                </a:rPr>
                <a:t>_     =&gt; 120m,     </a:t>
              </a:r>
              <a:r>
                <a:rPr lang="en-US" sz="850" b="0" dirty="0">
                  <a:solidFill>
                    <a:srgbClr val="6FAE7A"/>
                  </a:solidFill>
                  <a:latin typeface="Consolas"/>
                  <a:ea typeface="Consolas"/>
                  <a:cs typeface="Consolas"/>
                </a:rPr>
                <a:t>// adult</a:t>
              </a:r>
              <a:endParaRPr lang="en-US" sz="850" dirty="0"/>
            </a:p>
          </p:txBody>
        </p:sp>
        <p:sp>
          <p:nvSpPr>
            <p:cNvPr id="125" name="cls_L08"/>
            <p:cNvSpPr txBox="1"/>
            <p:nvPr/>
          </p:nvSpPr>
          <p:spPr>
            <a:xfrm>
              <a:off x="771754" y="4823700"/>
              <a:ext cx="51864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26" name="cls_L09"/>
            <p:cNvSpPr txBox="1"/>
            <p:nvPr/>
          </p:nvSpPr>
          <p:spPr>
            <a:xfrm>
              <a:off x="771754" y="4995700"/>
              <a:ext cx="51864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28" name="cls_hl5"/>
          <p:cNvSpPr/>
          <p:nvPr/>
        </p:nvSpPr>
        <p:spPr>
          <a:xfrm>
            <a:off x="676656" y="4289412"/>
            <a:ext cx="5219400" cy="20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9" name="cls_hl6"/>
          <p:cNvSpPr/>
          <p:nvPr/>
        </p:nvSpPr>
        <p:spPr>
          <a:xfrm>
            <a:off x="676656" y="4461412"/>
            <a:ext cx="5219400" cy="208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6" name="tst"/>
          <p:cNvGrpSpPr/>
          <p:nvPr/>
        </p:nvGrpSpPr>
        <p:grpSpPr>
          <a:xfrm>
            <a:off x="6258154" y="2971800"/>
            <a:ext cx="5372100" cy="2143900"/>
            <a:chOff x="6258154" y="2971800"/>
            <a:chExt cx="5372100" cy="2143900"/>
          </a:xfrm>
        </p:grpSpPr>
        <p:sp>
          <p:nvSpPr>
            <p:cNvPr id="130" name="tst_win"/>
            <p:cNvSpPr/>
            <p:nvPr/>
          </p:nvSpPr>
          <p:spPr>
            <a:xfrm>
              <a:off x="6258154" y="2971800"/>
              <a:ext cx="5372100" cy="2143900"/>
            </a:xfrm>
            <a:prstGeom prst="roundRect">
              <a:avLst>
                <a:gd name="adj" fmla="val 3197"/>
              </a:avLst>
            </a:prstGeom>
            <a:solidFill>
              <a:srgbClr val="060D18"/>
            </a:solidFill>
            <a:ln w="12700">
              <a:solidFill>
                <a:srgbClr val="1E3A5F"/>
              </a:solidFill>
              <a:prstDash val="solid"/>
            </a:ln>
          </p:spPr>
          <p:txBody>
            <a:bodyPr/>
            <a:lstStyle/>
            <a:p>
              <a:endParaRPr lang="en-US"/>
            </a:p>
          </p:txBody>
        </p:sp>
        <p:sp>
          <p:nvSpPr>
            <p:cNvPr id="131" name="tst_bar"/>
            <p:cNvSpPr/>
            <p:nvPr/>
          </p:nvSpPr>
          <p:spPr>
            <a:xfrm>
              <a:off x="6258154" y="2971800"/>
              <a:ext cx="5372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2" name="tst_barfill"/>
            <p:cNvSpPr/>
            <p:nvPr/>
          </p:nvSpPr>
          <p:spPr>
            <a:xfrm>
              <a:off x="6258154" y="3143250"/>
              <a:ext cx="5372100" cy="171450"/>
            </a:xfrm>
            <a:prstGeom prst="rect">
              <a:avLst/>
            </a:prstGeom>
            <a:solidFill>
              <a:srgbClr val="0A1220"/>
            </a:solidFill>
            <a:ln w="12700">
              <a:solidFill>
                <a:srgbClr val="0A1220"/>
              </a:solidFill>
              <a:prstDash val="solid"/>
            </a:ln>
          </p:spPr>
          <p:txBody>
            <a:bodyPr/>
            <a:lstStyle/>
            <a:p>
              <a:endParaRPr lang="en-US"/>
            </a:p>
          </p:txBody>
        </p:sp>
        <p:sp>
          <p:nvSpPr>
            <p:cNvPr id="133" name="tst_dot0"/>
            <p:cNvSpPr/>
            <p:nvPr/>
          </p:nvSpPr>
          <p:spPr>
            <a:xfrm>
              <a:off x="6420002" y="3095610"/>
              <a:ext cx="95098" cy="95098"/>
            </a:xfrm>
            <a:prstGeom prst="ellipse">
              <a:avLst/>
            </a:prstGeom>
            <a:solidFill>
              <a:srgbClr val="F87171"/>
            </a:solidFill>
            <a:ln w="12700">
              <a:solidFill>
                <a:srgbClr val="F87171"/>
              </a:solidFill>
              <a:prstDash val="solid"/>
            </a:ln>
          </p:spPr>
          <p:txBody>
            <a:bodyPr/>
            <a:lstStyle/>
            <a:p>
              <a:endParaRPr lang="en-US"/>
            </a:p>
          </p:txBody>
        </p:sp>
        <p:sp>
          <p:nvSpPr>
            <p:cNvPr id="134" name="tst_dot1"/>
            <p:cNvSpPr/>
            <p:nvPr/>
          </p:nvSpPr>
          <p:spPr>
            <a:xfrm>
              <a:off x="6605626" y="3095610"/>
              <a:ext cx="95098" cy="95098"/>
            </a:xfrm>
            <a:prstGeom prst="ellipse">
              <a:avLst/>
            </a:prstGeom>
            <a:solidFill>
              <a:srgbClr val="FBBF24"/>
            </a:solidFill>
            <a:ln w="12700">
              <a:solidFill>
                <a:srgbClr val="FBBF24"/>
              </a:solidFill>
              <a:prstDash val="solid"/>
            </a:ln>
          </p:spPr>
          <p:txBody>
            <a:bodyPr/>
            <a:lstStyle/>
            <a:p>
              <a:endParaRPr lang="en-US"/>
            </a:p>
          </p:txBody>
        </p:sp>
        <p:sp>
          <p:nvSpPr>
            <p:cNvPr id="135" name="tst_dot2"/>
            <p:cNvSpPr/>
            <p:nvPr/>
          </p:nvSpPr>
          <p:spPr>
            <a:xfrm>
              <a:off x="6791250" y="3095610"/>
              <a:ext cx="95098" cy="95098"/>
            </a:xfrm>
            <a:prstGeom prst="ellipse">
              <a:avLst/>
            </a:prstGeom>
            <a:solidFill>
              <a:srgbClr val="34D399"/>
            </a:solidFill>
            <a:ln w="12700">
              <a:solidFill>
                <a:srgbClr val="34D399"/>
              </a:solidFill>
              <a:prstDash val="solid"/>
            </a:ln>
          </p:spPr>
          <p:txBody>
            <a:bodyPr/>
            <a:lstStyle/>
            <a:p>
              <a:endParaRPr lang="en-US"/>
            </a:p>
          </p:txBody>
        </p:sp>
        <p:sp>
          <p:nvSpPr>
            <p:cNvPr id="136" name="tst_tab"/>
            <p:cNvSpPr/>
            <p:nvPr/>
          </p:nvSpPr>
          <p:spPr>
            <a:xfrm>
              <a:off x="7039051" y="3019349"/>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TicketPricerTests.cs</a:t>
              </a:r>
              <a:endParaRPr lang="en-US" sz="950" dirty="0"/>
            </a:p>
          </p:txBody>
        </p:sp>
        <p:sp>
          <p:nvSpPr>
            <p:cNvPr id="137" name="tst_L00"/>
            <p:cNvSpPr txBox="1"/>
            <p:nvPr/>
          </p:nvSpPr>
          <p:spPr>
            <a:xfrm>
              <a:off x="6486754" y="3447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[Theory]</a:t>
              </a:r>
              <a:endParaRPr lang="en-US" sz="850" dirty="0"/>
            </a:p>
          </p:txBody>
        </p:sp>
        <p:sp>
          <p:nvSpPr>
            <p:cNvPr id="138" name="tst_L01"/>
            <p:cNvSpPr txBox="1"/>
            <p:nvPr/>
          </p:nvSpPr>
          <p:spPr>
            <a:xfrm>
              <a:off x="6486754" y="3619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[InlineData(11, 60)]     </a:t>
              </a:r>
              <a:r>
                <a:rPr lang="en-US" sz="850" b="0" dirty="0">
                  <a:solidFill>
                    <a:srgbClr val="6FAE7A"/>
                  </a:solidFill>
                  <a:latin typeface="Consolas"/>
                  <a:ea typeface="Consolas"/>
                  <a:cs typeface="Consolas"/>
                </a:rPr>
                <a:t>// last child age</a:t>
              </a:r>
              <a:endParaRPr lang="en-US" sz="850" dirty="0"/>
            </a:p>
          </p:txBody>
        </p:sp>
        <p:sp>
          <p:nvSpPr>
            <p:cNvPr id="139" name="tst_L02"/>
            <p:cNvSpPr txBox="1"/>
            <p:nvPr/>
          </p:nvSpPr>
          <p:spPr>
            <a:xfrm>
              <a:off x="6486754" y="3791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[InlineData(12, 120)]    </a:t>
              </a:r>
              <a:r>
                <a:rPr lang="en-US" sz="850" b="0" dirty="0">
                  <a:solidFill>
                    <a:srgbClr val="6FAE7A"/>
                  </a:solidFill>
                  <a:latin typeface="Consolas"/>
                  <a:ea typeface="Consolas"/>
                  <a:cs typeface="Consolas"/>
                </a:rPr>
                <a:t>// first adult age</a:t>
              </a:r>
              <a:endParaRPr lang="en-US" sz="850" dirty="0"/>
            </a:p>
          </p:txBody>
        </p:sp>
        <p:sp>
          <p:nvSpPr>
            <p:cNvPr id="140" name="tst_L03"/>
            <p:cNvSpPr txBox="1"/>
            <p:nvPr/>
          </p:nvSpPr>
          <p:spPr>
            <a:xfrm>
              <a:off x="6486754" y="3963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[InlineData(59, 120)]    </a:t>
              </a:r>
              <a:r>
                <a:rPr lang="en-US" sz="850" b="0" dirty="0">
                  <a:solidFill>
                    <a:srgbClr val="6FAE7A"/>
                  </a:solidFill>
                  <a:latin typeface="Consolas"/>
                  <a:ea typeface="Consolas"/>
                  <a:cs typeface="Consolas"/>
                </a:rPr>
                <a:t>// last adult age</a:t>
              </a:r>
              <a:endParaRPr lang="en-US" sz="850" dirty="0"/>
            </a:p>
          </p:txBody>
        </p:sp>
        <p:sp>
          <p:nvSpPr>
            <p:cNvPr id="141" name="tst_L04"/>
            <p:cNvSpPr txBox="1"/>
            <p:nvPr/>
          </p:nvSpPr>
          <p:spPr>
            <a:xfrm>
              <a:off x="6486754" y="4135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[InlineData(60, 80)]     </a:t>
              </a:r>
              <a:r>
                <a:rPr lang="en-US" sz="850" b="0" dirty="0">
                  <a:solidFill>
                    <a:srgbClr val="6FAE7A"/>
                  </a:solidFill>
                  <a:latin typeface="Consolas"/>
                  <a:ea typeface="Consolas"/>
                  <a:cs typeface="Consolas"/>
                </a:rPr>
                <a:t>// first senior age</a:t>
              </a:r>
              <a:endParaRPr lang="en-US" sz="850" dirty="0"/>
            </a:p>
          </p:txBody>
        </p:sp>
        <p:sp>
          <p:nvSpPr>
            <p:cNvPr id="142" name="tst_L05"/>
            <p:cNvSpPr txBox="1"/>
            <p:nvPr/>
          </p:nvSpPr>
          <p:spPr>
            <a:xfrm>
              <a:off x="6486754" y="4307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60A5FA"/>
                  </a:solidFill>
                  <a:latin typeface="Consolas"/>
                  <a:ea typeface="Consolas"/>
                  <a:cs typeface="Consolas"/>
                </a:rPr>
                <a:t>public</a:t>
              </a:r>
              <a:r>
                <a:rPr lang="en-US" sz="850" b="0" dirty="0">
                  <a:solidFill>
                    <a:srgbClr val="E2E8F0"/>
                  </a:solidFill>
                  <a:latin typeface="Consolas"/>
                  <a:ea typeface="Consolas"/>
                  <a:cs typeface="Consolas"/>
                </a:rPr>
                <a:t> </a:t>
              </a:r>
              <a:r>
                <a:rPr lang="en-US" sz="850" b="0" dirty="0">
                  <a:solidFill>
                    <a:srgbClr val="60A5FA"/>
                  </a:solidFill>
                  <a:latin typeface="Consolas"/>
                  <a:ea typeface="Consolas"/>
                  <a:cs typeface="Consolas"/>
                </a:rPr>
                <a:t>void</a:t>
              </a:r>
              <a:r>
                <a:rPr lang="en-US" sz="850" b="0" dirty="0">
                  <a:solidFill>
                    <a:srgbClr val="E2E8F0"/>
                  </a:solidFill>
                  <a:latin typeface="Consolas"/>
                  <a:ea typeface="Consolas"/>
                  <a:cs typeface="Consolas"/>
                </a:rPr>
                <a:t> PriceFor_AtTheBoundaries(</a:t>
              </a:r>
              <a:r>
                <a:rPr lang="en-US" sz="850" b="0" dirty="0">
                  <a:solidFill>
                    <a:srgbClr val="60A5FA"/>
                  </a:solidFill>
                  <a:latin typeface="Consolas"/>
                  <a:ea typeface="Consolas"/>
                  <a:cs typeface="Consolas"/>
                </a:rPr>
                <a:t>int</a:t>
              </a:r>
              <a:r>
                <a:rPr lang="en-US" sz="850" b="0" dirty="0">
                  <a:solidFill>
                    <a:srgbClr val="E2E8F0"/>
                  </a:solidFill>
                  <a:latin typeface="Consolas"/>
                  <a:ea typeface="Consolas"/>
                  <a:cs typeface="Consolas"/>
                </a:rPr>
                <a:t> age, </a:t>
              </a:r>
              <a:r>
                <a:rPr lang="en-US" sz="850" b="0" dirty="0">
                  <a:solidFill>
                    <a:srgbClr val="60A5FA"/>
                  </a:solidFill>
                  <a:latin typeface="Consolas"/>
                  <a:ea typeface="Consolas"/>
                  <a:cs typeface="Consolas"/>
                </a:rPr>
                <a:t>int</a:t>
              </a:r>
              <a:r>
                <a:rPr lang="en-US" sz="850" b="0" dirty="0">
                  <a:solidFill>
                    <a:srgbClr val="E2E8F0"/>
                  </a:solidFill>
                  <a:latin typeface="Consolas"/>
                  <a:ea typeface="Consolas"/>
                  <a:cs typeface="Consolas"/>
                </a:rPr>
                <a:t> expected)</a:t>
              </a:r>
              <a:endParaRPr lang="en-US" sz="850" dirty="0"/>
            </a:p>
          </p:txBody>
        </p:sp>
        <p:sp>
          <p:nvSpPr>
            <p:cNvPr id="143" name="tst_L06"/>
            <p:cNvSpPr txBox="1"/>
            <p:nvPr/>
          </p:nvSpPr>
          <p:spPr>
            <a:xfrm>
              <a:off x="6486754" y="4479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sp>
          <p:nvSpPr>
            <p:cNvPr id="144" name="tst_L07"/>
            <p:cNvSpPr txBox="1"/>
            <p:nvPr/>
          </p:nvSpPr>
          <p:spPr>
            <a:xfrm>
              <a:off x="6486754" y="4651700"/>
              <a:ext cx="50721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50" b="0" dirty="0">
                  <a:solidFill>
                    <a:srgbClr val="E2E8F0"/>
                  </a:solidFill>
                  <a:latin typeface="Consolas"/>
                  <a:ea typeface="Consolas"/>
                  <a:cs typeface="Consolas"/>
                </a:rPr>
                <a:t>Assert.Equal(expected, TicketPricer.PriceFor(age));</a:t>
              </a:r>
              <a:endParaRPr lang="en-US" sz="850" dirty="0"/>
            </a:p>
          </p:txBody>
        </p:sp>
        <p:sp>
          <p:nvSpPr>
            <p:cNvPr id="145" name="tst_L08"/>
            <p:cNvSpPr txBox="1"/>
            <p:nvPr/>
          </p:nvSpPr>
          <p:spPr>
            <a:xfrm>
              <a:off x="6486754" y="4823700"/>
              <a:ext cx="50721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50" b="0" dirty="0">
                  <a:solidFill>
                    <a:srgbClr val="E2E8F0"/>
                  </a:solidFill>
                  <a:latin typeface="Consolas"/>
                  <a:ea typeface="Consolas"/>
                  <a:cs typeface="Consolas"/>
                </a:rPr>
                <a:t>}</a:t>
              </a:r>
              <a:endParaRPr lang="en-US" sz="850" dirty="0"/>
            </a:p>
          </p:txBody>
        </p:sp>
      </p:grpSp>
      <p:sp>
        <p:nvSpPr>
          <p:cNvPr id="147" name="tst_hl1"/>
          <p:cNvSpPr/>
          <p:nvPr/>
        </p:nvSpPr>
        <p:spPr>
          <a:xfrm>
            <a:off x="6391656" y="3601412"/>
            <a:ext cx="5105100" cy="20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8" name="tst_hl2"/>
          <p:cNvSpPr/>
          <p:nvPr/>
        </p:nvSpPr>
        <p:spPr>
          <a:xfrm>
            <a:off x="6391656" y="3773412"/>
            <a:ext cx="5105100" cy="20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9" name="tst_hl3"/>
          <p:cNvSpPr/>
          <p:nvPr/>
        </p:nvSpPr>
        <p:spPr>
          <a:xfrm>
            <a:off x="6391656" y="3945412"/>
            <a:ext cx="5105100" cy="20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0" name="tst_hl4"/>
          <p:cNvSpPr/>
          <p:nvPr/>
        </p:nvSpPr>
        <p:spPr>
          <a:xfrm>
            <a:off x="6391656" y="4117412"/>
            <a:ext cx="5105100" cy="20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1" name="b"/>
          <p:cNvSpPr/>
          <p:nvPr/>
        </p:nvSpPr>
        <p:spPr>
          <a:xfrm>
            <a:off x="543154" y="5230368"/>
            <a:ext cx="11087100" cy="548640"/>
          </a:xfrm>
          <a:prstGeom prst="roundRect">
            <a:avLst>
              <a:gd name="adj" fmla="val 10975"/>
            </a:avLst>
          </a:prstGeom>
          <a:solidFill>
            <a:srgbClr val="0C1628"/>
          </a:solidFill>
          <a:ln w="12700">
            <a:solidFill>
              <a:srgbClr val="60A5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For every limit: just below, exactly at, just above.</a:t>
            </a:r>
            <a:endParaRPr lang="en-US" sz="1400" dirty="0"/>
          </a:p>
        </p:txBody>
      </p:sp>
    </p:spTree>
    <p:extLst>
      <p:ext uri="{BB962C8B-B14F-4D97-AF65-F5344CB8AC3E}">
        <p14:creationId xmlns:p14="http://schemas.microsoft.com/office/powerpoint/2010/main" val="509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250"/>
                                        <p:tgtEl>
                                          <p:spTgt spid="101"/>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fade">
                                      <p:cBhvr>
                                        <p:cTn id="11" dur="250"/>
                                        <p:tgtEl>
                                          <p:spTgt spid="102"/>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fade">
                                      <p:cBhvr>
                                        <p:cTn id="15" dur="250"/>
                                        <p:tgtEl>
                                          <p:spTgt spid="10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4"/>
                                        </p:tgtEl>
                                        <p:attrNameLst>
                                          <p:attrName>style.visibility</p:attrName>
                                        </p:attrNameLst>
                                      </p:cBhvr>
                                      <p:to>
                                        <p:strVal val="visible"/>
                                      </p:to>
                                    </p:set>
                                    <p:animEffect transition="in" filter="fade">
                                      <p:cBhvr>
                                        <p:cTn id="20" dur="200"/>
                                        <p:tgtEl>
                                          <p:spTgt spid="104"/>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fade">
                                      <p:cBhvr>
                                        <p:cTn id="24" dur="200"/>
                                        <p:tgtEl>
                                          <p:spTgt spid="105"/>
                                        </p:tgtEl>
                                      </p:cBhvr>
                                    </p:animEffect>
                                  </p:childTnLst>
                                </p:cTn>
                              </p:par>
                            </p:childTnLst>
                          </p:cTn>
                        </p:par>
                        <p:par>
                          <p:cTn id="25" fill="hold">
                            <p:stCondLst>
                              <p:cond delay="400"/>
                            </p:stCondLst>
                            <p:childTnLst>
                              <p:par>
                                <p:cTn id="26" presetID="10" presetClass="entr" presetSubtype="0" fill="hold" grpId="0" nodeType="afterEffect">
                                  <p:stCondLst>
                                    <p:cond delay="0"/>
                                  </p:stCondLst>
                                  <p:childTnLst>
                                    <p:set>
                                      <p:cBhvr>
                                        <p:cTn id="27" dur="1" fill="hold">
                                          <p:stCondLst>
                                            <p:cond delay="0"/>
                                          </p:stCondLst>
                                        </p:cTn>
                                        <p:tgtEl>
                                          <p:spTgt spid="106"/>
                                        </p:tgtEl>
                                        <p:attrNameLst>
                                          <p:attrName>style.visibility</p:attrName>
                                        </p:attrNameLst>
                                      </p:cBhvr>
                                      <p:to>
                                        <p:strVal val="visible"/>
                                      </p:to>
                                    </p:set>
                                    <p:animEffect transition="in" filter="fade">
                                      <p:cBhvr>
                                        <p:cTn id="28" dur="200"/>
                                        <p:tgtEl>
                                          <p:spTgt spid="106"/>
                                        </p:tgtEl>
                                      </p:cBhvr>
                                    </p:animEffect>
                                  </p:childTnLst>
                                </p:cTn>
                              </p:par>
                            </p:childTnLst>
                          </p:cTn>
                        </p:par>
                        <p:par>
                          <p:cTn id="29" fill="hold">
                            <p:stCondLst>
                              <p:cond delay="600"/>
                            </p:stCondLst>
                            <p:childTnLst>
                              <p:par>
                                <p:cTn id="30" presetID="10" presetClass="entr" presetSubtype="0" fill="hold" grpId="0" nodeType="afterEffect">
                                  <p:stCondLst>
                                    <p:cond delay="0"/>
                                  </p:stCondLst>
                                  <p:childTnLst>
                                    <p:set>
                                      <p:cBhvr>
                                        <p:cTn id="31" dur="1" fill="hold">
                                          <p:stCondLst>
                                            <p:cond delay="0"/>
                                          </p:stCondLst>
                                        </p:cTn>
                                        <p:tgtEl>
                                          <p:spTgt spid="107"/>
                                        </p:tgtEl>
                                        <p:attrNameLst>
                                          <p:attrName>style.visibility</p:attrName>
                                        </p:attrNameLst>
                                      </p:cBhvr>
                                      <p:to>
                                        <p:strVal val="visible"/>
                                      </p:to>
                                    </p:set>
                                    <p:animEffect transition="in" filter="fade">
                                      <p:cBhvr>
                                        <p:cTn id="32" dur="200"/>
                                        <p:tgtEl>
                                          <p:spTgt spid="10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8"/>
                                        </p:tgtEl>
                                        <p:attrNameLst>
                                          <p:attrName>style.visibility</p:attrName>
                                        </p:attrNameLst>
                                      </p:cBhvr>
                                      <p:to>
                                        <p:strVal val="visible"/>
                                      </p:to>
                                    </p:set>
                                    <p:animEffect transition="in" filter="fade">
                                      <p:cBhvr>
                                        <p:cTn id="37" dur="400"/>
                                        <p:tgtEl>
                                          <p:spTgt spid="108"/>
                                        </p:tgtEl>
                                      </p:cBhvr>
                                    </p:animEffect>
                                  </p:childTnLst>
                                </p:cTn>
                              </p:par>
                              <p:par>
                                <p:cTn id="38" presetID="10" presetClass="entr" presetSubtype="0" fill="hold" nodeType="with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fade">
                                      <p:cBhvr>
                                        <p:cTn id="40" dur="400"/>
                                        <p:tgtEl>
                                          <p:spTgt spid="1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8"/>
                                        </p:tgtEl>
                                        <p:attrNameLst>
                                          <p:attrName>style.visibility</p:attrName>
                                        </p:attrNameLst>
                                      </p:cBhvr>
                                      <p:to>
                                        <p:strVal val="visible"/>
                                      </p:to>
                                    </p:set>
                                    <p:animEffect transition="in" filter="fade">
                                      <p:cBhvr>
                                        <p:cTn id="43" dur="400"/>
                                        <p:tgtEl>
                                          <p:spTgt spid="1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9"/>
                                        </p:tgtEl>
                                        <p:attrNameLst>
                                          <p:attrName>style.visibility</p:attrName>
                                        </p:attrNameLst>
                                      </p:cBhvr>
                                      <p:to>
                                        <p:strVal val="visible"/>
                                      </p:to>
                                    </p:set>
                                    <p:animEffect transition="in" filter="fade">
                                      <p:cBhvr>
                                        <p:cTn id="46" dur="400"/>
                                        <p:tgtEl>
                                          <p:spTgt spid="12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9"/>
                                        </p:tgtEl>
                                        <p:attrNameLst>
                                          <p:attrName>style.visibility</p:attrName>
                                        </p:attrNameLst>
                                      </p:cBhvr>
                                      <p:to>
                                        <p:strVal val="visible"/>
                                      </p:to>
                                    </p:set>
                                    <p:animEffect transition="in" filter="fade">
                                      <p:cBhvr>
                                        <p:cTn id="51" dur="400"/>
                                        <p:tgtEl>
                                          <p:spTgt spid="109"/>
                                        </p:tgtEl>
                                      </p:cBhvr>
                                    </p:animEffect>
                                  </p:childTnLst>
                                </p:cTn>
                              </p:par>
                              <p:par>
                                <p:cTn id="52" presetID="10" presetClass="entr" presetSubtype="0" fill="hold" nodeType="withEffect">
                                  <p:stCondLst>
                                    <p:cond delay="0"/>
                                  </p:stCondLst>
                                  <p:childTnLst>
                                    <p:set>
                                      <p:cBhvr>
                                        <p:cTn id="53" dur="1" fill="hold">
                                          <p:stCondLst>
                                            <p:cond delay="0"/>
                                          </p:stCondLst>
                                        </p:cTn>
                                        <p:tgtEl>
                                          <p:spTgt spid="146"/>
                                        </p:tgtEl>
                                        <p:attrNameLst>
                                          <p:attrName>style.visibility</p:attrName>
                                        </p:attrNameLst>
                                      </p:cBhvr>
                                      <p:to>
                                        <p:strVal val="visible"/>
                                      </p:to>
                                    </p:set>
                                    <p:animEffect transition="in" filter="fade">
                                      <p:cBhvr>
                                        <p:cTn id="54" dur="400"/>
                                        <p:tgtEl>
                                          <p:spTgt spid="14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7"/>
                                        </p:tgtEl>
                                        <p:attrNameLst>
                                          <p:attrName>style.visibility</p:attrName>
                                        </p:attrNameLst>
                                      </p:cBhvr>
                                      <p:to>
                                        <p:strVal val="visible"/>
                                      </p:to>
                                    </p:set>
                                    <p:animEffect transition="in" filter="fade">
                                      <p:cBhvr>
                                        <p:cTn id="57" dur="400"/>
                                        <p:tgtEl>
                                          <p:spTgt spid="14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8"/>
                                        </p:tgtEl>
                                        <p:attrNameLst>
                                          <p:attrName>style.visibility</p:attrName>
                                        </p:attrNameLst>
                                      </p:cBhvr>
                                      <p:to>
                                        <p:strVal val="visible"/>
                                      </p:to>
                                    </p:set>
                                    <p:animEffect transition="in" filter="fade">
                                      <p:cBhvr>
                                        <p:cTn id="60" dur="400"/>
                                        <p:tgtEl>
                                          <p:spTgt spid="14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49"/>
                                        </p:tgtEl>
                                        <p:attrNameLst>
                                          <p:attrName>style.visibility</p:attrName>
                                        </p:attrNameLst>
                                      </p:cBhvr>
                                      <p:to>
                                        <p:strVal val="visible"/>
                                      </p:to>
                                    </p:set>
                                    <p:animEffect transition="in" filter="fade">
                                      <p:cBhvr>
                                        <p:cTn id="63" dur="400"/>
                                        <p:tgtEl>
                                          <p:spTgt spid="14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50"/>
                                        </p:tgtEl>
                                        <p:attrNameLst>
                                          <p:attrName>style.visibility</p:attrName>
                                        </p:attrNameLst>
                                      </p:cBhvr>
                                      <p:to>
                                        <p:strVal val="visible"/>
                                      </p:to>
                                    </p:set>
                                    <p:animEffect transition="in" filter="fade">
                                      <p:cBhvr>
                                        <p:cTn id="66" dur="400"/>
                                        <p:tgtEl>
                                          <p:spTgt spid="15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51"/>
                                        </p:tgtEl>
                                        <p:attrNameLst>
                                          <p:attrName>style.visibility</p:attrName>
                                        </p:attrNameLst>
                                      </p:cBhvr>
                                      <p:to>
                                        <p:strVal val="visible"/>
                                      </p:to>
                                    </p:set>
                                    <p:animEffect transition="in" filter="fade">
                                      <p:cBhvr>
                                        <p:cTn id="71" dur="4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P spid="107" grpId="0" animBg="1"/>
      <p:bldP spid="108" grpId="0" animBg="1"/>
      <p:bldP spid="109" grpId="0" animBg="1"/>
      <p:bldP spid="128" grpId="0" animBg="1"/>
      <p:bldP spid="129" grpId="0" animBg="1"/>
      <p:bldP spid="147" grpId="0" animBg="1"/>
      <p:bldP spid="148" grpId="0" animBg="1"/>
      <p:bldP spid="149" grpId="0" animBg="1"/>
      <p:bldP spid="150" grpId="0" animBg="1"/>
      <p:bldP spid="15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ASYNC TESTS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Async Tests: async Task, Then await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116</a:t>
            </a:r>
            <a:endParaRPr lang="en-US" sz="850" dirty="0"/>
          </a:p>
        </p:txBody>
      </p:sp>
      <p:grpSp>
        <p:nvGrpSpPr>
          <p:cNvPr id="118" name="dont"/>
          <p:cNvGrpSpPr/>
          <p:nvPr/>
        </p:nvGrpSpPr>
        <p:grpSpPr>
          <a:xfrm>
            <a:off x="543154" y="1572768"/>
            <a:ext cx="5440680" cy="3310128"/>
            <a:chOff x="543154" y="1572768"/>
            <a:chExt cx="5440680" cy="3310128"/>
          </a:xfrm>
        </p:grpSpPr>
        <p:sp>
          <p:nvSpPr>
            <p:cNvPr id="101" name="dont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237368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FileEmployeeRepositoryTests.cs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10" name="dont_L01"/>
            <p:cNvSpPr txBox="1"/>
            <p:nvPr/>
          </p:nvSpPr>
          <p:spPr>
            <a:xfrm>
              <a:off x="77175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Add_Duplicate_ReturnsFalse()     </a:t>
              </a:r>
              <a:r>
                <a:rPr lang="en-US" sz="950" b="0" dirty="0">
                  <a:solidFill>
                    <a:srgbClr val="6FAE7A"/>
                  </a:solidFill>
                  <a:latin typeface="Consolas"/>
                  <a:ea typeface="Consolas"/>
                  <a:cs typeface="Consolas"/>
                </a:rPr>
                <a:t>// async void</a:t>
              </a:r>
              <a:endParaRPr lang="en-US" sz="950" dirty="0"/>
            </a:p>
          </p:txBody>
        </p:sp>
        <p:sp>
          <p:nvSpPr>
            <p:cNvPr id="111" name="dont_L02"/>
            <p:cNvSpPr txBox="1"/>
            <p:nvPr/>
          </p:nvSpPr>
          <p:spPr>
            <a:xfrm>
              <a:off x="77175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2" name="dont_L03"/>
            <p:cNvSpPr txBox="1"/>
            <p:nvPr/>
          </p:nvSpPr>
          <p:spPr>
            <a:xfrm>
              <a:off x="771754" y="26277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repo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FileEmployeeRepository(_path);</a:t>
              </a:r>
              <a:endParaRPr lang="en-US" sz="950" dirty="0"/>
            </a:p>
          </p:txBody>
        </p:sp>
        <p:sp>
          <p:nvSpPr>
            <p:cNvPr id="113" name="dont_L04"/>
            <p:cNvSpPr txBox="1"/>
            <p:nvPr/>
          </p:nvSpPr>
          <p:spPr>
            <a:xfrm>
              <a:off x="771754" y="282082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repo.AddAsync(</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Employee(1, </a:t>
              </a:r>
              <a:r>
                <a:rPr lang="en-US" sz="950" b="0" dirty="0">
                  <a:solidFill>
                    <a:srgbClr val="F0A98B"/>
                  </a:solidFill>
                  <a:latin typeface="Consolas"/>
                  <a:ea typeface="Consolas"/>
                  <a:cs typeface="Consolas"/>
                </a:rPr>
                <a:t>"Mona"</a:t>
              </a:r>
              <a:r>
                <a:rPr lang="en-US" sz="950" b="0" dirty="0">
                  <a:solidFill>
                    <a:srgbClr val="E2E8F0"/>
                  </a:solidFill>
                  <a:latin typeface="Consolas"/>
                  <a:ea typeface="Consolas"/>
                  <a:cs typeface="Consolas"/>
                </a:rPr>
                <a:t>, 15000));</a:t>
              </a:r>
              <a:endParaRPr lang="en-US" sz="950" dirty="0"/>
            </a:p>
          </p:txBody>
        </p:sp>
        <p:sp>
          <p:nvSpPr>
            <p:cNvPr id="114" name="dont_L06"/>
            <p:cNvSpPr txBox="1"/>
            <p:nvPr/>
          </p:nvSpPr>
          <p:spPr>
            <a:xfrm>
              <a:off x="771754" y="32069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bool</a:t>
              </a:r>
              <a:r>
                <a:rPr lang="en-US" sz="950" b="0" dirty="0">
                  <a:solidFill>
                    <a:srgbClr val="E2E8F0"/>
                  </a:solidFill>
                  <a:latin typeface="Consolas"/>
                  <a:ea typeface="Consolas"/>
                  <a:cs typeface="Consolas"/>
                </a:rPr>
                <a:t> added = repo.AddAsync(</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Employee(1, </a:t>
              </a:r>
              <a:r>
                <a:rPr lang="en-US" sz="950" b="0" dirty="0">
                  <a:solidFill>
                    <a:srgbClr val="F0A98B"/>
                  </a:solidFill>
                  <a:latin typeface="Consolas"/>
                  <a:ea typeface="Consolas"/>
                  <a:cs typeface="Consolas"/>
                </a:rPr>
                <a:t>"Mona"</a:t>
              </a:r>
              <a:r>
                <a:rPr lang="en-US" sz="950" b="0" dirty="0">
                  <a:solidFill>
                    <a:srgbClr val="E2E8F0"/>
                  </a:solidFill>
                  <a:latin typeface="Consolas"/>
                  <a:ea typeface="Consolas"/>
                  <a:cs typeface="Consolas"/>
                </a:rPr>
                <a:t>, 15000))</a:t>
              </a:r>
              <a:endParaRPr lang="en-US" sz="950" dirty="0"/>
            </a:p>
          </p:txBody>
        </p:sp>
        <p:sp>
          <p:nvSpPr>
            <p:cNvPr id="115" name="dont_L07"/>
            <p:cNvSpPr txBox="1"/>
            <p:nvPr/>
          </p:nvSpPr>
          <p:spPr>
            <a:xfrm>
              <a:off x="771754" y="3399948"/>
              <a:ext cx="5140680" cy="193040"/>
            </a:xfrm>
            <a:prstGeom prst="rect">
              <a:avLst/>
            </a:prstGeom>
            <a:noFill/>
            <a:ln>
              <a:noFill/>
            </a:ln>
          </p:spPr>
          <p:txBody>
            <a:bodyPr wrap="none" lIns="0" tIns="0" rIns="0" bIns="0" rtlCol="0" anchor="ctr">
              <a:noAutofit/>
            </a:bodyPr>
            <a:lstStyle/>
            <a:p>
              <a:pPr marL="1327150" indent="0" algn="l">
                <a:spcBef>
                  <a:spcPts val="0"/>
                </a:spcBef>
                <a:spcAft>
                  <a:spcPts val="0"/>
                </a:spcAft>
                <a:buNone/>
              </a:pPr>
              <a:r>
                <a:rPr lang="en-US" sz="950" b="0" dirty="0">
                  <a:solidFill>
                    <a:srgbClr val="E2E8F0"/>
                  </a:solidFill>
                  <a:latin typeface="Consolas"/>
                  <a:ea typeface="Consolas"/>
                  <a:cs typeface="Consolas"/>
                </a:rPr>
                <a:t> .Result;                         </a:t>
              </a:r>
              <a:r>
                <a:rPr lang="en-US" sz="950" b="0" dirty="0">
                  <a:solidFill>
                    <a:srgbClr val="6FAE7A"/>
                  </a:solidFill>
                  <a:latin typeface="Consolas"/>
                  <a:ea typeface="Consolas"/>
                  <a:cs typeface="Consolas"/>
                </a:rPr>
                <a:t>// blocks</a:t>
              </a:r>
              <a:endParaRPr lang="en-US" sz="950" dirty="0"/>
            </a:p>
          </p:txBody>
        </p:sp>
        <p:sp>
          <p:nvSpPr>
            <p:cNvPr id="116" name="dont_L08"/>
            <p:cNvSpPr txBox="1"/>
            <p:nvPr/>
          </p:nvSpPr>
          <p:spPr>
            <a:xfrm>
              <a:off x="771754" y="35929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Assert.False(added);</a:t>
              </a:r>
              <a:endParaRPr lang="en-US" sz="950" dirty="0"/>
            </a:p>
          </p:txBody>
        </p:sp>
        <p:sp>
          <p:nvSpPr>
            <p:cNvPr id="117" name="dont_L09"/>
            <p:cNvSpPr txBox="1"/>
            <p:nvPr/>
          </p:nvSpPr>
          <p:spPr>
            <a:xfrm>
              <a:off x="771754" y="37860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19" name="dont_hl1"/>
          <p:cNvSpPr/>
          <p:nvPr/>
        </p:nvSpPr>
        <p:spPr>
          <a:xfrm>
            <a:off x="676656" y="222342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0" name="dont_hl6"/>
          <p:cNvSpPr/>
          <p:nvPr/>
        </p:nvSpPr>
        <p:spPr>
          <a:xfrm>
            <a:off x="676656" y="318862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1" name="dont_hl7"/>
          <p:cNvSpPr/>
          <p:nvPr/>
        </p:nvSpPr>
        <p:spPr>
          <a:xfrm>
            <a:off x="676656" y="338166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39" name="do"/>
          <p:cNvGrpSpPr/>
          <p:nvPr/>
        </p:nvGrpSpPr>
        <p:grpSpPr>
          <a:xfrm>
            <a:off x="6189574" y="1572768"/>
            <a:ext cx="5440680" cy="3310128"/>
            <a:chOff x="6189574" y="1572768"/>
            <a:chExt cx="5440680" cy="3310128"/>
          </a:xfrm>
        </p:grpSpPr>
        <p:sp>
          <p:nvSpPr>
            <p:cNvPr id="122" name="do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3" name="do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do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5" name="do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do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do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do_tab"/>
            <p:cNvSpPr/>
            <p:nvPr/>
          </p:nvSpPr>
          <p:spPr>
            <a:xfrm>
              <a:off x="6970471" y="1620317"/>
              <a:ext cx="237368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FileEmployeeRepositoryTests.cs</a:t>
              </a:r>
              <a:endParaRPr lang="en-US" sz="950" dirty="0"/>
            </a:p>
          </p:txBody>
        </p:sp>
        <p:sp>
          <p:nvSpPr>
            <p:cNvPr id="129" name="do_lbl"/>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0" name="do_L00"/>
            <p:cNvSpPr txBox="1"/>
            <p:nvPr/>
          </p:nvSpPr>
          <p:spPr>
            <a:xfrm>
              <a:off x="641817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31" name="do_L01"/>
            <p:cNvSpPr txBox="1"/>
            <p:nvPr/>
          </p:nvSpPr>
          <p:spPr>
            <a:xfrm>
              <a:off x="641817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async</a:t>
              </a:r>
              <a:r>
                <a:rPr lang="en-US" sz="950" b="0" dirty="0">
                  <a:solidFill>
                    <a:srgbClr val="E2E8F0"/>
                  </a:solidFill>
                  <a:latin typeface="Consolas"/>
                  <a:ea typeface="Consolas"/>
                  <a:cs typeface="Consolas"/>
                </a:rPr>
                <a:t> Task Add_Duplicate_ReturnsFalse()</a:t>
              </a:r>
              <a:endParaRPr lang="en-US" sz="950" dirty="0"/>
            </a:p>
          </p:txBody>
        </p:sp>
        <p:sp>
          <p:nvSpPr>
            <p:cNvPr id="132" name="do_L02"/>
            <p:cNvSpPr txBox="1"/>
            <p:nvPr/>
          </p:nvSpPr>
          <p:spPr>
            <a:xfrm>
              <a:off x="641817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3" name="do_L03"/>
            <p:cNvSpPr txBox="1"/>
            <p:nvPr/>
          </p:nvSpPr>
          <p:spPr>
            <a:xfrm>
              <a:off x="6418174" y="26277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repo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FileEmployeeRepository(_path);</a:t>
              </a:r>
              <a:endParaRPr lang="en-US" sz="950" dirty="0"/>
            </a:p>
          </p:txBody>
        </p:sp>
        <p:sp>
          <p:nvSpPr>
            <p:cNvPr id="134" name="do_L04"/>
            <p:cNvSpPr txBox="1"/>
            <p:nvPr/>
          </p:nvSpPr>
          <p:spPr>
            <a:xfrm>
              <a:off x="6418174" y="282082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repo.AddAsync(</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Employee(1, </a:t>
              </a:r>
              <a:r>
                <a:rPr lang="en-US" sz="950" b="0" dirty="0">
                  <a:solidFill>
                    <a:srgbClr val="F0A98B"/>
                  </a:solidFill>
                  <a:latin typeface="Consolas"/>
                  <a:ea typeface="Consolas"/>
                  <a:cs typeface="Consolas"/>
                </a:rPr>
                <a:t>"Mona"</a:t>
              </a:r>
              <a:r>
                <a:rPr lang="en-US" sz="950" b="0" dirty="0">
                  <a:solidFill>
                    <a:srgbClr val="E2E8F0"/>
                  </a:solidFill>
                  <a:latin typeface="Consolas"/>
                  <a:ea typeface="Consolas"/>
                  <a:cs typeface="Consolas"/>
                </a:rPr>
                <a:t>, 15000));</a:t>
              </a:r>
              <a:endParaRPr lang="en-US" sz="950" dirty="0"/>
            </a:p>
          </p:txBody>
        </p:sp>
        <p:sp>
          <p:nvSpPr>
            <p:cNvPr id="135" name="do_L06"/>
            <p:cNvSpPr txBox="1"/>
            <p:nvPr/>
          </p:nvSpPr>
          <p:spPr>
            <a:xfrm>
              <a:off x="6418174" y="32069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bool</a:t>
              </a:r>
              <a:r>
                <a:rPr lang="en-US" sz="950" b="0" dirty="0">
                  <a:solidFill>
                    <a:srgbClr val="E2E8F0"/>
                  </a:solidFill>
                  <a:latin typeface="Consolas"/>
                  <a:ea typeface="Consolas"/>
                  <a:cs typeface="Consolas"/>
                </a:rPr>
                <a:t> added = </a:t>
              </a:r>
              <a:r>
                <a:rPr lang="en-US" sz="950" b="0" dirty="0">
                  <a:solidFill>
                    <a:srgbClr val="60A5FA"/>
                  </a:solidFill>
                  <a:latin typeface="Consolas"/>
                  <a:ea typeface="Consolas"/>
                  <a:cs typeface="Consolas"/>
                </a:rPr>
                <a:t>await</a:t>
              </a:r>
              <a:r>
                <a:rPr lang="en-US" sz="950" b="0" dirty="0">
                  <a:solidFill>
                    <a:srgbClr val="E2E8F0"/>
                  </a:solidFill>
                  <a:latin typeface="Consolas"/>
                  <a:ea typeface="Consolas"/>
                  <a:cs typeface="Consolas"/>
                </a:rPr>
                <a:t> repo.AddAsync(</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Employee(1, </a:t>
              </a:r>
              <a:r>
                <a:rPr lang="en-US" sz="950" b="0" dirty="0">
                  <a:solidFill>
                    <a:srgbClr val="F0A98B"/>
                  </a:solidFill>
                  <a:latin typeface="Consolas"/>
                  <a:ea typeface="Consolas"/>
                  <a:cs typeface="Consolas"/>
                </a:rPr>
                <a:t>"Mona"</a:t>
              </a:r>
              <a:r>
                <a:rPr lang="en-US" sz="950" b="0" dirty="0">
                  <a:solidFill>
                    <a:srgbClr val="E2E8F0"/>
                  </a:solidFill>
                  <a:latin typeface="Consolas"/>
                  <a:ea typeface="Consolas"/>
                  <a:cs typeface="Consolas"/>
                </a:rPr>
                <a:t>, 15000));</a:t>
              </a:r>
              <a:endParaRPr lang="en-US" sz="950" dirty="0"/>
            </a:p>
          </p:txBody>
        </p:sp>
        <p:sp>
          <p:nvSpPr>
            <p:cNvPr id="136" name="do_L08"/>
            <p:cNvSpPr txBox="1"/>
            <p:nvPr/>
          </p:nvSpPr>
          <p:spPr>
            <a:xfrm>
              <a:off x="6418174" y="35929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added.ShouldBeFalse();</a:t>
              </a:r>
              <a:endParaRPr lang="en-US" sz="950" dirty="0"/>
            </a:p>
          </p:txBody>
        </p:sp>
        <p:sp>
          <p:nvSpPr>
            <p:cNvPr id="137" name="do_L09"/>
            <p:cNvSpPr txBox="1"/>
            <p:nvPr/>
          </p:nvSpPr>
          <p:spPr>
            <a:xfrm>
              <a:off x="6418174" y="37860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8" name="do_L10"/>
            <p:cNvSpPr txBox="1"/>
            <p:nvPr/>
          </p:nvSpPr>
          <p:spPr>
            <a:xfrm>
              <a:off x="6418174" y="39790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exceptions: await Assert.ThrowsAsync&lt;IOException&gt;(...)</a:t>
              </a:r>
              <a:endParaRPr lang="en-US" sz="950" dirty="0"/>
            </a:p>
          </p:txBody>
        </p:sp>
      </p:grpSp>
      <p:sp>
        <p:nvSpPr>
          <p:cNvPr id="140" name="do_hl1"/>
          <p:cNvSpPr/>
          <p:nvPr/>
        </p:nvSpPr>
        <p:spPr>
          <a:xfrm>
            <a:off x="6323076" y="222342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1" name="do_hl6"/>
          <p:cNvSpPr/>
          <p:nvPr/>
        </p:nvSpPr>
        <p:spPr>
          <a:xfrm>
            <a:off x="6323076" y="318862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42" name="arrow"/>
          <p:cNvCxnSpPr/>
          <p:nvPr/>
        </p:nvCxnSpPr>
        <p:spPr>
          <a:xfrm>
            <a:off x="6011266" y="3227832"/>
            <a:ext cx="150876" cy="0"/>
          </a:xfrm>
          <a:prstGeom prst="line">
            <a:avLst/>
          </a:prstGeom>
          <a:ln w="28575">
            <a:solidFill>
              <a:srgbClr val="13D0F7"/>
            </a:solidFill>
            <a:tailEnd type="triangle" w="med" len="med"/>
          </a:ln>
        </p:spPr>
      </p:cxnSp>
      <p:sp>
        <p:nvSpPr>
          <p:cNvPr id="143" name="why"/>
          <p:cNvSpPr/>
          <p:nvPr/>
        </p:nvSpPr>
        <p:spPr>
          <a:xfrm>
            <a:off x="543154" y="5020056"/>
            <a:ext cx="5440680" cy="103327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WHY IT FAILS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The runner cannot await async void: it may report success before the test finished. .Result blocks and hides the real exception.</a:t>
            </a:r>
            <a:endParaRPr lang="en-US" sz="1200" dirty="0"/>
          </a:p>
        </p:txBody>
      </p:sp>
      <p:sp>
        <p:nvSpPr>
          <p:cNvPr id="144" name="when"/>
          <p:cNvSpPr/>
          <p:nvPr/>
        </p:nvSpPr>
        <p:spPr>
          <a:xfrm>
            <a:off x="6189574" y="5020056"/>
            <a:ext cx="5440680" cy="103327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USE IT WHEN</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Async code under test → async Task test methods, await every call, Assert.ThrowsAsync / Should.ThrowAsync for failures.</a:t>
            </a:r>
            <a:endParaRPr lang="en-US" sz="1200" dirty="0"/>
          </a:p>
        </p:txBody>
      </p:sp>
    </p:spTree>
    <p:extLst>
      <p:ext uri="{BB962C8B-B14F-4D97-AF65-F5344CB8AC3E}">
        <p14:creationId xmlns:p14="http://schemas.microsoft.com/office/powerpoint/2010/main" val="50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4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400"/>
                                        <p:tgtEl>
                                          <p:spTgt spid="1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3"/>
                                        </p:tgtEl>
                                        <p:attrNameLst>
                                          <p:attrName>style.visibility</p:attrName>
                                        </p:attrNameLst>
                                      </p:cBhvr>
                                      <p:to>
                                        <p:strVal val="visible"/>
                                      </p:to>
                                    </p:set>
                                    <p:animEffect transition="in" filter="fade">
                                      <p:cBhvr>
                                        <p:cTn id="21" dur="400"/>
                                        <p:tgtEl>
                                          <p:spTgt spid="14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2"/>
                                        </p:tgtEl>
                                        <p:attrNameLst>
                                          <p:attrName>style.visibility</p:attrName>
                                        </p:attrNameLst>
                                      </p:cBhvr>
                                      <p:to>
                                        <p:strVal val="visible"/>
                                      </p:to>
                                    </p:set>
                                    <p:animEffect transition="in" filter="fade">
                                      <p:cBhvr>
                                        <p:cTn id="26" dur="400"/>
                                        <p:tgtEl>
                                          <p:spTgt spid="142"/>
                                        </p:tgtEl>
                                      </p:cBhvr>
                                    </p:animEffect>
                                  </p:childTnLst>
                                </p:cTn>
                              </p:par>
                              <p:par>
                                <p:cTn id="27" presetID="10" presetClass="entr" presetSubtype="0" fill="hold" nodeType="withEffect">
                                  <p:stCondLst>
                                    <p:cond delay="0"/>
                                  </p:stCondLst>
                                  <p:childTnLst>
                                    <p:set>
                                      <p:cBhvr>
                                        <p:cTn id="28" dur="1" fill="hold">
                                          <p:stCondLst>
                                            <p:cond delay="0"/>
                                          </p:stCondLst>
                                        </p:cTn>
                                        <p:tgtEl>
                                          <p:spTgt spid="139"/>
                                        </p:tgtEl>
                                        <p:attrNameLst>
                                          <p:attrName>style.visibility</p:attrName>
                                        </p:attrNameLst>
                                      </p:cBhvr>
                                      <p:to>
                                        <p:strVal val="visible"/>
                                      </p:to>
                                    </p:set>
                                    <p:animEffect transition="in" filter="fade">
                                      <p:cBhvr>
                                        <p:cTn id="29" dur="400"/>
                                        <p:tgtEl>
                                          <p:spTgt spid="13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0"/>
                                        </p:tgtEl>
                                        <p:attrNameLst>
                                          <p:attrName>style.visibility</p:attrName>
                                        </p:attrNameLst>
                                      </p:cBhvr>
                                      <p:to>
                                        <p:strVal val="visible"/>
                                      </p:to>
                                    </p:set>
                                    <p:animEffect transition="in" filter="fade">
                                      <p:cBhvr>
                                        <p:cTn id="32" dur="400"/>
                                        <p:tgtEl>
                                          <p:spTgt spid="1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1"/>
                                        </p:tgtEl>
                                        <p:attrNameLst>
                                          <p:attrName>style.visibility</p:attrName>
                                        </p:attrNameLst>
                                      </p:cBhvr>
                                      <p:to>
                                        <p:strVal val="visible"/>
                                      </p:to>
                                    </p:set>
                                    <p:animEffect transition="in" filter="fade">
                                      <p:cBhvr>
                                        <p:cTn id="35" dur="400"/>
                                        <p:tgtEl>
                                          <p:spTgt spid="14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4"/>
                                        </p:tgtEl>
                                        <p:attrNameLst>
                                          <p:attrName>style.visibility</p:attrName>
                                        </p:attrNameLst>
                                      </p:cBhvr>
                                      <p:to>
                                        <p:strVal val="visible"/>
                                      </p:to>
                                    </p:set>
                                    <p:animEffect transition="in" filter="fade">
                                      <p:cBhvr>
                                        <p:cTn id="40" dur="4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0" grpId="0" animBg="1"/>
      <p:bldP spid="121" grpId="0" animBg="1"/>
      <p:bldP spid="140" grpId="0" animBg="1"/>
      <p:bldP spid="141" grpId="0" animBg="1"/>
      <p:bldP spid="143" grpId="0" animBg="1"/>
      <p:bldP spid="14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LIFECYCLE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A New Test Object for Every Test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XUNIT</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117</a:t>
            </a:r>
            <a:endParaRPr lang="en-US" sz="850" dirty="0"/>
          </a:p>
        </p:txBody>
      </p:sp>
      <p:grpSp>
        <p:nvGrpSpPr>
          <p:cNvPr id="123" name="code"/>
          <p:cNvGrpSpPr/>
          <p:nvPr/>
        </p:nvGrpSpPr>
        <p:grpSpPr>
          <a:xfrm>
            <a:off x="543154" y="1572768"/>
            <a:ext cx="6492240" cy="3877580"/>
            <a:chOff x="543154" y="1572768"/>
            <a:chExt cx="6492240" cy="3877580"/>
          </a:xfrm>
        </p:grpSpPr>
        <p:sp>
          <p:nvSpPr>
            <p:cNvPr id="101" name="code_win"/>
            <p:cNvSpPr/>
            <p:nvPr/>
          </p:nvSpPr>
          <p:spPr>
            <a:xfrm>
              <a:off x="543154" y="1572768"/>
              <a:ext cx="6492240" cy="3877580"/>
            </a:xfrm>
            <a:prstGeom prst="roundRect">
              <a:avLst>
                <a:gd name="adj" fmla="val 1767"/>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6492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649224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237368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FileEmployeeRepositoryTests.cs</a:t>
              </a:r>
              <a:endParaRPr lang="en-US" sz="950" dirty="0"/>
            </a:p>
          </p:txBody>
        </p:sp>
        <p:sp>
          <p:nvSpPr>
            <p:cNvPr id="108" name="code_L00"/>
            <p:cNvSpPr txBox="1"/>
            <p:nvPr/>
          </p:nvSpPr>
          <p:spPr>
            <a:xfrm>
              <a:off x="771754" y="2048668"/>
              <a:ext cx="61922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class</a:t>
              </a:r>
              <a:r>
                <a:rPr lang="en-US" sz="950" b="0" dirty="0">
                  <a:solidFill>
                    <a:srgbClr val="E2E8F0"/>
                  </a:solidFill>
                  <a:latin typeface="Consolas"/>
                  <a:ea typeface="Consolas"/>
                  <a:cs typeface="Consolas"/>
                </a:rPr>
                <a:t> FileEmployeeRepositoryTests : IDisposable</a:t>
              </a:r>
              <a:endParaRPr lang="en-US" sz="950" dirty="0"/>
            </a:p>
          </p:txBody>
        </p:sp>
        <p:sp>
          <p:nvSpPr>
            <p:cNvPr id="109" name="code_L01"/>
            <p:cNvSpPr txBox="1"/>
            <p:nvPr/>
          </p:nvSpPr>
          <p:spPr>
            <a:xfrm>
              <a:off x="771754" y="2241708"/>
              <a:ext cx="61922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0" name="code_L02"/>
            <p:cNvSpPr txBox="1"/>
            <p:nvPr/>
          </p:nvSpPr>
          <p:spPr>
            <a:xfrm>
              <a:off x="771754" y="243474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private</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readonly</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_folder =</a:t>
              </a:r>
              <a:endParaRPr lang="en-US" sz="950" dirty="0"/>
            </a:p>
          </p:txBody>
        </p:sp>
        <p:sp>
          <p:nvSpPr>
            <p:cNvPr id="111" name="code_L03"/>
            <p:cNvSpPr txBox="1"/>
            <p:nvPr/>
          </p:nvSpPr>
          <p:spPr>
            <a:xfrm>
              <a:off x="771754" y="2627788"/>
              <a:ext cx="619224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Path.Combine(Path.GetTempPath(), Guid.NewGuid().ToString());</a:t>
              </a:r>
              <a:endParaRPr lang="en-US" sz="950" dirty="0"/>
            </a:p>
          </p:txBody>
        </p:sp>
        <p:sp>
          <p:nvSpPr>
            <p:cNvPr id="112" name="code_L04"/>
            <p:cNvSpPr txBox="1"/>
            <p:nvPr/>
          </p:nvSpPr>
          <p:spPr>
            <a:xfrm>
              <a:off x="771754" y="282082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private</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readonly</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_path;</a:t>
              </a:r>
              <a:endParaRPr lang="en-US" sz="950" dirty="0"/>
            </a:p>
          </p:txBody>
        </p:sp>
        <p:sp>
          <p:nvSpPr>
            <p:cNvPr id="113" name="code_L06"/>
            <p:cNvSpPr txBox="1"/>
            <p:nvPr/>
          </p:nvSpPr>
          <p:spPr>
            <a:xfrm>
              <a:off x="771754" y="320690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FileEmployeeRepositoryTests()        </a:t>
              </a:r>
              <a:r>
                <a:rPr lang="en-US" sz="950" b="0" dirty="0">
                  <a:solidFill>
                    <a:srgbClr val="6FAE7A"/>
                  </a:solidFill>
                  <a:latin typeface="Consolas"/>
                  <a:ea typeface="Consolas"/>
                  <a:cs typeface="Consolas"/>
                </a:rPr>
                <a:t>// before EACH test</a:t>
              </a:r>
              <a:endParaRPr lang="en-US" sz="950" dirty="0"/>
            </a:p>
          </p:txBody>
        </p:sp>
        <p:sp>
          <p:nvSpPr>
            <p:cNvPr id="114" name="code_L07"/>
            <p:cNvSpPr txBox="1"/>
            <p:nvPr/>
          </p:nvSpPr>
          <p:spPr>
            <a:xfrm>
              <a:off x="771754" y="339994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5" name="code_L08"/>
            <p:cNvSpPr txBox="1"/>
            <p:nvPr/>
          </p:nvSpPr>
          <p:spPr>
            <a:xfrm>
              <a:off x="771754" y="3592988"/>
              <a:ext cx="619224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_path = Path.Combine(_folder, </a:t>
              </a:r>
              <a:r>
                <a:rPr lang="en-US" sz="950" b="0" dirty="0">
                  <a:solidFill>
                    <a:srgbClr val="F0A98B"/>
                  </a:solidFill>
                  <a:latin typeface="Consolas"/>
                  <a:ea typeface="Consolas"/>
                  <a:cs typeface="Consolas"/>
                </a:rPr>
                <a:t>"employees.json"</a:t>
              </a:r>
              <a:r>
                <a:rPr lang="en-US" sz="950" b="0" dirty="0">
                  <a:solidFill>
                    <a:srgbClr val="E2E8F0"/>
                  </a:solidFill>
                  <a:latin typeface="Consolas"/>
                  <a:ea typeface="Consolas"/>
                  <a:cs typeface="Consolas"/>
                </a:rPr>
                <a:t>);</a:t>
              </a:r>
              <a:endParaRPr lang="en-US" sz="950" dirty="0"/>
            </a:p>
          </p:txBody>
        </p:sp>
        <p:sp>
          <p:nvSpPr>
            <p:cNvPr id="116" name="code_L09"/>
            <p:cNvSpPr txBox="1"/>
            <p:nvPr/>
          </p:nvSpPr>
          <p:spPr>
            <a:xfrm>
              <a:off x="771754" y="378602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7" name="code_L11"/>
            <p:cNvSpPr txBox="1"/>
            <p:nvPr/>
          </p:nvSpPr>
          <p:spPr>
            <a:xfrm>
              <a:off x="771754" y="417210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Dispose()                         </a:t>
              </a:r>
              <a:r>
                <a:rPr lang="en-US" sz="950" b="0" dirty="0">
                  <a:solidFill>
                    <a:srgbClr val="6FAE7A"/>
                  </a:solidFill>
                  <a:latin typeface="Consolas"/>
                  <a:ea typeface="Consolas"/>
                  <a:cs typeface="Consolas"/>
                </a:rPr>
                <a:t>// after EACH test</a:t>
              </a:r>
              <a:endParaRPr lang="en-US" sz="950" dirty="0"/>
            </a:p>
          </p:txBody>
        </p:sp>
        <p:sp>
          <p:nvSpPr>
            <p:cNvPr id="118" name="code_L12"/>
            <p:cNvSpPr txBox="1"/>
            <p:nvPr/>
          </p:nvSpPr>
          <p:spPr>
            <a:xfrm>
              <a:off x="771754" y="436514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9" name="code_L13"/>
            <p:cNvSpPr txBox="1"/>
            <p:nvPr/>
          </p:nvSpPr>
          <p:spPr>
            <a:xfrm>
              <a:off x="771754" y="4558188"/>
              <a:ext cx="619224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(Directory.Exists(_folder))</a:t>
              </a:r>
              <a:endParaRPr lang="en-US" sz="950" dirty="0"/>
            </a:p>
          </p:txBody>
        </p:sp>
        <p:sp>
          <p:nvSpPr>
            <p:cNvPr id="120" name="code_L14"/>
            <p:cNvSpPr txBox="1"/>
            <p:nvPr/>
          </p:nvSpPr>
          <p:spPr>
            <a:xfrm>
              <a:off x="771754" y="4751228"/>
              <a:ext cx="6192240"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Directory.Delete(_folder, recursive: </a:t>
              </a:r>
              <a:r>
                <a:rPr lang="en-US" sz="950" b="0" dirty="0">
                  <a:solidFill>
                    <a:srgbClr val="60A5FA"/>
                  </a:solidFill>
                  <a:latin typeface="Consolas"/>
                  <a:ea typeface="Consolas"/>
                  <a:cs typeface="Consolas"/>
                </a:rPr>
                <a:t>true</a:t>
              </a:r>
              <a:r>
                <a:rPr lang="en-US" sz="950" b="0" dirty="0">
                  <a:solidFill>
                    <a:srgbClr val="E2E8F0"/>
                  </a:solidFill>
                  <a:latin typeface="Consolas"/>
                  <a:ea typeface="Consolas"/>
                  <a:cs typeface="Consolas"/>
                </a:rPr>
                <a:t>);</a:t>
              </a:r>
              <a:endParaRPr lang="en-US" sz="950" dirty="0"/>
            </a:p>
          </p:txBody>
        </p:sp>
        <p:sp>
          <p:nvSpPr>
            <p:cNvPr id="121" name="code_L15"/>
            <p:cNvSpPr txBox="1"/>
            <p:nvPr/>
          </p:nvSpPr>
          <p:spPr>
            <a:xfrm>
              <a:off x="771754" y="4944268"/>
              <a:ext cx="619224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2" name="code_L16"/>
            <p:cNvSpPr txBox="1"/>
            <p:nvPr/>
          </p:nvSpPr>
          <p:spPr>
            <a:xfrm>
              <a:off x="771754" y="5137308"/>
              <a:ext cx="61922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24" name="code_hl6"/>
          <p:cNvSpPr/>
          <p:nvPr/>
        </p:nvSpPr>
        <p:spPr>
          <a:xfrm>
            <a:off x="676656" y="3188620"/>
            <a:ext cx="6225240" cy="229616"/>
          </a:xfrm>
          <a:prstGeom prst="rect">
            <a:avLst/>
          </a:prstGeom>
          <a:solidFill>
            <a:srgbClr val="13D0F7">
              <a:alpha val="15000"/>
            </a:srgbClr>
          </a:solidFill>
          <a:ln w="12700">
            <a:solidFill>
              <a:srgbClr val="13D0F7"/>
            </a:solidFill>
            <a:prstDash val="solid"/>
          </a:ln>
        </p:spPr>
        <p:txBody>
          <a:bodyPr/>
          <a:lstStyle/>
          <a:p>
            <a:endParaRPr lang="en-US"/>
          </a:p>
        </p:txBody>
      </p:sp>
      <p:sp>
        <p:nvSpPr>
          <p:cNvPr id="125" name="code_hl11"/>
          <p:cNvSpPr/>
          <p:nvPr/>
        </p:nvSpPr>
        <p:spPr>
          <a:xfrm>
            <a:off x="676656" y="4153820"/>
            <a:ext cx="622524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26" name="i0"/>
          <p:cNvSpPr/>
          <p:nvPr/>
        </p:nvSpPr>
        <p:spPr>
          <a:xfrm>
            <a:off x="7223760" y="1600200"/>
            <a:ext cx="4406494" cy="749808"/>
          </a:xfrm>
          <a:prstGeom prst="roundRect">
            <a:avLst>
              <a:gd name="adj" fmla="val 12000"/>
            </a:avLst>
          </a:prstGeom>
          <a:solidFill>
            <a:srgbClr val="111B2E"/>
          </a:solidFill>
          <a:ln w="12700">
            <a:solidFill>
              <a:srgbClr val="60A5FA"/>
            </a:solidFill>
            <a:prstDash val="solid"/>
          </a:ln>
        </p:spPr>
        <p:txBody>
          <a:bodyPr wrap="square" lIns="137160" tIns="45720" rIns="91440" bIns="45720" rtlCol="0" anchor="ctr">
            <a:noAutofit/>
          </a:bodyPr>
          <a:lstStyle/>
          <a:p>
            <a:pPr marL="0" indent="0" algn="l">
              <a:spcBef>
                <a:spcPts val="0"/>
              </a:spcBef>
              <a:spcAft>
                <a:spcPts val="0"/>
              </a:spcAft>
              <a:buNone/>
            </a:pPr>
            <a:r>
              <a:rPr lang="en-US" sz="1050" b="1" dirty="0">
                <a:solidFill>
                  <a:srgbClr val="60A5FA"/>
                </a:solidFill>
                <a:latin typeface="Consolas"/>
                <a:ea typeface="Consolas"/>
                <a:cs typeface="Consolas"/>
              </a:rPr>
              <a:t>new </a:t>
            </a:r>
            <a:r>
              <a:rPr lang="en-US" sz="1050" b="0" dirty="0">
                <a:solidFill>
                  <a:srgbClr val="E2E8F0"/>
                </a:solidFill>
                <a:latin typeface="Consolas"/>
                <a:ea typeface="Consolas"/>
                <a:cs typeface="Consolas"/>
              </a:rPr>
              <a:t>FileEmployeeRepositoryTests()</a:t>
            </a:r>
            <a:endParaRPr lang="en-US" sz="1050" dirty="0"/>
          </a:p>
          <a:p>
            <a:pPr marL="0" indent="0" algn="l">
              <a:spcBef>
                <a:spcPts val="0"/>
              </a:spcBef>
              <a:spcAft>
                <a:spcPts val="0"/>
              </a:spcAft>
              <a:buNone/>
            </a:pPr>
            <a:r>
              <a:rPr lang="en-US" sz="1000" b="0" dirty="0">
                <a:solidFill>
                  <a:srgbClr val="CBD5E1"/>
                </a:solidFill>
                <a:latin typeface="Consolas"/>
                <a:ea typeface="Consolas"/>
                <a:cs typeface="Consolas"/>
              </a:rPr>
              <a:t>→ Add_ThenGetById_ReturnsIt  → Dispose</a:t>
            </a:r>
            <a:endParaRPr lang="en-US" sz="1000" dirty="0"/>
          </a:p>
        </p:txBody>
      </p:sp>
      <p:sp>
        <p:nvSpPr>
          <p:cNvPr id="127" name="i1"/>
          <p:cNvSpPr/>
          <p:nvPr/>
        </p:nvSpPr>
        <p:spPr>
          <a:xfrm>
            <a:off x="7223760" y="2468880"/>
            <a:ext cx="4406494" cy="749808"/>
          </a:xfrm>
          <a:prstGeom prst="roundRect">
            <a:avLst>
              <a:gd name="adj" fmla="val 12000"/>
            </a:avLst>
          </a:prstGeom>
          <a:solidFill>
            <a:srgbClr val="111B2E"/>
          </a:solidFill>
          <a:ln w="12700">
            <a:solidFill>
              <a:srgbClr val="60A5FA"/>
            </a:solidFill>
            <a:prstDash val="solid"/>
          </a:ln>
        </p:spPr>
        <p:txBody>
          <a:bodyPr wrap="square" lIns="137160" tIns="45720" rIns="91440" bIns="45720" rtlCol="0" anchor="ctr">
            <a:noAutofit/>
          </a:bodyPr>
          <a:lstStyle/>
          <a:p>
            <a:pPr marL="0" indent="0" algn="l">
              <a:spcBef>
                <a:spcPts val="0"/>
              </a:spcBef>
              <a:spcAft>
                <a:spcPts val="0"/>
              </a:spcAft>
              <a:buNone/>
            </a:pPr>
            <a:r>
              <a:rPr lang="en-US" sz="1050" b="1" dirty="0">
                <a:solidFill>
                  <a:srgbClr val="60A5FA"/>
                </a:solidFill>
                <a:latin typeface="Consolas"/>
                <a:ea typeface="Consolas"/>
                <a:cs typeface="Consolas"/>
              </a:rPr>
              <a:t>new </a:t>
            </a:r>
            <a:r>
              <a:rPr lang="en-US" sz="1050" b="0" dirty="0">
                <a:solidFill>
                  <a:srgbClr val="E2E8F0"/>
                </a:solidFill>
                <a:latin typeface="Consolas"/>
                <a:ea typeface="Consolas"/>
                <a:cs typeface="Consolas"/>
              </a:rPr>
              <a:t>FileEmployeeRepositoryTests()</a:t>
            </a:r>
            <a:endParaRPr lang="en-US" sz="1050" dirty="0"/>
          </a:p>
          <a:p>
            <a:pPr marL="0" indent="0" algn="l">
              <a:spcBef>
                <a:spcPts val="0"/>
              </a:spcBef>
              <a:spcAft>
                <a:spcPts val="0"/>
              </a:spcAft>
              <a:buNone/>
            </a:pPr>
            <a:r>
              <a:rPr lang="en-US" sz="1000" b="0" dirty="0">
                <a:solidFill>
                  <a:srgbClr val="CBD5E1"/>
                </a:solidFill>
                <a:latin typeface="Consolas"/>
                <a:ea typeface="Consolas"/>
                <a:cs typeface="Consolas"/>
              </a:rPr>
              <a:t>→ Add_Duplicate_ReturnsFalse  → Dispose</a:t>
            </a:r>
            <a:endParaRPr lang="en-US" sz="1000" dirty="0"/>
          </a:p>
        </p:txBody>
      </p:sp>
      <p:sp>
        <p:nvSpPr>
          <p:cNvPr id="128" name="i2"/>
          <p:cNvSpPr/>
          <p:nvPr/>
        </p:nvSpPr>
        <p:spPr>
          <a:xfrm>
            <a:off x="7223760" y="3337560"/>
            <a:ext cx="4406494" cy="749808"/>
          </a:xfrm>
          <a:prstGeom prst="roundRect">
            <a:avLst>
              <a:gd name="adj" fmla="val 12000"/>
            </a:avLst>
          </a:prstGeom>
          <a:solidFill>
            <a:srgbClr val="111B2E"/>
          </a:solidFill>
          <a:ln w="12700">
            <a:solidFill>
              <a:srgbClr val="60A5FA"/>
            </a:solidFill>
            <a:prstDash val="solid"/>
          </a:ln>
        </p:spPr>
        <p:txBody>
          <a:bodyPr wrap="square" lIns="137160" tIns="45720" rIns="91440" bIns="45720" rtlCol="0" anchor="ctr">
            <a:noAutofit/>
          </a:bodyPr>
          <a:lstStyle/>
          <a:p>
            <a:pPr marL="0" indent="0" algn="l">
              <a:spcBef>
                <a:spcPts val="0"/>
              </a:spcBef>
              <a:spcAft>
                <a:spcPts val="0"/>
              </a:spcAft>
              <a:buNone/>
            </a:pPr>
            <a:r>
              <a:rPr lang="en-US" sz="1050" b="1" dirty="0">
                <a:solidFill>
                  <a:srgbClr val="60A5FA"/>
                </a:solidFill>
                <a:latin typeface="Consolas"/>
                <a:ea typeface="Consolas"/>
                <a:cs typeface="Consolas"/>
              </a:rPr>
              <a:t>new </a:t>
            </a:r>
            <a:r>
              <a:rPr lang="en-US" sz="1050" b="0" dirty="0">
                <a:solidFill>
                  <a:srgbClr val="E2E8F0"/>
                </a:solidFill>
                <a:latin typeface="Consolas"/>
                <a:ea typeface="Consolas"/>
                <a:cs typeface="Consolas"/>
              </a:rPr>
              <a:t>FileEmployeeRepositoryTests()</a:t>
            </a:r>
            <a:endParaRPr lang="en-US" sz="1050" dirty="0"/>
          </a:p>
          <a:p>
            <a:pPr marL="0" indent="0" algn="l">
              <a:spcBef>
                <a:spcPts val="0"/>
              </a:spcBef>
              <a:spcAft>
                <a:spcPts val="0"/>
              </a:spcAft>
              <a:buNone/>
            </a:pPr>
            <a:r>
              <a:rPr lang="en-US" sz="1000" b="0" dirty="0">
                <a:solidFill>
                  <a:srgbClr val="CBD5E1"/>
                </a:solidFill>
                <a:latin typeface="Consolas"/>
                <a:ea typeface="Consolas"/>
                <a:cs typeface="Consolas"/>
              </a:rPr>
              <a:t>→ Delete_Missing_ReturnsFalse  → Dispose</a:t>
            </a:r>
            <a:endParaRPr lang="en-US" sz="1000" dirty="0"/>
          </a:p>
        </p:txBody>
      </p:sp>
      <p:sp>
        <p:nvSpPr>
          <p:cNvPr id="129" name="k1"/>
          <p:cNvSpPr/>
          <p:nvPr/>
        </p:nvSpPr>
        <p:spPr>
          <a:xfrm>
            <a:off x="7223760" y="4297680"/>
            <a:ext cx="4406494" cy="658368"/>
          </a:xfrm>
          <a:prstGeom prst="roundRect">
            <a:avLst>
              <a:gd name="adj" fmla="val 16000"/>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ISOLATED BY DESIGN</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No field survives into the next test.</a:t>
            </a:r>
            <a:endParaRPr lang="en-US" sz="1100" dirty="0"/>
          </a:p>
        </p:txBody>
      </p:sp>
      <p:sp>
        <p:nvSpPr>
          <p:cNvPr id="130" name="k2"/>
          <p:cNvSpPr/>
          <p:nvPr/>
        </p:nvSpPr>
        <p:spPr>
          <a:xfrm>
            <a:off x="7223760" y="5029200"/>
            <a:ext cx="4406494" cy="658368"/>
          </a:xfrm>
          <a:prstGeom prst="roundRect">
            <a:avLst>
              <a:gd name="adj" fmla="val 16000"/>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SHARE SOMETHING EXPENSIVE?</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IClassFixture&lt;T&gt;: one instance per class.</a:t>
            </a:r>
            <a:endParaRPr lang="en-US" sz="1100" dirty="0"/>
          </a:p>
        </p:txBody>
      </p:sp>
    </p:spTree>
    <p:extLst>
      <p:ext uri="{BB962C8B-B14F-4D97-AF65-F5344CB8AC3E}">
        <p14:creationId xmlns:p14="http://schemas.microsoft.com/office/powerpoint/2010/main" val="509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400"/>
                                        <p:tgtEl>
                                          <p:spTgt spid="1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4"/>
                                        </p:tgtEl>
                                        <p:attrNameLst>
                                          <p:attrName>style.visibility</p:attrName>
                                        </p:attrNameLst>
                                      </p:cBhvr>
                                      <p:to>
                                        <p:strVal val="visible"/>
                                      </p:to>
                                    </p:set>
                                    <p:animEffect transition="in" filter="fade">
                                      <p:cBhvr>
                                        <p:cTn id="10" dur="400"/>
                                        <p:tgtEl>
                                          <p:spTgt spid="1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5"/>
                                        </p:tgtEl>
                                        <p:attrNameLst>
                                          <p:attrName>style.visibility</p:attrName>
                                        </p:attrNameLst>
                                      </p:cBhvr>
                                      <p:to>
                                        <p:strVal val="visible"/>
                                      </p:to>
                                    </p:set>
                                    <p:animEffect transition="in" filter="fade">
                                      <p:cBhvr>
                                        <p:cTn id="13" dur="400"/>
                                        <p:tgtEl>
                                          <p:spTgt spid="1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6"/>
                                        </p:tgtEl>
                                        <p:attrNameLst>
                                          <p:attrName>style.visibility</p:attrName>
                                        </p:attrNameLst>
                                      </p:cBhvr>
                                      <p:to>
                                        <p:strVal val="visible"/>
                                      </p:to>
                                    </p:set>
                                    <p:animEffect transition="in" filter="fade">
                                      <p:cBhvr>
                                        <p:cTn id="18" dur="300"/>
                                        <p:tgtEl>
                                          <p:spTgt spid="126"/>
                                        </p:tgtEl>
                                      </p:cBhvr>
                                    </p:animEffect>
                                  </p:childTnLst>
                                </p:cTn>
                              </p:par>
                            </p:childTnLst>
                          </p:cTn>
                        </p:par>
                        <p:par>
                          <p:cTn id="19" fill="hold">
                            <p:stCondLst>
                              <p:cond delay="300"/>
                            </p:stCondLst>
                            <p:childTnLst>
                              <p:par>
                                <p:cTn id="20" presetID="10" presetClass="entr" presetSubtype="0" fill="hold" grpId="0" nodeType="after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300"/>
                                        <p:tgtEl>
                                          <p:spTgt spid="127"/>
                                        </p:tgtEl>
                                      </p:cBhvr>
                                    </p:animEffect>
                                  </p:childTnLst>
                                </p:cTn>
                              </p:par>
                            </p:childTnLst>
                          </p:cTn>
                        </p:par>
                        <p:par>
                          <p:cTn id="23" fill="hold">
                            <p:stCondLst>
                              <p:cond delay="600"/>
                            </p:stCondLst>
                            <p:childTnLst>
                              <p:par>
                                <p:cTn id="24" presetID="10" presetClass="entr" presetSubtype="0" fill="hold" grpId="0" nodeType="afterEffect">
                                  <p:stCondLst>
                                    <p:cond delay="0"/>
                                  </p:stCondLst>
                                  <p:childTnLst>
                                    <p:set>
                                      <p:cBhvr>
                                        <p:cTn id="25" dur="1" fill="hold">
                                          <p:stCondLst>
                                            <p:cond delay="0"/>
                                          </p:stCondLst>
                                        </p:cTn>
                                        <p:tgtEl>
                                          <p:spTgt spid="128"/>
                                        </p:tgtEl>
                                        <p:attrNameLst>
                                          <p:attrName>style.visibility</p:attrName>
                                        </p:attrNameLst>
                                      </p:cBhvr>
                                      <p:to>
                                        <p:strVal val="visible"/>
                                      </p:to>
                                    </p:set>
                                    <p:animEffect transition="in" filter="fade">
                                      <p:cBhvr>
                                        <p:cTn id="26" dur="300"/>
                                        <p:tgtEl>
                                          <p:spTgt spid="1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9"/>
                                        </p:tgtEl>
                                        <p:attrNameLst>
                                          <p:attrName>style.visibility</p:attrName>
                                        </p:attrNameLst>
                                      </p:cBhvr>
                                      <p:to>
                                        <p:strVal val="visible"/>
                                      </p:to>
                                    </p:set>
                                    <p:animEffect transition="in" filter="fade">
                                      <p:cBhvr>
                                        <p:cTn id="31" dur="400"/>
                                        <p:tgtEl>
                                          <p:spTgt spid="12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0"/>
                                        </p:tgtEl>
                                        <p:attrNameLst>
                                          <p:attrName>style.visibility</p:attrName>
                                        </p:attrNameLst>
                                      </p:cBhvr>
                                      <p:to>
                                        <p:strVal val="visible"/>
                                      </p:to>
                                    </p:set>
                                    <p:animEffect transition="in" filter="fade">
                                      <p:cBhvr>
                                        <p:cTn id="36" dur="4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5" grpId="0" animBg="1"/>
      <p:bldP spid="126" grpId="0" animBg="1"/>
      <p:bldP spid="127" grpId="0" animBg="1"/>
      <p:bldP spid="128" grpId="0" animBg="1"/>
      <p:bldP spid="129" grpId="0" animBg="1"/>
      <p:bldP spid="130"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FLAKY TESTS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Flaky Tests: Static Counters and Random Values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TESTABLE CODE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118</a:t>
            </a:r>
            <a:endParaRPr lang="en-US" sz="850" dirty="0"/>
          </a:p>
        </p:txBody>
      </p:sp>
      <p:grpSp>
        <p:nvGrpSpPr>
          <p:cNvPr id="122" name="dont"/>
          <p:cNvGrpSpPr/>
          <p:nvPr/>
        </p:nvGrpSpPr>
        <p:grpSpPr>
          <a:xfrm>
            <a:off x="543154" y="1572768"/>
            <a:ext cx="5440680" cy="3310128"/>
            <a:chOff x="543154" y="1572768"/>
            <a:chExt cx="5440680" cy="3310128"/>
          </a:xfrm>
        </p:grpSpPr>
        <p:sp>
          <p:nvSpPr>
            <p:cNvPr id="101" name="dont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2237438"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Invoice.cs + InvoiceTests.cs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class</a:t>
              </a:r>
              <a:r>
                <a:rPr lang="en-US" sz="950" b="0" dirty="0">
                  <a:solidFill>
                    <a:srgbClr val="E2E8F0"/>
                  </a:solidFill>
                  <a:latin typeface="Consolas"/>
                  <a:ea typeface="Consolas"/>
                  <a:cs typeface="Consolas"/>
                </a:rPr>
                <a:t> Invoice</a:t>
              </a:r>
              <a:endParaRPr lang="en-US" sz="950" dirty="0"/>
            </a:p>
          </p:txBody>
        </p:sp>
        <p:sp>
          <p:nvSpPr>
            <p:cNvPr id="110" name="dont_L01"/>
            <p:cNvSpPr txBox="1"/>
            <p:nvPr/>
          </p:nvSpPr>
          <p:spPr>
            <a:xfrm>
              <a:off x="77175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1" name="dont_L02"/>
            <p:cNvSpPr txBox="1"/>
            <p:nvPr/>
          </p:nvSpPr>
          <p:spPr>
            <a:xfrm>
              <a:off x="771754" y="243474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private</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static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_next = 1;</a:t>
              </a:r>
              <a:endParaRPr lang="en-US" sz="950" dirty="0"/>
            </a:p>
          </p:txBody>
        </p:sp>
        <p:sp>
          <p:nvSpPr>
            <p:cNvPr id="112" name="dont_L03"/>
            <p:cNvSpPr txBox="1"/>
            <p:nvPr/>
          </p:nvSpPr>
          <p:spPr>
            <a:xfrm>
              <a:off x="771754" y="26277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Number { </a:t>
              </a:r>
              <a:r>
                <a:rPr lang="en-US" sz="950" b="0" dirty="0">
                  <a:solidFill>
                    <a:srgbClr val="60A5FA"/>
                  </a:solidFill>
                  <a:latin typeface="Consolas"/>
                  <a:ea typeface="Consolas"/>
                  <a:cs typeface="Consolas"/>
                </a:rPr>
                <a:t>get</a:t>
              </a:r>
              <a:r>
                <a:rPr lang="en-US" sz="950" b="0" dirty="0">
                  <a:solidFill>
                    <a:srgbClr val="E2E8F0"/>
                  </a:solidFill>
                  <a:latin typeface="Consolas"/>
                  <a:ea typeface="Consolas"/>
                  <a:cs typeface="Consolas"/>
                </a:rPr>
                <a:t>; } = _next++;</a:t>
              </a:r>
              <a:endParaRPr lang="en-US" sz="950" dirty="0"/>
            </a:p>
          </p:txBody>
        </p:sp>
        <p:sp>
          <p:nvSpPr>
            <p:cNvPr id="113" name="dont_L04"/>
            <p:cNvSpPr txBox="1"/>
            <p:nvPr/>
          </p:nvSpPr>
          <p:spPr>
            <a:xfrm>
              <a:off x="771754" y="282082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 PaymentCode { </a:t>
              </a:r>
              <a:r>
                <a:rPr lang="en-US" sz="950" b="0" dirty="0">
                  <a:solidFill>
                    <a:srgbClr val="60A5FA"/>
                  </a:solidFill>
                  <a:latin typeface="Consolas"/>
                  <a:ea typeface="Consolas"/>
                  <a:cs typeface="Consolas"/>
                </a:rPr>
                <a:t>get</a:t>
              </a:r>
              <a:r>
                <a:rPr lang="en-US" sz="950" b="0" dirty="0">
                  <a:solidFill>
                    <a:srgbClr val="E2E8F0"/>
                  </a:solidFill>
                  <a:latin typeface="Consolas"/>
                  <a:ea typeface="Consolas"/>
                  <a:cs typeface="Consolas"/>
                </a:rPr>
                <a:t>; } =</a:t>
              </a:r>
              <a:endParaRPr lang="en-US" sz="950" dirty="0"/>
            </a:p>
          </p:txBody>
        </p:sp>
        <p:sp>
          <p:nvSpPr>
            <p:cNvPr id="114" name="dont_L05"/>
            <p:cNvSpPr txBox="1"/>
            <p:nvPr/>
          </p:nvSpPr>
          <p:spPr>
            <a:xfrm>
              <a:off x="771754" y="301386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Random.Shared.Next(1000, 10000).ToString();</a:t>
              </a:r>
              <a:endParaRPr lang="en-US" sz="950" dirty="0"/>
            </a:p>
          </p:txBody>
        </p:sp>
        <p:sp>
          <p:nvSpPr>
            <p:cNvPr id="115" name="dont_L06"/>
            <p:cNvSpPr txBox="1"/>
            <p:nvPr/>
          </p:nvSpPr>
          <p:spPr>
            <a:xfrm>
              <a:off x="771754" y="32069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6" name="dont_L08"/>
            <p:cNvSpPr txBox="1"/>
            <p:nvPr/>
          </p:nvSpPr>
          <p:spPr>
            <a:xfrm>
              <a:off x="771754" y="35929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17" name="dont_L09"/>
            <p:cNvSpPr txBox="1"/>
            <p:nvPr/>
          </p:nvSpPr>
          <p:spPr>
            <a:xfrm>
              <a:off x="771754" y="37860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FirstInvoice_IsNumber1()</a:t>
              </a:r>
              <a:endParaRPr lang="en-US" sz="950" dirty="0"/>
            </a:p>
          </p:txBody>
        </p:sp>
        <p:sp>
          <p:nvSpPr>
            <p:cNvPr id="118" name="dont_L10"/>
            <p:cNvSpPr txBox="1"/>
            <p:nvPr/>
          </p:nvSpPr>
          <p:spPr>
            <a:xfrm>
              <a:off x="771754" y="39790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9" name="dont_L11"/>
            <p:cNvSpPr txBox="1"/>
            <p:nvPr/>
          </p:nvSpPr>
          <p:spPr>
            <a:xfrm>
              <a:off x="771754" y="41721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Invoice().Number.ShouldBe(1);         </a:t>
              </a:r>
              <a:r>
                <a:rPr lang="en-US" sz="950" b="0" dirty="0">
                  <a:solidFill>
                    <a:srgbClr val="6FAE7A"/>
                  </a:solidFill>
                  <a:latin typeface="Consolas"/>
                  <a:ea typeface="Consolas"/>
                  <a:cs typeface="Consolas"/>
                </a:rPr>
                <a:t>// test order!</a:t>
              </a:r>
              <a:endParaRPr lang="en-US" sz="950" dirty="0"/>
            </a:p>
          </p:txBody>
        </p:sp>
        <p:sp>
          <p:nvSpPr>
            <p:cNvPr id="120" name="dont_L12"/>
            <p:cNvSpPr txBox="1"/>
            <p:nvPr/>
          </p:nvSpPr>
          <p:spPr>
            <a:xfrm>
              <a:off x="771754" y="436514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Invoice().PaymentCode.ShouldBe(</a:t>
              </a:r>
              <a:r>
                <a:rPr lang="en-US" sz="950" b="0" dirty="0">
                  <a:solidFill>
                    <a:srgbClr val="F0A98B"/>
                  </a:solidFill>
                  <a:latin typeface="Consolas"/>
                  <a:ea typeface="Consolas"/>
                  <a:cs typeface="Consolas"/>
                </a:rPr>
                <a:t>"4821"</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random!</a:t>
              </a:r>
              <a:endParaRPr lang="en-US" sz="950" dirty="0"/>
            </a:p>
          </p:txBody>
        </p:sp>
        <p:sp>
          <p:nvSpPr>
            <p:cNvPr id="121" name="dont_L13"/>
            <p:cNvSpPr txBox="1"/>
            <p:nvPr/>
          </p:nvSpPr>
          <p:spPr>
            <a:xfrm>
              <a:off x="771754" y="45581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23" name="dont_hl3"/>
          <p:cNvSpPr/>
          <p:nvPr/>
        </p:nvSpPr>
        <p:spPr>
          <a:xfrm>
            <a:off x="676656" y="2609500"/>
            <a:ext cx="5173680" cy="229616"/>
          </a:xfrm>
          <a:prstGeom prst="rect">
            <a:avLst/>
          </a:prstGeom>
          <a:solidFill>
            <a:srgbClr val="FBBF24">
              <a:alpha val="15000"/>
            </a:srgbClr>
          </a:solidFill>
          <a:ln w="12700">
            <a:solidFill>
              <a:srgbClr val="FBBF24"/>
            </a:solidFill>
            <a:prstDash val="solid"/>
          </a:ln>
        </p:spPr>
        <p:txBody>
          <a:bodyPr/>
          <a:lstStyle/>
          <a:p>
            <a:endParaRPr lang="en-US"/>
          </a:p>
        </p:txBody>
      </p:sp>
      <p:sp>
        <p:nvSpPr>
          <p:cNvPr id="124" name="dont_hl4"/>
          <p:cNvSpPr/>
          <p:nvPr/>
        </p:nvSpPr>
        <p:spPr>
          <a:xfrm>
            <a:off x="676656" y="2802540"/>
            <a:ext cx="5173680" cy="229616"/>
          </a:xfrm>
          <a:prstGeom prst="rect">
            <a:avLst/>
          </a:prstGeom>
          <a:solidFill>
            <a:srgbClr val="FBBF24">
              <a:alpha val="15000"/>
            </a:srgbClr>
          </a:solidFill>
          <a:ln w="12700">
            <a:solidFill>
              <a:srgbClr val="FBBF24"/>
            </a:solidFill>
            <a:prstDash val="solid"/>
          </a:ln>
        </p:spPr>
        <p:txBody>
          <a:bodyPr/>
          <a:lstStyle/>
          <a:p>
            <a:endParaRPr lang="en-US"/>
          </a:p>
        </p:txBody>
      </p:sp>
      <p:sp>
        <p:nvSpPr>
          <p:cNvPr id="125" name="dont_hl5"/>
          <p:cNvSpPr/>
          <p:nvPr/>
        </p:nvSpPr>
        <p:spPr>
          <a:xfrm>
            <a:off x="676656" y="2995580"/>
            <a:ext cx="5173680" cy="229616"/>
          </a:xfrm>
          <a:prstGeom prst="rect">
            <a:avLst/>
          </a:prstGeom>
          <a:solidFill>
            <a:srgbClr val="FBBF24">
              <a:alpha val="15000"/>
            </a:srgbClr>
          </a:solidFill>
          <a:ln w="12700">
            <a:solidFill>
              <a:srgbClr val="FBBF24"/>
            </a:solidFill>
            <a:prstDash val="solid"/>
          </a:ln>
        </p:spPr>
        <p:txBody>
          <a:bodyPr/>
          <a:lstStyle/>
          <a:p>
            <a:endParaRPr lang="en-US"/>
          </a:p>
        </p:txBody>
      </p:sp>
      <p:sp>
        <p:nvSpPr>
          <p:cNvPr id="126" name="dont_hl11"/>
          <p:cNvSpPr/>
          <p:nvPr/>
        </p:nvSpPr>
        <p:spPr>
          <a:xfrm>
            <a:off x="676656" y="415382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7" name="dont_hl12"/>
          <p:cNvSpPr/>
          <p:nvPr/>
        </p:nvSpPr>
        <p:spPr>
          <a:xfrm>
            <a:off x="676656" y="434686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49" name="do"/>
          <p:cNvGrpSpPr/>
          <p:nvPr/>
        </p:nvGrpSpPr>
        <p:grpSpPr>
          <a:xfrm>
            <a:off x="6189574" y="1572768"/>
            <a:ext cx="5440680" cy="3310128"/>
            <a:chOff x="6189574" y="1572768"/>
            <a:chExt cx="5440680" cy="3310128"/>
          </a:xfrm>
        </p:grpSpPr>
        <p:sp>
          <p:nvSpPr>
            <p:cNvPr id="128" name="do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9" name="do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0" name="do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31" name="do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32" name="do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33" name="do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34" name="do_tab"/>
            <p:cNvSpPr/>
            <p:nvPr/>
          </p:nvSpPr>
          <p:spPr>
            <a:xfrm>
              <a:off x="6970471" y="1620317"/>
              <a:ext cx="135184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InvoiceTests.cs</a:t>
              </a:r>
              <a:endParaRPr lang="en-US" sz="950" dirty="0"/>
            </a:p>
          </p:txBody>
        </p:sp>
        <p:sp>
          <p:nvSpPr>
            <p:cNvPr id="135" name="do_lbl"/>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6" name="do_L00"/>
            <p:cNvSpPr txBox="1"/>
            <p:nvPr/>
          </p:nvSpPr>
          <p:spPr>
            <a:xfrm>
              <a:off x="641817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37" name="do_L01"/>
            <p:cNvSpPr txBox="1"/>
            <p:nvPr/>
          </p:nvSpPr>
          <p:spPr>
            <a:xfrm>
              <a:off x="641817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NewInvoices_GetIncreasingNumbers()</a:t>
              </a:r>
              <a:endParaRPr lang="en-US" sz="950" dirty="0"/>
            </a:p>
          </p:txBody>
        </p:sp>
        <p:sp>
          <p:nvSpPr>
            <p:cNvPr id="138" name="do_L02"/>
            <p:cNvSpPr txBox="1"/>
            <p:nvPr/>
          </p:nvSpPr>
          <p:spPr>
            <a:xfrm>
              <a:off x="641817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9" name="do_L03"/>
            <p:cNvSpPr txBox="1"/>
            <p:nvPr/>
          </p:nvSpPr>
          <p:spPr>
            <a:xfrm>
              <a:off x="6418174" y="26277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first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Invoice();</a:t>
              </a:r>
              <a:endParaRPr lang="en-US" sz="950" dirty="0"/>
            </a:p>
          </p:txBody>
        </p:sp>
        <p:sp>
          <p:nvSpPr>
            <p:cNvPr id="140" name="do_L04"/>
            <p:cNvSpPr txBox="1"/>
            <p:nvPr/>
          </p:nvSpPr>
          <p:spPr>
            <a:xfrm>
              <a:off x="6418174" y="282082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second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Invoice();</a:t>
              </a:r>
              <a:endParaRPr lang="en-US" sz="950" dirty="0"/>
            </a:p>
          </p:txBody>
        </p:sp>
        <p:sp>
          <p:nvSpPr>
            <p:cNvPr id="141" name="do_L05"/>
            <p:cNvSpPr txBox="1"/>
            <p:nvPr/>
          </p:nvSpPr>
          <p:spPr>
            <a:xfrm>
              <a:off x="6418174" y="301386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second.Number.ShouldBe(first.Number + 1);     </a:t>
              </a:r>
              <a:r>
                <a:rPr lang="en-US" sz="950" b="0" dirty="0">
                  <a:solidFill>
                    <a:srgbClr val="6FAE7A"/>
                  </a:solidFill>
                  <a:latin typeface="Consolas"/>
                  <a:ea typeface="Consolas"/>
                  <a:cs typeface="Consolas"/>
                </a:rPr>
                <a:t>// relative</a:t>
              </a:r>
              <a:endParaRPr lang="en-US" sz="950" dirty="0"/>
            </a:p>
          </p:txBody>
        </p:sp>
        <p:sp>
          <p:nvSpPr>
            <p:cNvPr id="142" name="do_L06"/>
            <p:cNvSpPr txBox="1"/>
            <p:nvPr/>
          </p:nvSpPr>
          <p:spPr>
            <a:xfrm>
              <a:off x="6418174" y="32069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3" name="do_L08"/>
            <p:cNvSpPr txBox="1"/>
            <p:nvPr/>
          </p:nvSpPr>
          <p:spPr>
            <a:xfrm>
              <a:off x="6418174" y="35929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44" name="do_L09"/>
            <p:cNvSpPr txBox="1"/>
            <p:nvPr/>
          </p:nvSpPr>
          <p:spPr>
            <a:xfrm>
              <a:off x="6418174" y="37860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PaymentCode_HasFourDigits()</a:t>
              </a:r>
              <a:endParaRPr lang="en-US" sz="950" dirty="0"/>
            </a:p>
          </p:txBody>
        </p:sp>
        <p:sp>
          <p:nvSpPr>
            <p:cNvPr id="145" name="do_L10"/>
            <p:cNvSpPr txBox="1"/>
            <p:nvPr/>
          </p:nvSpPr>
          <p:spPr>
            <a:xfrm>
              <a:off x="6418174" y="39790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6" name="do_L11"/>
            <p:cNvSpPr txBox="1"/>
            <p:nvPr/>
          </p:nvSpPr>
          <p:spPr>
            <a:xfrm>
              <a:off x="6418174" y="41721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Invoice().PaymentCode.Length.ShouldBe(4);  </a:t>
              </a:r>
              <a:r>
                <a:rPr lang="en-US" sz="950" b="0" dirty="0">
                  <a:solidFill>
                    <a:srgbClr val="6FAE7A"/>
                  </a:solidFill>
                  <a:latin typeface="Consolas"/>
                  <a:ea typeface="Consolas"/>
                  <a:cs typeface="Consolas"/>
                </a:rPr>
                <a:t>// the shape</a:t>
              </a:r>
              <a:endParaRPr lang="en-US" sz="950" dirty="0"/>
            </a:p>
          </p:txBody>
        </p:sp>
        <p:sp>
          <p:nvSpPr>
            <p:cNvPr id="147" name="do_L12"/>
            <p:cNvSpPr txBox="1"/>
            <p:nvPr/>
          </p:nvSpPr>
          <p:spPr>
            <a:xfrm>
              <a:off x="6418174" y="43651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48" name="do_L13"/>
            <p:cNvSpPr txBox="1"/>
            <p:nvPr/>
          </p:nvSpPr>
          <p:spPr>
            <a:xfrm>
              <a:off x="6418174" y="45581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never change static or global settings in a test</a:t>
              </a:r>
              <a:endParaRPr lang="en-US" sz="950" dirty="0"/>
            </a:p>
          </p:txBody>
        </p:sp>
      </p:grpSp>
      <p:sp>
        <p:nvSpPr>
          <p:cNvPr id="150" name="do_hl5"/>
          <p:cNvSpPr/>
          <p:nvPr/>
        </p:nvSpPr>
        <p:spPr>
          <a:xfrm>
            <a:off x="6323076" y="299558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51" name="do_hl11"/>
          <p:cNvSpPr/>
          <p:nvPr/>
        </p:nvSpPr>
        <p:spPr>
          <a:xfrm>
            <a:off x="6323076" y="415382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52" name="arrow"/>
          <p:cNvCxnSpPr/>
          <p:nvPr/>
        </p:nvCxnSpPr>
        <p:spPr>
          <a:xfrm>
            <a:off x="6011266" y="3227832"/>
            <a:ext cx="150876" cy="0"/>
          </a:xfrm>
          <a:prstGeom prst="line">
            <a:avLst/>
          </a:prstGeom>
          <a:ln w="28575">
            <a:solidFill>
              <a:srgbClr val="13D0F7"/>
            </a:solidFill>
            <a:tailEnd type="triangle" w="med" len="med"/>
          </a:ln>
        </p:spPr>
      </p:cxnSp>
      <p:sp>
        <p:nvSpPr>
          <p:cNvPr id="153" name="why"/>
          <p:cNvSpPr/>
          <p:nvPr/>
        </p:nvSpPr>
        <p:spPr>
          <a:xfrm>
            <a:off x="543154" y="5020056"/>
            <a:ext cx="5440680" cy="103327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WHY IT FAILS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Static counters, global settings and random values make results depend on which tests ran before, or in parallel.</a:t>
            </a:r>
            <a:endParaRPr lang="en-US" sz="1200" dirty="0"/>
          </a:p>
        </p:txBody>
      </p:sp>
      <p:sp>
        <p:nvSpPr>
          <p:cNvPr id="154" name="when"/>
          <p:cNvSpPr/>
          <p:nvPr/>
        </p:nvSpPr>
        <p:spPr>
          <a:xfrm>
            <a:off x="6189574" y="5020056"/>
            <a:ext cx="5440680" cy="103327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USE IT WHEN</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Assert relative to the objects, check the shape of random values, leave global state alone. Every test must pass alone AND together.</a:t>
            </a:r>
            <a:endParaRPr lang="en-US" sz="1200" dirty="0"/>
          </a:p>
        </p:txBody>
      </p:sp>
    </p:spTree>
    <p:extLst>
      <p:ext uri="{BB962C8B-B14F-4D97-AF65-F5344CB8AC3E}">
        <p14:creationId xmlns:p14="http://schemas.microsoft.com/office/powerpoint/2010/main" val="51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400"/>
                                        <p:tgtEl>
                                          <p:spTgt spid="1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400"/>
                                        <p:tgtEl>
                                          <p:spTgt spid="1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400"/>
                                        <p:tgtEl>
                                          <p:spTgt spid="1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5"/>
                                        </p:tgtEl>
                                        <p:attrNameLst>
                                          <p:attrName>style.visibility</p:attrName>
                                        </p:attrNameLst>
                                      </p:cBhvr>
                                      <p:to>
                                        <p:strVal val="visible"/>
                                      </p:to>
                                    </p:set>
                                    <p:animEffect transition="in" filter="fade">
                                      <p:cBhvr>
                                        <p:cTn id="16" dur="400"/>
                                        <p:tgtEl>
                                          <p:spTgt spid="1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6"/>
                                        </p:tgtEl>
                                        <p:attrNameLst>
                                          <p:attrName>style.visibility</p:attrName>
                                        </p:attrNameLst>
                                      </p:cBhvr>
                                      <p:to>
                                        <p:strVal val="visible"/>
                                      </p:to>
                                    </p:set>
                                    <p:animEffect transition="in" filter="fade">
                                      <p:cBhvr>
                                        <p:cTn id="19" dur="400"/>
                                        <p:tgtEl>
                                          <p:spTgt spid="1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400"/>
                                        <p:tgtEl>
                                          <p:spTgt spid="1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3"/>
                                        </p:tgtEl>
                                        <p:attrNameLst>
                                          <p:attrName>style.visibility</p:attrName>
                                        </p:attrNameLst>
                                      </p:cBhvr>
                                      <p:to>
                                        <p:strVal val="visible"/>
                                      </p:to>
                                    </p:set>
                                    <p:animEffect transition="in" filter="fade">
                                      <p:cBhvr>
                                        <p:cTn id="27" dur="400"/>
                                        <p:tgtEl>
                                          <p:spTgt spid="15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2"/>
                                        </p:tgtEl>
                                        <p:attrNameLst>
                                          <p:attrName>style.visibility</p:attrName>
                                        </p:attrNameLst>
                                      </p:cBhvr>
                                      <p:to>
                                        <p:strVal val="visible"/>
                                      </p:to>
                                    </p:set>
                                    <p:animEffect transition="in" filter="fade">
                                      <p:cBhvr>
                                        <p:cTn id="32" dur="400"/>
                                        <p:tgtEl>
                                          <p:spTgt spid="152"/>
                                        </p:tgtEl>
                                      </p:cBhvr>
                                    </p:animEffect>
                                  </p:childTnLst>
                                </p:cTn>
                              </p:par>
                              <p:par>
                                <p:cTn id="33" presetID="10" presetClass="entr" presetSubtype="0" fill="hold" nodeType="withEffect">
                                  <p:stCondLst>
                                    <p:cond delay="0"/>
                                  </p:stCondLst>
                                  <p:childTnLst>
                                    <p:set>
                                      <p:cBhvr>
                                        <p:cTn id="34" dur="1" fill="hold">
                                          <p:stCondLst>
                                            <p:cond delay="0"/>
                                          </p:stCondLst>
                                        </p:cTn>
                                        <p:tgtEl>
                                          <p:spTgt spid="149"/>
                                        </p:tgtEl>
                                        <p:attrNameLst>
                                          <p:attrName>style.visibility</p:attrName>
                                        </p:attrNameLst>
                                      </p:cBhvr>
                                      <p:to>
                                        <p:strVal val="visible"/>
                                      </p:to>
                                    </p:set>
                                    <p:animEffect transition="in" filter="fade">
                                      <p:cBhvr>
                                        <p:cTn id="35" dur="400"/>
                                        <p:tgtEl>
                                          <p:spTgt spid="14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0"/>
                                        </p:tgtEl>
                                        <p:attrNameLst>
                                          <p:attrName>style.visibility</p:attrName>
                                        </p:attrNameLst>
                                      </p:cBhvr>
                                      <p:to>
                                        <p:strVal val="visible"/>
                                      </p:to>
                                    </p:set>
                                    <p:animEffect transition="in" filter="fade">
                                      <p:cBhvr>
                                        <p:cTn id="38" dur="400"/>
                                        <p:tgtEl>
                                          <p:spTgt spid="15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1"/>
                                        </p:tgtEl>
                                        <p:attrNameLst>
                                          <p:attrName>style.visibility</p:attrName>
                                        </p:attrNameLst>
                                      </p:cBhvr>
                                      <p:to>
                                        <p:strVal val="visible"/>
                                      </p:to>
                                    </p:set>
                                    <p:animEffect transition="in" filter="fade">
                                      <p:cBhvr>
                                        <p:cTn id="41" dur="400"/>
                                        <p:tgtEl>
                                          <p:spTgt spid="15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4"/>
                                        </p:tgtEl>
                                        <p:attrNameLst>
                                          <p:attrName>style.visibility</p:attrName>
                                        </p:attrNameLst>
                                      </p:cBhvr>
                                      <p:to>
                                        <p:strVal val="visible"/>
                                      </p:to>
                                    </p:set>
                                    <p:animEffect transition="in" filter="fade">
                                      <p:cBhvr>
                                        <p:cTn id="46" dur="4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P spid="125" grpId="0" animBg="1"/>
      <p:bldP spid="126" grpId="0" animBg="1"/>
      <p:bldP spid="127" grpId="0" animBg="1"/>
      <p:bldP spid="150" grpId="0" animBg="1"/>
      <p:bldP spid="151" grpId="0" animBg="1"/>
      <p:bldP spid="153" grpId="0" animBg="1"/>
      <p:bldP spid="15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56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TESTABLE CODE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Testable Code: Do Not Read the Clock Inside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TESTABLE CODE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119</a:t>
            </a:r>
            <a:endParaRPr lang="en-US" sz="850" dirty="0"/>
          </a:p>
        </p:txBody>
      </p:sp>
      <p:grpSp>
        <p:nvGrpSpPr>
          <p:cNvPr id="120" name="dont"/>
          <p:cNvGrpSpPr/>
          <p:nvPr/>
        </p:nvGrpSpPr>
        <p:grpSpPr>
          <a:xfrm>
            <a:off x="543154" y="1572768"/>
            <a:ext cx="5440680" cy="3310128"/>
            <a:chOff x="543154" y="1572768"/>
            <a:chExt cx="5440680" cy="3310128"/>
          </a:xfrm>
        </p:grpSpPr>
        <p:sp>
          <p:nvSpPr>
            <p:cNvPr id="101" name="dont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ShopHours.cs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class</a:t>
              </a:r>
              <a:r>
                <a:rPr lang="en-US" sz="950" b="0" dirty="0">
                  <a:solidFill>
                    <a:srgbClr val="E2E8F0"/>
                  </a:solidFill>
                  <a:latin typeface="Consolas"/>
                  <a:ea typeface="Consolas"/>
                  <a:cs typeface="Consolas"/>
                </a:rPr>
                <a:t> ShopHours</a:t>
              </a:r>
              <a:endParaRPr lang="en-US" sz="950" dirty="0"/>
            </a:p>
          </p:txBody>
        </p:sp>
        <p:sp>
          <p:nvSpPr>
            <p:cNvPr id="110" name="dont_L01"/>
            <p:cNvSpPr txBox="1"/>
            <p:nvPr/>
          </p:nvSpPr>
          <p:spPr>
            <a:xfrm>
              <a:off x="77175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1" name="dont_L02"/>
            <p:cNvSpPr txBox="1"/>
            <p:nvPr/>
          </p:nvSpPr>
          <p:spPr>
            <a:xfrm>
              <a:off x="771754" y="243474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bool</a:t>
              </a:r>
              <a:r>
                <a:rPr lang="en-US" sz="950" b="0" dirty="0">
                  <a:solidFill>
                    <a:srgbClr val="E2E8F0"/>
                  </a:solidFill>
                  <a:latin typeface="Consolas"/>
                  <a:ea typeface="Consolas"/>
                  <a:cs typeface="Consolas"/>
                </a:rPr>
                <a:t> IsOpen() =&gt;</a:t>
              </a:r>
              <a:endParaRPr lang="en-US" sz="950" dirty="0"/>
            </a:p>
          </p:txBody>
        </p:sp>
        <p:sp>
          <p:nvSpPr>
            <p:cNvPr id="112" name="dont_L03"/>
            <p:cNvSpPr txBox="1"/>
            <p:nvPr/>
          </p:nvSpPr>
          <p:spPr>
            <a:xfrm>
              <a:off x="771754" y="262778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DateTime.Now.Hour </a:t>
              </a:r>
              <a:r>
                <a:rPr lang="en-US" sz="950" b="0" dirty="0">
                  <a:solidFill>
                    <a:srgbClr val="60A5FA"/>
                  </a:solidFill>
                  <a:latin typeface="Consolas"/>
                  <a:ea typeface="Consolas"/>
                  <a:cs typeface="Consolas"/>
                </a:rPr>
                <a:t>is</a:t>
              </a:r>
              <a:r>
                <a:rPr lang="en-US" sz="950" b="0" dirty="0">
                  <a:solidFill>
                    <a:srgbClr val="E2E8F0"/>
                  </a:solidFill>
                  <a:latin typeface="Consolas"/>
                  <a:ea typeface="Consolas"/>
                  <a:cs typeface="Consolas"/>
                </a:rPr>
                <a:t> &gt;= 9 and &lt; 22;    </a:t>
              </a:r>
              <a:r>
                <a:rPr lang="en-US" sz="950" b="0" dirty="0">
                  <a:solidFill>
                    <a:srgbClr val="6FAE7A"/>
                  </a:solidFill>
                  <a:latin typeface="Consolas"/>
                  <a:ea typeface="Consolas"/>
                  <a:cs typeface="Consolas"/>
                </a:rPr>
                <a:t>// hidden input</a:t>
              </a:r>
              <a:endParaRPr lang="en-US" sz="950" dirty="0"/>
            </a:p>
          </p:txBody>
        </p:sp>
        <p:sp>
          <p:nvSpPr>
            <p:cNvPr id="113" name="dont_L04"/>
            <p:cNvSpPr txBox="1"/>
            <p:nvPr/>
          </p:nvSpPr>
          <p:spPr>
            <a:xfrm>
              <a:off x="771754" y="28208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4" name="dont_L06"/>
            <p:cNvSpPr txBox="1"/>
            <p:nvPr/>
          </p:nvSpPr>
          <p:spPr>
            <a:xfrm>
              <a:off x="771754" y="32069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15" name="dont_L07"/>
            <p:cNvSpPr txBox="1"/>
            <p:nvPr/>
          </p:nvSpPr>
          <p:spPr>
            <a:xfrm>
              <a:off x="771754" y="33999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IsOpen_At11PM_IsClosed()</a:t>
              </a:r>
              <a:endParaRPr lang="en-US" sz="950" dirty="0"/>
            </a:p>
          </p:txBody>
        </p:sp>
        <p:sp>
          <p:nvSpPr>
            <p:cNvPr id="116" name="dont_L08"/>
            <p:cNvSpPr txBox="1"/>
            <p:nvPr/>
          </p:nvSpPr>
          <p:spPr>
            <a:xfrm>
              <a:off x="771754" y="35929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7" name="dont_L09"/>
            <p:cNvSpPr txBox="1"/>
            <p:nvPr/>
          </p:nvSpPr>
          <p:spPr>
            <a:xfrm>
              <a:off x="771754" y="378602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ShopHours().IsOpen().ShouldBeFalse();</a:t>
              </a:r>
              <a:endParaRPr lang="en-US" sz="950" dirty="0"/>
            </a:p>
          </p:txBody>
        </p:sp>
        <p:sp>
          <p:nvSpPr>
            <p:cNvPr id="118" name="dont_L10"/>
            <p:cNvSpPr txBox="1"/>
            <p:nvPr/>
          </p:nvSpPr>
          <p:spPr>
            <a:xfrm>
              <a:off x="771754" y="39790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9" name="dont_L11"/>
            <p:cNvSpPr txBox="1"/>
            <p:nvPr/>
          </p:nvSpPr>
          <p:spPr>
            <a:xfrm>
              <a:off x="771754" y="41721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green at night, red during the day</a:t>
              </a:r>
              <a:endParaRPr lang="en-US" sz="950" dirty="0"/>
            </a:p>
          </p:txBody>
        </p:sp>
      </p:grpSp>
      <p:sp>
        <p:nvSpPr>
          <p:cNvPr id="121" name="dont_hl3"/>
          <p:cNvSpPr/>
          <p:nvPr/>
        </p:nvSpPr>
        <p:spPr>
          <a:xfrm>
            <a:off x="676656" y="260950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44" name="do"/>
          <p:cNvGrpSpPr/>
          <p:nvPr/>
        </p:nvGrpSpPr>
        <p:grpSpPr>
          <a:xfrm>
            <a:off x="6189574" y="1572768"/>
            <a:ext cx="5440680" cy="3310128"/>
            <a:chOff x="6189574" y="1572768"/>
            <a:chExt cx="5440680" cy="3310128"/>
          </a:xfrm>
        </p:grpSpPr>
        <p:sp>
          <p:nvSpPr>
            <p:cNvPr id="122" name="do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3" name="do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do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5" name="do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do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do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do_tab"/>
            <p:cNvSpPr/>
            <p:nvPr/>
          </p:nvSpPr>
          <p:spPr>
            <a:xfrm>
              <a:off x="697047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ShopHours.cs</a:t>
              </a:r>
              <a:endParaRPr lang="en-US" sz="950" dirty="0"/>
            </a:p>
          </p:txBody>
        </p:sp>
        <p:sp>
          <p:nvSpPr>
            <p:cNvPr id="129" name="do_lbl"/>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0" name="do_L00"/>
            <p:cNvSpPr txBox="1"/>
            <p:nvPr/>
          </p:nvSpPr>
          <p:spPr>
            <a:xfrm>
              <a:off x="641817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class</a:t>
              </a:r>
              <a:r>
                <a:rPr lang="en-US" sz="950" b="0" dirty="0">
                  <a:solidFill>
                    <a:srgbClr val="E2E8F0"/>
                  </a:solidFill>
                  <a:latin typeface="Consolas"/>
                  <a:ea typeface="Consolas"/>
                  <a:cs typeface="Consolas"/>
                </a:rPr>
                <a:t> ShopHours(TimeProvider clock)</a:t>
              </a:r>
              <a:endParaRPr lang="en-US" sz="950" dirty="0"/>
            </a:p>
          </p:txBody>
        </p:sp>
        <p:sp>
          <p:nvSpPr>
            <p:cNvPr id="131" name="do_L01"/>
            <p:cNvSpPr txBox="1"/>
            <p:nvPr/>
          </p:nvSpPr>
          <p:spPr>
            <a:xfrm>
              <a:off x="641817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2" name="do_L02"/>
            <p:cNvSpPr txBox="1"/>
            <p:nvPr/>
          </p:nvSpPr>
          <p:spPr>
            <a:xfrm>
              <a:off x="6418174" y="243474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bool</a:t>
              </a:r>
              <a:r>
                <a:rPr lang="en-US" sz="950" b="0" dirty="0">
                  <a:solidFill>
                    <a:srgbClr val="E2E8F0"/>
                  </a:solidFill>
                  <a:latin typeface="Consolas"/>
                  <a:ea typeface="Consolas"/>
                  <a:cs typeface="Consolas"/>
                </a:rPr>
                <a:t> IsOpen() =&gt;</a:t>
              </a:r>
              <a:endParaRPr lang="en-US" sz="950" dirty="0"/>
            </a:p>
          </p:txBody>
        </p:sp>
        <p:sp>
          <p:nvSpPr>
            <p:cNvPr id="133" name="do_L03"/>
            <p:cNvSpPr txBox="1"/>
            <p:nvPr/>
          </p:nvSpPr>
          <p:spPr>
            <a:xfrm>
              <a:off x="6418174" y="262778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clock.GetLocalNow().Hour </a:t>
              </a:r>
              <a:r>
                <a:rPr lang="en-US" sz="950" b="0" dirty="0">
                  <a:solidFill>
                    <a:srgbClr val="60A5FA"/>
                  </a:solidFill>
                  <a:latin typeface="Consolas"/>
                  <a:ea typeface="Consolas"/>
                  <a:cs typeface="Consolas"/>
                </a:rPr>
                <a:t>is</a:t>
              </a:r>
              <a:r>
                <a:rPr lang="en-US" sz="950" b="0" dirty="0">
                  <a:solidFill>
                    <a:srgbClr val="E2E8F0"/>
                  </a:solidFill>
                  <a:latin typeface="Consolas"/>
                  <a:ea typeface="Consolas"/>
                  <a:cs typeface="Consolas"/>
                </a:rPr>
                <a:t> &gt;= 9 and &lt; 22;</a:t>
              </a:r>
              <a:endParaRPr lang="en-US" sz="950" dirty="0"/>
            </a:p>
          </p:txBody>
        </p:sp>
        <p:sp>
          <p:nvSpPr>
            <p:cNvPr id="134" name="do_L04"/>
            <p:cNvSpPr txBox="1"/>
            <p:nvPr/>
          </p:nvSpPr>
          <p:spPr>
            <a:xfrm>
              <a:off x="6418174" y="28208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5" name="do_L05"/>
            <p:cNvSpPr txBox="1"/>
            <p:nvPr/>
          </p:nvSpPr>
          <p:spPr>
            <a:xfrm>
              <a:off x="6418174" y="30138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36" name="do_L06"/>
            <p:cNvSpPr txBox="1"/>
            <p:nvPr/>
          </p:nvSpPr>
          <p:spPr>
            <a:xfrm>
              <a:off x="6418174" y="32069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IsOpen_At11PM_IsClosed()</a:t>
              </a:r>
              <a:endParaRPr lang="en-US" sz="950" dirty="0"/>
            </a:p>
          </p:txBody>
        </p:sp>
        <p:sp>
          <p:nvSpPr>
            <p:cNvPr id="137" name="do_L07"/>
            <p:cNvSpPr txBox="1"/>
            <p:nvPr/>
          </p:nvSpPr>
          <p:spPr>
            <a:xfrm>
              <a:off x="6418174" y="33999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8" name="do_L08"/>
            <p:cNvSpPr txBox="1"/>
            <p:nvPr/>
          </p:nvSpPr>
          <p:spPr>
            <a:xfrm>
              <a:off x="6418174" y="35929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clock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FakeTimeProvider(</a:t>
              </a:r>
              <a:endParaRPr lang="en-US" sz="950" dirty="0"/>
            </a:p>
          </p:txBody>
        </p:sp>
        <p:sp>
          <p:nvSpPr>
            <p:cNvPr id="139" name="do_L09"/>
            <p:cNvSpPr txBox="1"/>
            <p:nvPr/>
          </p:nvSpPr>
          <p:spPr>
            <a:xfrm>
              <a:off x="6418174" y="378602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DateTimeOffset(2026, 10, 11, 23, 0, 0, TimeSpan.Zero));</a:t>
              </a:r>
              <a:endParaRPr lang="en-US" sz="950" dirty="0"/>
            </a:p>
          </p:txBody>
        </p:sp>
        <p:sp>
          <p:nvSpPr>
            <p:cNvPr id="140" name="do_L10"/>
            <p:cNvSpPr txBox="1"/>
            <p:nvPr/>
          </p:nvSpPr>
          <p:spPr>
            <a:xfrm>
              <a:off x="6418174" y="397906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ShopHours(clock).IsOpen().ShouldBeFalse();</a:t>
              </a:r>
              <a:endParaRPr lang="en-US" sz="950" dirty="0"/>
            </a:p>
          </p:txBody>
        </p:sp>
        <p:sp>
          <p:nvSpPr>
            <p:cNvPr id="141" name="do_L11"/>
            <p:cNvSpPr txBox="1"/>
            <p:nvPr/>
          </p:nvSpPr>
          <p:spPr>
            <a:xfrm>
              <a:off x="6418174" y="41721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clock.Advance(TimeSpan.FromHours(10));      </a:t>
              </a:r>
              <a:r>
                <a:rPr lang="en-US" sz="950" b="0" dirty="0">
                  <a:solidFill>
                    <a:srgbClr val="6FAE7A"/>
                  </a:solidFill>
                  <a:latin typeface="Consolas"/>
                  <a:ea typeface="Consolas"/>
                  <a:cs typeface="Consolas"/>
                </a:rPr>
                <a:t>// 09:00</a:t>
              </a:r>
              <a:endParaRPr lang="en-US" sz="950" dirty="0"/>
            </a:p>
          </p:txBody>
        </p:sp>
        <p:sp>
          <p:nvSpPr>
            <p:cNvPr id="142" name="do_L12"/>
            <p:cNvSpPr txBox="1"/>
            <p:nvPr/>
          </p:nvSpPr>
          <p:spPr>
            <a:xfrm>
              <a:off x="6418174" y="436514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ShopHours(clock).IsOpen().ShouldBeTrue();</a:t>
              </a:r>
              <a:endParaRPr lang="en-US" sz="950" dirty="0"/>
            </a:p>
          </p:txBody>
        </p:sp>
        <p:sp>
          <p:nvSpPr>
            <p:cNvPr id="143" name="do_L13"/>
            <p:cNvSpPr txBox="1"/>
            <p:nvPr/>
          </p:nvSpPr>
          <p:spPr>
            <a:xfrm>
              <a:off x="6418174" y="45581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45" name="do_hl3"/>
          <p:cNvSpPr/>
          <p:nvPr/>
        </p:nvSpPr>
        <p:spPr>
          <a:xfrm>
            <a:off x="6323076" y="260950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6" name="do_hl8"/>
          <p:cNvSpPr/>
          <p:nvPr/>
        </p:nvSpPr>
        <p:spPr>
          <a:xfrm>
            <a:off x="6323076" y="357470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7" name="do_hl9"/>
          <p:cNvSpPr/>
          <p:nvPr/>
        </p:nvSpPr>
        <p:spPr>
          <a:xfrm>
            <a:off x="6323076" y="376774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48" name="arrow"/>
          <p:cNvCxnSpPr/>
          <p:nvPr/>
        </p:nvCxnSpPr>
        <p:spPr>
          <a:xfrm>
            <a:off x="6011266" y="3227832"/>
            <a:ext cx="150876" cy="0"/>
          </a:xfrm>
          <a:prstGeom prst="line">
            <a:avLst/>
          </a:prstGeom>
          <a:ln w="28575">
            <a:solidFill>
              <a:srgbClr val="13D0F7"/>
            </a:solidFill>
            <a:tailEnd type="triangle" w="med" len="med"/>
          </a:ln>
        </p:spPr>
      </p:cxnSp>
      <p:sp>
        <p:nvSpPr>
          <p:cNvPr id="149" name="why"/>
          <p:cNvSpPr/>
          <p:nvPr/>
        </p:nvSpPr>
        <p:spPr>
          <a:xfrm>
            <a:off x="543154" y="5020056"/>
            <a:ext cx="5440680" cy="103327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WHY IT FAILS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DateTime.Now, Random, files and the network are hidden inputs: the result changes from run to run, so the test is flaky.</a:t>
            </a:r>
            <a:endParaRPr lang="en-US" sz="1200" dirty="0"/>
          </a:p>
        </p:txBody>
      </p:sp>
      <p:sp>
        <p:nvSpPr>
          <p:cNvPr id="150" name="when"/>
          <p:cNvSpPr/>
          <p:nvPr/>
        </p:nvSpPr>
        <p:spPr>
          <a:xfrm>
            <a:off x="6189574" y="5020056"/>
            <a:ext cx="5440680" cy="103327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USE IT WHEN</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Pass time in: TimeProvider (production: TimeProvider.System, tests: FakeTimeProvider) or a DateTime parameter.</a:t>
            </a:r>
            <a:endParaRPr lang="en-US" sz="1200" dirty="0"/>
          </a:p>
        </p:txBody>
      </p:sp>
    </p:spTree>
    <p:extLst>
      <p:ext uri="{BB962C8B-B14F-4D97-AF65-F5344CB8AC3E}">
        <p14:creationId xmlns:p14="http://schemas.microsoft.com/office/powerpoint/2010/main" val="51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400"/>
                                        <p:tgtEl>
                                          <p:spTgt spid="1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1"/>
                                        </p:tgtEl>
                                        <p:attrNameLst>
                                          <p:attrName>style.visibility</p:attrName>
                                        </p:attrNameLst>
                                      </p:cBhvr>
                                      <p:to>
                                        <p:strVal val="visible"/>
                                      </p:to>
                                    </p:set>
                                    <p:animEffect transition="in" filter="fade">
                                      <p:cBhvr>
                                        <p:cTn id="10" dur="400"/>
                                        <p:tgtEl>
                                          <p:spTgt spid="1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9"/>
                                        </p:tgtEl>
                                        <p:attrNameLst>
                                          <p:attrName>style.visibility</p:attrName>
                                        </p:attrNameLst>
                                      </p:cBhvr>
                                      <p:to>
                                        <p:strVal val="visible"/>
                                      </p:to>
                                    </p:set>
                                    <p:animEffect transition="in" filter="fade">
                                      <p:cBhvr>
                                        <p:cTn id="15" dur="400"/>
                                        <p:tgtEl>
                                          <p:spTgt spid="1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8"/>
                                        </p:tgtEl>
                                        <p:attrNameLst>
                                          <p:attrName>style.visibility</p:attrName>
                                        </p:attrNameLst>
                                      </p:cBhvr>
                                      <p:to>
                                        <p:strVal val="visible"/>
                                      </p:to>
                                    </p:set>
                                    <p:animEffect transition="in" filter="fade">
                                      <p:cBhvr>
                                        <p:cTn id="20" dur="400"/>
                                        <p:tgtEl>
                                          <p:spTgt spid="148"/>
                                        </p:tgtEl>
                                      </p:cBhvr>
                                    </p:animEffect>
                                  </p:childTnLst>
                                </p:cTn>
                              </p:par>
                              <p:par>
                                <p:cTn id="21" presetID="10" presetClass="entr" presetSubtype="0" fill="hold" nodeType="withEffect">
                                  <p:stCondLst>
                                    <p:cond delay="0"/>
                                  </p:stCondLst>
                                  <p:childTnLst>
                                    <p:set>
                                      <p:cBhvr>
                                        <p:cTn id="22" dur="1" fill="hold">
                                          <p:stCondLst>
                                            <p:cond delay="0"/>
                                          </p:stCondLst>
                                        </p:cTn>
                                        <p:tgtEl>
                                          <p:spTgt spid="144"/>
                                        </p:tgtEl>
                                        <p:attrNameLst>
                                          <p:attrName>style.visibility</p:attrName>
                                        </p:attrNameLst>
                                      </p:cBhvr>
                                      <p:to>
                                        <p:strVal val="visible"/>
                                      </p:to>
                                    </p:set>
                                    <p:animEffect transition="in" filter="fade">
                                      <p:cBhvr>
                                        <p:cTn id="23" dur="400"/>
                                        <p:tgtEl>
                                          <p:spTgt spid="14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5"/>
                                        </p:tgtEl>
                                        <p:attrNameLst>
                                          <p:attrName>style.visibility</p:attrName>
                                        </p:attrNameLst>
                                      </p:cBhvr>
                                      <p:to>
                                        <p:strVal val="visible"/>
                                      </p:to>
                                    </p:set>
                                    <p:animEffect transition="in" filter="fade">
                                      <p:cBhvr>
                                        <p:cTn id="26" dur="400"/>
                                        <p:tgtEl>
                                          <p:spTgt spid="14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6"/>
                                        </p:tgtEl>
                                        <p:attrNameLst>
                                          <p:attrName>style.visibility</p:attrName>
                                        </p:attrNameLst>
                                      </p:cBhvr>
                                      <p:to>
                                        <p:strVal val="visible"/>
                                      </p:to>
                                    </p:set>
                                    <p:animEffect transition="in" filter="fade">
                                      <p:cBhvr>
                                        <p:cTn id="29" dur="400"/>
                                        <p:tgtEl>
                                          <p:spTgt spid="1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7"/>
                                        </p:tgtEl>
                                        <p:attrNameLst>
                                          <p:attrName>style.visibility</p:attrName>
                                        </p:attrNameLst>
                                      </p:cBhvr>
                                      <p:to>
                                        <p:strVal val="visible"/>
                                      </p:to>
                                    </p:set>
                                    <p:animEffect transition="in" filter="fade">
                                      <p:cBhvr>
                                        <p:cTn id="32" dur="400"/>
                                        <p:tgtEl>
                                          <p:spTgt spid="14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0"/>
                                        </p:tgtEl>
                                        <p:attrNameLst>
                                          <p:attrName>style.visibility</p:attrName>
                                        </p:attrNameLst>
                                      </p:cBhvr>
                                      <p:to>
                                        <p:strVal val="visible"/>
                                      </p:to>
                                    </p:set>
                                    <p:animEffect transition="in" filter="fade">
                                      <p:cBhvr>
                                        <p:cTn id="37" dur="4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45" grpId="0" animBg="1"/>
      <p:bldP spid="146" grpId="0" animBg="1"/>
      <p:bldP spid="147" grpId="0" animBg="1"/>
      <p:bldP spid="149" grpId="0" animBg="1"/>
      <p:bldP spid="150"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632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CLASS UNDER TEST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Meet TransferService: Three Dependencies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120</a:t>
            </a:r>
            <a:endParaRPr lang="en-US" sz="850" dirty="0"/>
          </a:p>
        </p:txBody>
      </p:sp>
      <p:sp>
        <p:nvSpPr>
          <p:cNvPr id="101" name="cl"/>
          <p:cNvSpPr txBox="1"/>
          <p:nvPr/>
        </p:nvSpPr>
        <p:spPr>
          <a:xfrm>
            <a:off x="543154" y="1463040"/>
            <a:ext cx="42062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THE DEPENDENCIES</a:t>
            </a:r>
            <a:endParaRPr lang="en-US" sz="1100" dirty="0"/>
          </a:p>
        </p:txBody>
      </p:sp>
      <p:grpSp>
        <p:nvGrpSpPr>
          <p:cNvPr id="123" name="if"/>
          <p:cNvGrpSpPr/>
          <p:nvPr/>
        </p:nvGrpSpPr>
        <p:grpSpPr>
          <a:xfrm>
            <a:off x="543154" y="1755648"/>
            <a:ext cx="4206240" cy="2995900"/>
            <a:chOff x="543154" y="1755648"/>
            <a:chExt cx="4206240" cy="2995900"/>
          </a:xfrm>
        </p:grpSpPr>
        <p:sp>
          <p:nvSpPr>
            <p:cNvPr id="102" name="if_win"/>
            <p:cNvSpPr/>
            <p:nvPr/>
          </p:nvSpPr>
          <p:spPr>
            <a:xfrm>
              <a:off x="543154" y="1755648"/>
              <a:ext cx="4206240" cy="2995900"/>
            </a:xfrm>
            <a:prstGeom prst="roundRect">
              <a:avLst>
                <a:gd name="adj" fmla="val 2288"/>
              </a:avLst>
            </a:prstGeom>
            <a:solidFill>
              <a:srgbClr val="060D18"/>
            </a:solidFill>
            <a:ln w="12700">
              <a:solidFill>
                <a:srgbClr val="1E3A5F"/>
              </a:solidFill>
              <a:prstDash val="solid"/>
            </a:ln>
          </p:spPr>
          <p:txBody>
            <a:bodyPr/>
            <a:lstStyle/>
            <a:p>
              <a:endParaRPr lang="en-US"/>
            </a:p>
          </p:txBody>
        </p:sp>
        <p:sp>
          <p:nvSpPr>
            <p:cNvPr id="103" name="if_bar"/>
            <p:cNvSpPr/>
            <p:nvPr/>
          </p:nvSpPr>
          <p:spPr>
            <a:xfrm>
              <a:off x="543154" y="1755648"/>
              <a:ext cx="4206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if_barfill"/>
            <p:cNvSpPr/>
            <p:nvPr/>
          </p:nvSpPr>
          <p:spPr>
            <a:xfrm>
              <a:off x="543154" y="1927098"/>
              <a:ext cx="4206240" cy="171450"/>
            </a:xfrm>
            <a:prstGeom prst="rect">
              <a:avLst/>
            </a:prstGeom>
            <a:solidFill>
              <a:srgbClr val="0A1220"/>
            </a:solidFill>
            <a:ln w="12700">
              <a:solidFill>
                <a:srgbClr val="0A1220"/>
              </a:solidFill>
              <a:prstDash val="solid"/>
            </a:ln>
          </p:spPr>
          <p:txBody>
            <a:bodyPr/>
            <a:lstStyle/>
            <a:p>
              <a:endParaRPr lang="en-US"/>
            </a:p>
          </p:txBody>
        </p:sp>
        <p:sp>
          <p:nvSpPr>
            <p:cNvPr id="105" name="if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if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if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if_tab"/>
            <p:cNvSpPr/>
            <p:nvPr/>
          </p:nvSpPr>
          <p:spPr>
            <a:xfrm>
              <a:off x="1324051" y="180319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Interfaces.cs</a:t>
              </a:r>
              <a:endParaRPr lang="en-US" sz="950" dirty="0"/>
            </a:p>
          </p:txBody>
        </p:sp>
        <p:sp>
          <p:nvSpPr>
            <p:cNvPr id="109" name="if_L00"/>
            <p:cNvSpPr txBox="1"/>
            <p:nvPr/>
          </p:nvSpPr>
          <p:spPr>
            <a:xfrm>
              <a:off x="771754" y="223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interface</a:t>
              </a:r>
              <a:r>
                <a:rPr lang="en-US" sz="800" b="0" dirty="0">
                  <a:solidFill>
                    <a:srgbClr val="E2E8F0"/>
                  </a:solidFill>
                  <a:latin typeface="Consolas"/>
                  <a:ea typeface="Consolas"/>
                  <a:cs typeface="Consolas"/>
                </a:rPr>
                <a:t> IAccountRepository</a:t>
              </a:r>
              <a:endParaRPr lang="en-US" sz="800" dirty="0"/>
            </a:p>
          </p:txBody>
        </p:sp>
        <p:sp>
          <p:nvSpPr>
            <p:cNvPr id="110" name="if_L01"/>
            <p:cNvSpPr txBox="1"/>
            <p:nvPr/>
          </p:nvSpPr>
          <p:spPr>
            <a:xfrm>
              <a:off x="771754" y="238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11" name="if_L02"/>
            <p:cNvSpPr txBox="1"/>
            <p:nvPr/>
          </p:nvSpPr>
          <p:spPr>
            <a:xfrm>
              <a:off x="771754" y="2531548"/>
              <a:ext cx="3906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E2E8F0"/>
                  </a:solidFill>
                  <a:latin typeface="Consolas"/>
                  <a:ea typeface="Consolas"/>
                  <a:cs typeface="Consolas"/>
                </a:rPr>
                <a:t>BankAccount? Find(</a:t>
              </a:r>
              <a:r>
                <a:rPr lang="en-US" sz="800" b="0" dirty="0">
                  <a:solidFill>
                    <a:srgbClr val="60A5FA"/>
                  </a:solidFill>
                  <a:latin typeface="Consolas"/>
                  <a:ea typeface="Consolas"/>
                  <a:cs typeface="Consolas"/>
                </a:rPr>
                <a:t>string</a:t>
              </a:r>
              <a:r>
                <a:rPr lang="en-US" sz="800" b="0" dirty="0">
                  <a:solidFill>
                    <a:srgbClr val="E2E8F0"/>
                  </a:solidFill>
                  <a:latin typeface="Consolas"/>
                  <a:ea typeface="Consolas"/>
                  <a:cs typeface="Consolas"/>
                </a:rPr>
                <a:t> owner);</a:t>
              </a:r>
              <a:endParaRPr lang="en-US" sz="800" dirty="0"/>
            </a:p>
          </p:txBody>
        </p:sp>
        <p:sp>
          <p:nvSpPr>
            <p:cNvPr id="112" name="if_L03"/>
            <p:cNvSpPr txBox="1"/>
            <p:nvPr/>
          </p:nvSpPr>
          <p:spPr>
            <a:xfrm>
              <a:off x="771754" y="2681548"/>
              <a:ext cx="3906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void</a:t>
              </a:r>
              <a:r>
                <a:rPr lang="en-US" sz="800" b="0" dirty="0">
                  <a:solidFill>
                    <a:srgbClr val="E2E8F0"/>
                  </a:solidFill>
                  <a:latin typeface="Consolas"/>
                  <a:ea typeface="Consolas"/>
                  <a:cs typeface="Consolas"/>
                </a:rPr>
                <a:t> Save(BankAccount account);</a:t>
              </a:r>
              <a:endParaRPr lang="en-US" sz="800" dirty="0"/>
            </a:p>
          </p:txBody>
        </p:sp>
        <p:sp>
          <p:nvSpPr>
            <p:cNvPr id="113" name="if_L04"/>
            <p:cNvSpPr txBox="1"/>
            <p:nvPr/>
          </p:nvSpPr>
          <p:spPr>
            <a:xfrm>
              <a:off x="771754" y="283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14" name="if_L06"/>
            <p:cNvSpPr txBox="1"/>
            <p:nvPr/>
          </p:nvSpPr>
          <p:spPr>
            <a:xfrm>
              <a:off x="771754" y="313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interface</a:t>
              </a:r>
              <a:r>
                <a:rPr lang="en-US" sz="800" b="0" dirty="0">
                  <a:solidFill>
                    <a:srgbClr val="E2E8F0"/>
                  </a:solidFill>
                  <a:latin typeface="Consolas"/>
                  <a:ea typeface="Consolas"/>
                  <a:cs typeface="Consolas"/>
                </a:rPr>
                <a:t> IEmailSender</a:t>
              </a:r>
              <a:endParaRPr lang="en-US" sz="800" dirty="0"/>
            </a:p>
          </p:txBody>
        </p:sp>
        <p:sp>
          <p:nvSpPr>
            <p:cNvPr id="115" name="if_L07"/>
            <p:cNvSpPr txBox="1"/>
            <p:nvPr/>
          </p:nvSpPr>
          <p:spPr>
            <a:xfrm>
              <a:off x="771754" y="328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16" name="if_L08"/>
            <p:cNvSpPr txBox="1"/>
            <p:nvPr/>
          </p:nvSpPr>
          <p:spPr>
            <a:xfrm>
              <a:off x="771754" y="3431548"/>
              <a:ext cx="3906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void</a:t>
              </a:r>
              <a:r>
                <a:rPr lang="en-US" sz="800" b="0" dirty="0">
                  <a:solidFill>
                    <a:srgbClr val="E2E8F0"/>
                  </a:solidFill>
                  <a:latin typeface="Consolas"/>
                  <a:ea typeface="Consolas"/>
                  <a:cs typeface="Consolas"/>
                </a:rPr>
                <a:t> Send(</a:t>
              </a:r>
              <a:r>
                <a:rPr lang="en-US" sz="800" b="0" dirty="0">
                  <a:solidFill>
                    <a:srgbClr val="60A5FA"/>
                  </a:solidFill>
                  <a:latin typeface="Consolas"/>
                  <a:ea typeface="Consolas"/>
                  <a:cs typeface="Consolas"/>
                </a:rPr>
                <a:t>string</a:t>
              </a:r>
              <a:r>
                <a:rPr lang="en-US" sz="800" b="0" dirty="0">
                  <a:solidFill>
                    <a:srgbClr val="E2E8F0"/>
                  </a:solidFill>
                  <a:latin typeface="Consolas"/>
                  <a:ea typeface="Consolas"/>
                  <a:cs typeface="Consolas"/>
                </a:rPr>
                <a:t> to, </a:t>
              </a:r>
              <a:r>
                <a:rPr lang="en-US" sz="800" b="0" dirty="0">
                  <a:solidFill>
                    <a:srgbClr val="60A5FA"/>
                  </a:solidFill>
                  <a:latin typeface="Consolas"/>
                  <a:ea typeface="Consolas"/>
                  <a:cs typeface="Consolas"/>
                </a:rPr>
                <a:t>string</a:t>
              </a:r>
              <a:r>
                <a:rPr lang="en-US" sz="800" b="0" dirty="0">
                  <a:solidFill>
                    <a:srgbClr val="E2E8F0"/>
                  </a:solidFill>
                  <a:latin typeface="Consolas"/>
                  <a:ea typeface="Consolas"/>
                  <a:cs typeface="Consolas"/>
                </a:rPr>
                <a:t> subject, </a:t>
              </a:r>
              <a:r>
                <a:rPr lang="en-US" sz="800" b="0" dirty="0">
                  <a:solidFill>
                    <a:srgbClr val="60A5FA"/>
                  </a:solidFill>
                  <a:latin typeface="Consolas"/>
                  <a:ea typeface="Consolas"/>
                  <a:cs typeface="Consolas"/>
                </a:rPr>
                <a:t>string</a:t>
              </a:r>
              <a:r>
                <a:rPr lang="en-US" sz="800" b="0" dirty="0">
                  <a:solidFill>
                    <a:srgbClr val="E2E8F0"/>
                  </a:solidFill>
                  <a:latin typeface="Consolas"/>
                  <a:ea typeface="Consolas"/>
                  <a:cs typeface="Consolas"/>
                </a:rPr>
                <a:t> body);</a:t>
              </a:r>
              <a:endParaRPr lang="en-US" sz="800" dirty="0"/>
            </a:p>
          </p:txBody>
        </p:sp>
        <p:sp>
          <p:nvSpPr>
            <p:cNvPr id="117" name="if_L09"/>
            <p:cNvSpPr txBox="1"/>
            <p:nvPr/>
          </p:nvSpPr>
          <p:spPr>
            <a:xfrm>
              <a:off x="771754" y="358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18" name="if_L11"/>
            <p:cNvSpPr txBox="1"/>
            <p:nvPr/>
          </p:nvSpPr>
          <p:spPr>
            <a:xfrm>
              <a:off x="771754" y="388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60A5FA"/>
                  </a:solidFill>
                  <a:latin typeface="Consolas"/>
                  <a:ea typeface="Consolas"/>
                  <a:cs typeface="Consolas"/>
                </a:rPr>
                <a:t>public</a:t>
              </a:r>
              <a:r>
                <a:rPr lang="en-US" sz="800" b="0" dirty="0">
                  <a:solidFill>
                    <a:srgbClr val="E2E8F0"/>
                  </a:solidFill>
                  <a:latin typeface="Consolas"/>
                  <a:ea typeface="Consolas"/>
                  <a:cs typeface="Consolas"/>
                </a:rPr>
                <a:t> </a:t>
              </a:r>
              <a:r>
                <a:rPr lang="en-US" sz="800" b="0" dirty="0">
                  <a:solidFill>
                    <a:srgbClr val="60A5FA"/>
                  </a:solidFill>
                  <a:latin typeface="Consolas"/>
                  <a:ea typeface="Consolas"/>
                  <a:cs typeface="Consolas"/>
                </a:rPr>
                <a:t>interface</a:t>
              </a:r>
              <a:r>
                <a:rPr lang="en-US" sz="800" b="0" dirty="0">
                  <a:solidFill>
                    <a:srgbClr val="E2E8F0"/>
                  </a:solidFill>
                  <a:latin typeface="Consolas"/>
                  <a:ea typeface="Consolas"/>
                  <a:cs typeface="Consolas"/>
                </a:rPr>
                <a:t> ILogger</a:t>
              </a:r>
              <a:endParaRPr lang="en-US" sz="800" dirty="0"/>
            </a:p>
          </p:txBody>
        </p:sp>
        <p:sp>
          <p:nvSpPr>
            <p:cNvPr id="119" name="if_L12"/>
            <p:cNvSpPr txBox="1"/>
            <p:nvPr/>
          </p:nvSpPr>
          <p:spPr>
            <a:xfrm>
              <a:off x="771754" y="403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sp>
          <p:nvSpPr>
            <p:cNvPr id="120" name="if_L13"/>
            <p:cNvSpPr txBox="1"/>
            <p:nvPr/>
          </p:nvSpPr>
          <p:spPr>
            <a:xfrm>
              <a:off x="771754" y="4181548"/>
              <a:ext cx="3906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void</a:t>
              </a:r>
              <a:r>
                <a:rPr lang="en-US" sz="800" b="0" dirty="0">
                  <a:solidFill>
                    <a:srgbClr val="E2E8F0"/>
                  </a:solidFill>
                  <a:latin typeface="Consolas"/>
                  <a:ea typeface="Consolas"/>
                  <a:cs typeface="Consolas"/>
                </a:rPr>
                <a:t> Info(</a:t>
              </a:r>
              <a:r>
                <a:rPr lang="en-US" sz="800" b="0" dirty="0">
                  <a:solidFill>
                    <a:srgbClr val="60A5FA"/>
                  </a:solidFill>
                  <a:latin typeface="Consolas"/>
                  <a:ea typeface="Consolas"/>
                  <a:cs typeface="Consolas"/>
                </a:rPr>
                <a:t>string</a:t>
              </a:r>
              <a:r>
                <a:rPr lang="en-US" sz="800" b="0" dirty="0">
                  <a:solidFill>
                    <a:srgbClr val="E2E8F0"/>
                  </a:solidFill>
                  <a:latin typeface="Consolas"/>
                  <a:ea typeface="Consolas"/>
                  <a:cs typeface="Consolas"/>
                </a:rPr>
                <a:t> message);</a:t>
              </a:r>
              <a:endParaRPr lang="en-US" sz="800" dirty="0"/>
            </a:p>
          </p:txBody>
        </p:sp>
        <p:sp>
          <p:nvSpPr>
            <p:cNvPr id="121" name="if_L14"/>
            <p:cNvSpPr txBox="1"/>
            <p:nvPr/>
          </p:nvSpPr>
          <p:spPr>
            <a:xfrm>
              <a:off x="771754" y="4331548"/>
              <a:ext cx="3906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00" b="0" dirty="0">
                  <a:solidFill>
                    <a:srgbClr val="60A5FA"/>
                  </a:solidFill>
                  <a:latin typeface="Consolas"/>
                  <a:ea typeface="Consolas"/>
                  <a:cs typeface="Consolas"/>
                </a:rPr>
                <a:t>void</a:t>
              </a:r>
              <a:r>
                <a:rPr lang="en-US" sz="800" b="0" dirty="0">
                  <a:solidFill>
                    <a:srgbClr val="E2E8F0"/>
                  </a:solidFill>
                  <a:latin typeface="Consolas"/>
                  <a:ea typeface="Consolas"/>
                  <a:cs typeface="Consolas"/>
                </a:rPr>
                <a:t> Error(</a:t>
              </a:r>
              <a:r>
                <a:rPr lang="en-US" sz="800" b="0" dirty="0">
                  <a:solidFill>
                    <a:srgbClr val="60A5FA"/>
                  </a:solidFill>
                  <a:latin typeface="Consolas"/>
                  <a:ea typeface="Consolas"/>
                  <a:cs typeface="Consolas"/>
                </a:rPr>
                <a:t>string</a:t>
              </a:r>
              <a:r>
                <a:rPr lang="en-US" sz="800" b="0" dirty="0">
                  <a:solidFill>
                    <a:srgbClr val="E2E8F0"/>
                  </a:solidFill>
                  <a:latin typeface="Consolas"/>
                  <a:ea typeface="Consolas"/>
                  <a:cs typeface="Consolas"/>
                </a:rPr>
                <a:t> message, Exception exception);</a:t>
              </a:r>
              <a:endParaRPr lang="en-US" sz="800" dirty="0"/>
            </a:p>
          </p:txBody>
        </p:sp>
        <p:sp>
          <p:nvSpPr>
            <p:cNvPr id="122" name="if_L15"/>
            <p:cNvSpPr txBox="1"/>
            <p:nvPr/>
          </p:nvSpPr>
          <p:spPr>
            <a:xfrm>
              <a:off x="771754" y="4481548"/>
              <a:ext cx="3906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a:t>
              </a:r>
              <a:endParaRPr lang="en-US" sz="800" dirty="0"/>
            </a:p>
          </p:txBody>
        </p:sp>
      </p:grpSp>
      <p:sp>
        <p:nvSpPr>
          <p:cNvPr id="124" name="tl"/>
          <p:cNvSpPr txBox="1"/>
          <p:nvPr/>
        </p:nvSpPr>
        <p:spPr>
          <a:xfrm>
            <a:off x="4983480" y="1463040"/>
            <a:ext cx="6647688"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 UNDER TEST</a:t>
            </a:r>
            <a:endParaRPr lang="en-US" sz="1100" dirty="0"/>
          </a:p>
        </p:txBody>
      </p:sp>
      <p:grpSp>
        <p:nvGrpSpPr>
          <p:cNvPr id="150" name="ts"/>
          <p:cNvGrpSpPr/>
          <p:nvPr/>
        </p:nvGrpSpPr>
        <p:grpSpPr>
          <a:xfrm>
            <a:off x="4983480" y="1755648"/>
            <a:ext cx="6646774" cy="4225900"/>
            <a:chOff x="4983480" y="1755648"/>
            <a:chExt cx="6646774" cy="4225900"/>
          </a:xfrm>
        </p:grpSpPr>
        <p:sp>
          <p:nvSpPr>
            <p:cNvPr id="125" name="ts_win"/>
            <p:cNvSpPr/>
            <p:nvPr/>
          </p:nvSpPr>
          <p:spPr>
            <a:xfrm>
              <a:off x="4983480" y="1755648"/>
              <a:ext cx="6646774" cy="4225900"/>
            </a:xfrm>
            <a:prstGeom prst="roundRect">
              <a:avLst>
                <a:gd name="adj" fmla="val 1622"/>
              </a:avLst>
            </a:prstGeom>
            <a:solidFill>
              <a:srgbClr val="060D18"/>
            </a:solidFill>
            <a:ln w="12700">
              <a:solidFill>
                <a:srgbClr val="1E3A5F"/>
              </a:solidFill>
              <a:prstDash val="solid"/>
            </a:ln>
          </p:spPr>
          <p:txBody>
            <a:bodyPr/>
            <a:lstStyle/>
            <a:p>
              <a:endParaRPr lang="en-US"/>
            </a:p>
          </p:txBody>
        </p:sp>
        <p:sp>
          <p:nvSpPr>
            <p:cNvPr id="126" name="ts_bar"/>
            <p:cNvSpPr/>
            <p:nvPr/>
          </p:nvSpPr>
          <p:spPr>
            <a:xfrm>
              <a:off x="4983480" y="1755648"/>
              <a:ext cx="66467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7" name="ts_barfill"/>
            <p:cNvSpPr/>
            <p:nvPr/>
          </p:nvSpPr>
          <p:spPr>
            <a:xfrm>
              <a:off x="4983480" y="1927098"/>
              <a:ext cx="6646774" cy="171450"/>
            </a:xfrm>
            <a:prstGeom prst="rect">
              <a:avLst/>
            </a:prstGeom>
            <a:solidFill>
              <a:srgbClr val="0A1220"/>
            </a:solidFill>
            <a:ln w="12700">
              <a:solidFill>
                <a:srgbClr val="0A1220"/>
              </a:solidFill>
              <a:prstDash val="solid"/>
            </a:ln>
          </p:spPr>
          <p:txBody>
            <a:bodyPr/>
            <a:lstStyle/>
            <a:p>
              <a:endParaRPr lang="en-US"/>
            </a:p>
          </p:txBody>
        </p:sp>
        <p:sp>
          <p:nvSpPr>
            <p:cNvPr id="128" name="ts_dot0"/>
            <p:cNvSpPr/>
            <p:nvPr/>
          </p:nvSpPr>
          <p:spPr>
            <a:xfrm>
              <a:off x="5145328"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9" name="ts_dot1"/>
            <p:cNvSpPr/>
            <p:nvPr/>
          </p:nvSpPr>
          <p:spPr>
            <a:xfrm>
              <a:off x="5330952"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0" name="ts_dot2"/>
            <p:cNvSpPr/>
            <p:nvPr/>
          </p:nvSpPr>
          <p:spPr>
            <a:xfrm>
              <a:off x="5516576"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1" name="ts_tab"/>
            <p:cNvSpPr/>
            <p:nvPr/>
          </p:nvSpPr>
          <p:spPr>
            <a:xfrm>
              <a:off x="5764377" y="1803197"/>
              <a:ext cx="155621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TransferService.cs</a:t>
              </a:r>
              <a:endParaRPr lang="en-US" sz="950" dirty="0"/>
            </a:p>
          </p:txBody>
        </p:sp>
        <p:sp>
          <p:nvSpPr>
            <p:cNvPr id="132" name="ts_L00"/>
            <p:cNvSpPr txBox="1"/>
            <p:nvPr/>
          </p:nvSpPr>
          <p:spPr>
            <a:xfrm>
              <a:off x="5212080" y="2231548"/>
              <a:ext cx="634677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class</a:t>
              </a:r>
              <a:r>
                <a:rPr lang="en-US" sz="760" b="0" dirty="0">
                  <a:solidFill>
                    <a:srgbClr val="E2E8F0"/>
                  </a:solidFill>
                  <a:latin typeface="Consolas"/>
                  <a:ea typeface="Consolas"/>
                  <a:cs typeface="Consolas"/>
                </a:rPr>
                <a:t> TransferService</a:t>
              </a:r>
              <a:endParaRPr lang="en-US" sz="760" dirty="0"/>
            </a:p>
          </p:txBody>
        </p:sp>
        <p:sp>
          <p:nvSpPr>
            <p:cNvPr id="133" name="ts_L01"/>
            <p:cNvSpPr txBox="1"/>
            <p:nvPr/>
          </p:nvSpPr>
          <p:spPr>
            <a:xfrm>
              <a:off x="5212080" y="2396548"/>
              <a:ext cx="634677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34" name="ts_L02"/>
            <p:cNvSpPr txBox="1"/>
            <p:nvPr/>
          </p:nvSpPr>
          <p:spPr>
            <a:xfrm>
              <a:off x="5212080" y="2561548"/>
              <a:ext cx="6346774"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IAccountRepository _accounts;</a:t>
              </a:r>
              <a:endParaRPr lang="en-US" sz="760" dirty="0"/>
            </a:p>
          </p:txBody>
        </p:sp>
        <p:sp>
          <p:nvSpPr>
            <p:cNvPr id="135" name="ts_L03"/>
            <p:cNvSpPr txBox="1"/>
            <p:nvPr/>
          </p:nvSpPr>
          <p:spPr>
            <a:xfrm>
              <a:off x="5212080" y="2726548"/>
              <a:ext cx="6346774"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IEmailSender _email;</a:t>
              </a:r>
              <a:endParaRPr lang="en-US" sz="760" dirty="0"/>
            </a:p>
          </p:txBody>
        </p:sp>
        <p:sp>
          <p:nvSpPr>
            <p:cNvPr id="136" name="ts_L04"/>
            <p:cNvSpPr txBox="1"/>
            <p:nvPr/>
          </p:nvSpPr>
          <p:spPr>
            <a:xfrm>
              <a:off x="5212080" y="2891548"/>
              <a:ext cx="6346774"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ILogger _logger;</a:t>
              </a:r>
              <a:endParaRPr lang="en-US" sz="760" dirty="0"/>
            </a:p>
          </p:txBody>
        </p:sp>
        <p:sp>
          <p:nvSpPr>
            <p:cNvPr id="137" name="ts_L06"/>
            <p:cNvSpPr txBox="1"/>
            <p:nvPr/>
          </p:nvSpPr>
          <p:spPr>
            <a:xfrm>
              <a:off x="5212080" y="3221548"/>
              <a:ext cx="6346774"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FAE7A"/>
                  </a:solidFill>
                  <a:latin typeface="Consolas"/>
                  <a:ea typeface="Consolas"/>
                  <a:cs typeface="Consolas"/>
                </a:rPr>
                <a:t>// constructor stores the three dependencies</a:t>
              </a:r>
              <a:endParaRPr lang="en-US" sz="760" dirty="0"/>
            </a:p>
          </p:txBody>
        </p:sp>
        <p:sp>
          <p:nvSpPr>
            <p:cNvPr id="138" name="ts_L08"/>
            <p:cNvSpPr txBox="1"/>
            <p:nvPr/>
          </p:nvSpPr>
          <p:spPr>
            <a:xfrm>
              <a:off x="5212080" y="3551548"/>
              <a:ext cx="6346774"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Transfer(</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from,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to, </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 amount)</a:t>
              </a:r>
              <a:endParaRPr lang="en-US" sz="760" dirty="0"/>
            </a:p>
          </p:txBody>
        </p:sp>
        <p:sp>
          <p:nvSpPr>
            <p:cNvPr id="139" name="ts_L09"/>
            <p:cNvSpPr txBox="1"/>
            <p:nvPr/>
          </p:nvSpPr>
          <p:spPr>
            <a:xfrm>
              <a:off x="5212080" y="3716548"/>
              <a:ext cx="6346774"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40" name="ts_L10"/>
            <p:cNvSpPr txBox="1"/>
            <p:nvPr/>
          </p:nvSpPr>
          <p:spPr>
            <a:xfrm>
              <a:off x="5212080" y="3881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source = _accounts.Find(from) ?? </a:t>
              </a:r>
              <a:r>
                <a:rPr lang="en-US" sz="760" b="0" dirty="0">
                  <a:solidFill>
                    <a:srgbClr val="60A5FA"/>
                  </a:solidFill>
                  <a:latin typeface="Consolas"/>
                  <a:ea typeface="Consolas"/>
                  <a:cs typeface="Consolas"/>
                </a:rPr>
                <a:t>throw</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InvalidOperationException(...);</a:t>
              </a:r>
              <a:endParaRPr lang="en-US" sz="760" dirty="0"/>
            </a:p>
          </p:txBody>
        </p:sp>
        <p:sp>
          <p:nvSpPr>
            <p:cNvPr id="141" name="ts_L11"/>
            <p:cNvSpPr txBox="1"/>
            <p:nvPr/>
          </p:nvSpPr>
          <p:spPr>
            <a:xfrm>
              <a:off x="5212080" y="4046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target = _accounts.Find(to) ?? </a:t>
              </a:r>
              <a:r>
                <a:rPr lang="en-US" sz="760" b="0" dirty="0">
                  <a:solidFill>
                    <a:srgbClr val="60A5FA"/>
                  </a:solidFill>
                  <a:latin typeface="Consolas"/>
                  <a:ea typeface="Consolas"/>
                  <a:cs typeface="Consolas"/>
                </a:rPr>
                <a:t>throw</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InvalidOperationException(...);</a:t>
              </a:r>
              <a:endParaRPr lang="en-US" sz="760" dirty="0"/>
            </a:p>
          </p:txBody>
        </p:sp>
        <p:sp>
          <p:nvSpPr>
            <p:cNvPr id="142" name="ts_L13"/>
            <p:cNvSpPr txBox="1"/>
            <p:nvPr/>
          </p:nvSpPr>
          <p:spPr>
            <a:xfrm>
              <a:off x="5212080" y="4376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source.Withdraw(amount);          </a:t>
              </a:r>
              <a:r>
                <a:rPr lang="en-US" sz="760" b="0" dirty="0">
                  <a:solidFill>
                    <a:srgbClr val="6FAE7A"/>
                  </a:solidFill>
                  <a:latin typeface="Consolas"/>
                  <a:ea typeface="Consolas"/>
                  <a:cs typeface="Consolas"/>
                </a:rPr>
                <a:t>// throws if not enough money</a:t>
              </a:r>
              <a:endParaRPr lang="en-US" sz="760" dirty="0"/>
            </a:p>
          </p:txBody>
        </p:sp>
        <p:sp>
          <p:nvSpPr>
            <p:cNvPr id="143" name="ts_L14"/>
            <p:cNvSpPr txBox="1"/>
            <p:nvPr/>
          </p:nvSpPr>
          <p:spPr>
            <a:xfrm>
              <a:off x="5212080" y="4541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target.Deposit(amount);</a:t>
              </a:r>
              <a:endParaRPr lang="en-US" sz="760" dirty="0"/>
            </a:p>
          </p:txBody>
        </p:sp>
        <p:sp>
          <p:nvSpPr>
            <p:cNvPr id="144" name="ts_L15"/>
            <p:cNvSpPr txBox="1"/>
            <p:nvPr/>
          </p:nvSpPr>
          <p:spPr>
            <a:xfrm>
              <a:off x="5212080" y="4706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_accounts.Save(source);</a:t>
              </a:r>
              <a:endParaRPr lang="en-US" sz="760" dirty="0"/>
            </a:p>
          </p:txBody>
        </p:sp>
        <p:sp>
          <p:nvSpPr>
            <p:cNvPr id="145" name="ts_L16"/>
            <p:cNvSpPr txBox="1"/>
            <p:nvPr/>
          </p:nvSpPr>
          <p:spPr>
            <a:xfrm>
              <a:off x="5212080" y="4871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_accounts.Save(target);</a:t>
              </a:r>
              <a:endParaRPr lang="en-US" sz="760" dirty="0"/>
            </a:p>
          </p:txBody>
        </p:sp>
        <p:sp>
          <p:nvSpPr>
            <p:cNvPr id="146" name="ts_L18"/>
            <p:cNvSpPr txBox="1"/>
            <p:nvPr/>
          </p:nvSpPr>
          <p:spPr>
            <a:xfrm>
              <a:off x="5212080" y="5201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_logger.Info(</a:t>
              </a:r>
              <a:r>
                <a:rPr lang="en-US" sz="760" b="0" dirty="0">
                  <a:solidFill>
                    <a:srgbClr val="F0A98B"/>
                  </a:solidFill>
                  <a:latin typeface="Consolas"/>
                  <a:ea typeface="Consolas"/>
                  <a:cs typeface="Consolas"/>
                </a:rPr>
                <a:t>$"Transferred {amount} from {from} to {to}"</a:t>
              </a:r>
              <a:r>
                <a:rPr lang="en-US" sz="760" b="0" dirty="0">
                  <a:solidFill>
                    <a:srgbClr val="E2E8F0"/>
                  </a:solidFill>
                  <a:latin typeface="Consolas"/>
                  <a:ea typeface="Consolas"/>
                  <a:cs typeface="Consolas"/>
                </a:rPr>
                <a:t>);</a:t>
              </a:r>
              <a:endParaRPr lang="en-US" sz="760" dirty="0"/>
            </a:p>
          </p:txBody>
        </p:sp>
        <p:sp>
          <p:nvSpPr>
            <p:cNvPr id="147" name="ts_L19"/>
            <p:cNvSpPr txBox="1"/>
            <p:nvPr/>
          </p:nvSpPr>
          <p:spPr>
            <a:xfrm>
              <a:off x="5212080" y="5366548"/>
              <a:ext cx="6346774" cy="165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_email.Send(from, </a:t>
              </a:r>
              <a:r>
                <a:rPr lang="en-US" sz="760" b="0" dirty="0">
                  <a:solidFill>
                    <a:srgbClr val="F0A98B"/>
                  </a:solidFill>
                  <a:latin typeface="Consolas"/>
                  <a:ea typeface="Consolas"/>
                  <a:cs typeface="Consolas"/>
                </a:rPr>
                <a:t>"Transfer done"</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$"You sent {amount:0.00} EGP to {to}."</a:t>
              </a:r>
              <a:r>
                <a:rPr lang="en-US" sz="760" b="0" dirty="0">
                  <a:solidFill>
                    <a:srgbClr val="E2E8F0"/>
                  </a:solidFill>
                  <a:latin typeface="Consolas"/>
                  <a:ea typeface="Consolas"/>
                  <a:cs typeface="Consolas"/>
                </a:rPr>
                <a:t>);</a:t>
              </a:r>
              <a:endParaRPr lang="en-US" sz="760" dirty="0"/>
            </a:p>
          </p:txBody>
        </p:sp>
        <p:sp>
          <p:nvSpPr>
            <p:cNvPr id="148" name="ts_L20"/>
            <p:cNvSpPr txBox="1"/>
            <p:nvPr/>
          </p:nvSpPr>
          <p:spPr>
            <a:xfrm>
              <a:off x="5212080" y="5531548"/>
              <a:ext cx="6346774"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49" name="ts_L21"/>
            <p:cNvSpPr txBox="1"/>
            <p:nvPr/>
          </p:nvSpPr>
          <p:spPr>
            <a:xfrm>
              <a:off x="5212080" y="5696548"/>
              <a:ext cx="634677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51" name="ts_hl10"/>
          <p:cNvSpPr/>
          <p:nvPr/>
        </p:nvSpPr>
        <p:spPr>
          <a:xfrm>
            <a:off x="5116982" y="3863260"/>
            <a:ext cx="6379774"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52" name="ts_hl11"/>
          <p:cNvSpPr/>
          <p:nvPr/>
        </p:nvSpPr>
        <p:spPr>
          <a:xfrm>
            <a:off x="5116982" y="4028260"/>
            <a:ext cx="6379774"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53" name="ts_hl15"/>
          <p:cNvSpPr/>
          <p:nvPr/>
        </p:nvSpPr>
        <p:spPr>
          <a:xfrm>
            <a:off x="5116982" y="4688260"/>
            <a:ext cx="6379774"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54" name="ts_hl16"/>
          <p:cNvSpPr/>
          <p:nvPr/>
        </p:nvSpPr>
        <p:spPr>
          <a:xfrm>
            <a:off x="5116982" y="4853260"/>
            <a:ext cx="6379774" cy="201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55" name="ts_hl18"/>
          <p:cNvSpPr/>
          <p:nvPr/>
        </p:nvSpPr>
        <p:spPr>
          <a:xfrm>
            <a:off x="5116982" y="5183260"/>
            <a:ext cx="6379774" cy="201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6" name="ts_hl19"/>
          <p:cNvSpPr/>
          <p:nvPr/>
        </p:nvSpPr>
        <p:spPr>
          <a:xfrm>
            <a:off x="5116982" y="5348260"/>
            <a:ext cx="6379774"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7" name="k"/>
          <p:cNvSpPr/>
          <p:nvPr/>
        </p:nvSpPr>
        <p:spPr>
          <a:xfrm>
            <a:off x="543154" y="4983480"/>
            <a:ext cx="4206240" cy="777240"/>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THREE INTERFACES</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Three places where a test can plug in a double.</a:t>
            </a:r>
            <a:endParaRPr lang="en-US" sz="1100" dirty="0"/>
          </a:p>
        </p:txBody>
      </p:sp>
    </p:spTree>
    <p:extLst>
      <p:ext uri="{BB962C8B-B14F-4D97-AF65-F5344CB8AC3E}">
        <p14:creationId xmlns:p14="http://schemas.microsoft.com/office/powerpoint/2010/main" val="51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400"/>
                                        <p:tgtEl>
                                          <p:spTgt spid="1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4"/>
                                        </p:tgtEl>
                                        <p:attrNameLst>
                                          <p:attrName>style.visibility</p:attrName>
                                        </p:attrNameLst>
                                      </p:cBhvr>
                                      <p:to>
                                        <p:strVal val="visible"/>
                                      </p:to>
                                    </p:set>
                                    <p:animEffect transition="in" filter="fade">
                                      <p:cBhvr>
                                        <p:cTn id="15" dur="400"/>
                                        <p:tgtEl>
                                          <p:spTgt spid="124"/>
                                        </p:tgtEl>
                                      </p:cBhvr>
                                    </p:animEffect>
                                  </p:childTnLst>
                                </p:cTn>
                              </p:par>
                              <p:par>
                                <p:cTn id="16" presetID="10" presetClass="entr" presetSubtype="0" fill="hold" nodeType="withEffect">
                                  <p:stCondLst>
                                    <p:cond delay="0"/>
                                  </p:stCondLst>
                                  <p:childTnLst>
                                    <p:set>
                                      <p:cBhvr>
                                        <p:cTn id="17" dur="1" fill="hold">
                                          <p:stCondLst>
                                            <p:cond delay="0"/>
                                          </p:stCondLst>
                                        </p:cTn>
                                        <p:tgtEl>
                                          <p:spTgt spid="150"/>
                                        </p:tgtEl>
                                        <p:attrNameLst>
                                          <p:attrName>style.visibility</p:attrName>
                                        </p:attrNameLst>
                                      </p:cBhvr>
                                      <p:to>
                                        <p:strVal val="visible"/>
                                      </p:to>
                                    </p:set>
                                    <p:animEffect transition="in" filter="fade">
                                      <p:cBhvr>
                                        <p:cTn id="18" dur="400"/>
                                        <p:tgtEl>
                                          <p:spTgt spid="15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1"/>
                                        </p:tgtEl>
                                        <p:attrNameLst>
                                          <p:attrName>style.visibility</p:attrName>
                                        </p:attrNameLst>
                                      </p:cBhvr>
                                      <p:to>
                                        <p:strVal val="visible"/>
                                      </p:to>
                                    </p:set>
                                    <p:animEffect transition="in" filter="fade">
                                      <p:cBhvr>
                                        <p:cTn id="21" dur="400"/>
                                        <p:tgtEl>
                                          <p:spTgt spid="15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2"/>
                                        </p:tgtEl>
                                        <p:attrNameLst>
                                          <p:attrName>style.visibility</p:attrName>
                                        </p:attrNameLst>
                                      </p:cBhvr>
                                      <p:to>
                                        <p:strVal val="visible"/>
                                      </p:to>
                                    </p:set>
                                    <p:animEffect transition="in" filter="fade">
                                      <p:cBhvr>
                                        <p:cTn id="24" dur="400"/>
                                        <p:tgtEl>
                                          <p:spTgt spid="15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3"/>
                                        </p:tgtEl>
                                        <p:attrNameLst>
                                          <p:attrName>style.visibility</p:attrName>
                                        </p:attrNameLst>
                                      </p:cBhvr>
                                      <p:to>
                                        <p:strVal val="visible"/>
                                      </p:to>
                                    </p:set>
                                    <p:animEffect transition="in" filter="fade">
                                      <p:cBhvr>
                                        <p:cTn id="27" dur="400"/>
                                        <p:tgtEl>
                                          <p:spTgt spid="15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4"/>
                                        </p:tgtEl>
                                        <p:attrNameLst>
                                          <p:attrName>style.visibility</p:attrName>
                                        </p:attrNameLst>
                                      </p:cBhvr>
                                      <p:to>
                                        <p:strVal val="visible"/>
                                      </p:to>
                                    </p:set>
                                    <p:animEffect transition="in" filter="fade">
                                      <p:cBhvr>
                                        <p:cTn id="30" dur="400"/>
                                        <p:tgtEl>
                                          <p:spTgt spid="15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5"/>
                                        </p:tgtEl>
                                        <p:attrNameLst>
                                          <p:attrName>style.visibility</p:attrName>
                                        </p:attrNameLst>
                                      </p:cBhvr>
                                      <p:to>
                                        <p:strVal val="visible"/>
                                      </p:to>
                                    </p:set>
                                    <p:animEffect transition="in" filter="fade">
                                      <p:cBhvr>
                                        <p:cTn id="33" dur="400"/>
                                        <p:tgtEl>
                                          <p:spTgt spid="15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6"/>
                                        </p:tgtEl>
                                        <p:attrNameLst>
                                          <p:attrName>style.visibility</p:attrName>
                                        </p:attrNameLst>
                                      </p:cBhvr>
                                      <p:to>
                                        <p:strVal val="visible"/>
                                      </p:to>
                                    </p:set>
                                    <p:animEffect transition="in" filter="fade">
                                      <p:cBhvr>
                                        <p:cTn id="36" dur="400"/>
                                        <p:tgtEl>
                                          <p:spTgt spid="15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7"/>
                                        </p:tgtEl>
                                        <p:attrNameLst>
                                          <p:attrName>style.visibility</p:attrName>
                                        </p:attrNameLst>
                                      </p:cBhvr>
                                      <p:to>
                                        <p:strVal val="visible"/>
                                      </p:to>
                                    </p:set>
                                    <p:animEffect transition="in" filter="fade">
                                      <p:cBhvr>
                                        <p:cTn id="41" dur="4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24" grpId="0" animBg="1"/>
      <p:bldP spid="151" grpId="0" animBg="1"/>
      <p:bldP spid="152" grpId="0" animBg="1"/>
      <p:bldP spid="153" grpId="0" animBg="1"/>
      <p:bldP spid="154" grpId="0" animBg="1"/>
      <p:bldP spid="155" grpId="0" animBg="1"/>
      <p:bldP spid="156" grpId="0" animBg="1"/>
      <p:bldP spid="15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TEST DOUBLES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Why Test Doubles? Swap What You Cannot Control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121</a:t>
            </a:r>
            <a:endParaRPr lang="en-US" sz="850" dirty="0"/>
          </a:p>
        </p:txBody>
      </p:sp>
      <p:sp>
        <p:nvSpPr>
          <p:cNvPr id="101" name="svc"/>
          <p:cNvSpPr/>
          <p:nvPr/>
        </p:nvSpPr>
        <p:spPr>
          <a:xfrm>
            <a:off x="4434840" y="3035808"/>
            <a:ext cx="2926080" cy="91440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450" b="1" dirty="0">
                <a:solidFill>
                  <a:srgbClr val="FFFFFF"/>
                </a:solidFill>
                <a:latin typeface="Consolas"/>
                <a:ea typeface="Consolas"/>
                <a:cs typeface="Consolas"/>
              </a:rPr>
              <a:t>TransferService</a:t>
            </a:r>
            <a:endParaRPr lang="en-US" sz="1450" dirty="0"/>
          </a:p>
          <a:p>
            <a:pPr marL="0" indent="0" algn="ctr">
              <a:spcBef>
                <a:spcPts val="0"/>
              </a:spcBef>
              <a:spcAft>
                <a:spcPts val="0"/>
              </a:spcAft>
              <a:buNone/>
            </a:pPr>
            <a:r>
              <a:rPr lang="en-US" sz="1050" b="0" dirty="0">
                <a:solidFill>
                  <a:srgbClr val="CBD5E1"/>
                </a:solidFill>
                <a:latin typeface="Segoe UI"/>
                <a:ea typeface="Segoe UI"/>
                <a:cs typeface="Segoe UI"/>
              </a:rPr>
              <a:t>the class under test</a:t>
            </a:r>
            <a:endParaRPr lang="en-US" sz="1050" dirty="0"/>
          </a:p>
        </p:txBody>
      </p:sp>
      <p:sp>
        <p:nvSpPr>
          <p:cNvPr id="102" name="pl"/>
          <p:cNvSpPr txBox="1"/>
          <p:nvPr/>
        </p:nvSpPr>
        <p:spPr>
          <a:xfrm>
            <a:off x="543154" y="1481328"/>
            <a:ext cx="329184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94A3B8"/>
                </a:solidFill>
                <a:latin typeface="Segoe UI"/>
                <a:ea typeface="Segoe UI"/>
                <a:cs typeface="Segoe UI"/>
              </a:rPr>
              <a:t>IN PRODUCTION</a:t>
            </a:r>
            <a:endParaRPr lang="en-US" sz="1050" dirty="0"/>
          </a:p>
        </p:txBody>
      </p:sp>
      <p:sp>
        <p:nvSpPr>
          <p:cNvPr id="103" name="tlb"/>
          <p:cNvSpPr txBox="1"/>
          <p:nvPr/>
        </p:nvSpPr>
        <p:spPr>
          <a:xfrm>
            <a:off x="8339328" y="1481328"/>
            <a:ext cx="3291840" cy="27432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50" b="1" dirty="0">
                <a:solidFill>
                  <a:srgbClr val="34D399"/>
                </a:solidFill>
                <a:latin typeface="Segoe UI"/>
                <a:ea typeface="Segoe UI"/>
                <a:cs typeface="Segoe UI"/>
              </a:rPr>
              <a:t>IN THE TEST</a:t>
            </a:r>
            <a:endParaRPr lang="en-US" sz="1050" dirty="0"/>
          </a:p>
        </p:txBody>
      </p:sp>
      <p:sp>
        <p:nvSpPr>
          <p:cNvPr id="104" name="i1"/>
          <p:cNvSpPr/>
          <p:nvPr/>
        </p:nvSpPr>
        <p:spPr>
          <a:xfrm>
            <a:off x="4206240" y="1801368"/>
            <a:ext cx="3383280" cy="502920"/>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A78BFA"/>
                </a:solidFill>
                <a:latin typeface="Consolas"/>
                <a:ea typeface="Consolas"/>
                <a:cs typeface="Consolas"/>
              </a:rPr>
              <a:t>IAccountRepository</a:t>
            </a:r>
            <a:endParaRPr lang="en-US" sz="1150" dirty="0"/>
          </a:p>
        </p:txBody>
      </p:sp>
      <p:sp>
        <p:nvSpPr>
          <p:cNvPr id="105" name="i2"/>
          <p:cNvSpPr/>
          <p:nvPr/>
        </p:nvSpPr>
        <p:spPr>
          <a:xfrm>
            <a:off x="4206240" y="4434840"/>
            <a:ext cx="3383280" cy="502920"/>
          </a:xfrm>
          <a:prstGeom prst="roundRect">
            <a:avLst>
              <a:gd name="adj" fmla="val 12000"/>
            </a:avLst>
          </a:prstGeom>
          <a:solidFill>
            <a:srgbClr val="111B2E"/>
          </a:solidFill>
          <a:ln w="12700">
            <a:solidFill>
              <a:srgbClr val="A78BFA"/>
            </a:solidFill>
            <a:prstDash val="solid"/>
          </a:ln>
        </p:spPr>
        <p:txBody>
          <a:bodyPr wrap="square" lIns="91440" tIns="45720" rIns="91440" bIns="45720" rtlCol="0" anchor="ctr">
            <a:noAutofit/>
          </a:bodyPr>
          <a:lstStyle/>
          <a:p>
            <a:pPr marL="0" indent="0" algn="ctr">
              <a:spcBef>
                <a:spcPts val="0"/>
              </a:spcBef>
              <a:spcAft>
                <a:spcPts val="0"/>
              </a:spcAft>
              <a:buNone/>
            </a:pPr>
            <a:r>
              <a:rPr lang="en-US" sz="1150" b="1" dirty="0">
                <a:solidFill>
                  <a:srgbClr val="A78BFA"/>
                </a:solidFill>
                <a:latin typeface="Consolas"/>
                <a:ea typeface="Consolas"/>
                <a:cs typeface="Consolas"/>
              </a:rPr>
              <a:t>IEmailSender</a:t>
            </a:r>
            <a:endParaRPr lang="en-US" sz="1150" dirty="0"/>
          </a:p>
        </p:txBody>
      </p:sp>
      <p:cxnSp>
        <p:nvCxnSpPr>
          <p:cNvPr id="106" name="c1"/>
          <p:cNvCxnSpPr/>
          <p:nvPr/>
        </p:nvCxnSpPr>
        <p:spPr>
          <a:xfrm flipV="1">
            <a:off x="5897880" y="2350008"/>
            <a:ext cx="0" cy="667512"/>
          </a:xfrm>
          <a:prstGeom prst="line">
            <a:avLst/>
          </a:prstGeom>
          <a:ln w="19050">
            <a:solidFill>
              <a:srgbClr val="A78BFA"/>
            </a:solidFill>
            <a:tailEnd type="triangle" w="med" len="med"/>
          </a:ln>
        </p:spPr>
      </p:cxnSp>
      <p:cxnSp>
        <p:nvCxnSpPr>
          <p:cNvPr id="107" name="c2"/>
          <p:cNvCxnSpPr/>
          <p:nvPr/>
        </p:nvCxnSpPr>
        <p:spPr>
          <a:xfrm>
            <a:off x="5897880" y="3968496"/>
            <a:ext cx="0" cy="420624"/>
          </a:xfrm>
          <a:prstGeom prst="line">
            <a:avLst/>
          </a:prstGeom>
          <a:ln w="19050">
            <a:solidFill>
              <a:srgbClr val="A78BFA"/>
            </a:solidFill>
            <a:tailEnd type="triangle" w="med" len="med"/>
          </a:ln>
        </p:spPr>
      </p:cxnSp>
      <p:sp>
        <p:nvSpPr>
          <p:cNvPr id="108" name="p1"/>
          <p:cNvSpPr/>
          <p:nvPr/>
        </p:nvSpPr>
        <p:spPr>
          <a:xfrm>
            <a:off x="543154" y="1801368"/>
            <a:ext cx="3291840" cy="502920"/>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E2E8F0"/>
                </a:solidFill>
                <a:latin typeface="Segoe UI"/>
                <a:ea typeface="Segoe UI"/>
                <a:cs typeface="Segoe UI"/>
              </a:rPr>
              <a:t>SqlAccountRepository → DB</a:t>
            </a:r>
            <a:endParaRPr lang="en-US" sz="1050" dirty="0"/>
          </a:p>
        </p:txBody>
      </p:sp>
      <p:sp>
        <p:nvSpPr>
          <p:cNvPr id="109" name="p2"/>
          <p:cNvSpPr/>
          <p:nvPr/>
        </p:nvSpPr>
        <p:spPr>
          <a:xfrm>
            <a:off x="543154" y="4434840"/>
            <a:ext cx="3291840" cy="502920"/>
          </a:xfrm>
          <a:prstGeom prst="roundRect">
            <a:avLst>
              <a:gd name="adj" fmla="val 12000"/>
            </a:avLst>
          </a:prstGeom>
          <a:solidFill>
            <a:srgbClr val="111B2E"/>
          </a:solidFill>
          <a:ln w="12700">
            <a:solidFill>
              <a:srgbClr val="1E3A5F"/>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1" dirty="0">
                <a:solidFill>
                  <a:srgbClr val="E2E8F0"/>
                </a:solidFill>
                <a:latin typeface="Segoe UI"/>
                <a:ea typeface="Segoe UI"/>
                <a:cs typeface="Segoe UI"/>
              </a:rPr>
              <a:t>SmtpEmailSender → real mail</a:t>
            </a:r>
            <a:endParaRPr lang="en-US" sz="1050" dirty="0"/>
          </a:p>
        </p:txBody>
      </p:sp>
      <p:sp>
        <p:nvSpPr>
          <p:cNvPr id="110" name="px"/>
          <p:cNvSpPr/>
          <p:nvPr/>
        </p:nvSpPr>
        <p:spPr>
          <a:xfrm>
            <a:off x="543154" y="2423160"/>
            <a:ext cx="3291840" cy="457200"/>
          </a:xfrm>
          <a:prstGeom prst="roundRect">
            <a:avLst>
              <a:gd name="adj" fmla="val 12000"/>
            </a:avLst>
          </a:prstGeom>
          <a:solidFill>
            <a:srgbClr val="F87171">
              <a:alpha val="14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slow, needs a server, sends real mail!</a:t>
            </a:r>
            <a:endParaRPr lang="en-US" sz="1000" dirty="0"/>
          </a:p>
        </p:txBody>
      </p:sp>
      <p:sp>
        <p:nvSpPr>
          <p:cNvPr id="111" name="t1"/>
          <p:cNvSpPr/>
          <p:nvPr/>
        </p:nvSpPr>
        <p:spPr>
          <a:xfrm>
            <a:off x="8339328" y="1801368"/>
            <a:ext cx="3291840" cy="502920"/>
          </a:xfrm>
          <a:prstGeom prst="roundRect">
            <a:avLst>
              <a:gd name="adj" fmla="val 12000"/>
            </a:avLst>
          </a:prstGeom>
          <a:solidFill>
            <a:srgbClr val="34D399"/>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0F172A"/>
                </a:solidFill>
                <a:latin typeface="Segoe UI"/>
                <a:ea typeface="Segoe UI"/>
                <a:cs typeface="Segoe UI"/>
              </a:rPr>
              <a:t>a fake: a Dictionary</a:t>
            </a:r>
            <a:endParaRPr lang="en-US" sz="1100" dirty="0"/>
          </a:p>
        </p:txBody>
      </p:sp>
      <p:sp>
        <p:nvSpPr>
          <p:cNvPr id="112" name="t2"/>
          <p:cNvSpPr/>
          <p:nvPr/>
        </p:nvSpPr>
        <p:spPr>
          <a:xfrm>
            <a:off x="8339328" y="4434840"/>
            <a:ext cx="3291840" cy="502920"/>
          </a:xfrm>
          <a:prstGeom prst="roundRect">
            <a:avLst>
              <a:gd name="adj" fmla="val 12000"/>
            </a:avLst>
          </a:prstGeom>
          <a:solidFill>
            <a:srgbClr val="34D399"/>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100" b="1" dirty="0">
                <a:solidFill>
                  <a:srgbClr val="0F172A"/>
                </a:solidFill>
                <a:latin typeface="Segoe UI"/>
                <a:ea typeface="Segoe UI"/>
                <a:cs typeface="Segoe UI"/>
              </a:rPr>
              <a:t>a spy: records emails</a:t>
            </a:r>
            <a:endParaRPr lang="en-US" sz="1100" dirty="0"/>
          </a:p>
        </p:txBody>
      </p:sp>
      <p:cxnSp>
        <p:nvCxnSpPr>
          <p:cNvPr id="113" name="a1"/>
          <p:cNvCxnSpPr/>
          <p:nvPr/>
        </p:nvCxnSpPr>
        <p:spPr>
          <a:xfrm>
            <a:off x="3886200" y="2057400"/>
            <a:ext cx="274320" cy="0"/>
          </a:xfrm>
          <a:prstGeom prst="line">
            <a:avLst/>
          </a:prstGeom>
          <a:ln w="19050">
            <a:solidFill>
              <a:srgbClr val="94A3B8"/>
            </a:solidFill>
          </a:ln>
        </p:spPr>
      </p:cxnSp>
      <p:cxnSp>
        <p:nvCxnSpPr>
          <p:cNvPr id="114" name="a2"/>
          <p:cNvCxnSpPr/>
          <p:nvPr/>
        </p:nvCxnSpPr>
        <p:spPr>
          <a:xfrm>
            <a:off x="7635240" y="2057400"/>
            <a:ext cx="658368" cy="0"/>
          </a:xfrm>
          <a:prstGeom prst="line">
            <a:avLst/>
          </a:prstGeom>
          <a:ln w="19050">
            <a:solidFill>
              <a:srgbClr val="34D399"/>
            </a:solidFill>
          </a:ln>
        </p:spPr>
      </p:cxnSp>
      <p:cxnSp>
        <p:nvCxnSpPr>
          <p:cNvPr id="115" name="a3"/>
          <p:cNvCxnSpPr/>
          <p:nvPr/>
        </p:nvCxnSpPr>
        <p:spPr>
          <a:xfrm>
            <a:off x="3886200" y="4681728"/>
            <a:ext cx="274320" cy="0"/>
          </a:xfrm>
          <a:prstGeom prst="line">
            <a:avLst/>
          </a:prstGeom>
          <a:ln w="19050">
            <a:solidFill>
              <a:srgbClr val="94A3B8"/>
            </a:solidFill>
          </a:ln>
        </p:spPr>
      </p:cxnSp>
      <p:cxnSp>
        <p:nvCxnSpPr>
          <p:cNvPr id="116" name="a4"/>
          <p:cNvCxnSpPr/>
          <p:nvPr/>
        </p:nvCxnSpPr>
        <p:spPr>
          <a:xfrm>
            <a:off x="7635240" y="4681728"/>
            <a:ext cx="658368" cy="0"/>
          </a:xfrm>
          <a:prstGeom prst="line">
            <a:avLst/>
          </a:prstGeom>
          <a:ln w="19050">
            <a:solidFill>
              <a:srgbClr val="34D399"/>
            </a:solidFill>
          </a:ln>
        </p:spPr>
      </p:cxnSp>
      <p:sp>
        <p:nvSpPr>
          <p:cNvPr id="117" name="b"/>
          <p:cNvSpPr/>
          <p:nvPr/>
        </p:nvSpPr>
        <p:spPr>
          <a:xfrm>
            <a:off x="543154" y="5230368"/>
            <a:ext cx="11087100" cy="56692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Depend on interfaces, and a test can swap the slow, risky parts for doubles it controls.</a:t>
            </a:r>
            <a:endParaRPr lang="en-US" sz="1400" dirty="0"/>
          </a:p>
        </p:txBody>
      </p:sp>
    </p:spTree>
    <p:extLst>
      <p:ext uri="{BB962C8B-B14F-4D97-AF65-F5344CB8AC3E}">
        <p14:creationId xmlns:p14="http://schemas.microsoft.com/office/powerpoint/2010/main" val="51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400"/>
                                        <p:tgtEl>
                                          <p:spTgt spid="10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5"/>
                                        </p:tgtEl>
                                        <p:attrNameLst>
                                          <p:attrName>style.visibility</p:attrName>
                                        </p:attrNameLst>
                                      </p:cBhvr>
                                      <p:to>
                                        <p:strVal val="visible"/>
                                      </p:to>
                                    </p:set>
                                    <p:animEffect transition="in" filter="fade">
                                      <p:cBhvr>
                                        <p:cTn id="15" dur="400"/>
                                        <p:tgtEl>
                                          <p:spTgt spid="105"/>
                                        </p:tgtEl>
                                      </p:cBhvr>
                                    </p:animEffect>
                                  </p:childTnLst>
                                </p:cTn>
                              </p:par>
                              <p:par>
                                <p:cTn id="16" presetID="10" presetClass="entr" presetSubtype="0" fill="hold" nodeType="withEffect">
                                  <p:stCondLst>
                                    <p:cond delay="0"/>
                                  </p:stCondLst>
                                  <p:childTnLst>
                                    <p:set>
                                      <p:cBhvr>
                                        <p:cTn id="17" dur="1" fill="hold">
                                          <p:stCondLst>
                                            <p:cond delay="0"/>
                                          </p:stCondLst>
                                        </p:cTn>
                                        <p:tgtEl>
                                          <p:spTgt spid="106"/>
                                        </p:tgtEl>
                                        <p:attrNameLst>
                                          <p:attrName>style.visibility</p:attrName>
                                        </p:attrNameLst>
                                      </p:cBhvr>
                                      <p:to>
                                        <p:strVal val="visible"/>
                                      </p:to>
                                    </p:set>
                                    <p:animEffect transition="in" filter="fade">
                                      <p:cBhvr>
                                        <p:cTn id="18" dur="400"/>
                                        <p:tgtEl>
                                          <p:spTgt spid="106"/>
                                        </p:tgtEl>
                                      </p:cBhvr>
                                    </p:animEffect>
                                  </p:childTnLst>
                                </p:cTn>
                              </p:par>
                              <p:par>
                                <p:cTn id="19" presetID="10" presetClass="entr" presetSubtype="0" fill="hold" nodeType="withEffect">
                                  <p:stCondLst>
                                    <p:cond delay="0"/>
                                  </p:stCondLst>
                                  <p:childTnLst>
                                    <p:set>
                                      <p:cBhvr>
                                        <p:cTn id="20" dur="1" fill="hold">
                                          <p:stCondLst>
                                            <p:cond delay="0"/>
                                          </p:stCondLst>
                                        </p:cTn>
                                        <p:tgtEl>
                                          <p:spTgt spid="107"/>
                                        </p:tgtEl>
                                        <p:attrNameLst>
                                          <p:attrName>style.visibility</p:attrName>
                                        </p:attrNameLst>
                                      </p:cBhvr>
                                      <p:to>
                                        <p:strVal val="visible"/>
                                      </p:to>
                                    </p:set>
                                    <p:animEffect transition="in" filter="fade">
                                      <p:cBhvr>
                                        <p:cTn id="21" dur="400"/>
                                        <p:tgtEl>
                                          <p:spTgt spid="10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2"/>
                                        </p:tgtEl>
                                        <p:attrNameLst>
                                          <p:attrName>style.visibility</p:attrName>
                                        </p:attrNameLst>
                                      </p:cBhvr>
                                      <p:to>
                                        <p:strVal val="visible"/>
                                      </p:to>
                                    </p:set>
                                    <p:animEffect transition="in" filter="fade">
                                      <p:cBhvr>
                                        <p:cTn id="26" dur="400"/>
                                        <p:tgtEl>
                                          <p:spTgt spid="10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8"/>
                                        </p:tgtEl>
                                        <p:attrNameLst>
                                          <p:attrName>style.visibility</p:attrName>
                                        </p:attrNameLst>
                                      </p:cBhvr>
                                      <p:to>
                                        <p:strVal val="visible"/>
                                      </p:to>
                                    </p:set>
                                    <p:animEffect transition="in" filter="fade">
                                      <p:cBhvr>
                                        <p:cTn id="29" dur="400"/>
                                        <p:tgtEl>
                                          <p:spTgt spid="1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9"/>
                                        </p:tgtEl>
                                        <p:attrNameLst>
                                          <p:attrName>style.visibility</p:attrName>
                                        </p:attrNameLst>
                                      </p:cBhvr>
                                      <p:to>
                                        <p:strVal val="visible"/>
                                      </p:to>
                                    </p:set>
                                    <p:animEffect transition="in" filter="fade">
                                      <p:cBhvr>
                                        <p:cTn id="32" dur="400"/>
                                        <p:tgtEl>
                                          <p:spTgt spid="109"/>
                                        </p:tgtEl>
                                      </p:cBhvr>
                                    </p:animEffect>
                                  </p:childTnLst>
                                </p:cTn>
                              </p:par>
                              <p:par>
                                <p:cTn id="33" presetID="10" presetClass="entr" presetSubtype="0" fill="hold" nodeType="withEffect">
                                  <p:stCondLst>
                                    <p:cond delay="0"/>
                                  </p:stCondLst>
                                  <p:childTnLst>
                                    <p:set>
                                      <p:cBhvr>
                                        <p:cTn id="34" dur="1" fill="hold">
                                          <p:stCondLst>
                                            <p:cond delay="0"/>
                                          </p:stCondLst>
                                        </p:cTn>
                                        <p:tgtEl>
                                          <p:spTgt spid="113"/>
                                        </p:tgtEl>
                                        <p:attrNameLst>
                                          <p:attrName>style.visibility</p:attrName>
                                        </p:attrNameLst>
                                      </p:cBhvr>
                                      <p:to>
                                        <p:strVal val="visible"/>
                                      </p:to>
                                    </p:set>
                                    <p:animEffect transition="in" filter="fade">
                                      <p:cBhvr>
                                        <p:cTn id="35" dur="400"/>
                                        <p:tgtEl>
                                          <p:spTgt spid="113"/>
                                        </p:tgtEl>
                                      </p:cBhvr>
                                    </p:animEffect>
                                  </p:childTnLst>
                                </p:cTn>
                              </p:par>
                              <p:par>
                                <p:cTn id="36" presetID="10" presetClass="entr" presetSubtype="0" fill="hold" nodeType="withEffect">
                                  <p:stCondLst>
                                    <p:cond delay="0"/>
                                  </p:stCondLst>
                                  <p:childTnLst>
                                    <p:set>
                                      <p:cBhvr>
                                        <p:cTn id="37" dur="1" fill="hold">
                                          <p:stCondLst>
                                            <p:cond delay="0"/>
                                          </p:stCondLst>
                                        </p:cTn>
                                        <p:tgtEl>
                                          <p:spTgt spid="115"/>
                                        </p:tgtEl>
                                        <p:attrNameLst>
                                          <p:attrName>style.visibility</p:attrName>
                                        </p:attrNameLst>
                                      </p:cBhvr>
                                      <p:to>
                                        <p:strVal val="visible"/>
                                      </p:to>
                                    </p:set>
                                    <p:animEffect transition="in" filter="fade">
                                      <p:cBhvr>
                                        <p:cTn id="38" dur="400"/>
                                        <p:tgtEl>
                                          <p:spTgt spid="115"/>
                                        </p:tgtEl>
                                      </p:cBhvr>
                                    </p:animEffect>
                                  </p:childTnLst>
                                </p:cTn>
                              </p:par>
                            </p:childTnLst>
                          </p:cTn>
                        </p:par>
                        <p:par>
                          <p:cTn id="39" fill="hold">
                            <p:stCondLst>
                              <p:cond delay="400"/>
                            </p:stCondLst>
                            <p:childTnLst>
                              <p:par>
                                <p:cTn id="40" presetID="10" presetClass="entr" presetSubtype="0" fill="hold" grpId="0" nodeType="afterEffect">
                                  <p:stCondLst>
                                    <p:cond delay="0"/>
                                  </p:stCondLst>
                                  <p:childTnLst>
                                    <p:set>
                                      <p:cBhvr>
                                        <p:cTn id="41" dur="1" fill="hold">
                                          <p:stCondLst>
                                            <p:cond delay="0"/>
                                          </p:stCondLst>
                                        </p:cTn>
                                        <p:tgtEl>
                                          <p:spTgt spid="110"/>
                                        </p:tgtEl>
                                        <p:attrNameLst>
                                          <p:attrName>style.visibility</p:attrName>
                                        </p:attrNameLst>
                                      </p:cBhvr>
                                      <p:to>
                                        <p:strVal val="visible"/>
                                      </p:to>
                                    </p:set>
                                    <p:animEffect transition="in" filter="fade">
                                      <p:cBhvr>
                                        <p:cTn id="42" dur="400"/>
                                        <p:tgtEl>
                                          <p:spTgt spid="1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3"/>
                                        </p:tgtEl>
                                        <p:attrNameLst>
                                          <p:attrName>style.visibility</p:attrName>
                                        </p:attrNameLst>
                                      </p:cBhvr>
                                      <p:to>
                                        <p:strVal val="visible"/>
                                      </p:to>
                                    </p:set>
                                    <p:animEffect transition="in" filter="fade">
                                      <p:cBhvr>
                                        <p:cTn id="47" dur="400"/>
                                        <p:tgtEl>
                                          <p:spTgt spid="10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1"/>
                                        </p:tgtEl>
                                        <p:attrNameLst>
                                          <p:attrName>style.visibility</p:attrName>
                                        </p:attrNameLst>
                                      </p:cBhvr>
                                      <p:to>
                                        <p:strVal val="visible"/>
                                      </p:to>
                                    </p:set>
                                    <p:animEffect transition="in" filter="fade">
                                      <p:cBhvr>
                                        <p:cTn id="50" dur="400"/>
                                        <p:tgtEl>
                                          <p:spTgt spid="1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12"/>
                                        </p:tgtEl>
                                        <p:attrNameLst>
                                          <p:attrName>style.visibility</p:attrName>
                                        </p:attrNameLst>
                                      </p:cBhvr>
                                      <p:to>
                                        <p:strVal val="visible"/>
                                      </p:to>
                                    </p:set>
                                    <p:animEffect transition="in" filter="fade">
                                      <p:cBhvr>
                                        <p:cTn id="53" dur="400"/>
                                        <p:tgtEl>
                                          <p:spTgt spid="112"/>
                                        </p:tgtEl>
                                      </p:cBhvr>
                                    </p:animEffect>
                                  </p:childTnLst>
                                </p:cTn>
                              </p:par>
                              <p:par>
                                <p:cTn id="54" presetID="10" presetClass="entr" presetSubtype="0" fill="hold" nodeType="withEffect">
                                  <p:stCondLst>
                                    <p:cond delay="0"/>
                                  </p:stCondLst>
                                  <p:childTnLst>
                                    <p:set>
                                      <p:cBhvr>
                                        <p:cTn id="55" dur="1" fill="hold">
                                          <p:stCondLst>
                                            <p:cond delay="0"/>
                                          </p:stCondLst>
                                        </p:cTn>
                                        <p:tgtEl>
                                          <p:spTgt spid="114"/>
                                        </p:tgtEl>
                                        <p:attrNameLst>
                                          <p:attrName>style.visibility</p:attrName>
                                        </p:attrNameLst>
                                      </p:cBhvr>
                                      <p:to>
                                        <p:strVal val="visible"/>
                                      </p:to>
                                    </p:set>
                                    <p:animEffect transition="in" filter="fade">
                                      <p:cBhvr>
                                        <p:cTn id="56" dur="400"/>
                                        <p:tgtEl>
                                          <p:spTgt spid="114"/>
                                        </p:tgtEl>
                                      </p:cBhvr>
                                    </p:animEffect>
                                  </p:childTnLst>
                                </p:cTn>
                              </p:par>
                              <p:par>
                                <p:cTn id="57" presetID="10" presetClass="entr" presetSubtype="0" fill="hold" nodeType="withEffect">
                                  <p:stCondLst>
                                    <p:cond delay="0"/>
                                  </p:stCondLst>
                                  <p:childTnLst>
                                    <p:set>
                                      <p:cBhvr>
                                        <p:cTn id="58" dur="1" fill="hold">
                                          <p:stCondLst>
                                            <p:cond delay="0"/>
                                          </p:stCondLst>
                                        </p:cTn>
                                        <p:tgtEl>
                                          <p:spTgt spid="116"/>
                                        </p:tgtEl>
                                        <p:attrNameLst>
                                          <p:attrName>style.visibility</p:attrName>
                                        </p:attrNameLst>
                                      </p:cBhvr>
                                      <p:to>
                                        <p:strVal val="visible"/>
                                      </p:to>
                                    </p:set>
                                    <p:animEffect transition="in" filter="fade">
                                      <p:cBhvr>
                                        <p:cTn id="59" dur="400"/>
                                        <p:tgtEl>
                                          <p:spTgt spid="11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17"/>
                                        </p:tgtEl>
                                        <p:attrNameLst>
                                          <p:attrName>style.visibility</p:attrName>
                                        </p:attrNameLst>
                                      </p:cBhvr>
                                      <p:to>
                                        <p:strVal val="visible"/>
                                      </p:to>
                                    </p:set>
                                    <p:animEffect transition="in" filter="fade">
                                      <p:cBhvr>
                                        <p:cTn id="64" dur="4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8" grpId="0" animBg="1"/>
      <p:bldP spid="109" grpId="0" animBg="1"/>
      <p:bldP spid="110" grpId="0" animBg="1"/>
      <p:bldP spid="111" grpId="0" animBg="1"/>
      <p:bldP spid="112" grpId="0" animBg="1"/>
      <p:bldP spid="11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TEST DOUBLES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Five Kinds of Test Doubles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122</a:t>
            </a:r>
            <a:endParaRPr lang="en-US" sz="850" dirty="0"/>
          </a:p>
        </p:txBody>
      </p:sp>
      <p:sp>
        <p:nvSpPr>
          <p:cNvPr id="101" name="k0"/>
          <p:cNvSpPr/>
          <p:nvPr/>
        </p:nvSpPr>
        <p:spPr>
          <a:xfrm>
            <a:off x="543154" y="1572768"/>
            <a:ext cx="11087100" cy="621792"/>
          </a:xfrm>
          <a:prstGeom prst="roundRect">
            <a:avLst>
              <a:gd name="adj" fmla="val 12000"/>
            </a:avLst>
          </a:prstGeom>
          <a:solidFill>
            <a:srgbClr val="111B2E"/>
          </a:solidFill>
          <a:ln w="12700">
            <a:solidFill>
              <a:srgbClr val="94A3B8"/>
            </a:solidFill>
            <a:prstDash val="solid"/>
          </a:ln>
        </p:spPr>
        <p:txBody>
          <a:bodyPr wrap="square" lIns="228600" tIns="22860" rIns="91440" bIns="22860" rtlCol="0" anchor="ctr">
            <a:noAutofit/>
          </a:bodyPr>
          <a:lstStyle/>
          <a:p>
            <a:pPr marL="0" indent="0" algn="l">
              <a:spcBef>
                <a:spcPts val="0"/>
              </a:spcBef>
              <a:spcAft>
                <a:spcPts val="0"/>
              </a:spcAft>
              <a:buNone/>
            </a:pPr>
            <a:r>
              <a:rPr lang="en-US" sz="1400" b="1" dirty="0">
                <a:solidFill>
                  <a:srgbClr val="94A3B8"/>
                </a:solidFill>
                <a:latin typeface="Consolas"/>
                <a:ea typeface="Consolas"/>
                <a:cs typeface="Consolas"/>
              </a:rPr>
              <a:t>DUMMY  </a:t>
            </a:r>
            <a:r>
              <a:rPr lang="en-US" sz="1250" b="1" dirty="0">
                <a:solidFill>
                  <a:srgbClr val="FFFFFF"/>
                </a:solidFill>
                <a:latin typeface="Segoe UI"/>
                <a:ea typeface="Segoe UI"/>
                <a:cs typeface="Segoe UI"/>
              </a:rPr>
              <a:t>fills a parameter, never used</a:t>
            </a:r>
            <a:endParaRPr lang="en-US" sz="1400" dirty="0"/>
          </a:p>
          <a:p>
            <a:pPr marL="0" indent="0" algn="l">
              <a:spcBef>
                <a:spcPts val="0"/>
              </a:spcBef>
              <a:spcAft>
                <a:spcPts val="0"/>
              </a:spcAft>
              <a:buNone/>
            </a:pPr>
            <a:r>
              <a:rPr lang="en-US" sz="1050" b="0" dirty="0">
                <a:solidFill>
                  <a:srgbClr val="94A3B8"/>
                </a:solidFill>
                <a:latin typeface="Segoe UI"/>
                <a:ea typeface="Segoe UI"/>
                <a:cs typeface="Segoe UI"/>
              </a:rPr>
              <a:t>example: </a:t>
            </a:r>
            <a:r>
              <a:rPr lang="en-US" sz="1050" b="0" dirty="0">
                <a:solidFill>
                  <a:srgbClr val="CBD5E1"/>
                </a:solidFill>
                <a:latin typeface="Consolas"/>
                <a:ea typeface="Consolas"/>
                <a:cs typeface="Consolas"/>
              </a:rPr>
              <a:t>new DummyLogger() passed to TransferService</a:t>
            </a:r>
            <a:endParaRPr lang="en-US" sz="1050" dirty="0"/>
          </a:p>
        </p:txBody>
      </p:sp>
      <p:sp>
        <p:nvSpPr>
          <p:cNvPr id="102" name="k1"/>
          <p:cNvSpPr/>
          <p:nvPr/>
        </p:nvSpPr>
        <p:spPr>
          <a:xfrm>
            <a:off x="543154" y="2286000"/>
            <a:ext cx="11087100" cy="621792"/>
          </a:xfrm>
          <a:prstGeom prst="roundRect">
            <a:avLst>
              <a:gd name="adj" fmla="val 12000"/>
            </a:avLst>
          </a:prstGeom>
          <a:solidFill>
            <a:srgbClr val="111B2E"/>
          </a:solidFill>
          <a:ln w="12700">
            <a:solidFill>
              <a:srgbClr val="13D0F7"/>
            </a:solidFill>
            <a:prstDash val="solid"/>
          </a:ln>
        </p:spPr>
        <p:txBody>
          <a:bodyPr wrap="square" lIns="228600" tIns="22860" rIns="91440" bIns="22860" rtlCol="0" anchor="ctr">
            <a:noAutofit/>
          </a:bodyPr>
          <a:lstStyle/>
          <a:p>
            <a:pPr marL="0" indent="0" algn="l">
              <a:spcBef>
                <a:spcPts val="0"/>
              </a:spcBef>
              <a:spcAft>
                <a:spcPts val="0"/>
              </a:spcAft>
              <a:buNone/>
            </a:pPr>
            <a:r>
              <a:rPr lang="en-US" sz="1400" b="1" dirty="0">
                <a:solidFill>
                  <a:srgbClr val="13D0F7"/>
                </a:solidFill>
                <a:latin typeface="Consolas"/>
                <a:ea typeface="Consolas"/>
                <a:cs typeface="Consolas"/>
              </a:rPr>
              <a:t>STUB   </a:t>
            </a:r>
            <a:r>
              <a:rPr lang="en-US" sz="1250" b="1" dirty="0">
                <a:solidFill>
                  <a:srgbClr val="FFFFFF"/>
                </a:solidFill>
                <a:latin typeface="Segoe UI"/>
                <a:ea typeface="Segoe UI"/>
                <a:cs typeface="Segoe UI"/>
              </a:rPr>
              <a:t>returns canned answers</a:t>
            </a:r>
            <a:endParaRPr lang="en-US" sz="1400" dirty="0"/>
          </a:p>
          <a:p>
            <a:pPr marL="0" indent="0" algn="l">
              <a:spcBef>
                <a:spcPts val="0"/>
              </a:spcBef>
              <a:spcAft>
                <a:spcPts val="0"/>
              </a:spcAft>
              <a:buNone/>
            </a:pPr>
            <a:r>
              <a:rPr lang="en-US" sz="1050" b="0" dirty="0">
                <a:solidFill>
                  <a:srgbClr val="94A3B8"/>
                </a:solidFill>
                <a:latin typeface="Segoe UI"/>
                <a:ea typeface="Segoe UI"/>
                <a:cs typeface="Segoe UI"/>
              </a:rPr>
              <a:t>example: </a:t>
            </a:r>
            <a:r>
              <a:rPr lang="en-US" sz="1050" b="0" dirty="0">
                <a:solidFill>
                  <a:srgbClr val="CBD5E1"/>
                </a:solidFill>
                <a:latin typeface="Consolas"/>
                <a:ea typeface="Consolas"/>
                <a:cs typeface="Consolas"/>
              </a:rPr>
              <a:t>rates.Rate("USD", "EGP").Returns(48.5m)</a:t>
            </a:r>
            <a:endParaRPr lang="en-US" sz="1050" dirty="0"/>
          </a:p>
        </p:txBody>
      </p:sp>
      <p:sp>
        <p:nvSpPr>
          <p:cNvPr id="103" name="k2"/>
          <p:cNvSpPr/>
          <p:nvPr/>
        </p:nvSpPr>
        <p:spPr>
          <a:xfrm>
            <a:off x="543154" y="2999232"/>
            <a:ext cx="11087100" cy="621792"/>
          </a:xfrm>
          <a:prstGeom prst="roundRect">
            <a:avLst>
              <a:gd name="adj" fmla="val 12000"/>
            </a:avLst>
          </a:prstGeom>
          <a:solidFill>
            <a:srgbClr val="111B2E"/>
          </a:solidFill>
          <a:ln w="12700">
            <a:solidFill>
              <a:srgbClr val="FBBF24"/>
            </a:solidFill>
            <a:prstDash val="solid"/>
          </a:ln>
        </p:spPr>
        <p:txBody>
          <a:bodyPr wrap="square" lIns="228600" tIns="22860" rIns="91440" bIns="22860" rtlCol="0" anchor="ctr">
            <a:noAutofit/>
          </a:bodyPr>
          <a:lstStyle/>
          <a:p>
            <a:pPr marL="0" indent="0" algn="l">
              <a:spcBef>
                <a:spcPts val="0"/>
              </a:spcBef>
              <a:spcAft>
                <a:spcPts val="0"/>
              </a:spcAft>
              <a:buNone/>
            </a:pPr>
            <a:r>
              <a:rPr lang="en-US" sz="1400" b="1" dirty="0">
                <a:solidFill>
                  <a:srgbClr val="FBBF24"/>
                </a:solidFill>
                <a:latin typeface="Consolas"/>
                <a:ea typeface="Consolas"/>
                <a:cs typeface="Consolas"/>
              </a:rPr>
              <a:t>FAKE   </a:t>
            </a:r>
            <a:r>
              <a:rPr lang="en-US" sz="1250" b="1" dirty="0">
                <a:solidFill>
                  <a:srgbClr val="FFFFFF"/>
                </a:solidFill>
                <a:latin typeface="Segoe UI"/>
                <a:ea typeface="Segoe UI"/>
                <a:cs typeface="Segoe UI"/>
              </a:rPr>
              <a:t>a working, simplified version</a:t>
            </a:r>
            <a:endParaRPr lang="en-US" sz="1400" dirty="0"/>
          </a:p>
          <a:p>
            <a:pPr marL="0" indent="0" algn="l">
              <a:spcBef>
                <a:spcPts val="0"/>
              </a:spcBef>
              <a:spcAft>
                <a:spcPts val="0"/>
              </a:spcAft>
              <a:buNone/>
            </a:pPr>
            <a:r>
              <a:rPr lang="en-US" sz="1050" b="0" dirty="0">
                <a:solidFill>
                  <a:srgbClr val="94A3B8"/>
                </a:solidFill>
                <a:latin typeface="Segoe UI"/>
                <a:ea typeface="Segoe UI"/>
                <a:cs typeface="Segoe UI"/>
              </a:rPr>
              <a:t>example: </a:t>
            </a:r>
            <a:r>
              <a:rPr lang="en-US" sz="1050" b="0" dirty="0">
                <a:solidFill>
                  <a:srgbClr val="CBD5E1"/>
                </a:solidFill>
                <a:latin typeface="Consolas"/>
                <a:ea typeface="Consolas"/>
                <a:cs typeface="Consolas"/>
              </a:rPr>
              <a:t>InMemoryAccountRepository (a Dictionary)</a:t>
            </a:r>
            <a:endParaRPr lang="en-US" sz="1050" dirty="0"/>
          </a:p>
        </p:txBody>
      </p:sp>
      <p:sp>
        <p:nvSpPr>
          <p:cNvPr id="104" name="k3"/>
          <p:cNvSpPr/>
          <p:nvPr/>
        </p:nvSpPr>
        <p:spPr>
          <a:xfrm>
            <a:off x="543154" y="3712464"/>
            <a:ext cx="11087100" cy="621792"/>
          </a:xfrm>
          <a:prstGeom prst="roundRect">
            <a:avLst>
              <a:gd name="adj" fmla="val 12000"/>
            </a:avLst>
          </a:prstGeom>
          <a:solidFill>
            <a:srgbClr val="111B2E"/>
          </a:solidFill>
          <a:ln w="12700">
            <a:solidFill>
              <a:srgbClr val="34D399"/>
            </a:solidFill>
            <a:prstDash val="solid"/>
          </a:ln>
        </p:spPr>
        <p:txBody>
          <a:bodyPr wrap="square" lIns="228600" tIns="22860" rIns="91440" bIns="22860" rtlCol="0" anchor="ctr">
            <a:noAutofit/>
          </a:bodyPr>
          <a:lstStyle/>
          <a:p>
            <a:pPr marL="0" indent="0" algn="l">
              <a:spcBef>
                <a:spcPts val="0"/>
              </a:spcBef>
              <a:spcAft>
                <a:spcPts val="0"/>
              </a:spcAft>
              <a:buNone/>
            </a:pPr>
            <a:r>
              <a:rPr lang="en-US" sz="1400" b="1" dirty="0">
                <a:solidFill>
                  <a:srgbClr val="34D399"/>
                </a:solidFill>
                <a:latin typeface="Consolas"/>
                <a:ea typeface="Consolas"/>
                <a:cs typeface="Consolas"/>
              </a:rPr>
              <a:t>SPY    </a:t>
            </a:r>
            <a:r>
              <a:rPr lang="en-US" sz="1250" b="1" dirty="0">
                <a:solidFill>
                  <a:srgbClr val="FFFFFF"/>
                </a:solidFill>
                <a:latin typeface="Segoe UI"/>
                <a:ea typeface="Segoe UI"/>
                <a:cs typeface="Segoe UI"/>
              </a:rPr>
              <a:t>records calls for the test</a:t>
            </a:r>
            <a:endParaRPr lang="en-US" sz="1400" dirty="0"/>
          </a:p>
          <a:p>
            <a:pPr marL="0" indent="0" algn="l">
              <a:spcBef>
                <a:spcPts val="0"/>
              </a:spcBef>
              <a:spcAft>
                <a:spcPts val="0"/>
              </a:spcAft>
              <a:buNone/>
            </a:pPr>
            <a:r>
              <a:rPr lang="en-US" sz="1050" b="0" dirty="0">
                <a:solidFill>
                  <a:srgbClr val="94A3B8"/>
                </a:solidFill>
                <a:latin typeface="Segoe UI"/>
                <a:ea typeface="Segoe UI"/>
                <a:cs typeface="Segoe UI"/>
              </a:rPr>
              <a:t>example: </a:t>
            </a:r>
            <a:r>
              <a:rPr lang="en-US" sz="1050" b="0" dirty="0">
                <a:solidFill>
                  <a:srgbClr val="CBD5E1"/>
                </a:solidFill>
                <a:latin typeface="Consolas"/>
                <a:ea typeface="Consolas"/>
                <a:cs typeface="Consolas"/>
              </a:rPr>
              <a:t>SpyEmailSender.Sent  → check it afterwards</a:t>
            </a:r>
            <a:endParaRPr lang="en-US" sz="1050" dirty="0"/>
          </a:p>
        </p:txBody>
      </p:sp>
      <p:sp>
        <p:nvSpPr>
          <p:cNvPr id="105" name="k4"/>
          <p:cNvSpPr/>
          <p:nvPr/>
        </p:nvSpPr>
        <p:spPr>
          <a:xfrm>
            <a:off x="543154" y="4425696"/>
            <a:ext cx="11087100" cy="621792"/>
          </a:xfrm>
          <a:prstGeom prst="roundRect">
            <a:avLst>
              <a:gd name="adj" fmla="val 12000"/>
            </a:avLst>
          </a:prstGeom>
          <a:solidFill>
            <a:srgbClr val="111B2E"/>
          </a:solidFill>
          <a:ln w="12700">
            <a:solidFill>
              <a:srgbClr val="A78BFA"/>
            </a:solidFill>
            <a:prstDash val="solid"/>
          </a:ln>
        </p:spPr>
        <p:txBody>
          <a:bodyPr wrap="square" lIns="228600" tIns="22860" rIns="91440" bIns="22860" rtlCol="0" anchor="ctr">
            <a:noAutofit/>
          </a:bodyPr>
          <a:lstStyle/>
          <a:p>
            <a:pPr marL="0" indent="0" algn="l">
              <a:spcBef>
                <a:spcPts val="0"/>
              </a:spcBef>
              <a:spcAft>
                <a:spcPts val="0"/>
              </a:spcAft>
              <a:buNone/>
            </a:pPr>
            <a:r>
              <a:rPr lang="en-US" sz="1400" b="1" dirty="0">
                <a:solidFill>
                  <a:srgbClr val="A78BFA"/>
                </a:solidFill>
                <a:latin typeface="Consolas"/>
                <a:ea typeface="Consolas"/>
                <a:cs typeface="Consolas"/>
              </a:rPr>
              <a:t>MOCK   </a:t>
            </a:r>
            <a:r>
              <a:rPr lang="en-US" sz="1250" b="1" dirty="0">
                <a:solidFill>
                  <a:srgbClr val="FFFFFF"/>
                </a:solidFill>
                <a:latin typeface="Segoe UI"/>
                <a:ea typeface="Segoe UI"/>
                <a:cs typeface="Segoe UI"/>
              </a:rPr>
              <a:t>verifies the expected calls</a:t>
            </a:r>
            <a:endParaRPr lang="en-US" sz="1400" dirty="0"/>
          </a:p>
          <a:p>
            <a:pPr marL="0" indent="0" algn="l">
              <a:spcBef>
                <a:spcPts val="0"/>
              </a:spcBef>
              <a:spcAft>
                <a:spcPts val="0"/>
              </a:spcAft>
              <a:buNone/>
            </a:pPr>
            <a:r>
              <a:rPr lang="en-US" sz="1050" b="0" dirty="0">
                <a:solidFill>
                  <a:srgbClr val="94A3B8"/>
                </a:solidFill>
                <a:latin typeface="Segoe UI"/>
                <a:ea typeface="Segoe UI"/>
                <a:cs typeface="Segoe UI"/>
              </a:rPr>
              <a:t>example: </a:t>
            </a:r>
            <a:r>
              <a:rPr lang="en-US" sz="1050" b="0" dirty="0">
                <a:solidFill>
                  <a:srgbClr val="CBD5E1"/>
                </a:solidFill>
                <a:latin typeface="Consolas"/>
                <a:ea typeface="Consolas"/>
                <a:cs typeface="Consolas"/>
              </a:rPr>
              <a:t>email.Received(1).Send(...)</a:t>
            </a:r>
            <a:endParaRPr lang="en-US" sz="1050" dirty="0"/>
          </a:p>
        </p:txBody>
      </p:sp>
      <p:sp>
        <p:nvSpPr>
          <p:cNvPr id="106" name="b"/>
          <p:cNvSpPr/>
          <p:nvPr/>
        </p:nvSpPr>
        <p:spPr>
          <a:xfrm>
            <a:off x="543154" y="5230368"/>
            <a:ext cx="11087100" cy="566928"/>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One library makes them all. The name says what the double is for in THIS test.</a:t>
            </a:r>
            <a:endParaRPr lang="en-US" sz="1400" dirty="0"/>
          </a:p>
        </p:txBody>
      </p:sp>
    </p:spTree>
    <p:extLst>
      <p:ext uri="{BB962C8B-B14F-4D97-AF65-F5344CB8AC3E}">
        <p14:creationId xmlns:p14="http://schemas.microsoft.com/office/powerpoint/2010/main" val="51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400"/>
                                        <p:tgtEl>
                                          <p:spTgt spid="1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400"/>
                                        <p:tgtEl>
                                          <p:spTgt spid="1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400"/>
                                        <p:tgtEl>
                                          <p:spTgt spid="10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400"/>
                                        <p:tgtEl>
                                          <p:spTgt spid="1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fade">
                                      <p:cBhvr>
                                        <p:cTn id="32"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0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BY HAND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Hand-Written Doubles: Fake, Spy, Dummy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123</a:t>
            </a:r>
            <a:endParaRPr lang="en-US" sz="850" dirty="0"/>
          </a:p>
        </p:txBody>
      </p:sp>
      <p:sp>
        <p:nvSpPr>
          <p:cNvPr id="101" name="cl"/>
          <p:cNvSpPr txBox="1"/>
          <p:nvPr/>
        </p:nvSpPr>
        <p:spPr>
          <a:xfrm>
            <a:off x="543154" y="1463040"/>
            <a:ext cx="58064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DOUBLES</a:t>
            </a:r>
            <a:endParaRPr lang="en-US" sz="1100" dirty="0"/>
          </a:p>
        </p:txBody>
      </p:sp>
      <p:sp>
        <p:nvSpPr>
          <p:cNvPr id="102" name="tl"/>
          <p:cNvSpPr txBox="1"/>
          <p:nvPr/>
        </p:nvSpPr>
        <p:spPr>
          <a:xfrm>
            <a:off x="6578194" y="1463040"/>
            <a:ext cx="50520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a:t>
            </a:r>
            <a:endParaRPr lang="en-US" sz="1100" dirty="0"/>
          </a:p>
        </p:txBody>
      </p:sp>
      <p:grpSp>
        <p:nvGrpSpPr>
          <p:cNvPr id="130" name="cls"/>
          <p:cNvGrpSpPr/>
          <p:nvPr/>
        </p:nvGrpSpPr>
        <p:grpSpPr>
          <a:xfrm>
            <a:off x="543154" y="1755648"/>
            <a:ext cx="5806440" cy="4071900"/>
            <a:chOff x="543154" y="1755648"/>
            <a:chExt cx="5806440" cy="4071900"/>
          </a:xfrm>
        </p:grpSpPr>
        <p:sp>
          <p:nvSpPr>
            <p:cNvPr id="103" name="cls_win"/>
            <p:cNvSpPr/>
            <p:nvPr/>
          </p:nvSpPr>
          <p:spPr>
            <a:xfrm>
              <a:off x="543154" y="1755648"/>
              <a:ext cx="5806440" cy="4071900"/>
            </a:xfrm>
            <a:prstGeom prst="roundRect">
              <a:avLst>
                <a:gd name="adj" fmla="val 1683"/>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8064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80644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1828701"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Doubles/HandWritten.cs</a:t>
              </a:r>
              <a:endParaRPr lang="en-US" sz="950" dirty="0"/>
            </a:p>
          </p:txBody>
        </p:sp>
        <p:sp>
          <p:nvSpPr>
            <p:cNvPr id="110" name="cls_L00"/>
            <p:cNvSpPr txBox="1"/>
            <p:nvPr/>
          </p:nvSpPr>
          <p:spPr>
            <a:xfrm>
              <a:off x="771754" y="2231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FAKE: a working repository in memory</a:t>
              </a:r>
              <a:endParaRPr lang="en-US" sz="760" dirty="0"/>
            </a:p>
          </p:txBody>
        </p:sp>
        <p:sp>
          <p:nvSpPr>
            <p:cNvPr id="111" name="cls_L01"/>
            <p:cNvSpPr txBox="1"/>
            <p:nvPr/>
          </p:nvSpPr>
          <p:spPr>
            <a:xfrm>
              <a:off x="771754" y="2389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class</a:t>
              </a:r>
              <a:r>
                <a:rPr lang="en-US" sz="760" b="0" dirty="0">
                  <a:solidFill>
                    <a:srgbClr val="E2E8F0"/>
                  </a:solidFill>
                  <a:latin typeface="Consolas"/>
                  <a:ea typeface="Consolas"/>
                  <a:cs typeface="Consolas"/>
                </a:rPr>
                <a:t> InMemoryAccountRepository : IAccountRepository</a:t>
              </a:r>
              <a:endParaRPr lang="en-US" sz="760" dirty="0"/>
            </a:p>
          </p:txBody>
        </p:sp>
        <p:sp>
          <p:nvSpPr>
            <p:cNvPr id="112" name="cls_L02"/>
            <p:cNvSpPr txBox="1"/>
            <p:nvPr/>
          </p:nvSpPr>
          <p:spPr>
            <a:xfrm>
              <a:off x="771754" y="2547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3" name="cls_L03"/>
            <p:cNvSpPr txBox="1"/>
            <p:nvPr/>
          </p:nvSpPr>
          <p:spPr>
            <a:xfrm>
              <a:off x="771754" y="2705548"/>
              <a:ext cx="55064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Dictionary&lt;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BankAccount&gt; _accounts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endParaRPr lang="en-US" sz="760" dirty="0"/>
            </a:p>
          </p:txBody>
        </p:sp>
        <p:sp>
          <p:nvSpPr>
            <p:cNvPr id="114" name="cls_L04"/>
            <p:cNvSpPr txBox="1"/>
            <p:nvPr/>
          </p:nvSpPr>
          <p:spPr>
            <a:xfrm>
              <a:off x="771754" y="2863548"/>
              <a:ext cx="55064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BankAccount? Find(</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owner) =&gt; _accounts.GetValueOrDefault(owner);</a:t>
              </a:r>
              <a:endParaRPr lang="en-US" sz="760" dirty="0"/>
            </a:p>
          </p:txBody>
        </p:sp>
        <p:sp>
          <p:nvSpPr>
            <p:cNvPr id="115" name="cls_L05"/>
            <p:cNvSpPr txBox="1"/>
            <p:nvPr/>
          </p:nvSpPr>
          <p:spPr>
            <a:xfrm>
              <a:off x="771754" y="3021548"/>
              <a:ext cx="55064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Save(BankAccount account) =&gt; _accounts[account.Owner] = account;</a:t>
              </a:r>
              <a:endParaRPr lang="en-US" sz="760" dirty="0"/>
            </a:p>
          </p:txBody>
        </p:sp>
        <p:sp>
          <p:nvSpPr>
            <p:cNvPr id="116" name="cls_L06"/>
            <p:cNvSpPr txBox="1"/>
            <p:nvPr/>
          </p:nvSpPr>
          <p:spPr>
            <a:xfrm>
              <a:off x="771754" y="3179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7" name="cls_L08"/>
            <p:cNvSpPr txBox="1"/>
            <p:nvPr/>
          </p:nvSpPr>
          <p:spPr>
            <a:xfrm>
              <a:off x="771754" y="3495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SPY: records every email</a:t>
              </a:r>
              <a:endParaRPr lang="en-US" sz="760" dirty="0"/>
            </a:p>
          </p:txBody>
        </p:sp>
        <p:sp>
          <p:nvSpPr>
            <p:cNvPr id="118" name="cls_L09"/>
            <p:cNvSpPr txBox="1"/>
            <p:nvPr/>
          </p:nvSpPr>
          <p:spPr>
            <a:xfrm>
              <a:off x="771754" y="3653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class</a:t>
              </a:r>
              <a:r>
                <a:rPr lang="en-US" sz="760" b="0" dirty="0">
                  <a:solidFill>
                    <a:srgbClr val="E2E8F0"/>
                  </a:solidFill>
                  <a:latin typeface="Consolas"/>
                  <a:ea typeface="Consolas"/>
                  <a:cs typeface="Consolas"/>
                </a:rPr>
                <a:t> SpyEmailSender : IEmailSender</a:t>
              </a:r>
              <a:endParaRPr lang="en-US" sz="760" dirty="0"/>
            </a:p>
          </p:txBody>
        </p:sp>
        <p:sp>
          <p:nvSpPr>
            <p:cNvPr id="119" name="cls_L10"/>
            <p:cNvSpPr txBox="1"/>
            <p:nvPr/>
          </p:nvSpPr>
          <p:spPr>
            <a:xfrm>
              <a:off x="771754" y="3811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0" name="cls_L11"/>
            <p:cNvSpPr txBox="1"/>
            <p:nvPr/>
          </p:nvSpPr>
          <p:spPr>
            <a:xfrm>
              <a:off x="771754" y="3969548"/>
              <a:ext cx="55064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List&lt;(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To,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Subject,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Body)&gt; Sent { </a:t>
              </a:r>
              <a:r>
                <a:rPr lang="en-US" sz="760" b="0" dirty="0">
                  <a:solidFill>
                    <a:srgbClr val="60A5FA"/>
                  </a:solidFill>
                  <a:latin typeface="Consolas"/>
                  <a:ea typeface="Consolas"/>
                  <a:cs typeface="Consolas"/>
                </a:rPr>
                <a:t>get</a:t>
              </a:r>
              <a:r>
                <a:rPr lang="en-US" sz="760" b="0" dirty="0">
                  <a:solidFill>
                    <a:srgbClr val="E2E8F0"/>
                  </a:solidFill>
                  <a:latin typeface="Consolas"/>
                  <a:ea typeface="Consolas"/>
                  <a:cs typeface="Consolas"/>
                </a:rPr>
                <a:t>; }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endParaRPr lang="en-US" sz="760" dirty="0"/>
            </a:p>
          </p:txBody>
        </p:sp>
        <p:sp>
          <p:nvSpPr>
            <p:cNvPr id="121" name="cls_L12"/>
            <p:cNvSpPr txBox="1"/>
            <p:nvPr/>
          </p:nvSpPr>
          <p:spPr>
            <a:xfrm>
              <a:off x="771754" y="4127548"/>
              <a:ext cx="55064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Send(</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to,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subject,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body) =&gt;</a:t>
              </a:r>
              <a:endParaRPr lang="en-US" sz="760" dirty="0"/>
            </a:p>
          </p:txBody>
        </p:sp>
        <p:sp>
          <p:nvSpPr>
            <p:cNvPr id="122" name="cls_L13"/>
            <p:cNvSpPr txBox="1"/>
            <p:nvPr/>
          </p:nvSpPr>
          <p:spPr>
            <a:xfrm>
              <a:off x="771754" y="4285548"/>
              <a:ext cx="550644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Sent.Add((to, subject, body));</a:t>
              </a:r>
              <a:endParaRPr lang="en-US" sz="760" dirty="0"/>
            </a:p>
          </p:txBody>
        </p:sp>
        <p:sp>
          <p:nvSpPr>
            <p:cNvPr id="123" name="cls_L14"/>
            <p:cNvSpPr txBox="1"/>
            <p:nvPr/>
          </p:nvSpPr>
          <p:spPr>
            <a:xfrm>
              <a:off x="771754" y="4443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4" name="cls_L16"/>
            <p:cNvSpPr txBox="1"/>
            <p:nvPr/>
          </p:nvSpPr>
          <p:spPr>
            <a:xfrm>
              <a:off x="771754" y="4759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FAE7A"/>
                  </a:solidFill>
                  <a:latin typeface="Consolas"/>
                  <a:ea typeface="Consolas"/>
                  <a:cs typeface="Consolas"/>
                </a:rPr>
                <a:t>// DUMMY: does nothing</a:t>
              </a:r>
              <a:endParaRPr lang="en-US" sz="760" dirty="0"/>
            </a:p>
          </p:txBody>
        </p:sp>
        <p:sp>
          <p:nvSpPr>
            <p:cNvPr id="125" name="cls_L17"/>
            <p:cNvSpPr txBox="1"/>
            <p:nvPr/>
          </p:nvSpPr>
          <p:spPr>
            <a:xfrm>
              <a:off x="771754" y="4917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class</a:t>
              </a:r>
              <a:r>
                <a:rPr lang="en-US" sz="760" b="0" dirty="0">
                  <a:solidFill>
                    <a:srgbClr val="E2E8F0"/>
                  </a:solidFill>
                  <a:latin typeface="Consolas"/>
                  <a:ea typeface="Consolas"/>
                  <a:cs typeface="Consolas"/>
                </a:rPr>
                <a:t> DummyLogger : ILogger</a:t>
              </a:r>
              <a:endParaRPr lang="en-US" sz="760" dirty="0"/>
            </a:p>
          </p:txBody>
        </p:sp>
        <p:sp>
          <p:nvSpPr>
            <p:cNvPr id="126" name="cls_L18"/>
            <p:cNvSpPr txBox="1"/>
            <p:nvPr/>
          </p:nvSpPr>
          <p:spPr>
            <a:xfrm>
              <a:off x="771754" y="5075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7" name="cls_L19"/>
            <p:cNvSpPr txBox="1"/>
            <p:nvPr/>
          </p:nvSpPr>
          <p:spPr>
            <a:xfrm>
              <a:off x="771754" y="5233548"/>
              <a:ext cx="55064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Info(</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message) { }</a:t>
              </a:r>
              <a:endParaRPr lang="en-US" sz="760" dirty="0"/>
            </a:p>
          </p:txBody>
        </p:sp>
        <p:sp>
          <p:nvSpPr>
            <p:cNvPr id="128" name="cls_L20"/>
            <p:cNvSpPr txBox="1"/>
            <p:nvPr/>
          </p:nvSpPr>
          <p:spPr>
            <a:xfrm>
              <a:off x="771754" y="5391548"/>
              <a:ext cx="55064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Error(</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message, Exception exception) { }</a:t>
              </a:r>
              <a:endParaRPr lang="en-US" sz="760" dirty="0"/>
            </a:p>
          </p:txBody>
        </p:sp>
        <p:sp>
          <p:nvSpPr>
            <p:cNvPr id="129" name="cls_L21"/>
            <p:cNvSpPr txBox="1"/>
            <p:nvPr/>
          </p:nvSpPr>
          <p:spPr>
            <a:xfrm>
              <a:off x="771754" y="5549548"/>
              <a:ext cx="55064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grpSp>
        <p:nvGrpSpPr>
          <p:cNvPr id="152" name="tst"/>
          <p:cNvGrpSpPr/>
          <p:nvPr/>
        </p:nvGrpSpPr>
        <p:grpSpPr>
          <a:xfrm>
            <a:off x="6578194" y="1755648"/>
            <a:ext cx="5052060" cy="3123900"/>
            <a:chOff x="6578194" y="1755648"/>
            <a:chExt cx="5052060" cy="3123900"/>
          </a:xfrm>
        </p:grpSpPr>
        <p:sp>
          <p:nvSpPr>
            <p:cNvPr id="131" name="tst_win"/>
            <p:cNvSpPr/>
            <p:nvPr/>
          </p:nvSpPr>
          <p:spPr>
            <a:xfrm>
              <a:off x="6578194" y="1755648"/>
              <a:ext cx="5052060" cy="3123900"/>
            </a:xfrm>
            <a:prstGeom prst="roundRect">
              <a:avLst>
                <a:gd name="adj" fmla="val 2194"/>
              </a:avLst>
            </a:prstGeom>
            <a:solidFill>
              <a:srgbClr val="060D18"/>
            </a:solidFill>
            <a:ln w="12700">
              <a:solidFill>
                <a:srgbClr val="1E3A5F"/>
              </a:solidFill>
              <a:prstDash val="solid"/>
            </a:ln>
          </p:spPr>
          <p:txBody>
            <a:bodyPr/>
            <a:lstStyle/>
            <a:p>
              <a:endParaRPr lang="en-US"/>
            </a:p>
          </p:txBody>
        </p:sp>
        <p:sp>
          <p:nvSpPr>
            <p:cNvPr id="132" name="tst_bar"/>
            <p:cNvSpPr/>
            <p:nvPr/>
          </p:nvSpPr>
          <p:spPr>
            <a:xfrm>
              <a:off x="6578194" y="1755648"/>
              <a:ext cx="50520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3" name="tst_barfill"/>
            <p:cNvSpPr/>
            <p:nvPr/>
          </p:nvSpPr>
          <p:spPr>
            <a:xfrm>
              <a:off x="6578194" y="1927098"/>
              <a:ext cx="5052060" cy="171450"/>
            </a:xfrm>
            <a:prstGeom prst="rect">
              <a:avLst/>
            </a:prstGeom>
            <a:solidFill>
              <a:srgbClr val="0A1220"/>
            </a:solidFill>
            <a:ln w="12700">
              <a:solidFill>
                <a:srgbClr val="0A1220"/>
              </a:solidFill>
              <a:prstDash val="solid"/>
            </a:ln>
          </p:spPr>
          <p:txBody>
            <a:bodyPr/>
            <a:lstStyle/>
            <a:p>
              <a:endParaRPr lang="en-US"/>
            </a:p>
          </p:txBody>
        </p:sp>
        <p:sp>
          <p:nvSpPr>
            <p:cNvPr id="134" name="tst_dot0"/>
            <p:cNvSpPr/>
            <p:nvPr/>
          </p:nvSpPr>
          <p:spPr>
            <a:xfrm>
              <a:off x="674004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5" name="tst_dot1"/>
            <p:cNvSpPr/>
            <p:nvPr/>
          </p:nvSpPr>
          <p:spPr>
            <a:xfrm>
              <a:off x="692566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6" name="tst_dot2"/>
            <p:cNvSpPr/>
            <p:nvPr/>
          </p:nvSpPr>
          <p:spPr>
            <a:xfrm>
              <a:off x="711129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7" name="tst_tab"/>
            <p:cNvSpPr/>
            <p:nvPr/>
          </p:nvSpPr>
          <p:spPr>
            <a:xfrm>
              <a:off x="7359091" y="1803197"/>
              <a:ext cx="2646175"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TransferServiceHandWrittenTests.cs</a:t>
              </a:r>
              <a:endParaRPr lang="en-US" sz="950" dirty="0"/>
            </a:p>
          </p:txBody>
        </p:sp>
        <p:sp>
          <p:nvSpPr>
            <p:cNvPr id="138" name="tst_L00"/>
            <p:cNvSpPr txBox="1"/>
            <p:nvPr/>
          </p:nvSpPr>
          <p:spPr>
            <a:xfrm>
              <a:off x="6806794" y="2231548"/>
              <a:ext cx="47520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[Fact]</a:t>
              </a:r>
              <a:endParaRPr lang="en-US" sz="760" dirty="0"/>
            </a:p>
          </p:txBody>
        </p:sp>
        <p:sp>
          <p:nvSpPr>
            <p:cNvPr id="139" name="tst_L01"/>
            <p:cNvSpPr txBox="1"/>
            <p:nvPr/>
          </p:nvSpPr>
          <p:spPr>
            <a:xfrm>
              <a:off x="6806794" y="2389548"/>
              <a:ext cx="47520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Transfer_WithFakeAndSpy()</a:t>
              </a:r>
              <a:endParaRPr lang="en-US" sz="760" dirty="0"/>
            </a:p>
          </p:txBody>
        </p:sp>
        <p:sp>
          <p:nvSpPr>
            <p:cNvPr id="140" name="tst_L02"/>
            <p:cNvSpPr txBox="1"/>
            <p:nvPr/>
          </p:nvSpPr>
          <p:spPr>
            <a:xfrm>
              <a:off x="6806794" y="2547548"/>
              <a:ext cx="47520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41" name="tst_L03"/>
            <p:cNvSpPr txBox="1"/>
            <p:nvPr/>
          </p:nvSpPr>
          <p:spPr>
            <a:xfrm>
              <a:off x="6806794" y="2705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accounts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InMemoryAccountRepository();    </a:t>
              </a:r>
              <a:r>
                <a:rPr lang="en-US" sz="760" b="0" dirty="0">
                  <a:solidFill>
                    <a:srgbClr val="6FAE7A"/>
                  </a:solidFill>
                  <a:latin typeface="Consolas"/>
                  <a:ea typeface="Consolas"/>
                  <a:cs typeface="Consolas"/>
                </a:rPr>
                <a:t>// FAKE</a:t>
              </a:r>
              <a:endParaRPr lang="en-US" sz="760" dirty="0"/>
            </a:p>
          </p:txBody>
        </p:sp>
        <p:sp>
          <p:nvSpPr>
            <p:cNvPr id="142" name="tst_L04"/>
            <p:cNvSpPr txBox="1"/>
            <p:nvPr/>
          </p:nvSpPr>
          <p:spPr>
            <a:xfrm>
              <a:off x="6806794" y="2863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accounts.Save(</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BankAccount(</a:t>
              </a:r>
              <a:r>
                <a:rPr lang="en-US" sz="760" b="0" dirty="0">
                  <a:solidFill>
                    <a:srgbClr val="F0A98B"/>
                  </a:solidFill>
                  <a:latin typeface="Consolas"/>
                  <a:ea typeface="Consolas"/>
                  <a:cs typeface="Consolas"/>
                </a:rPr>
                <a:t>"mona@bank.eg"</a:t>
              </a:r>
              <a:r>
                <a:rPr lang="en-US" sz="760" b="0" dirty="0">
                  <a:solidFill>
                    <a:srgbClr val="E2E8F0"/>
                  </a:solidFill>
                  <a:latin typeface="Consolas"/>
                  <a:ea typeface="Consolas"/>
                  <a:cs typeface="Consolas"/>
                </a:rPr>
                <a:t>, 500m));</a:t>
              </a:r>
              <a:endParaRPr lang="en-US" sz="760" dirty="0"/>
            </a:p>
          </p:txBody>
        </p:sp>
        <p:sp>
          <p:nvSpPr>
            <p:cNvPr id="143" name="tst_L05"/>
            <p:cNvSpPr txBox="1"/>
            <p:nvPr/>
          </p:nvSpPr>
          <p:spPr>
            <a:xfrm>
              <a:off x="6806794" y="3021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accounts.Save(</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BankAccount(</a:t>
              </a:r>
              <a:r>
                <a:rPr lang="en-US" sz="760" b="0" dirty="0">
                  <a:solidFill>
                    <a:srgbClr val="F0A98B"/>
                  </a:solidFill>
                  <a:latin typeface="Consolas"/>
                  <a:ea typeface="Consolas"/>
                  <a:cs typeface="Consolas"/>
                </a:rPr>
                <a:t>"ali@bank.eg"</a:t>
              </a:r>
              <a:r>
                <a:rPr lang="en-US" sz="760" b="0" dirty="0">
                  <a:solidFill>
                    <a:srgbClr val="E2E8F0"/>
                  </a:solidFill>
                  <a:latin typeface="Consolas"/>
                  <a:ea typeface="Consolas"/>
                  <a:cs typeface="Consolas"/>
                </a:rPr>
                <a:t>, 50m));</a:t>
              </a:r>
              <a:endParaRPr lang="en-US" sz="760" dirty="0"/>
            </a:p>
          </p:txBody>
        </p:sp>
        <p:sp>
          <p:nvSpPr>
            <p:cNvPr id="144" name="tst_L06"/>
            <p:cNvSpPr txBox="1"/>
            <p:nvPr/>
          </p:nvSpPr>
          <p:spPr>
            <a:xfrm>
              <a:off x="6806794" y="3179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spy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SpyEmailSender();                     </a:t>
              </a:r>
              <a:r>
                <a:rPr lang="en-US" sz="760" b="0" dirty="0">
                  <a:solidFill>
                    <a:srgbClr val="6FAE7A"/>
                  </a:solidFill>
                  <a:latin typeface="Consolas"/>
                  <a:ea typeface="Consolas"/>
                  <a:cs typeface="Consolas"/>
                </a:rPr>
                <a:t>// SPY</a:t>
              </a:r>
              <a:endParaRPr lang="en-US" sz="760" dirty="0"/>
            </a:p>
          </p:txBody>
        </p:sp>
        <p:sp>
          <p:nvSpPr>
            <p:cNvPr id="145" name="tst_L07"/>
            <p:cNvSpPr txBox="1"/>
            <p:nvPr/>
          </p:nvSpPr>
          <p:spPr>
            <a:xfrm>
              <a:off x="6806794" y="3337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service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TransferService(</a:t>
              </a:r>
              <a:endParaRPr lang="en-US" sz="760" dirty="0"/>
            </a:p>
          </p:txBody>
        </p:sp>
        <p:sp>
          <p:nvSpPr>
            <p:cNvPr id="146" name="tst_L08"/>
            <p:cNvSpPr txBox="1"/>
            <p:nvPr/>
          </p:nvSpPr>
          <p:spPr>
            <a:xfrm>
              <a:off x="6806794" y="3495548"/>
              <a:ext cx="475206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accounts, spy,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DummyLogger());              </a:t>
              </a:r>
              <a:r>
                <a:rPr lang="en-US" sz="760" b="0" dirty="0">
                  <a:solidFill>
                    <a:srgbClr val="6FAE7A"/>
                  </a:solidFill>
                  <a:latin typeface="Consolas"/>
                  <a:ea typeface="Consolas"/>
                  <a:cs typeface="Consolas"/>
                </a:rPr>
                <a:t>// DUMMY</a:t>
              </a:r>
              <a:endParaRPr lang="en-US" sz="760" dirty="0"/>
            </a:p>
          </p:txBody>
        </p:sp>
        <p:sp>
          <p:nvSpPr>
            <p:cNvPr id="147" name="tst_L10"/>
            <p:cNvSpPr txBox="1"/>
            <p:nvPr/>
          </p:nvSpPr>
          <p:spPr>
            <a:xfrm>
              <a:off x="6806794" y="3811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service.Transfer(</a:t>
              </a:r>
              <a:r>
                <a:rPr lang="en-US" sz="760" b="0" dirty="0">
                  <a:solidFill>
                    <a:srgbClr val="F0A98B"/>
                  </a:solidFill>
                  <a:latin typeface="Consolas"/>
                  <a:ea typeface="Consolas"/>
                  <a:cs typeface="Consolas"/>
                </a:rPr>
                <a:t>"mona@bank.eg"</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"ali@bank.eg"</a:t>
              </a:r>
              <a:r>
                <a:rPr lang="en-US" sz="760" b="0" dirty="0">
                  <a:solidFill>
                    <a:srgbClr val="E2E8F0"/>
                  </a:solidFill>
                  <a:latin typeface="Consolas"/>
                  <a:ea typeface="Consolas"/>
                  <a:cs typeface="Consolas"/>
                </a:rPr>
                <a:t>, 100m);</a:t>
              </a:r>
              <a:endParaRPr lang="en-US" sz="760" dirty="0"/>
            </a:p>
          </p:txBody>
        </p:sp>
        <p:sp>
          <p:nvSpPr>
            <p:cNvPr id="148" name="tst_L12"/>
            <p:cNvSpPr txBox="1"/>
            <p:nvPr/>
          </p:nvSpPr>
          <p:spPr>
            <a:xfrm>
              <a:off x="6806794" y="4127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accounts.Find(</a:t>
              </a:r>
              <a:r>
                <a:rPr lang="en-US" sz="760" b="0" dirty="0">
                  <a:solidFill>
                    <a:srgbClr val="F0A98B"/>
                  </a:solidFill>
                  <a:latin typeface="Consolas"/>
                  <a:ea typeface="Consolas"/>
                  <a:cs typeface="Consolas"/>
                </a:rPr>
                <a:t>"mona@bank.eg"</a:t>
              </a:r>
              <a:r>
                <a:rPr lang="en-US" sz="760" b="0" dirty="0">
                  <a:solidFill>
                    <a:srgbClr val="E2E8F0"/>
                  </a:solidFill>
                  <a:latin typeface="Consolas"/>
                  <a:ea typeface="Consolas"/>
                  <a:cs typeface="Consolas"/>
                </a:rPr>
                <a:t>)!.Balance.ShouldBe(400m);</a:t>
              </a:r>
              <a:endParaRPr lang="en-US" sz="760" dirty="0"/>
            </a:p>
          </p:txBody>
        </p:sp>
        <p:sp>
          <p:nvSpPr>
            <p:cNvPr id="149" name="tst_L13"/>
            <p:cNvSpPr txBox="1"/>
            <p:nvPr/>
          </p:nvSpPr>
          <p:spPr>
            <a:xfrm>
              <a:off x="6806794" y="4285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email = Assert.Single(spy.Sent);</a:t>
              </a:r>
              <a:endParaRPr lang="en-US" sz="760" dirty="0"/>
            </a:p>
          </p:txBody>
        </p:sp>
        <p:sp>
          <p:nvSpPr>
            <p:cNvPr id="150" name="tst_L14"/>
            <p:cNvSpPr txBox="1"/>
            <p:nvPr/>
          </p:nvSpPr>
          <p:spPr>
            <a:xfrm>
              <a:off x="6806794" y="4443548"/>
              <a:ext cx="47520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email.Body.ShouldBe(</a:t>
              </a:r>
              <a:r>
                <a:rPr lang="en-US" sz="760" b="0" dirty="0">
                  <a:solidFill>
                    <a:srgbClr val="F0A98B"/>
                  </a:solidFill>
                  <a:latin typeface="Consolas"/>
                  <a:ea typeface="Consolas"/>
                  <a:cs typeface="Consolas"/>
                </a:rPr>
                <a:t>"You sent 100.00 EGP to ali@bank.eg."</a:t>
              </a:r>
              <a:r>
                <a:rPr lang="en-US" sz="760" b="0" dirty="0">
                  <a:solidFill>
                    <a:srgbClr val="E2E8F0"/>
                  </a:solidFill>
                  <a:latin typeface="Consolas"/>
                  <a:ea typeface="Consolas"/>
                  <a:cs typeface="Consolas"/>
                </a:rPr>
                <a:t>);</a:t>
              </a:r>
              <a:endParaRPr lang="en-US" sz="760" dirty="0"/>
            </a:p>
          </p:txBody>
        </p:sp>
        <p:sp>
          <p:nvSpPr>
            <p:cNvPr id="151" name="tst_L15"/>
            <p:cNvSpPr txBox="1"/>
            <p:nvPr/>
          </p:nvSpPr>
          <p:spPr>
            <a:xfrm>
              <a:off x="6806794" y="4601548"/>
              <a:ext cx="47520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53" name="tst_hl12"/>
          <p:cNvSpPr/>
          <p:nvPr/>
        </p:nvSpPr>
        <p:spPr>
          <a:xfrm>
            <a:off x="6711696" y="4109260"/>
            <a:ext cx="4785060" cy="19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4" name="tst_hl13"/>
          <p:cNvSpPr/>
          <p:nvPr/>
        </p:nvSpPr>
        <p:spPr>
          <a:xfrm>
            <a:off x="6711696" y="4267260"/>
            <a:ext cx="4785060" cy="19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5" name="tst_hl14"/>
          <p:cNvSpPr/>
          <p:nvPr/>
        </p:nvSpPr>
        <p:spPr>
          <a:xfrm>
            <a:off x="6711696" y="4425260"/>
            <a:ext cx="4785060" cy="194576"/>
          </a:xfrm>
          <a:prstGeom prst="rect">
            <a:avLst/>
          </a:prstGeom>
          <a:solidFill>
            <a:srgbClr val="34D399">
              <a:alpha val="15000"/>
            </a:srgbClr>
          </a:solidFill>
          <a:ln w="12700">
            <a:solidFill>
              <a:srgbClr val="34D399"/>
            </a:solidFill>
            <a:prstDash val="solid"/>
          </a:ln>
        </p:spPr>
        <p:txBody>
          <a:bodyPr/>
          <a:lstStyle/>
          <a:p>
            <a:endParaRPr lang="en-US"/>
          </a:p>
        </p:txBody>
      </p:sp>
    </p:spTree>
    <p:extLst>
      <p:ext uri="{BB962C8B-B14F-4D97-AF65-F5344CB8AC3E}">
        <p14:creationId xmlns:p14="http://schemas.microsoft.com/office/powerpoint/2010/main" val="510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400"/>
                                        <p:tgtEl>
                                          <p:spTgt spid="1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400"/>
                                        <p:tgtEl>
                                          <p:spTgt spid="102"/>
                                        </p:tgtEl>
                                      </p:cBhvr>
                                    </p:animEffect>
                                  </p:childTnLst>
                                </p:cTn>
                              </p:par>
                              <p:par>
                                <p:cTn id="16" presetID="10" presetClass="entr" presetSubtype="0" fill="hold" nodeType="withEffect">
                                  <p:stCondLst>
                                    <p:cond delay="0"/>
                                  </p:stCondLst>
                                  <p:childTnLst>
                                    <p:set>
                                      <p:cBhvr>
                                        <p:cTn id="17" dur="1" fill="hold">
                                          <p:stCondLst>
                                            <p:cond delay="0"/>
                                          </p:stCondLst>
                                        </p:cTn>
                                        <p:tgtEl>
                                          <p:spTgt spid="152"/>
                                        </p:tgtEl>
                                        <p:attrNameLst>
                                          <p:attrName>style.visibility</p:attrName>
                                        </p:attrNameLst>
                                      </p:cBhvr>
                                      <p:to>
                                        <p:strVal val="visible"/>
                                      </p:to>
                                    </p:set>
                                    <p:animEffect transition="in" filter="fade">
                                      <p:cBhvr>
                                        <p:cTn id="18" dur="400"/>
                                        <p:tgtEl>
                                          <p:spTgt spid="15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3"/>
                                        </p:tgtEl>
                                        <p:attrNameLst>
                                          <p:attrName>style.visibility</p:attrName>
                                        </p:attrNameLst>
                                      </p:cBhvr>
                                      <p:to>
                                        <p:strVal val="visible"/>
                                      </p:to>
                                    </p:set>
                                    <p:animEffect transition="in" filter="fade">
                                      <p:cBhvr>
                                        <p:cTn id="21" dur="400"/>
                                        <p:tgtEl>
                                          <p:spTgt spid="15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4"/>
                                        </p:tgtEl>
                                        <p:attrNameLst>
                                          <p:attrName>style.visibility</p:attrName>
                                        </p:attrNameLst>
                                      </p:cBhvr>
                                      <p:to>
                                        <p:strVal val="visible"/>
                                      </p:to>
                                    </p:set>
                                    <p:animEffect transition="in" filter="fade">
                                      <p:cBhvr>
                                        <p:cTn id="24" dur="400"/>
                                        <p:tgtEl>
                                          <p:spTgt spid="15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5"/>
                                        </p:tgtEl>
                                        <p:attrNameLst>
                                          <p:attrName>style.visibility</p:attrName>
                                        </p:attrNameLst>
                                      </p:cBhvr>
                                      <p:to>
                                        <p:strVal val="visible"/>
                                      </p:to>
                                    </p:set>
                                    <p:animEffect transition="in" filter="fade">
                                      <p:cBhvr>
                                        <p:cTn id="27" dur="4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53" grpId="0" animBg="1"/>
      <p:bldP spid="154" grpId="0" animBg="1"/>
      <p:bldP spid="155"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NSUBSTITUTE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NSubstitute: Doubles Without Writing Classes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124</a:t>
            </a:r>
            <a:endParaRPr lang="en-US" sz="850" dirty="0"/>
          </a:p>
        </p:txBody>
      </p:sp>
      <p:grpSp>
        <p:nvGrpSpPr>
          <p:cNvPr id="130" name="code"/>
          <p:cNvGrpSpPr/>
          <p:nvPr/>
        </p:nvGrpSpPr>
        <p:grpSpPr>
          <a:xfrm>
            <a:off x="543154" y="1572768"/>
            <a:ext cx="7726680" cy="4345900"/>
            <a:chOff x="543154" y="1572768"/>
            <a:chExt cx="7726680" cy="4345900"/>
          </a:xfrm>
        </p:grpSpPr>
        <p:sp>
          <p:nvSpPr>
            <p:cNvPr id="101" name="code_win"/>
            <p:cNvSpPr/>
            <p:nvPr/>
          </p:nvSpPr>
          <p:spPr>
            <a:xfrm>
              <a:off x="543154" y="1572768"/>
              <a:ext cx="7726680" cy="4345900"/>
            </a:xfrm>
            <a:prstGeom prst="roundRect">
              <a:avLst>
                <a:gd name="adj" fmla="val 1577"/>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7726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772668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08" name="code_L00"/>
            <p:cNvSpPr txBox="1"/>
            <p:nvPr/>
          </p:nvSpPr>
          <p:spPr>
            <a:xfrm>
              <a:off x="771754" y="2048668"/>
              <a:ext cx="7426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class</a:t>
              </a:r>
              <a:r>
                <a:rPr lang="en-US" sz="760" b="0" dirty="0">
                  <a:solidFill>
                    <a:srgbClr val="E2E8F0"/>
                  </a:solidFill>
                  <a:latin typeface="Consolas"/>
                  <a:ea typeface="Consolas"/>
                  <a:cs typeface="Consolas"/>
                </a:rPr>
                <a:t> TransferServiceTests</a:t>
              </a:r>
              <a:endParaRPr lang="en-US" sz="760" dirty="0"/>
            </a:p>
          </p:txBody>
        </p:sp>
        <p:sp>
          <p:nvSpPr>
            <p:cNvPr id="109" name="code_L01"/>
            <p:cNvSpPr txBox="1"/>
            <p:nvPr/>
          </p:nvSpPr>
          <p:spPr>
            <a:xfrm>
              <a:off x="771754" y="2198668"/>
              <a:ext cx="7426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0" name="code_L02"/>
            <p:cNvSpPr txBox="1"/>
            <p:nvPr/>
          </p:nvSpPr>
          <p:spPr>
            <a:xfrm>
              <a:off x="771754" y="234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IAccountRepository _accounts = Substitute.For&lt;IAccountRepository&gt;();</a:t>
              </a:r>
              <a:endParaRPr lang="en-US" sz="760" dirty="0"/>
            </a:p>
          </p:txBody>
        </p:sp>
        <p:sp>
          <p:nvSpPr>
            <p:cNvPr id="111" name="code_L03"/>
            <p:cNvSpPr txBox="1"/>
            <p:nvPr/>
          </p:nvSpPr>
          <p:spPr>
            <a:xfrm>
              <a:off x="771754" y="249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IEmailSender _email = Substitute.For&lt;IEmailSender&gt;();</a:t>
              </a:r>
              <a:endParaRPr lang="en-US" sz="760" dirty="0"/>
            </a:p>
          </p:txBody>
        </p:sp>
        <p:sp>
          <p:nvSpPr>
            <p:cNvPr id="112" name="code_L04"/>
            <p:cNvSpPr txBox="1"/>
            <p:nvPr/>
          </p:nvSpPr>
          <p:spPr>
            <a:xfrm>
              <a:off x="771754" y="264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ILogger _logger = Substitute.For&lt;ILogger&gt;();</a:t>
              </a:r>
              <a:endParaRPr lang="en-US" sz="760" dirty="0"/>
            </a:p>
          </p:txBody>
        </p:sp>
        <p:sp>
          <p:nvSpPr>
            <p:cNvPr id="113" name="code_L05"/>
            <p:cNvSpPr txBox="1"/>
            <p:nvPr/>
          </p:nvSpPr>
          <p:spPr>
            <a:xfrm>
              <a:off x="771754" y="279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BankAccount _mona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r>
                <a:rPr lang="en-US" sz="760" b="0" dirty="0">
                  <a:solidFill>
                    <a:srgbClr val="F0A98B"/>
                  </a:solidFill>
                  <a:latin typeface="Consolas"/>
                  <a:ea typeface="Consolas"/>
                  <a:cs typeface="Consolas"/>
                </a:rPr>
                <a:t>"mona@bank.eg"</a:t>
              </a:r>
              <a:r>
                <a:rPr lang="en-US" sz="760" b="0" dirty="0">
                  <a:solidFill>
                    <a:srgbClr val="E2E8F0"/>
                  </a:solidFill>
                  <a:latin typeface="Consolas"/>
                  <a:ea typeface="Consolas"/>
                  <a:cs typeface="Consolas"/>
                </a:rPr>
                <a:t>, 500m);</a:t>
              </a:r>
              <a:endParaRPr lang="en-US" sz="760" dirty="0"/>
            </a:p>
          </p:txBody>
        </p:sp>
        <p:sp>
          <p:nvSpPr>
            <p:cNvPr id="114" name="code_L06"/>
            <p:cNvSpPr txBox="1"/>
            <p:nvPr/>
          </p:nvSpPr>
          <p:spPr>
            <a:xfrm>
              <a:off x="771754" y="294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BankAccount _ali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a:t>
              </a:r>
              <a:r>
                <a:rPr lang="en-US" sz="760" b="0" dirty="0">
                  <a:solidFill>
                    <a:srgbClr val="F0A98B"/>
                  </a:solidFill>
                  <a:latin typeface="Consolas"/>
                  <a:ea typeface="Consolas"/>
                  <a:cs typeface="Consolas"/>
                </a:rPr>
                <a:t>"ali@bank.eg"</a:t>
              </a:r>
              <a:r>
                <a:rPr lang="en-US" sz="760" b="0" dirty="0">
                  <a:solidFill>
                    <a:srgbClr val="E2E8F0"/>
                  </a:solidFill>
                  <a:latin typeface="Consolas"/>
                  <a:ea typeface="Consolas"/>
                  <a:cs typeface="Consolas"/>
                </a:rPr>
                <a:t>, 50m);</a:t>
              </a:r>
              <a:endParaRPr lang="en-US" sz="760" dirty="0"/>
            </a:p>
          </p:txBody>
        </p:sp>
        <p:sp>
          <p:nvSpPr>
            <p:cNvPr id="115" name="code_L07"/>
            <p:cNvSpPr txBox="1"/>
            <p:nvPr/>
          </p:nvSpPr>
          <p:spPr>
            <a:xfrm>
              <a:off x="771754" y="309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readonly</a:t>
              </a:r>
              <a:r>
                <a:rPr lang="en-US" sz="760" b="0" dirty="0">
                  <a:solidFill>
                    <a:srgbClr val="E2E8F0"/>
                  </a:solidFill>
                  <a:latin typeface="Consolas"/>
                  <a:ea typeface="Consolas"/>
                  <a:cs typeface="Consolas"/>
                </a:rPr>
                <a:t> TransferService _service;</a:t>
              </a:r>
              <a:endParaRPr lang="en-US" sz="760" dirty="0"/>
            </a:p>
          </p:txBody>
        </p:sp>
        <p:sp>
          <p:nvSpPr>
            <p:cNvPr id="116" name="code_L09"/>
            <p:cNvSpPr txBox="1"/>
            <p:nvPr/>
          </p:nvSpPr>
          <p:spPr>
            <a:xfrm>
              <a:off x="771754" y="339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TransferServiceTests()                        </a:t>
              </a:r>
              <a:r>
                <a:rPr lang="en-US" sz="760" b="0" dirty="0">
                  <a:solidFill>
                    <a:srgbClr val="6FAE7A"/>
                  </a:solidFill>
                  <a:latin typeface="Consolas"/>
                  <a:ea typeface="Consolas"/>
                  <a:cs typeface="Consolas"/>
                </a:rPr>
                <a:t>// before EVERY test</a:t>
              </a:r>
              <a:endParaRPr lang="en-US" sz="760" dirty="0"/>
            </a:p>
          </p:txBody>
        </p:sp>
        <p:sp>
          <p:nvSpPr>
            <p:cNvPr id="117" name="code_L10"/>
            <p:cNvSpPr txBox="1"/>
            <p:nvPr/>
          </p:nvSpPr>
          <p:spPr>
            <a:xfrm>
              <a:off x="771754" y="354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8" name="code_L11"/>
            <p:cNvSpPr txBox="1"/>
            <p:nvPr/>
          </p:nvSpPr>
          <p:spPr>
            <a:xfrm>
              <a:off x="771754" y="3698668"/>
              <a:ext cx="7426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_accounts.Find(</a:t>
              </a:r>
              <a:r>
                <a:rPr lang="en-US" sz="760" b="0" dirty="0">
                  <a:solidFill>
                    <a:srgbClr val="F0A98B"/>
                  </a:solidFill>
                  <a:latin typeface="Consolas"/>
                  <a:ea typeface="Consolas"/>
                  <a:cs typeface="Consolas"/>
                </a:rPr>
                <a:t>"mona@bank.eg"</a:t>
              </a:r>
              <a:r>
                <a:rPr lang="en-US" sz="760" b="0" dirty="0">
                  <a:solidFill>
                    <a:srgbClr val="E2E8F0"/>
                  </a:solidFill>
                  <a:latin typeface="Consolas"/>
                  <a:ea typeface="Consolas"/>
                  <a:cs typeface="Consolas"/>
                </a:rPr>
                <a:t>).Returns(_mona);   </a:t>
              </a:r>
              <a:r>
                <a:rPr lang="en-US" sz="760" b="0" dirty="0">
                  <a:solidFill>
                    <a:srgbClr val="6FAE7A"/>
                  </a:solidFill>
                  <a:latin typeface="Consolas"/>
                  <a:ea typeface="Consolas"/>
                  <a:cs typeface="Consolas"/>
                </a:rPr>
                <a:t>// STUB</a:t>
              </a:r>
              <a:endParaRPr lang="en-US" sz="760" dirty="0"/>
            </a:p>
          </p:txBody>
        </p:sp>
        <p:sp>
          <p:nvSpPr>
            <p:cNvPr id="119" name="code_L12"/>
            <p:cNvSpPr txBox="1"/>
            <p:nvPr/>
          </p:nvSpPr>
          <p:spPr>
            <a:xfrm>
              <a:off x="771754" y="3848668"/>
              <a:ext cx="7426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_accounts.Find(</a:t>
              </a:r>
              <a:r>
                <a:rPr lang="en-US" sz="760" b="0" dirty="0">
                  <a:solidFill>
                    <a:srgbClr val="F0A98B"/>
                  </a:solidFill>
                  <a:latin typeface="Consolas"/>
                  <a:ea typeface="Consolas"/>
                  <a:cs typeface="Consolas"/>
                </a:rPr>
                <a:t>"ali@bank.eg"</a:t>
              </a:r>
              <a:r>
                <a:rPr lang="en-US" sz="760" b="0" dirty="0">
                  <a:solidFill>
                    <a:srgbClr val="E2E8F0"/>
                  </a:solidFill>
                  <a:latin typeface="Consolas"/>
                  <a:ea typeface="Consolas"/>
                  <a:cs typeface="Consolas"/>
                </a:rPr>
                <a:t>).Returns(_ali);</a:t>
              </a:r>
              <a:endParaRPr lang="en-US" sz="760" dirty="0"/>
            </a:p>
          </p:txBody>
        </p:sp>
        <p:sp>
          <p:nvSpPr>
            <p:cNvPr id="120" name="code_L13"/>
            <p:cNvSpPr txBox="1"/>
            <p:nvPr/>
          </p:nvSpPr>
          <p:spPr>
            <a:xfrm>
              <a:off x="771754" y="3998668"/>
              <a:ext cx="7426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_service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TransferService(_accounts, _email, _logger);</a:t>
              </a:r>
              <a:endParaRPr lang="en-US" sz="760" dirty="0"/>
            </a:p>
          </p:txBody>
        </p:sp>
        <p:sp>
          <p:nvSpPr>
            <p:cNvPr id="121" name="code_L14"/>
            <p:cNvSpPr txBox="1"/>
            <p:nvPr/>
          </p:nvSpPr>
          <p:spPr>
            <a:xfrm>
              <a:off x="771754" y="414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2" name="code_L16"/>
            <p:cNvSpPr txBox="1"/>
            <p:nvPr/>
          </p:nvSpPr>
          <p:spPr>
            <a:xfrm>
              <a:off x="771754" y="444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[Fact]</a:t>
              </a:r>
              <a:endParaRPr lang="en-US" sz="760" dirty="0"/>
            </a:p>
          </p:txBody>
        </p:sp>
        <p:sp>
          <p:nvSpPr>
            <p:cNvPr id="123" name="code_L17"/>
            <p:cNvSpPr txBox="1"/>
            <p:nvPr/>
          </p:nvSpPr>
          <p:spPr>
            <a:xfrm>
              <a:off x="771754" y="459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Transfer_EmailsTheSender()</a:t>
              </a:r>
              <a:endParaRPr lang="en-US" sz="760" dirty="0"/>
            </a:p>
          </p:txBody>
        </p:sp>
        <p:sp>
          <p:nvSpPr>
            <p:cNvPr id="124" name="code_L18"/>
            <p:cNvSpPr txBox="1"/>
            <p:nvPr/>
          </p:nvSpPr>
          <p:spPr>
            <a:xfrm>
              <a:off x="771754" y="474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5" name="code_L19"/>
            <p:cNvSpPr txBox="1"/>
            <p:nvPr/>
          </p:nvSpPr>
          <p:spPr>
            <a:xfrm>
              <a:off x="771754" y="4898668"/>
              <a:ext cx="7426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_service.Transfer(</a:t>
              </a:r>
              <a:r>
                <a:rPr lang="en-US" sz="760" b="0" dirty="0">
                  <a:solidFill>
                    <a:srgbClr val="F0A98B"/>
                  </a:solidFill>
                  <a:latin typeface="Consolas"/>
                  <a:ea typeface="Consolas"/>
                  <a:cs typeface="Consolas"/>
                </a:rPr>
                <a:t>"mona@bank.eg"</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"ali@bank.eg"</a:t>
              </a:r>
              <a:r>
                <a:rPr lang="en-US" sz="760" b="0" dirty="0">
                  <a:solidFill>
                    <a:srgbClr val="E2E8F0"/>
                  </a:solidFill>
                  <a:latin typeface="Consolas"/>
                  <a:ea typeface="Consolas"/>
                  <a:cs typeface="Consolas"/>
                </a:rPr>
                <a:t>, 100m);</a:t>
              </a:r>
              <a:endParaRPr lang="en-US" sz="760" dirty="0"/>
            </a:p>
          </p:txBody>
        </p:sp>
        <p:sp>
          <p:nvSpPr>
            <p:cNvPr id="126" name="code_L21"/>
            <p:cNvSpPr txBox="1"/>
            <p:nvPr/>
          </p:nvSpPr>
          <p:spPr>
            <a:xfrm>
              <a:off x="771754" y="5198668"/>
              <a:ext cx="742668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_email.Received(1).Send(</a:t>
              </a:r>
              <a:r>
                <a:rPr lang="en-US" sz="760" b="0" dirty="0">
                  <a:solidFill>
                    <a:srgbClr val="F0A98B"/>
                  </a:solidFill>
                  <a:latin typeface="Consolas"/>
                  <a:ea typeface="Consolas"/>
                  <a:cs typeface="Consolas"/>
                </a:rPr>
                <a:t>"mona@bank.eg"</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"Transfer done"</a:t>
              </a:r>
              <a:r>
                <a:rPr lang="en-US" sz="760" b="0" dirty="0">
                  <a:solidFill>
                    <a:srgbClr val="E2E8F0"/>
                  </a:solidFill>
                  <a:latin typeface="Consolas"/>
                  <a:ea typeface="Consolas"/>
                  <a:cs typeface="Consolas"/>
                </a:rPr>
                <a:t>,</a:t>
              </a:r>
              <a:endParaRPr lang="en-US" sz="760" dirty="0"/>
            </a:p>
          </p:txBody>
        </p:sp>
        <p:sp>
          <p:nvSpPr>
            <p:cNvPr id="127" name="code_L22"/>
            <p:cNvSpPr txBox="1"/>
            <p:nvPr/>
          </p:nvSpPr>
          <p:spPr>
            <a:xfrm>
              <a:off x="771754" y="5348668"/>
              <a:ext cx="742668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60" b="0" dirty="0">
                  <a:solidFill>
                    <a:srgbClr val="E2E8F0"/>
                  </a:solidFill>
                  <a:latin typeface="Consolas"/>
                  <a:ea typeface="Consolas"/>
                  <a:cs typeface="Consolas"/>
                </a:rPr>
                <a:t>Arg.Is&lt;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&gt;(body =&gt; body.Contains(</a:t>
              </a:r>
              <a:r>
                <a:rPr lang="en-US" sz="760" b="0" dirty="0">
                  <a:solidFill>
                    <a:srgbClr val="F0A98B"/>
                  </a:solidFill>
                  <a:latin typeface="Consolas"/>
                  <a:ea typeface="Consolas"/>
                  <a:cs typeface="Consolas"/>
                </a:rPr>
                <a:t>"100.00"</a:t>
              </a: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MOCK</a:t>
              </a:r>
              <a:endParaRPr lang="en-US" sz="760" dirty="0"/>
            </a:p>
          </p:txBody>
        </p:sp>
        <p:sp>
          <p:nvSpPr>
            <p:cNvPr id="128" name="code_L23"/>
            <p:cNvSpPr txBox="1"/>
            <p:nvPr/>
          </p:nvSpPr>
          <p:spPr>
            <a:xfrm>
              <a:off x="771754" y="5498668"/>
              <a:ext cx="742668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9" name="code_L24"/>
            <p:cNvSpPr txBox="1"/>
            <p:nvPr/>
          </p:nvSpPr>
          <p:spPr>
            <a:xfrm>
              <a:off x="771754" y="5648668"/>
              <a:ext cx="742668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31" name="code_hl11"/>
          <p:cNvSpPr/>
          <p:nvPr/>
        </p:nvSpPr>
        <p:spPr>
          <a:xfrm>
            <a:off x="676656" y="3680380"/>
            <a:ext cx="745968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32" name="code_hl12"/>
          <p:cNvSpPr/>
          <p:nvPr/>
        </p:nvSpPr>
        <p:spPr>
          <a:xfrm>
            <a:off x="676656" y="3830380"/>
            <a:ext cx="745968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33" name="code_hl21"/>
          <p:cNvSpPr/>
          <p:nvPr/>
        </p:nvSpPr>
        <p:spPr>
          <a:xfrm>
            <a:off x="676656" y="5180380"/>
            <a:ext cx="745968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4" name="code_hl22"/>
          <p:cNvSpPr/>
          <p:nvPr/>
        </p:nvSpPr>
        <p:spPr>
          <a:xfrm>
            <a:off x="676656" y="5330380"/>
            <a:ext cx="745968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5" name="a0"/>
          <p:cNvSpPr/>
          <p:nvPr/>
        </p:nvSpPr>
        <p:spPr>
          <a:xfrm>
            <a:off x="8412480" y="1572768"/>
            <a:ext cx="3217774" cy="694944"/>
          </a:xfrm>
          <a:prstGeom prst="roundRect">
            <a:avLst>
              <a:gd name="adj" fmla="val 12000"/>
            </a:avLst>
          </a:prstGeom>
          <a:solidFill>
            <a:srgbClr val="111B2E"/>
          </a:solidFill>
          <a:ln w="12700">
            <a:solidFill>
              <a:srgbClr val="13D0F7"/>
            </a:solidFill>
            <a:prstDash val="solid"/>
          </a:ln>
        </p:spPr>
        <p:txBody>
          <a:bodyPr wrap="square" lIns="137160" tIns="22860" rIns="91440" bIns="22860" rtlCol="0" anchor="ctr">
            <a:noAutofit/>
          </a:bodyPr>
          <a:lstStyle/>
          <a:p>
            <a:pPr marL="0" indent="0" algn="l">
              <a:spcBef>
                <a:spcPts val="0"/>
              </a:spcBef>
              <a:spcAft>
                <a:spcPts val="0"/>
              </a:spcAft>
              <a:buNone/>
            </a:pPr>
            <a:r>
              <a:rPr lang="en-US" sz="1050" b="1" dirty="0">
                <a:solidFill>
                  <a:srgbClr val="13D0F7"/>
                </a:solidFill>
                <a:latin typeface="Consolas"/>
                <a:ea typeface="Consolas"/>
                <a:cs typeface="Consolas"/>
              </a:rPr>
              <a:t>Substitute.For&lt;T&gt;()</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create a double</a:t>
            </a:r>
            <a:endParaRPr lang="en-US" sz="1050" dirty="0"/>
          </a:p>
        </p:txBody>
      </p:sp>
      <p:sp>
        <p:nvSpPr>
          <p:cNvPr id="136" name="a1"/>
          <p:cNvSpPr/>
          <p:nvPr/>
        </p:nvSpPr>
        <p:spPr>
          <a:xfrm>
            <a:off x="8412480" y="2359152"/>
            <a:ext cx="3217774" cy="694944"/>
          </a:xfrm>
          <a:prstGeom prst="roundRect">
            <a:avLst>
              <a:gd name="adj" fmla="val 12000"/>
            </a:avLst>
          </a:prstGeom>
          <a:solidFill>
            <a:srgbClr val="111B2E"/>
          </a:solidFill>
          <a:ln w="12700">
            <a:solidFill>
              <a:srgbClr val="FBBF24"/>
            </a:solidFill>
            <a:prstDash val="solid"/>
          </a:ln>
        </p:spPr>
        <p:txBody>
          <a:bodyPr wrap="square" lIns="137160" tIns="22860" rIns="91440" bIns="22860" rtlCol="0" anchor="ctr">
            <a:noAutofit/>
          </a:bodyPr>
          <a:lstStyle/>
          <a:p>
            <a:pPr marL="0" indent="0" algn="l">
              <a:spcBef>
                <a:spcPts val="0"/>
              </a:spcBef>
              <a:spcAft>
                <a:spcPts val="0"/>
              </a:spcAft>
              <a:buNone/>
            </a:pPr>
            <a:r>
              <a:rPr lang="en-US" sz="1050" b="1" dirty="0">
                <a:solidFill>
                  <a:srgbClr val="FBBF24"/>
                </a:solidFill>
                <a:latin typeface="Consolas"/>
                <a:ea typeface="Consolas"/>
                <a:cs typeface="Consolas"/>
              </a:rPr>
              <a:t>x.Method(…).Returns(v)</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stub an answer</a:t>
            </a:r>
            <a:endParaRPr lang="en-US" sz="1050" dirty="0"/>
          </a:p>
        </p:txBody>
      </p:sp>
      <p:sp>
        <p:nvSpPr>
          <p:cNvPr id="137" name="a2"/>
          <p:cNvSpPr/>
          <p:nvPr/>
        </p:nvSpPr>
        <p:spPr>
          <a:xfrm>
            <a:off x="8412480" y="3145536"/>
            <a:ext cx="3217774" cy="694944"/>
          </a:xfrm>
          <a:prstGeom prst="roundRect">
            <a:avLst>
              <a:gd name="adj" fmla="val 12000"/>
            </a:avLst>
          </a:prstGeom>
          <a:solidFill>
            <a:srgbClr val="111B2E"/>
          </a:solidFill>
          <a:ln w="12700">
            <a:solidFill>
              <a:srgbClr val="34D399"/>
            </a:solidFill>
            <a:prstDash val="solid"/>
          </a:ln>
        </p:spPr>
        <p:txBody>
          <a:bodyPr wrap="square" lIns="137160" tIns="22860" rIns="91440" bIns="22860" rtlCol="0" anchor="ctr">
            <a:noAutofit/>
          </a:bodyPr>
          <a:lstStyle/>
          <a:p>
            <a:pPr marL="0" indent="0" algn="l">
              <a:spcBef>
                <a:spcPts val="0"/>
              </a:spcBef>
              <a:spcAft>
                <a:spcPts val="0"/>
              </a:spcAft>
              <a:buNone/>
            </a:pPr>
            <a:r>
              <a:rPr lang="en-US" sz="1050" b="1" dirty="0">
                <a:solidFill>
                  <a:srgbClr val="34D399"/>
                </a:solidFill>
                <a:latin typeface="Consolas"/>
                <a:ea typeface="Consolas"/>
                <a:cs typeface="Consolas"/>
              </a:rPr>
              <a:t>x.Received(1).Method(…)</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verify a call</a:t>
            </a:r>
            <a:endParaRPr lang="en-US" sz="1050" dirty="0"/>
          </a:p>
        </p:txBody>
      </p:sp>
      <p:sp>
        <p:nvSpPr>
          <p:cNvPr id="138" name="a3"/>
          <p:cNvSpPr/>
          <p:nvPr/>
        </p:nvSpPr>
        <p:spPr>
          <a:xfrm>
            <a:off x="8412480" y="3931920"/>
            <a:ext cx="3217774" cy="694944"/>
          </a:xfrm>
          <a:prstGeom prst="roundRect">
            <a:avLst>
              <a:gd name="adj" fmla="val 12000"/>
            </a:avLst>
          </a:prstGeom>
          <a:solidFill>
            <a:srgbClr val="111B2E"/>
          </a:solidFill>
          <a:ln w="12700">
            <a:solidFill>
              <a:srgbClr val="F87171"/>
            </a:solidFill>
            <a:prstDash val="solid"/>
          </a:ln>
        </p:spPr>
        <p:txBody>
          <a:bodyPr wrap="square" lIns="137160" tIns="22860" rIns="91440" bIns="22860"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x.DidNotReceive()…</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verify NO call</a:t>
            </a:r>
            <a:endParaRPr lang="en-US" sz="1050" dirty="0"/>
          </a:p>
        </p:txBody>
      </p:sp>
      <p:sp>
        <p:nvSpPr>
          <p:cNvPr id="139" name="a4"/>
          <p:cNvSpPr/>
          <p:nvPr/>
        </p:nvSpPr>
        <p:spPr>
          <a:xfrm>
            <a:off x="8412480" y="4718304"/>
            <a:ext cx="3217774" cy="694944"/>
          </a:xfrm>
          <a:prstGeom prst="roundRect">
            <a:avLst>
              <a:gd name="adj" fmla="val 12000"/>
            </a:avLst>
          </a:prstGeom>
          <a:solidFill>
            <a:srgbClr val="111B2E"/>
          </a:solidFill>
          <a:ln w="12700">
            <a:solidFill>
              <a:srgbClr val="A78BFA"/>
            </a:solidFill>
            <a:prstDash val="solid"/>
          </a:ln>
        </p:spPr>
        <p:txBody>
          <a:bodyPr wrap="square" lIns="137160" tIns="22860" rIns="91440" bIns="22860" rtlCol="0" anchor="ctr">
            <a:noAutofit/>
          </a:bodyPr>
          <a:lstStyle/>
          <a:p>
            <a:pPr marL="0" indent="0" algn="l">
              <a:spcBef>
                <a:spcPts val="0"/>
              </a:spcBef>
              <a:spcAft>
                <a:spcPts val="0"/>
              </a:spcAft>
              <a:buNone/>
            </a:pPr>
            <a:r>
              <a:rPr lang="en-US" sz="1050" b="1" dirty="0">
                <a:solidFill>
                  <a:srgbClr val="A78BFA"/>
                </a:solidFill>
                <a:latin typeface="Consolas"/>
                <a:ea typeface="Consolas"/>
                <a:cs typeface="Consolas"/>
              </a:rPr>
              <a:t>Arg.Any&lt;T&gt;() / Arg.Is&lt;T&gt;(…)</a:t>
            </a:r>
            <a:endParaRPr lang="en-US" sz="1050" dirty="0"/>
          </a:p>
          <a:p>
            <a:pPr marL="0" indent="0" algn="l">
              <a:spcBef>
                <a:spcPts val="0"/>
              </a:spcBef>
              <a:spcAft>
                <a:spcPts val="0"/>
              </a:spcAft>
              <a:buNone/>
            </a:pPr>
            <a:r>
              <a:rPr lang="en-US" sz="1050" b="0" dirty="0">
                <a:solidFill>
                  <a:srgbClr val="CBD5E1"/>
                </a:solidFill>
                <a:latin typeface="Segoe UI"/>
                <a:ea typeface="Segoe UI"/>
                <a:cs typeface="Segoe UI"/>
              </a:rPr>
              <a:t>match arguments</a:t>
            </a:r>
            <a:endParaRPr lang="en-US" sz="1050" dirty="0"/>
          </a:p>
        </p:txBody>
      </p:sp>
    </p:spTree>
    <p:extLst>
      <p:ext uri="{BB962C8B-B14F-4D97-AF65-F5344CB8AC3E}">
        <p14:creationId xmlns:p14="http://schemas.microsoft.com/office/powerpoint/2010/main" val="510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400"/>
                                        <p:tgtEl>
                                          <p:spTgt spid="1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1"/>
                                        </p:tgtEl>
                                        <p:attrNameLst>
                                          <p:attrName>style.visibility</p:attrName>
                                        </p:attrNameLst>
                                      </p:cBhvr>
                                      <p:to>
                                        <p:strVal val="visible"/>
                                      </p:to>
                                    </p:set>
                                    <p:animEffect transition="in" filter="fade">
                                      <p:cBhvr>
                                        <p:cTn id="10" dur="400"/>
                                        <p:tgtEl>
                                          <p:spTgt spid="1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2"/>
                                        </p:tgtEl>
                                        <p:attrNameLst>
                                          <p:attrName>style.visibility</p:attrName>
                                        </p:attrNameLst>
                                      </p:cBhvr>
                                      <p:to>
                                        <p:strVal val="visible"/>
                                      </p:to>
                                    </p:set>
                                    <p:animEffect transition="in" filter="fade">
                                      <p:cBhvr>
                                        <p:cTn id="13" dur="400"/>
                                        <p:tgtEl>
                                          <p:spTgt spid="1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3"/>
                                        </p:tgtEl>
                                        <p:attrNameLst>
                                          <p:attrName>style.visibility</p:attrName>
                                        </p:attrNameLst>
                                      </p:cBhvr>
                                      <p:to>
                                        <p:strVal val="visible"/>
                                      </p:to>
                                    </p:set>
                                    <p:animEffect transition="in" filter="fade">
                                      <p:cBhvr>
                                        <p:cTn id="16" dur="400"/>
                                        <p:tgtEl>
                                          <p:spTgt spid="1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4"/>
                                        </p:tgtEl>
                                        <p:attrNameLst>
                                          <p:attrName>style.visibility</p:attrName>
                                        </p:attrNameLst>
                                      </p:cBhvr>
                                      <p:to>
                                        <p:strVal val="visible"/>
                                      </p:to>
                                    </p:set>
                                    <p:animEffect transition="in" filter="fade">
                                      <p:cBhvr>
                                        <p:cTn id="19" dur="400"/>
                                        <p:tgtEl>
                                          <p:spTgt spid="13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5"/>
                                        </p:tgtEl>
                                        <p:attrNameLst>
                                          <p:attrName>style.visibility</p:attrName>
                                        </p:attrNameLst>
                                      </p:cBhvr>
                                      <p:to>
                                        <p:strVal val="visible"/>
                                      </p:to>
                                    </p:set>
                                    <p:animEffect transition="in" filter="fade">
                                      <p:cBhvr>
                                        <p:cTn id="24" dur="250"/>
                                        <p:tgtEl>
                                          <p:spTgt spid="135"/>
                                        </p:tgtEl>
                                      </p:cBhvr>
                                    </p:animEffect>
                                  </p:childTnLst>
                                </p:cTn>
                              </p:par>
                            </p:childTnLst>
                          </p:cTn>
                        </p:par>
                        <p:par>
                          <p:cTn id="25" fill="hold">
                            <p:stCondLst>
                              <p:cond delay="250"/>
                            </p:stCondLst>
                            <p:childTnLst>
                              <p:par>
                                <p:cTn id="26" presetID="10" presetClass="entr" presetSubtype="0" fill="hold" grpId="0" nodeType="afterEffect">
                                  <p:stCondLst>
                                    <p:cond delay="0"/>
                                  </p:stCondLst>
                                  <p:childTnLst>
                                    <p:set>
                                      <p:cBhvr>
                                        <p:cTn id="27" dur="1" fill="hold">
                                          <p:stCondLst>
                                            <p:cond delay="0"/>
                                          </p:stCondLst>
                                        </p:cTn>
                                        <p:tgtEl>
                                          <p:spTgt spid="136"/>
                                        </p:tgtEl>
                                        <p:attrNameLst>
                                          <p:attrName>style.visibility</p:attrName>
                                        </p:attrNameLst>
                                      </p:cBhvr>
                                      <p:to>
                                        <p:strVal val="visible"/>
                                      </p:to>
                                    </p:set>
                                    <p:animEffect transition="in" filter="fade">
                                      <p:cBhvr>
                                        <p:cTn id="28" dur="250"/>
                                        <p:tgtEl>
                                          <p:spTgt spid="136"/>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37"/>
                                        </p:tgtEl>
                                        <p:attrNameLst>
                                          <p:attrName>style.visibility</p:attrName>
                                        </p:attrNameLst>
                                      </p:cBhvr>
                                      <p:to>
                                        <p:strVal val="visible"/>
                                      </p:to>
                                    </p:set>
                                    <p:animEffect transition="in" filter="fade">
                                      <p:cBhvr>
                                        <p:cTn id="32" dur="250"/>
                                        <p:tgtEl>
                                          <p:spTgt spid="137"/>
                                        </p:tgtEl>
                                      </p:cBhvr>
                                    </p:animEffect>
                                  </p:childTnLst>
                                </p:cTn>
                              </p:par>
                            </p:childTnLst>
                          </p:cTn>
                        </p:par>
                        <p:par>
                          <p:cTn id="33" fill="hold">
                            <p:stCondLst>
                              <p:cond delay="750"/>
                            </p:stCondLst>
                            <p:childTnLst>
                              <p:par>
                                <p:cTn id="34" presetID="10" presetClass="entr" presetSubtype="0" fill="hold" grpId="0" nodeType="afterEffect">
                                  <p:stCondLst>
                                    <p:cond delay="0"/>
                                  </p:stCondLst>
                                  <p:childTnLst>
                                    <p:set>
                                      <p:cBhvr>
                                        <p:cTn id="35" dur="1" fill="hold">
                                          <p:stCondLst>
                                            <p:cond delay="0"/>
                                          </p:stCondLst>
                                        </p:cTn>
                                        <p:tgtEl>
                                          <p:spTgt spid="138"/>
                                        </p:tgtEl>
                                        <p:attrNameLst>
                                          <p:attrName>style.visibility</p:attrName>
                                        </p:attrNameLst>
                                      </p:cBhvr>
                                      <p:to>
                                        <p:strVal val="visible"/>
                                      </p:to>
                                    </p:set>
                                    <p:animEffect transition="in" filter="fade">
                                      <p:cBhvr>
                                        <p:cTn id="36" dur="250"/>
                                        <p:tgtEl>
                                          <p:spTgt spid="138"/>
                                        </p:tgtEl>
                                      </p:cBhvr>
                                    </p:animEffect>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139"/>
                                        </p:tgtEl>
                                        <p:attrNameLst>
                                          <p:attrName>style.visibility</p:attrName>
                                        </p:attrNameLst>
                                      </p:cBhvr>
                                      <p:to>
                                        <p:strVal val="visible"/>
                                      </p:to>
                                    </p:set>
                                    <p:animEffect transition="in" filter="fade">
                                      <p:cBhvr>
                                        <p:cTn id="40" dur="25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P spid="136" grpId="0" animBg="1"/>
      <p:bldP spid="137" grpId="0" animBg="1"/>
      <p:bldP spid="138" grpId="0" animBg="1"/>
      <p:bldP spid="13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STUBS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Stubs: Control What a Dependency Returns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125</a:t>
            </a:r>
            <a:endParaRPr lang="en-US" sz="850" dirty="0"/>
          </a:p>
        </p:txBody>
      </p:sp>
      <p:sp>
        <p:nvSpPr>
          <p:cNvPr id="101" name="cl"/>
          <p:cNvSpPr txBox="1"/>
          <p:nvPr/>
        </p:nvSpPr>
        <p:spPr>
          <a:xfrm>
            <a:off x="543154" y="1463040"/>
            <a:ext cx="52578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6029554" y="1463040"/>
            <a:ext cx="5600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2" name="cls"/>
          <p:cNvGrpSpPr/>
          <p:nvPr/>
        </p:nvGrpSpPr>
        <p:grpSpPr>
          <a:xfrm>
            <a:off x="543154" y="1755648"/>
            <a:ext cx="5257800" cy="2995900"/>
            <a:chOff x="543154" y="1755648"/>
            <a:chExt cx="5257800" cy="2995900"/>
          </a:xfrm>
        </p:grpSpPr>
        <p:sp>
          <p:nvSpPr>
            <p:cNvPr id="103" name="cls_win"/>
            <p:cNvSpPr/>
            <p:nvPr/>
          </p:nvSpPr>
          <p:spPr>
            <a:xfrm>
              <a:off x="543154" y="1755648"/>
              <a:ext cx="5257800" cy="2995900"/>
            </a:xfrm>
            <a:prstGeom prst="roundRect">
              <a:avLst>
                <a:gd name="adj" fmla="val 2288"/>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257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25780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CurrencyConverter.cs</a:t>
              </a:r>
              <a:endParaRPr lang="en-US" sz="950" dirty="0"/>
            </a:p>
          </p:txBody>
        </p:sp>
        <p:sp>
          <p:nvSpPr>
            <p:cNvPr id="110" name="cls_L00"/>
            <p:cNvSpPr txBox="1"/>
            <p:nvPr/>
          </p:nvSpPr>
          <p:spPr>
            <a:xfrm>
              <a:off x="771754" y="2231548"/>
              <a:ext cx="4957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interface</a:t>
              </a:r>
              <a:r>
                <a:rPr lang="en-US" sz="780" b="0" dirty="0">
                  <a:solidFill>
                    <a:srgbClr val="E2E8F0"/>
                  </a:solidFill>
                  <a:latin typeface="Consolas"/>
                  <a:ea typeface="Consolas"/>
                  <a:cs typeface="Consolas"/>
                </a:rPr>
                <a:t> IExchangeRates</a:t>
              </a:r>
              <a:endParaRPr lang="en-US" sz="780" dirty="0"/>
            </a:p>
          </p:txBody>
        </p:sp>
        <p:sp>
          <p:nvSpPr>
            <p:cNvPr id="111" name="cls_L01"/>
            <p:cNvSpPr txBox="1"/>
            <p:nvPr/>
          </p:nvSpPr>
          <p:spPr>
            <a:xfrm>
              <a:off x="771754" y="2391548"/>
              <a:ext cx="4957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2" name="cls_L02"/>
            <p:cNvSpPr txBox="1"/>
            <p:nvPr/>
          </p:nvSpPr>
          <p:spPr>
            <a:xfrm>
              <a:off x="771754" y="2551548"/>
              <a:ext cx="4957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decimal</a:t>
              </a:r>
              <a:r>
                <a:rPr lang="en-US" sz="780" b="0" dirty="0">
                  <a:solidFill>
                    <a:srgbClr val="E2E8F0"/>
                  </a:solidFill>
                  <a:latin typeface="Consolas"/>
                  <a:ea typeface="Consolas"/>
                  <a:cs typeface="Consolas"/>
                </a:rPr>
                <a:t> Rate(</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from, </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to);</a:t>
              </a:r>
              <a:endParaRPr lang="en-US" sz="780" dirty="0"/>
            </a:p>
          </p:txBody>
        </p:sp>
        <p:sp>
          <p:nvSpPr>
            <p:cNvPr id="113" name="cls_L03"/>
            <p:cNvSpPr txBox="1"/>
            <p:nvPr/>
          </p:nvSpPr>
          <p:spPr>
            <a:xfrm>
              <a:off x="771754" y="2711548"/>
              <a:ext cx="4957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4" name="cls_L05"/>
            <p:cNvSpPr txBox="1"/>
            <p:nvPr/>
          </p:nvSpPr>
          <p:spPr>
            <a:xfrm>
              <a:off x="771754" y="3031548"/>
              <a:ext cx="4957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class</a:t>
              </a:r>
              <a:r>
                <a:rPr lang="en-US" sz="780" b="0" dirty="0">
                  <a:solidFill>
                    <a:srgbClr val="E2E8F0"/>
                  </a:solidFill>
                  <a:latin typeface="Consolas"/>
                  <a:ea typeface="Consolas"/>
                  <a:cs typeface="Consolas"/>
                </a:rPr>
                <a:t> CurrencyConverter</a:t>
              </a:r>
              <a:endParaRPr lang="en-US" sz="780" dirty="0"/>
            </a:p>
          </p:txBody>
        </p:sp>
        <p:sp>
          <p:nvSpPr>
            <p:cNvPr id="115" name="cls_L06"/>
            <p:cNvSpPr txBox="1"/>
            <p:nvPr/>
          </p:nvSpPr>
          <p:spPr>
            <a:xfrm>
              <a:off x="771754" y="3191548"/>
              <a:ext cx="4957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6" name="cls_L07"/>
            <p:cNvSpPr txBox="1"/>
            <p:nvPr/>
          </p:nvSpPr>
          <p:spPr>
            <a:xfrm>
              <a:off x="771754" y="3351548"/>
              <a:ext cx="4957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private</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readonly</a:t>
              </a:r>
              <a:r>
                <a:rPr lang="en-US" sz="780" b="0" dirty="0">
                  <a:solidFill>
                    <a:srgbClr val="E2E8F0"/>
                  </a:solidFill>
                  <a:latin typeface="Consolas"/>
                  <a:ea typeface="Consolas"/>
                  <a:cs typeface="Consolas"/>
                </a:rPr>
                <a:t> IExchangeRates _rates;</a:t>
              </a:r>
              <a:endParaRPr lang="en-US" sz="780" dirty="0"/>
            </a:p>
          </p:txBody>
        </p:sp>
        <p:sp>
          <p:nvSpPr>
            <p:cNvPr id="117" name="cls_L09"/>
            <p:cNvSpPr txBox="1"/>
            <p:nvPr/>
          </p:nvSpPr>
          <p:spPr>
            <a:xfrm>
              <a:off x="771754" y="3671548"/>
              <a:ext cx="4957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CurrencyConverter(IExchangeRates rates) =&gt; _rates = rates;</a:t>
              </a:r>
              <a:endParaRPr lang="en-US" sz="780" dirty="0"/>
            </a:p>
          </p:txBody>
        </p:sp>
        <p:sp>
          <p:nvSpPr>
            <p:cNvPr id="118" name="cls_L11"/>
            <p:cNvSpPr txBox="1"/>
            <p:nvPr/>
          </p:nvSpPr>
          <p:spPr>
            <a:xfrm>
              <a:off x="771754" y="3991548"/>
              <a:ext cx="4957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decimal</a:t>
              </a:r>
              <a:r>
                <a:rPr lang="en-US" sz="780" b="0" dirty="0">
                  <a:solidFill>
                    <a:srgbClr val="E2E8F0"/>
                  </a:solidFill>
                  <a:latin typeface="Consolas"/>
                  <a:ea typeface="Consolas"/>
                  <a:cs typeface="Consolas"/>
                </a:rPr>
                <a:t> Convert(</a:t>
              </a:r>
              <a:r>
                <a:rPr lang="en-US" sz="780" b="0" dirty="0">
                  <a:solidFill>
                    <a:srgbClr val="60A5FA"/>
                  </a:solidFill>
                  <a:latin typeface="Consolas"/>
                  <a:ea typeface="Consolas"/>
                  <a:cs typeface="Consolas"/>
                </a:rPr>
                <a:t>decimal</a:t>
              </a:r>
              <a:r>
                <a:rPr lang="en-US" sz="780" b="0" dirty="0">
                  <a:solidFill>
                    <a:srgbClr val="E2E8F0"/>
                  </a:solidFill>
                  <a:latin typeface="Consolas"/>
                  <a:ea typeface="Consolas"/>
                  <a:cs typeface="Consolas"/>
                </a:rPr>
                <a:t> amount, </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from, </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to) =&gt;</a:t>
              </a:r>
              <a:endParaRPr lang="en-US" sz="780" dirty="0"/>
            </a:p>
          </p:txBody>
        </p:sp>
        <p:sp>
          <p:nvSpPr>
            <p:cNvPr id="119" name="cls_L12"/>
            <p:cNvSpPr txBox="1"/>
            <p:nvPr/>
          </p:nvSpPr>
          <p:spPr>
            <a:xfrm>
              <a:off x="771754" y="4151548"/>
              <a:ext cx="495780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from == to ? amount</a:t>
              </a:r>
              <a:endParaRPr lang="en-US" sz="780" dirty="0"/>
            </a:p>
          </p:txBody>
        </p:sp>
        <p:sp>
          <p:nvSpPr>
            <p:cNvPr id="120" name="cls_L13"/>
            <p:cNvSpPr txBox="1"/>
            <p:nvPr/>
          </p:nvSpPr>
          <p:spPr>
            <a:xfrm>
              <a:off x="771754" y="4311548"/>
              <a:ext cx="4957800" cy="160000"/>
            </a:xfrm>
            <a:prstGeom prst="rect">
              <a:avLst/>
            </a:prstGeom>
            <a:noFill/>
            <a:ln>
              <a:noFill/>
            </a:ln>
          </p:spPr>
          <p:txBody>
            <a:bodyPr wrap="none" lIns="0" tIns="0" rIns="0" bIns="0" rtlCol="0" anchor="ctr">
              <a:noAutofit/>
            </a:bodyPr>
            <a:lstStyle/>
            <a:p>
              <a:pPr marL="1061720" indent="0" algn="l">
                <a:spcBef>
                  <a:spcPts val="0"/>
                </a:spcBef>
                <a:spcAft>
                  <a:spcPts val="0"/>
                </a:spcAft>
                <a:buNone/>
              </a:pPr>
              <a:r>
                <a:rPr lang="en-US" sz="780" b="0" dirty="0">
                  <a:solidFill>
                    <a:srgbClr val="E2E8F0"/>
                  </a:solidFill>
                  <a:latin typeface="Consolas"/>
                  <a:ea typeface="Consolas"/>
                  <a:cs typeface="Consolas"/>
                </a:rPr>
                <a:t>   : Math.Round(amount * _rates.Rate(from, to), 2);</a:t>
              </a:r>
              <a:endParaRPr lang="en-US" sz="780" dirty="0"/>
            </a:p>
          </p:txBody>
        </p:sp>
        <p:sp>
          <p:nvSpPr>
            <p:cNvPr id="121" name="cls_L14"/>
            <p:cNvSpPr txBox="1"/>
            <p:nvPr/>
          </p:nvSpPr>
          <p:spPr>
            <a:xfrm>
              <a:off x="771754" y="4471548"/>
              <a:ext cx="4957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grpSp>
      <p:sp>
        <p:nvSpPr>
          <p:cNvPr id="123" name="cls_hl12"/>
          <p:cNvSpPr/>
          <p:nvPr/>
        </p:nvSpPr>
        <p:spPr>
          <a:xfrm>
            <a:off x="676656" y="4133260"/>
            <a:ext cx="4990800" cy="19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6" name="tst"/>
          <p:cNvGrpSpPr/>
          <p:nvPr/>
        </p:nvGrpSpPr>
        <p:grpSpPr>
          <a:xfrm>
            <a:off x="6029554" y="1755648"/>
            <a:ext cx="5600700" cy="3635900"/>
            <a:chOff x="6029554" y="1755648"/>
            <a:chExt cx="5600700" cy="3635900"/>
          </a:xfrm>
        </p:grpSpPr>
        <p:sp>
          <p:nvSpPr>
            <p:cNvPr id="124" name="tst_win"/>
            <p:cNvSpPr/>
            <p:nvPr/>
          </p:nvSpPr>
          <p:spPr>
            <a:xfrm>
              <a:off x="6029554" y="1755648"/>
              <a:ext cx="5600700" cy="3635900"/>
            </a:xfrm>
            <a:prstGeom prst="roundRect">
              <a:avLst>
                <a:gd name="adj" fmla="val 1885"/>
              </a:avLst>
            </a:prstGeom>
            <a:solidFill>
              <a:srgbClr val="060D18"/>
            </a:solidFill>
            <a:ln w="12700">
              <a:solidFill>
                <a:srgbClr val="1E3A5F"/>
              </a:solidFill>
              <a:prstDash val="solid"/>
            </a:ln>
          </p:spPr>
          <p:txBody>
            <a:bodyPr/>
            <a:lstStyle/>
            <a:p>
              <a:endParaRPr lang="en-US"/>
            </a:p>
          </p:txBody>
        </p:sp>
        <p:sp>
          <p:nvSpPr>
            <p:cNvPr id="125" name="tst_bar"/>
            <p:cNvSpPr/>
            <p:nvPr/>
          </p:nvSpPr>
          <p:spPr>
            <a:xfrm>
              <a:off x="6029554" y="1755648"/>
              <a:ext cx="56007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6" name="tst_barfill"/>
            <p:cNvSpPr/>
            <p:nvPr/>
          </p:nvSpPr>
          <p:spPr>
            <a:xfrm>
              <a:off x="6029554" y="1927098"/>
              <a:ext cx="5600700" cy="171450"/>
            </a:xfrm>
            <a:prstGeom prst="rect">
              <a:avLst/>
            </a:prstGeom>
            <a:solidFill>
              <a:srgbClr val="0A1220"/>
            </a:solidFill>
            <a:ln w="12700">
              <a:solidFill>
                <a:srgbClr val="0A1220"/>
              </a:solidFill>
              <a:prstDash val="solid"/>
            </a:ln>
          </p:spPr>
          <p:txBody>
            <a:bodyPr/>
            <a:lstStyle/>
            <a:p>
              <a:endParaRPr lang="en-US"/>
            </a:p>
          </p:txBody>
        </p:sp>
        <p:sp>
          <p:nvSpPr>
            <p:cNvPr id="127" name="tst_dot0"/>
            <p:cNvSpPr/>
            <p:nvPr/>
          </p:nvSpPr>
          <p:spPr>
            <a:xfrm>
              <a:off x="61914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8" name="tst_dot1"/>
            <p:cNvSpPr/>
            <p:nvPr/>
          </p:nvSpPr>
          <p:spPr>
            <a:xfrm>
              <a:off x="63770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9" name="tst_dot2"/>
            <p:cNvSpPr/>
            <p:nvPr/>
          </p:nvSpPr>
          <p:spPr>
            <a:xfrm>
              <a:off x="65626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0" name="tst_tab"/>
            <p:cNvSpPr/>
            <p:nvPr/>
          </p:nvSpPr>
          <p:spPr>
            <a:xfrm>
              <a:off x="6810451" y="180319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CurrencyConverterTests.cs</a:t>
              </a:r>
              <a:endParaRPr lang="en-US" sz="950" dirty="0"/>
            </a:p>
          </p:txBody>
        </p:sp>
        <p:sp>
          <p:nvSpPr>
            <p:cNvPr id="131" name="tst_L00"/>
            <p:cNvSpPr txBox="1"/>
            <p:nvPr/>
          </p:nvSpPr>
          <p:spPr>
            <a:xfrm>
              <a:off x="6258154" y="223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private</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readonly</a:t>
              </a:r>
              <a:r>
                <a:rPr lang="en-US" sz="780" b="0" dirty="0">
                  <a:solidFill>
                    <a:srgbClr val="E2E8F0"/>
                  </a:solidFill>
                  <a:latin typeface="Consolas"/>
                  <a:ea typeface="Consolas"/>
                  <a:cs typeface="Consolas"/>
                </a:rPr>
                <a:t> IExchangeRates _rates = Substitute.For&lt;IExchangeRates&gt;();</a:t>
              </a:r>
              <a:endParaRPr lang="en-US" sz="780" dirty="0"/>
            </a:p>
          </p:txBody>
        </p:sp>
        <p:sp>
          <p:nvSpPr>
            <p:cNvPr id="132" name="tst_L02"/>
            <p:cNvSpPr txBox="1"/>
            <p:nvPr/>
          </p:nvSpPr>
          <p:spPr>
            <a:xfrm>
              <a:off x="6258154" y="255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[Fact]</a:t>
              </a:r>
              <a:endParaRPr lang="en-US" sz="780" dirty="0"/>
            </a:p>
          </p:txBody>
        </p:sp>
        <p:sp>
          <p:nvSpPr>
            <p:cNvPr id="133" name="tst_L03"/>
            <p:cNvSpPr txBox="1"/>
            <p:nvPr/>
          </p:nvSpPr>
          <p:spPr>
            <a:xfrm>
              <a:off x="6258154" y="271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void</a:t>
              </a:r>
              <a:r>
                <a:rPr lang="en-US" sz="780" b="0" dirty="0">
                  <a:solidFill>
                    <a:srgbClr val="E2E8F0"/>
                  </a:solidFill>
                  <a:latin typeface="Consolas"/>
                  <a:ea typeface="Consolas"/>
                  <a:cs typeface="Consolas"/>
                </a:rPr>
                <a:t> Convert_UsesTheRate()</a:t>
              </a:r>
              <a:endParaRPr lang="en-US" sz="780" dirty="0"/>
            </a:p>
          </p:txBody>
        </p:sp>
        <p:sp>
          <p:nvSpPr>
            <p:cNvPr id="134" name="tst_L04"/>
            <p:cNvSpPr txBox="1"/>
            <p:nvPr/>
          </p:nvSpPr>
          <p:spPr>
            <a:xfrm>
              <a:off x="6258154" y="287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35" name="tst_L05"/>
            <p:cNvSpPr txBox="1"/>
            <p:nvPr/>
          </p:nvSpPr>
          <p:spPr>
            <a:xfrm>
              <a:off x="6258154" y="3031548"/>
              <a:ext cx="5300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_rates.Rate(</a:t>
              </a:r>
              <a:r>
                <a:rPr lang="en-US" sz="780" b="0" dirty="0">
                  <a:solidFill>
                    <a:srgbClr val="F0A98B"/>
                  </a:solidFill>
                  <a:latin typeface="Consolas"/>
                  <a:ea typeface="Consolas"/>
                  <a:cs typeface="Consolas"/>
                </a:rPr>
                <a:t>"USD"</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"EGP"</a:t>
              </a:r>
              <a:r>
                <a:rPr lang="en-US" sz="780" b="0" dirty="0">
                  <a:solidFill>
                    <a:srgbClr val="E2E8F0"/>
                  </a:solidFill>
                  <a:latin typeface="Consolas"/>
                  <a:ea typeface="Consolas"/>
                  <a:cs typeface="Consolas"/>
                </a:rPr>
                <a:t>).Returns(48.5m);     </a:t>
              </a:r>
              <a:r>
                <a:rPr lang="en-US" sz="780" b="0" dirty="0">
                  <a:solidFill>
                    <a:srgbClr val="6FAE7A"/>
                  </a:solidFill>
                  <a:latin typeface="Consolas"/>
                  <a:ea typeface="Consolas"/>
                  <a:cs typeface="Consolas"/>
                </a:rPr>
                <a:t>// STUB</a:t>
              </a:r>
              <a:endParaRPr lang="en-US" sz="780" dirty="0"/>
            </a:p>
          </p:txBody>
        </p:sp>
        <p:sp>
          <p:nvSpPr>
            <p:cNvPr id="136" name="tst_L06"/>
            <p:cNvSpPr txBox="1"/>
            <p:nvPr/>
          </p:nvSpPr>
          <p:spPr>
            <a:xfrm>
              <a:off x="6258154" y="3191548"/>
              <a:ext cx="5300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var</a:t>
              </a:r>
              <a:r>
                <a:rPr lang="en-US" sz="780" b="0" dirty="0">
                  <a:solidFill>
                    <a:srgbClr val="E2E8F0"/>
                  </a:solidFill>
                  <a:latin typeface="Consolas"/>
                  <a:ea typeface="Consolas"/>
                  <a:cs typeface="Consolas"/>
                </a:rPr>
                <a:t> converter = </a:t>
              </a:r>
              <a:r>
                <a:rPr lang="en-US" sz="780" b="0" dirty="0">
                  <a:solidFill>
                    <a:srgbClr val="60A5FA"/>
                  </a:solidFill>
                  <a:latin typeface="Consolas"/>
                  <a:ea typeface="Consolas"/>
                  <a:cs typeface="Consolas"/>
                </a:rPr>
                <a:t>new</a:t>
              </a:r>
              <a:r>
                <a:rPr lang="en-US" sz="780" b="0" dirty="0">
                  <a:solidFill>
                    <a:srgbClr val="E2E8F0"/>
                  </a:solidFill>
                  <a:latin typeface="Consolas"/>
                  <a:ea typeface="Consolas"/>
                  <a:cs typeface="Consolas"/>
                </a:rPr>
                <a:t> CurrencyConverter(_rates);</a:t>
              </a:r>
              <a:endParaRPr lang="en-US" sz="780" dirty="0"/>
            </a:p>
          </p:txBody>
        </p:sp>
        <p:sp>
          <p:nvSpPr>
            <p:cNvPr id="137" name="tst_L08"/>
            <p:cNvSpPr txBox="1"/>
            <p:nvPr/>
          </p:nvSpPr>
          <p:spPr>
            <a:xfrm>
              <a:off x="6258154" y="3511548"/>
              <a:ext cx="5300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converter.Convert(10m, </a:t>
              </a:r>
              <a:r>
                <a:rPr lang="en-US" sz="780" b="0" dirty="0">
                  <a:solidFill>
                    <a:srgbClr val="F0A98B"/>
                  </a:solidFill>
                  <a:latin typeface="Consolas"/>
                  <a:ea typeface="Consolas"/>
                  <a:cs typeface="Consolas"/>
                </a:rPr>
                <a:t>"USD"</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"EGP"</a:t>
              </a:r>
              <a:r>
                <a:rPr lang="en-US" sz="780" b="0" dirty="0">
                  <a:solidFill>
                    <a:srgbClr val="E2E8F0"/>
                  </a:solidFill>
                  <a:latin typeface="Consolas"/>
                  <a:ea typeface="Consolas"/>
                  <a:cs typeface="Consolas"/>
                </a:rPr>
                <a:t>).ShouldBe(485m);</a:t>
              </a:r>
              <a:endParaRPr lang="en-US" sz="780" dirty="0"/>
            </a:p>
          </p:txBody>
        </p:sp>
        <p:sp>
          <p:nvSpPr>
            <p:cNvPr id="138" name="tst_L09"/>
            <p:cNvSpPr txBox="1"/>
            <p:nvPr/>
          </p:nvSpPr>
          <p:spPr>
            <a:xfrm>
              <a:off x="6258154" y="367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39" name="tst_L11"/>
            <p:cNvSpPr txBox="1"/>
            <p:nvPr/>
          </p:nvSpPr>
          <p:spPr>
            <a:xfrm>
              <a:off x="6258154" y="399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[Fact]</a:t>
              </a:r>
              <a:endParaRPr lang="en-US" sz="780" dirty="0"/>
            </a:p>
          </p:txBody>
        </p:sp>
        <p:sp>
          <p:nvSpPr>
            <p:cNvPr id="140" name="tst_L12"/>
            <p:cNvSpPr txBox="1"/>
            <p:nvPr/>
          </p:nvSpPr>
          <p:spPr>
            <a:xfrm>
              <a:off x="6258154" y="415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void</a:t>
              </a:r>
              <a:r>
                <a:rPr lang="en-US" sz="780" b="0" dirty="0">
                  <a:solidFill>
                    <a:srgbClr val="E2E8F0"/>
                  </a:solidFill>
                  <a:latin typeface="Consolas"/>
                  <a:ea typeface="Consolas"/>
                  <a:cs typeface="Consolas"/>
                </a:rPr>
                <a:t> Convert_SameCurrency_DoesNotAskForARate()</a:t>
              </a:r>
              <a:endParaRPr lang="en-US" sz="780" dirty="0"/>
            </a:p>
          </p:txBody>
        </p:sp>
        <p:sp>
          <p:nvSpPr>
            <p:cNvPr id="141" name="tst_L13"/>
            <p:cNvSpPr txBox="1"/>
            <p:nvPr/>
          </p:nvSpPr>
          <p:spPr>
            <a:xfrm>
              <a:off x="6258154" y="431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42" name="tst_L14"/>
            <p:cNvSpPr txBox="1"/>
            <p:nvPr/>
          </p:nvSpPr>
          <p:spPr>
            <a:xfrm>
              <a:off x="6258154" y="4471548"/>
              <a:ext cx="5300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var</a:t>
              </a:r>
              <a:r>
                <a:rPr lang="en-US" sz="780" b="0" dirty="0">
                  <a:solidFill>
                    <a:srgbClr val="E2E8F0"/>
                  </a:solidFill>
                  <a:latin typeface="Consolas"/>
                  <a:ea typeface="Consolas"/>
                  <a:cs typeface="Consolas"/>
                </a:rPr>
                <a:t> converter = </a:t>
              </a:r>
              <a:r>
                <a:rPr lang="en-US" sz="780" b="0" dirty="0">
                  <a:solidFill>
                    <a:srgbClr val="60A5FA"/>
                  </a:solidFill>
                  <a:latin typeface="Consolas"/>
                  <a:ea typeface="Consolas"/>
                  <a:cs typeface="Consolas"/>
                </a:rPr>
                <a:t>new</a:t>
              </a:r>
              <a:r>
                <a:rPr lang="en-US" sz="780" b="0" dirty="0">
                  <a:solidFill>
                    <a:srgbClr val="E2E8F0"/>
                  </a:solidFill>
                  <a:latin typeface="Consolas"/>
                  <a:ea typeface="Consolas"/>
                  <a:cs typeface="Consolas"/>
                </a:rPr>
                <a:t> CurrencyConverter(_rates);</a:t>
              </a:r>
              <a:endParaRPr lang="en-US" sz="780" dirty="0"/>
            </a:p>
          </p:txBody>
        </p:sp>
        <p:sp>
          <p:nvSpPr>
            <p:cNvPr id="143" name="tst_L16"/>
            <p:cNvSpPr txBox="1"/>
            <p:nvPr/>
          </p:nvSpPr>
          <p:spPr>
            <a:xfrm>
              <a:off x="6258154" y="4791548"/>
              <a:ext cx="5300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converter.Convert(10m, </a:t>
              </a:r>
              <a:r>
                <a:rPr lang="en-US" sz="780" b="0" dirty="0">
                  <a:solidFill>
                    <a:srgbClr val="F0A98B"/>
                  </a:solidFill>
                  <a:latin typeface="Consolas"/>
                  <a:ea typeface="Consolas"/>
                  <a:cs typeface="Consolas"/>
                </a:rPr>
                <a:t>"EGP"</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"EGP"</a:t>
              </a:r>
              <a:r>
                <a:rPr lang="en-US" sz="780" b="0" dirty="0">
                  <a:solidFill>
                    <a:srgbClr val="E2E8F0"/>
                  </a:solidFill>
                  <a:latin typeface="Consolas"/>
                  <a:ea typeface="Consolas"/>
                  <a:cs typeface="Consolas"/>
                </a:rPr>
                <a:t>).ShouldBe(10m);</a:t>
              </a:r>
              <a:endParaRPr lang="en-US" sz="780" dirty="0"/>
            </a:p>
          </p:txBody>
        </p:sp>
        <p:sp>
          <p:nvSpPr>
            <p:cNvPr id="144" name="tst_L17"/>
            <p:cNvSpPr txBox="1"/>
            <p:nvPr/>
          </p:nvSpPr>
          <p:spPr>
            <a:xfrm>
              <a:off x="6258154" y="4951548"/>
              <a:ext cx="5300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_rates.DidNotReceive().Rate(Arg.Any&lt;</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&gt;(), Arg.Any&lt;</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&gt;());</a:t>
              </a:r>
              <a:endParaRPr lang="en-US" sz="780" dirty="0"/>
            </a:p>
          </p:txBody>
        </p:sp>
        <p:sp>
          <p:nvSpPr>
            <p:cNvPr id="145" name="tst_L18"/>
            <p:cNvSpPr txBox="1"/>
            <p:nvPr/>
          </p:nvSpPr>
          <p:spPr>
            <a:xfrm>
              <a:off x="6258154" y="5111548"/>
              <a:ext cx="5300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grpSp>
      <p:sp>
        <p:nvSpPr>
          <p:cNvPr id="147" name="tst_hl5"/>
          <p:cNvSpPr/>
          <p:nvPr/>
        </p:nvSpPr>
        <p:spPr>
          <a:xfrm>
            <a:off x="6163056" y="3013260"/>
            <a:ext cx="5333700" cy="19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48" name="tst_hl8"/>
          <p:cNvSpPr/>
          <p:nvPr/>
        </p:nvSpPr>
        <p:spPr>
          <a:xfrm>
            <a:off x="6163056" y="3493260"/>
            <a:ext cx="533370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9" name="tst_hl17"/>
          <p:cNvSpPr/>
          <p:nvPr/>
        </p:nvSpPr>
        <p:spPr>
          <a:xfrm>
            <a:off x="6163056" y="4933260"/>
            <a:ext cx="5333700" cy="196576"/>
          </a:xfrm>
          <a:prstGeom prst="rect">
            <a:avLst/>
          </a:prstGeom>
          <a:solidFill>
            <a:srgbClr val="F87171">
              <a:alpha val="15000"/>
            </a:srgbClr>
          </a:solidFill>
          <a:ln w="12700">
            <a:solidFill>
              <a:srgbClr val="F87171"/>
            </a:solidFill>
            <a:prstDash val="solid"/>
          </a:ln>
        </p:spPr>
        <p:txBody>
          <a:bodyPr/>
          <a:lstStyle/>
          <a:p>
            <a:endParaRPr lang="en-US"/>
          </a:p>
        </p:txBody>
      </p:sp>
    </p:spTree>
    <p:extLst>
      <p:ext uri="{BB962C8B-B14F-4D97-AF65-F5344CB8AC3E}">
        <p14:creationId xmlns:p14="http://schemas.microsoft.com/office/powerpoint/2010/main" val="510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2"/>
                                        </p:tgtEl>
                                        <p:attrNameLst>
                                          <p:attrName>style.visibility</p:attrName>
                                        </p:attrNameLst>
                                      </p:cBhvr>
                                      <p:to>
                                        <p:strVal val="visible"/>
                                      </p:to>
                                    </p:set>
                                    <p:animEffect transition="in" filter="fade">
                                      <p:cBhvr>
                                        <p:cTn id="10" dur="400"/>
                                        <p:tgtEl>
                                          <p:spTgt spid="1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3"/>
                                        </p:tgtEl>
                                        <p:attrNameLst>
                                          <p:attrName>style.visibility</p:attrName>
                                        </p:attrNameLst>
                                      </p:cBhvr>
                                      <p:to>
                                        <p:strVal val="visible"/>
                                      </p:to>
                                    </p:set>
                                    <p:animEffect transition="in" filter="fade">
                                      <p:cBhvr>
                                        <p:cTn id="13" dur="400"/>
                                        <p:tgtEl>
                                          <p:spTgt spid="1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2"/>
                                        </p:tgtEl>
                                        <p:attrNameLst>
                                          <p:attrName>style.visibility</p:attrName>
                                        </p:attrNameLst>
                                      </p:cBhvr>
                                      <p:to>
                                        <p:strVal val="visible"/>
                                      </p:to>
                                    </p:set>
                                    <p:animEffect transition="in" filter="fade">
                                      <p:cBhvr>
                                        <p:cTn id="18" dur="400"/>
                                        <p:tgtEl>
                                          <p:spTgt spid="102"/>
                                        </p:tgtEl>
                                      </p:cBhvr>
                                    </p:animEffect>
                                  </p:childTnLst>
                                </p:cTn>
                              </p:par>
                              <p:par>
                                <p:cTn id="19" presetID="10" presetClass="entr" presetSubtype="0" fill="hold" nodeType="withEffect">
                                  <p:stCondLst>
                                    <p:cond delay="0"/>
                                  </p:stCondLst>
                                  <p:childTnLst>
                                    <p:set>
                                      <p:cBhvr>
                                        <p:cTn id="20" dur="1" fill="hold">
                                          <p:stCondLst>
                                            <p:cond delay="0"/>
                                          </p:stCondLst>
                                        </p:cTn>
                                        <p:tgtEl>
                                          <p:spTgt spid="146"/>
                                        </p:tgtEl>
                                        <p:attrNameLst>
                                          <p:attrName>style.visibility</p:attrName>
                                        </p:attrNameLst>
                                      </p:cBhvr>
                                      <p:to>
                                        <p:strVal val="visible"/>
                                      </p:to>
                                    </p:set>
                                    <p:animEffect transition="in" filter="fade">
                                      <p:cBhvr>
                                        <p:cTn id="21" dur="400"/>
                                        <p:tgtEl>
                                          <p:spTgt spid="14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7"/>
                                        </p:tgtEl>
                                        <p:attrNameLst>
                                          <p:attrName>style.visibility</p:attrName>
                                        </p:attrNameLst>
                                      </p:cBhvr>
                                      <p:to>
                                        <p:strVal val="visible"/>
                                      </p:to>
                                    </p:set>
                                    <p:animEffect transition="in" filter="fade">
                                      <p:cBhvr>
                                        <p:cTn id="24" dur="400"/>
                                        <p:tgtEl>
                                          <p:spTgt spid="14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8"/>
                                        </p:tgtEl>
                                        <p:attrNameLst>
                                          <p:attrName>style.visibility</p:attrName>
                                        </p:attrNameLst>
                                      </p:cBhvr>
                                      <p:to>
                                        <p:strVal val="visible"/>
                                      </p:to>
                                    </p:set>
                                    <p:animEffect transition="in" filter="fade">
                                      <p:cBhvr>
                                        <p:cTn id="27" dur="400"/>
                                        <p:tgtEl>
                                          <p:spTgt spid="14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9"/>
                                        </p:tgtEl>
                                        <p:attrNameLst>
                                          <p:attrName>style.visibility</p:attrName>
                                        </p:attrNameLst>
                                      </p:cBhvr>
                                      <p:to>
                                        <p:strVal val="visible"/>
                                      </p:to>
                                    </p:set>
                                    <p:animEffect transition="in" filter="fade">
                                      <p:cBhvr>
                                        <p:cTn id="30" dur="4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3" grpId="0" animBg="1"/>
      <p:bldP spid="147" grpId="0" animBg="1"/>
      <p:bldP spid="148" grpId="0" animBg="1"/>
      <p:bldP spid="14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VERIFY CALLS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Mocks: Verify a Call Happened, or Did Not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126</a:t>
            </a:r>
            <a:endParaRPr lang="en-US" sz="850" dirty="0"/>
          </a:p>
        </p:txBody>
      </p:sp>
      <p:sp>
        <p:nvSpPr>
          <p:cNvPr id="101" name="cl"/>
          <p:cNvSpPr txBox="1"/>
          <p:nvPr/>
        </p:nvSpPr>
        <p:spPr>
          <a:xfrm>
            <a:off x="543154" y="1463040"/>
            <a:ext cx="46634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grpSp>
        <p:nvGrpSpPr>
          <p:cNvPr id="124" name="cls"/>
          <p:cNvGrpSpPr/>
          <p:nvPr/>
        </p:nvGrpSpPr>
        <p:grpSpPr>
          <a:xfrm>
            <a:off x="543154" y="1755648"/>
            <a:ext cx="4663440" cy="2845900"/>
            <a:chOff x="543154" y="1755648"/>
            <a:chExt cx="4663440" cy="2845900"/>
          </a:xfrm>
        </p:grpSpPr>
        <p:sp>
          <p:nvSpPr>
            <p:cNvPr id="102" name="cls_win"/>
            <p:cNvSpPr/>
            <p:nvPr/>
          </p:nvSpPr>
          <p:spPr>
            <a:xfrm>
              <a:off x="543154" y="1755648"/>
              <a:ext cx="4663440" cy="2845900"/>
            </a:xfrm>
            <a:prstGeom prst="roundRect">
              <a:avLst>
                <a:gd name="adj" fmla="val 2408"/>
              </a:avLst>
            </a:prstGeom>
            <a:solidFill>
              <a:srgbClr val="060D18"/>
            </a:solidFill>
            <a:ln w="12700">
              <a:solidFill>
                <a:srgbClr val="1E3A5F"/>
              </a:solidFill>
              <a:prstDash val="solid"/>
            </a:ln>
          </p:spPr>
          <p:txBody>
            <a:bodyPr/>
            <a:lstStyle/>
            <a:p>
              <a:endParaRPr lang="en-US"/>
            </a:p>
          </p:txBody>
        </p:sp>
        <p:sp>
          <p:nvSpPr>
            <p:cNvPr id="103" name="cls_bar"/>
            <p:cNvSpPr/>
            <p:nvPr/>
          </p:nvSpPr>
          <p:spPr>
            <a:xfrm>
              <a:off x="543154" y="1755648"/>
              <a:ext cx="46634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cls_barfill"/>
            <p:cNvSpPr/>
            <p:nvPr/>
          </p:nvSpPr>
          <p:spPr>
            <a:xfrm>
              <a:off x="543154" y="1927098"/>
              <a:ext cx="4663440" cy="171450"/>
            </a:xfrm>
            <a:prstGeom prst="rect">
              <a:avLst/>
            </a:prstGeom>
            <a:solidFill>
              <a:srgbClr val="0A1220"/>
            </a:solidFill>
            <a:ln w="12700">
              <a:solidFill>
                <a:srgbClr val="0A1220"/>
              </a:solidFill>
              <a:prstDash val="solid"/>
            </a:ln>
          </p:spPr>
          <p:txBody>
            <a:bodyPr/>
            <a:lstStyle/>
            <a:p>
              <a:endParaRPr lang="en-US"/>
            </a:p>
          </p:txBody>
        </p:sp>
        <p:sp>
          <p:nvSpPr>
            <p:cNvPr id="105"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cls_tab"/>
            <p:cNvSpPr/>
            <p:nvPr/>
          </p:nvSpPr>
          <p:spPr>
            <a:xfrm>
              <a:off x="1324051" y="1803197"/>
              <a:ext cx="1488087"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ReceiptService.cs</a:t>
              </a:r>
              <a:endParaRPr lang="en-US" sz="950" dirty="0"/>
            </a:p>
          </p:txBody>
        </p:sp>
        <p:sp>
          <p:nvSpPr>
            <p:cNvPr id="109" name="cls_L00"/>
            <p:cNvSpPr txBox="1"/>
            <p:nvPr/>
          </p:nvSpPr>
          <p:spPr>
            <a:xfrm>
              <a:off x="771754" y="2231548"/>
              <a:ext cx="43634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class</a:t>
              </a:r>
              <a:r>
                <a:rPr lang="en-US" sz="780" b="0" dirty="0">
                  <a:solidFill>
                    <a:srgbClr val="E2E8F0"/>
                  </a:solidFill>
                  <a:latin typeface="Consolas"/>
                  <a:ea typeface="Consolas"/>
                  <a:cs typeface="Consolas"/>
                </a:rPr>
                <a:t> ReceiptService</a:t>
              </a:r>
              <a:endParaRPr lang="en-US" sz="780" dirty="0"/>
            </a:p>
          </p:txBody>
        </p:sp>
        <p:sp>
          <p:nvSpPr>
            <p:cNvPr id="110" name="cls_L01"/>
            <p:cNvSpPr txBox="1"/>
            <p:nvPr/>
          </p:nvSpPr>
          <p:spPr>
            <a:xfrm>
              <a:off x="771754" y="2381548"/>
              <a:ext cx="43634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1" name="cls_L02"/>
            <p:cNvSpPr txBox="1"/>
            <p:nvPr/>
          </p:nvSpPr>
          <p:spPr>
            <a:xfrm>
              <a:off x="771754" y="2531548"/>
              <a:ext cx="43634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FAE7A"/>
                  </a:solidFill>
                  <a:latin typeface="Consolas"/>
                  <a:ea typeface="Consolas"/>
                  <a:cs typeface="Consolas"/>
                </a:rPr>
                <a:t>// constructor stores IEmailSender _email, ILogger _logger</a:t>
              </a:r>
              <a:endParaRPr lang="en-US" sz="780" dirty="0"/>
            </a:p>
          </p:txBody>
        </p:sp>
        <p:sp>
          <p:nvSpPr>
            <p:cNvPr id="112" name="cls_L03"/>
            <p:cNvSpPr txBox="1"/>
            <p:nvPr/>
          </p:nvSpPr>
          <p:spPr>
            <a:xfrm>
              <a:off x="771754" y="2681548"/>
              <a:ext cx="43634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void</a:t>
              </a:r>
              <a:r>
                <a:rPr lang="en-US" sz="780" b="0" dirty="0">
                  <a:solidFill>
                    <a:srgbClr val="E2E8F0"/>
                  </a:solidFill>
                  <a:latin typeface="Consolas"/>
                  <a:ea typeface="Consolas"/>
                  <a:cs typeface="Consolas"/>
                </a:rPr>
                <a:t> SendReceipt(</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to, </a:t>
              </a:r>
              <a:r>
                <a:rPr lang="en-US" sz="780" b="0" dirty="0">
                  <a:solidFill>
                    <a:srgbClr val="60A5FA"/>
                  </a:solidFill>
                  <a:latin typeface="Consolas"/>
                  <a:ea typeface="Consolas"/>
                  <a:cs typeface="Consolas"/>
                </a:rPr>
                <a:t>decimal</a:t>
              </a:r>
              <a:r>
                <a:rPr lang="en-US" sz="780" b="0" dirty="0">
                  <a:solidFill>
                    <a:srgbClr val="E2E8F0"/>
                  </a:solidFill>
                  <a:latin typeface="Consolas"/>
                  <a:ea typeface="Consolas"/>
                  <a:cs typeface="Consolas"/>
                </a:rPr>
                <a:t> amount)</a:t>
              </a:r>
              <a:endParaRPr lang="en-US" sz="780" dirty="0"/>
            </a:p>
          </p:txBody>
        </p:sp>
        <p:sp>
          <p:nvSpPr>
            <p:cNvPr id="113" name="cls_L04"/>
            <p:cNvSpPr txBox="1"/>
            <p:nvPr/>
          </p:nvSpPr>
          <p:spPr>
            <a:xfrm>
              <a:off x="771754" y="2831548"/>
              <a:ext cx="43634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4" name="cls_L05"/>
            <p:cNvSpPr txBox="1"/>
            <p:nvPr/>
          </p:nvSpPr>
          <p:spPr>
            <a:xfrm>
              <a:off x="771754" y="2981548"/>
              <a:ext cx="43634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60A5FA"/>
                  </a:solidFill>
                  <a:latin typeface="Consolas"/>
                  <a:ea typeface="Consolas"/>
                  <a:cs typeface="Consolas"/>
                </a:rPr>
                <a:t>try</a:t>
              </a:r>
              <a:endParaRPr lang="en-US" sz="780" dirty="0"/>
            </a:p>
          </p:txBody>
        </p:sp>
        <p:sp>
          <p:nvSpPr>
            <p:cNvPr id="115" name="cls_L06"/>
            <p:cNvSpPr txBox="1"/>
            <p:nvPr/>
          </p:nvSpPr>
          <p:spPr>
            <a:xfrm>
              <a:off x="771754" y="3131548"/>
              <a:ext cx="43634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6" name="cls_L07"/>
            <p:cNvSpPr txBox="1"/>
            <p:nvPr/>
          </p:nvSpPr>
          <p:spPr>
            <a:xfrm>
              <a:off x="771754" y="3281548"/>
              <a:ext cx="436344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E2E8F0"/>
                  </a:solidFill>
                  <a:latin typeface="Consolas"/>
                  <a:ea typeface="Consolas"/>
                  <a:cs typeface="Consolas"/>
                </a:rPr>
                <a:t>_email.Send(to, </a:t>
              </a:r>
              <a:r>
                <a:rPr lang="en-US" sz="780" b="0" dirty="0">
                  <a:solidFill>
                    <a:srgbClr val="F0A98B"/>
                  </a:solidFill>
                  <a:latin typeface="Consolas"/>
                  <a:ea typeface="Consolas"/>
                  <a:cs typeface="Consolas"/>
                </a:rPr>
                <a:t>"Receipt"</a:t>
              </a:r>
              <a:r>
                <a:rPr lang="en-US" sz="780" b="0" dirty="0">
                  <a:solidFill>
                    <a:srgbClr val="E2E8F0"/>
                  </a:solidFill>
                  <a:latin typeface="Consolas"/>
                  <a:ea typeface="Consolas"/>
                  <a:cs typeface="Consolas"/>
                </a:rPr>
                <a:t>, </a:t>
              </a:r>
              <a:r>
                <a:rPr lang="en-US" sz="780" b="0" dirty="0">
                  <a:solidFill>
                    <a:srgbClr val="F0A98B"/>
                  </a:solidFill>
                  <a:latin typeface="Consolas"/>
                  <a:ea typeface="Consolas"/>
                  <a:cs typeface="Consolas"/>
                </a:rPr>
                <a:t>$"Paid {amount:0.00} EGP"</a:t>
              </a:r>
              <a:r>
                <a:rPr lang="en-US" sz="780" b="0" dirty="0">
                  <a:solidFill>
                    <a:srgbClr val="E2E8F0"/>
                  </a:solidFill>
                  <a:latin typeface="Consolas"/>
                  <a:ea typeface="Consolas"/>
                  <a:cs typeface="Consolas"/>
                </a:rPr>
                <a:t>);</a:t>
              </a:r>
              <a:endParaRPr lang="en-US" sz="780" dirty="0"/>
            </a:p>
          </p:txBody>
        </p:sp>
        <p:sp>
          <p:nvSpPr>
            <p:cNvPr id="117" name="cls_L08"/>
            <p:cNvSpPr txBox="1"/>
            <p:nvPr/>
          </p:nvSpPr>
          <p:spPr>
            <a:xfrm>
              <a:off x="771754" y="3431548"/>
              <a:ext cx="43634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8" name="cls_L09"/>
            <p:cNvSpPr txBox="1"/>
            <p:nvPr/>
          </p:nvSpPr>
          <p:spPr>
            <a:xfrm>
              <a:off x="771754" y="3581548"/>
              <a:ext cx="43634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60A5FA"/>
                  </a:solidFill>
                  <a:latin typeface="Consolas"/>
                  <a:ea typeface="Consolas"/>
                  <a:cs typeface="Consolas"/>
                </a:rPr>
                <a:t>catch</a:t>
              </a:r>
              <a:r>
                <a:rPr lang="en-US" sz="780" b="0" dirty="0">
                  <a:solidFill>
                    <a:srgbClr val="E2E8F0"/>
                  </a:solidFill>
                  <a:latin typeface="Consolas"/>
                  <a:ea typeface="Consolas"/>
                  <a:cs typeface="Consolas"/>
                </a:rPr>
                <a:t> (Exception ex)</a:t>
              </a:r>
              <a:endParaRPr lang="en-US" sz="780" dirty="0"/>
            </a:p>
          </p:txBody>
        </p:sp>
        <p:sp>
          <p:nvSpPr>
            <p:cNvPr id="119" name="cls_L10"/>
            <p:cNvSpPr txBox="1"/>
            <p:nvPr/>
          </p:nvSpPr>
          <p:spPr>
            <a:xfrm>
              <a:off x="771754" y="3731548"/>
              <a:ext cx="43634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20" name="cls_L11"/>
            <p:cNvSpPr txBox="1"/>
            <p:nvPr/>
          </p:nvSpPr>
          <p:spPr>
            <a:xfrm>
              <a:off x="771754" y="3881548"/>
              <a:ext cx="436344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80" b="0" dirty="0">
                  <a:solidFill>
                    <a:srgbClr val="E2E8F0"/>
                  </a:solidFill>
                  <a:latin typeface="Consolas"/>
                  <a:ea typeface="Consolas"/>
                  <a:cs typeface="Consolas"/>
                </a:rPr>
                <a:t>_logger.Error(</a:t>
              </a:r>
              <a:r>
                <a:rPr lang="en-US" sz="780" b="0" dirty="0">
                  <a:solidFill>
                    <a:srgbClr val="F0A98B"/>
                  </a:solidFill>
                  <a:latin typeface="Consolas"/>
                  <a:ea typeface="Consolas"/>
                  <a:cs typeface="Consolas"/>
                </a:rPr>
                <a:t>$"Receipt to {to} failed"</a:t>
              </a:r>
              <a:r>
                <a:rPr lang="en-US" sz="780" b="0" dirty="0">
                  <a:solidFill>
                    <a:srgbClr val="E2E8F0"/>
                  </a:solidFill>
                  <a:latin typeface="Consolas"/>
                  <a:ea typeface="Consolas"/>
                  <a:cs typeface="Consolas"/>
                </a:rPr>
                <a:t>, ex);</a:t>
              </a:r>
              <a:endParaRPr lang="en-US" sz="780" dirty="0"/>
            </a:p>
          </p:txBody>
        </p:sp>
        <p:sp>
          <p:nvSpPr>
            <p:cNvPr id="121" name="cls_L12"/>
            <p:cNvSpPr txBox="1"/>
            <p:nvPr/>
          </p:nvSpPr>
          <p:spPr>
            <a:xfrm>
              <a:off x="771754" y="4031548"/>
              <a:ext cx="43634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22" name="cls_L13"/>
            <p:cNvSpPr txBox="1"/>
            <p:nvPr/>
          </p:nvSpPr>
          <p:spPr>
            <a:xfrm>
              <a:off x="771754" y="4181548"/>
              <a:ext cx="43634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23" name="cls_L14"/>
            <p:cNvSpPr txBox="1"/>
            <p:nvPr/>
          </p:nvSpPr>
          <p:spPr>
            <a:xfrm>
              <a:off x="771754" y="4331548"/>
              <a:ext cx="43634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grpSp>
      <p:sp>
        <p:nvSpPr>
          <p:cNvPr id="125" name="cls_hl11"/>
          <p:cNvSpPr/>
          <p:nvPr/>
        </p:nvSpPr>
        <p:spPr>
          <a:xfrm>
            <a:off x="676656" y="3863260"/>
            <a:ext cx="439644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6" name="tl"/>
          <p:cNvSpPr txBox="1"/>
          <p:nvPr/>
        </p:nvSpPr>
        <p:spPr>
          <a:xfrm>
            <a:off x="5440680" y="1463040"/>
            <a:ext cx="6190488"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45" name="t1"/>
          <p:cNvGrpSpPr/>
          <p:nvPr/>
        </p:nvGrpSpPr>
        <p:grpSpPr>
          <a:xfrm>
            <a:off x="5440680" y="1755648"/>
            <a:ext cx="6189574" cy="2135900"/>
            <a:chOff x="5440680" y="1755648"/>
            <a:chExt cx="6189574" cy="2135900"/>
          </a:xfrm>
        </p:grpSpPr>
        <p:sp>
          <p:nvSpPr>
            <p:cNvPr id="127" name="t1_win"/>
            <p:cNvSpPr/>
            <p:nvPr/>
          </p:nvSpPr>
          <p:spPr>
            <a:xfrm>
              <a:off x="5440680" y="1755648"/>
              <a:ext cx="6189574" cy="2135900"/>
            </a:xfrm>
            <a:prstGeom prst="roundRect">
              <a:avLst>
                <a:gd name="adj" fmla="val 3209"/>
              </a:avLst>
            </a:prstGeom>
            <a:solidFill>
              <a:srgbClr val="060D18"/>
            </a:solidFill>
            <a:ln w="12700">
              <a:solidFill>
                <a:srgbClr val="1E3A5F"/>
              </a:solidFill>
              <a:prstDash val="solid"/>
            </a:ln>
          </p:spPr>
          <p:txBody>
            <a:bodyPr/>
            <a:lstStyle/>
            <a:p>
              <a:endParaRPr lang="en-US"/>
            </a:p>
          </p:txBody>
        </p:sp>
        <p:sp>
          <p:nvSpPr>
            <p:cNvPr id="128" name="t1_bar"/>
            <p:cNvSpPr/>
            <p:nvPr/>
          </p:nvSpPr>
          <p:spPr>
            <a:xfrm>
              <a:off x="5440680" y="1755648"/>
              <a:ext cx="61895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9" name="t1_barfill"/>
            <p:cNvSpPr/>
            <p:nvPr/>
          </p:nvSpPr>
          <p:spPr>
            <a:xfrm>
              <a:off x="5440680" y="1927098"/>
              <a:ext cx="6189574" cy="171450"/>
            </a:xfrm>
            <a:prstGeom prst="rect">
              <a:avLst/>
            </a:prstGeom>
            <a:solidFill>
              <a:srgbClr val="0A1220"/>
            </a:solidFill>
            <a:ln w="12700">
              <a:solidFill>
                <a:srgbClr val="0A1220"/>
              </a:solidFill>
              <a:prstDash val="solid"/>
            </a:ln>
          </p:spPr>
          <p:txBody>
            <a:bodyPr/>
            <a:lstStyle/>
            <a:p>
              <a:endParaRPr lang="en-US"/>
            </a:p>
          </p:txBody>
        </p:sp>
        <p:sp>
          <p:nvSpPr>
            <p:cNvPr id="130" name="t1_dot0"/>
            <p:cNvSpPr/>
            <p:nvPr/>
          </p:nvSpPr>
          <p:spPr>
            <a:xfrm>
              <a:off x="5602528"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1" name="t1_dot1"/>
            <p:cNvSpPr/>
            <p:nvPr/>
          </p:nvSpPr>
          <p:spPr>
            <a:xfrm>
              <a:off x="5788152"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2" name="t1_dot2"/>
            <p:cNvSpPr/>
            <p:nvPr/>
          </p:nvSpPr>
          <p:spPr>
            <a:xfrm>
              <a:off x="5973776"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3" name="t1_tab"/>
            <p:cNvSpPr/>
            <p:nvPr/>
          </p:nvSpPr>
          <p:spPr>
            <a:xfrm>
              <a:off x="6221577" y="1803197"/>
              <a:ext cx="1828701"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ReceiptServiceTests.cs</a:t>
              </a:r>
              <a:endParaRPr lang="en-US" sz="950" dirty="0"/>
            </a:p>
          </p:txBody>
        </p:sp>
        <p:sp>
          <p:nvSpPr>
            <p:cNvPr id="134" name="t1_L00"/>
            <p:cNvSpPr txBox="1"/>
            <p:nvPr/>
          </p:nvSpPr>
          <p:spPr>
            <a:xfrm>
              <a:off x="5669280" y="22315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[Fact]</a:t>
              </a:r>
              <a:endParaRPr lang="en-US" sz="720" dirty="0"/>
            </a:p>
          </p:txBody>
        </p:sp>
        <p:sp>
          <p:nvSpPr>
            <p:cNvPr id="135" name="t1_L01"/>
            <p:cNvSpPr txBox="1"/>
            <p:nvPr/>
          </p:nvSpPr>
          <p:spPr>
            <a:xfrm>
              <a:off x="5669280" y="23715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SendReceipt_EmailFails_LogsAndDoesNotThrow()</a:t>
              </a:r>
              <a:endParaRPr lang="en-US" sz="720" dirty="0"/>
            </a:p>
          </p:txBody>
        </p:sp>
        <p:sp>
          <p:nvSpPr>
            <p:cNvPr id="136" name="t1_L02"/>
            <p:cNvSpPr txBox="1"/>
            <p:nvPr/>
          </p:nvSpPr>
          <p:spPr>
            <a:xfrm>
              <a:off x="5669280" y="25115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37" name="t1_L03"/>
            <p:cNvSpPr txBox="1"/>
            <p:nvPr/>
          </p:nvSpPr>
          <p:spPr>
            <a:xfrm>
              <a:off x="5669280" y="26515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var</a:t>
              </a:r>
              <a:r>
                <a:rPr lang="en-US" sz="720" b="0" dirty="0">
                  <a:solidFill>
                    <a:srgbClr val="E2E8F0"/>
                  </a:solidFill>
                  <a:latin typeface="Consolas"/>
                  <a:ea typeface="Consolas"/>
                  <a:cs typeface="Consolas"/>
                </a:rPr>
                <a:t> email = Substitute.For&lt;IEmailSender&gt;();</a:t>
              </a:r>
              <a:endParaRPr lang="en-US" sz="720" dirty="0"/>
            </a:p>
          </p:txBody>
        </p:sp>
        <p:sp>
          <p:nvSpPr>
            <p:cNvPr id="138" name="t1_L04"/>
            <p:cNvSpPr txBox="1"/>
            <p:nvPr/>
          </p:nvSpPr>
          <p:spPr>
            <a:xfrm>
              <a:off x="5669280" y="27915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var</a:t>
              </a:r>
              <a:r>
                <a:rPr lang="en-US" sz="720" b="0" dirty="0">
                  <a:solidFill>
                    <a:srgbClr val="E2E8F0"/>
                  </a:solidFill>
                  <a:latin typeface="Consolas"/>
                  <a:ea typeface="Consolas"/>
                  <a:cs typeface="Consolas"/>
                </a:rPr>
                <a:t> logger = Substitute.For&lt;ILogger&gt;();</a:t>
              </a:r>
              <a:endParaRPr lang="en-US" sz="720" dirty="0"/>
            </a:p>
          </p:txBody>
        </p:sp>
        <p:sp>
          <p:nvSpPr>
            <p:cNvPr id="139" name="t1_L05"/>
            <p:cNvSpPr txBox="1"/>
            <p:nvPr/>
          </p:nvSpPr>
          <p:spPr>
            <a:xfrm>
              <a:off x="5669280" y="29315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email.When(e =&gt; e.Send(Arg.Any&lt;</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&gt;(), Arg.Any&lt;</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&gt;(), Arg.Any&lt;</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&gt;()))</a:t>
              </a:r>
              <a:endParaRPr lang="en-US" sz="720" dirty="0"/>
            </a:p>
          </p:txBody>
        </p:sp>
        <p:sp>
          <p:nvSpPr>
            <p:cNvPr id="140" name="t1_L06"/>
            <p:cNvSpPr txBox="1"/>
            <p:nvPr/>
          </p:nvSpPr>
          <p:spPr>
            <a:xfrm>
              <a:off x="5669280" y="3071548"/>
              <a:ext cx="5889574"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 .Do(_ =&gt; </a:t>
              </a:r>
              <a:r>
                <a:rPr lang="en-US" sz="720" b="0" dirty="0">
                  <a:solidFill>
                    <a:srgbClr val="60A5FA"/>
                  </a:solidFill>
                  <a:latin typeface="Consolas"/>
                  <a:ea typeface="Consolas"/>
                  <a:cs typeface="Consolas"/>
                </a:rPr>
                <a:t>throw</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 TimeoutException(</a:t>
              </a:r>
              <a:r>
                <a:rPr lang="en-US" sz="720" b="0" dirty="0">
                  <a:solidFill>
                    <a:srgbClr val="F0A98B"/>
                  </a:solidFill>
                  <a:latin typeface="Consolas"/>
                  <a:ea typeface="Consolas"/>
                  <a:cs typeface="Consolas"/>
                </a:rPr>
                <a:t>"SMTP server timeout"</a:t>
              </a:r>
              <a:r>
                <a:rPr lang="en-US" sz="720" b="0" dirty="0">
                  <a:solidFill>
                    <a:srgbClr val="E2E8F0"/>
                  </a:solidFill>
                  <a:latin typeface="Consolas"/>
                  <a:ea typeface="Consolas"/>
                  <a:cs typeface="Consolas"/>
                </a:rPr>
                <a:t>));</a:t>
              </a:r>
              <a:endParaRPr lang="en-US" sz="720" dirty="0"/>
            </a:p>
          </p:txBody>
        </p:sp>
        <p:sp>
          <p:nvSpPr>
            <p:cNvPr id="141" name="t1_L07"/>
            <p:cNvSpPr txBox="1"/>
            <p:nvPr/>
          </p:nvSpPr>
          <p:spPr>
            <a:xfrm>
              <a:off x="5669280" y="32115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var</a:t>
              </a:r>
              <a:r>
                <a:rPr lang="en-US" sz="720" b="0" dirty="0">
                  <a:solidFill>
                    <a:srgbClr val="E2E8F0"/>
                  </a:solidFill>
                  <a:latin typeface="Consolas"/>
                  <a:ea typeface="Consolas"/>
                  <a:cs typeface="Consolas"/>
                </a:rPr>
                <a:t> receipts = </a:t>
              </a: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 ReceiptService(email, logger);</a:t>
              </a:r>
              <a:endParaRPr lang="en-US" sz="720" dirty="0"/>
            </a:p>
          </p:txBody>
        </p:sp>
        <p:sp>
          <p:nvSpPr>
            <p:cNvPr id="142" name="t1_L08"/>
            <p:cNvSpPr txBox="1"/>
            <p:nvPr/>
          </p:nvSpPr>
          <p:spPr>
            <a:xfrm>
              <a:off x="5669280" y="33515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Should.NotThrow(() =&gt; receipts.SendReceipt(</a:t>
              </a:r>
              <a:r>
                <a:rPr lang="en-US" sz="720" b="0" dirty="0">
                  <a:solidFill>
                    <a:srgbClr val="F0A98B"/>
                  </a:solidFill>
                  <a:latin typeface="Consolas"/>
                  <a:ea typeface="Consolas"/>
                  <a:cs typeface="Consolas"/>
                </a:rPr>
                <a:t>"mona@bank.eg"</a:t>
              </a:r>
              <a:r>
                <a:rPr lang="en-US" sz="720" b="0" dirty="0">
                  <a:solidFill>
                    <a:srgbClr val="E2E8F0"/>
                  </a:solidFill>
                  <a:latin typeface="Consolas"/>
                  <a:ea typeface="Consolas"/>
                  <a:cs typeface="Consolas"/>
                </a:rPr>
                <a:t>, 250m));</a:t>
              </a:r>
              <a:endParaRPr lang="en-US" sz="720" dirty="0"/>
            </a:p>
          </p:txBody>
        </p:sp>
        <p:sp>
          <p:nvSpPr>
            <p:cNvPr id="143" name="t1_L09"/>
            <p:cNvSpPr txBox="1"/>
            <p:nvPr/>
          </p:nvSpPr>
          <p:spPr>
            <a:xfrm>
              <a:off x="5669280" y="34915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logger.Received(1).Error(</a:t>
              </a:r>
              <a:r>
                <a:rPr lang="en-US" sz="720" b="0" dirty="0">
                  <a:solidFill>
                    <a:srgbClr val="F0A98B"/>
                  </a:solidFill>
                  <a:latin typeface="Consolas"/>
                  <a:ea typeface="Consolas"/>
                  <a:cs typeface="Consolas"/>
                </a:rPr>
                <a:t>"Receipt to mona@bank.eg failed"</a:t>
              </a:r>
              <a:r>
                <a:rPr lang="en-US" sz="720" b="0" dirty="0">
                  <a:solidFill>
                    <a:srgbClr val="E2E8F0"/>
                  </a:solidFill>
                  <a:latin typeface="Consolas"/>
                  <a:ea typeface="Consolas"/>
                  <a:cs typeface="Consolas"/>
                </a:rPr>
                <a:t>, Arg.Any&lt;TimeoutException&gt;());</a:t>
              </a:r>
              <a:endParaRPr lang="en-US" sz="720" dirty="0"/>
            </a:p>
          </p:txBody>
        </p:sp>
        <p:sp>
          <p:nvSpPr>
            <p:cNvPr id="144" name="t1_L10"/>
            <p:cNvSpPr txBox="1"/>
            <p:nvPr/>
          </p:nvSpPr>
          <p:spPr>
            <a:xfrm>
              <a:off x="5669280" y="36315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grpSp>
      <p:sp>
        <p:nvSpPr>
          <p:cNvPr id="146" name="t1_hl5"/>
          <p:cNvSpPr/>
          <p:nvPr/>
        </p:nvSpPr>
        <p:spPr>
          <a:xfrm>
            <a:off x="5574182" y="2913260"/>
            <a:ext cx="5922574"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47" name="t1_hl6"/>
          <p:cNvSpPr/>
          <p:nvPr/>
        </p:nvSpPr>
        <p:spPr>
          <a:xfrm>
            <a:off x="5574182" y="3053260"/>
            <a:ext cx="5922574"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48" name="t1_hl9"/>
          <p:cNvSpPr/>
          <p:nvPr/>
        </p:nvSpPr>
        <p:spPr>
          <a:xfrm>
            <a:off x="5574182" y="3473260"/>
            <a:ext cx="5922574" cy="176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65" name="t2"/>
          <p:cNvGrpSpPr/>
          <p:nvPr/>
        </p:nvGrpSpPr>
        <p:grpSpPr>
          <a:xfrm>
            <a:off x="5440680" y="3813048"/>
            <a:ext cx="6189574" cy="1855900"/>
            <a:chOff x="5440680" y="3813048"/>
            <a:chExt cx="6189574" cy="1855900"/>
          </a:xfrm>
        </p:grpSpPr>
        <p:sp>
          <p:nvSpPr>
            <p:cNvPr id="149" name="t2_win"/>
            <p:cNvSpPr/>
            <p:nvPr/>
          </p:nvSpPr>
          <p:spPr>
            <a:xfrm>
              <a:off x="5440680" y="3813048"/>
              <a:ext cx="6189574" cy="1855900"/>
            </a:xfrm>
            <a:prstGeom prst="roundRect">
              <a:avLst>
                <a:gd name="adj" fmla="val 3693"/>
              </a:avLst>
            </a:prstGeom>
            <a:solidFill>
              <a:srgbClr val="060D18"/>
            </a:solidFill>
            <a:ln w="12700">
              <a:solidFill>
                <a:srgbClr val="1E3A5F"/>
              </a:solidFill>
              <a:prstDash val="solid"/>
            </a:ln>
          </p:spPr>
          <p:txBody>
            <a:bodyPr/>
            <a:lstStyle/>
            <a:p>
              <a:endParaRPr lang="en-US"/>
            </a:p>
          </p:txBody>
        </p:sp>
        <p:sp>
          <p:nvSpPr>
            <p:cNvPr id="150" name="t2_bar"/>
            <p:cNvSpPr/>
            <p:nvPr/>
          </p:nvSpPr>
          <p:spPr>
            <a:xfrm>
              <a:off x="5440680" y="3813048"/>
              <a:ext cx="61895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51" name="t2_barfill"/>
            <p:cNvSpPr/>
            <p:nvPr/>
          </p:nvSpPr>
          <p:spPr>
            <a:xfrm>
              <a:off x="5440680" y="3984498"/>
              <a:ext cx="6189574" cy="171450"/>
            </a:xfrm>
            <a:prstGeom prst="rect">
              <a:avLst/>
            </a:prstGeom>
            <a:solidFill>
              <a:srgbClr val="0A1220"/>
            </a:solidFill>
            <a:ln w="12700">
              <a:solidFill>
                <a:srgbClr val="0A1220"/>
              </a:solidFill>
              <a:prstDash val="solid"/>
            </a:ln>
          </p:spPr>
          <p:txBody>
            <a:bodyPr/>
            <a:lstStyle/>
            <a:p>
              <a:endParaRPr lang="en-US"/>
            </a:p>
          </p:txBody>
        </p:sp>
        <p:sp>
          <p:nvSpPr>
            <p:cNvPr id="152" name="t2_dot0"/>
            <p:cNvSpPr/>
            <p:nvPr/>
          </p:nvSpPr>
          <p:spPr>
            <a:xfrm>
              <a:off x="5602528" y="3936858"/>
              <a:ext cx="95098" cy="95098"/>
            </a:xfrm>
            <a:prstGeom prst="ellipse">
              <a:avLst/>
            </a:prstGeom>
            <a:solidFill>
              <a:srgbClr val="F87171"/>
            </a:solidFill>
            <a:ln w="12700">
              <a:solidFill>
                <a:srgbClr val="F87171"/>
              </a:solidFill>
              <a:prstDash val="solid"/>
            </a:ln>
          </p:spPr>
          <p:txBody>
            <a:bodyPr/>
            <a:lstStyle/>
            <a:p>
              <a:endParaRPr lang="en-US"/>
            </a:p>
          </p:txBody>
        </p:sp>
        <p:sp>
          <p:nvSpPr>
            <p:cNvPr id="153" name="t2_dot1"/>
            <p:cNvSpPr/>
            <p:nvPr/>
          </p:nvSpPr>
          <p:spPr>
            <a:xfrm>
              <a:off x="5788152" y="3936858"/>
              <a:ext cx="95098" cy="95098"/>
            </a:xfrm>
            <a:prstGeom prst="ellipse">
              <a:avLst/>
            </a:prstGeom>
            <a:solidFill>
              <a:srgbClr val="FBBF24"/>
            </a:solidFill>
            <a:ln w="12700">
              <a:solidFill>
                <a:srgbClr val="FBBF24"/>
              </a:solidFill>
              <a:prstDash val="solid"/>
            </a:ln>
          </p:spPr>
          <p:txBody>
            <a:bodyPr/>
            <a:lstStyle/>
            <a:p>
              <a:endParaRPr lang="en-US"/>
            </a:p>
          </p:txBody>
        </p:sp>
        <p:sp>
          <p:nvSpPr>
            <p:cNvPr id="154" name="t2_dot2"/>
            <p:cNvSpPr/>
            <p:nvPr/>
          </p:nvSpPr>
          <p:spPr>
            <a:xfrm>
              <a:off x="5973776" y="3936858"/>
              <a:ext cx="95098" cy="95098"/>
            </a:xfrm>
            <a:prstGeom prst="ellipse">
              <a:avLst/>
            </a:prstGeom>
            <a:solidFill>
              <a:srgbClr val="34D399"/>
            </a:solidFill>
            <a:ln w="12700">
              <a:solidFill>
                <a:srgbClr val="34D399"/>
              </a:solidFill>
              <a:prstDash val="solid"/>
            </a:ln>
          </p:spPr>
          <p:txBody>
            <a:bodyPr/>
            <a:lstStyle/>
            <a:p>
              <a:endParaRPr lang="en-US"/>
            </a:p>
          </p:txBody>
        </p:sp>
        <p:sp>
          <p:nvSpPr>
            <p:cNvPr id="155" name="t2_tab"/>
            <p:cNvSpPr/>
            <p:nvPr/>
          </p:nvSpPr>
          <p:spPr>
            <a:xfrm>
              <a:off x="6221577" y="38605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56" name="t2_L00"/>
            <p:cNvSpPr txBox="1"/>
            <p:nvPr/>
          </p:nvSpPr>
          <p:spPr>
            <a:xfrm>
              <a:off x="5669280" y="42889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[Fact]</a:t>
              </a:r>
              <a:endParaRPr lang="en-US" sz="720" dirty="0"/>
            </a:p>
          </p:txBody>
        </p:sp>
        <p:sp>
          <p:nvSpPr>
            <p:cNvPr id="157" name="t2_L01"/>
            <p:cNvSpPr txBox="1"/>
            <p:nvPr/>
          </p:nvSpPr>
          <p:spPr>
            <a:xfrm>
              <a:off x="5669280" y="44289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Transfer_NotEnoughMoney_SavesNothingAndSendsNothing()</a:t>
              </a:r>
              <a:endParaRPr lang="en-US" sz="720" dirty="0"/>
            </a:p>
          </p:txBody>
        </p:sp>
        <p:sp>
          <p:nvSpPr>
            <p:cNvPr id="158" name="t2_L02"/>
            <p:cNvSpPr txBox="1"/>
            <p:nvPr/>
          </p:nvSpPr>
          <p:spPr>
            <a:xfrm>
              <a:off x="5669280" y="45689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59" name="t2_L03"/>
            <p:cNvSpPr txBox="1"/>
            <p:nvPr/>
          </p:nvSpPr>
          <p:spPr>
            <a:xfrm>
              <a:off x="5669280" y="47089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Should.Throw&lt;InvalidOperationException&gt;(</a:t>
              </a:r>
              <a:endParaRPr lang="en-US" sz="720" dirty="0"/>
            </a:p>
          </p:txBody>
        </p:sp>
        <p:sp>
          <p:nvSpPr>
            <p:cNvPr id="160" name="t2_L04"/>
            <p:cNvSpPr txBox="1"/>
            <p:nvPr/>
          </p:nvSpPr>
          <p:spPr>
            <a:xfrm>
              <a:off x="5669280" y="4848948"/>
              <a:ext cx="5889574"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 =&gt; _service.Transfer(</a:t>
              </a:r>
              <a:r>
                <a:rPr lang="en-US" sz="720" b="0" dirty="0">
                  <a:solidFill>
                    <a:srgbClr val="F0A98B"/>
                  </a:solidFill>
                  <a:latin typeface="Consolas"/>
                  <a:ea typeface="Consolas"/>
                  <a:cs typeface="Consolas"/>
                </a:rPr>
                <a:t>"mona@bank.eg"</a:t>
              </a:r>
              <a:r>
                <a:rPr lang="en-US" sz="720" b="0" dirty="0">
                  <a:solidFill>
                    <a:srgbClr val="E2E8F0"/>
                  </a:solidFill>
                  <a:latin typeface="Consolas"/>
                  <a:ea typeface="Consolas"/>
                  <a:cs typeface="Consolas"/>
                </a:rPr>
                <a:t>, </a:t>
              </a:r>
              <a:r>
                <a:rPr lang="en-US" sz="720" b="0" dirty="0">
                  <a:solidFill>
                    <a:srgbClr val="F0A98B"/>
                  </a:solidFill>
                  <a:latin typeface="Consolas"/>
                  <a:ea typeface="Consolas"/>
                  <a:cs typeface="Consolas"/>
                </a:rPr>
                <a:t>"ali@bank.eg"</a:t>
              </a:r>
              <a:r>
                <a:rPr lang="en-US" sz="720" b="0" dirty="0">
                  <a:solidFill>
                    <a:srgbClr val="E2E8F0"/>
                  </a:solidFill>
                  <a:latin typeface="Consolas"/>
                  <a:ea typeface="Consolas"/>
                  <a:cs typeface="Consolas"/>
                </a:rPr>
                <a:t>, 900m));</a:t>
              </a:r>
              <a:endParaRPr lang="en-US" sz="720" dirty="0"/>
            </a:p>
          </p:txBody>
        </p:sp>
        <p:sp>
          <p:nvSpPr>
            <p:cNvPr id="161" name="t2_L05"/>
            <p:cNvSpPr txBox="1"/>
            <p:nvPr/>
          </p:nvSpPr>
          <p:spPr>
            <a:xfrm>
              <a:off x="5669280" y="49889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_accounts.DidNotReceive().Save(Arg.Any&lt;BankAccount&gt;());</a:t>
              </a:r>
              <a:endParaRPr lang="en-US" sz="720" dirty="0"/>
            </a:p>
          </p:txBody>
        </p:sp>
        <p:sp>
          <p:nvSpPr>
            <p:cNvPr id="162" name="t2_L06"/>
            <p:cNvSpPr txBox="1"/>
            <p:nvPr/>
          </p:nvSpPr>
          <p:spPr>
            <a:xfrm>
              <a:off x="5669280" y="51289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_email.DidNotReceive().Send(Arg.Any&lt;</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&gt;(), Arg.Any&lt;</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&gt;(), Arg.Any&lt;</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&gt;());</a:t>
              </a:r>
              <a:endParaRPr lang="en-US" sz="720" dirty="0"/>
            </a:p>
          </p:txBody>
        </p:sp>
        <p:sp>
          <p:nvSpPr>
            <p:cNvPr id="163" name="t2_L07"/>
            <p:cNvSpPr txBox="1"/>
            <p:nvPr/>
          </p:nvSpPr>
          <p:spPr>
            <a:xfrm>
              <a:off x="5669280" y="5268948"/>
              <a:ext cx="5889574"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_mona.Balance.ShouldBe(500m);</a:t>
              </a:r>
              <a:endParaRPr lang="en-US" sz="720" dirty="0"/>
            </a:p>
          </p:txBody>
        </p:sp>
        <p:sp>
          <p:nvSpPr>
            <p:cNvPr id="164" name="t2_L08"/>
            <p:cNvSpPr txBox="1"/>
            <p:nvPr/>
          </p:nvSpPr>
          <p:spPr>
            <a:xfrm>
              <a:off x="5669280" y="5408948"/>
              <a:ext cx="5889574"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grpSp>
      <p:sp>
        <p:nvSpPr>
          <p:cNvPr id="166" name="t2_hl5"/>
          <p:cNvSpPr/>
          <p:nvPr/>
        </p:nvSpPr>
        <p:spPr>
          <a:xfrm>
            <a:off x="5574182" y="4970660"/>
            <a:ext cx="5922574"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67" name="t2_hl6"/>
          <p:cNvSpPr/>
          <p:nvPr/>
        </p:nvSpPr>
        <p:spPr>
          <a:xfrm>
            <a:off x="5574182" y="5110660"/>
            <a:ext cx="5922574"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68" name="k"/>
          <p:cNvSpPr/>
          <p:nvPr/>
        </p:nvSpPr>
        <p:spPr>
          <a:xfrm>
            <a:off x="543154" y="4617720"/>
            <a:ext cx="4663440" cy="1051560"/>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0"/>
              </a:spcAft>
              <a:buNone/>
            </a:pPr>
            <a:r>
              <a:rPr lang="en-US" sz="1050" b="1" dirty="0">
                <a:solidFill>
                  <a:srgbClr val="F87171"/>
                </a:solidFill>
                <a:latin typeface="Consolas"/>
                <a:ea typeface="Consolas"/>
                <a:cs typeface="Consolas"/>
              </a:rPr>
              <a:t>When(…).Do(…)</a:t>
            </a:r>
            <a:r>
              <a:rPr lang="en-US" sz="1050" b="0" dirty="0">
                <a:solidFill>
                  <a:srgbClr val="CBD5E1"/>
                </a:solidFill>
                <a:latin typeface="Segoe UI"/>
                <a:ea typeface="Segoe UI"/>
                <a:cs typeface="Segoe UI"/>
              </a:rPr>
              <a:t> make the double fail</a:t>
            </a:r>
            <a:endParaRPr lang="en-US" sz="1050" dirty="0"/>
          </a:p>
          <a:p>
            <a:pPr marL="0" indent="0" algn="l">
              <a:spcBef>
                <a:spcPts val="0"/>
              </a:spcBef>
              <a:spcAft>
                <a:spcPts val="0"/>
              </a:spcAft>
              <a:buNone/>
            </a:pPr>
            <a:r>
              <a:rPr lang="en-US" sz="1050" b="1" dirty="0">
                <a:solidFill>
                  <a:srgbClr val="34D399"/>
                </a:solidFill>
                <a:latin typeface="Consolas"/>
                <a:ea typeface="Consolas"/>
                <a:cs typeface="Consolas"/>
              </a:rPr>
              <a:t>Received(1)</a:t>
            </a:r>
            <a:r>
              <a:rPr lang="en-US" sz="1050" b="0" dirty="0">
                <a:solidFill>
                  <a:srgbClr val="CBD5E1"/>
                </a:solidFill>
                <a:latin typeface="Segoe UI"/>
                <a:ea typeface="Segoe UI"/>
                <a:cs typeface="Segoe UI"/>
              </a:rPr>
              <a:t> it happened once</a:t>
            </a:r>
            <a:endParaRPr lang="en-US" sz="1050" dirty="0"/>
          </a:p>
          <a:p>
            <a:pPr marL="0" indent="0" algn="l">
              <a:spcBef>
                <a:spcPts val="0"/>
              </a:spcBef>
              <a:spcAft>
                <a:spcPts val="0"/>
              </a:spcAft>
              <a:buNone/>
            </a:pPr>
            <a:r>
              <a:rPr lang="en-US" sz="1050" b="1" dirty="0">
                <a:solidFill>
                  <a:srgbClr val="F87171"/>
                </a:solidFill>
                <a:latin typeface="Consolas"/>
                <a:ea typeface="Consolas"/>
                <a:cs typeface="Consolas"/>
              </a:rPr>
              <a:t>DidNotReceive()</a:t>
            </a:r>
            <a:r>
              <a:rPr lang="en-US" sz="1050" b="0" dirty="0">
                <a:solidFill>
                  <a:srgbClr val="CBD5E1"/>
                </a:solidFill>
                <a:latin typeface="Segoe UI"/>
                <a:ea typeface="Segoe UI"/>
                <a:cs typeface="Segoe UI"/>
              </a:rPr>
              <a:t> it must not happen</a:t>
            </a:r>
            <a:endParaRPr lang="en-US" sz="1050" dirty="0"/>
          </a:p>
        </p:txBody>
      </p:sp>
    </p:spTree>
    <p:extLst>
      <p:ext uri="{BB962C8B-B14F-4D97-AF65-F5344CB8AC3E}">
        <p14:creationId xmlns:p14="http://schemas.microsoft.com/office/powerpoint/2010/main" val="51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4"/>
                                        </p:tgtEl>
                                        <p:attrNameLst>
                                          <p:attrName>style.visibility</p:attrName>
                                        </p:attrNameLst>
                                      </p:cBhvr>
                                      <p:to>
                                        <p:strVal val="visible"/>
                                      </p:to>
                                    </p:set>
                                    <p:animEffect transition="in" filter="fade">
                                      <p:cBhvr>
                                        <p:cTn id="10" dur="400"/>
                                        <p:tgtEl>
                                          <p:spTgt spid="1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5"/>
                                        </p:tgtEl>
                                        <p:attrNameLst>
                                          <p:attrName>style.visibility</p:attrName>
                                        </p:attrNameLst>
                                      </p:cBhvr>
                                      <p:to>
                                        <p:strVal val="visible"/>
                                      </p:to>
                                    </p:set>
                                    <p:animEffect transition="in" filter="fade">
                                      <p:cBhvr>
                                        <p:cTn id="13" dur="400"/>
                                        <p:tgtEl>
                                          <p:spTgt spid="1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6"/>
                                        </p:tgtEl>
                                        <p:attrNameLst>
                                          <p:attrName>style.visibility</p:attrName>
                                        </p:attrNameLst>
                                      </p:cBhvr>
                                      <p:to>
                                        <p:strVal val="visible"/>
                                      </p:to>
                                    </p:set>
                                    <p:animEffect transition="in" filter="fade">
                                      <p:cBhvr>
                                        <p:cTn id="18" dur="400"/>
                                        <p:tgtEl>
                                          <p:spTgt spid="126"/>
                                        </p:tgtEl>
                                      </p:cBhvr>
                                    </p:animEffect>
                                  </p:childTnLst>
                                </p:cTn>
                              </p:par>
                              <p:par>
                                <p:cTn id="19" presetID="10" presetClass="entr" presetSubtype="0" fill="hold" nodeType="withEffect">
                                  <p:stCondLst>
                                    <p:cond delay="0"/>
                                  </p:stCondLst>
                                  <p:childTnLst>
                                    <p:set>
                                      <p:cBhvr>
                                        <p:cTn id="20" dur="1" fill="hold">
                                          <p:stCondLst>
                                            <p:cond delay="0"/>
                                          </p:stCondLst>
                                        </p:cTn>
                                        <p:tgtEl>
                                          <p:spTgt spid="145"/>
                                        </p:tgtEl>
                                        <p:attrNameLst>
                                          <p:attrName>style.visibility</p:attrName>
                                        </p:attrNameLst>
                                      </p:cBhvr>
                                      <p:to>
                                        <p:strVal val="visible"/>
                                      </p:to>
                                    </p:set>
                                    <p:animEffect transition="in" filter="fade">
                                      <p:cBhvr>
                                        <p:cTn id="21" dur="400"/>
                                        <p:tgtEl>
                                          <p:spTgt spid="14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6"/>
                                        </p:tgtEl>
                                        <p:attrNameLst>
                                          <p:attrName>style.visibility</p:attrName>
                                        </p:attrNameLst>
                                      </p:cBhvr>
                                      <p:to>
                                        <p:strVal val="visible"/>
                                      </p:to>
                                    </p:set>
                                    <p:animEffect transition="in" filter="fade">
                                      <p:cBhvr>
                                        <p:cTn id="24" dur="400"/>
                                        <p:tgtEl>
                                          <p:spTgt spid="14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7"/>
                                        </p:tgtEl>
                                        <p:attrNameLst>
                                          <p:attrName>style.visibility</p:attrName>
                                        </p:attrNameLst>
                                      </p:cBhvr>
                                      <p:to>
                                        <p:strVal val="visible"/>
                                      </p:to>
                                    </p:set>
                                    <p:animEffect transition="in" filter="fade">
                                      <p:cBhvr>
                                        <p:cTn id="27" dur="400"/>
                                        <p:tgtEl>
                                          <p:spTgt spid="14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8"/>
                                        </p:tgtEl>
                                        <p:attrNameLst>
                                          <p:attrName>style.visibility</p:attrName>
                                        </p:attrNameLst>
                                      </p:cBhvr>
                                      <p:to>
                                        <p:strVal val="visible"/>
                                      </p:to>
                                    </p:set>
                                    <p:animEffect transition="in" filter="fade">
                                      <p:cBhvr>
                                        <p:cTn id="30" dur="400"/>
                                        <p:tgtEl>
                                          <p:spTgt spid="14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5"/>
                                        </p:tgtEl>
                                        <p:attrNameLst>
                                          <p:attrName>style.visibility</p:attrName>
                                        </p:attrNameLst>
                                      </p:cBhvr>
                                      <p:to>
                                        <p:strVal val="visible"/>
                                      </p:to>
                                    </p:set>
                                    <p:animEffect transition="in" filter="fade">
                                      <p:cBhvr>
                                        <p:cTn id="35" dur="400"/>
                                        <p:tgtEl>
                                          <p:spTgt spid="16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6"/>
                                        </p:tgtEl>
                                        <p:attrNameLst>
                                          <p:attrName>style.visibility</p:attrName>
                                        </p:attrNameLst>
                                      </p:cBhvr>
                                      <p:to>
                                        <p:strVal val="visible"/>
                                      </p:to>
                                    </p:set>
                                    <p:animEffect transition="in" filter="fade">
                                      <p:cBhvr>
                                        <p:cTn id="38" dur="400"/>
                                        <p:tgtEl>
                                          <p:spTgt spid="16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7"/>
                                        </p:tgtEl>
                                        <p:attrNameLst>
                                          <p:attrName>style.visibility</p:attrName>
                                        </p:attrNameLst>
                                      </p:cBhvr>
                                      <p:to>
                                        <p:strVal val="visible"/>
                                      </p:to>
                                    </p:set>
                                    <p:animEffect transition="in" filter="fade">
                                      <p:cBhvr>
                                        <p:cTn id="41" dur="400"/>
                                        <p:tgtEl>
                                          <p:spTgt spid="16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8"/>
                                        </p:tgtEl>
                                        <p:attrNameLst>
                                          <p:attrName>style.visibility</p:attrName>
                                        </p:attrNameLst>
                                      </p:cBhvr>
                                      <p:to>
                                        <p:strVal val="visible"/>
                                      </p:to>
                                    </p:set>
                                    <p:animEffect transition="in" filter="fade">
                                      <p:cBhvr>
                                        <p:cTn id="46" dur="4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25" grpId="0" animBg="1"/>
      <p:bldP spid="126" grpId="0" animBg="1"/>
      <p:bldP spid="146" grpId="0" animBg="1"/>
      <p:bldP spid="147" grpId="0" animBg="1"/>
      <p:bldP spid="148" grpId="0" animBg="1"/>
      <p:bldP spid="166" grpId="0" animBg="1"/>
      <p:bldP spid="167" grpId="0" animBg="1"/>
      <p:bldP spid="168"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2000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STATE vs INTERACTION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Check the State When You Can</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127</a:t>
            </a:r>
            <a:endParaRPr lang="en-US" sz="850" dirty="0"/>
          </a:p>
        </p:txBody>
      </p:sp>
      <p:sp>
        <p:nvSpPr>
          <p:cNvPr id="101" name="sl"/>
          <p:cNvSpPr txBox="1"/>
          <p:nvPr/>
        </p:nvSpPr>
        <p:spPr>
          <a:xfrm>
            <a:off x="543154" y="1463040"/>
            <a:ext cx="53949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STATE  ·  look at the result</a:t>
            </a:r>
            <a:endParaRPr lang="en-US" sz="1100" dirty="0"/>
          </a:p>
        </p:txBody>
      </p:sp>
      <p:sp>
        <p:nvSpPr>
          <p:cNvPr id="102" name="il"/>
          <p:cNvSpPr txBox="1"/>
          <p:nvPr/>
        </p:nvSpPr>
        <p:spPr>
          <a:xfrm>
            <a:off x="6236208" y="1463040"/>
            <a:ext cx="53949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A78BFA"/>
                </a:solidFill>
                <a:latin typeface="Segoe UI"/>
                <a:ea typeface="Segoe UI"/>
                <a:cs typeface="Segoe UI"/>
              </a:rPr>
              <a:t>INTERACTION  ·  look at the calls</a:t>
            </a:r>
            <a:endParaRPr lang="en-US" sz="1100" dirty="0"/>
          </a:p>
        </p:txBody>
      </p:sp>
      <p:grpSp>
        <p:nvGrpSpPr>
          <p:cNvPr id="117" name="s"/>
          <p:cNvGrpSpPr/>
          <p:nvPr/>
        </p:nvGrpSpPr>
        <p:grpSpPr>
          <a:xfrm>
            <a:off x="543154" y="1755648"/>
            <a:ext cx="5394960" cy="2140220"/>
            <a:chOff x="543154" y="1755648"/>
            <a:chExt cx="5394960" cy="2140220"/>
          </a:xfrm>
        </p:grpSpPr>
        <p:sp>
          <p:nvSpPr>
            <p:cNvPr id="103" name="s_win"/>
            <p:cNvSpPr/>
            <p:nvPr/>
          </p:nvSpPr>
          <p:spPr>
            <a:xfrm>
              <a:off x="543154" y="1755648"/>
              <a:ext cx="5394960" cy="2140220"/>
            </a:xfrm>
            <a:prstGeom prst="roundRect">
              <a:avLst>
                <a:gd name="adj" fmla="val 3203"/>
              </a:avLst>
            </a:prstGeom>
            <a:solidFill>
              <a:srgbClr val="060D18"/>
            </a:solidFill>
            <a:ln w="12700">
              <a:solidFill>
                <a:srgbClr val="1E3A5F"/>
              </a:solidFill>
              <a:prstDash val="solid"/>
            </a:ln>
          </p:spPr>
          <p:txBody>
            <a:bodyPr/>
            <a:lstStyle/>
            <a:p>
              <a:endParaRPr lang="en-US"/>
            </a:p>
          </p:txBody>
        </p:sp>
        <p:sp>
          <p:nvSpPr>
            <p:cNvPr id="104" name="s_bar"/>
            <p:cNvSpPr/>
            <p:nvPr/>
          </p:nvSpPr>
          <p:spPr>
            <a:xfrm>
              <a:off x="543154" y="1755648"/>
              <a:ext cx="53949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s_barfill"/>
            <p:cNvSpPr/>
            <p:nvPr/>
          </p:nvSpPr>
          <p:spPr>
            <a:xfrm>
              <a:off x="543154" y="1927098"/>
              <a:ext cx="5394960" cy="171450"/>
            </a:xfrm>
            <a:prstGeom prst="rect">
              <a:avLst/>
            </a:prstGeom>
            <a:solidFill>
              <a:srgbClr val="0A1220"/>
            </a:solidFill>
            <a:ln w="12700">
              <a:solidFill>
                <a:srgbClr val="0A1220"/>
              </a:solidFill>
              <a:prstDash val="solid"/>
            </a:ln>
          </p:spPr>
          <p:txBody>
            <a:bodyPr/>
            <a:lstStyle/>
            <a:p>
              <a:endParaRPr lang="en-US"/>
            </a:p>
          </p:txBody>
        </p:sp>
        <p:sp>
          <p:nvSpPr>
            <p:cNvPr id="106" name="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s_tab"/>
            <p:cNvSpPr/>
            <p:nvPr/>
          </p:nvSpPr>
          <p:spPr>
            <a:xfrm>
              <a:off x="1324051" y="18031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10" name="s_L00"/>
            <p:cNvSpPr txBox="1"/>
            <p:nvPr/>
          </p:nvSpPr>
          <p:spPr>
            <a:xfrm>
              <a:off x="771754" y="223154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11" name="s_L01"/>
            <p:cNvSpPr txBox="1"/>
            <p:nvPr/>
          </p:nvSpPr>
          <p:spPr>
            <a:xfrm>
              <a:off x="771754" y="242458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Transfer_MovesTheMoney()</a:t>
              </a:r>
              <a:endParaRPr lang="en-US" sz="950" dirty="0"/>
            </a:p>
          </p:txBody>
        </p:sp>
        <p:sp>
          <p:nvSpPr>
            <p:cNvPr id="112" name="s_L02"/>
            <p:cNvSpPr txBox="1"/>
            <p:nvPr/>
          </p:nvSpPr>
          <p:spPr>
            <a:xfrm>
              <a:off x="771754" y="261762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3" name="s_L03"/>
            <p:cNvSpPr txBox="1"/>
            <p:nvPr/>
          </p:nvSpPr>
          <p:spPr>
            <a:xfrm>
              <a:off x="771754" y="281066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_service.Transfer(</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"ali@bank.eg"</a:t>
              </a:r>
              <a:r>
                <a:rPr lang="en-US" sz="950" b="0" dirty="0">
                  <a:solidFill>
                    <a:srgbClr val="E2E8F0"/>
                  </a:solidFill>
                  <a:latin typeface="Consolas"/>
                  <a:ea typeface="Consolas"/>
                  <a:cs typeface="Consolas"/>
                </a:rPr>
                <a:t>, 100m);</a:t>
              </a:r>
              <a:endParaRPr lang="en-US" sz="950" dirty="0"/>
            </a:p>
          </p:txBody>
        </p:sp>
        <p:sp>
          <p:nvSpPr>
            <p:cNvPr id="114" name="s_L05"/>
            <p:cNvSpPr txBox="1"/>
            <p:nvPr/>
          </p:nvSpPr>
          <p:spPr>
            <a:xfrm>
              <a:off x="771754" y="319674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_mona.Balance.ShouldBe(400m);</a:t>
              </a:r>
              <a:endParaRPr lang="en-US" sz="950" dirty="0"/>
            </a:p>
          </p:txBody>
        </p:sp>
        <p:sp>
          <p:nvSpPr>
            <p:cNvPr id="115" name="s_L06"/>
            <p:cNvSpPr txBox="1"/>
            <p:nvPr/>
          </p:nvSpPr>
          <p:spPr>
            <a:xfrm>
              <a:off x="771754" y="338978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_ali.Balance.ShouldBe(150m);</a:t>
              </a:r>
              <a:endParaRPr lang="en-US" sz="950" dirty="0"/>
            </a:p>
          </p:txBody>
        </p:sp>
        <p:sp>
          <p:nvSpPr>
            <p:cNvPr id="116" name="s_L07"/>
            <p:cNvSpPr txBox="1"/>
            <p:nvPr/>
          </p:nvSpPr>
          <p:spPr>
            <a:xfrm>
              <a:off x="771754" y="358282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18" name="s_hl5"/>
          <p:cNvSpPr/>
          <p:nvPr/>
        </p:nvSpPr>
        <p:spPr>
          <a:xfrm>
            <a:off x="676656" y="3178460"/>
            <a:ext cx="512796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19" name="s_hl6"/>
          <p:cNvSpPr/>
          <p:nvPr/>
        </p:nvSpPr>
        <p:spPr>
          <a:xfrm>
            <a:off x="676656" y="3371500"/>
            <a:ext cx="5127960" cy="22961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34" name="i"/>
          <p:cNvGrpSpPr/>
          <p:nvPr/>
        </p:nvGrpSpPr>
        <p:grpSpPr>
          <a:xfrm>
            <a:off x="6236208" y="1755648"/>
            <a:ext cx="5394960" cy="2140220"/>
            <a:chOff x="6236208" y="1755648"/>
            <a:chExt cx="5394960" cy="2140220"/>
          </a:xfrm>
        </p:grpSpPr>
        <p:sp>
          <p:nvSpPr>
            <p:cNvPr id="120" name="i_win"/>
            <p:cNvSpPr/>
            <p:nvPr/>
          </p:nvSpPr>
          <p:spPr>
            <a:xfrm>
              <a:off x="6236208" y="1755648"/>
              <a:ext cx="5394960" cy="2140220"/>
            </a:xfrm>
            <a:prstGeom prst="roundRect">
              <a:avLst>
                <a:gd name="adj" fmla="val 3203"/>
              </a:avLst>
            </a:prstGeom>
            <a:solidFill>
              <a:srgbClr val="060D18"/>
            </a:solidFill>
            <a:ln w="12700">
              <a:solidFill>
                <a:srgbClr val="1E3A5F"/>
              </a:solidFill>
              <a:prstDash val="solid"/>
            </a:ln>
          </p:spPr>
          <p:txBody>
            <a:bodyPr/>
            <a:lstStyle/>
            <a:p>
              <a:endParaRPr lang="en-US"/>
            </a:p>
          </p:txBody>
        </p:sp>
        <p:sp>
          <p:nvSpPr>
            <p:cNvPr id="121" name="i_bar"/>
            <p:cNvSpPr/>
            <p:nvPr/>
          </p:nvSpPr>
          <p:spPr>
            <a:xfrm>
              <a:off x="6236208" y="1755648"/>
              <a:ext cx="53949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i_barfill"/>
            <p:cNvSpPr/>
            <p:nvPr/>
          </p:nvSpPr>
          <p:spPr>
            <a:xfrm>
              <a:off x="6236208" y="1927098"/>
              <a:ext cx="5394960" cy="171450"/>
            </a:xfrm>
            <a:prstGeom prst="rect">
              <a:avLst/>
            </a:prstGeom>
            <a:solidFill>
              <a:srgbClr val="0A1220"/>
            </a:solidFill>
            <a:ln w="12700">
              <a:solidFill>
                <a:srgbClr val="0A1220"/>
              </a:solidFill>
              <a:prstDash val="solid"/>
            </a:ln>
          </p:spPr>
          <p:txBody>
            <a:bodyPr/>
            <a:lstStyle/>
            <a:p>
              <a:endParaRPr lang="en-US"/>
            </a:p>
          </p:txBody>
        </p:sp>
        <p:sp>
          <p:nvSpPr>
            <p:cNvPr id="123" name="i_dot0"/>
            <p:cNvSpPr/>
            <p:nvPr/>
          </p:nvSpPr>
          <p:spPr>
            <a:xfrm>
              <a:off x="6398056"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i_dot1"/>
            <p:cNvSpPr/>
            <p:nvPr/>
          </p:nvSpPr>
          <p:spPr>
            <a:xfrm>
              <a:off x="6583680"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i_dot2"/>
            <p:cNvSpPr/>
            <p:nvPr/>
          </p:nvSpPr>
          <p:spPr>
            <a:xfrm>
              <a:off x="6769304"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i_tab"/>
            <p:cNvSpPr/>
            <p:nvPr/>
          </p:nvSpPr>
          <p:spPr>
            <a:xfrm>
              <a:off x="7017105" y="18031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27" name="i_L00"/>
            <p:cNvSpPr txBox="1"/>
            <p:nvPr/>
          </p:nvSpPr>
          <p:spPr>
            <a:xfrm>
              <a:off x="6464808" y="223154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28" name="i_L01"/>
            <p:cNvSpPr txBox="1"/>
            <p:nvPr/>
          </p:nvSpPr>
          <p:spPr>
            <a:xfrm>
              <a:off x="6464808" y="242458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Transfer_EmailsTheSender()</a:t>
              </a:r>
              <a:endParaRPr lang="en-US" sz="950" dirty="0"/>
            </a:p>
          </p:txBody>
        </p:sp>
        <p:sp>
          <p:nvSpPr>
            <p:cNvPr id="129" name="i_L02"/>
            <p:cNvSpPr txBox="1"/>
            <p:nvPr/>
          </p:nvSpPr>
          <p:spPr>
            <a:xfrm>
              <a:off x="6464808" y="261762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0" name="i_L03"/>
            <p:cNvSpPr txBox="1"/>
            <p:nvPr/>
          </p:nvSpPr>
          <p:spPr>
            <a:xfrm>
              <a:off x="6464808" y="281066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_service.Transfer(</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"ali@bank.eg"</a:t>
              </a:r>
              <a:r>
                <a:rPr lang="en-US" sz="950" b="0" dirty="0">
                  <a:solidFill>
                    <a:srgbClr val="E2E8F0"/>
                  </a:solidFill>
                  <a:latin typeface="Consolas"/>
                  <a:ea typeface="Consolas"/>
                  <a:cs typeface="Consolas"/>
                </a:rPr>
                <a:t>, 100m);</a:t>
              </a:r>
              <a:endParaRPr lang="en-US" sz="950" dirty="0"/>
            </a:p>
          </p:txBody>
        </p:sp>
        <p:sp>
          <p:nvSpPr>
            <p:cNvPr id="131" name="i_L05"/>
            <p:cNvSpPr txBox="1"/>
            <p:nvPr/>
          </p:nvSpPr>
          <p:spPr>
            <a:xfrm>
              <a:off x="6464808" y="319674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_email.Received(1).Send(</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"Transfer done"</a:t>
              </a:r>
              <a:r>
                <a:rPr lang="en-US" sz="950" b="0" dirty="0">
                  <a:solidFill>
                    <a:srgbClr val="E2E8F0"/>
                  </a:solidFill>
                  <a:latin typeface="Consolas"/>
                  <a:ea typeface="Consolas"/>
                  <a:cs typeface="Consolas"/>
                </a:rPr>
                <a:t>,</a:t>
              </a:r>
              <a:endParaRPr lang="en-US" sz="950" dirty="0"/>
            </a:p>
          </p:txBody>
        </p:sp>
        <p:sp>
          <p:nvSpPr>
            <p:cNvPr id="132" name="i_L06"/>
            <p:cNvSpPr txBox="1"/>
            <p:nvPr/>
          </p:nvSpPr>
          <p:spPr>
            <a:xfrm>
              <a:off x="6464808" y="3389788"/>
              <a:ext cx="509496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Arg.Is&lt;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&gt;(body =&gt; body.Contains(</a:t>
              </a:r>
              <a:r>
                <a:rPr lang="en-US" sz="950" b="0" dirty="0">
                  <a:solidFill>
                    <a:srgbClr val="F0A98B"/>
                  </a:solidFill>
                  <a:latin typeface="Consolas"/>
                  <a:ea typeface="Consolas"/>
                  <a:cs typeface="Consolas"/>
                </a:rPr>
                <a:t>"100.00"</a:t>
              </a:r>
              <a:r>
                <a:rPr lang="en-US" sz="950" b="0" dirty="0">
                  <a:solidFill>
                    <a:srgbClr val="E2E8F0"/>
                  </a:solidFill>
                  <a:latin typeface="Consolas"/>
                  <a:ea typeface="Consolas"/>
                  <a:cs typeface="Consolas"/>
                </a:rPr>
                <a:t>)));</a:t>
              </a:r>
              <a:endParaRPr lang="en-US" sz="950" dirty="0"/>
            </a:p>
          </p:txBody>
        </p:sp>
        <p:sp>
          <p:nvSpPr>
            <p:cNvPr id="133" name="i_L07"/>
            <p:cNvSpPr txBox="1"/>
            <p:nvPr/>
          </p:nvSpPr>
          <p:spPr>
            <a:xfrm>
              <a:off x="6464808" y="358282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35" name="i_hl5"/>
          <p:cNvSpPr/>
          <p:nvPr/>
        </p:nvSpPr>
        <p:spPr>
          <a:xfrm>
            <a:off x="6369710" y="3178460"/>
            <a:ext cx="5127960" cy="229616"/>
          </a:xfrm>
          <a:prstGeom prst="rect">
            <a:avLst/>
          </a:prstGeom>
          <a:solidFill>
            <a:srgbClr val="13D0F7">
              <a:alpha val="15000"/>
            </a:srgbClr>
          </a:solidFill>
          <a:ln w="12700">
            <a:solidFill>
              <a:srgbClr val="13D0F7"/>
            </a:solidFill>
            <a:prstDash val="solid"/>
          </a:ln>
        </p:spPr>
        <p:txBody>
          <a:bodyPr/>
          <a:lstStyle/>
          <a:p>
            <a:endParaRPr lang="en-US"/>
          </a:p>
        </p:txBody>
      </p:sp>
      <p:sp>
        <p:nvSpPr>
          <p:cNvPr id="136" name="i_hl6"/>
          <p:cNvSpPr/>
          <p:nvPr/>
        </p:nvSpPr>
        <p:spPr>
          <a:xfrm>
            <a:off x="6369710" y="3371500"/>
            <a:ext cx="5127960" cy="229616"/>
          </a:xfrm>
          <a:prstGeom prst="rect">
            <a:avLst/>
          </a:prstGeom>
          <a:solidFill>
            <a:srgbClr val="13D0F7">
              <a:alpha val="15000"/>
            </a:srgbClr>
          </a:solidFill>
          <a:ln w="12700">
            <a:solidFill>
              <a:srgbClr val="13D0F7"/>
            </a:solidFill>
            <a:prstDash val="solid"/>
          </a:ln>
        </p:spPr>
        <p:txBody>
          <a:bodyPr/>
          <a:lstStyle/>
          <a:p>
            <a:endParaRPr lang="en-US"/>
          </a:p>
        </p:txBody>
      </p:sp>
      <p:sp>
        <p:nvSpPr>
          <p:cNvPr id="137" name="k1"/>
          <p:cNvSpPr/>
          <p:nvPr/>
        </p:nvSpPr>
        <p:spPr>
          <a:xfrm>
            <a:off x="543154" y="3886200"/>
            <a:ext cx="5394960" cy="100584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PREFER STATE</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Real objects, real result. Survives refactoring.</a:t>
            </a:r>
            <a:endParaRPr lang="en-US" sz="1150" dirty="0"/>
          </a:p>
        </p:txBody>
      </p:sp>
      <p:sp>
        <p:nvSpPr>
          <p:cNvPr id="138" name="k2"/>
          <p:cNvSpPr/>
          <p:nvPr/>
        </p:nvSpPr>
        <p:spPr>
          <a:xfrm>
            <a:off x="6236208" y="3886200"/>
            <a:ext cx="5394960" cy="1005840"/>
          </a:xfrm>
          <a:prstGeom prst="roundRect">
            <a:avLst>
              <a:gd name="adj" fmla="val 8132"/>
            </a:avLst>
          </a:prstGeom>
          <a:solidFill>
            <a:srgbClr val="111B2E"/>
          </a:solidFill>
          <a:ln w="12700">
            <a:solidFill>
              <a:srgbClr val="A78BFA"/>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A78BFA"/>
                </a:solidFill>
                <a:latin typeface="Segoe UI"/>
                <a:ea typeface="Segoe UI"/>
                <a:cs typeface="Segoe UI"/>
              </a:rPr>
              <a:t>INTERACTION AT THE EDGES</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Emails, logs, messages: the call IS the behaviour.</a:t>
            </a:r>
            <a:endParaRPr lang="en-US" sz="1150" dirty="0"/>
          </a:p>
        </p:txBody>
      </p:sp>
    </p:spTree>
    <p:extLst>
      <p:ext uri="{BB962C8B-B14F-4D97-AF65-F5344CB8AC3E}">
        <p14:creationId xmlns:p14="http://schemas.microsoft.com/office/powerpoint/2010/main" val="51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7"/>
                                        </p:tgtEl>
                                        <p:attrNameLst>
                                          <p:attrName>style.visibility</p:attrName>
                                        </p:attrNameLst>
                                      </p:cBhvr>
                                      <p:to>
                                        <p:strVal val="visible"/>
                                      </p:to>
                                    </p:set>
                                    <p:animEffect transition="in" filter="fade">
                                      <p:cBhvr>
                                        <p:cTn id="10" dur="400"/>
                                        <p:tgtEl>
                                          <p:spTgt spid="1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animEffect transition="in" filter="fade">
                                      <p:cBhvr>
                                        <p:cTn id="13" dur="400"/>
                                        <p:tgtEl>
                                          <p:spTgt spid="1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9"/>
                                        </p:tgtEl>
                                        <p:attrNameLst>
                                          <p:attrName>style.visibility</p:attrName>
                                        </p:attrNameLst>
                                      </p:cBhvr>
                                      <p:to>
                                        <p:strVal val="visible"/>
                                      </p:to>
                                    </p:set>
                                    <p:animEffect transition="in" filter="fade">
                                      <p:cBhvr>
                                        <p:cTn id="16" dur="400"/>
                                        <p:tgtEl>
                                          <p:spTgt spid="1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34"/>
                                        </p:tgtEl>
                                        <p:attrNameLst>
                                          <p:attrName>style.visibility</p:attrName>
                                        </p:attrNameLst>
                                      </p:cBhvr>
                                      <p:to>
                                        <p:strVal val="visible"/>
                                      </p:to>
                                    </p:set>
                                    <p:animEffect transition="in" filter="fade">
                                      <p:cBhvr>
                                        <p:cTn id="24" dur="400"/>
                                        <p:tgtEl>
                                          <p:spTgt spid="1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fade">
                                      <p:cBhvr>
                                        <p:cTn id="27" dur="400"/>
                                        <p:tgtEl>
                                          <p:spTgt spid="13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6"/>
                                        </p:tgtEl>
                                        <p:attrNameLst>
                                          <p:attrName>style.visibility</p:attrName>
                                        </p:attrNameLst>
                                      </p:cBhvr>
                                      <p:to>
                                        <p:strVal val="visible"/>
                                      </p:to>
                                    </p:set>
                                    <p:animEffect transition="in" filter="fade">
                                      <p:cBhvr>
                                        <p:cTn id="30" dur="400"/>
                                        <p:tgtEl>
                                          <p:spTgt spid="13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7"/>
                                        </p:tgtEl>
                                        <p:attrNameLst>
                                          <p:attrName>style.visibility</p:attrName>
                                        </p:attrNameLst>
                                      </p:cBhvr>
                                      <p:to>
                                        <p:strVal val="visible"/>
                                      </p:to>
                                    </p:set>
                                    <p:animEffect transition="in" filter="fade">
                                      <p:cBhvr>
                                        <p:cTn id="35" dur="400"/>
                                        <p:tgtEl>
                                          <p:spTgt spid="13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8"/>
                                        </p:tgtEl>
                                        <p:attrNameLst>
                                          <p:attrName>style.visibility</p:attrName>
                                        </p:attrNameLst>
                                      </p:cBhvr>
                                      <p:to>
                                        <p:strVal val="visible"/>
                                      </p:to>
                                    </p:set>
                                    <p:animEffect transition="in" filter="fade">
                                      <p:cBhvr>
                                        <p:cTn id="40" dur="4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18" grpId="0" animBg="1"/>
      <p:bldP spid="119" grpId="0" animBg="1"/>
      <p:bldP spid="135" grpId="0" animBg="1"/>
      <p:bldP spid="136" grpId="0" animBg="1"/>
      <p:bldP spid="137" grpId="0" animBg="1"/>
      <p:bldP spid="138"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A78BFA">
              <a:alpha val="18000"/>
            </a:srgbClr>
          </a:solidFill>
          <a:ln w="12700">
            <a:solidFill>
              <a:srgbClr val="A78B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A78BFA"/>
                </a:solidFill>
                <a:latin typeface="Segoe UI"/>
                <a:ea typeface="Segoe UI"/>
                <a:cs typeface="Segoe UI"/>
              </a:rPr>
              <a:t>OVER-MOCKING</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Do Not Mock Everything</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TEST DOUBLES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128</a:t>
            </a:r>
            <a:endParaRPr lang="en-US" sz="850" dirty="0"/>
          </a:p>
        </p:txBody>
      </p:sp>
      <p:grpSp>
        <p:nvGrpSpPr>
          <p:cNvPr id="118" name="dont"/>
          <p:cNvGrpSpPr/>
          <p:nvPr/>
        </p:nvGrpSpPr>
        <p:grpSpPr>
          <a:xfrm>
            <a:off x="543154" y="1572768"/>
            <a:ext cx="5440680" cy="3310128"/>
            <a:chOff x="543154" y="1572768"/>
            <a:chExt cx="5440680" cy="3310128"/>
          </a:xfrm>
        </p:grpSpPr>
        <p:sp>
          <p:nvSpPr>
            <p:cNvPr id="101" name="dont_win"/>
            <p:cNvSpPr/>
            <p:nvPr/>
          </p:nvSpPr>
          <p:spPr>
            <a:xfrm>
              <a:off x="54315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02" name="dont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dont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dont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dont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dont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dont_tab"/>
            <p:cNvSpPr/>
            <p:nvPr/>
          </p:nvSpPr>
          <p:spPr>
            <a:xfrm>
              <a:off x="1324051" y="162031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08" name="dont_lbl"/>
            <p:cNvSpPr/>
            <p:nvPr/>
          </p:nvSpPr>
          <p:spPr>
            <a:xfrm>
              <a:off x="465795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09" name="dont_L00"/>
            <p:cNvSpPr txBox="1"/>
            <p:nvPr/>
          </p:nvSpPr>
          <p:spPr>
            <a:xfrm>
              <a:off x="77175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_service.Transfer(</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"ali@bank.eg"</a:t>
              </a:r>
              <a:r>
                <a:rPr lang="en-US" sz="950" b="0" dirty="0">
                  <a:solidFill>
                    <a:srgbClr val="E2E8F0"/>
                  </a:solidFill>
                  <a:latin typeface="Consolas"/>
                  <a:ea typeface="Consolas"/>
                  <a:cs typeface="Consolas"/>
                </a:rPr>
                <a:t>, 100m);</a:t>
              </a:r>
              <a:endParaRPr lang="en-US" sz="950" dirty="0"/>
            </a:p>
          </p:txBody>
        </p:sp>
        <p:sp>
          <p:nvSpPr>
            <p:cNvPr id="110" name="dont_L02"/>
            <p:cNvSpPr txBox="1"/>
            <p:nvPr/>
          </p:nvSpPr>
          <p:spPr>
            <a:xfrm>
              <a:off x="77175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_logger.Received(1).Info(</a:t>
              </a:r>
              <a:endParaRPr lang="en-US" sz="950" dirty="0"/>
            </a:p>
          </p:txBody>
        </p:sp>
        <p:sp>
          <p:nvSpPr>
            <p:cNvPr id="111" name="dont_L03"/>
            <p:cNvSpPr txBox="1"/>
            <p:nvPr/>
          </p:nvSpPr>
          <p:spPr>
            <a:xfrm>
              <a:off x="771754" y="26277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F0A98B"/>
                  </a:solidFill>
                  <a:latin typeface="Consolas"/>
                  <a:ea typeface="Consolas"/>
                  <a:cs typeface="Consolas"/>
                </a:rPr>
                <a:t>"Transferred 100 from mona@bank.eg to ali@bank.eg"</a:t>
              </a:r>
              <a:r>
                <a:rPr lang="en-US" sz="950" b="0" dirty="0">
                  <a:solidFill>
                    <a:srgbClr val="E2E8F0"/>
                  </a:solidFill>
                  <a:latin typeface="Consolas"/>
                  <a:ea typeface="Consolas"/>
                  <a:cs typeface="Consolas"/>
                </a:rPr>
                <a:t>);</a:t>
              </a:r>
              <a:endParaRPr lang="en-US" sz="950" dirty="0"/>
            </a:p>
          </p:txBody>
        </p:sp>
        <p:sp>
          <p:nvSpPr>
            <p:cNvPr id="112" name="dont_L04"/>
            <p:cNvSpPr txBox="1"/>
            <p:nvPr/>
          </p:nvSpPr>
          <p:spPr>
            <a:xfrm>
              <a:off x="771754" y="28208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_accounts.Received(1).Find(</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a:t>
              </a:r>
              <a:endParaRPr lang="en-US" sz="950" dirty="0"/>
            </a:p>
          </p:txBody>
        </p:sp>
        <p:sp>
          <p:nvSpPr>
            <p:cNvPr id="113" name="dont_L05"/>
            <p:cNvSpPr txBox="1"/>
            <p:nvPr/>
          </p:nvSpPr>
          <p:spPr>
            <a:xfrm>
              <a:off x="771754" y="30138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_accounts.Received(1).Find(</a:t>
              </a:r>
              <a:r>
                <a:rPr lang="en-US" sz="950" b="0" dirty="0">
                  <a:solidFill>
                    <a:srgbClr val="F0A98B"/>
                  </a:solidFill>
                  <a:latin typeface="Consolas"/>
                  <a:ea typeface="Consolas"/>
                  <a:cs typeface="Consolas"/>
                </a:rPr>
                <a:t>"ali@bank.eg"</a:t>
              </a:r>
              <a:r>
                <a:rPr lang="en-US" sz="950" b="0" dirty="0">
                  <a:solidFill>
                    <a:srgbClr val="E2E8F0"/>
                  </a:solidFill>
                  <a:latin typeface="Consolas"/>
                  <a:ea typeface="Consolas"/>
                  <a:cs typeface="Consolas"/>
                </a:rPr>
                <a:t>);</a:t>
              </a:r>
              <a:endParaRPr lang="en-US" sz="950" dirty="0"/>
            </a:p>
          </p:txBody>
        </p:sp>
        <p:sp>
          <p:nvSpPr>
            <p:cNvPr id="114" name="dont_L06"/>
            <p:cNvSpPr txBox="1"/>
            <p:nvPr/>
          </p:nvSpPr>
          <p:spPr>
            <a:xfrm>
              <a:off x="771754" y="32069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_accounts.Received(2).Save(Arg.Any&lt;BankAccount&gt;());</a:t>
              </a:r>
              <a:endParaRPr lang="en-US" sz="950" dirty="0"/>
            </a:p>
          </p:txBody>
        </p:sp>
        <p:sp>
          <p:nvSpPr>
            <p:cNvPr id="115" name="dont_L07"/>
            <p:cNvSpPr txBox="1"/>
            <p:nvPr/>
          </p:nvSpPr>
          <p:spPr>
            <a:xfrm>
              <a:off x="771754" y="33999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_logger.DidNotReceive().Error(Arg.Any&lt;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a:t>
              </a:r>
              <a:endParaRPr lang="en-US" sz="950" dirty="0"/>
            </a:p>
          </p:txBody>
        </p:sp>
        <p:sp>
          <p:nvSpPr>
            <p:cNvPr id="116" name="dont_L08"/>
            <p:cNvSpPr txBox="1"/>
            <p:nvPr/>
          </p:nvSpPr>
          <p:spPr>
            <a:xfrm>
              <a:off x="771754" y="3592988"/>
              <a:ext cx="5140680" cy="193040"/>
            </a:xfrm>
            <a:prstGeom prst="rect">
              <a:avLst/>
            </a:prstGeom>
            <a:noFill/>
            <a:ln>
              <a:noFill/>
            </a:ln>
          </p:spPr>
          <p:txBody>
            <a:bodyPr wrap="none" lIns="0" tIns="0" rIns="0" bIns="0" rtlCol="0" anchor="ctr">
              <a:noAutofit/>
            </a:bodyPr>
            <a:lstStyle/>
            <a:p>
              <a:pPr marL="1858010" indent="0" algn="l">
                <a:spcBef>
                  <a:spcPts val="0"/>
                </a:spcBef>
                <a:spcAft>
                  <a:spcPts val="0"/>
                </a:spcAft>
                <a:buNone/>
              </a:pPr>
              <a:r>
                <a:rPr lang="en-US" sz="950" b="0" dirty="0">
                  <a:solidFill>
                    <a:srgbClr val="E2E8F0"/>
                  </a:solidFill>
                  <a:latin typeface="Consolas"/>
                  <a:ea typeface="Consolas"/>
                  <a:cs typeface="Consolas"/>
                </a:rPr>
                <a:t>  Arg.Any&lt;Exception&gt;());</a:t>
              </a:r>
              <a:endParaRPr lang="en-US" sz="950" dirty="0"/>
            </a:p>
          </p:txBody>
        </p:sp>
        <p:sp>
          <p:nvSpPr>
            <p:cNvPr id="117" name="dont_L10"/>
            <p:cNvSpPr txBox="1"/>
            <p:nvPr/>
          </p:nvSpPr>
          <p:spPr>
            <a:xfrm>
              <a:off x="771754" y="39790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reword a log message → red test, zero bugs</a:t>
              </a:r>
              <a:endParaRPr lang="en-US" sz="950" dirty="0"/>
            </a:p>
          </p:txBody>
        </p:sp>
      </p:grpSp>
      <p:sp>
        <p:nvSpPr>
          <p:cNvPr id="119" name="dont_hl2"/>
          <p:cNvSpPr/>
          <p:nvPr/>
        </p:nvSpPr>
        <p:spPr>
          <a:xfrm>
            <a:off x="676656" y="241646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0" name="dont_hl3"/>
          <p:cNvSpPr/>
          <p:nvPr/>
        </p:nvSpPr>
        <p:spPr>
          <a:xfrm>
            <a:off x="676656" y="260950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1" name="dont_hl4"/>
          <p:cNvSpPr/>
          <p:nvPr/>
        </p:nvSpPr>
        <p:spPr>
          <a:xfrm>
            <a:off x="676656" y="280254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2" name="dont_hl5"/>
          <p:cNvSpPr/>
          <p:nvPr/>
        </p:nvSpPr>
        <p:spPr>
          <a:xfrm>
            <a:off x="676656" y="299558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3" name="dont_hl6"/>
          <p:cNvSpPr/>
          <p:nvPr/>
        </p:nvSpPr>
        <p:spPr>
          <a:xfrm>
            <a:off x="676656" y="318862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4" name="dont_hl7"/>
          <p:cNvSpPr/>
          <p:nvPr/>
        </p:nvSpPr>
        <p:spPr>
          <a:xfrm>
            <a:off x="676656" y="338166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5" name="dont_hl8"/>
          <p:cNvSpPr/>
          <p:nvPr/>
        </p:nvSpPr>
        <p:spPr>
          <a:xfrm>
            <a:off x="676656" y="357470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43" name="do"/>
          <p:cNvGrpSpPr/>
          <p:nvPr/>
        </p:nvGrpSpPr>
        <p:grpSpPr>
          <a:xfrm>
            <a:off x="6189574" y="1572768"/>
            <a:ext cx="5440680" cy="3310128"/>
            <a:chOff x="6189574" y="1572768"/>
            <a:chExt cx="5440680" cy="3310128"/>
          </a:xfrm>
        </p:grpSpPr>
        <p:sp>
          <p:nvSpPr>
            <p:cNvPr id="126" name="do_win"/>
            <p:cNvSpPr/>
            <p:nvPr/>
          </p:nvSpPr>
          <p:spPr>
            <a:xfrm>
              <a:off x="6189574" y="1572768"/>
              <a:ext cx="5440680" cy="3310128"/>
            </a:xfrm>
            <a:prstGeom prst="roundRect">
              <a:avLst>
                <a:gd name="adj" fmla="val 2071"/>
              </a:avLst>
            </a:prstGeom>
            <a:solidFill>
              <a:srgbClr val="060D18"/>
            </a:solidFill>
            <a:ln w="12700">
              <a:solidFill>
                <a:srgbClr val="1E3A5F"/>
              </a:solidFill>
              <a:prstDash val="solid"/>
            </a:ln>
          </p:spPr>
          <p:txBody>
            <a:bodyPr/>
            <a:lstStyle/>
            <a:p>
              <a:endParaRPr lang="en-US"/>
            </a:p>
          </p:txBody>
        </p:sp>
        <p:sp>
          <p:nvSpPr>
            <p:cNvPr id="127" name="do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8" name="do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9" name="do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30" name="do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31" name="do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32" name="do_tab"/>
            <p:cNvSpPr/>
            <p:nvPr/>
          </p:nvSpPr>
          <p:spPr>
            <a:xfrm>
              <a:off x="6970471" y="162031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33" name="do_lbl"/>
            <p:cNvSpPr/>
            <p:nvPr/>
          </p:nvSpPr>
          <p:spPr>
            <a:xfrm>
              <a:off x="10304374" y="1636776"/>
              <a:ext cx="1188720" cy="237744"/>
            </a:xfrm>
            <a:prstGeom prst="roundRect">
              <a:avLst>
                <a:gd name="adj" fmla="val 30000"/>
              </a:avLst>
            </a:prstGeom>
            <a:solidFill>
              <a:srgbClr val="34D399">
                <a:alpha val="18000"/>
              </a:srgbClr>
            </a:solidFill>
            <a:ln w="12700">
              <a:solidFill>
                <a:srgbClr val="34D399"/>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34D399"/>
                  </a:solidFill>
                  <a:latin typeface="Segoe UI"/>
                  <a:ea typeface="Segoe UI"/>
                  <a:cs typeface="Segoe UI"/>
                </a:rPr>
                <a:t>✓  DO</a:t>
              </a:r>
              <a:endParaRPr lang="en-US" sz="900" dirty="0"/>
            </a:p>
          </p:txBody>
        </p:sp>
        <p:sp>
          <p:nvSpPr>
            <p:cNvPr id="134" name="do_L00"/>
            <p:cNvSpPr txBox="1"/>
            <p:nvPr/>
          </p:nvSpPr>
          <p:spPr>
            <a:xfrm>
              <a:off x="641817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_service.Transfer(</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"ali@bank.eg"</a:t>
              </a:r>
              <a:r>
                <a:rPr lang="en-US" sz="950" b="0" dirty="0">
                  <a:solidFill>
                    <a:srgbClr val="E2E8F0"/>
                  </a:solidFill>
                  <a:latin typeface="Consolas"/>
                  <a:ea typeface="Consolas"/>
                  <a:cs typeface="Consolas"/>
                </a:rPr>
                <a:t>, 100m);</a:t>
              </a:r>
              <a:endParaRPr lang="en-US" sz="950" dirty="0"/>
            </a:p>
          </p:txBody>
        </p:sp>
        <p:sp>
          <p:nvSpPr>
            <p:cNvPr id="135" name="do_L02"/>
            <p:cNvSpPr txBox="1"/>
            <p:nvPr/>
          </p:nvSpPr>
          <p:spPr>
            <a:xfrm>
              <a:off x="641817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what the customer cares about</a:t>
              </a:r>
              <a:endParaRPr lang="en-US" sz="950" dirty="0"/>
            </a:p>
          </p:txBody>
        </p:sp>
        <p:sp>
          <p:nvSpPr>
            <p:cNvPr id="136" name="do_L03"/>
            <p:cNvSpPr txBox="1"/>
            <p:nvPr/>
          </p:nvSpPr>
          <p:spPr>
            <a:xfrm>
              <a:off x="6418174" y="26277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_mona.Balance.ShouldBe(400m);</a:t>
              </a:r>
              <a:endParaRPr lang="en-US" sz="950" dirty="0"/>
            </a:p>
          </p:txBody>
        </p:sp>
        <p:sp>
          <p:nvSpPr>
            <p:cNvPr id="137" name="do_L04"/>
            <p:cNvSpPr txBox="1"/>
            <p:nvPr/>
          </p:nvSpPr>
          <p:spPr>
            <a:xfrm>
              <a:off x="6418174" y="28208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_ali.Balance.ShouldBe(150m);</a:t>
              </a:r>
              <a:endParaRPr lang="en-US" sz="950" dirty="0"/>
            </a:p>
          </p:txBody>
        </p:sp>
        <p:sp>
          <p:nvSpPr>
            <p:cNvPr id="138" name="do_L05"/>
            <p:cNvSpPr txBox="1"/>
            <p:nvPr/>
          </p:nvSpPr>
          <p:spPr>
            <a:xfrm>
              <a:off x="6418174" y="30138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_email.Received(1).Send(</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"Transfer done"</a:t>
              </a:r>
              <a:r>
                <a:rPr lang="en-US" sz="950" b="0" dirty="0">
                  <a:solidFill>
                    <a:srgbClr val="E2E8F0"/>
                  </a:solidFill>
                  <a:latin typeface="Consolas"/>
                  <a:ea typeface="Consolas"/>
                  <a:cs typeface="Consolas"/>
                </a:rPr>
                <a:t>,</a:t>
              </a:r>
              <a:endParaRPr lang="en-US" sz="950" dirty="0"/>
            </a:p>
          </p:txBody>
        </p:sp>
        <p:sp>
          <p:nvSpPr>
            <p:cNvPr id="139" name="do_L06"/>
            <p:cNvSpPr txBox="1"/>
            <p:nvPr/>
          </p:nvSpPr>
          <p:spPr>
            <a:xfrm>
              <a:off x="6418174" y="32069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Arg.Any&lt;</a:t>
              </a:r>
              <a:r>
                <a:rPr lang="en-US" sz="950" b="0" dirty="0">
                  <a:solidFill>
                    <a:srgbClr val="60A5FA"/>
                  </a:solidFill>
                  <a:latin typeface="Consolas"/>
                  <a:ea typeface="Consolas"/>
                  <a:cs typeface="Consolas"/>
                </a:rPr>
                <a:t>string</a:t>
              </a:r>
              <a:r>
                <a:rPr lang="en-US" sz="950" b="0" dirty="0">
                  <a:solidFill>
                    <a:srgbClr val="E2E8F0"/>
                  </a:solidFill>
                  <a:latin typeface="Consolas"/>
                  <a:ea typeface="Consolas"/>
                  <a:cs typeface="Consolas"/>
                </a:rPr>
                <a:t>&gt;());</a:t>
              </a:r>
              <a:endParaRPr lang="en-US" sz="950" dirty="0"/>
            </a:p>
          </p:txBody>
        </p:sp>
        <p:sp>
          <p:nvSpPr>
            <p:cNvPr id="140" name="do_L08"/>
            <p:cNvSpPr txBox="1"/>
            <p:nvPr/>
          </p:nvSpPr>
          <p:spPr>
            <a:xfrm>
              <a:off x="6418174" y="35929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real objects for real logic: BankAccount</a:t>
              </a:r>
              <a:endParaRPr lang="en-US" sz="950" dirty="0"/>
            </a:p>
          </p:txBody>
        </p:sp>
        <p:sp>
          <p:nvSpPr>
            <p:cNvPr id="141" name="do_L09"/>
            <p:cNvSpPr txBox="1"/>
            <p:nvPr/>
          </p:nvSpPr>
          <p:spPr>
            <a:xfrm>
              <a:off x="6418174" y="37860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doubles only at the edges:</a:t>
              </a:r>
              <a:endParaRPr lang="en-US" sz="950" dirty="0"/>
            </a:p>
          </p:txBody>
        </p:sp>
        <p:sp>
          <p:nvSpPr>
            <p:cNvPr id="142" name="do_L10"/>
            <p:cNvSpPr txBox="1"/>
            <p:nvPr/>
          </p:nvSpPr>
          <p:spPr>
            <a:xfrm>
              <a:off x="6418174" y="39790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FAE7A"/>
                  </a:solidFill>
                  <a:latin typeface="Consolas"/>
                  <a:ea typeface="Consolas"/>
                  <a:cs typeface="Consolas"/>
                </a:rPr>
                <a:t>//   database, email, logs, clock, network</a:t>
              </a:r>
              <a:endParaRPr lang="en-US" sz="950" dirty="0"/>
            </a:p>
          </p:txBody>
        </p:sp>
      </p:grpSp>
      <p:sp>
        <p:nvSpPr>
          <p:cNvPr id="144" name="do_hl3"/>
          <p:cNvSpPr/>
          <p:nvPr/>
        </p:nvSpPr>
        <p:spPr>
          <a:xfrm>
            <a:off x="6323076" y="260950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5" name="do_hl4"/>
          <p:cNvSpPr/>
          <p:nvPr/>
        </p:nvSpPr>
        <p:spPr>
          <a:xfrm>
            <a:off x="6323076" y="280254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6" name="do_hl5"/>
          <p:cNvSpPr/>
          <p:nvPr/>
        </p:nvSpPr>
        <p:spPr>
          <a:xfrm>
            <a:off x="6323076" y="299558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7" name="do_hl6"/>
          <p:cNvSpPr/>
          <p:nvPr/>
        </p:nvSpPr>
        <p:spPr>
          <a:xfrm>
            <a:off x="6323076" y="318862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cxnSp>
        <p:nvCxnSpPr>
          <p:cNvPr id="148" name="arrow"/>
          <p:cNvCxnSpPr/>
          <p:nvPr/>
        </p:nvCxnSpPr>
        <p:spPr>
          <a:xfrm>
            <a:off x="6011266" y="3227832"/>
            <a:ext cx="150876" cy="0"/>
          </a:xfrm>
          <a:prstGeom prst="line">
            <a:avLst/>
          </a:prstGeom>
          <a:ln w="28575">
            <a:solidFill>
              <a:srgbClr val="13D0F7"/>
            </a:solidFill>
            <a:tailEnd type="triangle" w="med" len="med"/>
          </a:ln>
        </p:spPr>
      </p:cxnSp>
      <p:sp>
        <p:nvSpPr>
          <p:cNvPr id="149" name="why"/>
          <p:cNvSpPr/>
          <p:nvPr/>
        </p:nvSpPr>
        <p:spPr>
          <a:xfrm>
            <a:off x="543154" y="5020056"/>
            <a:ext cx="5440680" cy="1033272"/>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WHY IT FAILS</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It checks how the code works, not what it achieves: exact log text, every call. It turns red on harmless changes and nobody trusts it.</a:t>
            </a:r>
            <a:endParaRPr lang="en-US" sz="1200" dirty="0"/>
          </a:p>
        </p:txBody>
      </p:sp>
      <p:sp>
        <p:nvSpPr>
          <p:cNvPr id="150" name="when"/>
          <p:cNvSpPr/>
          <p:nvPr/>
        </p:nvSpPr>
        <p:spPr>
          <a:xfrm>
            <a:off x="6189574" y="5020056"/>
            <a:ext cx="5440680" cy="1033272"/>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USE IT WHEN</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Verify only the outcome that matters. Use real domain objects; double only the edges you cannot run in a test.</a:t>
            </a:r>
            <a:endParaRPr lang="en-US" sz="1200" dirty="0"/>
          </a:p>
        </p:txBody>
      </p:sp>
    </p:spTree>
    <p:extLst>
      <p:ext uri="{BB962C8B-B14F-4D97-AF65-F5344CB8AC3E}">
        <p14:creationId xmlns:p14="http://schemas.microsoft.com/office/powerpoint/2010/main" val="511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4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400"/>
                                        <p:tgtEl>
                                          <p:spTgt spid="1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2"/>
                                        </p:tgtEl>
                                        <p:attrNameLst>
                                          <p:attrName>style.visibility</p:attrName>
                                        </p:attrNameLst>
                                      </p:cBhvr>
                                      <p:to>
                                        <p:strVal val="visible"/>
                                      </p:to>
                                    </p:set>
                                    <p:animEffect transition="in" filter="fade">
                                      <p:cBhvr>
                                        <p:cTn id="19" dur="400"/>
                                        <p:tgtEl>
                                          <p:spTgt spid="1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3"/>
                                        </p:tgtEl>
                                        <p:attrNameLst>
                                          <p:attrName>style.visibility</p:attrName>
                                        </p:attrNameLst>
                                      </p:cBhvr>
                                      <p:to>
                                        <p:strVal val="visible"/>
                                      </p:to>
                                    </p:set>
                                    <p:animEffect transition="in" filter="fade">
                                      <p:cBhvr>
                                        <p:cTn id="22" dur="400"/>
                                        <p:tgtEl>
                                          <p:spTgt spid="1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4"/>
                                        </p:tgtEl>
                                        <p:attrNameLst>
                                          <p:attrName>style.visibility</p:attrName>
                                        </p:attrNameLst>
                                      </p:cBhvr>
                                      <p:to>
                                        <p:strVal val="visible"/>
                                      </p:to>
                                    </p:set>
                                    <p:animEffect transition="in" filter="fade">
                                      <p:cBhvr>
                                        <p:cTn id="25" dur="400"/>
                                        <p:tgtEl>
                                          <p:spTgt spid="1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5"/>
                                        </p:tgtEl>
                                        <p:attrNameLst>
                                          <p:attrName>style.visibility</p:attrName>
                                        </p:attrNameLst>
                                      </p:cBhvr>
                                      <p:to>
                                        <p:strVal val="visible"/>
                                      </p:to>
                                    </p:set>
                                    <p:animEffect transition="in" filter="fade">
                                      <p:cBhvr>
                                        <p:cTn id="28" dur="400"/>
                                        <p:tgtEl>
                                          <p:spTgt spid="1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9"/>
                                        </p:tgtEl>
                                        <p:attrNameLst>
                                          <p:attrName>style.visibility</p:attrName>
                                        </p:attrNameLst>
                                      </p:cBhvr>
                                      <p:to>
                                        <p:strVal val="visible"/>
                                      </p:to>
                                    </p:set>
                                    <p:animEffect transition="in" filter="fade">
                                      <p:cBhvr>
                                        <p:cTn id="33" dur="400"/>
                                        <p:tgtEl>
                                          <p:spTgt spid="14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8"/>
                                        </p:tgtEl>
                                        <p:attrNameLst>
                                          <p:attrName>style.visibility</p:attrName>
                                        </p:attrNameLst>
                                      </p:cBhvr>
                                      <p:to>
                                        <p:strVal val="visible"/>
                                      </p:to>
                                    </p:set>
                                    <p:animEffect transition="in" filter="fade">
                                      <p:cBhvr>
                                        <p:cTn id="38" dur="400"/>
                                        <p:tgtEl>
                                          <p:spTgt spid="148"/>
                                        </p:tgtEl>
                                      </p:cBhvr>
                                    </p:animEffect>
                                  </p:childTnLst>
                                </p:cTn>
                              </p:par>
                              <p:par>
                                <p:cTn id="39" presetID="10" presetClass="entr" presetSubtype="0" fill="hold" nodeType="withEffect">
                                  <p:stCondLst>
                                    <p:cond delay="0"/>
                                  </p:stCondLst>
                                  <p:childTnLst>
                                    <p:set>
                                      <p:cBhvr>
                                        <p:cTn id="40" dur="1" fill="hold">
                                          <p:stCondLst>
                                            <p:cond delay="0"/>
                                          </p:stCondLst>
                                        </p:cTn>
                                        <p:tgtEl>
                                          <p:spTgt spid="143"/>
                                        </p:tgtEl>
                                        <p:attrNameLst>
                                          <p:attrName>style.visibility</p:attrName>
                                        </p:attrNameLst>
                                      </p:cBhvr>
                                      <p:to>
                                        <p:strVal val="visible"/>
                                      </p:to>
                                    </p:set>
                                    <p:animEffect transition="in" filter="fade">
                                      <p:cBhvr>
                                        <p:cTn id="41" dur="400"/>
                                        <p:tgtEl>
                                          <p:spTgt spid="1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4"/>
                                        </p:tgtEl>
                                        <p:attrNameLst>
                                          <p:attrName>style.visibility</p:attrName>
                                        </p:attrNameLst>
                                      </p:cBhvr>
                                      <p:to>
                                        <p:strVal val="visible"/>
                                      </p:to>
                                    </p:set>
                                    <p:animEffect transition="in" filter="fade">
                                      <p:cBhvr>
                                        <p:cTn id="44" dur="400"/>
                                        <p:tgtEl>
                                          <p:spTgt spid="14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5"/>
                                        </p:tgtEl>
                                        <p:attrNameLst>
                                          <p:attrName>style.visibility</p:attrName>
                                        </p:attrNameLst>
                                      </p:cBhvr>
                                      <p:to>
                                        <p:strVal val="visible"/>
                                      </p:to>
                                    </p:set>
                                    <p:animEffect transition="in" filter="fade">
                                      <p:cBhvr>
                                        <p:cTn id="47" dur="400"/>
                                        <p:tgtEl>
                                          <p:spTgt spid="14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6"/>
                                        </p:tgtEl>
                                        <p:attrNameLst>
                                          <p:attrName>style.visibility</p:attrName>
                                        </p:attrNameLst>
                                      </p:cBhvr>
                                      <p:to>
                                        <p:strVal val="visible"/>
                                      </p:to>
                                    </p:set>
                                    <p:animEffect transition="in" filter="fade">
                                      <p:cBhvr>
                                        <p:cTn id="50" dur="400"/>
                                        <p:tgtEl>
                                          <p:spTgt spid="14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47"/>
                                        </p:tgtEl>
                                        <p:attrNameLst>
                                          <p:attrName>style.visibility</p:attrName>
                                        </p:attrNameLst>
                                      </p:cBhvr>
                                      <p:to>
                                        <p:strVal val="visible"/>
                                      </p:to>
                                    </p:set>
                                    <p:animEffect transition="in" filter="fade">
                                      <p:cBhvr>
                                        <p:cTn id="53" dur="400"/>
                                        <p:tgtEl>
                                          <p:spTgt spid="1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50"/>
                                        </p:tgtEl>
                                        <p:attrNameLst>
                                          <p:attrName>style.visibility</p:attrName>
                                        </p:attrNameLst>
                                      </p:cBhvr>
                                      <p:to>
                                        <p:strVal val="visible"/>
                                      </p:to>
                                    </p:set>
                                    <p:animEffect transition="in" filter="fade">
                                      <p:cBhvr>
                                        <p:cTn id="58" dur="4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0" grpId="0" animBg="1"/>
      <p:bldP spid="121" grpId="0" animBg="1"/>
      <p:bldP spid="122" grpId="0" animBg="1"/>
      <p:bldP spid="123" grpId="0" animBg="1"/>
      <p:bldP spid="124" grpId="0" animBg="1"/>
      <p:bldP spid="125" grpId="0" animBg="1"/>
      <p:bldP spid="144" grpId="0" animBg="1"/>
      <p:bldP spid="145" grpId="0" animBg="1"/>
      <p:bldP spid="146" grpId="0" animBg="1"/>
      <p:bldP spid="147" grpId="0" animBg="1"/>
      <p:bldP spid="149" grpId="0" animBg="1"/>
      <p:bldP spid="15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72400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MOCKING LIBRARIES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NSubstitute vs Moq vs FakeItEasy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LIBRARIES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129</a:t>
            </a:r>
            <a:endParaRPr lang="en-US" sz="850" dirty="0"/>
          </a:p>
        </p:txBody>
      </p:sp>
      <p:sp>
        <p:nvSpPr>
          <p:cNvPr id="101" name="h0"/>
          <p:cNvSpPr txBox="1"/>
          <p:nvPr/>
        </p:nvSpPr>
        <p:spPr>
          <a:xfrm>
            <a:off x="543154" y="1463040"/>
            <a:ext cx="3589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NSubstitute</a:t>
            </a:r>
            <a:endParaRPr lang="en-US" sz="1200" dirty="0"/>
          </a:p>
        </p:txBody>
      </p:sp>
      <p:grpSp>
        <p:nvGrpSpPr>
          <p:cNvPr id="115" name="c0"/>
          <p:cNvGrpSpPr/>
          <p:nvPr/>
        </p:nvGrpSpPr>
        <p:grpSpPr>
          <a:xfrm>
            <a:off x="543154" y="1755648"/>
            <a:ext cx="3589020" cy="2103120"/>
            <a:chOff x="543154" y="1755648"/>
            <a:chExt cx="3589020" cy="2103120"/>
          </a:xfrm>
        </p:grpSpPr>
        <p:sp>
          <p:nvSpPr>
            <p:cNvPr id="102" name="c0_win"/>
            <p:cNvSpPr/>
            <p:nvPr/>
          </p:nvSpPr>
          <p:spPr>
            <a:xfrm>
              <a:off x="543154" y="1755648"/>
              <a:ext cx="3589020" cy="2103120"/>
            </a:xfrm>
            <a:prstGeom prst="roundRect">
              <a:avLst>
                <a:gd name="adj" fmla="val 3259"/>
              </a:avLst>
            </a:prstGeom>
            <a:solidFill>
              <a:srgbClr val="060D18"/>
            </a:solidFill>
            <a:ln w="12700">
              <a:solidFill>
                <a:srgbClr val="1E3A5F"/>
              </a:solidFill>
              <a:prstDash val="solid"/>
            </a:ln>
          </p:spPr>
          <p:txBody>
            <a:bodyPr/>
            <a:lstStyle/>
            <a:p>
              <a:endParaRPr lang="en-US"/>
            </a:p>
          </p:txBody>
        </p:sp>
        <p:sp>
          <p:nvSpPr>
            <p:cNvPr id="103" name="c0_bar"/>
            <p:cNvSpPr/>
            <p:nvPr/>
          </p:nvSpPr>
          <p:spPr>
            <a:xfrm>
              <a:off x="543154" y="1755648"/>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c0_barfill"/>
            <p:cNvSpPr/>
            <p:nvPr/>
          </p:nvSpPr>
          <p:spPr>
            <a:xfrm>
              <a:off x="543154" y="1927098"/>
              <a:ext cx="3589020" cy="171450"/>
            </a:xfrm>
            <a:prstGeom prst="rect">
              <a:avLst/>
            </a:prstGeom>
            <a:solidFill>
              <a:srgbClr val="0A1220"/>
            </a:solidFill>
            <a:ln w="12700">
              <a:solidFill>
                <a:srgbClr val="0A1220"/>
              </a:solidFill>
              <a:prstDash val="solid"/>
            </a:ln>
          </p:spPr>
          <p:txBody>
            <a:bodyPr/>
            <a:lstStyle/>
            <a:p>
              <a:endParaRPr lang="en-US"/>
            </a:p>
          </p:txBody>
        </p:sp>
        <p:sp>
          <p:nvSpPr>
            <p:cNvPr id="105" name="c0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c0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c0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c0_tab"/>
            <p:cNvSpPr/>
            <p:nvPr/>
          </p:nvSpPr>
          <p:spPr>
            <a:xfrm>
              <a:off x="1324051" y="18031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09" name="c0_L00"/>
            <p:cNvSpPr txBox="1"/>
            <p:nvPr/>
          </p:nvSpPr>
          <p:spPr>
            <a:xfrm>
              <a:off x="771754" y="223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email = Substitute.For&lt;IEmailSender&gt;();</a:t>
              </a:r>
              <a:endParaRPr lang="en-US" sz="760" dirty="0"/>
            </a:p>
          </p:txBody>
        </p:sp>
        <p:sp>
          <p:nvSpPr>
            <p:cNvPr id="110" name="c0_L01"/>
            <p:cNvSpPr txBox="1"/>
            <p:nvPr/>
          </p:nvSpPr>
          <p:spPr>
            <a:xfrm>
              <a:off x="771754" y="2396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service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TransferService(accounts,</a:t>
              </a:r>
              <a:endParaRPr lang="en-US" sz="760" dirty="0"/>
            </a:p>
          </p:txBody>
        </p:sp>
        <p:sp>
          <p:nvSpPr>
            <p:cNvPr id="111" name="c0_L02"/>
            <p:cNvSpPr txBox="1"/>
            <p:nvPr/>
          </p:nvSpPr>
          <p:spPr>
            <a:xfrm>
              <a:off x="771754" y="2561548"/>
              <a:ext cx="32890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email, Substitute.For&lt;ILogger&gt;());</a:t>
              </a:r>
              <a:endParaRPr lang="en-US" sz="760" dirty="0"/>
            </a:p>
          </p:txBody>
        </p:sp>
        <p:sp>
          <p:nvSpPr>
            <p:cNvPr id="112" name="c0_L04"/>
            <p:cNvSpPr txBox="1"/>
            <p:nvPr/>
          </p:nvSpPr>
          <p:spPr>
            <a:xfrm>
              <a:off x="771754" y="289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service.Transfer(mona, ali, 100m);</a:t>
              </a:r>
              <a:endParaRPr lang="en-US" sz="760" dirty="0"/>
            </a:p>
          </p:txBody>
        </p:sp>
        <p:sp>
          <p:nvSpPr>
            <p:cNvPr id="113" name="c0_L06"/>
            <p:cNvSpPr txBox="1"/>
            <p:nvPr/>
          </p:nvSpPr>
          <p:spPr>
            <a:xfrm>
              <a:off x="771754" y="322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email.Received(1).Send(mona,</a:t>
              </a:r>
              <a:endParaRPr lang="en-US" sz="760" dirty="0"/>
            </a:p>
          </p:txBody>
        </p:sp>
        <p:sp>
          <p:nvSpPr>
            <p:cNvPr id="114" name="c0_L07"/>
            <p:cNvSpPr txBox="1"/>
            <p:nvPr/>
          </p:nvSpPr>
          <p:spPr>
            <a:xfrm>
              <a:off x="771754" y="3386548"/>
              <a:ext cx="32890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F0A98B"/>
                  </a:solidFill>
                  <a:latin typeface="Consolas"/>
                  <a:ea typeface="Consolas"/>
                  <a:cs typeface="Consolas"/>
                </a:rPr>
                <a:t>"Transfer done"</a:t>
              </a:r>
              <a:r>
                <a:rPr lang="en-US" sz="760" b="0" dirty="0">
                  <a:solidFill>
                    <a:srgbClr val="E2E8F0"/>
                  </a:solidFill>
                  <a:latin typeface="Consolas"/>
                  <a:ea typeface="Consolas"/>
                  <a:cs typeface="Consolas"/>
                </a:rPr>
                <a:t>, Arg.Any&lt;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&gt;());</a:t>
              </a:r>
              <a:endParaRPr lang="en-US" sz="760" dirty="0"/>
            </a:p>
          </p:txBody>
        </p:sp>
      </p:grpSp>
      <p:sp>
        <p:nvSpPr>
          <p:cNvPr id="116" name="c0_hl6"/>
          <p:cNvSpPr/>
          <p:nvPr/>
        </p:nvSpPr>
        <p:spPr>
          <a:xfrm>
            <a:off x="676656" y="3203260"/>
            <a:ext cx="332202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7" name="c0_hl7"/>
          <p:cNvSpPr/>
          <p:nvPr/>
        </p:nvSpPr>
        <p:spPr>
          <a:xfrm>
            <a:off x="676656" y="3368260"/>
            <a:ext cx="332202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18" name="h1"/>
          <p:cNvSpPr txBox="1"/>
          <p:nvPr/>
        </p:nvSpPr>
        <p:spPr>
          <a:xfrm>
            <a:off x="4292194" y="1463040"/>
            <a:ext cx="3589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FBBF24"/>
                </a:solidFill>
                <a:latin typeface="Segoe UI"/>
                <a:ea typeface="Segoe UI"/>
                <a:cs typeface="Segoe UI"/>
              </a:rPr>
              <a:t>Moq</a:t>
            </a:r>
            <a:endParaRPr lang="en-US" sz="1200" dirty="0"/>
          </a:p>
        </p:txBody>
      </p:sp>
      <p:grpSp>
        <p:nvGrpSpPr>
          <p:cNvPr id="132" name="c1"/>
          <p:cNvGrpSpPr/>
          <p:nvPr/>
        </p:nvGrpSpPr>
        <p:grpSpPr>
          <a:xfrm>
            <a:off x="4292194" y="1755648"/>
            <a:ext cx="3589020" cy="2103120"/>
            <a:chOff x="4292194" y="1755648"/>
            <a:chExt cx="3589020" cy="2103120"/>
          </a:xfrm>
        </p:grpSpPr>
        <p:sp>
          <p:nvSpPr>
            <p:cNvPr id="119" name="c1_win"/>
            <p:cNvSpPr/>
            <p:nvPr/>
          </p:nvSpPr>
          <p:spPr>
            <a:xfrm>
              <a:off x="4292194" y="1755648"/>
              <a:ext cx="3589020" cy="2103120"/>
            </a:xfrm>
            <a:prstGeom prst="roundRect">
              <a:avLst>
                <a:gd name="adj" fmla="val 3259"/>
              </a:avLst>
            </a:prstGeom>
            <a:solidFill>
              <a:srgbClr val="060D18"/>
            </a:solidFill>
            <a:ln w="12700">
              <a:solidFill>
                <a:srgbClr val="1E3A5F"/>
              </a:solidFill>
              <a:prstDash val="solid"/>
            </a:ln>
          </p:spPr>
          <p:txBody>
            <a:bodyPr/>
            <a:lstStyle/>
            <a:p>
              <a:endParaRPr lang="en-US"/>
            </a:p>
          </p:txBody>
        </p:sp>
        <p:sp>
          <p:nvSpPr>
            <p:cNvPr id="120" name="c1_bar"/>
            <p:cNvSpPr/>
            <p:nvPr/>
          </p:nvSpPr>
          <p:spPr>
            <a:xfrm>
              <a:off x="4292194" y="1755648"/>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1" name="c1_barfill"/>
            <p:cNvSpPr/>
            <p:nvPr/>
          </p:nvSpPr>
          <p:spPr>
            <a:xfrm>
              <a:off x="4292194" y="1927098"/>
              <a:ext cx="3589020" cy="171450"/>
            </a:xfrm>
            <a:prstGeom prst="rect">
              <a:avLst/>
            </a:prstGeom>
            <a:solidFill>
              <a:srgbClr val="0A1220"/>
            </a:solidFill>
            <a:ln w="12700">
              <a:solidFill>
                <a:srgbClr val="0A1220"/>
              </a:solidFill>
              <a:prstDash val="solid"/>
            </a:ln>
          </p:spPr>
          <p:txBody>
            <a:bodyPr/>
            <a:lstStyle/>
            <a:p>
              <a:endParaRPr lang="en-US"/>
            </a:p>
          </p:txBody>
        </p:sp>
        <p:sp>
          <p:nvSpPr>
            <p:cNvPr id="122" name="c1_dot0"/>
            <p:cNvSpPr/>
            <p:nvPr/>
          </p:nvSpPr>
          <p:spPr>
            <a:xfrm>
              <a:off x="445404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3" name="c1_dot1"/>
            <p:cNvSpPr/>
            <p:nvPr/>
          </p:nvSpPr>
          <p:spPr>
            <a:xfrm>
              <a:off x="463966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4" name="c1_dot2"/>
            <p:cNvSpPr/>
            <p:nvPr/>
          </p:nvSpPr>
          <p:spPr>
            <a:xfrm>
              <a:off x="482529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5" name="c1_tab"/>
            <p:cNvSpPr/>
            <p:nvPr/>
          </p:nvSpPr>
          <p:spPr>
            <a:xfrm>
              <a:off x="5073091" y="18031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26" name="c1_L00"/>
            <p:cNvSpPr txBox="1"/>
            <p:nvPr/>
          </p:nvSpPr>
          <p:spPr>
            <a:xfrm>
              <a:off x="4520794" y="223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email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Mock&lt;IEmailSender&gt;();</a:t>
              </a:r>
              <a:endParaRPr lang="en-US" sz="760" dirty="0"/>
            </a:p>
          </p:txBody>
        </p:sp>
        <p:sp>
          <p:nvSpPr>
            <p:cNvPr id="127" name="c1_L01"/>
            <p:cNvSpPr txBox="1"/>
            <p:nvPr/>
          </p:nvSpPr>
          <p:spPr>
            <a:xfrm>
              <a:off x="4520794" y="2396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service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TransferService(accounts,</a:t>
              </a:r>
              <a:endParaRPr lang="en-US" sz="760" dirty="0"/>
            </a:p>
          </p:txBody>
        </p:sp>
        <p:sp>
          <p:nvSpPr>
            <p:cNvPr id="128" name="c1_L02"/>
            <p:cNvSpPr txBox="1"/>
            <p:nvPr/>
          </p:nvSpPr>
          <p:spPr>
            <a:xfrm>
              <a:off x="4520794" y="2561548"/>
              <a:ext cx="32890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email.Object, Mock.Of&lt;ILogger&gt;());</a:t>
              </a:r>
              <a:endParaRPr lang="en-US" sz="760" dirty="0"/>
            </a:p>
          </p:txBody>
        </p:sp>
        <p:sp>
          <p:nvSpPr>
            <p:cNvPr id="129" name="c1_L04"/>
            <p:cNvSpPr txBox="1"/>
            <p:nvPr/>
          </p:nvSpPr>
          <p:spPr>
            <a:xfrm>
              <a:off x="4520794" y="289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service.Transfer(mona, ali, 100m);</a:t>
              </a:r>
              <a:endParaRPr lang="en-US" sz="760" dirty="0"/>
            </a:p>
          </p:txBody>
        </p:sp>
        <p:sp>
          <p:nvSpPr>
            <p:cNvPr id="130" name="c1_L06"/>
            <p:cNvSpPr txBox="1"/>
            <p:nvPr/>
          </p:nvSpPr>
          <p:spPr>
            <a:xfrm>
              <a:off x="4520794" y="322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email.Verify(e =&gt; e.Send(mona, </a:t>
              </a:r>
              <a:r>
                <a:rPr lang="en-US" sz="760" b="0" dirty="0">
                  <a:solidFill>
                    <a:srgbClr val="F0A98B"/>
                  </a:solidFill>
                  <a:latin typeface="Consolas"/>
                  <a:ea typeface="Consolas"/>
                  <a:cs typeface="Consolas"/>
                </a:rPr>
                <a:t>"Transfer done"</a:t>
              </a:r>
              <a:r>
                <a:rPr lang="en-US" sz="760" b="0" dirty="0">
                  <a:solidFill>
                    <a:srgbClr val="E2E8F0"/>
                  </a:solidFill>
                  <a:latin typeface="Consolas"/>
                  <a:ea typeface="Consolas"/>
                  <a:cs typeface="Consolas"/>
                </a:rPr>
                <a:t>,</a:t>
              </a:r>
              <a:endParaRPr lang="en-US" sz="760" dirty="0"/>
            </a:p>
          </p:txBody>
        </p:sp>
        <p:sp>
          <p:nvSpPr>
            <p:cNvPr id="131" name="c1_L07"/>
            <p:cNvSpPr txBox="1"/>
            <p:nvPr/>
          </p:nvSpPr>
          <p:spPr>
            <a:xfrm>
              <a:off x="4520794" y="3386548"/>
              <a:ext cx="32890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It.IsAny&lt;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&gt;()), Times.Once);</a:t>
              </a:r>
              <a:endParaRPr lang="en-US" sz="760" dirty="0"/>
            </a:p>
          </p:txBody>
        </p:sp>
      </p:grpSp>
      <p:sp>
        <p:nvSpPr>
          <p:cNvPr id="133" name="c1_hl6"/>
          <p:cNvSpPr/>
          <p:nvPr/>
        </p:nvSpPr>
        <p:spPr>
          <a:xfrm>
            <a:off x="4425696" y="3203260"/>
            <a:ext cx="332202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4" name="c1_hl7"/>
          <p:cNvSpPr/>
          <p:nvPr/>
        </p:nvSpPr>
        <p:spPr>
          <a:xfrm>
            <a:off x="4425696" y="3368260"/>
            <a:ext cx="332202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5" name="h2"/>
          <p:cNvSpPr txBox="1"/>
          <p:nvPr/>
        </p:nvSpPr>
        <p:spPr>
          <a:xfrm>
            <a:off x="8041234" y="1463040"/>
            <a:ext cx="3589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FakeItEasy</a:t>
            </a:r>
            <a:endParaRPr lang="en-US" sz="1200" dirty="0"/>
          </a:p>
        </p:txBody>
      </p:sp>
      <p:grpSp>
        <p:nvGrpSpPr>
          <p:cNvPr id="150" name="c2"/>
          <p:cNvGrpSpPr/>
          <p:nvPr/>
        </p:nvGrpSpPr>
        <p:grpSpPr>
          <a:xfrm>
            <a:off x="8041234" y="1755648"/>
            <a:ext cx="3589020" cy="2103120"/>
            <a:chOff x="8041234" y="1755648"/>
            <a:chExt cx="3589020" cy="2103120"/>
          </a:xfrm>
        </p:grpSpPr>
        <p:sp>
          <p:nvSpPr>
            <p:cNvPr id="136" name="c2_win"/>
            <p:cNvSpPr/>
            <p:nvPr/>
          </p:nvSpPr>
          <p:spPr>
            <a:xfrm>
              <a:off x="8041234" y="1755648"/>
              <a:ext cx="3589020" cy="2103120"/>
            </a:xfrm>
            <a:prstGeom prst="roundRect">
              <a:avLst>
                <a:gd name="adj" fmla="val 3259"/>
              </a:avLst>
            </a:prstGeom>
            <a:solidFill>
              <a:srgbClr val="060D18"/>
            </a:solidFill>
            <a:ln w="12700">
              <a:solidFill>
                <a:srgbClr val="1E3A5F"/>
              </a:solidFill>
              <a:prstDash val="solid"/>
            </a:ln>
          </p:spPr>
          <p:txBody>
            <a:bodyPr/>
            <a:lstStyle/>
            <a:p>
              <a:endParaRPr lang="en-US"/>
            </a:p>
          </p:txBody>
        </p:sp>
        <p:sp>
          <p:nvSpPr>
            <p:cNvPr id="137" name="c2_bar"/>
            <p:cNvSpPr/>
            <p:nvPr/>
          </p:nvSpPr>
          <p:spPr>
            <a:xfrm>
              <a:off x="8041234" y="1755648"/>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8" name="c2_barfill"/>
            <p:cNvSpPr/>
            <p:nvPr/>
          </p:nvSpPr>
          <p:spPr>
            <a:xfrm>
              <a:off x="8041234" y="1927098"/>
              <a:ext cx="3589020" cy="171450"/>
            </a:xfrm>
            <a:prstGeom prst="rect">
              <a:avLst/>
            </a:prstGeom>
            <a:solidFill>
              <a:srgbClr val="0A1220"/>
            </a:solidFill>
            <a:ln w="12700">
              <a:solidFill>
                <a:srgbClr val="0A1220"/>
              </a:solidFill>
              <a:prstDash val="solid"/>
            </a:ln>
          </p:spPr>
          <p:txBody>
            <a:bodyPr/>
            <a:lstStyle/>
            <a:p>
              <a:endParaRPr lang="en-US"/>
            </a:p>
          </p:txBody>
        </p:sp>
        <p:sp>
          <p:nvSpPr>
            <p:cNvPr id="139" name="c2_dot0"/>
            <p:cNvSpPr/>
            <p:nvPr/>
          </p:nvSpPr>
          <p:spPr>
            <a:xfrm>
              <a:off x="820308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40" name="c2_dot1"/>
            <p:cNvSpPr/>
            <p:nvPr/>
          </p:nvSpPr>
          <p:spPr>
            <a:xfrm>
              <a:off x="838870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41" name="c2_dot2"/>
            <p:cNvSpPr/>
            <p:nvPr/>
          </p:nvSpPr>
          <p:spPr>
            <a:xfrm>
              <a:off x="857433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42" name="c2_tab"/>
            <p:cNvSpPr/>
            <p:nvPr/>
          </p:nvSpPr>
          <p:spPr>
            <a:xfrm>
              <a:off x="8822131" y="180319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TransferServiceTests.cs</a:t>
              </a:r>
              <a:endParaRPr lang="en-US" sz="950" dirty="0"/>
            </a:p>
          </p:txBody>
        </p:sp>
        <p:sp>
          <p:nvSpPr>
            <p:cNvPr id="143" name="c2_L00"/>
            <p:cNvSpPr txBox="1"/>
            <p:nvPr/>
          </p:nvSpPr>
          <p:spPr>
            <a:xfrm>
              <a:off x="8269834" y="223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email = A.Fake&lt;IEmailSender&gt;();</a:t>
              </a:r>
              <a:endParaRPr lang="en-US" sz="760" dirty="0"/>
            </a:p>
          </p:txBody>
        </p:sp>
        <p:sp>
          <p:nvSpPr>
            <p:cNvPr id="144" name="c2_L01"/>
            <p:cNvSpPr txBox="1"/>
            <p:nvPr/>
          </p:nvSpPr>
          <p:spPr>
            <a:xfrm>
              <a:off x="8269834" y="2396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service =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TransferService(accounts,</a:t>
              </a:r>
              <a:endParaRPr lang="en-US" sz="760" dirty="0"/>
            </a:p>
          </p:txBody>
        </p:sp>
        <p:sp>
          <p:nvSpPr>
            <p:cNvPr id="145" name="c2_L02"/>
            <p:cNvSpPr txBox="1"/>
            <p:nvPr/>
          </p:nvSpPr>
          <p:spPr>
            <a:xfrm>
              <a:off x="8269834" y="2561548"/>
              <a:ext cx="32890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email, A.Fake&lt;ILogger&gt;());</a:t>
              </a:r>
              <a:endParaRPr lang="en-US" sz="760" dirty="0"/>
            </a:p>
          </p:txBody>
        </p:sp>
        <p:sp>
          <p:nvSpPr>
            <p:cNvPr id="146" name="c2_L04"/>
            <p:cNvSpPr txBox="1"/>
            <p:nvPr/>
          </p:nvSpPr>
          <p:spPr>
            <a:xfrm>
              <a:off x="8269834" y="289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service.Transfer(mona, ali, 100m);</a:t>
              </a:r>
              <a:endParaRPr lang="en-US" sz="760" dirty="0"/>
            </a:p>
          </p:txBody>
        </p:sp>
        <p:sp>
          <p:nvSpPr>
            <p:cNvPr id="147" name="c2_L06"/>
            <p:cNvSpPr txBox="1"/>
            <p:nvPr/>
          </p:nvSpPr>
          <p:spPr>
            <a:xfrm>
              <a:off x="8269834" y="322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A.CallTo(() =&gt; email.Send(mona,</a:t>
              </a:r>
              <a:endParaRPr lang="en-US" sz="760" dirty="0"/>
            </a:p>
          </p:txBody>
        </p:sp>
        <p:sp>
          <p:nvSpPr>
            <p:cNvPr id="148" name="c2_L07"/>
            <p:cNvSpPr txBox="1"/>
            <p:nvPr/>
          </p:nvSpPr>
          <p:spPr>
            <a:xfrm>
              <a:off x="8269834" y="3386548"/>
              <a:ext cx="3289020" cy="165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F0A98B"/>
                  </a:solidFill>
                  <a:latin typeface="Consolas"/>
                  <a:ea typeface="Consolas"/>
                  <a:cs typeface="Consolas"/>
                </a:rPr>
                <a:t>"Transfer done"</a:t>
              </a:r>
              <a:r>
                <a:rPr lang="en-US" sz="760" b="0" dirty="0">
                  <a:solidFill>
                    <a:srgbClr val="E2E8F0"/>
                  </a:solidFill>
                  <a:latin typeface="Consolas"/>
                  <a:ea typeface="Consolas"/>
                  <a:cs typeface="Consolas"/>
                </a:rPr>
                <a:t>, A&lt;</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&gt;._))</a:t>
              </a:r>
              <a:endParaRPr lang="en-US" sz="760" dirty="0"/>
            </a:p>
          </p:txBody>
        </p:sp>
        <p:sp>
          <p:nvSpPr>
            <p:cNvPr id="149" name="c2_L08"/>
            <p:cNvSpPr txBox="1"/>
            <p:nvPr/>
          </p:nvSpPr>
          <p:spPr>
            <a:xfrm>
              <a:off x="8269834" y="3551548"/>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.MustHaveHappenedOnceExactly();</a:t>
              </a:r>
              <a:endParaRPr lang="en-US" sz="760" dirty="0"/>
            </a:p>
          </p:txBody>
        </p:sp>
      </p:grpSp>
      <p:sp>
        <p:nvSpPr>
          <p:cNvPr id="151" name="c2_hl6"/>
          <p:cNvSpPr/>
          <p:nvPr/>
        </p:nvSpPr>
        <p:spPr>
          <a:xfrm>
            <a:off x="8174736" y="3203260"/>
            <a:ext cx="332202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2" name="c2_hl7"/>
          <p:cNvSpPr/>
          <p:nvPr/>
        </p:nvSpPr>
        <p:spPr>
          <a:xfrm>
            <a:off x="8174736" y="3368260"/>
            <a:ext cx="332202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3" name="c2_hl8"/>
          <p:cNvSpPr/>
          <p:nvPr/>
        </p:nvSpPr>
        <p:spPr>
          <a:xfrm>
            <a:off x="8174736" y="3533260"/>
            <a:ext cx="3322020" cy="201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4" name="n0"/>
          <p:cNvSpPr/>
          <p:nvPr/>
        </p:nvSpPr>
        <p:spPr>
          <a:xfrm>
            <a:off x="543154" y="4023360"/>
            <a:ext cx="3589020" cy="685800"/>
          </a:xfrm>
          <a:prstGeom prst="roundRect">
            <a:avLst>
              <a:gd name="adj" fmla="val 12000"/>
            </a:avLst>
          </a:prstGeom>
          <a:solidFill>
            <a:srgbClr val="111B2E"/>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0" dirty="0">
                <a:solidFill>
                  <a:srgbClr val="CBD5E1"/>
                </a:solidFill>
                <a:latin typeface="Segoe UI"/>
                <a:ea typeface="Segoe UI"/>
                <a:cs typeface="Segoe UI"/>
              </a:rPr>
              <a:t>the double IS the interface · cleanest syntax · our choice</a:t>
            </a:r>
            <a:endParaRPr lang="en-US" sz="1050" dirty="0"/>
          </a:p>
        </p:txBody>
      </p:sp>
      <p:sp>
        <p:nvSpPr>
          <p:cNvPr id="155" name="n1"/>
          <p:cNvSpPr/>
          <p:nvPr/>
        </p:nvSpPr>
        <p:spPr>
          <a:xfrm>
            <a:off x="4292194" y="4023360"/>
            <a:ext cx="3589020" cy="685800"/>
          </a:xfrm>
          <a:prstGeom prst="roundRect">
            <a:avLst>
              <a:gd name="adj" fmla="val 12000"/>
            </a:avLst>
          </a:prstGeom>
          <a:solidFill>
            <a:srgbClr val="111B2E"/>
          </a:solidFill>
          <a:ln w="12700">
            <a:solidFill>
              <a:srgbClr val="FBBF24"/>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0" dirty="0">
                <a:solidFill>
                  <a:srgbClr val="CBD5E1"/>
                </a:solidFill>
                <a:latin typeface="Segoe UI"/>
                <a:ea typeface="Segoe UI"/>
                <a:cs typeface="Segoe UI"/>
              </a:rPr>
              <a:t>most common in existing code · .Object · Setup / Verify</a:t>
            </a:r>
            <a:endParaRPr lang="en-US" sz="1050" dirty="0"/>
          </a:p>
        </p:txBody>
      </p:sp>
      <p:sp>
        <p:nvSpPr>
          <p:cNvPr id="156" name="n2"/>
          <p:cNvSpPr/>
          <p:nvPr/>
        </p:nvSpPr>
        <p:spPr>
          <a:xfrm>
            <a:off x="8041234" y="4023360"/>
            <a:ext cx="3589020" cy="685800"/>
          </a:xfrm>
          <a:prstGeom prst="roundRect">
            <a:avLst>
              <a:gd name="adj" fmla="val 12000"/>
            </a:avLst>
          </a:prstGeom>
          <a:solidFill>
            <a:srgbClr val="111B2E"/>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050" b="0" dirty="0">
                <a:solidFill>
                  <a:srgbClr val="CBD5E1"/>
                </a:solidFill>
                <a:latin typeface="Segoe UI"/>
                <a:ea typeface="Segoe UI"/>
                <a:cs typeface="Segoe UI"/>
              </a:rPr>
              <a:t>readable A.CallTo(...) · fewer users</a:t>
            </a:r>
            <a:endParaRPr lang="en-US" sz="1050" dirty="0"/>
          </a:p>
        </p:txBody>
      </p:sp>
      <p:sp>
        <p:nvSpPr>
          <p:cNvPr id="157" name="b"/>
          <p:cNvSpPr/>
          <p:nvPr/>
        </p:nvSpPr>
        <p:spPr>
          <a:xfrm>
            <a:off x="543154" y="4983480"/>
            <a:ext cx="11087100" cy="640080"/>
          </a:xfrm>
          <a:prstGeom prst="roundRect">
            <a:avLst>
              <a:gd name="adj" fmla="val 10975"/>
            </a:avLst>
          </a:prstGeom>
          <a:solidFill>
            <a:srgbClr val="0C1628"/>
          </a:solidFill>
          <a:ln w="12700">
            <a:solidFill>
              <a:srgbClr val="F472B6"/>
            </a:solidFill>
            <a:prstDash val="solid"/>
          </a:ln>
        </p:spPr>
        <p:txBody>
          <a:bodyPr wrap="square" lIns="209398" tIns="75895" rIns="209398" bIns="75895" rtlCol="0" anchor="ctr">
            <a:noAutofit/>
          </a:bodyPr>
          <a:lstStyle/>
          <a:p>
            <a:pPr marL="0" indent="0" algn="ctr">
              <a:spcBef>
                <a:spcPts val="0"/>
              </a:spcBef>
              <a:spcAft>
                <a:spcPts val="0"/>
              </a:spcAft>
              <a:buNone/>
            </a:pPr>
            <a:r>
              <a:rPr lang="en-US" sz="1400" b="0" dirty="0">
                <a:solidFill>
                  <a:srgbClr val="FFFFFF"/>
                </a:solidFill>
                <a:latin typeface="Segoe UI"/>
                <a:ea typeface="Segoe UI"/>
                <a:cs typeface="Segoe UI"/>
              </a:rPr>
              <a:t>Same idea, different syntax. Learn one deeply; read the others in minutes.</a:t>
            </a:r>
            <a:endParaRPr lang="en-US" sz="1400" dirty="0"/>
          </a:p>
        </p:txBody>
      </p:sp>
    </p:spTree>
    <p:extLst>
      <p:ext uri="{BB962C8B-B14F-4D97-AF65-F5344CB8AC3E}">
        <p14:creationId xmlns:p14="http://schemas.microsoft.com/office/powerpoint/2010/main" val="51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400"/>
                                        <p:tgtEl>
                                          <p:spTgt spid="1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animEffect transition="in" filter="fade">
                                      <p:cBhvr>
                                        <p:cTn id="13" dur="400"/>
                                        <p:tgtEl>
                                          <p:spTgt spid="1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7"/>
                                        </p:tgtEl>
                                        <p:attrNameLst>
                                          <p:attrName>style.visibility</p:attrName>
                                        </p:attrNameLst>
                                      </p:cBhvr>
                                      <p:to>
                                        <p:strVal val="visible"/>
                                      </p:to>
                                    </p:set>
                                    <p:animEffect transition="in" filter="fade">
                                      <p:cBhvr>
                                        <p:cTn id="16" dur="400"/>
                                        <p:tgtEl>
                                          <p:spTgt spid="1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4"/>
                                        </p:tgtEl>
                                        <p:attrNameLst>
                                          <p:attrName>style.visibility</p:attrName>
                                        </p:attrNameLst>
                                      </p:cBhvr>
                                      <p:to>
                                        <p:strVal val="visible"/>
                                      </p:to>
                                    </p:set>
                                    <p:animEffect transition="in" filter="fade">
                                      <p:cBhvr>
                                        <p:cTn id="19" dur="400"/>
                                        <p:tgtEl>
                                          <p:spTgt spid="15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8"/>
                                        </p:tgtEl>
                                        <p:attrNameLst>
                                          <p:attrName>style.visibility</p:attrName>
                                        </p:attrNameLst>
                                      </p:cBhvr>
                                      <p:to>
                                        <p:strVal val="visible"/>
                                      </p:to>
                                    </p:set>
                                    <p:animEffect transition="in" filter="fade">
                                      <p:cBhvr>
                                        <p:cTn id="24" dur="400"/>
                                        <p:tgtEl>
                                          <p:spTgt spid="118"/>
                                        </p:tgtEl>
                                      </p:cBhvr>
                                    </p:animEffect>
                                  </p:childTnLst>
                                </p:cTn>
                              </p:par>
                              <p:par>
                                <p:cTn id="25" presetID="10" presetClass="entr" presetSubtype="0" fill="hold" nodeType="withEffect">
                                  <p:stCondLst>
                                    <p:cond delay="0"/>
                                  </p:stCondLst>
                                  <p:childTnLst>
                                    <p:set>
                                      <p:cBhvr>
                                        <p:cTn id="26" dur="1" fill="hold">
                                          <p:stCondLst>
                                            <p:cond delay="0"/>
                                          </p:stCondLst>
                                        </p:cTn>
                                        <p:tgtEl>
                                          <p:spTgt spid="132"/>
                                        </p:tgtEl>
                                        <p:attrNameLst>
                                          <p:attrName>style.visibility</p:attrName>
                                        </p:attrNameLst>
                                      </p:cBhvr>
                                      <p:to>
                                        <p:strVal val="visible"/>
                                      </p:to>
                                    </p:set>
                                    <p:animEffect transition="in" filter="fade">
                                      <p:cBhvr>
                                        <p:cTn id="27" dur="400"/>
                                        <p:tgtEl>
                                          <p:spTgt spid="1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3"/>
                                        </p:tgtEl>
                                        <p:attrNameLst>
                                          <p:attrName>style.visibility</p:attrName>
                                        </p:attrNameLst>
                                      </p:cBhvr>
                                      <p:to>
                                        <p:strVal val="visible"/>
                                      </p:to>
                                    </p:set>
                                    <p:animEffect transition="in" filter="fade">
                                      <p:cBhvr>
                                        <p:cTn id="30" dur="400"/>
                                        <p:tgtEl>
                                          <p:spTgt spid="13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4"/>
                                        </p:tgtEl>
                                        <p:attrNameLst>
                                          <p:attrName>style.visibility</p:attrName>
                                        </p:attrNameLst>
                                      </p:cBhvr>
                                      <p:to>
                                        <p:strVal val="visible"/>
                                      </p:to>
                                    </p:set>
                                    <p:animEffect transition="in" filter="fade">
                                      <p:cBhvr>
                                        <p:cTn id="33" dur="400"/>
                                        <p:tgtEl>
                                          <p:spTgt spid="1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5"/>
                                        </p:tgtEl>
                                        <p:attrNameLst>
                                          <p:attrName>style.visibility</p:attrName>
                                        </p:attrNameLst>
                                      </p:cBhvr>
                                      <p:to>
                                        <p:strVal val="visible"/>
                                      </p:to>
                                    </p:set>
                                    <p:animEffect transition="in" filter="fade">
                                      <p:cBhvr>
                                        <p:cTn id="36" dur="400"/>
                                        <p:tgtEl>
                                          <p:spTgt spid="15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5"/>
                                        </p:tgtEl>
                                        <p:attrNameLst>
                                          <p:attrName>style.visibility</p:attrName>
                                        </p:attrNameLst>
                                      </p:cBhvr>
                                      <p:to>
                                        <p:strVal val="visible"/>
                                      </p:to>
                                    </p:set>
                                    <p:animEffect transition="in" filter="fade">
                                      <p:cBhvr>
                                        <p:cTn id="41" dur="400"/>
                                        <p:tgtEl>
                                          <p:spTgt spid="135"/>
                                        </p:tgtEl>
                                      </p:cBhvr>
                                    </p:animEffect>
                                  </p:childTnLst>
                                </p:cTn>
                              </p:par>
                              <p:par>
                                <p:cTn id="42" presetID="10" presetClass="entr" presetSubtype="0" fill="hold" nodeType="withEffect">
                                  <p:stCondLst>
                                    <p:cond delay="0"/>
                                  </p:stCondLst>
                                  <p:childTnLst>
                                    <p:set>
                                      <p:cBhvr>
                                        <p:cTn id="43" dur="1" fill="hold">
                                          <p:stCondLst>
                                            <p:cond delay="0"/>
                                          </p:stCondLst>
                                        </p:cTn>
                                        <p:tgtEl>
                                          <p:spTgt spid="150"/>
                                        </p:tgtEl>
                                        <p:attrNameLst>
                                          <p:attrName>style.visibility</p:attrName>
                                        </p:attrNameLst>
                                      </p:cBhvr>
                                      <p:to>
                                        <p:strVal val="visible"/>
                                      </p:to>
                                    </p:set>
                                    <p:animEffect transition="in" filter="fade">
                                      <p:cBhvr>
                                        <p:cTn id="44" dur="400"/>
                                        <p:tgtEl>
                                          <p:spTgt spid="15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1"/>
                                        </p:tgtEl>
                                        <p:attrNameLst>
                                          <p:attrName>style.visibility</p:attrName>
                                        </p:attrNameLst>
                                      </p:cBhvr>
                                      <p:to>
                                        <p:strVal val="visible"/>
                                      </p:to>
                                    </p:set>
                                    <p:animEffect transition="in" filter="fade">
                                      <p:cBhvr>
                                        <p:cTn id="47" dur="400"/>
                                        <p:tgtEl>
                                          <p:spTgt spid="15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2"/>
                                        </p:tgtEl>
                                        <p:attrNameLst>
                                          <p:attrName>style.visibility</p:attrName>
                                        </p:attrNameLst>
                                      </p:cBhvr>
                                      <p:to>
                                        <p:strVal val="visible"/>
                                      </p:to>
                                    </p:set>
                                    <p:animEffect transition="in" filter="fade">
                                      <p:cBhvr>
                                        <p:cTn id="50" dur="400"/>
                                        <p:tgtEl>
                                          <p:spTgt spid="15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3"/>
                                        </p:tgtEl>
                                        <p:attrNameLst>
                                          <p:attrName>style.visibility</p:attrName>
                                        </p:attrNameLst>
                                      </p:cBhvr>
                                      <p:to>
                                        <p:strVal val="visible"/>
                                      </p:to>
                                    </p:set>
                                    <p:animEffect transition="in" filter="fade">
                                      <p:cBhvr>
                                        <p:cTn id="53" dur="400"/>
                                        <p:tgtEl>
                                          <p:spTgt spid="15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56"/>
                                        </p:tgtEl>
                                        <p:attrNameLst>
                                          <p:attrName>style.visibility</p:attrName>
                                        </p:attrNameLst>
                                      </p:cBhvr>
                                      <p:to>
                                        <p:strVal val="visible"/>
                                      </p:to>
                                    </p:set>
                                    <p:animEffect transition="in" filter="fade">
                                      <p:cBhvr>
                                        <p:cTn id="56" dur="400"/>
                                        <p:tgtEl>
                                          <p:spTgt spid="15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57"/>
                                        </p:tgtEl>
                                        <p:attrNameLst>
                                          <p:attrName>style.visibility</p:attrName>
                                        </p:attrNameLst>
                                      </p:cBhvr>
                                      <p:to>
                                        <p:strVal val="visible"/>
                                      </p:to>
                                    </p:set>
                                    <p:animEffect transition="in" filter="fade">
                                      <p:cBhvr>
                                        <p:cTn id="61" dur="4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16" grpId="0" animBg="1"/>
      <p:bldP spid="117" grpId="0" animBg="1"/>
      <p:bldP spid="118" grpId="0" animBg="1"/>
      <p:bldP spid="133" grpId="0" animBg="1"/>
      <p:bldP spid="134" grpId="0" animBg="1"/>
      <p:bldP spid="135" grpId="0" animBg="1"/>
      <p:bldP spid="151" grpId="0" animBg="1"/>
      <p:bldP spid="152" grpId="0" animBg="1"/>
      <p:bldP spid="153" grpId="0" animBg="1"/>
      <p:bldP spid="154" grpId="0" animBg="1"/>
      <p:bldP spid="155" grpId="0" animBg="1"/>
      <p:bldP spid="156" grpId="0" animBg="1"/>
      <p:bldP spid="15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SHOULDLY</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Shouldly: Assertions That Read Like English</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LIBRARIES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130</a:t>
            </a:r>
            <a:endParaRPr lang="en-US" sz="850" dirty="0"/>
          </a:p>
        </p:txBody>
      </p:sp>
      <p:grpSp>
        <p:nvGrpSpPr>
          <p:cNvPr id="118" name="code"/>
          <p:cNvGrpSpPr/>
          <p:nvPr/>
        </p:nvGrpSpPr>
        <p:grpSpPr>
          <a:xfrm>
            <a:off x="543154" y="1572768"/>
            <a:ext cx="6126480" cy="2912380"/>
            <a:chOff x="543154" y="1572768"/>
            <a:chExt cx="6126480" cy="2912380"/>
          </a:xfrm>
        </p:grpSpPr>
        <p:sp>
          <p:nvSpPr>
            <p:cNvPr id="101" name="code_win"/>
            <p:cNvSpPr/>
            <p:nvPr/>
          </p:nvSpPr>
          <p:spPr>
            <a:xfrm>
              <a:off x="543154" y="1572768"/>
              <a:ext cx="6126480" cy="2912380"/>
            </a:xfrm>
            <a:prstGeom prst="roundRect">
              <a:avLst>
                <a:gd name="adj" fmla="val 2353"/>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61264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612648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Assertions</a:t>
              </a:r>
              <a:endParaRPr lang="en-US" sz="950" dirty="0"/>
            </a:p>
          </p:txBody>
        </p:sp>
        <p:sp>
          <p:nvSpPr>
            <p:cNvPr id="108" name="code_L00"/>
            <p:cNvSpPr txBox="1"/>
            <p:nvPr/>
          </p:nvSpPr>
          <p:spPr>
            <a:xfrm>
              <a:off x="771754" y="204866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FAE7A"/>
                  </a:solidFill>
                  <a:latin typeface="Consolas"/>
                  <a:ea typeface="Consolas"/>
                  <a:cs typeface="Consolas"/>
                </a:rPr>
                <a:t>// xUnit</a:t>
              </a:r>
              <a:endParaRPr lang="en-US" sz="880" dirty="0"/>
            </a:p>
          </p:txBody>
        </p:sp>
        <p:sp>
          <p:nvSpPr>
            <p:cNvPr id="109" name="code_L01"/>
            <p:cNvSpPr txBox="1"/>
            <p:nvPr/>
          </p:nvSpPr>
          <p:spPr>
            <a:xfrm>
              <a:off x="771754" y="224170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Assert.Equal(150m, account.Balance);</a:t>
              </a:r>
              <a:endParaRPr lang="en-US" sz="880" dirty="0"/>
            </a:p>
          </p:txBody>
        </p:sp>
        <p:sp>
          <p:nvSpPr>
            <p:cNvPr id="110" name="code_L03"/>
            <p:cNvSpPr txBox="1"/>
            <p:nvPr/>
          </p:nvSpPr>
          <p:spPr>
            <a:xfrm>
              <a:off x="771754" y="262778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FAE7A"/>
                  </a:solidFill>
                  <a:latin typeface="Consolas"/>
                  <a:ea typeface="Consolas"/>
                  <a:cs typeface="Consolas"/>
                </a:rPr>
                <a:t>// Shouldly</a:t>
              </a:r>
              <a:endParaRPr lang="en-US" sz="880" dirty="0"/>
            </a:p>
          </p:txBody>
        </p:sp>
        <p:sp>
          <p:nvSpPr>
            <p:cNvPr id="111" name="code_L04"/>
            <p:cNvSpPr txBox="1"/>
            <p:nvPr/>
          </p:nvSpPr>
          <p:spPr>
            <a:xfrm>
              <a:off x="771754" y="282082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account.Balance.ShouldBe(150m);</a:t>
              </a:r>
              <a:endParaRPr lang="en-US" sz="880" dirty="0"/>
            </a:p>
          </p:txBody>
        </p:sp>
        <p:sp>
          <p:nvSpPr>
            <p:cNvPr id="112" name="code_L06"/>
            <p:cNvSpPr txBox="1"/>
            <p:nvPr/>
          </p:nvSpPr>
          <p:spPr>
            <a:xfrm>
              <a:off x="771754" y="320690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Should.Throw&lt;InvalidOperationException&gt;(() =&gt; account.Withdraw(900m))</a:t>
              </a:r>
              <a:endParaRPr lang="en-US" sz="880" dirty="0"/>
            </a:p>
          </p:txBody>
        </p:sp>
        <p:sp>
          <p:nvSpPr>
            <p:cNvPr id="113" name="code_L07"/>
            <p:cNvSpPr txBox="1"/>
            <p:nvPr/>
          </p:nvSpPr>
          <p:spPr>
            <a:xfrm>
              <a:off x="771754" y="3399948"/>
              <a:ext cx="58264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.Message.ShouldBe(</a:t>
              </a:r>
              <a:r>
                <a:rPr lang="en-US" sz="880" b="0" dirty="0">
                  <a:solidFill>
                    <a:srgbClr val="F0A98B"/>
                  </a:solidFill>
                  <a:latin typeface="Consolas"/>
                  <a:ea typeface="Consolas"/>
                  <a:cs typeface="Consolas"/>
                </a:rPr>
                <a:t>"Insufficient funds."</a:t>
              </a:r>
              <a:r>
                <a:rPr lang="en-US" sz="880" b="0" dirty="0">
                  <a:solidFill>
                    <a:srgbClr val="E2E8F0"/>
                  </a:solidFill>
                  <a:latin typeface="Consolas"/>
                  <a:ea typeface="Consolas"/>
                  <a:cs typeface="Consolas"/>
                </a:rPr>
                <a:t>);</a:t>
              </a:r>
              <a:endParaRPr lang="en-US" sz="880" dirty="0"/>
            </a:p>
          </p:txBody>
        </p:sp>
        <p:sp>
          <p:nvSpPr>
            <p:cNvPr id="114" name="code_L08"/>
            <p:cNvSpPr txBox="1"/>
            <p:nvPr/>
          </p:nvSpPr>
          <p:spPr>
            <a:xfrm>
              <a:off x="771754" y="359298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GradeCalculator.Grade(84).ShouldBe(</a:t>
              </a:r>
              <a:r>
                <a:rPr lang="en-US" sz="880" b="0" dirty="0">
                  <a:solidFill>
                    <a:srgbClr val="F0A98B"/>
                  </a:solidFill>
                  <a:latin typeface="Consolas"/>
                  <a:ea typeface="Consolas"/>
                  <a:cs typeface="Consolas"/>
                </a:rPr>
                <a:t>"B"</a:t>
              </a:r>
              <a:r>
                <a:rPr lang="en-US" sz="880" b="0" dirty="0">
                  <a:solidFill>
                    <a:srgbClr val="E2E8F0"/>
                  </a:solidFill>
                  <a:latin typeface="Consolas"/>
                  <a:ea typeface="Consolas"/>
                  <a:cs typeface="Consolas"/>
                </a:rPr>
                <a:t>);</a:t>
              </a:r>
              <a:endParaRPr lang="en-US" sz="880" dirty="0"/>
            </a:p>
          </p:txBody>
        </p:sp>
        <p:sp>
          <p:nvSpPr>
            <p:cNvPr id="115" name="code_L09"/>
            <p:cNvSpPr txBox="1"/>
            <p:nvPr/>
          </p:nvSpPr>
          <p:spPr>
            <a:xfrm>
              <a:off x="771754" y="378602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EmailValidator.IsValid(</a:t>
              </a:r>
              <a:r>
                <a:rPr lang="en-US" sz="880" b="0" dirty="0">
                  <a:solidFill>
                    <a:srgbClr val="F0A98B"/>
                  </a:solidFill>
                  <a:latin typeface="Consolas"/>
                  <a:ea typeface="Consolas"/>
                  <a:cs typeface="Consolas"/>
                </a:rPr>
                <a:t>"mona@gmail.com"</a:t>
              </a:r>
              <a:r>
                <a:rPr lang="en-US" sz="880" b="0" dirty="0">
                  <a:solidFill>
                    <a:srgbClr val="E2E8F0"/>
                  </a:solidFill>
                  <a:latin typeface="Consolas"/>
                  <a:ea typeface="Consolas"/>
                  <a:cs typeface="Consolas"/>
                </a:rPr>
                <a:t>).ShouldBeTrue();</a:t>
              </a:r>
              <a:endParaRPr lang="en-US" sz="880" dirty="0"/>
            </a:p>
          </p:txBody>
        </p:sp>
        <p:sp>
          <p:nvSpPr>
            <p:cNvPr id="116" name="code_L10"/>
            <p:cNvSpPr txBox="1"/>
            <p:nvPr/>
          </p:nvSpPr>
          <p:spPr>
            <a:xfrm>
              <a:off x="771754" y="397906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body.ShouldContain(</a:t>
              </a:r>
              <a:r>
                <a:rPr lang="en-US" sz="880" b="0" dirty="0">
                  <a:solidFill>
                    <a:srgbClr val="F0A98B"/>
                  </a:solidFill>
                  <a:latin typeface="Consolas"/>
                  <a:ea typeface="Consolas"/>
                  <a:cs typeface="Consolas"/>
                </a:rPr>
                <a:t>"100.00"</a:t>
              </a:r>
              <a:r>
                <a:rPr lang="en-US" sz="880" b="0" dirty="0">
                  <a:solidFill>
                    <a:srgbClr val="E2E8F0"/>
                  </a:solidFill>
                  <a:latin typeface="Consolas"/>
                  <a:ea typeface="Consolas"/>
                  <a:cs typeface="Consolas"/>
                </a:rPr>
                <a:t>);</a:t>
              </a:r>
              <a:endParaRPr lang="en-US" sz="880" dirty="0"/>
            </a:p>
          </p:txBody>
        </p:sp>
        <p:sp>
          <p:nvSpPr>
            <p:cNvPr id="117" name="code_L11"/>
            <p:cNvSpPr txBox="1"/>
            <p:nvPr/>
          </p:nvSpPr>
          <p:spPr>
            <a:xfrm>
              <a:off x="771754" y="4172108"/>
              <a:ext cx="58264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customers.ShouldAllBe(c =&gt; EmailValidator.IsValid(c.Email));</a:t>
              </a:r>
              <a:endParaRPr lang="en-US" sz="880" dirty="0"/>
            </a:p>
          </p:txBody>
        </p:sp>
      </p:grpSp>
      <p:sp>
        <p:nvSpPr>
          <p:cNvPr id="119" name="code_hl4"/>
          <p:cNvSpPr/>
          <p:nvPr/>
        </p:nvSpPr>
        <p:spPr>
          <a:xfrm>
            <a:off x="676656" y="2802540"/>
            <a:ext cx="5859480" cy="22961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30" name="x"/>
          <p:cNvGrpSpPr/>
          <p:nvPr/>
        </p:nvGrpSpPr>
        <p:grpSpPr>
          <a:xfrm>
            <a:off x="6858000" y="1572768"/>
            <a:ext cx="4772254" cy="1175020"/>
            <a:chOff x="6858000" y="1572768"/>
            <a:chExt cx="4772254" cy="1175020"/>
          </a:xfrm>
        </p:grpSpPr>
        <p:sp>
          <p:nvSpPr>
            <p:cNvPr id="120" name="x_win"/>
            <p:cNvSpPr/>
            <p:nvPr/>
          </p:nvSpPr>
          <p:spPr>
            <a:xfrm>
              <a:off x="6858000" y="1572768"/>
              <a:ext cx="4772254" cy="1175020"/>
            </a:xfrm>
            <a:prstGeom prst="roundRect">
              <a:avLst>
                <a:gd name="adj" fmla="val 5834"/>
              </a:avLst>
            </a:prstGeom>
            <a:solidFill>
              <a:srgbClr val="060D18"/>
            </a:solidFill>
            <a:ln w="12700">
              <a:solidFill>
                <a:srgbClr val="1E3A5F"/>
              </a:solidFill>
              <a:prstDash val="solid"/>
            </a:ln>
          </p:spPr>
          <p:txBody>
            <a:bodyPr/>
            <a:lstStyle/>
            <a:p>
              <a:endParaRPr lang="en-US"/>
            </a:p>
          </p:txBody>
        </p:sp>
        <p:sp>
          <p:nvSpPr>
            <p:cNvPr id="121" name="x_bar"/>
            <p:cNvSpPr/>
            <p:nvPr/>
          </p:nvSpPr>
          <p:spPr>
            <a:xfrm>
              <a:off x="6858000" y="1572768"/>
              <a:ext cx="477225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x_barfill"/>
            <p:cNvSpPr/>
            <p:nvPr/>
          </p:nvSpPr>
          <p:spPr>
            <a:xfrm>
              <a:off x="6858000" y="1744218"/>
              <a:ext cx="4772254" cy="171450"/>
            </a:xfrm>
            <a:prstGeom prst="rect">
              <a:avLst/>
            </a:prstGeom>
            <a:solidFill>
              <a:srgbClr val="0A1220"/>
            </a:solidFill>
            <a:ln w="12700">
              <a:solidFill>
                <a:srgbClr val="0A1220"/>
              </a:solidFill>
              <a:prstDash val="solid"/>
            </a:ln>
          </p:spPr>
          <p:txBody>
            <a:bodyPr/>
            <a:lstStyle/>
            <a:p>
              <a:endParaRPr lang="en-US"/>
            </a:p>
          </p:txBody>
        </p:sp>
        <p:sp>
          <p:nvSpPr>
            <p:cNvPr id="123" name="x_dot0"/>
            <p:cNvSpPr/>
            <p:nvPr/>
          </p:nvSpPr>
          <p:spPr>
            <a:xfrm>
              <a:off x="701984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x_dot1"/>
            <p:cNvSpPr/>
            <p:nvPr/>
          </p:nvSpPr>
          <p:spPr>
            <a:xfrm>
              <a:off x="720547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x_dot2"/>
            <p:cNvSpPr/>
            <p:nvPr/>
          </p:nvSpPr>
          <p:spPr>
            <a:xfrm>
              <a:off x="739109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x_tab"/>
            <p:cNvSpPr/>
            <p:nvPr/>
          </p:nvSpPr>
          <p:spPr>
            <a:xfrm>
              <a:off x="7638897" y="1620317"/>
              <a:ext cx="155621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xUnit Assert fails</a:t>
              </a:r>
              <a:endParaRPr lang="en-US" sz="950" dirty="0"/>
            </a:p>
          </p:txBody>
        </p:sp>
        <p:sp>
          <p:nvSpPr>
            <p:cNvPr id="127" name="x_L00"/>
            <p:cNvSpPr txBox="1"/>
            <p:nvPr/>
          </p:nvSpPr>
          <p:spPr>
            <a:xfrm>
              <a:off x="7086600" y="2048668"/>
              <a:ext cx="447225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Assert.Equal() Failure: Values differ</a:t>
              </a:r>
              <a:endParaRPr lang="en-US" sz="900" dirty="0"/>
            </a:p>
          </p:txBody>
        </p:sp>
        <p:sp>
          <p:nvSpPr>
            <p:cNvPr id="128" name="x_L01"/>
            <p:cNvSpPr txBox="1"/>
            <p:nvPr/>
          </p:nvSpPr>
          <p:spPr>
            <a:xfrm>
              <a:off x="7086600" y="2241708"/>
              <a:ext cx="447225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Expected: 150</a:t>
              </a:r>
              <a:endParaRPr lang="en-US" sz="900" dirty="0"/>
            </a:p>
          </p:txBody>
        </p:sp>
        <p:sp>
          <p:nvSpPr>
            <p:cNvPr id="129" name="x_L02"/>
            <p:cNvSpPr txBox="1"/>
            <p:nvPr/>
          </p:nvSpPr>
          <p:spPr>
            <a:xfrm>
              <a:off x="7086600" y="2434748"/>
              <a:ext cx="447225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Actual:   100</a:t>
              </a:r>
              <a:endParaRPr lang="en-US" sz="900" dirty="0"/>
            </a:p>
          </p:txBody>
        </p:sp>
      </p:grpSp>
      <p:grpSp>
        <p:nvGrpSpPr>
          <p:cNvPr id="143" name="sh"/>
          <p:cNvGrpSpPr/>
          <p:nvPr/>
        </p:nvGrpSpPr>
        <p:grpSpPr>
          <a:xfrm>
            <a:off x="6858000" y="2971800"/>
            <a:ext cx="4772254" cy="1561100"/>
            <a:chOff x="6858000" y="2971800"/>
            <a:chExt cx="4772254" cy="1561100"/>
          </a:xfrm>
        </p:grpSpPr>
        <p:sp>
          <p:nvSpPr>
            <p:cNvPr id="131" name="sh_win"/>
            <p:cNvSpPr/>
            <p:nvPr/>
          </p:nvSpPr>
          <p:spPr>
            <a:xfrm>
              <a:off x="6858000" y="2971800"/>
              <a:ext cx="4772254" cy="1561100"/>
            </a:xfrm>
            <a:prstGeom prst="roundRect">
              <a:avLst>
                <a:gd name="adj" fmla="val 4391"/>
              </a:avLst>
            </a:prstGeom>
            <a:solidFill>
              <a:srgbClr val="060D18"/>
            </a:solidFill>
            <a:ln w="12700">
              <a:solidFill>
                <a:srgbClr val="1E3A5F"/>
              </a:solidFill>
              <a:prstDash val="solid"/>
            </a:ln>
          </p:spPr>
          <p:txBody>
            <a:bodyPr/>
            <a:lstStyle/>
            <a:p>
              <a:endParaRPr lang="en-US"/>
            </a:p>
          </p:txBody>
        </p:sp>
        <p:sp>
          <p:nvSpPr>
            <p:cNvPr id="132" name="sh_bar"/>
            <p:cNvSpPr/>
            <p:nvPr/>
          </p:nvSpPr>
          <p:spPr>
            <a:xfrm>
              <a:off x="6858000" y="2971800"/>
              <a:ext cx="477225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3" name="sh_barfill"/>
            <p:cNvSpPr/>
            <p:nvPr/>
          </p:nvSpPr>
          <p:spPr>
            <a:xfrm>
              <a:off x="6858000" y="3143250"/>
              <a:ext cx="4772254" cy="171450"/>
            </a:xfrm>
            <a:prstGeom prst="rect">
              <a:avLst/>
            </a:prstGeom>
            <a:solidFill>
              <a:srgbClr val="0A1220"/>
            </a:solidFill>
            <a:ln w="12700">
              <a:solidFill>
                <a:srgbClr val="0A1220"/>
              </a:solidFill>
              <a:prstDash val="solid"/>
            </a:ln>
          </p:spPr>
          <p:txBody>
            <a:bodyPr/>
            <a:lstStyle/>
            <a:p>
              <a:endParaRPr lang="en-US"/>
            </a:p>
          </p:txBody>
        </p:sp>
        <p:sp>
          <p:nvSpPr>
            <p:cNvPr id="134" name="sh_dot0"/>
            <p:cNvSpPr/>
            <p:nvPr/>
          </p:nvSpPr>
          <p:spPr>
            <a:xfrm>
              <a:off x="7019848" y="3095610"/>
              <a:ext cx="95098" cy="95098"/>
            </a:xfrm>
            <a:prstGeom prst="ellipse">
              <a:avLst/>
            </a:prstGeom>
            <a:solidFill>
              <a:srgbClr val="F87171"/>
            </a:solidFill>
            <a:ln w="12700">
              <a:solidFill>
                <a:srgbClr val="F87171"/>
              </a:solidFill>
              <a:prstDash val="solid"/>
            </a:ln>
          </p:spPr>
          <p:txBody>
            <a:bodyPr/>
            <a:lstStyle/>
            <a:p>
              <a:endParaRPr lang="en-US"/>
            </a:p>
          </p:txBody>
        </p:sp>
        <p:sp>
          <p:nvSpPr>
            <p:cNvPr id="135" name="sh_dot1"/>
            <p:cNvSpPr/>
            <p:nvPr/>
          </p:nvSpPr>
          <p:spPr>
            <a:xfrm>
              <a:off x="7205472" y="3095610"/>
              <a:ext cx="95098" cy="95098"/>
            </a:xfrm>
            <a:prstGeom prst="ellipse">
              <a:avLst/>
            </a:prstGeom>
            <a:solidFill>
              <a:srgbClr val="FBBF24"/>
            </a:solidFill>
            <a:ln w="12700">
              <a:solidFill>
                <a:srgbClr val="FBBF24"/>
              </a:solidFill>
              <a:prstDash val="solid"/>
            </a:ln>
          </p:spPr>
          <p:txBody>
            <a:bodyPr/>
            <a:lstStyle/>
            <a:p>
              <a:endParaRPr lang="en-US"/>
            </a:p>
          </p:txBody>
        </p:sp>
        <p:sp>
          <p:nvSpPr>
            <p:cNvPr id="136" name="sh_dot2"/>
            <p:cNvSpPr/>
            <p:nvPr/>
          </p:nvSpPr>
          <p:spPr>
            <a:xfrm>
              <a:off x="7391096" y="3095610"/>
              <a:ext cx="95098" cy="95098"/>
            </a:xfrm>
            <a:prstGeom prst="ellipse">
              <a:avLst/>
            </a:prstGeom>
            <a:solidFill>
              <a:srgbClr val="34D399"/>
            </a:solidFill>
            <a:ln w="12700">
              <a:solidFill>
                <a:srgbClr val="34D399"/>
              </a:solidFill>
              <a:prstDash val="solid"/>
            </a:ln>
          </p:spPr>
          <p:txBody>
            <a:bodyPr/>
            <a:lstStyle/>
            <a:p>
              <a:endParaRPr lang="en-US"/>
            </a:p>
          </p:txBody>
        </p:sp>
        <p:sp>
          <p:nvSpPr>
            <p:cNvPr id="137" name="sh_tab"/>
            <p:cNvSpPr/>
            <p:nvPr/>
          </p:nvSpPr>
          <p:spPr>
            <a:xfrm>
              <a:off x="7638897" y="3019349"/>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Shouldly fails (abridged)</a:t>
              </a:r>
              <a:endParaRPr lang="en-US" sz="950" dirty="0"/>
            </a:p>
          </p:txBody>
        </p:sp>
        <p:sp>
          <p:nvSpPr>
            <p:cNvPr id="138" name="sh_L00"/>
            <p:cNvSpPr txBox="1"/>
            <p:nvPr/>
          </p:nvSpPr>
          <p:spPr>
            <a:xfrm>
              <a:off x="7086600" y="3447700"/>
              <a:ext cx="447225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account.Balance</a:t>
              </a:r>
              <a:endParaRPr lang="en-US" sz="900" dirty="0"/>
            </a:p>
          </p:txBody>
        </p:sp>
        <p:sp>
          <p:nvSpPr>
            <p:cNvPr id="139" name="sh_L01"/>
            <p:cNvSpPr txBox="1"/>
            <p:nvPr/>
          </p:nvSpPr>
          <p:spPr>
            <a:xfrm>
              <a:off x="7086600" y="3640740"/>
              <a:ext cx="447225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should be</a:t>
              </a:r>
              <a:endParaRPr lang="en-US" sz="900" dirty="0"/>
            </a:p>
          </p:txBody>
        </p:sp>
        <p:sp>
          <p:nvSpPr>
            <p:cNvPr id="140" name="sh_L02"/>
            <p:cNvSpPr txBox="1"/>
            <p:nvPr/>
          </p:nvSpPr>
          <p:spPr>
            <a:xfrm>
              <a:off x="7086600" y="3833780"/>
              <a:ext cx="447225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150m</a:t>
              </a:r>
              <a:endParaRPr lang="en-US" sz="900" dirty="0"/>
            </a:p>
          </p:txBody>
        </p:sp>
        <p:sp>
          <p:nvSpPr>
            <p:cNvPr id="141" name="sh_L03"/>
            <p:cNvSpPr txBox="1"/>
            <p:nvPr/>
          </p:nvSpPr>
          <p:spPr>
            <a:xfrm>
              <a:off x="7086600" y="4026820"/>
              <a:ext cx="447225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00" b="0" dirty="0">
                  <a:solidFill>
                    <a:srgbClr val="E2E8F0"/>
                  </a:solidFill>
                  <a:latin typeface="Consolas"/>
                  <a:ea typeface="Consolas"/>
                  <a:cs typeface="Consolas"/>
                </a:rPr>
                <a:t>but was</a:t>
              </a:r>
              <a:endParaRPr lang="en-US" sz="900" dirty="0"/>
            </a:p>
          </p:txBody>
        </p:sp>
        <p:sp>
          <p:nvSpPr>
            <p:cNvPr id="142" name="sh_L04"/>
            <p:cNvSpPr txBox="1"/>
            <p:nvPr/>
          </p:nvSpPr>
          <p:spPr>
            <a:xfrm>
              <a:off x="7086600" y="4219860"/>
              <a:ext cx="447225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100m</a:t>
              </a:r>
              <a:endParaRPr lang="en-US" sz="900" dirty="0"/>
            </a:p>
          </p:txBody>
        </p:sp>
      </p:grpSp>
      <p:sp>
        <p:nvSpPr>
          <p:cNvPr id="144" name="fa"/>
          <p:cNvSpPr/>
          <p:nvPr/>
        </p:nvSpPr>
        <p:spPr>
          <a:xfrm>
            <a:off x="543154" y="4572000"/>
            <a:ext cx="6126480" cy="105156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FLUENTASSERTIONS: CHECK THE LICENSE</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v8+ (Jan 2025) is paid for commercial use (Xceed). v7 remains free. Shouldly: free (BSD).</a:t>
            </a:r>
            <a:endParaRPr lang="en-US" sz="1100" dirty="0"/>
          </a:p>
        </p:txBody>
      </p:sp>
      <p:sp>
        <p:nvSpPr>
          <p:cNvPr id="145" name="k"/>
          <p:cNvSpPr/>
          <p:nvPr/>
        </p:nvSpPr>
        <p:spPr>
          <a:xfrm>
            <a:off x="6858000" y="4754880"/>
            <a:ext cx="4772254" cy="868680"/>
          </a:xfrm>
          <a:prstGeom prst="roundRect">
            <a:avLst>
              <a:gd name="adj" fmla="val 8132"/>
            </a:avLst>
          </a:prstGeom>
          <a:solidFill>
            <a:srgbClr val="111B2E"/>
          </a:solidFill>
          <a:ln w="12700">
            <a:solidFill>
              <a:srgbClr val="F472B6"/>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472B6"/>
                </a:solidFill>
                <a:latin typeface="Segoe UI"/>
                <a:ea typeface="Segoe UI"/>
                <a:cs typeface="Segoe UI"/>
              </a:rPr>
              <a:t>THE MESSAGE NAMES THE EXPRESSION</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You know what broke without opening the test.</a:t>
            </a:r>
            <a:endParaRPr lang="en-US" sz="1100" dirty="0"/>
          </a:p>
        </p:txBody>
      </p:sp>
    </p:spTree>
    <p:extLst>
      <p:ext uri="{BB962C8B-B14F-4D97-AF65-F5344CB8AC3E}">
        <p14:creationId xmlns:p14="http://schemas.microsoft.com/office/powerpoint/2010/main" val="511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4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0"/>
                                        </p:tgtEl>
                                        <p:attrNameLst>
                                          <p:attrName>style.visibility</p:attrName>
                                        </p:attrNameLst>
                                      </p:cBhvr>
                                      <p:to>
                                        <p:strVal val="visible"/>
                                      </p:to>
                                    </p:set>
                                    <p:animEffect transition="in" filter="fade">
                                      <p:cBhvr>
                                        <p:cTn id="15" dur="400"/>
                                        <p:tgtEl>
                                          <p:spTgt spid="1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3"/>
                                        </p:tgtEl>
                                        <p:attrNameLst>
                                          <p:attrName>style.visibility</p:attrName>
                                        </p:attrNameLst>
                                      </p:cBhvr>
                                      <p:to>
                                        <p:strVal val="visible"/>
                                      </p:to>
                                    </p:set>
                                    <p:animEffect transition="in" filter="fade">
                                      <p:cBhvr>
                                        <p:cTn id="20" dur="400"/>
                                        <p:tgtEl>
                                          <p:spTgt spid="143"/>
                                        </p:tgtEl>
                                      </p:cBhvr>
                                    </p:animEffect>
                                  </p:childTnLst>
                                </p:cTn>
                              </p:par>
                            </p:childTnLst>
                          </p:cTn>
                        </p:par>
                        <p:par>
                          <p:cTn id="21" fill="hold">
                            <p:stCondLst>
                              <p:cond delay="400"/>
                            </p:stCondLst>
                            <p:childTnLst>
                              <p:par>
                                <p:cTn id="22" presetID="10" presetClass="entr" presetSubtype="0" fill="hold" grpId="0" nodeType="afterEffect">
                                  <p:stCondLst>
                                    <p:cond delay="0"/>
                                  </p:stCondLst>
                                  <p:childTnLst>
                                    <p:set>
                                      <p:cBhvr>
                                        <p:cTn id="23" dur="1" fill="hold">
                                          <p:stCondLst>
                                            <p:cond delay="0"/>
                                          </p:stCondLst>
                                        </p:cTn>
                                        <p:tgtEl>
                                          <p:spTgt spid="145"/>
                                        </p:tgtEl>
                                        <p:attrNameLst>
                                          <p:attrName>style.visibility</p:attrName>
                                        </p:attrNameLst>
                                      </p:cBhvr>
                                      <p:to>
                                        <p:strVal val="visible"/>
                                      </p:to>
                                    </p:set>
                                    <p:animEffect transition="in" filter="fade">
                                      <p:cBhvr>
                                        <p:cTn id="24" dur="400"/>
                                        <p:tgtEl>
                                          <p:spTgt spid="14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4"/>
                                        </p:tgtEl>
                                        <p:attrNameLst>
                                          <p:attrName>style.visibility</p:attrName>
                                        </p:attrNameLst>
                                      </p:cBhvr>
                                      <p:to>
                                        <p:strVal val="visible"/>
                                      </p:to>
                                    </p:set>
                                    <p:animEffect transition="in" filter="fade">
                                      <p:cBhvr>
                                        <p:cTn id="29" dur="4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44" grpId="0" animBg="1"/>
      <p:bldP spid="145"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472B6">
              <a:alpha val="18000"/>
            </a:srgbClr>
          </a:solidFill>
          <a:ln w="12700">
            <a:solidFill>
              <a:srgbClr val="F472B6"/>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472B6"/>
                </a:solidFill>
                <a:latin typeface="Segoe UI"/>
                <a:ea typeface="Segoe UI"/>
                <a:cs typeface="Segoe UI"/>
              </a:rPr>
              <a:t>BOGUS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Bogus: Realistic Fake Data</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LIBRARIES</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131</a:t>
            </a:r>
            <a:endParaRPr lang="en-US" sz="850" dirty="0"/>
          </a:p>
        </p:txBody>
      </p:sp>
      <p:sp>
        <p:nvSpPr>
          <p:cNvPr id="101" name="cl"/>
          <p:cNvSpPr txBox="1"/>
          <p:nvPr/>
        </p:nvSpPr>
        <p:spPr>
          <a:xfrm>
            <a:off x="543154" y="1463040"/>
            <a:ext cx="39319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4703674" y="1463040"/>
            <a:ext cx="69265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17" name="cls"/>
          <p:cNvGrpSpPr/>
          <p:nvPr/>
        </p:nvGrpSpPr>
        <p:grpSpPr>
          <a:xfrm>
            <a:off x="543154" y="1755648"/>
            <a:ext cx="3931920" cy="1715900"/>
            <a:chOff x="543154" y="1755648"/>
            <a:chExt cx="3931920" cy="1715900"/>
          </a:xfrm>
        </p:grpSpPr>
        <p:sp>
          <p:nvSpPr>
            <p:cNvPr id="103" name="cls_win"/>
            <p:cNvSpPr/>
            <p:nvPr/>
          </p:nvSpPr>
          <p:spPr>
            <a:xfrm>
              <a:off x="543154" y="1755648"/>
              <a:ext cx="3931920" cy="1715900"/>
            </a:xfrm>
            <a:prstGeom prst="roundRect">
              <a:avLst>
                <a:gd name="adj" fmla="val 3995"/>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39319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393192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Customer.cs</a:t>
              </a:r>
              <a:endParaRPr lang="en-US" sz="950" dirty="0"/>
            </a:p>
          </p:txBody>
        </p:sp>
        <p:sp>
          <p:nvSpPr>
            <p:cNvPr id="110" name="cls_L00"/>
            <p:cNvSpPr txBox="1"/>
            <p:nvPr/>
          </p:nvSpPr>
          <p:spPr>
            <a:xfrm>
              <a:off x="771754" y="2231548"/>
              <a:ext cx="36319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class</a:t>
              </a:r>
              <a:r>
                <a:rPr lang="en-US" sz="780" b="0" dirty="0">
                  <a:solidFill>
                    <a:srgbClr val="E2E8F0"/>
                  </a:solidFill>
                  <a:latin typeface="Consolas"/>
                  <a:ea typeface="Consolas"/>
                  <a:cs typeface="Consolas"/>
                </a:rPr>
                <a:t> Customer</a:t>
              </a:r>
              <a:endParaRPr lang="en-US" sz="780" dirty="0"/>
            </a:p>
          </p:txBody>
        </p:sp>
        <p:sp>
          <p:nvSpPr>
            <p:cNvPr id="111" name="cls_L01"/>
            <p:cNvSpPr txBox="1"/>
            <p:nvPr/>
          </p:nvSpPr>
          <p:spPr>
            <a:xfrm>
              <a:off x="771754" y="2391548"/>
              <a:ext cx="36319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12" name="cls_L02"/>
            <p:cNvSpPr txBox="1"/>
            <p:nvPr/>
          </p:nvSpPr>
          <p:spPr>
            <a:xfrm>
              <a:off x="771754" y="2551548"/>
              <a:ext cx="3631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Name { </a:t>
              </a:r>
              <a:r>
                <a:rPr lang="en-US" sz="780" b="0" dirty="0">
                  <a:solidFill>
                    <a:srgbClr val="60A5FA"/>
                  </a:solidFill>
                  <a:latin typeface="Consolas"/>
                  <a:ea typeface="Consolas"/>
                  <a:cs typeface="Consolas"/>
                </a:rPr>
                <a:t>get</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set</a:t>
              </a:r>
              <a:r>
                <a:rPr lang="en-US" sz="780" b="0" dirty="0">
                  <a:solidFill>
                    <a:srgbClr val="E2E8F0"/>
                  </a:solidFill>
                  <a:latin typeface="Consolas"/>
                  <a:ea typeface="Consolas"/>
                  <a:cs typeface="Consolas"/>
                </a:rPr>
                <a:t>; } = </a:t>
              </a:r>
              <a:r>
                <a:rPr lang="en-US" sz="780" b="0" dirty="0">
                  <a:solidFill>
                    <a:srgbClr val="F0A98B"/>
                  </a:solidFill>
                  <a:latin typeface="Consolas"/>
                  <a:ea typeface="Consolas"/>
                  <a:cs typeface="Consolas"/>
                </a:rPr>
                <a:t>""</a:t>
              </a:r>
              <a:r>
                <a:rPr lang="en-US" sz="780" b="0" dirty="0">
                  <a:solidFill>
                    <a:srgbClr val="E2E8F0"/>
                  </a:solidFill>
                  <a:latin typeface="Consolas"/>
                  <a:ea typeface="Consolas"/>
                  <a:cs typeface="Consolas"/>
                </a:rPr>
                <a:t>;</a:t>
              </a:r>
              <a:endParaRPr lang="en-US" sz="780" dirty="0"/>
            </a:p>
          </p:txBody>
        </p:sp>
        <p:sp>
          <p:nvSpPr>
            <p:cNvPr id="113" name="cls_L03"/>
            <p:cNvSpPr txBox="1"/>
            <p:nvPr/>
          </p:nvSpPr>
          <p:spPr>
            <a:xfrm>
              <a:off x="771754" y="2711548"/>
              <a:ext cx="3631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Email { </a:t>
              </a:r>
              <a:r>
                <a:rPr lang="en-US" sz="780" b="0" dirty="0">
                  <a:solidFill>
                    <a:srgbClr val="60A5FA"/>
                  </a:solidFill>
                  <a:latin typeface="Consolas"/>
                  <a:ea typeface="Consolas"/>
                  <a:cs typeface="Consolas"/>
                </a:rPr>
                <a:t>get</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set</a:t>
              </a:r>
              <a:r>
                <a:rPr lang="en-US" sz="780" b="0" dirty="0">
                  <a:solidFill>
                    <a:srgbClr val="E2E8F0"/>
                  </a:solidFill>
                  <a:latin typeface="Consolas"/>
                  <a:ea typeface="Consolas"/>
                  <a:cs typeface="Consolas"/>
                </a:rPr>
                <a:t>; } = </a:t>
              </a:r>
              <a:r>
                <a:rPr lang="en-US" sz="780" b="0" dirty="0">
                  <a:solidFill>
                    <a:srgbClr val="F0A98B"/>
                  </a:solidFill>
                  <a:latin typeface="Consolas"/>
                  <a:ea typeface="Consolas"/>
                  <a:cs typeface="Consolas"/>
                </a:rPr>
                <a:t>""</a:t>
              </a:r>
              <a:r>
                <a:rPr lang="en-US" sz="780" b="0" dirty="0">
                  <a:solidFill>
                    <a:srgbClr val="E2E8F0"/>
                  </a:solidFill>
                  <a:latin typeface="Consolas"/>
                  <a:ea typeface="Consolas"/>
                  <a:cs typeface="Consolas"/>
                </a:rPr>
                <a:t>;</a:t>
              </a:r>
              <a:endParaRPr lang="en-US" sz="780" dirty="0"/>
            </a:p>
          </p:txBody>
        </p:sp>
        <p:sp>
          <p:nvSpPr>
            <p:cNvPr id="114" name="cls_L04"/>
            <p:cNvSpPr txBox="1"/>
            <p:nvPr/>
          </p:nvSpPr>
          <p:spPr>
            <a:xfrm>
              <a:off x="771754" y="2871548"/>
              <a:ext cx="3631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string</a:t>
              </a:r>
              <a:r>
                <a:rPr lang="en-US" sz="780" b="0" dirty="0">
                  <a:solidFill>
                    <a:srgbClr val="E2E8F0"/>
                  </a:solidFill>
                  <a:latin typeface="Consolas"/>
                  <a:ea typeface="Consolas"/>
                  <a:cs typeface="Consolas"/>
                </a:rPr>
                <a:t> Phone { </a:t>
              </a:r>
              <a:r>
                <a:rPr lang="en-US" sz="780" b="0" dirty="0">
                  <a:solidFill>
                    <a:srgbClr val="60A5FA"/>
                  </a:solidFill>
                  <a:latin typeface="Consolas"/>
                  <a:ea typeface="Consolas"/>
                  <a:cs typeface="Consolas"/>
                </a:rPr>
                <a:t>get</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set</a:t>
              </a:r>
              <a:r>
                <a:rPr lang="en-US" sz="780" b="0" dirty="0">
                  <a:solidFill>
                    <a:srgbClr val="E2E8F0"/>
                  </a:solidFill>
                  <a:latin typeface="Consolas"/>
                  <a:ea typeface="Consolas"/>
                  <a:cs typeface="Consolas"/>
                </a:rPr>
                <a:t>; } = </a:t>
              </a:r>
              <a:r>
                <a:rPr lang="en-US" sz="780" b="0" dirty="0">
                  <a:solidFill>
                    <a:srgbClr val="F0A98B"/>
                  </a:solidFill>
                  <a:latin typeface="Consolas"/>
                  <a:ea typeface="Consolas"/>
                  <a:cs typeface="Consolas"/>
                </a:rPr>
                <a:t>""</a:t>
              </a:r>
              <a:r>
                <a:rPr lang="en-US" sz="780" b="0" dirty="0">
                  <a:solidFill>
                    <a:srgbClr val="E2E8F0"/>
                  </a:solidFill>
                  <a:latin typeface="Consolas"/>
                  <a:ea typeface="Consolas"/>
                  <a:cs typeface="Consolas"/>
                </a:rPr>
                <a:t>;</a:t>
              </a:r>
              <a:endParaRPr lang="en-US" sz="780" dirty="0"/>
            </a:p>
          </p:txBody>
        </p:sp>
        <p:sp>
          <p:nvSpPr>
            <p:cNvPr id="115" name="cls_L05"/>
            <p:cNvSpPr txBox="1"/>
            <p:nvPr/>
          </p:nvSpPr>
          <p:spPr>
            <a:xfrm>
              <a:off x="771754" y="3031548"/>
              <a:ext cx="36319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int</a:t>
              </a:r>
              <a:r>
                <a:rPr lang="en-US" sz="780" b="0" dirty="0">
                  <a:solidFill>
                    <a:srgbClr val="E2E8F0"/>
                  </a:solidFill>
                  <a:latin typeface="Consolas"/>
                  <a:ea typeface="Consolas"/>
                  <a:cs typeface="Consolas"/>
                </a:rPr>
                <a:t> Age { </a:t>
              </a:r>
              <a:r>
                <a:rPr lang="en-US" sz="780" b="0" dirty="0">
                  <a:solidFill>
                    <a:srgbClr val="60A5FA"/>
                  </a:solidFill>
                  <a:latin typeface="Consolas"/>
                  <a:ea typeface="Consolas"/>
                  <a:cs typeface="Consolas"/>
                </a:rPr>
                <a:t>get</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set</a:t>
              </a:r>
              <a:r>
                <a:rPr lang="en-US" sz="780" b="0" dirty="0">
                  <a:solidFill>
                    <a:srgbClr val="E2E8F0"/>
                  </a:solidFill>
                  <a:latin typeface="Consolas"/>
                  <a:ea typeface="Consolas"/>
                  <a:cs typeface="Consolas"/>
                </a:rPr>
                <a:t>; }</a:t>
              </a:r>
              <a:endParaRPr lang="en-US" sz="780" dirty="0"/>
            </a:p>
          </p:txBody>
        </p:sp>
        <p:sp>
          <p:nvSpPr>
            <p:cNvPr id="116" name="cls_L06"/>
            <p:cNvSpPr txBox="1"/>
            <p:nvPr/>
          </p:nvSpPr>
          <p:spPr>
            <a:xfrm>
              <a:off x="771754" y="3191548"/>
              <a:ext cx="36319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grpSp>
      <p:grpSp>
        <p:nvGrpSpPr>
          <p:cNvPr id="143" name="tst"/>
          <p:cNvGrpSpPr/>
          <p:nvPr/>
        </p:nvGrpSpPr>
        <p:grpSpPr>
          <a:xfrm>
            <a:off x="4703674" y="1755648"/>
            <a:ext cx="6926580" cy="3795900"/>
            <a:chOff x="4703674" y="1755648"/>
            <a:chExt cx="6926580" cy="3795900"/>
          </a:xfrm>
        </p:grpSpPr>
        <p:sp>
          <p:nvSpPr>
            <p:cNvPr id="118" name="tst_win"/>
            <p:cNvSpPr/>
            <p:nvPr/>
          </p:nvSpPr>
          <p:spPr>
            <a:xfrm>
              <a:off x="4703674" y="1755648"/>
              <a:ext cx="6926580" cy="3795900"/>
            </a:xfrm>
            <a:prstGeom prst="roundRect">
              <a:avLst>
                <a:gd name="adj" fmla="val 1805"/>
              </a:avLst>
            </a:prstGeom>
            <a:solidFill>
              <a:srgbClr val="060D18"/>
            </a:solidFill>
            <a:ln w="12700">
              <a:solidFill>
                <a:srgbClr val="1E3A5F"/>
              </a:solidFill>
              <a:prstDash val="solid"/>
            </a:ln>
          </p:spPr>
          <p:txBody>
            <a:bodyPr/>
            <a:lstStyle/>
            <a:p>
              <a:endParaRPr lang="en-US"/>
            </a:p>
          </p:txBody>
        </p:sp>
        <p:sp>
          <p:nvSpPr>
            <p:cNvPr id="119" name="tst_bar"/>
            <p:cNvSpPr/>
            <p:nvPr/>
          </p:nvSpPr>
          <p:spPr>
            <a:xfrm>
              <a:off x="4703674" y="1755648"/>
              <a:ext cx="69265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0" name="tst_barfill"/>
            <p:cNvSpPr/>
            <p:nvPr/>
          </p:nvSpPr>
          <p:spPr>
            <a:xfrm>
              <a:off x="4703674" y="1927098"/>
              <a:ext cx="6926580" cy="171450"/>
            </a:xfrm>
            <a:prstGeom prst="rect">
              <a:avLst/>
            </a:prstGeom>
            <a:solidFill>
              <a:srgbClr val="0A1220"/>
            </a:solidFill>
            <a:ln w="12700">
              <a:solidFill>
                <a:srgbClr val="0A1220"/>
              </a:solidFill>
              <a:prstDash val="solid"/>
            </a:ln>
          </p:spPr>
          <p:txBody>
            <a:bodyPr/>
            <a:lstStyle/>
            <a:p>
              <a:endParaRPr lang="en-US"/>
            </a:p>
          </p:txBody>
        </p:sp>
        <p:sp>
          <p:nvSpPr>
            <p:cNvPr id="121" name="tst_dot0"/>
            <p:cNvSpPr/>
            <p:nvPr/>
          </p:nvSpPr>
          <p:spPr>
            <a:xfrm>
              <a:off x="486552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2" name="tst_dot1"/>
            <p:cNvSpPr/>
            <p:nvPr/>
          </p:nvSpPr>
          <p:spPr>
            <a:xfrm>
              <a:off x="505114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3" name="tst_dot2"/>
            <p:cNvSpPr/>
            <p:nvPr/>
          </p:nvSpPr>
          <p:spPr>
            <a:xfrm>
              <a:off x="523677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4" name="tst_tab"/>
            <p:cNvSpPr/>
            <p:nvPr/>
          </p:nvSpPr>
          <p:spPr>
            <a:xfrm>
              <a:off x="5484571" y="180319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CustomerDataTests.cs</a:t>
              </a:r>
              <a:endParaRPr lang="en-US" sz="950" dirty="0"/>
            </a:p>
          </p:txBody>
        </p:sp>
        <p:sp>
          <p:nvSpPr>
            <p:cNvPr id="125" name="tst_L00"/>
            <p:cNvSpPr txBox="1"/>
            <p:nvPr/>
          </p:nvSpPr>
          <p:spPr>
            <a:xfrm>
              <a:off x="4932274" y="223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private</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static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readonly</a:t>
              </a:r>
              <a:r>
                <a:rPr lang="en-US" sz="780" b="0" dirty="0">
                  <a:solidFill>
                    <a:srgbClr val="E2E8F0"/>
                  </a:solidFill>
                  <a:latin typeface="Consolas"/>
                  <a:ea typeface="Consolas"/>
                  <a:cs typeface="Consolas"/>
                </a:rPr>
                <a:t> Faker&lt;Customer&gt; Customers = </a:t>
              </a:r>
              <a:r>
                <a:rPr lang="en-US" sz="780" b="0" dirty="0">
                  <a:solidFill>
                    <a:srgbClr val="60A5FA"/>
                  </a:solidFill>
                  <a:latin typeface="Consolas"/>
                  <a:ea typeface="Consolas"/>
                  <a:cs typeface="Consolas"/>
                </a:rPr>
                <a:t>new</a:t>
              </a:r>
              <a:r>
                <a:rPr lang="en-US" sz="780" b="0" dirty="0">
                  <a:solidFill>
                    <a:srgbClr val="E2E8F0"/>
                  </a:solidFill>
                  <a:latin typeface="Consolas"/>
                  <a:ea typeface="Consolas"/>
                  <a:cs typeface="Consolas"/>
                </a:rPr>
                <a:t> Faker&lt;Customer&gt;()</a:t>
              </a:r>
              <a:endParaRPr lang="en-US" sz="780" dirty="0"/>
            </a:p>
          </p:txBody>
        </p:sp>
        <p:sp>
          <p:nvSpPr>
            <p:cNvPr id="126" name="tst_L01"/>
            <p:cNvSpPr txBox="1"/>
            <p:nvPr/>
          </p:nvSpPr>
          <p:spPr>
            <a:xfrm>
              <a:off x="4932274" y="239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.UseSeed(2026)                                   </a:t>
              </a:r>
              <a:r>
                <a:rPr lang="en-US" sz="780" b="0" dirty="0">
                  <a:solidFill>
                    <a:srgbClr val="6FAE7A"/>
                  </a:solidFill>
                  <a:latin typeface="Consolas"/>
                  <a:ea typeface="Consolas"/>
                  <a:cs typeface="Consolas"/>
                </a:rPr>
                <a:t>// same data every run</a:t>
              </a:r>
              <a:endParaRPr lang="en-US" sz="780" dirty="0"/>
            </a:p>
          </p:txBody>
        </p:sp>
        <p:sp>
          <p:nvSpPr>
            <p:cNvPr id="127" name="tst_L02"/>
            <p:cNvSpPr txBox="1"/>
            <p:nvPr/>
          </p:nvSpPr>
          <p:spPr>
            <a:xfrm>
              <a:off x="4932274" y="255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.RuleFor(c =&gt; c.Name, f =&gt; f.Name.FullName())</a:t>
              </a:r>
              <a:endParaRPr lang="en-US" sz="780" dirty="0"/>
            </a:p>
          </p:txBody>
        </p:sp>
        <p:sp>
          <p:nvSpPr>
            <p:cNvPr id="128" name="tst_L03"/>
            <p:cNvSpPr txBox="1"/>
            <p:nvPr/>
          </p:nvSpPr>
          <p:spPr>
            <a:xfrm>
              <a:off x="4932274" y="271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.RuleFor(c =&gt; c.Email, f =&gt; f.Internet.Email())</a:t>
              </a:r>
              <a:endParaRPr lang="en-US" sz="780" dirty="0"/>
            </a:p>
          </p:txBody>
        </p:sp>
        <p:sp>
          <p:nvSpPr>
            <p:cNvPr id="129" name="tst_L04"/>
            <p:cNvSpPr txBox="1"/>
            <p:nvPr/>
          </p:nvSpPr>
          <p:spPr>
            <a:xfrm>
              <a:off x="4932274" y="287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.RuleFor(c =&gt; c.Phone, f =&gt; f.Phone.PhoneNumber(</a:t>
              </a:r>
              <a:r>
                <a:rPr lang="en-US" sz="780" b="0" dirty="0">
                  <a:solidFill>
                    <a:srgbClr val="F0A98B"/>
                  </a:solidFill>
                  <a:latin typeface="Consolas"/>
                  <a:ea typeface="Consolas"/>
                  <a:cs typeface="Consolas"/>
                </a:rPr>
                <a:t>"010########"</a:t>
              </a:r>
              <a:r>
                <a:rPr lang="en-US" sz="780" b="0" dirty="0">
                  <a:solidFill>
                    <a:srgbClr val="E2E8F0"/>
                  </a:solidFill>
                  <a:latin typeface="Consolas"/>
                  <a:ea typeface="Consolas"/>
                  <a:cs typeface="Consolas"/>
                </a:rPr>
                <a:t>))</a:t>
              </a:r>
              <a:endParaRPr lang="en-US" sz="780" dirty="0"/>
            </a:p>
          </p:txBody>
        </p:sp>
        <p:sp>
          <p:nvSpPr>
            <p:cNvPr id="130" name="tst_L05"/>
            <p:cNvSpPr txBox="1"/>
            <p:nvPr/>
          </p:nvSpPr>
          <p:spPr>
            <a:xfrm>
              <a:off x="4932274" y="303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.RuleFor(c =&gt; c.Age, f =&gt; f.Random.Int(1, 90));</a:t>
              </a:r>
              <a:endParaRPr lang="en-US" sz="780" dirty="0"/>
            </a:p>
          </p:txBody>
        </p:sp>
        <p:sp>
          <p:nvSpPr>
            <p:cNvPr id="131" name="tst_L07"/>
            <p:cNvSpPr txBox="1"/>
            <p:nvPr/>
          </p:nvSpPr>
          <p:spPr>
            <a:xfrm>
              <a:off x="4932274" y="335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[Fact]</a:t>
              </a:r>
              <a:endParaRPr lang="en-US" sz="780" dirty="0"/>
            </a:p>
          </p:txBody>
        </p:sp>
        <p:sp>
          <p:nvSpPr>
            <p:cNvPr id="132" name="tst_L08"/>
            <p:cNvSpPr txBox="1"/>
            <p:nvPr/>
          </p:nvSpPr>
          <p:spPr>
            <a:xfrm>
              <a:off x="4932274" y="351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void</a:t>
              </a:r>
              <a:r>
                <a:rPr lang="en-US" sz="780" b="0" dirty="0">
                  <a:solidFill>
                    <a:srgbClr val="E2E8F0"/>
                  </a:solidFill>
                  <a:latin typeface="Consolas"/>
                  <a:ea typeface="Consolas"/>
                  <a:cs typeface="Consolas"/>
                </a:rPr>
                <a:t> GeneratedCustomers_HaveValidEmails()</a:t>
              </a:r>
              <a:endParaRPr lang="en-US" sz="780" dirty="0"/>
            </a:p>
          </p:txBody>
        </p:sp>
        <p:sp>
          <p:nvSpPr>
            <p:cNvPr id="133" name="tst_L09"/>
            <p:cNvSpPr txBox="1"/>
            <p:nvPr/>
          </p:nvSpPr>
          <p:spPr>
            <a:xfrm>
              <a:off x="4932274" y="367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34" name="tst_L10"/>
            <p:cNvSpPr txBox="1"/>
            <p:nvPr/>
          </p:nvSpPr>
          <p:spPr>
            <a:xfrm>
              <a:off x="4932274" y="383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List&lt;Customer&gt; customers = Customers.Generate(100);</a:t>
              </a:r>
              <a:endParaRPr lang="en-US" sz="780" dirty="0"/>
            </a:p>
          </p:txBody>
        </p:sp>
        <p:sp>
          <p:nvSpPr>
            <p:cNvPr id="135" name="tst_L11"/>
            <p:cNvSpPr txBox="1"/>
            <p:nvPr/>
          </p:nvSpPr>
          <p:spPr>
            <a:xfrm>
              <a:off x="4932274" y="399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E2E8F0"/>
                  </a:solidFill>
                  <a:latin typeface="Consolas"/>
                  <a:ea typeface="Consolas"/>
                  <a:cs typeface="Consolas"/>
                </a:rPr>
                <a:t>customers.ShouldAllBe(c =&gt; EmailValidator.IsValid(c.Email));</a:t>
              </a:r>
              <a:endParaRPr lang="en-US" sz="780" dirty="0"/>
            </a:p>
          </p:txBody>
        </p:sp>
        <p:sp>
          <p:nvSpPr>
            <p:cNvPr id="136" name="tst_L12"/>
            <p:cNvSpPr txBox="1"/>
            <p:nvPr/>
          </p:nvSpPr>
          <p:spPr>
            <a:xfrm>
              <a:off x="4932274" y="415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37" name="tst_L14"/>
            <p:cNvSpPr txBox="1"/>
            <p:nvPr/>
          </p:nvSpPr>
          <p:spPr>
            <a:xfrm>
              <a:off x="4932274" y="447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[Fact]</a:t>
              </a:r>
              <a:endParaRPr lang="en-US" sz="780" dirty="0"/>
            </a:p>
          </p:txBody>
        </p:sp>
        <p:sp>
          <p:nvSpPr>
            <p:cNvPr id="138" name="tst_L15"/>
            <p:cNvSpPr txBox="1"/>
            <p:nvPr/>
          </p:nvSpPr>
          <p:spPr>
            <a:xfrm>
              <a:off x="4932274" y="463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60A5FA"/>
                  </a:solidFill>
                  <a:latin typeface="Consolas"/>
                  <a:ea typeface="Consolas"/>
                  <a:cs typeface="Consolas"/>
                </a:rPr>
                <a:t>public</a:t>
              </a:r>
              <a:r>
                <a:rPr lang="en-US" sz="780" b="0" dirty="0">
                  <a:solidFill>
                    <a:srgbClr val="E2E8F0"/>
                  </a:solidFill>
                  <a:latin typeface="Consolas"/>
                  <a:ea typeface="Consolas"/>
                  <a:cs typeface="Consolas"/>
                </a:rPr>
                <a:t> </a:t>
              </a:r>
              <a:r>
                <a:rPr lang="en-US" sz="780" b="0" dirty="0">
                  <a:solidFill>
                    <a:srgbClr val="60A5FA"/>
                  </a:solidFill>
                  <a:latin typeface="Consolas"/>
                  <a:ea typeface="Consolas"/>
                  <a:cs typeface="Consolas"/>
                </a:rPr>
                <a:t>void</a:t>
              </a:r>
              <a:r>
                <a:rPr lang="en-US" sz="780" b="0" dirty="0">
                  <a:solidFill>
                    <a:srgbClr val="E2E8F0"/>
                  </a:solidFill>
                  <a:latin typeface="Consolas"/>
                  <a:ea typeface="Consolas"/>
                  <a:cs typeface="Consolas"/>
                </a:rPr>
                <a:t> EveryAge_GetsATicketPrice()</a:t>
              </a:r>
              <a:endParaRPr lang="en-US" sz="780" dirty="0"/>
            </a:p>
          </p:txBody>
        </p:sp>
        <p:sp>
          <p:nvSpPr>
            <p:cNvPr id="139" name="tst_L16"/>
            <p:cNvSpPr txBox="1"/>
            <p:nvPr/>
          </p:nvSpPr>
          <p:spPr>
            <a:xfrm>
              <a:off x="4932274" y="479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sp>
          <p:nvSpPr>
            <p:cNvPr id="140" name="tst_L17"/>
            <p:cNvSpPr txBox="1"/>
            <p:nvPr/>
          </p:nvSpPr>
          <p:spPr>
            <a:xfrm>
              <a:off x="4932274" y="4951548"/>
              <a:ext cx="662658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80" b="0" dirty="0">
                  <a:solidFill>
                    <a:srgbClr val="60A5FA"/>
                  </a:solidFill>
                  <a:latin typeface="Consolas"/>
                  <a:ea typeface="Consolas"/>
                  <a:cs typeface="Consolas"/>
                </a:rPr>
                <a:t>foreach</a:t>
              </a:r>
              <a:r>
                <a:rPr lang="en-US" sz="780" b="0" dirty="0">
                  <a:solidFill>
                    <a:srgbClr val="E2E8F0"/>
                  </a:solidFill>
                  <a:latin typeface="Consolas"/>
                  <a:ea typeface="Consolas"/>
                  <a:cs typeface="Consolas"/>
                </a:rPr>
                <a:t> (Customer c </a:t>
              </a:r>
              <a:r>
                <a:rPr lang="en-US" sz="780" b="0" dirty="0">
                  <a:solidFill>
                    <a:srgbClr val="60A5FA"/>
                  </a:solidFill>
                  <a:latin typeface="Consolas"/>
                  <a:ea typeface="Consolas"/>
                  <a:cs typeface="Consolas"/>
                </a:rPr>
                <a:t>in</a:t>
              </a:r>
              <a:r>
                <a:rPr lang="en-US" sz="780" b="0" dirty="0">
                  <a:solidFill>
                    <a:srgbClr val="E2E8F0"/>
                  </a:solidFill>
                  <a:latin typeface="Consolas"/>
                  <a:ea typeface="Consolas"/>
                  <a:cs typeface="Consolas"/>
                </a:rPr>
                <a:t> Customers.Generate(100))</a:t>
              </a:r>
              <a:endParaRPr lang="en-US" sz="780" dirty="0"/>
            </a:p>
          </p:txBody>
        </p:sp>
        <p:sp>
          <p:nvSpPr>
            <p:cNvPr id="141" name="tst_L18"/>
            <p:cNvSpPr txBox="1"/>
            <p:nvPr/>
          </p:nvSpPr>
          <p:spPr>
            <a:xfrm>
              <a:off x="4932274" y="5111548"/>
              <a:ext cx="662658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80" b="0" dirty="0">
                  <a:solidFill>
                    <a:srgbClr val="E2E8F0"/>
                  </a:solidFill>
                  <a:latin typeface="Consolas"/>
                  <a:ea typeface="Consolas"/>
                  <a:cs typeface="Consolas"/>
                </a:rPr>
                <a:t>TicketPricer.PriceFor(c.Age).ShouldBeGreaterThan(0m);</a:t>
              </a:r>
              <a:endParaRPr lang="en-US" sz="780" dirty="0"/>
            </a:p>
          </p:txBody>
        </p:sp>
        <p:sp>
          <p:nvSpPr>
            <p:cNvPr id="142" name="tst_L19"/>
            <p:cNvSpPr txBox="1"/>
            <p:nvPr/>
          </p:nvSpPr>
          <p:spPr>
            <a:xfrm>
              <a:off x="4932274" y="5271548"/>
              <a:ext cx="662658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80" b="0" dirty="0">
                  <a:solidFill>
                    <a:srgbClr val="E2E8F0"/>
                  </a:solidFill>
                  <a:latin typeface="Consolas"/>
                  <a:ea typeface="Consolas"/>
                  <a:cs typeface="Consolas"/>
                </a:rPr>
                <a:t>}</a:t>
              </a:r>
              <a:endParaRPr lang="en-US" sz="780" dirty="0"/>
            </a:p>
          </p:txBody>
        </p:sp>
      </p:grpSp>
      <p:sp>
        <p:nvSpPr>
          <p:cNvPr id="144" name="tst_hl1"/>
          <p:cNvSpPr/>
          <p:nvPr/>
        </p:nvSpPr>
        <p:spPr>
          <a:xfrm>
            <a:off x="4837176" y="2373260"/>
            <a:ext cx="6659580" cy="19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45" name="tst_hl2"/>
          <p:cNvSpPr/>
          <p:nvPr/>
        </p:nvSpPr>
        <p:spPr>
          <a:xfrm>
            <a:off x="4837176" y="2533260"/>
            <a:ext cx="665958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6" name="tst_hl3"/>
          <p:cNvSpPr/>
          <p:nvPr/>
        </p:nvSpPr>
        <p:spPr>
          <a:xfrm>
            <a:off x="4837176" y="2693260"/>
            <a:ext cx="665958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7" name="tst_hl4"/>
          <p:cNvSpPr/>
          <p:nvPr/>
        </p:nvSpPr>
        <p:spPr>
          <a:xfrm>
            <a:off x="4837176" y="2853260"/>
            <a:ext cx="665958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8" name="tst_hl5"/>
          <p:cNvSpPr/>
          <p:nvPr/>
        </p:nvSpPr>
        <p:spPr>
          <a:xfrm>
            <a:off x="4837176" y="3013260"/>
            <a:ext cx="665958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9" name="tst_hl11"/>
          <p:cNvSpPr/>
          <p:nvPr/>
        </p:nvSpPr>
        <p:spPr>
          <a:xfrm>
            <a:off x="4837176" y="3973260"/>
            <a:ext cx="665958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0" name="tst_hl18"/>
          <p:cNvSpPr/>
          <p:nvPr/>
        </p:nvSpPr>
        <p:spPr>
          <a:xfrm>
            <a:off x="4837176" y="5093260"/>
            <a:ext cx="665958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1" name="k1"/>
          <p:cNvSpPr/>
          <p:nvPr/>
        </p:nvSpPr>
        <p:spPr>
          <a:xfrm>
            <a:off x="543154" y="3456432"/>
            <a:ext cx="3931920" cy="713232"/>
          </a:xfrm>
          <a:prstGeom prst="roundRect">
            <a:avLst>
              <a:gd name="adj" fmla="val 8132"/>
            </a:avLst>
          </a:prstGeom>
          <a:solidFill>
            <a:srgbClr val="111B2E"/>
          </a:solidFill>
          <a:ln w="12700">
            <a:solidFill>
              <a:srgbClr val="F472B6"/>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472B6"/>
                </a:solidFill>
                <a:latin typeface="Segoe UI"/>
                <a:ea typeface="Segoe UI"/>
                <a:cs typeface="Segoe UI"/>
              </a:rPr>
              <a:t>REALISTIC VALUES</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f.Name · f.Internet · f.Phone · f.Random</a:t>
            </a:r>
            <a:endParaRPr lang="en-US" sz="1050" dirty="0"/>
          </a:p>
        </p:txBody>
      </p:sp>
      <p:sp>
        <p:nvSpPr>
          <p:cNvPr id="152" name="k2"/>
          <p:cNvSpPr/>
          <p:nvPr/>
        </p:nvSpPr>
        <p:spPr>
          <a:xfrm>
            <a:off x="543154" y="4242816"/>
            <a:ext cx="3931920" cy="713232"/>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ALWAYS SEED IT</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A failure can be reproduced exactly.</a:t>
            </a:r>
            <a:endParaRPr lang="en-US" sz="1050" dirty="0"/>
          </a:p>
        </p:txBody>
      </p:sp>
      <p:sp>
        <p:nvSpPr>
          <p:cNvPr id="153" name="k3"/>
          <p:cNvSpPr/>
          <p:nvPr/>
        </p:nvSpPr>
        <p:spPr>
          <a:xfrm>
            <a:off x="543154" y="5029200"/>
            <a:ext cx="3931920" cy="713232"/>
          </a:xfrm>
          <a:prstGeom prst="roundRect">
            <a:avLst>
              <a:gd name="adj" fmla="val 8132"/>
            </a:avLst>
          </a:prstGeom>
          <a:solidFill>
            <a:srgbClr val="111B2E"/>
          </a:solidFill>
          <a:ln w="12700">
            <a:solidFill>
              <a:srgbClr val="94A3B8"/>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94A3B8"/>
                </a:solidFill>
                <a:latin typeface="Segoe UI"/>
                <a:ea typeface="Segoe UI"/>
                <a:cs typeface="Segoe UI"/>
              </a:rPr>
              <a:t>ALSO KNOW: AutoFixture</a:t>
            </a:r>
            <a:endParaRPr lang="en-US" sz="1100" dirty="0"/>
          </a:p>
          <a:p>
            <a:pPr marL="0" indent="0" algn="l">
              <a:spcBef>
                <a:spcPts val="0"/>
              </a:spcBef>
              <a:spcAft>
                <a:spcPts val="0"/>
              </a:spcAft>
              <a:buNone/>
            </a:pPr>
            <a:r>
              <a:rPr lang="en-US" sz="1050" b="0" dirty="0">
                <a:solidFill>
                  <a:srgbClr val="CBD5E1"/>
                </a:solidFill>
                <a:latin typeface="Segoe UI"/>
                <a:ea typeface="Segoe UI"/>
                <a:cs typeface="Segoe UI"/>
              </a:rPr>
              <a:t>"Any valid value" for what you do not care about.</a:t>
            </a:r>
            <a:endParaRPr lang="en-US" sz="1050" dirty="0"/>
          </a:p>
        </p:txBody>
      </p:sp>
    </p:spTree>
    <p:extLst>
      <p:ext uri="{BB962C8B-B14F-4D97-AF65-F5344CB8AC3E}">
        <p14:creationId xmlns:p14="http://schemas.microsoft.com/office/powerpoint/2010/main" val="51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7"/>
                                        </p:tgtEl>
                                        <p:attrNameLst>
                                          <p:attrName>style.visibility</p:attrName>
                                        </p:attrNameLst>
                                      </p:cBhvr>
                                      <p:to>
                                        <p:strVal val="visible"/>
                                      </p:to>
                                    </p:set>
                                    <p:animEffect transition="in" filter="fade">
                                      <p:cBhvr>
                                        <p:cTn id="10" dur="400"/>
                                        <p:tgtEl>
                                          <p:spTgt spid="1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400"/>
                                        <p:tgtEl>
                                          <p:spTgt spid="102"/>
                                        </p:tgtEl>
                                      </p:cBhvr>
                                    </p:animEffect>
                                  </p:childTnLst>
                                </p:cTn>
                              </p:par>
                              <p:par>
                                <p:cTn id="16" presetID="10" presetClass="entr" presetSubtype="0" fill="hold" nodeType="withEffect">
                                  <p:stCondLst>
                                    <p:cond delay="0"/>
                                  </p:stCondLst>
                                  <p:childTnLst>
                                    <p:set>
                                      <p:cBhvr>
                                        <p:cTn id="17" dur="1" fill="hold">
                                          <p:stCondLst>
                                            <p:cond delay="0"/>
                                          </p:stCondLst>
                                        </p:cTn>
                                        <p:tgtEl>
                                          <p:spTgt spid="143"/>
                                        </p:tgtEl>
                                        <p:attrNameLst>
                                          <p:attrName>style.visibility</p:attrName>
                                        </p:attrNameLst>
                                      </p:cBhvr>
                                      <p:to>
                                        <p:strVal val="visible"/>
                                      </p:to>
                                    </p:set>
                                    <p:animEffect transition="in" filter="fade">
                                      <p:cBhvr>
                                        <p:cTn id="18" dur="400"/>
                                        <p:tgtEl>
                                          <p:spTgt spid="1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4"/>
                                        </p:tgtEl>
                                        <p:attrNameLst>
                                          <p:attrName>style.visibility</p:attrName>
                                        </p:attrNameLst>
                                      </p:cBhvr>
                                      <p:to>
                                        <p:strVal val="visible"/>
                                      </p:to>
                                    </p:set>
                                    <p:animEffect transition="in" filter="fade">
                                      <p:cBhvr>
                                        <p:cTn id="21" dur="400"/>
                                        <p:tgtEl>
                                          <p:spTgt spid="14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5"/>
                                        </p:tgtEl>
                                        <p:attrNameLst>
                                          <p:attrName>style.visibility</p:attrName>
                                        </p:attrNameLst>
                                      </p:cBhvr>
                                      <p:to>
                                        <p:strVal val="visible"/>
                                      </p:to>
                                    </p:set>
                                    <p:animEffect transition="in" filter="fade">
                                      <p:cBhvr>
                                        <p:cTn id="24" dur="400"/>
                                        <p:tgtEl>
                                          <p:spTgt spid="14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6"/>
                                        </p:tgtEl>
                                        <p:attrNameLst>
                                          <p:attrName>style.visibility</p:attrName>
                                        </p:attrNameLst>
                                      </p:cBhvr>
                                      <p:to>
                                        <p:strVal val="visible"/>
                                      </p:to>
                                    </p:set>
                                    <p:animEffect transition="in" filter="fade">
                                      <p:cBhvr>
                                        <p:cTn id="27" dur="400"/>
                                        <p:tgtEl>
                                          <p:spTgt spid="14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7"/>
                                        </p:tgtEl>
                                        <p:attrNameLst>
                                          <p:attrName>style.visibility</p:attrName>
                                        </p:attrNameLst>
                                      </p:cBhvr>
                                      <p:to>
                                        <p:strVal val="visible"/>
                                      </p:to>
                                    </p:set>
                                    <p:animEffect transition="in" filter="fade">
                                      <p:cBhvr>
                                        <p:cTn id="30" dur="400"/>
                                        <p:tgtEl>
                                          <p:spTgt spid="14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8"/>
                                        </p:tgtEl>
                                        <p:attrNameLst>
                                          <p:attrName>style.visibility</p:attrName>
                                        </p:attrNameLst>
                                      </p:cBhvr>
                                      <p:to>
                                        <p:strVal val="visible"/>
                                      </p:to>
                                    </p:set>
                                    <p:animEffect transition="in" filter="fade">
                                      <p:cBhvr>
                                        <p:cTn id="33" dur="400"/>
                                        <p:tgtEl>
                                          <p:spTgt spid="14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9"/>
                                        </p:tgtEl>
                                        <p:attrNameLst>
                                          <p:attrName>style.visibility</p:attrName>
                                        </p:attrNameLst>
                                      </p:cBhvr>
                                      <p:to>
                                        <p:strVal val="visible"/>
                                      </p:to>
                                    </p:set>
                                    <p:animEffect transition="in" filter="fade">
                                      <p:cBhvr>
                                        <p:cTn id="36" dur="400"/>
                                        <p:tgtEl>
                                          <p:spTgt spid="14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0"/>
                                        </p:tgtEl>
                                        <p:attrNameLst>
                                          <p:attrName>style.visibility</p:attrName>
                                        </p:attrNameLst>
                                      </p:cBhvr>
                                      <p:to>
                                        <p:strVal val="visible"/>
                                      </p:to>
                                    </p:set>
                                    <p:animEffect transition="in" filter="fade">
                                      <p:cBhvr>
                                        <p:cTn id="39" dur="400"/>
                                        <p:tgtEl>
                                          <p:spTgt spid="15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1"/>
                                        </p:tgtEl>
                                        <p:attrNameLst>
                                          <p:attrName>style.visibility</p:attrName>
                                        </p:attrNameLst>
                                      </p:cBhvr>
                                      <p:to>
                                        <p:strVal val="visible"/>
                                      </p:to>
                                    </p:set>
                                    <p:animEffect transition="in" filter="fade">
                                      <p:cBhvr>
                                        <p:cTn id="44" dur="400"/>
                                        <p:tgtEl>
                                          <p:spTgt spid="15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2"/>
                                        </p:tgtEl>
                                        <p:attrNameLst>
                                          <p:attrName>style.visibility</p:attrName>
                                        </p:attrNameLst>
                                      </p:cBhvr>
                                      <p:to>
                                        <p:strVal val="visible"/>
                                      </p:to>
                                    </p:set>
                                    <p:animEffect transition="in" filter="fade">
                                      <p:cBhvr>
                                        <p:cTn id="49" dur="400"/>
                                        <p:tgtEl>
                                          <p:spTgt spid="15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53"/>
                                        </p:tgtEl>
                                        <p:attrNameLst>
                                          <p:attrName>style.visibility</p:attrName>
                                        </p:attrNameLst>
                                      </p:cBhvr>
                                      <p:to>
                                        <p:strVal val="visible"/>
                                      </p:to>
                                    </p:set>
                                    <p:animEffect transition="in" filter="fade">
                                      <p:cBhvr>
                                        <p:cTn id="54" dur="4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TDD</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Test-Driven Development: Red, Green, Refactor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TDD</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132</a:t>
            </a:r>
            <a:endParaRPr lang="en-US" sz="850" dirty="0"/>
          </a:p>
        </p:txBody>
      </p:sp>
      <p:sp>
        <p:nvSpPr>
          <p:cNvPr id="101" name="red"/>
          <p:cNvSpPr/>
          <p:nvPr/>
        </p:nvSpPr>
        <p:spPr>
          <a:xfrm>
            <a:off x="2606040" y="1737360"/>
            <a:ext cx="2286000" cy="914400"/>
          </a:xfrm>
          <a:prstGeom prst="roundRect">
            <a:avLst>
              <a:gd name="adj" fmla="val 30000"/>
            </a:avLst>
          </a:prstGeom>
          <a:solidFill>
            <a:srgbClr val="F87171">
              <a:alpha val="12000"/>
            </a:srgbClr>
          </a:solidFill>
          <a:ln w="12700">
            <a:solidFill>
              <a:srgbClr val="F87171"/>
            </a:solidFill>
            <a:prstDash val="solid"/>
          </a:ln>
        </p:spPr>
        <p:txBody>
          <a:bodyPr wrap="square" lIns="91440" tIns="45720" rIns="91440" bIns="45720" rtlCol="0" anchor="ctr">
            <a:noAutofit/>
          </a:bodyPr>
          <a:lstStyle/>
          <a:p>
            <a:pPr marL="0" indent="0" algn="ctr">
              <a:spcBef>
                <a:spcPts val="0"/>
              </a:spcBef>
              <a:spcAft>
                <a:spcPts val="0"/>
              </a:spcAft>
              <a:buNone/>
            </a:pPr>
            <a:r>
              <a:rPr lang="en-US" sz="1500" b="1" dirty="0">
                <a:solidFill>
                  <a:srgbClr val="F87171"/>
                </a:solidFill>
                <a:latin typeface="Segoe UI"/>
                <a:ea typeface="Segoe UI"/>
                <a:cs typeface="Segoe UI"/>
              </a:rPr>
              <a:t>1  RED</a:t>
            </a:r>
            <a:endParaRPr lang="en-US" sz="1500" dirty="0"/>
          </a:p>
          <a:p>
            <a:pPr marL="0" indent="0" algn="ctr">
              <a:spcBef>
                <a:spcPts val="0"/>
              </a:spcBef>
              <a:spcAft>
                <a:spcPts val="0"/>
              </a:spcAft>
              <a:buNone/>
            </a:pPr>
            <a:r>
              <a:rPr lang="en-US" sz="1050" b="0" dirty="0">
                <a:solidFill>
                  <a:srgbClr val="CBD5E1"/>
                </a:solidFill>
                <a:latin typeface="Segoe UI"/>
                <a:ea typeface="Segoe UI"/>
                <a:cs typeface="Segoe UI"/>
              </a:rPr>
              <a:t>write a failing test</a:t>
            </a:r>
            <a:endParaRPr lang="en-US" sz="1050" dirty="0"/>
          </a:p>
        </p:txBody>
      </p:sp>
      <p:sp>
        <p:nvSpPr>
          <p:cNvPr id="102" name="green"/>
          <p:cNvSpPr/>
          <p:nvPr/>
        </p:nvSpPr>
        <p:spPr>
          <a:xfrm>
            <a:off x="4149090" y="3835908"/>
            <a:ext cx="2286000" cy="914400"/>
          </a:xfrm>
          <a:prstGeom prst="roundRect">
            <a:avLst>
              <a:gd name="adj" fmla="val 30000"/>
            </a:avLst>
          </a:prstGeom>
          <a:solidFill>
            <a:srgbClr val="34D399">
              <a:alpha val="12000"/>
            </a:srgbClr>
          </a:solidFill>
          <a:ln w="12700">
            <a:solidFill>
              <a:srgbClr val="34D399"/>
            </a:solidFill>
            <a:prstDash val="solid"/>
          </a:ln>
        </p:spPr>
        <p:txBody>
          <a:bodyPr wrap="square" lIns="91440" tIns="45720" rIns="91440" bIns="45720" rtlCol="0" anchor="ctr">
            <a:noAutofit/>
          </a:bodyPr>
          <a:lstStyle/>
          <a:p>
            <a:pPr marL="0" indent="0" algn="ctr">
              <a:spcBef>
                <a:spcPts val="0"/>
              </a:spcBef>
              <a:spcAft>
                <a:spcPts val="0"/>
              </a:spcAft>
              <a:buNone/>
            </a:pPr>
            <a:r>
              <a:rPr lang="en-US" sz="1500" b="1" dirty="0">
                <a:solidFill>
                  <a:srgbClr val="34D399"/>
                </a:solidFill>
                <a:latin typeface="Segoe UI"/>
                <a:ea typeface="Segoe UI"/>
                <a:cs typeface="Segoe UI"/>
              </a:rPr>
              <a:t>2  GREEN</a:t>
            </a:r>
            <a:endParaRPr lang="en-US" sz="1500" dirty="0"/>
          </a:p>
          <a:p>
            <a:pPr marL="0" indent="0" algn="ctr">
              <a:spcBef>
                <a:spcPts val="0"/>
              </a:spcBef>
              <a:spcAft>
                <a:spcPts val="0"/>
              </a:spcAft>
              <a:buNone/>
            </a:pPr>
            <a:r>
              <a:rPr lang="en-US" sz="1050" b="0" dirty="0">
                <a:solidFill>
                  <a:srgbClr val="CBD5E1"/>
                </a:solidFill>
                <a:latin typeface="Segoe UI"/>
                <a:ea typeface="Segoe UI"/>
                <a:cs typeface="Segoe UI"/>
              </a:rPr>
              <a:t>simplest code to pass</a:t>
            </a:r>
            <a:endParaRPr lang="en-US" sz="1050" dirty="0"/>
          </a:p>
        </p:txBody>
      </p:sp>
      <p:sp>
        <p:nvSpPr>
          <p:cNvPr id="103" name="ref"/>
          <p:cNvSpPr/>
          <p:nvPr/>
        </p:nvSpPr>
        <p:spPr>
          <a:xfrm>
            <a:off x="1062990" y="3835908"/>
            <a:ext cx="2286000" cy="914400"/>
          </a:xfrm>
          <a:prstGeom prst="roundRect">
            <a:avLst>
              <a:gd name="adj" fmla="val 30000"/>
            </a:avLst>
          </a:prstGeom>
          <a:solidFill>
            <a:srgbClr val="13D0F7">
              <a:alpha val="12000"/>
            </a:srgbClr>
          </a:solidFill>
          <a:ln w="12700">
            <a:solidFill>
              <a:srgbClr val="13D0F7"/>
            </a:solidFill>
            <a:prstDash val="solid"/>
          </a:ln>
        </p:spPr>
        <p:txBody>
          <a:bodyPr wrap="square" lIns="91440" tIns="45720" rIns="91440" bIns="45720" rtlCol="0" anchor="ctr">
            <a:noAutofit/>
          </a:bodyPr>
          <a:lstStyle/>
          <a:p>
            <a:pPr marL="0" indent="0" algn="ctr">
              <a:spcBef>
                <a:spcPts val="0"/>
              </a:spcBef>
              <a:spcAft>
                <a:spcPts val="0"/>
              </a:spcAft>
              <a:buNone/>
            </a:pPr>
            <a:r>
              <a:rPr lang="en-US" sz="1500" b="1" dirty="0">
                <a:solidFill>
                  <a:srgbClr val="13D0F7"/>
                </a:solidFill>
                <a:latin typeface="Segoe UI"/>
                <a:ea typeface="Segoe UI"/>
                <a:cs typeface="Segoe UI"/>
              </a:rPr>
              <a:t>3  REFACTOR</a:t>
            </a:r>
            <a:endParaRPr lang="en-US" sz="1500" dirty="0"/>
          </a:p>
          <a:p>
            <a:pPr marL="0" indent="0" algn="ctr">
              <a:spcBef>
                <a:spcPts val="0"/>
              </a:spcBef>
              <a:spcAft>
                <a:spcPts val="0"/>
              </a:spcAft>
              <a:buNone/>
            </a:pPr>
            <a:r>
              <a:rPr lang="en-US" sz="1050" b="0" dirty="0">
                <a:solidFill>
                  <a:srgbClr val="CBD5E1"/>
                </a:solidFill>
                <a:latin typeface="Segoe UI"/>
                <a:ea typeface="Segoe UI"/>
                <a:cs typeface="Segoe UI"/>
              </a:rPr>
              <a:t>clean up, stay green</a:t>
            </a:r>
            <a:endParaRPr lang="en-US" sz="1050" dirty="0"/>
          </a:p>
        </p:txBody>
      </p:sp>
      <p:cxnSp>
        <p:nvCxnSpPr>
          <p:cNvPr id="104" name="a1"/>
          <p:cNvCxnSpPr/>
          <p:nvPr/>
        </p:nvCxnSpPr>
        <p:spPr>
          <a:xfrm>
            <a:off x="4663440" y="2651760"/>
            <a:ext cx="354330" cy="1138428"/>
          </a:xfrm>
          <a:prstGeom prst="line">
            <a:avLst/>
          </a:prstGeom>
          <a:ln w="28575">
            <a:solidFill>
              <a:srgbClr val="94A3B8"/>
            </a:solidFill>
            <a:tailEnd type="triangle" w="med" len="med"/>
          </a:ln>
        </p:spPr>
      </p:cxnSp>
      <p:cxnSp>
        <p:nvCxnSpPr>
          <p:cNvPr id="105" name="a2"/>
          <p:cNvCxnSpPr/>
          <p:nvPr/>
        </p:nvCxnSpPr>
        <p:spPr>
          <a:xfrm flipH="1">
            <a:off x="3394710" y="4430268"/>
            <a:ext cx="708660" cy="0"/>
          </a:xfrm>
          <a:prstGeom prst="line">
            <a:avLst/>
          </a:prstGeom>
          <a:ln w="28575">
            <a:solidFill>
              <a:srgbClr val="94A3B8"/>
            </a:solidFill>
            <a:tailEnd type="triangle" w="med" len="med"/>
          </a:ln>
        </p:spPr>
      </p:cxnSp>
      <p:cxnSp>
        <p:nvCxnSpPr>
          <p:cNvPr id="106" name="a3"/>
          <p:cNvCxnSpPr/>
          <p:nvPr/>
        </p:nvCxnSpPr>
        <p:spPr>
          <a:xfrm flipV="1">
            <a:off x="2480310" y="2651760"/>
            <a:ext cx="354330" cy="1138428"/>
          </a:xfrm>
          <a:prstGeom prst="line">
            <a:avLst/>
          </a:prstGeom>
          <a:ln w="28575">
            <a:solidFill>
              <a:srgbClr val="94A3B8"/>
            </a:solidFill>
            <a:tailEnd type="triangle" w="med" len="med"/>
          </a:ln>
        </p:spPr>
      </p:cxnSp>
      <p:sp>
        <p:nvSpPr>
          <p:cNvPr id="107" name="k1"/>
          <p:cNvSpPr/>
          <p:nvPr/>
        </p:nvSpPr>
        <p:spPr>
          <a:xfrm>
            <a:off x="7406640" y="1645920"/>
            <a:ext cx="4223614" cy="109728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GOOD FIT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Business rules: fees, coupons, wallet limits, order status.</a:t>
            </a:r>
            <a:endParaRPr lang="en-US" sz="1150" dirty="0"/>
          </a:p>
        </p:txBody>
      </p:sp>
      <p:sp>
        <p:nvSpPr>
          <p:cNvPr id="108" name="k2"/>
          <p:cNvSpPr/>
          <p:nvPr/>
        </p:nvSpPr>
        <p:spPr>
          <a:xfrm>
            <a:off x="7406640" y="2880360"/>
            <a:ext cx="4223614" cy="1097280"/>
          </a:xfrm>
          <a:prstGeom prst="roundRect">
            <a:avLst>
              <a:gd name="adj" fmla="val 8132"/>
            </a:avLst>
          </a:prstGeom>
          <a:solidFill>
            <a:srgbClr val="111B2E"/>
          </a:solidFill>
          <a:ln w="12700">
            <a:solidFill>
              <a:srgbClr val="FBBF24"/>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BBF24"/>
                </a:solidFill>
                <a:latin typeface="Segoe UI"/>
                <a:ea typeface="Segoe UI"/>
                <a:cs typeface="Segoe UI"/>
              </a:rPr>
              <a:t>LESS USEFUL</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UI layout, quick experiments, code you will throw away.</a:t>
            </a:r>
            <a:endParaRPr lang="en-US" sz="1150" dirty="0"/>
          </a:p>
        </p:txBody>
      </p:sp>
      <p:sp>
        <p:nvSpPr>
          <p:cNvPr id="109" name="k3"/>
          <p:cNvSpPr/>
          <p:nvPr/>
        </p:nvSpPr>
        <p:spPr>
          <a:xfrm>
            <a:off x="7406640" y="4114800"/>
            <a:ext cx="4223614" cy="1097280"/>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TINY STEPS</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One rule per cycle. Minutes, not hours.</a:t>
            </a:r>
            <a:endParaRPr lang="en-US" sz="1150" dirty="0"/>
          </a:p>
        </p:txBody>
      </p:sp>
    </p:spTree>
    <p:extLst>
      <p:ext uri="{BB962C8B-B14F-4D97-AF65-F5344CB8AC3E}">
        <p14:creationId xmlns:p14="http://schemas.microsoft.com/office/powerpoint/2010/main" val="511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400"/>
                                        <p:tgtEl>
                                          <p:spTgt spid="10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400"/>
                                        <p:tgtEl>
                                          <p:spTgt spid="10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5"/>
                                        </p:tgtEl>
                                        <p:attrNameLst>
                                          <p:attrName>style.visibility</p:attrName>
                                        </p:attrNameLst>
                                      </p:cBhvr>
                                      <p:to>
                                        <p:strVal val="visible"/>
                                      </p:to>
                                    </p:set>
                                    <p:animEffect transition="in" filter="fade">
                                      <p:cBhvr>
                                        <p:cTn id="20" dur="400"/>
                                        <p:tgtEl>
                                          <p:spTgt spid="10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3"/>
                                        </p:tgtEl>
                                        <p:attrNameLst>
                                          <p:attrName>style.visibility</p:attrName>
                                        </p:attrNameLst>
                                      </p:cBhvr>
                                      <p:to>
                                        <p:strVal val="visible"/>
                                      </p:to>
                                    </p:set>
                                    <p:animEffect transition="in" filter="fade">
                                      <p:cBhvr>
                                        <p:cTn id="23" dur="400"/>
                                        <p:tgtEl>
                                          <p:spTgt spid="103"/>
                                        </p:tgtEl>
                                      </p:cBhvr>
                                    </p:animEffect>
                                  </p:childTnLst>
                                </p:cTn>
                              </p:par>
                            </p:childTnLst>
                          </p:cTn>
                        </p:par>
                        <p:par>
                          <p:cTn id="24" fill="hold">
                            <p:stCondLst>
                              <p:cond delay="400"/>
                            </p:stCondLst>
                            <p:childTnLst>
                              <p:par>
                                <p:cTn id="25" presetID="10" presetClass="entr" presetSubtype="0" fill="hold" nodeType="after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fade">
                                      <p:cBhvr>
                                        <p:cTn id="27" dur="400"/>
                                        <p:tgtEl>
                                          <p:spTgt spid="10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7"/>
                                        </p:tgtEl>
                                        <p:attrNameLst>
                                          <p:attrName>style.visibility</p:attrName>
                                        </p:attrNameLst>
                                      </p:cBhvr>
                                      <p:to>
                                        <p:strVal val="visible"/>
                                      </p:to>
                                    </p:set>
                                    <p:animEffect transition="in" filter="fade">
                                      <p:cBhvr>
                                        <p:cTn id="32" dur="400"/>
                                        <p:tgtEl>
                                          <p:spTgt spid="107"/>
                                        </p:tgtEl>
                                      </p:cBhvr>
                                    </p:animEffect>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08"/>
                                        </p:tgtEl>
                                        <p:attrNameLst>
                                          <p:attrName>style.visibility</p:attrName>
                                        </p:attrNameLst>
                                      </p:cBhvr>
                                      <p:to>
                                        <p:strVal val="visible"/>
                                      </p:to>
                                    </p:set>
                                    <p:animEffect transition="in" filter="fade">
                                      <p:cBhvr>
                                        <p:cTn id="36" dur="400"/>
                                        <p:tgtEl>
                                          <p:spTgt spid="108"/>
                                        </p:tgtEl>
                                      </p:cBhvr>
                                    </p:animEffect>
                                  </p:childTnLst>
                                </p:cTn>
                              </p:par>
                            </p:childTnLst>
                          </p:cTn>
                        </p:par>
                        <p:par>
                          <p:cTn id="37" fill="hold">
                            <p:stCondLst>
                              <p:cond delay="800"/>
                            </p:stCondLst>
                            <p:childTnLst>
                              <p:par>
                                <p:cTn id="38" presetID="10" presetClass="entr" presetSubtype="0" fill="hold" grpId="0" nodeType="afterEffect">
                                  <p:stCondLst>
                                    <p:cond delay="0"/>
                                  </p:stCondLst>
                                  <p:childTnLst>
                                    <p:set>
                                      <p:cBhvr>
                                        <p:cTn id="39" dur="1" fill="hold">
                                          <p:stCondLst>
                                            <p:cond delay="0"/>
                                          </p:stCondLst>
                                        </p:cTn>
                                        <p:tgtEl>
                                          <p:spTgt spid="109"/>
                                        </p:tgtEl>
                                        <p:attrNameLst>
                                          <p:attrName>style.visibility</p:attrName>
                                        </p:attrNameLst>
                                      </p:cBhvr>
                                      <p:to>
                                        <p:strVal val="visible"/>
                                      </p:to>
                                    </p:set>
                                    <p:animEffect transition="in" filter="fade">
                                      <p:cBhvr>
                                        <p:cTn id="40" dur="4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7" grpId="0" animBg="1"/>
      <p:bldP spid="108" grpId="0" animBg="1"/>
      <p:bldP spid="10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87171"/>
                </a:solidFill>
                <a:latin typeface="Segoe UI"/>
                <a:ea typeface="Segoe UI"/>
                <a:cs typeface="Segoe UI"/>
              </a:rPr>
              <a:t>TDD KATA</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TDD Live: A Loyalty Points Rule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TDD</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133</a:t>
            </a:r>
            <a:endParaRPr lang="en-US" sz="850" dirty="0"/>
          </a:p>
        </p:txBody>
      </p:sp>
      <p:sp>
        <p:nvSpPr>
          <p:cNvPr id="101" name="h0"/>
          <p:cNvSpPr txBox="1"/>
          <p:nvPr/>
        </p:nvSpPr>
        <p:spPr>
          <a:xfrm>
            <a:off x="543154" y="1463040"/>
            <a:ext cx="3589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F87171"/>
                </a:solidFill>
                <a:latin typeface="Segoe UI"/>
                <a:ea typeface="Segoe UI"/>
                <a:cs typeface="Segoe UI"/>
              </a:rPr>
              <a:t>1  RED</a:t>
            </a:r>
            <a:endParaRPr lang="en-US" sz="1200" dirty="0"/>
          </a:p>
        </p:txBody>
      </p:sp>
      <p:grpSp>
        <p:nvGrpSpPr>
          <p:cNvPr id="121" name="c0"/>
          <p:cNvGrpSpPr/>
          <p:nvPr/>
        </p:nvGrpSpPr>
        <p:grpSpPr>
          <a:xfrm>
            <a:off x="543154" y="1755648"/>
            <a:ext cx="3589020" cy="2743200"/>
            <a:chOff x="543154" y="1755648"/>
            <a:chExt cx="3589020" cy="2743200"/>
          </a:xfrm>
        </p:grpSpPr>
        <p:sp>
          <p:nvSpPr>
            <p:cNvPr id="102" name="c0_win"/>
            <p:cNvSpPr/>
            <p:nvPr/>
          </p:nvSpPr>
          <p:spPr>
            <a:xfrm>
              <a:off x="543154" y="1755648"/>
              <a:ext cx="3589020" cy="2743200"/>
            </a:xfrm>
            <a:prstGeom prst="roundRect">
              <a:avLst>
                <a:gd name="adj" fmla="val 2499"/>
              </a:avLst>
            </a:prstGeom>
            <a:solidFill>
              <a:srgbClr val="060D18"/>
            </a:solidFill>
            <a:ln w="12700">
              <a:solidFill>
                <a:srgbClr val="1E3A5F"/>
              </a:solidFill>
              <a:prstDash val="solid"/>
            </a:ln>
          </p:spPr>
          <p:txBody>
            <a:bodyPr/>
            <a:lstStyle/>
            <a:p>
              <a:endParaRPr lang="en-US"/>
            </a:p>
          </p:txBody>
        </p:sp>
        <p:sp>
          <p:nvSpPr>
            <p:cNvPr id="103" name="c0_bar"/>
            <p:cNvSpPr/>
            <p:nvPr/>
          </p:nvSpPr>
          <p:spPr>
            <a:xfrm>
              <a:off x="543154" y="1755648"/>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c0_barfill"/>
            <p:cNvSpPr/>
            <p:nvPr/>
          </p:nvSpPr>
          <p:spPr>
            <a:xfrm>
              <a:off x="543154" y="1927098"/>
              <a:ext cx="3589020" cy="171450"/>
            </a:xfrm>
            <a:prstGeom prst="rect">
              <a:avLst/>
            </a:prstGeom>
            <a:solidFill>
              <a:srgbClr val="0A1220"/>
            </a:solidFill>
            <a:ln w="12700">
              <a:solidFill>
                <a:srgbClr val="0A1220"/>
              </a:solidFill>
              <a:prstDash val="solid"/>
            </a:ln>
          </p:spPr>
          <p:txBody>
            <a:bodyPr/>
            <a:lstStyle/>
            <a:p>
              <a:endParaRPr lang="en-US"/>
            </a:p>
          </p:txBody>
        </p:sp>
        <p:sp>
          <p:nvSpPr>
            <p:cNvPr id="105" name="c0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c0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c0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c0_tab"/>
            <p:cNvSpPr/>
            <p:nvPr/>
          </p:nvSpPr>
          <p:spPr>
            <a:xfrm>
              <a:off x="1324051" y="180319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LoyaltyCalculatorTests.cs</a:t>
              </a:r>
              <a:endParaRPr lang="en-US" sz="950" dirty="0"/>
            </a:p>
          </p:txBody>
        </p:sp>
        <p:sp>
          <p:nvSpPr>
            <p:cNvPr id="109" name="c0_L00"/>
            <p:cNvSpPr txBox="1"/>
            <p:nvPr/>
          </p:nvSpPr>
          <p:spPr>
            <a:xfrm>
              <a:off x="771754" y="223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[Theory]</a:t>
              </a:r>
              <a:endParaRPr lang="en-US" sz="760" dirty="0"/>
            </a:p>
          </p:txBody>
        </p:sp>
        <p:sp>
          <p:nvSpPr>
            <p:cNvPr id="110" name="c0_L01"/>
            <p:cNvSpPr txBox="1"/>
            <p:nvPr/>
          </p:nvSpPr>
          <p:spPr>
            <a:xfrm>
              <a:off x="771754" y="239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[InlineData(9, 0)]        </a:t>
              </a:r>
              <a:r>
                <a:rPr lang="en-US" sz="760" b="0" dirty="0">
                  <a:solidFill>
                    <a:srgbClr val="6FAE7A"/>
                  </a:solidFill>
                  <a:latin typeface="Consolas"/>
                  <a:ea typeface="Consolas"/>
                  <a:cs typeface="Consolas"/>
                </a:rPr>
                <a:t>// under 10: no point</a:t>
              </a:r>
              <a:endParaRPr lang="en-US" sz="760" dirty="0"/>
            </a:p>
          </p:txBody>
        </p:sp>
        <p:sp>
          <p:nvSpPr>
            <p:cNvPr id="111" name="c0_L02"/>
            <p:cNvSpPr txBox="1"/>
            <p:nvPr/>
          </p:nvSpPr>
          <p:spPr>
            <a:xfrm>
              <a:off x="771754" y="255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[InlineData(10, 1)]</a:t>
              </a:r>
              <a:endParaRPr lang="en-US" sz="760" dirty="0"/>
            </a:p>
          </p:txBody>
        </p:sp>
        <p:sp>
          <p:nvSpPr>
            <p:cNvPr id="112" name="c0_L03"/>
            <p:cNvSpPr txBox="1"/>
            <p:nvPr/>
          </p:nvSpPr>
          <p:spPr>
            <a:xfrm>
              <a:off x="771754" y="271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[InlineData(255, 25)]</a:t>
              </a:r>
              <a:endParaRPr lang="en-US" sz="760" dirty="0"/>
            </a:p>
          </p:txBody>
        </p:sp>
        <p:sp>
          <p:nvSpPr>
            <p:cNvPr id="113" name="c0_L04"/>
            <p:cNvSpPr txBox="1"/>
            <p:nvPr/>
          </p:nvSpPr>
          <p:spPr>
            <a:xfrm>
              <a:off x="771754" y="287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[InlineData(999, 99)]     </a:t>
              </a:r>
              <a:r>
                <a:rPr lang="en-US" sz="760" b="0" dirty="0">
                  <a:solidFill>
                    <a:srgbClr val="6FAE7A"/>
                  </a:solidFill>
                  <a:latin typeface="Consolas"/>
                  <a:ea typeface="Consolas"/>
                  <a:cs typeface="Consolas"/>
                </a:rPr>
                <a:t>// just below bonus</a:t>
              </a:r>
              <a:endParaRPr lang="en-US" sz="760" dirty="0"/>
            </a:p>
          </p:txBody>
        </p:sp>
        <p:sp>
          <p:nvSpPr>
            <p:cNvPr id="114" name="c0_L05"/>
            <p:cNvSpPr txBox="1"/>
            <p:nvPr/>
          </p:nvSpPr>
          <p:spPr>
            <a:xfrm>
              <a:off x="771754" y="303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[InlineData(1000, 150)]   </a:t>
              </a:r>
              <a:r>
                <a:rPr lang="en-US" sz="760" b="0" dirty="0">
                  <a:solidFill>
                    <a:srgbClr val="6FAE7A"/>
                  </a:solidFill>
                  <a:latin typeface="Consolas"/>
                  <a:ea typeface="Consolas"/>
                  <a:cs typeface="Consolas"/>
                </a:rPr>
                <a:t>// 100 + 50 bonus</a:t>
              </a:r>
              <a:endParaRPr lang="en-US" sz="760" dirty="0"/>
            </a:p>
          </p:txBody>
        </p:sp>
        <p:sp>
          <p:nvSpPr>
            <p:cNvPr id="115" name="c0_L06"/>
            <p:cNvSpPr txBox="1"/>
            <p:nvPr/>
          </p:nvSpPr>
          <p:spPr>
            <a:xfrm>
              <a:off x="771754" y="319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Points_ByAmount(</a:t>
              </a:r>
              <a:endParaRPr lang="en-US" sz="760" dirty="0"/>
            </a:p>
          </p:txBody>
        </p:sp>
        <p:sp>
          <p:nvSpPr>
            <p:cNvPr id="116" name="c0_L07"/>
            <p:cNvSpPr txBox="1"/>
            <p:nvPr/>
          </p:nvSpPr>
          <p:spPr>
            <a:xfrm>
              <a:off x="771754" y="335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amount,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expected)</a:t>
              </a:r>
              <a:endParaRPr lang="en-US" sz="760" dirty="0"/>
            </a:p>
          </p:txBody>
        </p:sp>
        <p:sp>
          <p:nvSpPr>
            <p:cNvPr id="117" name="c0_L08"/>
            <p:cNvSpPr txBox="1"/>
            <p:nvPr/>
          </p:nvSpPr>
          <p:spPr>
            <a:xfrm>
              <a:off x="771754" y="351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8" name="c0_L09"/>
            <p:cNvSpPr txBox="1"/>
            <p:nvPr/>
          </p:nvSpPr>
          <p:spPr>
            <a:xfrm>
              <a:off x="771754" y="367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LoyaltyCalculator.Points(amount)</a:t>
              </a:r>
              <a:endParaRPr lang="en-US" sz="760" dirty="0"/>
            </a:p>
          </p:txBody>
        </p:sp>
        <p:sp>
          <p:nvSpPr>
            <p:cNvPr id="119" name="c0_L10"/>
            <p:cNvSpPr txBox="1"/>
            <p:nvPr/>
          </p:nvSpPr>
          <p:spPr>
            <a:xfrm>
              <a:off x="771754" y="3831548"/>
              <a:ext cx="32890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.ShouldBe(expected);</a:t>
              </a:r>
              <a:endParaRPr lang="en-US" sz="760" dirty="0"/>
            </a:p>
          </p:txBody>
        </p:sp>
        <p:sp>
          <p:nvSpPr>
            <p:cNvPr id="120" name="c0_L11"/>
            <p:cNvSpPr txBox="1"/>
            <p:nvPr/>
          </p:nvSpPr>
          <p:spPr>
            <a:xfrm>
              <a:off x="771754" y="399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22" name="h1"/>
          <p:cNvSpPr txBox="1"/>
          <p:nvPr/>
        </p:nvSpPr>
        <p:spPr>
          <a:xfrm>
            <a:off x="4292194" y="1463040"/>
            <a:ext cx="3589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34D399"/>
                </a:solidFill>
                <a:latin typeface="Segoe UI"/>
                <a:ea typeface="Segoe UI"/>
                <a:cs typeface="Segoe UI"/>
              </a:rPr>
              <a:t>2  GREEN</a:t>
            </a:r>
            <a:endParaRPr lang="en-US" sz="1200" dirty="0"/>
          </a:p>
        </p:txBody>
      </p:sp>
      <p:grpSp>
        <p:nvGrpSpPr>
          <p:cNvPr id="136" name="c1"/>
          <p:cNvGrpSpPr/>
          <p:nvPr/>
        </p:nvGrpSpPr>
        <p:grpSpPr>
          <a:xfrm>
            <a:off x="4292194" y="1755648"/>
            <a:ext cx="3589020" cy="2743200"/>
            <a:chOff x="4292194" y="1755648"/>
            <a:chExt cx="3589020" cy="2743200"/>
          </a:xfrm>
        </p:grpSpPr>
        <p:sp>
          <p:nvSpPr>
            <p:cNvPr id="123" name="c1_win"/>
            <p:cNvSpPr/>
            <p:nvPr/>
          </p:nvSpPr>
          <p:spPr>
            <a:xfrm>
              <a:off x="4292194" y="1755648"/>
              <a:ext cx="3589020" cy="2743200"/>
            </a:xfrm>
            <a:prstGeom prst="roundRect">
              <a:avLst>
                <a:gd name="adj" fmla="val 2499"/>
              </a:avLst>
            </a:prstGeom>
            <a:solidFill>
              <a:srgbClr val="060D18"/>
            </a:solidFill>
            <a:ln w="12700">
              <a:solidFill>
                <a:srgbClr val="1E3A5F"/>
              </a:solidFill>
              <a:prstDash val="solid"/>
            </a:ln>
          </p:spPr>
          <p:txBody>
            <a:bodyPr/>
            <a:lstStyle/>
            <a:p>
              <a:endParaRPr lang="en-US"/>
            </a:p>
          </p:txBody>
        </p:sp>
        <p:sp>
          <p:nvSpPr>
            <p:cNvPr id="124" name="c1_bar"/>
            <p:cNvSpPr/>
            <p:nvPr/>
          </p:nvSpPr>
          <p:spPr>
            <a:xfrm>
              <a:off x="4292194" y="1755648"/>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c1_barfill"/>
            <p:cNvSpPr/>
            <p:nvPr/>
          </p:nvSpPr>
          <p:spPr>
            <a:xfrm>
              <a:off x="4292194" y="1927098"/>
              <a:ext cx="3589020" cy="171450"/>
            </a:xfrm>
            <a:prstGeom prst="rect">
              <a:avLst/>
            </a:prstGeom>
            <a:solidFill>
              <a:srgbClr val="0A1220"/>
            </a:solidFill>
            <a:ln w="12700">
              <a:solidFill>
                <a:srgbClr val="0A1220"/>
              </a:solidFill>
              <a:prstDash val="solid"/>
            </a:ln>
          </p:spPr>
          <p:txBody>
            <a:bodyPr/>
            <a:lstStyle/>
            <a:p>
              <a:endParaRPr lang="en-US"/>
            </a:p>
          </p:txBody>
        </p:sp>
        <p:sp>
          <p:nvSpPr>
            <p:cNvPr id="126" name="c1_dot0"/>
            <p:cNvSpPr/>
            <p:nvPr/>
          </p:nvSpPr>
          <p:spPr>
            <a:xfrm>
              <a:off x="445404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c1_dot1"/>
            <p:cNvSpPr/>
            <p:nvPr/>
          </p:nvSpPr>
          <p:spPr>
            <a:xfrm>
              <a:off x="463966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c1_dot2"/>
            <p:cNvSpPr/>
            <p:nvPr/>
          </p:nvSpPr>
          <p:spPr>
            <a:xfrm>
              <a:off x="482529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c1_tab"/>
            <p:cNvSpPr/>
            <p:nvPr/>
          </p:nvSpPr>
          <p:spPr>
            <a:xfrm>
              <a:off x="5073091" y="180319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LoyaltyCalculator.cs</a:t>
              </a:r>
              <a:endParaRPr lang="en-US" sz="950" dirty="0"/>
            </a:p>
          </p:txBody>
        </p:sp>
        <p:sp>
          <p:nvSpPr>
            <p:cNvPr id="130" name="c1_L00"/>
            <p:cNvSpPr txBox="1"/>
            <p:nvPr/>
          </p:nvSpPr>
          <p:spPr>
            <a:xfrm>
              <a:off x="4520794" y="223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static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Points(</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 amount)</a:t>
              </a:r>
              <a:endParaRPr lang="en-US" sz="760" dirty="0"/>
            </a:p>
          </p:txBody>
        </p:sp>
        <p:sp>
          <p:nvSpPr>
            <p:cNvPr id="131" name="c1_L01"/>
            <p:cNvSpPr txBox="1"/>
            <p:nvPr/>
          </p:nvSpPr>
          <p:spPr>
            <a:xfrm>
              <a:off x="4520794" y="239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32" name="c1_L02"/>
            <p:cNvSpPr txBox="1"/>
            <p:nvPr/>
          </p:nvSpPr>
          <p:spPr>
            <a:xfrm>
              <a:off x="4520794" y="255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points =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)(amount / 10);</a:t>
              </a:r>
              <a:endParaRPr lang="en-US" sz="760" dirty="0"/>
            </a:p>
          </p:txBody>
        </p:sp>
        <p:sp>
          <p:nvSpPr>
            <p:cNvPr id="133" name="c1_L03"/>
            <p:cNvSpPr txBox="1"/>
            <p:nvPr/>
          </p:nvSpPr>
          <p:spPr>
            <a:xfrm>
              <a:off x="4520794" y="271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if</a:t>
              </a:r>
              <a:r>
                <a:rPr lang="en-US" sz="760" b="0" dirty="0">
                  <a:solidFill>
                    <a:srgbClr val="E2E8F0"/>
                  </a:solidFill>
                  <a:latin typeface="Consolas"/>
                  <a:ea typeface="Consolas"/>
                  <a:cs typeface="Consolas"/>
                </a:rPr>
                <a:t> (amount &gt;= 1000) points += 50;</a:t>
              </a:r>
              <a:endParaRPr lang="en-US" sz="760" dirty="0"/>
            </a:p>
          </p:txBody>
        </p:sp>
        <p:sp>
          <p:nvSpPr>
            <p:cNvPr id="134" name="c1_L04"/>
            <p:cNvSpPr txBox="1"/>
            <p:nvPr/>
          </p:nvSpPr>
          <p:spPr>
            <a:xfrm>
              <a:off x="4520794" y="287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points;</a:t>
              </a:r>
              <a:endParaRPr lang="en-US" sz="760" dirty="0"/>
            </a:p>
          </p:txBody>
        </p:sp>
        <p:sp>
          <p:nvSpPr>
            <p:cNvPr id="135" name="c1_L05"/>
            <p:cNvSpPr txBox="1"/>
            <p:nvPr/>
          </p:nvSpPr>
          <p:spPr>
            <a:xfrm>
              <a:off x="4520794" y="303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37" name="c1_hl2"/>
          <p:cNvSpPr/>
          <p:nvPr/>
        </p:nvSpPr>
        <p:spPr>
          <a:xfrm>
            <a:off x="4425696" y="2533260"/>
            <a:ext cx="332202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8" name="c1_hl3"/>
          <p:cNvSpPr/>
          <p:nvPr/>
        </p:nvSpPr>
        <p:spPr>
          <a:xfrm>
            <a:off x="4425696" y="2693260"/>
            <a:ext cx="3322020" cy="19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9" name="h2"/>
          <p:cNvSpPr txBox="1"/>
          <p:nvPr/>
        </p:nvSpPr>
        <p:spPr>
          <a:xfrm>
            <a:off x="8041234" y="1463040"/>
            <a:ext cx="35890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13D0F7"/>
                </a:solidFill>
                <a:latin typeface="Segoe UI"/>
                <a:ea typeface="Segoe UI"/>
                <a:cs typeface="Segoe UI"/>
              </a:rPr>
              <a:t>3  REFACTOR</a:t>
            </a:r>
            <a:endParaRPr lang="en-US" sz="1200" dirty="0"/>
          </a:p>
        </p:txBody>
      </p:sp>
      <p:grpSp>
        <p:nvGrpSpPr>
          <p:cNvPr id="157" name="c2"/>
          <p:cNvGrpSpPr/>
          <p:nvPr/>
        </p:nvGrpSpPr>
        <p:grpSpPr>
          <a:xfrm>
            <a:off x="8041234" y="1755648"/>
            <a:ext cx="3589020" cy="2743200"/>
            <a:chOff x="8041234" y="1755648"/>
            <a:chExt cx="3589020" cy="2743200"/>
          </a:xfrm>
        </p:grpSpPr>
        <p:sp>
          <p:nvSpPr>
            <p:cNvPr id="140" name="c2_win"/>
            <p:cNvSpPr/>
            <p:nvPr/>
          </p:nvSpPr>
          <p:spPr>
            <a:xfrm>
              <a:off x="8041234" y="1755648"/>
              <a:ext cx="3589020" cy="2743200"/>
            </a:xfrm>
            <a:prstGeom prst="roundRect">
              <a:avLst>
                <a:gd name="adj" fmla="val 2499"/>
              </a:avLst>
            </a:prstGeom>
            <a:solidFill>
              <a:srgbClr val="060D18"/>
            </a:solidFill>
            <a:ln w="12700">
              <a:solidFill>
                <a:srgbClr val="1E3A5F"/>
              </a:solidFill>
              <a:prstDash val="solid"/>
            </a:ln>
          </p:spPr>
          <p:txBody>
            <a:bodyPr/>
            <a:lstStyle/>
            <a:p>
              <a:endParaRPr lang="en-US"/>
            </a:p>
          </p:txBody>
        </p:sp>
        <p:sp>
          <p:nvSpPr>
            <p:cNvPr id="141" name="c2_bar"/>
            <p:cNvSpPr/>
            <p:nvPr/>
          </p:nvSpPr>
          <p:spPr>
            <a:xfrm>
              <a:off x="8041234" y="1755648"/>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2" name="c2_barfill"/>
            <p:cNvSpPr/>
            <p:nvPr/>
          </p:nvSpPr>
          <p:spPr>
            <a:xfrm>
              <a:off x="8041234" y="1927098"/>
              <a:ext cx="3589020" cy="171450"/>
            </a:xfrm>
            <a:prstGeom prst="rect">
              <a:avLst/>
            </a:prstGeom>
            <a:solidFill>
              <a:srgbClr val="0A1220"/>
            </a:solidFill>
            <a:ln w="12700">
              <a:solidFill>
                <a:srgbClr val="0A1220"/>
              </a:solidFill>
              <a:prstDash val="solid"/>
            </a:ln>
          </p:spPr>
          <p:txBody>
            <a:bodyPr/>
            <a:lstStyle/>
            <a:p>
              <a:endParaRPr lang="en-US"/>
            </a:p>
          </p:txBody>
        </p:sp>
        <p:sp>
          <p:nvSpPr>
            <p:cNvPr id="143" name="c2_dot0"/>
            <p:cNvSpPr/>
            <p:nvPr/>
          </p:nvSpPr>
          <p:spPr>
            <a:xfrm>
              <a:off x="820308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44" name="c2_dot1"/>
            <p:cNvSpPr/>
            <p:nvPr/>
          </p:nvSpPr>
          <p:spPr>
            <a:xfrm>
              <a:off x="838870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45" name="c2_dot2"/>
            <p:cNvSpPr/>
            <p:nvPr/>
          </p:nvSpPr>
          <p:spPr>
            <a:xfrm>
              <a:off x="857433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46" name="c2_tab"/>
            <p:cNvSpPr/>
            <p:nvPr/>
          </p:nvSpPr>
          <p:spPr>
            <a:xfrm>
              <a:off x="8822131" y="180319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LoyaltyCalculator.cs</a:t>
              </a:r>
              <a:endParaRPr lang="en-US" sz="950" dirty="0"/>
            </a:p>
          </p:txBody>
        </p:sp>
        <p:sp>
          <p:nvSpPr>
            <p:cNvPr id="147" name="c2_L00"/>
            <p:cNvSpPr txBox="1"/>
            <p:nvPr/>
          </p:nvSpPr>
          <p:spPr>
            <a:xfrm>
              <a:off x="8269834" y="223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const</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EgpPerPoint = 10;</a:t>
              </a:r>
              <a:endParaRPr lang="en-US" sz="760" dirty="0"/>
            </a:p>
          </p:txBody>
        </p:sp>
        <p:sp>
          <p:nvSpPr>
            <p:cNvPr id="148" name="c2_L01"/>
            <p:cNvSpPr txBox="1"/>
            <p:nvPr/>
          </p:nvSpPr>
          <p:spPr>
            <a:xfrm>
              <a:off x="8269834" y="239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const</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 BigSpendFrom = 1000m;</a:t>
              </a:r>
              <a:endParaRPr lang="en-US" sz="760" dirty="0"/>
            </a:p>
          </p:txBody>
        </p:sp>
        <p:sp>
          <p:nvSpPr>
            <p:cNvPr id="149" name="c2_L02"/>
            <p:cNvSpPr txBox="1"/>
            <p:nvPr/>
          </p:nvSpPr>
          <p:spPr>
            <a:xfrm>
              <a:off x="8269834" y="255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const</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BigSpendBonus = 50;</a:t>
              </a:r>
              <a:endParaRPr lang="en-US" sz="760" dirty="0"/>
            </a:p>
          </p:txBody>
        </p:sp>
        <p:sp>
          <p:nvSpPr>
            <p:cNvPr id="150" name="c2_L04"/>
            <p:cNvSpPr txBox="1"/>
            <p:nvPr/>
          </p:nvSpPr>
          <p:spPr>
            <a:xfrm>
              <a:off x="8269834" y="287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static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Points(</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 amount)</a:t>
              </a:r>
              <a:endParaRPr lang="en-US" sz="760" dirty="0"/>
            </a:p>
          </p:txBody>
        </p:sp>
        <p:sp>
          <p:nvSpPr>
            <p:cNvPr id="151" name="c2_L05"/>
            <p:cNvSpPr txBox="1"/>
            <p:nvPr/>
          </p:nvSpPr>
          <p:spPr>
            <a:xfrm>
              <a:off x="8269834" y="303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52" name="c2_L06"/>
            <p:cNvSpPr txBox="1"/>
            <p:nvPr/>
          </p:nvSpPr>
          <p:spPr>
            <a:xfrm>
              <a:off x="8269834" y="319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points =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)(amount / EgpPerPoint);</a:t>
              </a:r>
              <a:endParaRPr lang="en-US" sz="760" dirty="0"/>
            </a:p>
          </p:txBody>
        </p:sp>
        <p:sp>
          <p:nvSpPr>
            <p:cNvPr id="153" name="c2_L07"/>
            <p:cNvSpPr txBox="1"/>
            <p:nvPr/>
          </p:nvSpPr>
          <p:spPr>
            <a:xfrm>
              <a:off x="8269834" y="335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if</a:t>
              </a:r>
              <a:r>
                <a:rPr lang="en-US" sz="760" b="0" dirty="0">
                  <a:solidFill>
                    <a:srgbClr val="E2E8F0"/>
                  </a:solidFill>
                  <a:latin typeface="Consolas"/>
                  <a:ea typeface="Consolas"/>
                  <a:cs typeface="Consolas"/>
                </a:rPr>
                <a:t> (amount &gt;= BigSpendFrom)</a:t>
              </a:r>
              <a:endParaRPr lang="en-US" sz="760" dirty="0"/>
            </a:p>
          </p:txBody>
        </p:sp>
        <p:sp>
          <p:nvSpPr>
            <p:cNvPr id="154" name="c2_L08"/>
            <p:cNvSpPr txBox="1"/>
            <p:nvPr/>
          </p:nvSpPr>
          <p:spPr>
            <a:xfrm>
              <a:off x="8269834" y="3511548"/>
              <a:ext cx="328902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points += BigSpendBonus;</a:t>
              </a:r>
              <a:endParaRPr lang="en-US" sz="760" dirty="0"/>
            </a:p>
          </p:txBody>
        </p:sp>
        <p:sp>
          <p:nvSpPr>
            <p:cNvPr id="155" name="c2_L09"/>
            <p:cNvSpPr txBox="1"/>
            <p:nvPr/>
          </p:nvSpPr>
          <p:spPr>
            <a:xfrm>
              <a:off x="8269834" y="3671548"/>
              <a:ext cx="328902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points;</a:t>
              </a:r>
              <a:endParaRPr lang="en-US" sz="760" dirty="0"/>
            </a:p>
          </p:txBody>
        </p:sp>
        <p:sp>
          <p:nvSpPr>
            <p:cNvPr id="156" name="c2_L10"/>
            <p:cNvSpPr txBox="1"/>
            <p:nvPr/>
          </p:nvSpPr>
          <p:spPr>
            <a:xfrm>
              <a:off x="8269834" y="3831548"/>
              <a:ext cx="328902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58" name="c2_hl6"/>
          <p:cNvSpPr/>
          <p:nvPr/>
        </p:nvSpPr>
        <p:spPr>
          <a:xfrm>
            <a:off x="8174736" y="3173260"/>
            <a:ext cx="332202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59" name="c2_hl7"/>
          <p:cNvSpPr/>
          <p:nvPr/>
        </p:nvSpPr>
        <p:spPr>
          <a:xfrm>
            <a:off x="8174736" y="3333260"/>
            <a:ext cx="3322020" cy="19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60" name="c2_hl8"/>
          <p:cNvSpPr/>
          <p:nvPr/>
        </p:nvSpPr>
        <p:spPr>
          <a:xfrm>
            <a:off x="8174736" y="3493260"/>
            <a:ext cx="3322020" cy="19657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71" name="o0"/>
          <p:cNvGrpSpPr/>
          <p:nvPr/>
        </p:nvGrpSpPr>
        <p:grpSpPr>
          <a:xfrm>
            <a:off x="543154" y="4617720"/>
            <a:ext cx="3589020" cy="1090900"/>
            <a:chOff x="543154" y="4617720"/>
            <a:chExt cx="3589020" cy="1090900"/>
          </a:xfrm>
        </p:grpSpPr>
        <p:sp>
          <p:nvSpPr>
            <p:cNvPr id="161" name="o0_win"/>
            <p:cNvSpPr/>
            <p:nvPr/>
          </p:nvSpPr>
          <p:spPr>
            <a:xfrm>
              <a:off x="543154" y="4617720"/>
              <a:ext cx="3589020" cy="1090900"/>
            </a:xfrm>
            <a:prstGeom prst="roundRect">
              <a:avLst>
                <a:gd name="adj" fmla="val 6284"/>
              </a:avLst>
            </a:prstGeom>
            <a:solidFill>
              <a:srgbClr val="060D18"/>
            </a:solidFill>
            <a:ln w="12700">
              <a:solidFill>
                <a:srgbClr val="1E3A5F"/>
              </a:solidFill>
              <a:prstDash val="solid"/>
            </a:ln>
          </p:spPr>
          <p:txBody>
            <a:bodyPr/>
            <a:lstStyle/>
            <a:p>
              <a:endParaRPr lang="en-US"/>
            </a:p>
          </p:txBody>
        </p:sp>
        <p:sp>
          <p:nvSpPr>
            <p:cNvPr id="162" name="o0_bar"/>
            <p:cNvSpPr/>
            <p:nvPr/>
          </p:nvSpPr>
          <p:spPr>
            <a:xfrm>
              <a:off x="543154" y="4617720"/>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63" name="o0_barfill"/>
            <p:cNvSpPr/>
            <p:nvPr/>
          </p:nvSpPr>
          <p:spPr>
            <a:xfrm>
              <a:off x="543154" y="4789170"/>
              <a:ext cx="3589020" cy="171450"/>
            </a:xfrm>
            <a:prstGeom prst="rect">
              <a:avLst/>
            </a:prstGeom>
            <a:solidFill>
              <a:srgbClr val="0A1220"/>
            </a:solidFill>
            <a:ln w="12700">
              <a:solidFill>
                <a:srgbClr val="0A1220"/>
              </a:solidFill>
              <a:prstDash val="solid"/>
            </a:ln>
          </p:spPr>
          <p:txBody>
            <a:bodyPr/>
            <a:lstStyle/>
            <a:p>
              <a:endParaRPr lang="en-US"/>
            </a:p>
          </p:txBody>
        </p:sp>
        <p:sp>
          <p:nvSpPr>
            <p:cNvPr id="164" name="o0_dot0"/>
            <p:cNvSpPr/>
            <p:nvPr/>
          </p:nvSpPr>
          <p:spPr>
            <a:xfrm>
              <a:off x="705002" y="4741530"/>
              <a:ext cx="95098" cy="95098"/>
            </a:xfrm>
            <a:prstGeom prst="ellipse">
              <a:avLst/>
            </a:prstGeom>
            <a:solidFill>
              <a:srgbClr val="F87171"/>
            </a:solidFill>
            <a:ln w="12700">
              <a:solidFill>
                <a:srgbClr val="F87171"/>
              </a:solidFill>
              <a:prstDash val="solid"/>
            </a:ln>
          </p:spPr>
          <p:txBody>
            <a:bodyPr/>
            <a:lstStyle/>
            <a:p>
              <a:endParaRPr lang="en-US"/>
            </a:p>
          </p:txBody>
        </p:sp>
        <p:sp>
          <p:nvSpPr>
            <p:cNvPr id="165" name="o0_dot1"/>
            <p:cNvSpPr/>
            <p:nvPr/>
          </p:nvSpPr>
          <p:spPr>
            <a:xfrm>
              <a:off x="890626" y="4741530"/>
              <a:ext cx="95098" cy="95098"/>
            </a:xfrm>
            <a:prstGeom prst="ellipse">
              <a:avLst/>
            </a:prstGeom>
            <a:solidFill>
              <a:srgbClr val="FBBF24"/>
            </a:solidFill>
            <a:ln w="12700">
              <a:solidFill>
                <a:srgbClr val="FBBF24"/>
              </a:solidFill>
              <a:prstDash val="solid"/>
            </a:ln>
          </p:spPr>
          <p:txBody>
            <a:bodyPr/>
            <a:lstStyle/>
            <a:p>
              <a:endParaRPr lang="en-US"/>
            </a:p>
          </p:txBody>
        </p:sp>
        <p:sp>
          <p:nvSpPr>
            <p:cNvPr id="166" name="o0_dot2"/>
            <p:cNvSpPr/>
            <p:nvPr/>
          </p:nvSpPr>
          <p:spPr>
            <a:xfrm>
              <a:off x="1076250" y="4741530"/>
              <a:ext cx="95098" cy="95098"/>
            </a:xfrm>
            <a:prstGeom prst="ellipse">
              <a:avLst/>
            </a:prstGeom>
            <a:solidFill>
              <a:srgbClr val="34D399"/>
            </a:solidFill>
            <a:ln w="12700">
              <a:solidFill>
                <a:srgbClr val="34D399"/>
              </a:solidFill>
              <a:prstDash val="solid"/>
            </a:ln>
          </p:spPr>
          <p:txBody>
            <a:bodyPr/>
            <a:lstStyle/>
            <a:p>
              <a:endParaRPr lang="en-US"/>
            </a:p>
          </p:txBody>
        </p:sp>
        <p:sp>
          <p:nvSpPr>
            <p:cNvPr id="167" name="o0_tab"/>
            <p:cNvSpPr/>
            <p:nvPr/>
          </p:nvSpPr>
          <p:spPr>
            <a:xfrm>
              <a:off x="1324051" y="466526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Test Explorer</a:t>
              </a:r>
              <a:endParaRPr lang="en-US" sz="950" dirty="0"/>
            </a:p>
          </p:txBody>
        </p:sp>
        <p:sp>
          <p:nvSpPr>
            <p:cNvPr id="168" name="o0_L00"/>
            <p:cNvSpPr txBox="1"/>
            <p:nvPr/>
          </p:nvSpPr>
          <p:spPr>
            <a:xfrm>
              <a:off x="771754" y="5093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error CS0103: The name</a:t>
              </a:r>
              <a:endParaRPr lang="en-US" sz="760" dirty="0"/>
            </a:p>
          </p:txBody>
        </p:sp>
        <p:sp>
          <p:nvSpPr>
            <p:cNvPr id="169" name="o0_L01"/>
            <p:cNvSpPr txBox="1"/>
            <p:nvPr/>
          </p:nvSpPr>
          <p:spPr>
            <a:xfrm>
              <a:off x="771754" y="5258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'LoyaltyCalculator' does not</a:t>
              </a:r>
              <a:endParaRPr lang="en-US" sz="760" dirty="0"/>
            </a:p>
          </p:txBody>
        </p:sp>
        <p:sp>
          <p:nvSpPr>
            <p:cNvPr id="170" name="o0_L02"/>
            <p:cNvSpPr txBox="1"/>
            <p:nvPr/>
          </p:nvSpPr>
          <p:spPr>
            <a:xfrm>
              <a:off x="771754" y="5423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exist  → red</a:t>
              </a:r>
              <a:endParaRPr lang="en-US" sz="760" dirty="0"/>
            </a:p>
          </p:txBody>
        </p:sp>
      </p:grpSp>
      <p:grpSp>
        <p:nvGrpSpPr>
          <p:cNvPr id="182" name="o1"/>
          <p:cNvGrpSpPr/>
          <p:nvPr/>
        </p:nvGrpSpPr>
        <p:grpSpPr>
          <a:xfrm>
            <a:off x="4292194" y="4617720"/>
            <a:ext cx="3589020" cy="1090900"/>
            <a:chOff x="4292194" y="4617720"/>
            <a:chExt cx="3589020" cy="1090900"/>
          </a:xfrm>
        </p:grpSpPr>
        <p:sp>
          <p:nvSpPr>
            <p:cNvPr id="172" name="o1_win"/>
            <p:cNvSpPr/>
            <p:nvPr/>
          </p:nvSpPr>
          <p:spPr>
            <a:xfrm>
              <a:off x="4292194" y="4617720"/>
              <a:ext cx="3589020" cy="1090900"/>
            </a:xfrm>
            <a:prstGeom prst="roundRect">
              <a:avLst>
                <a:gd name="adj" fmla="val 6284"/>
              </a:avLst>
            </a:prstGeom>
            <a:solidFill>
              <a:srgbClr val="060D18"/>
            </a:solidFill>
            <a:ln w="12700">
              <a:solidFill>
                <a:srgbClr val="1E3A5F"/>
              </a:solidFill>
              <a:prstDash val="solid"/>
            </a:ln>
          </p:spPr>
          <p:txBody>
            <a:bodyPr/>
            <a:lstStyle/>
            <a:p>
              <a:endParaRPr lang="en-US"/>
            </a:p>
          </p:txBody>
        </p:sp>
        <p:sp>
          <p:nvSpPr>
            <p:cNvPr id="173" name="o1_bar"/>
            <p:cNvSpPr/>
            <p:nvPr/>
          </p:nvSpPr>
          <p:spPr>
            <a:xfrm>
              <a:off x="4292194" y="4617720"/>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74" name="o1_barfill"/>
            <p:cNvSpPr/>
            <p:nvPr/>
          </p:nvSpPr>
          <p:spPr>
            <a:xfrm>
              <a:off x="4292194" y="4789170"/>
              <a:ext cx="3589020" cy="171450"/>
            </a:xfrm>
            <a:prstGeom prst="rect">
              <a:avLst/>
            </a:prstGeom>
            <a:solidFill>
              <a:srgbClr val="0A1220"/>
            </a:solidFill>
            <a:ln w="12700">
              <a:solidFill>
                <a:srgbClr val="0A1220"/>
              </a:solidFill>
              <a:prstDash val="solid"/>
            </a:ln>
          </p:spPr>
          <p:txBody>
            <a:bodyPr/>
            <a:lstStyle/>
            <a:p>
              <a:endParaRPr lang="en-US"/>
            </a:p>
          </p:txBody>
        </p:sp>
        <p:sp>
          <p:nvSpPr>
            <p:cNvPr id="175" name="o1_dot0"/>
            <p:cNvSpPr/>
            <p:nvPr/>
          </p:nvSpPr>
          <p:spPr>
            <a:xfrm>
              <a:off x="4454042" y="4741530"/>
              <a:ext cx="95098" cy="95098"/>
            </a:xfrm>
            <a:prstGeom prst="ellipse">
              <a:avLst/>
            </a:prstGeom>
            <a:solidFill>
              <a:srgbClr val="F87171"/>
            </a:solidFill>
            <a:ln w="12700">
              <a:solidFill>
                <a:srgbClr val="F87171"/>
              </a:solidFill>
              <a:prstDash val="solid"/>
            </a:ln>
          </p:spPr>
          <p:txBody>
            <a:bodyPr/>
            <a:lstStyle/>
            <a:p>
              <a:endParaRPr lang="en-US"/>
            </a:p>
          </p:txBody>
        </p:sp>
        <p:sp>
          <p:nvSpPr>
            <p:cNvPr id="176" name="o1_dot1"/>
            <p:cNvSpPr/>
            <p:nvPr/>
          </p:nvSpPr>
          <p:spPr>
            <a:xfrm>
              <a:off x="4639666" y="4741530"/>
              <a:ext cx="95098" cy="95098"/>
            </a:xfrm>
            <a:prstGeom prst="ellipse">
              <a:avLst/>
            </a:prstGeom>
            <a:solidFill>
              <a:srgbClr val="FBBF24"/>
            </a:solidFill>
            <a:ln w="12700">
              <a:solidFill>
                <a:srgbClr val="FBBF24"/>
              </a:solidFill>
              <a:prstDash val="solid"/>
            </a:ln>
          </p:spPr>
          <p:txBody>
            <a:bodyPr/>
            <a:lstStyle/>
            <a:p>
              <a:endParaRPr lang="en-US"/>
            </a:p>
          </p:txBody>
        </p:sp>
        <p:sp>
          <p:nvSpPr>
            <p:cNvPr id="177" name="o1_dot2"/>
            <p:cNvSpPr/>
            <p:nvPr/>
          </p:nvSpPr>
          <p:spPr>
            <a:xfrm>
              <a:off x="4825290" y="4741530"/>
              <a:ext cx="95098" cy="95098"/>
            </a:xfrm>
            <a:prstGeom prst="ellipse">
              <a:avLst/>
            </a:prstGeom>
            <a:solidFill>
              <a:srgbClr val="34D399"/>
            </a:solidFill>
            <a:ln w="12700">
              <a:solidFill>
                <a:srgbClr val="34D399"/>
              </a:solidFill>
              <a:prstDash val="solid"/>
            </a:ln>
          </p:spPr>
          <p:txBody>
            <a:bodyPr/>
            <a:lstStyle/>
            <a:p>
              <a:endParaRPr lang="en-US"/>
            </a:p>
          </p:txBody>
        </p:sp>
        <p:sp>
          <p:nvSpPr>
            <p:cNvPr id="178" name="o1_tab"/>
            <p:cNvSpPr/>
            <p:nvPr/>
          </p:nvSpPr>
          <p:spPr>
            <a:xfrm>
              <a:off x="5073091" y="466526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Test Explorer</a:t>
              </a:r>
              <a:endParaRPr lang="en-US" sz="950" dirty="0"/>
            </a:p>
          </p:txBody>
        </p:sp>
        <p:sp>
          <p:nvSpPr>
            <p:cNvPr id="179" name="o1_L00"/>
            <p:cNvSpPr txBox="1"/>
            <p:nvPr/>
          </p:nvSpPr>
          <p:spPr>
            <a:xfrm>
              <a:off x="4520794" y="5093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(9, 0)    ✓ (10, 1)</a:t>
              </a:r>
              <a:endParaRPr lang="en-US" sz="760" dirty="0"/>
            </a:p>
          </p:txBody>
        </p:sp>
        <p:sp>
          <p:nvSpPr>
            <p:cNvPr id="180" name="o1_L01"/>
            <p:cNvSpPr txBox="1"/>
            <p:nvPr/>
          </p:nvSpPr>
          <p:spPr>
            <a:xfrm>
              <a:off x="4520794" y="5258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(255, 25) ✓ (999, 99)</a:t>
              </a:r>
              <a:endParaRPr lang="en-US" sz="760" dirty="0"/>
            </a:p>
          </p:txBody>
        </p:sp>
        <p:sp>
          <p:nvSpPr>
            <p:cNvPr id="181" name="o1_L02"/>
            <p:cNvSpPr txBox="1"/>
            <p:nvPr/>
          </p:nvSpPr>
          <p:spPr>
            <a:xfrm>
              <a:off x="4520794" y="5423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(1000, 150)</a:t>
              </a:r>
              <a:endParaRPr lang="en-US" sz="760" dirty="0"/>
            </a:p>
          </p:txBody>
        </p:sp>
      </p:grpSp>
      <p:grpSp>
        <p:nvGrpSpPr>
          <p:cNvPr id="192" name="o2"/>
          <p:cNvGrpSpPr/>
          <p:nvPr/>
        </p:nvGrpSpPr>
        <p:grpSpPr>
          <a:xfrm>
            <a:off x="8041234" y="4617720"/>
            <a:ext cx="3589020" cy="925900"/>
            <a:chOff x="8041234" y="4617720"/>
            <a:chExt cx="3589020" cy="925900"/>
          </a:xfrm>
        </p:grpSpPr>
        <p:sp>
          <p:nvSpPr>
            <p:cNvPr id="183" name="o2_win"/>
            <p:cNvSpPr/>
            <p:nvPr/>
          </p:nvSpPr>
          <p:spPr>
            <a:xfrm>
              <a:off x="8041234" y="4617720"/>
              <a:ext cx="3589020" cy="925900"/>
            </a:xfrm>
            <a:prstGeom prst="roundRect">
              <a:avLst>
                <a:gd name="adj" fmla="val 7403"/>
              </a:avLst>
            </a:prstGeom>
            <a:solidFill>
              <a:srgbClr val="060D18"/>
            </a:solidFill>
            <a:ln w="12700">
              <a:solidFill>
                <a:srgbClr val="1E3A5F"/>
              </a:solidFill>
              <a:prstDash val="solid"/>
            </a:ln>
          </p:spPr>
          <p:txBody>
            <a:bodyPr/>
            <a:lstStyle/>
            <a:p>
              <a:endParaRPr lang="en-US"/>
            </a:p>
          </p:txBody>
        </p:sp>
        <p:sp>
          <p:nvSpPr>
            <p:cNvPr id="184" name="o2_bar"/>
            <p:cNvSpPr/>
            <p:nvPr/>
          </p:nvSpPr>
          <p:spPr>
            <a:xfrm>
              <a:off x="8041234" y="4617720"/>
              <a:ext cx="35890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85" name="o2_barfill"/>
            <p:cNvSpPr/>
            <p:nvPr/>
          </p:nvSpPr>
          <p:spPr>
            <a:xfrm>
              <a:off x="8041234" y="4789170"/>
              <a:ext cx="3589020" cy="171450"/>
            </a:xfrm>
            <a:prstGeom prst="rect">
              <a:avLst/>
            </a:prstGeom>
            <a:solidFill>
              <a:srgbClr val="0A1220"/>
            </a:solidFill>
            <a:ln w="12700">
              <a:solidFill>
                <a:srgbClr val="0A1220"/>
              </a:solidFill>
              <a:prstDash val="solid"/>
            </a:ln>
          </p:spPr>
          <p:txBody>
            <a:bodyPr/>
            <a:lstStyle/>
            <a:p>
              <a:endParaRPr lang="en-US"/>
            </a:p>
          </p:txBody>
        </p:sp>
        <p:sp>
          <p:nvSpPr>
            <p:cNvPr id="186" name="o2_dot0"/>
            <p:cNvSpPr/>
            <p:nvPr/>
          </p:nvSpPr>
          <p:spPr>
            <a:xfrm>
              <a:off x="8203082" y="4741530"/>
              <a:ext cx="95098" cy="95098"/>
            </a:xfrm>
            <a:prstGeom prst="ellipse">
              <a:avLst/>
            </a:prstGeom>
            <a:solidFill>
              <a:srgbClr val="F87171"/>
            </a:solidFill>
            <a:ln w="12700">
              <a:solidFill>
                <a:srgbClr val="F87171"/>
              </a:solidFill>
              <a:prstDash val="solid"/>
            </a:ln>
          </p:spPr>
          <p:txBody>
            <a:bodyPr/>
            <a:lstStyle/>
            <a:p>
              <a:endParaRPr lang="en-US"/>
            </a:p>
          </p:txBody>
        </p:sp>
        <p:sp>
          <p:nvSpPr>
            <p:cNvPr id="187" name="o2_dot1"/>
            <p:cNvSpPr/>
            <p:nvPr/>
          </p:nvSpPr>
          <p:spPr>
            <a:xfrm>
              <a:off x="8388706" y="4741530"/>
              <a:ext cx="95098" cy="95098"/>
            </a:xfrm>
            <a:prstGeom prst="ellipse">
              <a:avLst/>
            </a:prstGeom>
            <a:solidFill>
              <a:srgbClr val="FBBF24"/>
            </a:solidFill>
            <a:ln w="12700">
              <a:solidFill>
                <a:srgbClr val="FBBF24"/>
              </a:solidFill>
              <a:prstDash val="solid"/>
            </a:ln>
          </p:spPr>
          <p:txBody>
            <a:bodyPr/>
            <a:lstStyle/>
            <a:p>
              <a:endParaRPr lang="en-US"/>
            </a:p>
          </p:txBody>
        </p:sp>
        <p:sp>
          <p:nvSpPr>
            <p:cNvPr id="188" name="o2_dot2"/>
            <p:cNvSpPr/>
            <p:nvPr/>
          </p:nvSpPr>
          <p:spPr>
            <a:xfrm>
              <a:off x="8574330" y="4741530"/>
              <a:ext cx="95098" cy="95098"/>
            </a:xfrm>
            <a:prstGeom prst="ellipse">
              <a:avLst/>
            </a:prstGeom>
            <a:solidFill>
              <a:srgbClr val="34D399"/>
            </a:solidFill>
            <a:ln w="12700">
              <a:solidFill>
                <a:srgbClr val="34D399"/>
              </a:solidFill>
              <a:prstDash val="solid"/>
            </a:ln>
          </p:spPr>
          <p:txBody>
            <a:bodyPr/>
            <a:lstStyle/>
            <a:p>
              <a:endParaRPr lang="en-US"/>
            </a:p>
          </p:txBody>
        </p:sp>
        <p:sp>
          <p:nvSpPr>
            <p:cNvPr id="189" name="o2_tab"/>
            <p:cNvSpPr/>
            <p:nvPr/>
          </p:nvSpPr>
          <p:spPr>
            <a:xfrm>
              <a:off x="8822131" y="466526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Test Explorer</a:t>
              </a:r>
              <a:endParaRPr lang="en-US" sz="950" dirty="0"/>
            </a:p>
          </p:txBody>
        </p:sp>
        <p:sp>
          <p:nvSpPr>
            <p:cNvPr id="190" name="o2_L00"/>
            <p:cNvSpPr txBox="1"/>
            <p:nvPr/>
          </p:nvSpPr>
          <p:spPr>
            <a:xfrm>
              <a:off x="8269834" y="5093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all 5 still green</a:t>
              </a:r>
              <a:endParaRPr lang="en-US" sz="760" dirty="0"/>
            </a:p>
          </p:txBody>
        </p:sp>
        <p:sp>
          <p:nvSpPr>
            <p:cNvPr id="191" name="o2_L01"/>
            <p:cNvSpPr txBox="1"/>
            <p:nvPr/>
          </p:nvSpPr>
          <p:spPr>
            <a:xfrm>
              <a:off x="8269834" y="5258620"/>
              <a:ext cx="3289020"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  no magic numbers left</a:t>
              </a:r>
              <a:endParaRPr lang="en-US" sz="760" dirty="0"/>
            </a:p>
          </p:txBody>
        </p:sp>
      </p:grpSp>
    </p:spTree>
    <p:extLst>
      <p:ext uri="{BB962C8B-B14F-4D97-AF65-F5344CB8AC3E}">
        <p14:creationId xmlns:p14="http://schemas.microsoft.com/office/powerpoint/2010/main" val="51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1"/>
                                        </p:tgtEl>
                                        <p:attrNameLst>
                                          <p:attrName>style.visibility</p:attrName>
                                        </p:attrNameLst>
                                      </p:cBhvr>
                                      <p:to>
                                        <p:strVal val="visible"/>
                                      </p:to>
                                    </p:set>
                                    <p:animEffect transition="in" filter="fade">
                                      <p:cBhvr>
                                        <p:cTn id="10" dur="400"/>
                                        <p:tgtEl>
                                          <p:spTgt spid="1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1"/>
                                        </p:tgtEl>
                                        <p:attrNameLst>
                                          <p:attrName>style.visibility</p:attrName>
                                        </p:attrNameLst>
                                      </p:cBhvr>
                                      <p:to>
                                        <p:strVal val="visible"/>
                                      </p:to>
                                    </p:set>
                                    <p:animEffect transition="in" filter="fade">
                                      <p:cBhvr>
                                        <p:cTn id="15" dur="400"/>
                                        <p:tgtEl>
                                          <p:spTgt spid="17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fade">
                                      <p:cBhvr>
                                        <p:cTn id="20" dur="400"/>
                                        <p:tgtEl>
                                          <p:spTgt spid="122"/>
                                        </p:tgtEl>
                                      </p:cBhvr>
                                    </p:animEffect>
                                  </p:childTnLst>
                                </p:cTn>
                              </p:par>
                              <p:par>
                                <p:cTn id="21" presetID="10" presetClass="entr" presetSubtype="0" fill="hold" nodeType="with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fade">
                                      <p:cBhvr>
                                        <p:cTn id="23" dur="400"/>
                                        <p:tgtEl>
                                          <p:spTgt spid="13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fade">
                                      <p:cBhvr>
                                        <p:cTn id="26" dur="400"/>
                                        <p:tgtEl>
                                          <p:spTgt spid="13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8"/>
                                        </p:tgtEl>
                                        <p:attrNameLst>
                                          <p:attrName>style.visibility</p:attrName>
                                        </p:attrNameLst>
                                      </p:cBhvr>
                                      <p:to>
                                        <p:strVal val="visible"/>
                                      </p:to>
                                    </p:set>
                                    <p:animEffect transition="in" filter="fade">
                                      <p:cBhvr>
                                        <p:cTn id="29" dur="400"/>
                                        <p:tgtEl>
                                          <p:spTgt spid="138"/>
                                        </p:tgtEl>
                                      </p:cBhvr>
                                    </p:animEffect>
                                  </p:childTnLst>
                                </p:cTn>
                              </p:par>
                            </p:childTnLst>
                          </p:cTn>
                        </p:par>
                        <p:par>
                          <p:cTn id="30" fill="hold">
                            <p:stCondLst>
                              <p:cond delay="400"/>
                            </p:stCondLst>
                            <p:childTnLst>
                              <p:par>
                                <p:cTn id="31" presetID="10" presetClass="entr" presetSubtype="0" fill="hold" nodeType="afterEffect">
                                  <p:stCondLst>
                                    <p:cond delay="0"/>
                                  </p:stCondLst>
                                  <p:childTnLst>
                                    <p:set>
                                      <p:cBhvr>
                                        <p:cTn id="32" dur="1" fill="hold">
                                          <p:stCondLst>
                                            <p:cond delay="0"/>
                                          </p:stCondLst>
                                        </p:cTn>
                                        <p:tgtEl>
                                          <p:spTgt spid="182"/>
                                        </p:tgtEl>
                                        <p:attrNameLst>
                                          <p:attrName>style.visibility</p:attrName>
                                        </p:attrNameLst>
                                      </p:cBhvr>
                                      <p:to>
                                        <p:strVal val="visible"/>
                                      </p:to>
                                    </p:set>
                                    <p:animEffect transition="in" filter="fade">
                                      <p:cBhvr>
                                        <p:cTn id="33" dur="400"/>
                                        <p:tgtEl>
                                          <p:spTgt spid="18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9"/>
                                        </p:tgtEl>
                                        <p:attrNameLst>
                                          <p:attrName>style.visibility</p:attrName>
                                        </p:attrNameLst>
                                      </p:cBhvr>
                                      <p:to>
                                        <p:strVal val="visible"/>
                                      </p:to>
                                    </p:set>
                                    <p:animEffect transition="in" filter="fade">
                                      <p:cBhvr>
                                        <p:cTn id="38" dur="400"/>
                                        <p:tgtEl>
                                          <p:spTgt spid="139"/>
                                        </p:tgtEl>
                                      </p:cBhvr>
                                    </p:animEffect>
                                  </p:childTnLst>
                                </p:cTn>
                              </p:par>
                              <p:par>
                                <p:cTn id="39" presetID="10" presetClass="entr" presetSubtype="0" fill="hold" nodeType="withEffect">
                                  <p:stCondLst>
                                    <p:cond delay="0"/>
                                  </p:stCondLst>
                                  <p:childTnLst>
                                    <p:set>
                                      <p:cBhvr>
                                        <p:cTn id="40" dur="1" fill="hold">
                                          <p:stCondLst>
                                            <p:cond delay="0"/>
                                          </p:stCondLst>
                                        </p:cTn>
                                        <p:tgtEl>
                                          <p:spTgt spid="157"/>
                                        </p:tgtEl>
                                        <p:attrNameLst>
                                          <p:attrName>style.visibility</p:attrName>
                                        </p:attrNameLst>
                                      </p:cBhvr>
                                      <p:to>
                                        <p:strVal val="visible"/>
                                      </p:to>
                                    </p:set>
                                    <p:animEffect transition="in" filter="fade">
                                      <p:cBhvr>
                                        <p:cTn id="41" dur="400"/>
                                        <p:tgtEl>
                                          <p:spTgt spid="15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8"/>
                                        </p:tgtEl>
                                        <p:attrNameLst>
                                          <p:attrName>style.visibility</p:attrName>
                                        </p:attrNameLst>
                                      </p:cBhvr>
                                      <p:to>
                                        <p:strVal val="visible"/>
                                      </p:to>
                                    </p:set>
                                    <p:animEffect transition="in" filter="fade">
                                      <p:cBhvr>
                                        <p:cTn id="44" dur="400"/>
                                        <p:tgtEl>
                                          <p:spTgt spid="15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9"/>
                                        </p:tgtEl>
                                        <p:attrNameLst>
                                          <p:attrName>style.visibility</p:attrName>
                                        </p:attrNameLst>
                                      </p:cBhvr>
                                      <p:to>
                                        <p:strVal val="visible"/>
                                      </p:to>
                                    </p:set>
                                    <p:animEffect transition="in" filter="fade">
                                      <p:cBhvr>
                                        <p:cTn id="47" dur="400"/>
                                        <p:tgtEl>
                                          <p:spTgt spid="15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0"/>
                                        </p:tgtEl>
                                        <p:attrNameLst>
                                          <p:attrName>style.visibility</p:attrName>
                                        </p:attrNameLst>
                                      </p:cBhvr>
                                      <p:to>
                                        <p:strVal val="visible"/>
                                      </p:to>
                                    </p:set>
                                    <p:animEffect transition="in" filter="fade">
                                      <p:cBhvr>
                                        <p:cTn id="50" dur="400"/>
                                        <p:tgtEl>
                                          <p:spTgt spid="160"/>
                                        </p:tgtEl>
                                      </p:cBhvr>
                                    </p:animEffect>
                                  </p:childTnLst>
                                </p:cTn>
                              </p:par>
                            </p:childTnLst>
                          </p:cTn>
                        </p:par>
                        <p:par>
                          <p:cTn id="51" fill="hold">
                            <p:stCondLst>
                              <p:cond delay="400"/>
                            </p:stCondLst>
                            <p:childTnLst>
                              <p:par>
                                <p:cTn id="52" presetID="10" presetClass="entr" presetSubtype="0" fill="hold" nodeType="afterEffect">
                                  <p:stCondLst>
                                    <p:cond delay="0"/>
                                  </p:stCondLst>
                                  <p:childTnLst>
                                    <p:set>
                                      <p:cBhvr>
                                        <p:cTn id="53" dur="1" fill="hold">
                                          <p:stCondLst>
                                            <p:cond delay="0"/>
                                          </p:stCondLst>
                                        </p:cTn>
                                        <p:tgtEl>
                                          <p:spTgt spid="192"/>
                                        </p:tgtEl>
                                        <p:attrNameLst>
                                          <p:attrName>style.visibility</p:attrName>
                                        </p:attrNameLst>
                                      </p:cBhvr>
                                      <p:to>
                                        <p:strVal val="visible"/>
                                      </p:to>
                                    </p:set>
                                    <p:animEffect transition="in" filter="fade">
                                      <p:cBhvr>
                                        <p:cTn id="54" dur="4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22" grpId="0" animBg="1"/>
      <p:bldP spid="137" grpId="0" animBg="1"/>
      <p:bldP spid="138" grpId="0" animBg="1"/>
      <p:bldP spid="139" grpId="0" animBg="1"/>
      <p:bldP spid="158" grpId="0" animBg="1"/>
      <p:bldP spid="159" grpId="0" animBg="1"/>
      <p:bldP spid="160"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356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THE REPO</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Real Tests on the SwiftBite Repository</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134</a:t>
            </a:r>
            <a:endParaRPr lang="en-US" sz="850" dirty="0"/>
          </a:p>
        </p:txBody>
      </p:sp>
      <p:grpSp>
        <p:nvGrpSpPr>
          <p:cNvPr id="118" name="tree"/>
          <p:cNvGrpSpPr/>
          <p:nvPr/>
        </p:nvGrpSpPr>
        <p:grpSpPr>
          <a:xfrm>
            <a:off x="543154" y="1572768"/>
            <a:ext cx="5394960" cy="2526300"/>
            <a:chOff x="543154" y="1572768"/>
            <a:chExt cx="5394960" cy="2526300"/>
          </a:xfrm>
        </p:grpSpPr>
        <p:sp>
          <p:nvSpPr>
            <p:cNvPr id="101" name="tree_win"/>
            <p:cNvSpPr/>
            <p:nvPr/>
          </p:nvSpPr>
          <p:spPr>
            <a:xfrm>
              <a:off x="543154" y="1572768"/>
              <a:ext cx="5394960" cy="2526300"/>
            </a:xfrm>
            <a:prstGeom prst="roundRect">
              <a:avLst>
                <a:gd name="adj" fmla="val 2713"/>
              </a:avLst>
            </a:prstGeom>
            <a:solidFill>
              <a:srgbClr val="060D18"/>
            </a:solidFill>
            <a:ln w="12700">
              <a:solidFill>
                <a:srgbClr val="1E3A5F"/>
              </a:solidFill>
              <a:prstDash val="solid"/>
            </a:ln>
          </p:spPr>
          <p:txBody>
            <a:bodyPr/>
            <a:lstStyle/>
            <a:p>
              <a:endParaRPr lang="en-US"/>
            </a:p>
          </p:txBody>
        </p:sp>
        <p:sp>
          <p:nvSpPr>
            <p:cNvPr id="102" name="tree_bar"/>
            <p:cNvSpPr/>
            <p:nvPr/>
          </p:nvSpPr>
          <p:spPr>
            <a:xfrm>
              <a:off x="543154" y="1572768"/>
              <a:ext cx="53949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tree_barfill"/>
            <p:cNvSpPr/>
            <p:nvPr/>
          </p:nvSpPr>
          <p:spPr>
            <a:xfrm>
              <a:off x="543154" y="1744218"/>
              <a:ext cx="5394960" cy="171450"/>
            </a:xfrm>
            <a:prstGeom prst="rect">
              <a:avLst/>
            </a:prstGeom>
            <a:solidFill>
              <a:srgbClr val="0A1220"/>
            </a:solidFill>
            <a:ln w="12700">
              <a:solidFill>
                <a:srgbClr val="0A1220"/>
              </a:solidFill>
              <a:prstDash val="solid"/>
            </a:ln>
          </p:spPr>
          <p:txBody>
            <a:bodyPr/>
            <a:lstStyle/>
            <a:p>
              <a:endParaRPr lang="en-US"/>
            </a:p>
          </p:txBody>
        </p:sp>
        <p:sp>
          <p:nvSpPr>
            <p:cNvPr id="104" name="tre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tre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tre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tree_tab"/>
            <p:cNvSpPr/>
            <p:nvPr/>
          </p:nvSpPr>
          <p:spPr>
            <a:xfrm>
              <a:off x="1324051" y="162031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SwiftBite repository</a:t>
              </a:r>
              <a:endParaRPr lang="en-US" sz="950" dirty="0"/>
            </a:p>
          </p:txBody>
        </p:sp>
        <p:sp>
          <p:nvSpPr>
            <p:cNvPr id="108" name="tree_L00"/>
            <p:cNvSpPr txBox="1"/>
            <p:nvPr/>
          </p:nvSpPr>
          <p:spPr>
            <a:xfrm>
              <a:off x="771754" y="204866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swiftbite/</a:t>
              </a:r>
              <a:endParaRPr lang="en-US" sz="880" dirty="0"/>
            </a:p>
          </p:txBody>
        </p:sp>
        <p:sp>
          <p:nvSpPr>
            <p:cNvPr id="109" name="tree_L01"/>
            <p:cNvSpPr txBox="1"/>
            <p:nvPr/>
          </p:nvSpPr>
          <p:spPr>
            <a:xfrm>
              <a:off x="771754" y="224170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src/</a:t>
              </a:r>
              <a:endParaRPr lang="en-US" sz="880" dirty="0"/>
            </a:p>
          </p:txBody>
        </p:sp>
        <p:sp>
          <p:nvSpPr>
            <p:cNvPr id="110" name="tree_L02"/>
            <p:cNvSpPr txBox="1"/>
            <p:nvPr/>
          </p:nvSpPr>
          <p:spPr>
            <a:xfrm>
              <a:off x="771754" y="243474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 SwiftBite.Business/    ← rules: BR-01 … BR-25</a:t>
              </a:r>
              <a:endParaRPr lang="en-US" sz="880" dirty="0"/>
            </a:p>
          </p:txBody>
        </p:sp>
        <p:sp>
          <p:nvSpPr>
            <p:cNvPr id="111" name="tree_L03"/>
            <p:cNvSpPr txBox="1"/>
            <p:nvPr/>
          </p:nvSpPr>
          <p:spPr>
            <a:xfrm>
              <a:off x="771754" y="262778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 SwiftBite.Data/</a:t>
              </a:r>
              <a:endParaRPr lang="en-US" sz="880" dirty="0"/>
            </a:p>
          </p:txBody>
        </p:sp>
        <p:sp>
          <p:nvSpPr>
            <p:cNvPr id="112" name="tree_L04"/>
            <p:cNvSpPr txBox="1"/>
            <p:nvPr/>
          </p:nvSpPr>
          <p:spPr>
            <a:xfrm>
              <a:off x="771754" y="282082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 SwiftBite.UI/</a:t>
              </a:r>
              <a:endParaRPr lang="en-US" sz="880" dirty="0"/>
            </a:p>
          </p:txBody>
        </p:sp>
        <p:sp>
          <p:nvSpPr>
            <p:cNvPr id="113" name="tree_L05"/>
            <p:cNvSpPr txBox="1"/>
            <p:nvPr/>
          </p:nvSpPr>
          <p:spPr>
            <a:xfrm>
              <a:off x="771754" y="301386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tests/</a:t>
              </a:r>
              <a:endParaRPr lang="en-US" sz="880" dirty="0"/>
            </a:p>
          </p:txBody>
        </p:sp>
        <p:sp>
          <p:nvSpPr>
            <p:cNvPr id="114" name="tree_L06"/>
            <p:cNvSpPr txBox="1"/>
            <p:nvPr/>
          </p:nvSpPr>
          <p:spPr>
            <a:xfrm>
              <a:off x="771754" y="3206908"/>
              <a:ext cx="509496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   └─ SwiftBite.Business.Tests/  ← we add this</a:t>
              </a:r>
              <a:endParaRPr lang="en-US" sz="880" dirty="0"/>
            </a:p>
          </p:txBody>
        </p:sp>
        <p:sp>
          <p:nvSpPr>
            <p:cNvPr id="115" name="tree_L07"/>
            <p:cNvSpPr txBox="1"/>
            <p:nvPr/>
          </p:nvSpPr>
          <p:spPr>
            <a:xfrm>
              <a:off x="771754" y="339994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 ValueObjects/  Users/  Pricing/</a:t>
              </a:r>
              <a:endParaRPr lang="en-US" sz="880" dirty="0"/>
            </a:p>
          </p:txBody>
        </p:sp>
        <p:sp>
          <p:nvSpPr>
            <p:cNvPr id="116" name="tree_L08"/>
            <p:cNvSpPr txBox="1"/>
            <p:nvPr/>
          </p:nvSpPr>
          <p:spPr>
            <a:xfrm>
              <a:off x="771754" y="359298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 Promotions/  Orders/  Notifications/</a:t>
              </a:r>
              <a:endParaRPr lang="en-US" sz="880" dirty="0"/>
            </a:p>
          </p:txBody>
        </p:sp>
        <p:sp>
          <p:nvSpPr>
            <p:cNvPr id="117" name="tree_L09"/>
            <p:cNvSpPr txBox="1"/>
            <p:nvPr/>
          </p:nvSpPr>
          <p:spPr>
            <a:xfrm>
              <a:off x="771754" y="3786028"/>
              <a:ext cx="509496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  └─ TestHelpers/   (TestData, Spy, Dummy)</a:t>
              </a:r>
              <a:endParaRPr lang="en-US" sz="880" dirty="0"/>
            </a:p>
          </p:txBody>
        </p:sp>
      </p:grpSp>
      <p:sp>
        <p:nvSpPr>
          <p:cNvPr id="119" name="tree_hl6"/>
          <p:cNvSpPr/>
          <p:nvPr/>
        </p:nvSpPr>
        <p:spPr>
          <a:xfrm>
            <a:off x="676656" y="3188620"/>
            <a:ext cx="5127960" cy="22961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36" name="cmd"/>
          <p:cNvGrpSpPr/>
          <p:nvPr/>
        </p:nvGrpSpPr>
        <p:grpSpPr>
          <a:xfrm>
            <a:off x="6172200" y="1572768"/>
            <a:ext cx="5458054" cy="2410900"/>
            <a:chOff x="6172200" y="1572768"/>
            <a:chExt cx="5458054" cy="2410900"/>
          </a:xfrm>
        </p:grpSpPr>
        <p:sp>
          <p:nvSpPr>
            <p:cNvPr id="120" name="cmd_win"/>
            <p:cNvSpPr/>
            <p:nvPr/>
          </p:nvSpPr>
          <p:spPr>
            <a:xfrm>
              <a:off x="6172200" y="1572768"/>
              <a:ext cx="5458054" cy="2410900"/>
            </a:xfrm>
            <a:prstGeom prst="roundRect">
              <a:avLst>
                <a:gd name="adj" fmla="val 2843"/>
              </a:avLst>
            </a:prstGeom>
            <a:solidFill>
              <a:srgbClr val="060D18"/>
            </a:solidFill>
            <a:ln w="12700">
              <a:solidFill>
                <a:srgbClr val="1E3A5F"/>
              </a:solidFill>
              <a:prstDash val="solid"/>
            </a:ln>
          </p:spPr>
          <p:txBody>
            <a:bodyPr/>
            <a:lstStyle/>
            <a:p>
              <a:endParaRPr lang="en-US"/>
            </a:p>
          </p:txBody>
        </p:sp>
        <p:sp>
          <p:nvSpPr>
            <p:cNvPr id="121" name="cmd_bar"/>
            <p:cNvSpPr/>
            <p:nvPr/>
          </p:nvSpPr>
          <p:spPr>
            <a:xfrm>
              <a:off x="6172200" y="1572768"/>
              <a:ext cx="545805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2" name="cmd_barfill"/>
            <p:cNvSpPr/>
            <p:nvPr/>
          </p:nvSpPr>
          <p:spPr>
            <a:xfrm>
              <a:off x="6172200" y="1744218"/>
              <a:ext cx="5458054" cy="171450"/>
            </a:xfrm>
            <a:prstGeom prst="rect">
              <a:avLst/>
            </a:prstGeom>
            <a:solidFill>
              <a:srgbClr val="0A1220"/>
            </a:solidFill>
            <a:ln w="12700">
              <a:solidFill>
                <a:srgbClr val="0A1220"/>
              </a:solidFill>
              <a:prstDash val="solid"/>
            </a:ln>
          </p:spPr>
          <p:txBody>
            <a:bodyPr/>
            <a:lstStyle/>
            <a:p>
              <a:endParaRPr lang="en-US"/>
            </a:p>
          </p:txBody>
        </p:sp>
        <p:sp>
          <p:nvSpPr>
            <p:cNvPr id="123" name="cmd_dot0"/>
            <p:cNvSpPr/>
            <p:nvPr/>
          </p:nvSpPr>
          <p:spPr>
            <a:xfrm>
              <a:off x="633404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4" name="cmd_dot1"/>
            <p:cNvSpPr/>
            <p:nvPr/>
          </p:nvSpPr>
          <p:spPr>
            <a:xfrm>
              <a:off x="651967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25" name="cmd_dot2"/>
            <p:cNvSpPr/>
            <p:nvPr/>
          </p:nvSpPr>
          <p:spPr>
            <a:xfrm>
              <a:off x="670529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6" name="cmd_tab"/>
            <p:cNvSpPr/>
            <p:nvPr/>
          </p:nvSpPr>
          <p:spPr>
            <a:xfrm>
              <a:off x="6953097"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Terminal</a:t>
              </a:r>
              <a:endParaRPr lang="en-US" sz="950" dirty="0"/>
            </a:p>
          </p:txBody>
        </p:sp>
        <p:sp>
          <p:nvSpPr>
            <p:cNvPr id="127" name="cmd_L00"/>
            <p:cNvSpPr txBox="1"/>
            <p:nvPr/>
          </p:nvSpPr>
          <p:spPr>
            <a:xfrm>
              <a:off x="6400800" y="2048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git clone https:</a:t>
              </a:r>
              <a:r>
                <a:rPr lang="en-US" sz="760" b="0" dirty="0">
                  <a:solidFill>
                    <a:srgbClr val="6FAE7A"/>
                  </a:solidFill>
                  <a:latin typeface="Consolas"/>
                  <a:ea typeface="Consolas"/>
                  <a:cs typeface="Consolas"/>
                </a:rPr>
                <a:t>//github.com/SimulationEG/SwiftBite</a:t>
              </a:r>
              <a:endParaRPr lang="en-US" sz="760" dirty="0"/>
            </a:p>
          </p:txBody>
        </p:sp>
        <p:sp>
          <p:nvSpPr>
            <p:cNvPr id="128" name="cmd_L01"/>
            <p:cNvSpPr txBox="1"/>
            <p:nvPr/>
          </p:nvSpPr>
          <p:spPr>
            <a:xfrm>
              <a:off x="6400800" y="2213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cd SwiftBite</a:t>
              </a:r>
              <a:endParaRPr lang="en-US" sz="760" dirty="0"/>
            </a:p>
          </p:txBody>
        </p:sp>
        <p:sp>
          <p:nvSpPr>
            <p:cNvPr id="129" name="cmd_L03"/>
            <p:cNvSpPr txBox="1"/>
            <p:nvPr/>
          </p:nvSpPr>
          <p:spPr>
            <a:xfrm>
              <a:off x="6400800" y="2543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dotnet new xunit -n SwiftBite.Business.Tests -o tests/SwiftBite.Business.Tests</a:t>
              </a:r>
              <a:endParaRPr lang="en-US" sz="760" dirty="0"/>
            </a:p>
          </p:txBody>
        </p:sp>
        <p:sp>
          <p:nvSpPr>
            <p:cNvPr id="130" name="cmd_L04"/>
            <p:cNvSpPr txBox="1"/>
            <p:nvPr/>
          </p:nvSpPr>
          <p:spPr>
            <a:xfrm>
              <a:off x="6400800" y="2708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dotnet sln SwiftBite.slnx add tests/SwiftBite.Business.Tests</a:t>
              </a:r>
              <a:endParaRPr lang="en-US" sz="760" dirty="0"/>
            </a:p>
          </p:txBody>
        </p:sp>
        <p:sp>
          <p:nvSpPr>
            <p:cNvPr id="131" name="cmd_L05"/>
            <p:cNvSpPr txBox="1"/>
            <p:nvPr/>
          </p:nvSpPr>
          <p:spPr>
            <a:xfrm>
              <a:off x="6400800" y="2873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dotnet add tests/SwiftBite.Business.Tests reference src/SwiftBite.Business</a:t>
              </a:r>
              <a:endParaRPr lang="en-US" sz="760" dirty="0"/>
            </a:p>
          </p:txBody>
        </p:sp>
        <p:sp>
          <p:nvSpPr>
            <p:cNvPr id="132" name="cmd_L06"/>
            <p:cNvSpPr txBox="1"/>
            <p:nvPr/>
          </p:nvSpPr>
          <p:spPr>
            <a:xfrm>
              <a:off x="6400800" y="3038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dotnet add tests/SwiftBite.Business.Tests package NSubstitute</a:t>
              </a:r>
              <a:endParaRPr lang="en-US" sz="760" dirty="0"/>
            </a:p>
          </p:txBody>
        </p:sp>
        <p:sp>
          <p:nvSpPr>
            <p:cNvPr id="133" name="cmd_L07"/>
            <p:cNvSpPr txBox="1"/>
            <p:nvPr/>
          </p:nvSpPr>
          <p:spPr>
            <a:xfrm>
              <a:off x="6400800" y="3203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dotnet add tests/SwiftBite.Business.Tests package Shouldly</a:t>
              </a:r>
              <a:endParaRPr lang="en-US" sz="760" dirty="0"/>
            </a:p>
          </p:txBody>
        </p:sp>
        <p:sp>
          <p:nvSpPr>
            <p:cNvPr id="134" name="cmd_L08"/>
            <p:cNvSpPr txBox="1"/>
            <p:nvPr/>
          </p:nvSpPr>
          <p:spPr>
            <a:xfrm>
              <a:off x="6400800" y="3368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dotnet add tests/SwiftBite.Business.Tests package Bogus</a:t>
              </a:r>
              <a:endParaRPr lang="en-US" sz="760" dirty="0"/>
            </a:p>
          </p:txBody>
        </p:sp>
        <p:sp>
          <p:nvSpPr>
            <p:cNvPr id="135" name="cmd_L10"/>
            <p:cNvSpPr txBox="1"/>
            <p:nvPr/>
          </p:nvSpPr>
          <p:spPr>
            <a:xfrm>
              <a:off x="6400800" y="3698668"/>
              <a:ext cx="5158054" cy="165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dotnet test</a:t>
              </a:r>
              <a:endParaRPr lang="en-US" sz="760" dirty="0"/>
            </a:p>
          </p:txBody>
        </p:sp>
      </p:grpSp>
      <p:sp>
        <p:nvSpPr>
          <p:cNvPr id="137" name="cmd_hl10"/>
          <p:cNvSpPr/>
          <p:nvPr/>
        </p:nvSpPr>
        <p:spPr>
          <a:xfrm>
            <a:off x="6305702" y="3680380"/>
            <a:ext cx="5191054" cy="20157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46" name="out"/>
          <p:cNvGrpSpPr/>
          <p:nvPr/>
        </p:nvGrpSpPr>
        <p:grpSpPr>
          <a:xfrm>
            <a:off x="6172200" y="4023360"/>
            <a:ext cx="5458054" cy="788940"/>
            <a:chOff x="6172200" y="4023360"/>
            <a:chExt cx="5458054" cy="788940"/>
          </a:xfrm>
        </p:grpSpPr>
        <p:sp>
          <p:nvSpPr>
            <p:cNvPr id="138" name="out_win"/>
            <p:cNvSpPr/>
            <p:nvPr/>
          </p:nvSpPr>
          <p:spPr>
            <a:xfrm>
              <a:off x="6172200" y="4023360"/>
              <a:ext cx="5458054" cy="788940"/>
            </a:xfrm>
            <a:prstGeom prst="roundRect">
              <a:avLst>
                <a:gd name="adj" fmla="val 8689"/>
              </a:avLst>
            </a:prstGeom>
            <a:solidFill>
              <a:srgbClr val="060D18"/>
            </a:solidFill>
            <a:ln w="12700">
              <a:solidFill>
                <a:srgbClr val="1E3A5F"/>
              </a:solidFill>
              <a:prstDash val="solid"/>
            </a:ln>
          </p:spPr>
          <p:txBody>
            <a:bodyPr/>
            <a:lstStyle/>
            <a:p>
              <a:endParaRPr lang="en-US"/>
            </a:p>
          </p:txBody>
        </p:sp>
        <p:sp>
          <p:nvSpPr>
            <p:cNvPr id="139" name="out_bar"/>
            <p:cNvSpPr/>
            <p:nvPr/>
          </p:nvSpPr>
          <p:spPr>
            <a:xfrm>
              <a:off x="6172200" y="4023360"/>
              <a:ext cx="545805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40" name="out_barfill"/>
            <p:cNvSpPr/>
            <p:nvPr/>
          </p:nvSpPr>
          <p:spPr>
            <a:xfrm>
              <a:off x="6172200" y="4194810"/>
              <a:ext cx="5458054" cy="171450"/>
            </a:xfrm>
            <a:prstGeom prst="rect">
              <a:avLst/>
            </a:prstGeom>
            <a:solidFill>
              <a:srgbClr val="0A1220"/>
            </a:solidFill>
            <a:ln w="12700">
              <a:solidFill>
                <a:srgbClr val="0A1220"/>
              </a:solidFill>
              <a:prstDash val="solid"/>
            </a:ln>
          </p:spPr>
          <p:txBody>
            <a:bodyPr/>
            <a:lstStyle/>
            <a:p>
              <a:endParaRPr lang="en-US"/>
            </a:p>
          </p:txBody>
        </p:sp>
        <p:sp>
          <p:nvSpPr>
            <p:cNvPr id="141" name="out_dot0"/>
            <p:cNvSpPr/>
            <p:nvPr/>
          </p:nvSpPr>
          <p:spPr>
            <a:xfrm>
              <a:off x="6334048" y="4147170"/>
              <a:ext cx="95098" cy="95098"/>
            </a:xfrm>
            <a:prstGeom prst="ellipse">
              <a:avLst/>
            </a:prstGeom>
            <a:solidFill>
              <a:srgbClr val="F87171"/>
            </a:solidFill>
            <a:ln w="12700">
              <a:solidFill>
                <a:srgbClr val="F87171"/>
              </a:solidFill>
              <a:prstDash val="solid"/>
            </a:ln>
          </p:spPr>
          <p:txBody>
            <a:bodyPr/>
            <a:lstStyle/>
            <a:p>
              <a:endParaRPr lang="en-US"/>
            </a:p>
          </p:txBody>
        </p:sp>
        <p:sp>
          <p:nvSpPr>
            <p:cNvPr id="142" name="out_dot1"/>
            <p:cNvSpPr/>
            <p:nvPr/>
          </p:nvSpPr>
          <p:spPr>
            <a:xfrm>
              <a:off x="6519672" y="4147170"/>
              <a:ext cx="95098" cy="95098"/>
            </a:xfrm>
            <a:prstGeom prst="ellipse">
              <a:avLst/>
            </a:prstGeom>
            <a:solidFill>
              <a:srgbClr val="FBBF24"/>
            </a:solidFill>
            <a:ln w="12700">
              <a:solidFill>
                <a:srgbClr val="FBBF24"/>
              </a:solidFill>
              <a:prstDash val="solid"/>
            </a:ln>
          </p:spPr>
          <p:txBody>
            <a:bodyPr/>
            <a:lstStyle/>
            <a:p>
              <a:endParaRPr lang="en-US"/>
            </a:p>
          </p:txBody>
        </p:sp>
        <p:sp>
          <p:nvSpPr>
            <p:cNvPr id="143" name="out_dot2"/>
            <p:cNvSpPr/>
            <p:nvPr/>
          </p:nvSpPr>
          <p:spPr>
            <a:xfrm>
              <a:off x="6705296" y="4147170"/>
              <a:ext cx="95098" cy="95098"/>
            </a:xfrm>
            <a:prstGeom prst="ellipse">
              <a:avLst/>
            </a:prstGeom>
            <a:solidFill>
              <a:srgbClr val="34D399"/>
            </a:solidFill>
            <a:ln w="12700">
              <a:solidFill>
                <a:srgbClr val="34D399"/>
              </a:solidFill>
              <a:prstDash val="solid"/>
            </a:ln>
          </p:spPr>
          <p:txBody>
            <a:bodyPr/>
            <a:lstStyle/>
            <a:p>
              <a:endParaRPr lang="en-US"/>
            </a:p>
          </p:txBody>
        </p:sp>
        <p:sp>
          <p:nvSpPr>
            <p:cNvPr id="144" name="out_tab"/>
            <p:cNvSpPr/>
            <p:nvPr/>
          </p:nvSpPr>
          <p:spPr>
            <a:xfrm>
              <a:off x="6953097" y="4070909"/>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Output</a:t>
              </a:r>
              <a:endParaRPr lang="en-US" sz="950" dirty="0"/>
            </a:p>
          </p:txBody>
        </p:sp>
        <p:sp>
          <p:nvSpPr>
            <p:cNvPr id="145" name="out_L00"/>
            <p:cNvSpPr txBox="1"/>
            <p:nvPr/>
          </p:nvSpPr>
          <p:spPr>
            <a:xfrm>
              <a:off x="6400800" y="4499260"/>
              <a:ext cx="515805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00" b="0" dirty="0">
                  <a:solidFill>
                    <a:srgbClr val="E2E8F0"/>
                  </a:solidFill>
                  <a:latin typeface="Consolas"/>
                  <a:ea typeface="Consolas"/>
                  <a:cs typeface="Consolas"/>
                </a:rPr>
                <a:t>Passed!  - Failed: 0, Passed: 61, Skipped: 0, Total: 61</a:t>
              </a:r>
              <a:endParaRPr lang="en-US" sz="800" dirty="0"/>
            </a:p>
          </p:txBody>
        </p:sp>
      </p:grpSp>
      <p:sp>
        <p:nvSpPr>
          <p:cNvPr id="147" name="k"/>
          <p:cNvSpPr/>
          <p:nvPr/>
        </p:nvSpPr>
        <p:spPr>
          <a:xfrm>
            <a:off x="543154" y="4023360"/>
            <a:ext cx="5394960" cy="109728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EVERY SLIDE FROM HERE</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Left: the real class from src/SwiftBite.Business. Right: its tests from tests/SwiftBite.Business.Tests.</a:t>
            </a:r>
            <a:endParaRPr lang="en-US" sz="1100" dirty="0"/>
          </a:p>
        </p:txBody>
      </p:sp>
    </p:spTree>
    <p:extLst>
      <p:ext uri="{BB962C8B-B14F-4D97-AF65-F5344CB8AC3E}">
        <p14:creationId xmlns:p14="http://schemas.microsoft.com/office/powerpoint/2010/main" val="51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400"/>
                                        <p:tgtEl>
                                          <p:spTgt spid="1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6"/>
                                        </p:tgtEl>
                                        <p:attrNameLst>
                                          <p:attrName>style.visibility</p:attrName>
                                        </p:attrNameLst>
                                      </p:cBhvr>
                                      <p:to>
                                        <p:strVal val="visible"/>
                                      </p:to>
                                    </p:set>
                                    <p:animEffect transition="in" filter="fade">
                                      <p:cBhvr>
                                        <p:cTn id="15" dur="400"/>
                                        <p:tgtEl>
                                          <p:spTgt spid="1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7"/>
                                        </p:tgtEl>
                                        <p:attrNameLst>
                                          <p:attrName>style.visibility</p:attrName>
                                        </p:attrNameLst>
                                      </p:cBhvr>
                                      <p:to>
                                        <p:strVal val="visible"/>
                                      </p:to>
                                    </p:set>
                                    <p:animEffect transition="in" filter="fade">
                                      <p:cBhvr>
                                        <p:cTn id="18" dur="400"/>
                                        <p:tgtEl>
                                          <p:spTgt spid="13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7"/>
                                        </p:tgtEl>
                                        <p:attrNameLst>
                                          <p:attrName>style.visibility</p:attrName>
                                        </p:attrNameLst>
                                      </p:cBhvr>
                                      <p:to>
                                        <p:strVal val="visible"/>
                                      </p:to>
                                    </p:set>
                                    <p:animEffect transition="in" filter="fade">
                                      <p:cBhvr>
                                        <p:cTn id="23" dur="400"/>
                                        <p:tgtEl>
                                          <p:spTgt spid="14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6"/>
                                        </p:tgtEl>
                                        <p:attrNameLst>
                                          <p:attrName>style.visibility</p:attrName>
                                        </p:attrNameLst>
                                      </p:cBhvr>
                                      <p:to>
                                        <p:strVal val="visible"/>
                                      </p:to>
                                    </p:set>
                                    <p:animEffect transition="in" filter="fade">
                                      <p:cBhvr>
                                        <p:cTn id="28" dur="4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37" grpId="0" animBg="1"/>
      <p:bldP spid="147"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2296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Testing the SwiftBite Business Layer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135</a:t>
            </a:r>
            <a:endParaRPr lang="en-US" sz="850" dirty="0"/>
          </a:p>
        </p:txBody>
      </p:sp>
      <p:grpSp>
        <p:nvGrpSpPr>
          <p:cNvPr id="105" name="t_h"/>
          <p:cNvGrpSpPr/>
          <p:nvPr/>
        </p:nvGrpSpPr>
        <p:grpSpPr>
          <a:xfrm>
            <a:off x="689458" y="1417320"/>
            <a:ext cx="10904220" cy="256032"/>
            <a:chOff x="689458" y="1417320"/>
            <a:chExt cx="10904220" cy="256032"/>
          </a:xfrm>
        </p:grpSpPr>
        <p:sp>
          <p:nvSpPr>
            <p:cNvPr id="101" name="t_h0"/>
            <p:cNvSpPr txBox="1"/>
            <p:nvPr/>
          </p:nvSpPr>
          <p:spPr>
            <a:xfrm>
              <a:off x="689458" y="1417320"/>
              <a:ext cx="37490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TEST CLASS</a:t>
              </a:r>
              <a:endParaRPr lang="en-US" sz="1000" dirty="0"/>
            </a:p>
          </p:txBody>
        </p:sp>
        <p:sp>
          <p:nvSpPr>
            <p:cNvPr id="102" name="t_h1"/>
            <p:cNvSpPr txBox="1"/>
            <p:nvPr/>
          </p:nvSpPr>
          <p:spPr>
            <a:xfrm>
              <a:off x="4621378" y="1417320"/>
              <a:ext cx="310896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RULES</a:t>
              </a:r>
              <a:endParaRPr lang="en-US" sz="1000" dirty="0"/>
            </a:p>
          </p:txBody>
        </p:sp>
        <p:sp>
          <p:nvSpPr>
            <p:cNvPr id="103" name="t_h2"/>
            <p:cNvSpPr txBox="1"/>
            <p:nvPr/>
          </p:nvSpPr>
          <p:spPr>
            <a:xfrm>
              <a:off x="7913218" y="1417320"/>
              <a:ext cx="28346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TECHNIQUE</a:t>
              </a:r>
              <a:endParaRPr lang="en-US" sz="1000" dirty="0"/>
            </a:p>
          </p:txBody>
        </p:sp>
        <p:sp>
          <p:nvSpPr>
            <p:cNvPr id="104" name="t_h3"/>
            <p:cNvSpPr txBox="1"/>
            <p:nvPr/>
          </p:nvSpPr>
          <p:spPr>
            <a:xfrm>
              <a:off x="10930738" y="1417320"/>
              <a:ext cx="662940"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TESTS</a:t>
              </a:r>
              <a:endParaRPr lang="en-US" sz="1000" dirty="0"/>
            </a:p>
          </p:txBody>
        </p:sp>
      </p:grpSp>
      <p:grpSp>
        <p:nvGrpSpPr>
          <p:cNvPr id="111" name="t_r0"/>
          <p:cNvGrpSpPr/>
          <p:nvPr/>
        </p:nvGrpSpPr>
        <p:grpSpPr>
          <a:xfrm>
            <a:off x="543154" y="1719072"/>
            <a:ext cx="11087100" cy="269748"/>
            <a:chOff x="543154" y="1719072"/>
            <a:chExt cx="11087100" cy="269748"/>
          </a:xfrm>
        </p:grpSpPr>
        <p:sp>
          <p:nvSpPr>
            <p:cNvPr id="106" name="t_r0_bg"/>
            <p:cNvSpPr/>
            <p:nvPr/>
          </p:nvSpPr>
          <p:spPr>
            <a:xfrm>
              <a:off x="543154" y="1719072"/>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7" name="t_r0_c0"/>
            <p:cNvSpPr txBox="1"/>
            <p:nvPr/>
          </p:nvSpPr>
          <p:spPr>
            <a:xfrm>
              <a:off x="689458" y="1719072"/>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WalletTests</a:t>
              </a:r>
              <a:endParaRPr lang="en-US" sz="1000" dirty="0"/>
            </a:p>
          </p:txBody>
        </p:sp>
        <p:sp>
          <p:nvSpPr>
            <p:cNvPr id="108" name="t_r0_c1"/>
            <p:cNvSpPr txBox="1"/>
            <p:nvPr/>
          </p:nvSpPr>
          <p:spPr>
            <a:xfrm>
              <a:off x="4621378" y="1719072"/>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BR-04 · BR-22</a:t>
              </a:r>
              <a:endParaRPr lang="en-US" sz="950" dirty="0"/>
            </a:p>
          </p:txBody>
        </p:sp>
        <p:sp>
          <p:nvSpPr>
            <p:cNvPr id="109" name="t_r0_c2"/>
            <p:cNvSpPr txBox="1"/>
            <p:nvPr/>
          </p:nvSpPr>
          <p:spPr>
            <a:xfrm>
              <a:off x="7913218" y="1719072"/>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Fact · Theory · Throws</a:t>
              </a:r>
              <a:endParaRPr lang="en-US" sz="1050" dirty="0"/>
            </a:p>
          </p:txBody>
        </p:sp>
        <p:sp>
          <p:nvSpPr>
            <p:cNvPr id="110" name="t_r0_c3"/>
            <p:cNvSpPr txBox="1"/>
            <p:nvPr/>
          </p:nvSpPr>
          <p:spPr>
            <a:xfrm>
              <a:off x="10930738" y="1719072"/>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5</a:t>
              </a:r>
              <a:endParaRPr lang="en-US" sz="1000" dirty="0"/>
            </a:p>
          </p:txBody>
        </p:sp>
      </p:grpSp>
      <p:grpSp>
        <p:nvGrpSpPr>
          <p:cNvPr id="117" name="t_r1"/>
          <p:cNvGrpSpPr/>
          <p:nvPr/>
        </p:nvGrpSpPr>
        <p:grpSpPr>
          <a:xfrm>
            <a:off x="543154" y="2025396"/>
            <a:ext cx="11087100" cy="269748"/>
            <a:chOff x="543154" y="2025396"/>
            <a:chExt cx="11087100" cy="269748"/>
          </a:xfrm>
        </p:grpSpPr>
        <p:sp>
          <p:nvSpPr>
            <p:cNvPr id="112" name="t_r1_bg"/>
            <p:cNvSpPr/>
            <p:nvPr/>
          </p:nvSpPr>
          <p:spPr>
            <a:xfrm>
              <a:off x="543154" y="2025396"/>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3" name="t_r1_c0"/>
            <p:cNvSpPr txBox="1"/>
            <p:nvPr/>
          </p:nvSpPr>
          <p:spPr>
            <a:xfrm>
              <a:off x="689458" y="2025396"/>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MobileNumberTests</a:t>
              </a:r>
              <a:endParaRPr lang="en-US" sz="1000" dirty="0"/>
            </a:p>
          </p:txBody>
        </p:sp>
        <p:sp>
          <p:nvSpPr>
            <p:cNvPr id="114" name="t_r1_c1"/>
            <p:cNvSpPr txBox="1"/>
            <p:nvPr/>
          </p:nvSpPr>
          <p:spPr>
            <a:xfrm>
              <a:off x="4621378" y="2025396"/>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BR-01</a:t>
              </a:r>
              <a:endParaRPr lang="en-US" sz="950" dirty="0"/>
            </a:p>
          </p:txBody>
        </p:sp>
        <p:sp>
          <p:nvSpPr>
            <p:cNvPr id="115" name="t_r1_c2"/>
            <p:cNvSpPr txBox="1"/>
            <p:nvPr/>
          </p:nvSpPr>
          <p:spPr>
            <a:xfrm>
              <a:off x="7913218" y="2025396"/>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InlineData</a:t>
              </a:r>
              <a:endParaRPr lang="en-US" sz="1050" dirty="0"/>
            </a:p>
          </p:txBody>
        </p:sp>
        <p:sp>
          <p:nvSpPr>
            <p:cNvPr id="116" name="t_r1_c3"/>
            <p:cNvSpPr txBox="1"/>
            <p:nvPr/>
          </p:nvSpPr>
          <p:spPr>
            <a:xfrm>
              <a:off x="10930738" y="2025396"/>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9</a:t>
              </a:r>
              <a:endParaRPr lang="en-US" sz="1000" dirty="0"/>
            </a:p>
          </p:txBody>
        </p:sp>
      </p:grpSp>
      <p:grpSp>
        <p:nvGrpSpPr>
          <p:cNvPr id="123" name="t_r2"/>
          <p:cNvGrpSpPr/>
          <p:nvPr/>
        </p:nvGrpSpPr>
        <p:grpSpPr>
          <a:xfrm>
            <a:off x="543154" y="2331720"/>
            <a:ext cx="11087100" cy="269748"/>
            <a:chOff x="543154" y="2331720"/>
            <a:chExt cx="11087100" cy="269748"/>
          </a:xfrm>
        </p:grpSpPr>
        <p:sp>
          <p:nvSpPr>
            <p:cNvPr id="118" name="t_r2_bg"/>
            <p:cNvSpPr/>
            <p:nvPr/>
          </p:nvSpPr>
          <p:spPr>
            <a:xfrm>
              <a:off x="543154" y="2331720"/>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9" name="t_r2_c0"/>
            <p:cNvSpPr txBox="1"/>
            <p:nvPr/>
          </p:nvSpPr>
          <p:spPr>
            <a:xfrm>
              <a:off x="689458" y="2331720"/>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StandardFeeStrategyTests</a:t>
              </a:r>
              <a:endParaRPr lang="en-US" sz="1000" dirty="0"/>
            </a:p>
          </p:txBody>
        </p:sp>
        <p:sp>
          <p:nvSpPr>
            <p:cNvPr id="120" name="t_r2_c1"/>
            <p:cNvSpPr txBox="1"/>
            <p:nvPr/>
          </p:nvSpPr>
          <p:spPr>
            <a:xfrm>
              <a:off x="4621378" y="2331720"/>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BR-18</a:t>
              </a:r>
              <a:endParaRPr lang="en-US" sz="950" dirty="0"/>
            </a:p>
          </p:txBody>
        </p:sp>
        <p:sp>
          <p:nvSpPr>
            <p:cNvPr id="121" name="t_r2_c2"/>
            <p:cNvSpPr txBox="1"/>
            <p:nvPr/>
          </p:nvSpPr>
          <p:spPr>
            <a:xfrm>
              <a:off x="7913218" y="2331720"/>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InlineData + expected</a:t>
              </a:r>
              <a:endParaRPr lang="en-US" sz="1050" dirty="0"/>
            </a:p>
          </p:txBody>
        </p:sp>
        <p:sp>
          <p:nvSpPr>
            <p:cNvPr id="122" name="t_r2_c3"/>
            <p:cNvSpPr txBox="1"/>
            <p:nvPr/>
          </p:nvSpPr>
          <p:spPr>
            <a:xfrm>
              <a:off x="10930738" y="2331720"/>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5</a:t>
              </a:r>
              <a:endParaRPr lang="en-US" sz="1000" dirty="0"/>
            </a:p>
          </p:txBody>
        </p:sp>
      </p:grpSp>
      <p:grpSp>
        <p:nvGrpSpPr>
          <p:cNvPr id="129" name="t_r3"/>
          <p:cNvGrpSpPr/>
          <p:nvPr/>
        </p:nvGrpSpPr>
        <p:grpSpPr>
          <a:xfrm>
            <a:off x="543154" y="2638044"/>
            <a:ext cx="11087100" cy="269748"/>
            <a:chOff x="543154" y="2638044"/>
            <a:chExt cx="11087100" cy="269748"/>
          </a:xfrm>
        </p:grpSpPr>
        <p:sp>
          <p:nvSpPr>
            <p:cNvPr id="124" name="t_r3_bg"/>
            <p:cNvSpPr/>
            <p:nvPr/>
          </p:nvSpPr>
          <p:spPr>
            <a:xfrm>
              <a:off x="543154" y="2638044"/>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5" name="t_r3_c0"/>
            <p:cNvSpPr txBox="1"/>
            <p:nvPr/>
          </p:nvSpPr>
          <p:spPr>
            <a:xfrm>
              <a:off x="689458" y="2638044"/>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CompanyPolicyTests</a:t>
              </a:r>
              <a:endParaRPr lang="en-US" sz="1000" dirty="0"/>
            </a:p>
          </p:txBody>
        </p:sp>
        <p:sp>
          <p:nvSpPr>
            <p:cNvPr id="126" name="t_r3_c1"/>
            <p:cNvSpPr txBox="1"/>
            <p:nvPr/>
          </p:nvSpPr>
          <p:spPr>
            <a:xfrm>
              <a:off x="4621378" y="2638044"/>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BR-19</a:t>
              </a:r>
              <a:endParaRPr lang="en-US" sz="950" dirty="0"/>
            </a:p>
          </p:txBody>
        </p:sp>
        <p:sp>
          <p:nvSpPr>
            <p:cNvPr id="127" name="t_r3_c2"/>
            <p:cNvSpPr txBox="1"/>
            <p:nvPr/>
          </p:nvSpPr>
          <p:spPr>
            <a:xfrm>
              <a:off x="7913218" y="2638044"/>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boundaries</a:t>
              </a:r>
              <a:endParaRPr lang="en-US" sz="1050" dirty="0"/>
            </a:p>
          </p:txBody>
        </p:sp>
        <p:sp>
          <p:nvSpPr>
            <p:cNvPr id="128" name="t_r3_c3"/>
            <p:cNvSpPr txBox="1"/>
            <p:nvPr/>
          </p:nvSpPr>
          <p:spPr>
            <a:xfrm>
              <a:off x="10930738" y="2638044"/>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4</a:t>
              </a:r>
              <a:endParaRPr lang="en-US" sz="1000" dirty="0"/>
            </a:p>
          </p:txBody>
        </p:sp>
      </p:grpSp>
      <p:grpSp>
        <p:nvGrpSpPr>
          <p:cNvPr id="135" name="t_r4"/>
          <p:cNvGrpSpPr/>
          <p:nvPr/>
        </p:nvGrpSpPr>
        <p:grpSpPr>
          <a:xfrm>
            <a:off x="543154" y="2944368"/>
            <a:ext cx="11087100" cy="269748"/>
            <a:chOff x="543154" y="2944368"/>
            <a:chExt cx="11087100" cy="269748"/>
          </a:xfrm>
        </p:grpSpPr>
        <p:sp>
          <p:nvSpPr>
            <p:cNvPr id="130" name="t_r4_bg"/>
            <p:cNvSpPr/>
            <p:nvPr/>
          </p:nvSpPr>
          <p:spPr>
            <a:xfrm>
              <a:off x="543154" y="2944368"/>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1" name="t_r4_c0"/>
            <p:cNvSpPr txBox="1"/>
            <p:nvPr/>
          </p:nvSpPr>
          <p:spPr>
            <a:xfrm>
              <a:off x="689458" y="2944368"/>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CouponTests</a:t>
              </a:r>
              <a:endParaRPr lang="en-US" sz="1000" dirty="0"/>
            </a:p>
          </p:txBody>
        </p:sp>
        <p:sp>
          <p:nvSpPr>
            <p:cNvPr id="132" name="t_r4_c1"/>
            <p:cNvSpPr txBox="1"/>
            <p:nvPr/>
          </p:nvSpPr>
          <p:spPr>
            <a:xfrm>
              <a:off x="4621378" y="2944368"/>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BR-17</a:t>
              </a:r>
              <a:endParaRPr lang="en-US" sz="950" dirty="0"/>
            </a:p>
          </p:txBody>
        </p:sp>
        <p:sp>
          <p:nvSpPr>
            <p:cNvPr id="133" name="t_r4_c2"/>
            <p:cNvSpPr txBox="1"/>
            <p:nvPr/>
          </p:nvSpPr>
          <p:spPr>
            <a:xfrm>
              <a:off x="7913218" y="2944368"/>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MemberData · TheoryData</a:t>
              </a:r>
              <a:endParaRPr lang="en-US" sz="1050" dirty="0"/>
            </a:p>
          </p:txBody>
        </p:sp>
        <p:sp>
          <p:nvSpPr>
            <p:cNvPr id="134" name="t_r4_c3"/>
            <p:cNvSpPr txBox="1"/>
            <p:nvPr/>
          </p:nvSpPr>
          <p:spPr>
            <a:xfrm>
              <a:off x="10930738" y="2944368"/>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7</a:t>
              </a:r>
              <a:endParaRPr lang="en-US" sz="1000" dirty="0"/>
            </a:p>
          </p:txBody>
        </p:sp>
      </p:grpSp>
      <p:grpSp>
        <p:nvGrpSpPr>
          <p:cNvPr id="141" name="t_r5"/>
          <p:cNvGrpSpPr/>
          <p:nvPr/>
        </p:nvGrpSpPr>
        <p:grpSpPr>
          <a:xfrm>
            <a:off x="543154" y="3250692"/>
            <a:ext cx="11087100" cy="269748"/>
            <a:chOff x="543154" y="3250692"/>
            <a:chExt cx="11087100" cy="269748"/>
          </a:xfrm>
        </p:grpSpPr>
        <p:sp>
          <p:nvSpPr>
            <p:cNvPr id="136" name="t_r5_bg"/>
            <p:cNvSpPr/>
            <p:nvPr/>
          </p:nvSpPr>
          <p:spPr>
            <a:xfrm>
              <a:off x="543154" y="3250692"/>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7" name="t_r5_c0"/>
            <p:cNvSpPr txBox="1"/>
            <p:nvPr/>
          </p:nvSpPr>
          <p:spPr>
            <a:xfrm>
              <a:off x="689458" y="3250692"/>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DriverTests</a:t>
              </a:r>
              <a:endParaRPr lang="en-US" sz="1000" dirty="0"/>
            </a:p>
          </p:txBody>
        </p:sp>
        <p:sp>
          <p:nvSpPr>
            <p:cNvPr id="138" name="t_r5_c1"/>
            <p:cNvSpPr txBox="1"/>
            <p:nvPr/>
          </p:nvSpPr>
          <p:spPr>
            <a:xfrm>
              <a:off x="4621378" y="3250692"/>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BR-05</a:t>
              </a:r>
              <a:endParaRPr lang="en-US" sz="950" dirty="0"/>
            </a:p>
          </p:txBody>
        </p:sp>
        <p:sp>
          <p:nvSpPr>
            <p:cNvPr id="139" name="t_r5_c2"/>
            <p:cNvSpPr txBox="1"/>
            <p:nvPr/>
          </p:nvSpPr>
          <p:spPr>
            <a:xfrm>
              <a:off x="7913218" y="3250692"/>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dates as data</a:t>
              </a:r>
              <a:endParaRPr lang="en-US" sz="1050" dirty="0"/>
            </a:p>
          </p:txBody>
        </p:sp>
        <p:sp>
          <p:nvSpPr>
            <p:cNvPr id="140" name="t_r5_c3"/>
            <p:cNvSpPr txBox="1"/>
            <p:nvPr/>
          </p:nvSpPr>
          <p:spPr>
            <a:xfrm>
              <a:off x="10930738" y="3250692"/>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3</a:t>
              </a:r>
              <a:endParaRPr lang="en-US" sz="1000" dirty="0"/>
            </a:p>
          </p:txBody>
        </p:sp>
      </p:grpSp>
      <p:grpSp>
        <p:nvGrpSpPr>
          <p:cNvPr id="147" name="t_r6"/>
          <p:cNvGrpSpPr/>
          <p:nvPr/>
        </p:nvGrpSpPr>
        <p:grpSpPr>
          <a:xfrm>
            <a:off x="543154" y="3557016"/>
            <a:ext cx="11087100" cy="269748"/>
            <a:chOff x="543154" y="3557016"/>
            <a:chExt cx="11087100" cy="269748"/>
          </a:xfrm>
        </p:grpSpPr>
        <p:sp>
          <p:nvSpPr>
            <p:cNvPr id="142" name="t_r6_bg"/>
            <p:cNvSpPr/>
            <p:nvPr/>
          </p:nvSpPr>
          <p:spPr>
            <a:xfrm>
              <a:off x="543154" y="3557016"/>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3" name="t_r6_c0"/>
            <p:cNvSpPr txBox="1"/>
            <p:nvPr/>
          </p:nvSpPr>
          <p:spPr>
            <a:xfrm>
              <a:off x="689458" y="3557016"/>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DeliveryFeeCalculatorTests</a:t>
              </a:r>
              <a:endParaRPr lang="en-US" sz="1000" dirty="0"/>
            </a:p>
          </p:txBody>
        </p:sp>
        <p:sp>
          <p:nvSpPr>
            <p:cNvPr id="144" name="t_r6_c1"/>
            <p:cNvSpPr txBox="1"/>
            <p:nvPr/>
          </p:nvSpPr>
          <p:spPr>
            <a:xfrm>
              <a:off x="4621378" y="3557016"/>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BR-21 · FR-11</a:t>
              </a:r>
              <a:endParaRPr lang="en-US" sz="950" dirty="0"/>
            </a:p>
          </p:txBody>
        </p:sp>
        <p:sp>
          <p:nvSpPr>
            <p:cNvPr id="145" name="t_r6_c2"/>
            <p:cNvSpPr txBox="1"/>
            <p:nvPr/>
          </p:nvSpPr>
          <p:spPr>
            <a:xfrm>
              <a:off x="7913218" y="3557016"/>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stubs · DidNotReceive</a:t>
              </a:r>
              <a:endParaRPr lang="en-US" sz="1050" dirty="0"/>
            </a:p>
          </p:txBody>
        </p:sp>
        <p:sp>
          <p:nvSpPr>
            <p:cNvPr id="146" name="t_r6_c3"/>
            <p:cNvSpPr txBox="1"/>
            <p:nvPr/>
          </p:nvSpPr>
          <p:spPr>
            <a:xfrm>
              <a:off x="10930738" y="3557016"/>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3</a:t>
              </a:r>
              <a:endParaRPr lang="en-US" sz="1000" dirty="0"/>
            </a:p>
          </p:txBody>
        </p:sp>
      </p:grpSp>
      <p:grpSp>
        <p:nvGrpSpPr>
          <p:cNvPr id="153" name="t_r7"/>
          <p:cNvGrpSpPr/>
          <p:nvPr/>
        </p:nvGrpSpPr>
        <p:grpSpPr>
          <a:xfrm>
            <a:off x="543154" y="3863340"/>
            <a:ext cx="11087100" cy="269748"/>
            <a:chOff x="543154" y="3863340"/>
            <a:chExt cx="11087100" cy="269748"/>
          </a:xfrm>
        </p:grpSpPr>
        <p:sp>
          <p:nvSpPr>
            <p:cNvPr id="148" name="t_r7_bg"/>
            <p:cNvSpPr/>
            <p:nvPr/>
          </p:nvSpPr>
          <p:spPr>
            <a:xfrm>
              <a:off x="543154" y="3863340"/>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9" name="t_r7_c0"/>
            <p:cNvSpPr txBox="1"/>
            <p:nvPr/>
          </p:nvSpPr>
          <p:spPr>
            <a:xfrm>
              <a:off x="689458" y="3863340"/>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OrderTests</a:t>
              </a:r>
              <a:endParaRPr lang="en-US" sz="1000" dirty="0"/>
            </a:p>
          </p:txBody>
        </p:sp>
        <p:sp>
          <p:nvSpPr>
            <p:cNvPr id="150" name="t_r7_c1"/>
            <p:cNvSpPr txBox="1"/>
            <p:nvPr/>
          </p:nvSpPr>
          <p:spPr>
            <a:xfrm>
              <a:off x="4621378" y="3863340"/>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BR-23 · BR-24 · BR-25</a:t>
              </a:r>
              <a:endParaRPr lang="en-US" sz="950" dirty="0"/>
            </a:p>
          </p:txBody>
        </p:sp>
        <p:sp>
          <p:nvSpPr>
            <p:cNvPr id="151" name="t_r7_c2"/>
            <p:cNvSpPr txBox="1"/>
            <p:nvPr/>
          </p:nvSpPr>
          <p:spPr>
            <a:xfrm>
              <a:off x="7913218" y="3863340"/>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state</a:t>
              </a:r>
              <a:endParaRPr lang="en-US" sz="1050" dirty="0"/>
            </a:p>
          </p:txBody>
        </p:sp>
        <p:sp>
          <p:nvSpPr>
            <p:cNvPr id="152" name="t_r7_c3"/>
            <p:cNvSpPr txBox="1"/>
            <p:nvPr/>
          </p:nvSpPr>
          <p:spPr>
            <a:xfrm>
              <a:off x="10930738" y="3863340"/>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5</a:t>
              </a:r>
              <a:endParaRPr lang="en-US" sz="1000" dirty="0"/>
            </a:p>
          </p:txBody>
        </p:sp>
      </p:grpSp>
      <p:grpSp>
        <p:nvGrpSpPr>
          <p:cNvPr id="159" name="t_r8"/>
          <p:cNvGrpSpPr/>
          <p:nvPr/>
        </p:nvGrpSpPr>
        <p:grpSpPr>
          <a:xfrm>
            <a:off x="543154" y="4169664"/>
            <a:ext cx="11087100" cy="269748"/>
            <a:chOff x="543154" y="4169664"/>
            <a:chExt cx="11087100" cy="269748"/>
          </a:xfrm>
        </p:grpSpPr>
        <p:sp>
          <p:nvSpPr>
            <p:cNvPr id="154" name="t_r8_bg"/>
            <p:cNvSpPr/>
            <p:nvPr/>
          </p:nvSpPr>
          <p:spPr>
            <a:xfrm>
              <a:off x="543154" y="4169664"/>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55" name="t_r8_c0"/>
            <p:cNvSpPr txBox="1"/>
            <p:nvPr/>
          </p:nvSpPr>
          <p:spPr>
            <a:xfrm>
              <a:off x="689458" y="4169664"/>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OrderPricingTests</a:t>
              </a:r>
              <a:endParaRPr lang="en-US" sz="1000" dirty="0"/>
            </a:p>
          </p:txBody>
        </p:sp>
        <p:sp>
          <p:nvSpPr>
            <p:cNvPr id="156" name="t_r8_c1"/>
            <p:cNvSpPr txBox="1"/>
            <p:nvPr/>
          </p:nvSpPr>
          <p:spPr>
            <a:xfrm>
              <a:off x="4621378" y="4169664"/>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BR-13 · BR-19</a:t>
              </a:r>
              <a:endParaRPr lang="en-US" sz="950" dirty="0"/>
            </a:p>
          </p:txBody>
        </p:sp>
        <p:sp>
          <p:nvSpPr>
            <p:cNvPr id="157" name="t_r8_c2"/>
            <p:cNvSpPr txBox="1"/>
            <p:nvPr/>
          </p:nvSpPr>
          <p:spPr>
            <a:xfrm>
              <a:off x="7913218" y="4169664"/>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end-to-end Theory</a:t>
              </a:r>
              <a:endParaRPr lang="en-US" sz="1050" dirty="0"/>
            </a:p>
          </p:txBody>
        </p:sp>
        <p:sp>
          <p:nvSpPr>
            <p:cNvPr id="158" name="t_r8_c3"/>
            <p:cNvSpPr txBox="1"/>
            <p:nvPr/>
          </p:nvSpPr>
          <p:spPr>
            <a:xfrm>
              <a:off x="10930738" y="4169664"/>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3</a:t>
              </a:r>
              <a:endParaRPr lang="en-US" sz="1000" dirty="0"/>
            </a:p>
          </p:txBody>
        </p:sp>
      </p:grpSp>
      <p:grpSp>
        <p:nvGrpSpPr>
          <p:cNvPr id="165" name="t_r9"/>
          <p:cNvGrpSpPr/>
          <p:nvPr/>
        </p:nvGrpSpPr>
        <p:grpSpPr>
          <a:xfrm>
            <a:off x="543154" y="4475988"/>
            <a:ext cx="11087100" cy="269748"/>
            <a:chOff x="543154" y="4475988"/>
            <a:chExt cx="11087100" cy="269748"/>
          </a:xfrm>
        </p:grpSpPr>
        <p:sp>
          <p:nvSpPr>
            <p:cNvPr id="160" name="t_r9_bg"/>
            <p:cNvSpPr/>
            <p:nvPr/>
          </p:nvSpPr>
          <p:spPr>
            <a:xfrm>
              <a:off x="543154" y="4475988"/>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61" name="t_r9_c0"/>
            <p:cNvSpPr txBox="1"/>
            <p:nvPr/>
          </p:nvSpPr>
          <p:spPr>
            <a:xfrm>
              <a:off x="689458" y="4475988"/>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OrderServiceTests (+ Spy)</a:t>
              </a:r>
              <a:endParaRPr lang="en-US" sz="1000" dirty="0"/>
            </a:p>
          </p:txBody>
        </p:sp>
        <p:sp>
          <p:nvSpPr>
            <p:cNvPr id="162" name="t_r9_c1"/>
            <p:cNvSpPr txBox="1"/>
            <p:nvPr/>
          </p:nvSpPr>
          <p:spPr>
            <a:xfrm>
              <a:off x="4621378" y="4475988"/>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BR-08 · BR-16</a:t>
              </a:r>
              <a:endParaRPr lang="en-US" sz="950" dirty="0"/>
            </a:p>
          </p:txBody>
        </p:sp>
        <p:sp>
          <p:nvSpPr>
            <p:cNvPr id="163" name="t_r9_c2"/>
            <p:cNvSpPr txBox="1"/>
            <p:nvPr/>
          </p:nvSpPr>
          <p:spPr>
            <a:xfrm>
              <a:off x="7913218" y="4475988"/>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mocks · spy · state</a:t>
              </a:r>
              <a:endParaRPr lang="en-US" sz="1050" dirty="0"/>
            </a:p>
          </p:txBody>
        </p:sp>
        <p:sp>
          <p:nvSpPr>
            <p:cNvPr id="164" name="t_r9_c3"/>
            <p:cNvSpPr txBox="1"/>
            <p:nvPr/>
          </p:nvSpPr>
          <p:spPr>
            <a:xfrm>
              <a:off x="10930738" y="4475988"/>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8</a:t>
              </a:r>
              <a:endParaRPr lang="en-US" sz="1000" dirty="0"/>
            </a:p>
          </p:txBody>
        </p:sp>
      </p:grpSp>
      <p:grpSp>
        <p:nvGrpSpPr>
          <p:cNvPr id="171" name="t_r10"/>
          <p:cNvGrpSpPr/>
          <p:nvPr/>
        </p:nvGrpSpPr>
        <p:grpSpPr>
          <a:xfrm>
            <a:off x="543154" y="4782312"/>
            <a:ext cx="11087100" cy="269748"/>
            <a:chOff x="543154" y="4782312"/>
            <a:chExt cx="11087100" cy="269748"/>
          </a:xfrm>
        </p:grpSpPr>
        <p:sp>
          <p:nvSpPr>
            <p:cNvPr id="166" name="t_r10_bg"/>
            <p:cNvSpPr/>
            <p:nvPr/>
          </p:nvSpPr>
          <p:spPr>
            <a:xfrm>
              <a:off x="543154" y="4782312"/>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67" name="t_r10_c0"/>
            <p:cNvSpPr txBox="1"/>
            <p:nvPr/>
          </p:nvSpPr>
          <p:spPr>
            <a:xfrm>
              <a:off x="689458" y="4782312"/>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NotificationServiceTests</a:t>
              </a:r>
              <a:endParaRPr lang="en-US" sz="1000" dirty="0"/>
            </a:p>
          </p:txBody>
        </p:sp>
        <p:sp>
          <p:nvSpPr>
            <p:cNvPr id="168" name="t_r10_c1"/>
            <p:cNvSpPr txBox="1"/>
            <p:nvPr/>
          </p:nvSpPr>
          <p:spPr>
            <a:xfrm>
              <a:off x="4621378" y="4782312"/>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NFR-05</a:t>
              </a:r>
              <a:endParaRPr lang="en-US" sz="950" dirty="0"/>
            </a:p>
          </p:txBody>
        </p:sp>
        <p:sp>
          <p:nvSpPr>
            <p:cNvPr id="169" name="t_r10_c2"/>
            <p:cNvSpPr txBox="1"/>
            <p:nvPr/>
          </p:nvSpPr>
          <p:spPr>
            <a:xfrm>
              <a:off x="7913218" y="4782312"/>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mock verify</a:t>
              </a:r>
              <a:endParaRPr lang="en-US" sz="1050" dirty="0"/>
            </a:p>
          </p:txBody>
        </p:sp>
        <p:sp>
          <p:nvSpPr>
            <p:cNvPr id="170" name="t_r10_c3"/>
            <p:cNvSpPr txBox="1"/>
            <p:nvPr/>
          </p:nvSpPr>
          <p:spPr>
            <a:xfrm>
              <a:off x="10930738" y="4782312"/>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1</a:t>
              </a:r>
              <a:endParaRPr lang="en-US" sz="1000" dirty="0"/>
            </a:p>
          </p:txBody>
        </p:sp>
      </p:grpSp>
      <p:grpSp>
        <p:nvGrpSpPr>
          <p:cNvPr id="177" name="t_r11"/>
          <p:cNvGrpSpPr/>
          <p:nvPr/>
        </p:nvGrpSpPr>
        <p:grpSpPr>
          <a:xfrm>
            <a:off x="543154" y="5088636"/>
            <a:ext cx="11087100" cy="269748"/>
            <a:chOff x="543154" y="5088636"/>
            <a:chExt cx="11087100" cy="269748"/>
          </a:xfrm>
        </p:grpSpPr>
        <p:sp>
          <p:nvSpPr>
            <p:cNvPr id="172" name="t_r11_bg"/>
            <p:cNvSpPr/>
            <p:nvPr/>
          </p:nvSpPr>
          <p:spPr>
            <a:xfrm>
              <a:off x="543154" y="5088636"/>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73" name="t_r11_c0"/>
            <p:cNvSpPr txBox="1"/>
            <p:nvPr/>
          </p:nvSpPr>
          <p:spPr>
            <a:xfrm>
              <a:off x="689458" y="5088636"/>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CustomerGeneratorTests</a:t>
              </a:r>
              <a:endParaRPr lang="en-US" sz="1000" dirty="0"/>
            </a:p>
          </p:txBody>
        </p:sp>
        <p:sp>
          <p:nvSpPr>
            <p:cNvPr id="174" name="t_r11_c1"/>
            <p:cNvSpPr txBox="1"/>
            <p:nvPr/>
          </p:nvSpPr>
          <p:spPr>
            <a:xfrm>
              <a:off x="4621378" y="5088636"/>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BR-01 · BR-04</a:t>
              </a:r>
              <a:endParaRPr lang="en-US" sz="950" dirty="0"/>
            </a:p>
          </p:txBody>
        </p:sp>
        <p:sp>
          <p:nvSpPr>
            <p:cNvPr id="175" name="t_r11_c2"/>
            <p:cNvSpPr txBox="1"/>
            <p:nvPr/>
          </p:nvSpPr>
          <p:spPr>
            <a:xfrm>
              <a:off x="7913218" y="5088636"/>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Bogus</a:t>
              </a:r>
              <a:endParaRPr lang="en-US" sz="1050" dirty="0"/>
            </a:p>
          </p:txBody>
        </p:sp>
        <p:sp>
          <p:nvSpPr>
            <p:cNvPr id="176" name="t_r11_c3"/>
            <p:cNvSpPr txBox="1"/>
            <p:nvPr/>
          </p:nvSpPr>
          <p:spPr>
            <a:xfrm>
              <a:off x="10930738" y="5088636"/>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2</a:t>
              </a:r>
              <a:endParaRPr lang="en-US" sz="1000" dirty="0"/>
            </a:p>
          </p:txBody>
        </p:sp>
      </p:grpSp>
      <p:grpSp>
        <p:nvGrpSpPr>
          <p:cNvPr id="183" name="t_r12"/>
          <p:cNvGrpSpPr/>
          <p:nvPr/>
        </p:nvGrpSpPr>
        <p:grpSpPr>
          <a:xfrm>
            <a:off x="543154" y="5394960"/>
            <a:ext cx="11087100" cy="269748"/>
            <a:chOff x="543154" y="5394960"/>
            <a:chExt cx="11087100" cy="269748"/>
          </a:xfrm>
        </p:grpSpPr>
        <p:sp>
          <p:nvSpPr>
            <p:cNvPr id="178" name="t_r12_bg"/>
            <p:cNvSpPr/>
            <p:nvPr/>
          </p:nvSpPr>
          <p:spPr>
            <a:xfrm>
              <a:off x="543154" y="5394960"/>
              <a:ext cx="11087100" cy="269748"/>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79" name="t_r12_c0"/>
            <p:cNvSpPr txBox="1"/>
            <p:nvPr/>
          </p:nvSpPr>
          <p:spPr>
            <a:xfrm>
              <a:off x="689458" y="5394960"/>
              <a:ext cx="37490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13D0F7"/>
                  </a:solidFill>
                  <a:latin typeface="Consolas"/>
                  <a:ea typeface="Consolas"/>
                  <a:cs typeface="Consolas"/>
                </a:rPr>
                <a:t>ExerciseSolutionsTests</a:t>
              </a:r>
              <a:endParaRPr lang="en-US" sz="1000" dirty="0"/>
            </a:p>
          </p:txBody>
        </p:sp>
        <p:sp>
          <p:nvSpPr>
            <p:cNvPr id="180" name="t_r12_c1"/>
            <p:cNvSpPr txBox="1"/>
            <p:nvPr/>
          </p:nvSpPr>
          <p:spPr>
            <a:xfrm>
              <a:off x="4621378" y="5394960"/>
              <a:ext cx="310896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950" b="0" dirty="0">
                  <a:solidFill>
                    <a:srgbClr val="FBBF24"/>
                  </a:solidFill>
                  <a:latin typeface="Consolas"/>
                  <a:ea typeface="Consolas"/>
                  <a:cs typeface="Consolas"/>
                </a:rPr>
                <a:t>BR-03 · BR-12 · BR-20 · BR-22</a:t>
              </a:r>
              <a:endParaRPr lang="en-US" sz="950" dirty="0"/>
            </a:p>
          </p:txBody>
        </p:sp>
        <p:sp>
          <p:nvSpPr>
            <p:cNvPr id="181" name="t_r12_c2"/>
            <p:cNvSpPr txBox="1"/>
            <p:nvPr/>
          </p:nvSpPr>
          <p:spPr>
            <a:xfrm>
              <a:off x="7913218" y="5394960"/>
              <a:ext cx="28346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CBD5E1"/>
                  </a:solidFill>
                  <a:latin typeface="Segoe UI"/>
                  <a:ea typeface="Segoe UI"/>
                  <a:cs typeface="Segoe UI"/>
                </a:rPr>
                <a:t>your turn</a:t>
              </a:r>
              <a:endParaRPr lang="en-US" sz="1050" dirty="0"/>
            </a:p>
          </p:txBody>
        </p:sp>
        <p:sp>
          <p:nvSpPr>
            <p:cNvPr id="182" name="t_r12_c3"/>
            <p:cNvSpPr txBox="1"/>
            <p:nvPr/>
          </p:nvSpPr>
          <p:spPr>
            <a:xfrm>
              <a:off x="10930738" y="5394960"/>
              <a:ext cx="662940" cy="2697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34D399"/>
                  </a:solidFill>
                  <a:latin typeface="Consolas"/>
                  <a:ea typeface="Consolas"/>
                  <a:cs typeface="Consolas"/>
                </a:rPr>
                <a:t>6</a:t>
              </a:r>
              <a:endParaRPr lang="en-US" sz="1000" dirty="0"/>
            </a:p>
          </p:txBody>
        </p:sp>
      </p:grpSp>
    </p:spTree>
    <p:extLst>
      <p:ext uri="{BB962C8B-B14F-4D97-AF65-F5344CB8AC3E}">
        <p14:creationId xmlns:p14="http://schemas.microsoft.com/office/powerpoint/2010/main" val="51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400"/>
                                        <p:tgtEl>
                                          <p:spTgt spid="105"/>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11"/>
                                        </p:tgtEl>
                                        <p:attrNameLst>
                                          <p:attrName>style.visibility</p:attrName>
                                        </p:attrNameLst>
                                      </p:cBhvr>
                                      <p:to>
                                        <p:strVal val="visible"/>
                                      </p:to>
                                    </p:set>
                                    <p:animEffect transition="in" filter="fade">
                                      <p:cBhvr>
                                        <p:cTn id="11" dur="200"/>
                                        <p:tgtEl>
                                          <p:spTgt spid="111"/>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117"/>
                                        </p:tgtEl>
                                        <p:attrNameLst>
                                          <p:attrName>style.visibility</p:attrName>
                                        </p:attrNameLst>
                                      </p:cBhvr>
                                      <p:to>
                                        <p:strVal val="visible"/>
                                      </p:to>
                                    </p:set>
                                    <p:animEffect transition="in" filter="fade">
                                      <p:cBhvr>
                                        <p:cTn id="15" dur="200"/>
                                        <p:tgtEl>
                                          <p:spTgt spid="117"/>
                                        </p:tgtEl>
                                      </p:cBhvr>
                                    </p:animEffect>
                                  </p:childTnLst>
                                </p:cTn>
                              </p:par>
                            </p:childTnLst>
                          </p:cTn>
                        </p:par>
                        <p:par>
                          <p:cTn id="16" fill="hold">
                            <p:stCondLst>
                              <p:cond delay="800"/>
                            </p:stCondLst>
                            <p:childTnLst>
                              <p:par>
                                <p:cTn id="17" presetID="10" presetClass="entr" presetSubtype="0" fill="hold" nodeType="afterEffect">
                                  <p:stCondLst>
                                    <p:cond delay="0"/>
                                  </p:stCondLst>
                                  <p:childTnLst>
                                    <p:set>
                                      <p:cBhvr>
                                        <p:cTn id="18" dur="1" fill="hold">
                                          <p:stCondLst>
                                            <p:cond delay="0"/>
                                          </p:stCondLst>
                                        </p:cTn>
                                        <p:tgtEl>
                                          <p:spTgt spid="123"/>
                                        </p:tgtEl>
                                        <p:attrNameLst>
                                          <p:attrName>style.visibility</p:attrName>
                                        </p:attrNameLst>
                                      </p:cBhvr>
                                      <p:to>
                                        <p:strVal val="visible"/>
                                      </p:to>
                                    </p:set>
                                    <p:animEffect transition="in" filter="fade">
                                      <p:cBhvr>
                                        <p:cTn id="19" dur="200"/>
                                        <p:tgtEl>
                                          <p:spTgt spid="12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9"/>
                                        </p:tgtEl>
                                        <p:attrNameLst>
                                          <p:attrName>style.visibility</p:attrName>
                                        </p:attrNameLst>
                                      </p:cBhvr>
                                      <p:to>
                                        <p:strVal val="visible"/>
                                      </p:to>
                                    </p:set>
                                    <p:animEffect transition="in" filter="fade">
                                      <p:cBhvr>
                                        <p:cTn id="24" dur="200"/>
                                        <p:tgtEl>
                                          <p:spTgt spid="129"/>
                                        </p:tgtEl>
                                      </p:cBhvr>
                                    </p:animEffect>
                                  </p:childTnLst>
                                </p:cTn>
                              </p:par>
                            </p:childTnLst>
                          </p:cTn>
                        </p:par>
                        <p:par>
                          <p:cTn id="25" fill="hold">
                            <p:stCondLst>
                              <p:cond delay="200"/>
                            </p:stCondLst>
                            <p:childTnLst>
                              <p:par>
                                <p:cTn id="26" presetID="10" presetClass="entr" presetSubtype="0" fill="hold" nodeType="afterEffect">
                                  <p:stCondLst>
                                    <p:cond delay="0"/>
                                  </p:stCondLst>
                                  <p:childTnLst>
                                    <p:set>
                                      <p:cBhvr>
                                        <p:cTn id="27" dur="1" fill="hold">
                                          <p:stCondLst>
                                            <p:cond delay="0"/>
                                          </p:stCondLst>
                                        </p:cTn>
                                        <p:tgtEl>
                                          <p:spTgt spid="135"/>
                                        </p:tgtEl>
                                        <p:attrNameLst>
                                          <p:attrName>style.visibility</p:attrName>
                                        </p:attrNameLst>
                                      </p:cBhvr>
                                      <p:to>
                                        <p:strVal val="visible"/>
                                      </p:to>
                                    </p:set>
                                    <p:animEffect transition="in" filter="fade">
                                      <p:cBhvr>
                                        <p:cTn id="28" dur="200"/>
                                        <p:tgtEl>
                                          <p:spTgt spid="135"/>
                                        </p:tgtEl>
                                      </p:cBhvr>
                                    </p:animEffect>
                                  </p:childTnLst>
                                </p:cTn>
                              </p:par>
                            </p:childTnLst>
                          </p:cTn>
                        </p:par>
                        <p:par>
                          <p:cTn id="29" fill="hold">
                            <p:stCondLst>
                              <p:cond delay="400"/>
                            </p:stCondLst>
                            <p:childTnLst>
                              <p:par>
                                <p:cTn id="30" presetID="10" presetClass="entr" presetSubtype="0" fill="hold" nodeType="afterEffect">
                                  <p:stCondLst>
                                    <p:cond delay="0"/>
                                  </p:stCondLst>
                                  <p:childTnLst>
                                    <p:set>
                                      <p:cBhvr>
                                        <p:cTn id="31" dur="1" fill="hold">
                                          <p:stCondLst>
                                            <p:cond delay="0"/>
                                          </p:stCondLst>
                                        </p:cTn>
                                        <p:tgtEl>
                                          <p:spTgt spid="141"/>
                                        </p:tgtEl>
                                        <p:attrNameLst>
                                          <p:attrName>style.visibility</p:attrName>
                                        </p:attrNameLst>
                                      </p:cBhvr>
                                      <p:to>
                                        <p:strVal val="visible"/>
                                      </p:to>
                                    </p:set>
                                    <p:animEffect transition="in" filter="fade">
                                      <p:cBhvr>
                                        <p:cTn id="32" dur="200"/>
                                        <p:tgtEl>
                                          <p:spTgt spid="141"/>
                                        </p:tgtEl>
                                      </p:cBhvr>
                                    </p:animEffect>
                                  </p:childTnLst>
                                </p:cTn>
                              </p:par>
                            </p:childTnLst>
                          </p:cTn>
                        </p:par>
                        <p:par>
                          <p:cTn id="33" fill="hold">
                            <p:stCondLst>
                              <p:cond delay="600"/>
                            </p:stCondLst>
                            <p:childTnLst>
                              <p:par>
                                <p:cTn id="34" presetID="10" presetClass="entr" presetSubtype="0" fill="hold" nodeType="afterEffect">
                                  <p:stCondLst>
                                    <p:cond delay="0"/>
                                  </p:stCondLst>
                                  <p:childTnLst>
                                    <p:set>
                                      <p:cBhvr>
                                        <p:cTn id="35" dur="1" fill="hold">
                                          <p:stCondLst>
                                            <p:cond delay="0"/>
                                          </p:stCondLst>
                                        </p:cTn>
                                        <p:tgtEl>
                                          <p:spTgt spid="147"/>
                                        </p:tgtEl>
                                        <p:attrNameLst>
                                          <p:attrName>style.visibility</p:attrName>
                                        </p:attrNameLst>
                                      </p:cBhvr>
                                      <p:to>
                                        <p:strVal val="visible"/>
                                      </p:to>
                                    </p:set>
                                    <p:animEffect transition="in" filter="fade">
                                      <p:cBhvr>
                                        <p:cTn id="36" dur="200"/>
                                        <p:tgtEl>
                                          <p:spTgt spid="14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3"/>
                                        </p:tgtEl>
                                        <p:attrNameLst>
                                          <p:attrName>style.visibility</p:attrName>
                                        </p:attrNameLst>
                                      </p:cBhvr>
                                      <p:to>
                                        <p:strVal val="visible"/>
                                      </p:to>
                                    </p:set>
                                    <p:animEffect transition="in" filter="fade">
                                      <p:cBhvr>
                                        <p:cTn id="41" dur="200"/>
                                        <p:tgtEl>
                                          <p:spTgt spid="153"/>
                                        </p:tgtEl>
                                      </p:cBhvr>
                                    </p:animEffect>
                                  </p:childTnLst>
                                </p:cTn>
                              </p:par>
                            </p:childTnLst>
                          </p:cTn>
                        </p:par>
                        <p:par>
                          <p:cTn id="42" fill="hold">
                            <p:stCondLst>
                              <p:cond delay="200"/>
                            </p:stCondLst>
                            <p:childTnLst>
                              <p:par>
                                <p:cTn id="43" presetID="10" presetClass="entr" presetSubtype="0" fill="hold" nodeType="afterEffect">
                                  <p:stCondLst>
                                    <p:cond delay="0"/>
                                  </p:stCondLst>
                                  <p:childTnLst>
                                    <p:set>
                                      <p:cBhvr>
                                        <p:cTn id="44" dur="1" fill="hold">
                                          <p:stCondLst>
                                            <p:cond delay="0"/>
                                          </p:stCondLst>
                                        </p:cTn>
                                        <p:tgtEl>
                                          <p:spTgt spid="159"/>
                                        </p:tgtEl>
                                        <p:attrNameLst>
                                          <p:attrName>style.visibility</p:attrName>
                                        </p:attrNameLst>
                                      </p:cBhvr>
                                      <p:to>
                                        <p:strVal val="visible"/>
                                      </p:to>
                                    </p:set>
                                    <p:animEffect transition="in" filter="fade">
                                      <p:cBhvr>
                                        <p:cTn id="45" dur="200"/>
                                        <p:tgtEl>
                                          <p:spTgt spid="159"/>
                                        </p:tgtEl>
                                      </p:cBhvr>
                                    </p:animEffect>
                                  </p:childTnLst>
                                </p:cTn>
                              </p:par>
                            </p:childTnLst>
                          </p:cTn>
                        </p:par>
                        <p:par>
                          <p:cTn id="46" fill="hold">
                            <p:stCondLst>
                              <p:cond delay="400"/>
                            </p:stCondLst>
                            <p:childTnLst>
                              <p:par>
                                <p:cTn id="47" presetID="10" presetClass="entr" presetSubtype="0" fill="hold" nodeType="afterEffect">
                                  <p:stCondLst>
                                    <p:cond delay="0"/>
                                  </p:stCondLst>
                                  <p:childTnLst>
                                    <p:set>
                                      <p:cBhvr>
                                        <p:cTn id="48" dur="1" fill="hold">
                                          <p:stCondLst>
                                            <p:cond delay="0"/>
                                          </p:stCondLst>
                                        </p:cTn>
                                        <p:tgtEl>
                                          <p:spTgt spid="165"/>
                                        </p:tgtEl>
                                        <p:attrNameLst>
                                          <p:attrName>style.visibility</p:attrName>
                                        </p:attrNameLst>
                                      </p:cBhvr>
                                      <p:to>
                                        <p:strVal val="visible"/>
                                      </p:to>
                                    </p:set>
                                    <p:animEffect transition="in" filter="fade">
                                      <p:cBhvr>
                                        <p:cTn id="49" dur="200"/>
                                        <p:tgtEl>
                                          <p:spTgt spid="165"/>
                                        </p:tgtEl>
                                      </p:cBhvr>
                                    </p:animEffect>
                                  </p:childTnLst>
                                </p:cTn>
                              </p:par>
                            </p:childTnLst>
                          </p:cTn>
                        </p:par>
                        <p:par>
                          <p:cTn id="50" fill="hold">
                            <p:stCondLst>
                              <p:cond delay="600"/>
                            </p:stCondLst>
                            <p:childTnLst>
                              <p:par>
                                <p:cTn id="51" presetID="10" presetClass="entr" presetSubtype="0" fill="hold" nodeType="afterEffect">
                                  <p:stCondLst>
                                    <p:cond delay="0"/>
                                  </p:stCondLst>
                                  <p:childTnLst>
                                    <p:set>
                                      <p:cBhvr>
                                        <p:cTn id="52" dur="1" fill="hold">
                                          <p:stCondLst>
                                            <p:cond delay="0"/>
                                          </p:stCondLst>
                                        </p:cTn>
                                        <p:tgtEl>
                                          <p:spTgt spid="171"/>
                                        </p:tgtEl>
                                        <p:attrNameLst>
                                          <p:attrName>style.visibility</p:attrName>
                                        </p:attrNameLst>
                                      </p:cBhvr>
                                      <p:to>
                                        <p:strVal val="visible"/>
                                      </p:to>
                                    </p:set>
                                    <p:animEffect transition="in" filter="fade">
                                      <p:cBhvr>
                                        <p:cTn id="53" dur="200"/>
                                        <p:tgtEl>
                                          <p:spTgt spid="17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77"/>
                                        </p:tgtEl>
                                        <p:attrNameLst>
                                          <p:attrName>style.visibility</p:attrName>
                                        </p:attrNameLst>
                                      </p:cBhvr>
                                      <p:to>
                                        <p:strVal val="visible"/>
                                      </p:to>
                                    </p:set>
                                    <p:animEffect transition="in" filter="fade">
                                      <p:cBhvr>
                                        <p:cTn id="58" dur="200"/>
                                        <p:tgtEl>
                                          <p:spTgt spid="177"/>
                                        </p:tgtEl>
                                      </p:cBhvr>
                                    </p:animEffect>
                                  </p:childTnLst>
                                </p:cTn>
                              </p:par>
                            </p:childTnLst>
                          </p:cTn>
                        </p:par>
                        <p:par>
                          <p:cTn id="59" fill="hold">
                            <p:stCondLst>
                              <p:cond delay="200"/>
                            </p:stCondLst>
                            <p:childTnLst>
                              <p:par>
                                <p:cTn id="60" presetID="10" presetClass="entr" presetSubtype="0" fill="hold" nodeType="afterEffect">
                                  <p:stCondLst>
                                    <p:cond delay="0"/>
                                  </p:stCondLst>
                                  <p:childTnLst>
                                    <p:set>
                                      <p:cBhvr>
                                        <p:cTn id="61" dur="1" fill="hold">
                                          <p:stCondLst>
                                            <p:cond delay="0"/>
                                          </p:stCondLst>
                                        </p:cTn>
                                        <p:tgtEl>
                                          <p:spTgt spid="183"/>
                                        </p:tgtEl>
                                        <p:attrNameLst>
                                          <p:attrName>style.visibility</p:attrName>
                                        </p:attrNameLst>
                                      </p:cBhvr>
                                      <p:to>
                                        <p:strVal val="visible"/>
                                      </p:to>
                                    </p:set>
                                    <p:animEffect transition="in" filter="fade">
                                      <p:cBhvr>
                                        <p:cTn id="62" dur="2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WALLET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1: Wallet (BR-04, BR-22)</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136</a:t>
            </a:r>
            <a:endParaRPr lang="en-US" sz="850" dirty="0"/>
          </a:p>
        </p:txBody>
      </p:sp>
      <p:sp>
        <p:nvSpPr>
          <p:cNvPr id="101" name="cl"/>
          <p:cNvSpPr txBox="1"/>
          <p:nvPr/>
        </p:nvSpPr>
        <p:spPr>
          <a:xfrm>
            <a:off x="543154" y="1463040"/>
            <a:ext cx="54864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6258154" y="1463040"/>
            <a:ext cx="53721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6" name="cls"/>
          <p:cNvGrpSpPr/>
          <p:nvPr/>
        </p:nvGrpSpPr>
        <p:grpSpPr>
          <a:xfrm>
            <a:off x="543154" y="1755648"/>
            <a:ext cx="5486400" cy="3115900"/>
            <a:chOff x="543154" y="1755648"/>
            <a:chExt cx="5486400" cy="3115900"/>
          </a:xfrm>
        </p:grpSpPr>
        <p:sp>
          <p:nvSpPr>
            <p:cNvPr id="103" name="cls_win"/>
            <p:cNvSpPr/>
            <p:nvPr/>
          </p:nvSpPr>
          <p:spPr>
            <a:xfrm>
              <a:off x="543154" y="1755648"/>
              <a:ext cx="5486400" cy="3115900"/>
            </a:xfrm>
            <a:prstGeom prst="roundRect">
              <a:avLst>
                <a:gd name="adj" fmla="val 2200"/>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4864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48640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291866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src/SwiftBite.Business/Users/Wallet.cs</a:t>
              </a:r>
              <a:endParaRPr lang="en-US" sz="950" dirty="0"/>
            </a:p>
          </p:txBody>
        </p:sp>
        <p:sp>
          <p:nvSpPr>
            <p:cNvPr id="110" name="cls_L00"/>
            <p:cNvSpPr txBox="1"/>
            <p:nvPr/>
          </p:nvSpPr>
          <p:spPr>
            <a:xfrm>
              <a:off x="771754" y="2231548"/>
              <a:ext cx="51864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class</a:t>
              </a:r>
              <a:r>
                <a:rPr lang="en-US" sz="700" b="0" dirty="0">
                  <a:solidFill>
                    <a:srgbClr val="E2E8F0"/>
                  </a:solidFill>
                  <a:latin typeface="Consolas"/>
                  <a:ea typeface="Consolas"/>
                  <a:cs typeface="Consolas"/>
                </a:rPr>
                <a:t> Wallet</a:t>
              </a:r>
              <a:endParaRPr lang="en-US" sz="700" dirty="0"/>
            </a:p>
          </p:txBody>
        </p:sp>
        <p:sp>
          <p:nvSpPr>
            <p:cNvPr id="111" name="cls_L01"/>
            <p:cNvSpPr txBox="1"/>
            <p:nvPr/>
          </p:nvSpPr>
          <p:spPr>
            <a:xfrm>
              <a:off x="771754" y="2371548"/>
              <a:ext cx="51864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12" name="cls_L02"/>
            <p:cNvSpPr txBox="1"/>
            <p:nvPr/>
          </p:nvSpPr>
          <p:spPr>
            <a:xfrm>
              <a:off x="771754" y="2511548"/>
              <a:ext cx="51864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decimal</a:t>
              </a:r>
              <a:r>
                <a:rPr lang="en-US" sz="700" b="0" dirty="0">
                  <a:solidFill>
                    <a:srgbClr val="E2E8F0"/>
                  </a:solidFill>
                  <a:latin typeface="Consolas"/>
                  <a:ea typeface="Consolas"/>
                  <a:cs typeface="Consolas"/>
                </a:rPr>
                <a:t> Balance { </a:t>
              </a:r>
              <a:r>
                <a:rPr lang="en-US" sz="700" b="0" dirty="0">
                  <a:solidFill>
                    <a:srgbClr val="60A5FA"/>
                  </a:solidFill>
                  <a:latin typeface="Consolas"/>
                  <a:ea typeface="Consolas"/>
                  <a:cs typeface="Consolas"/>
                </a:rPr>
                <a:t>get</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private</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set</a:t>
              </a:r>
              <a:r>
                <a:rPr lang="en-US" sz="700" b="0" dirty="0">
                  <a:solidFill>
                    <a:srgbClr val="E2E8F0"/>
                  </a:solidFill>
                  <a:latin typeface="Consolas"/>
                  <a:ea typeface="Consolas"/>
                  <a:cs typeface="Consolas"/>
                </a:rPr>
                <a:t>; }</a:t>
              </a:r>
              <a:endParaRPr lang="en-US" sz="700" dirty="0"/>
            </a:p>
          </p:txBody>
        </p:sp>
        <p:sp>
          <p:nvSpPr>
            <p:cNvPr id="113" name="cls_L04"/>
            <p:cNvSpPr txBox="1"/>
            <p:nvPr/>
          </p:nvSpPr>
          <p:spPr>
            <a:xfrm>
              <a:off x="771754" y="2791548"/>
              <a:ext cx="51864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TopUp(</a:t>
              </a:r>
              <a:r>
                <a:rPr lang="en-US" sz="700" b="0" dirty="0">
                  <a:solidFill>
                    <a:srgbClr val="60A5FA"/>
                  </a:solidFill>
                  <a:latin typeface="Consolas"/>
                  <a:ea typeface="Consolas"/>
                  <a:cs typeface="Consolas"/>
                </a:rPr>
                <a:t>decimal</a:t>
              </a:r>
              <a:r>
                <a:rPr lang="en-US" sz="700" b="0" dirty="0">
                  <a:solidFill>
                    <a:srgbClr val="E2E8F0"/>
                  </a:solidFill>
                  <a:latin typeface="Consolas"/>
                  <a:ea typeface="Consolas"/>
                  <a:cs typeface="Consolas"/>
                </a:rPr>
                <a:t> amount)                     </a:t>
              </a:r>
              <a:r>
                <a:rPr lang="en-US" sz="700" b="0" dirty="0">
                  <a:solidFill>
                    <a:srgbClr val="6FAE7A"/>
                  </a:solidFill>
                  <a:latin typeface="Consolas"/>
                  <a:ea typeface="Consolas"/>
                  <a:cs typeface="Consolas"/>
                </a:rPr>
                <a:t>// BR-04</a:t>
              </a:r>
              <a:endParaRPr lang="en-US" sz="700" dirty="0"/>
            </a:p>
          </p:txBody>
        </p:sp>
        <p:sp>
          <p:nvSpPr>
            <p:cNvPr id="114" name="cls_L05"/>
            <p:cNvSpPr txBox="1"/>
            <p:nvPr/>
          </p:nvSpPr>
          <p:spPr>
            <a:xfrm>
              <a:off x="771754" y="2931548"/>
              <a:ext cx="51864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15" name="cls_L06"/>
            <p:cNvSpPr txBox="1"/>
            <p:nvPr/>
          </p:nvSpPr>
          <p:spPr>
            <a:xfrm>
              <a:off x="771754" y="3071548"/>
              <a:ext cx="518640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policy = CompanyPolicy.Instance;</a:t>
              </a:r>
              <a:endParaRPr lang="en-US" sz="700" dirty="0"/>
            </a:p>
          </p:txBody>
        </p:sp>
        <p:sp>
          <p:nvSpPr>
            <p:cNvPr id="116" name="cls_L07"/>
            <p:cNvSpPr txBox="1"/>
            <p:nvPr/>
          </p:nvSpPr>
          <p:spPr>
            <a:xfrm>
              <a:off x="771754" y="3211548"/>
              <a:ext cx="518640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Guard.Against(amount &lt; policy.MinTopUp || amount &gt; policy.MaxTopUp,</a:t>
              </a:r>
              <a:endParaRPr lang="en-US" sz="700" dirty="0"/>
            </a:p>
          </p:txBody>
        </p:sp>
        <p:sp>
          <p:nvSpPr>
            <p:cNvPr id="117" name="cls_L08"/>
            <p:cNvSpPr txBox="1"/>
            <p:nvPr/>
          </p:nvSpPr>
          <p:spPr>
            <a:xfrm>
              <a:off x="771754" y="3351548"/>
              <a:ext cx="5186400" cy="14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00" b="0" dirty="0">
                  <a:solidFill>
                    <a:srgbClr val="F0A98B"/>
                  </a:solidFill>
                  <a:latin typeface="Consolas"/>
                  <a:ea typeface="Consolas"/>
                  <a:cs typeface="Consolas"/>
                </a:rPr>
                <a:t>"BR-04"</a:t>
              </a:r>
              <a:r>
                <a:rPr lang="en-US" sz="700" b="0" dirty="0">
                  <a:solidFill>
                    <a:srgbClr val="E2E8F0"/>
                  </a:solidFill>
                  <a:latin typeface="Consolas"/>
                  <a:ea typeface="Consolas"/>
                  <a:cs typeface="Consolas"/>
                </a:rPr>
                <a:t>, </a:t>
              </a:r>
              <a:r>
                <a:rPr lang="en-US" sz="700" b="0" dirty="0">
                  <a:solidFill>
                    <a:srgbClr val="F0A98B"/>
                  </a:solidFill>
                  <a:latin typeface="Consolas"/>
                  <a:ea typeface="Consolas"/>
                  <a:cs typeface="Consolas"/>
                </a:rPr>
                <a:t>$"Top-up must be between {policy.MinTopUp} and ..."</a:t>
              </a:r>
              <a:r>
                <a:rPr lang="en-US" sz="700" b="0" dirty="0">
                  <a:solidFill>
                    <a:srgbClr val="E2E8F0"/>
                  </a:solidFill>
                  <a:latin typeface="Consolas"/>
                  <a:ea typeface="Consolas"/>
                  <a:cs typeface="Consolas"/>
                </a:rPr>
                <a:t>);</a:t>
              </a:r>
              <a:endParaRPr lang="en-US" sz="700" dirty="0"/>
            </a:p>
          </p:txBody>
        </p:sp>
        <p:sp>
          <p:nvSpPr>
            <p:cNvPr id="118" name="cls_L09"/>
            <p:cNvSpPr txBox="1"/>
            <p:nvPr/>
          </p:nvSpPr>
          <p:spPr>
            <a:xfrm>
              <a:off x="771754" y="3491548"/>
              <a:ext cx="518640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Balance += amount;</a:t>
              </a:r>
              <a:endParaRPr lang="en-US" sz="700" dirty="0"/>
            </a:p>
          </p:txBody>
        </p:sp>
        <p:sp>
          <p:nvSpPr>
            <p:cNvPr id="119" name="cls_L10"/>
            <p:cNvSpPr txBox="1"/>
            <p:nvPr/>
          </p:nvSpPr>
          <p:spPr>
            <a:xfrm>
              <a:off x="771754" y="3631548"/>
              <a:ext cx="51864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0" name="cls_L12"/>
            <p:cNvSpPr txBox="1"/>
            <p:nvPr/>
          </p:nvSpPr>
          <p:spPr>
            <a:xfrm>
              <a:off x="771754" y="3911548"/>
              <a:ext cx="51864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Pay(</a:t>
              </a:r>
              <a:r>
                <a:rPr lang="en-US" sz="700" b="0" dirty="0">
                  <a:solidFill>
                    <a:srgbClr val="60A5FA"/>
                  </a:solidFill>
                  <a:latin typeface="Consolas"/>
                  <a:ea typeface="Consolas"/>
                  <a:cs typeface="Consolas"/>
                </a:rPr>
                <a:t>decimal</a:t>
              </a:r>
              <a:r>
                <a:rPr lang="en-US" sz="700" b="0" dirty="0">
                  <a:solidFill>
                    <a:srgbClr val="E2E8F0"/>
                  </a:solidFill>
                  <a:latin typeface="Consolas"/>
                  <a:ea typeface="Consolas"/>
                  <a:cs typeface="Consolas"/>
                </a:rPr>
                <a:t> amount)</a:t>
              </a:r>
              <a:endParaRPr lang="en-US" sz="700" dirty="0"/>
            </a:p>
          </p:txBody>
        </p:sp>
        <p:sp>
          <p:nvSpPr>
            <p:cNvPr id="121" name="cls_L13"/>
            <p:cNvSpPr txBox="1"/>
            <p:nvPr/>
          </p:nvSpPr>
          <p:spPr>
            <a:xfrm>
              <a:off x="771754" y="4051548"/>
              <a:ext cx="51864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2" name="cls_L14"/>
            <p:cNvSpPr txBox="1"/>
            <p:nvPr/>
          </p:nvSpPr>
          <p:spPr>
            <a:xfrm>
              <a:off x="771754" y="4191548"/>
              <a:ext cx="518640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Guard.Against(!CanPay(amount), </a:t>
              </a:r>
              <a:r>
                <a:rPr lang="en-US" sz="700" b="0" dirty="0">
                  <a:solidFill>
                    <a:srgbClr val="F0A98B"/>
                  </a:solidFill>
                  <a:latin typeface="Consolas"/>
                  <a:ea typeface="Consolas"/>
                  <a:cs typeface="Consolas"/>
                </a:rPr>
                <a:t>"BR-22"</a:t>
              </a:r>
              <a:r>
                <a:rPr lang="en-US" sz="700" b="0" dirty="0">
                  <a:solidFill>
                    <a:srgbClr val="E2E8F0"/>
                  </a:solidFill>
                  <a:latin typeface="Consolas"/>
                  <a:ea typeface="Consolas"/>
                  <a:cs typeface="Consolas"/>
                </a:rPr>
                <a:t>, </a:t>
              </a:r>
              <a:r>
                <a:rPr lang="en-US" sz="700" b="0" dirty="0">
                  <a:solidFill>
                    <a:srgbClr val="F0A98B"/>
                  </a:solidFill>
                  <a:latin typeface="Consolas"/>
                  <a:ea typeface="Consolas"/>
                  <a:cs typeface="Consolas"/>
                </a:rPr>
                <a:t>"Insufficient wallet balance."</a:t>
              </a:r>
              <a:r>
                <a:rPr lang="en-US" sz="700" b="0" dirty="0">
                  <a:solidFill>
                    <a:srgbClr val="E2E8F0"/>
                  </a:solidFill>
                  <a:latin typeface="Consolas"/>
                  <a:ea typeface="Consolas"/>
                  <a:cs typeface="Consolas"/>
                </a:rPr>
                <a:t>);</a:t>
              </a:r>
              <a:endParaRPr lang="en-US" sz="700" dirty="0"/>
            </a:p>
          </p:txBody>
        </p:sp>
        <p:sp>
          <p:nvSpPr>
            <p:cNvPr id="123" name="cls_L15"/>
            <p:cNvSpPr txBox="1"/>
            <p:nvPr/>
          </p:nvSpPr>
          <p:spPr>
            <a:xfrm>
              <a:off x="771754" y="4331548"/>
              <a:ext cx="518640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Balance -= amount;</a:t>
              </a:r>
              <a:endParaRPr lang="en-US" sz="700" dirty="0"/>
            </a:p>
          </p:txBody>
        </p:sp>
        <p:sp>
          <p:nvSpPr>
            <p:cNvPr id="124" name="cls_L16"/>
            <p:cNvSpPr txBox="1"/>
            <p:nvPr/>
          </p:nvSpPr>
          <p:spPr>
            <a:xfrm>
              <a:off x="771754" y="4471548"/>
              <a:ext cx="51864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5" name="cls_L17"/>
            <p:cNvSpPr txBox="1"/>
            <p:nvPr/>
          </p:nvSpPr>
          <p:spPr>
            <a:xfrm>
              <a:off x="771754" y="4611548"/>
              <a:ext cx="51864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grpSp>
      <p:sp>
        <p:nvSpPr>
          <p:cNvPr id="127" name="cls_hl7"/>
          <p:cNvSpPr/>
          <p:nvPr/>
        </p:nvSpPr>
        <p:spPr>
          <a:xfrm>
            <a:off x="676656" y="3193260"/>
            <a:ext cx="5219400" cy="17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8" name="cls_hl8"/>
          <p:cNvSpPr/>
          <p:nvPr/>
        </p:nvSpPr>
        <p:spPr>
          <a:xfrm>
            <a:off x="676656" y="3333260"/>
            <a:ext cx="5219400" cy="17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9" name="cls_hl14"/>
          <p:cNvSpPr/>
          <p:nvPr/>
        </p:nvSpPr>
        <p:spPr>
          <a:xfrm>
            <a:off x="676656" y="4173260"/>
            <a:ext cx="5219400" cy="17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61" name="tst"/>
          <p:cNvGrpSpPr/>
          <p:nvPr/>
        </p:nvGrpSpPr>
        <p:grpSpPr>
          <a:xfrm>
            <a:off x="6258154" y="1755648"/>
            <a:ext cx="5372100" cy="4235900"/>
            <a:chOff x="6258154" y="1755648"/>
            <a:chExt cx="5372100" cy="4235900"/>
          </a:xfrm>
        </p:grpSpPr>
        <p:sp>
          <p:nvSpPr>
            <p:cNvPr id="130" name="tst_win"/>
            <p:cNvSpPr/>
            <p:nvPr/>
          </p:nvSpPr>
          <p:spPr>
            <a:xfrm>
              <a:off x="6258154" y="1755648"/>
              <a:ext cx="5372100" cy="4235900"/>
            </a:xfrm>
            <a:prstGeom prst="roundRect">
              <a:avLst>
                <a:gd name="adj" fmla="val 1618"/>
              </a:avLst>
            </a:prstGeom>
            <a:solidFill>
              <a:srgbClr val="060D18"/>
            </a:solidFill>
            <a:ln w="12700">
              <a:solidFill>
                <a:srgbClr val="1E3A5F"/>
              </a:solidFill>
              <a:prstDash val="solid"/>
            </a:ln>
          </p:spPr>
          <p:txBody>
            <a:bodyPr/>
            <a:lstStyle/>
            <a:p>
              <a:endParaRPr lang="en-US"/>
            </a:p>
          </p:txBody>
        </p:sp>
        <p:sp>
          <p:nvSpPr>
            <p:cNvPr id="131" name="tst_bar"/>
            <p:cNvSpPr/>
            <p:nvPr/>
          </p:nvSpPr>
          <p:spPr>
            <a:xfrm>
              <a:off x="6258154" y="1755648"/>
              <a:ext cx="53721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2" name="tst_barfill"/>
            <p:cNvSpPr/>
            <p:nvPr/>
          </p:nvSpPr>
          <p:spPr>
            <a:xfrm>
              <a:off x="6258154" y="1927098"/>
              <a:ext cx="5372100" cy="171450"/>
            </a:xfrm>
            <a:prstGeom prst="rect">
              <a:avLst/>
            </a:prstGeom>
            <a:solidFill>
              <a:srgbClr val="0A1220"/>
            </a:solidFill>
            <a:ln w="12700">
              <a:solidFill>
                <a:srgbClr val="0A1220"/>
              </a:solidFill>
              <a:prstDash val="solid"/>
            </a:ln>
          </p:spPr>
          <p:txBody>
            <a:bodyPr/>
            <a:lstStyle/>
            <a:p>
              <a:endParaRPr lang="en-US"/>
            </a:p>
          </p:txBody>
        </p:sp>
        <p:sp>
          <p:nvSpPr>
            <p:cNvPr id="133" name="tst_dot0"/>
            <p:cNvSpPr/>
            <p:nvPr/>
          </p:nvSpPr>
          <p:spPr>
            <a:xfrm>
              <a:off x="6420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4" name="tst_dot1"/>
            <p:cNvSpPr/>
            <p:nvPr/>
          </p:nvSpPr>
          <p:spPr>
            <a:xfrm>
              <a:off x="6605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5" name="tst_dot2"/>
            <p:cNvSpPr/>
            <p:nvPr/>
          </p:nvSpPr>
          <p:spPr>
            <a:xfrm>
              <a:off x="6791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6" name="tst_tab"/>
            <p:cNvSpPr/>
            <p:nvPr/>
          </p:nvSpPr>
          <p:spPr>
            <a:xfrm>
              <a:off x="7039051" y="180319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Users/WalletTests.cs</a:t>
              </a:r>
              <a:endParaRPr lang="en-US" sz="950" dirty="0"/>
            </a:p>
          </p:txBody>
        </p:sp>
        <p:sp>
          <p:nvSpPr>
            <p:cNvPr id="137" name="tst_L00"/>
            <p:cNvSpPr txBox="1"/>
            <p:nvPr/>
          </p:nvSpPr>
          <p:spPr>
            <a:xfrm>
              <a:off x="6486754" y="223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[Fact]</a:t>
              </a:r>
              <a:endParaRPr lang="en-US" sz="700" dirty="0"/>
            </a:p>
          </p:txBody>
        </p:sp>
        <p:sp>
          <p:nvSpPr>
            <p:cNvPr id="138" name="tst_L01"/>
            <p:cNvSpPr txBox="1"/>
            <p:nvPr/>
          </p:nvSpPr>
          <p:spPr>
            <a:xfrm>
              <a:off x="6486754" y="237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TopUp_BelowMinimum_ThrowsBR04()</a:t>
              </a:r>
              <a:endParaRPr lang="en-US" sz="700" dirty="0"/>
            </a:p>
          </p:txBody>
        </p:sp>
        <p:sp>
          <p:nvSpPr>
            <p:cNvPr id="139" name="tst_L02"/>
            <p:cNvSpPr txBox="1"/>
            <p:nvPr/>
          </p:nvSpPr>
          <p:spPr>
            <a:xfrm>
              <a:off x="6486754" y="251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40" name="tst_L03"/>
            <p:cNvSpPr txBox="1"/>
            <p:nvPr/>
          </p:nvSpPr>
          <p:spPr>
            <a:xfrm>
              <a:off x="6486754" y="265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wallet = Wallet.CreateEmpty();</a:t>
              </a:r>
              <a:endParaRPr lang="en-US" sz="700" dirty="0"/>
            </a:p>
          </p:txBody>
        </p:sp>
        <p:sp>
          <p:nvSpPr>
            <p:cNvPr id="141" name="tst_L04"/>
            <p:cNvSpPr txBox="1"/>
            <p:nvPr/>
          </p:nvSpPr>
          <p:spPr>
            <a:xfrm>
              <a:off x="6486754" y="279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ex = Assert.Throws&lt;DomainException&gt;(() =&gt; wallet.TopUp(5m));</a:t>
              </a:r>
              <a:endParaRPr lang="en-US" sz="700" dirty="0"/>
            </a:p>
          </p:txBody>
        </p:sp>
        <p:sp>
          <p:nvSpPr>
            <p:cNvPr id="142" name="tst_L05"/>
            <p:cNvSpPr txBox="1"/>
            <p:nvPr/>
          </p:nvSpPr>
          <p:spPr>
            <a:xfrm>
              <a:off x="6486754" y="293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Assert.Equal(</a:t>
              </a:r>
              <a:r>
                <a:rPr lang="en-US" sz="700" b="0" dirty="0">
                  <a:solidFill>
                    <a:srgbClr val="F0A98B"/>
                  </a:solidFill>
                  <a:latin typeface="Consolas"/>
                  <a:ea typeface="Consolas"/>
                  <a:cs typeface="Consolas"/>
                </a:rPr>
                <a:t>"BR-04"</a:t>
              </a:r>
              <a:r>
                <a:rPr lang="en-US" sz="700" b="0" dirty="0">
                  <a:solidFill>
                    <a:srgbClr val="E2E8F0"/>
                  </a:solidFill>
                  <a:latin typeface="Consolas"/>
                  <a:ea typeface="Consolas"/>
                  <a:cs typeface="Consolas"/>
                </a:rPr>
                <a:t>, ex.RuleId);</a:t>
              </a:r>
              <a:endParaRPr lang="en-US" sz="700" dirty="0"/>
            </a:p>
          </p:txBody>
        </p:sp>
        <p:sp>
          <p:nvSpPr>
            <p:cNvPr id="143" name="tst_L06"/>
            <p:cNvSpPr txBox="1"/>
            <p:nvPr/>
          </p:nvSpPr>
          <p:spPr>
            <a:xfrm>
              <a:off x="6486754" y="307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Assert.Equal(0m, wallet.Balance);</a:t>
              </a:r>
              <a:endParaRPr lang="en-US" sz="700" dirty="0"/>
            </a:p>
          </p:txBody>
        </p:sp>
        <p:sp>
          <p:nvSpPr>
            <p:cNvPr id="144" name="tst_L07"/>
            <p:cNvSpPr txBox="1"/>
            <p:nvPr/>
          </p:nvSpPr>
          <p:spPr>
            <a:xfrm>
              <a:off x="6486754" y="321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45" name="tst_L09"/>
            <p:cNvSpPr txBox="1"/>
            <p:nvPr/>
          </p:nvSpPr>
          <p:spPr>
            <a:xfrm>
              <a:off x="6486754" y="349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[Theory]</a:t>
              </a:r>
              <a:endParaRPr lang="en-US" sz="700" dirty="0"/>
            </a:p>
          </p:txBody>
        </p:sp>
        <p:sp>
          <p:nvSpPr>
            <p:cNvPr id="146" name="tst_L10"/>
            <p:cNvSpPr txBox="1"/>
            <p:nvPr/>
          </p:nvSpPr>
          <p:spPr>
            <a:xfrm>
              <a:off x="6486754" y="363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[InlineData(10)]       </a:t>
              </a:r>
              <a:r>
                <a:rPr lang="en-US" sz="700" b="0" dirty="0">
                  <a:solidFill>
                    <a:srgbClr val="6FAE7A"/>
                  </a:solidFill>
                  <a:latin typeface="Consolas"/>
                  <a:ea typeface="Consolas"/>
                  <a:cs typeface="Consolas"/>
                </a:rPr>
                <a:t>// the minimum is allowed</a:t>
              </a:r>
              <a:endParaRPr lang="en-US" sz="700" dirty="0"/>
            </a:p>
          </p:txBody>
        </p:sp>
        <p:sp>
          <p:nvSpPr>
            <p:cNvPr id="147" name="tst_L11"/>
            <p:cNvSpPr txBox="1"/>
            <p:nvPr/>
          </p:nvSpPr>
          <p:spPr>
            <a:xfrm>
              <a:off x="6486754" y="377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[InlineData(5000)]     </a:t>
              </a:r>
              <a:r>
                <a:rPr lang="en-US" sz="700" b="0" dirty="0">
                  <a:solidFill>
                    <a:srgbClr val="6FAE7A"/>
                  </a:solidFill>
                  <a:latin typeface="Consolas"/>
                  <a:ea typeface="Consolas"/>
                  <a:cs typeface="Consolas"/>
                </a:rPr>
                <a:t>// the maximum is allowed</a:t>
              </a:r>
              <a:endParaRPr lang="en-US" sz="700" dirty="0"/>
            </a:p>
          </p:txBody>
        </p:sp>
        <p:sp>
          <p:nvSpPr>
            <p:cNvPr id="148" name="tst_L12"/>
            <p:cNvSpPr txBox="1"/>
            <p:nvPr/>
          </p:nvSpPr>
          <p:spPr>
            <a:xfrm>
              <a:off x="6486754" y="391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TopUp_AtTheLimits_IsAllowed(</a:t>
              </a:r>
              <a:r>
                <a:rPr lang="en-US" sz="700" b="0" dirty="0">
                  <a:solidFill>
                    <a:srgbClr val="60A5FA"/>
                  </a:solidFill>
                  <a:latin typeface="Consolas"/>
                  <a:ea typeface="Consolas"/>
                  <a:cs typeface="Consolas"/>
                </a:rPr>
                <a:t>int</a:t>
              </a:r>
              <a:r>
                <a:rPr lang="en-US" sz="700" b="0" dirty="0">
                  <a:solidFill>
                    <a:srgbClr val="E2E8F0"/>
                  </a:solidFill>
                  <a:latin typeface="Consolas"/>
                  <a:ea typeface="Consolas"/>
                  <a:cs typeface="Consolas"/>
                </a:rPr>
                <a:t> amount)</a:t>
              </a:r>
              <a:endParaRPr lang="en-US" sz="700" dirty="0"/>
            </a:p>
          </p:txBody>
        </p:sp>
        <p:sp>
          <p:nvSpPr>
            <p:cNvPr id="149" name="tst_L13"/>
            <p:cNvSpPr txBox="1"/>
            <p:nvPr/>
          </p:nvSpPr>
          <p:spPr>
            <a:xfrm>
              <a:off x="6486754" y="405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50" name="tst_L14"/>
            <p:cNvSpPr txBox="1"/>
            <p:nvPr/>
          </p:nvSpPr>
          <p:spPr>
            <a:xfrm>
              <a:off x="6486754" y="419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wallet = Wallet.CreateEmpty();</a:t>
              </a:r>
              <a:endParaRPr lang="en-US" sz="700" dirty="0"/>
            </a:p>
          </p:txBody>
        </p:sp>
        <p:sp>
          <p:nvSpPr>
            <p:cNvPr id="151" name="tst_L15"/>
            <p:cNvSpPr txBox="1"/>
            <p:nvPr/>
          </p:nvSpPr>
          <p:spPr>
            <a:xfrm>
              <a:off x="6486754" y="433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wallet.TopUp(amount);</a:t>
              </a:r>
              <a:endParaRPr lang="en-US" sz="700" dirty="0"/>
            </a:p>
          </p:txBody>
        </p:sp>
        <p:sp>
          <p:nvSpPr>
            <p:cNvPr id="152" name="tst_L16"/>
            <p:cNvSpPr txBox="1"/>
            <p:nvPr/>
          </p:nvSpPr>
          <p:spPr>
            <a:xfrm>
              <a:off x="6486754" y="447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wallet.Balance.ShouldBe(amount);</a:t>
              </a:r>
              <a:endParaRPr lang="en-US" sz="700" dirty="0"/>
            </a:p>
          </p:txBody>
        </p:sp>
        <p:sp>
          <p:nvSpPr>
            <p:cNvPr id="153" name="tst_L17"/>
            <p:cNvSpPr txBox="1"/>
            <p:nvPr/>
          </p:nvSpPr>
          <p:spPr>
            <a:xfrm>
              <a:off x="6486754" y="461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54" name="tst_L19"/>
            <p:cNvSpPr txBox="1"/>
            <p:nvPr/>
          </p:nvSpPr>
          <p:spPr>
            <a:xfrm>
              <a:off x="6486754" y="489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[Fact]</a:t>
              </a:r>
              <a:endParaRPr lang="en-US" sz="700" dirty="0"/>
            </a:p>
          </p:txBody>
        </p:sp>
        <p:sp>
          <p:nvSpPr>
            <p:cNvPr id="155" name="tst_L20"/>
            <p:cNvSpPr txBox="1"/>
            <p:nvPr/>
          </p:nvSpPr>
          <p:spPr>
            <a:xfrm>
              <a:off x="6486754" y="503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Pay_MoreThanBalance_ThrowsBR22()</a:t>
              </a:r>
              <a:endParaRPr lang="en-US" sz="700" dirty="0"/>
            </a:p>
          </p:txBody>
        </p:sp>
        <p:sp>
          <p:nvSpPr>
            <p:cNvPr id="156" name="tst_L21"/>
            <p:cNvSpPr txBox="1"/>
            <p:nvPr/>
          </p:nvSpPr>
          <p:spPr>
            <a:xfrm>
              <a:off x="6486754" y="517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57" name="tst_L22"/>
            <p:cNvSpPr txBox="1"/>
            <p:nvPr/>
          </p:nvSpPr>
          <p:spPr>
            <a:xfrm>
              <a:off x="6486754" y="531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wallet = Wallet.CreateEmpty();</a:t>
              </a:r>
              <a:endParaRPr lang="en-US" sz="700" dirty="0"/>
            </a:p>
          </p:txBody>
        </p:sp>
        <p:sp>
          <p:nvSpPr>
            <p:cNvPr id="158" name="tst_L23"/>
            <p:cNvSpPr txBox="1"/>
            <p:nvPr/>
          </p:nvSpPr>
          <p:spPr>
            <a:xfrm>
              <a:off x="6486754" y="545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wallet.TopUp(50m);</a:t>
              </a:r>
              <a:endParaRPr lang="en-US" sz="700" dirty="0"/>
            </a:p>
          </p:txBody>
        </p:sp>
        <p:sp>
          <p:nvSpPr>
            <p:cNvPr id="159" name="tst_L24"/>
            <p:cNvSpPr txBox="1"/>
            <p:nvPr/>
          </p:nvSpPr>
          <p:spPr>
            <a:xfrm>
              <a:off x="6486754" y="5591548"/>
              <a:ext cx="507210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Should.Throw&lt;DomainException&gt;(() =&gt; wallet.Pay(80m)).RuleId.ShouldBe(</a:t>
              </a:r>
              <a:r>
                <a:rPr lang="en-US" sz="700" b="0" dirty="0">
                  <a:solidFill>
                    <a:srgbClr val="F0A98B"/>
                  </a:solidFill>
                  <a:latin typeface="Consolas"/>
                  <a:ea typeface="Consolas"/>
                  <a:cs typeface="Consolas"/>
                </a:rPr>
                <a:t>"BR-22"</a:t>
              </a:r>
              <a:r>
                <a:rPr lang="en-US" sz="700" b="0" dirty="0">
                  <a:solidFill>
                    <a:srgbClr val="E2E8F0"/>
                  </a:solidFill>
                  <a:latin typeface="Consolas"/>
                  <a:ea typeface="Consolas"/>
                  <a:cs typeface="Consolas"/>
                </a:rPr>
                <a:t>);</a:t>
              </a:r>
              <a:endParaRPr lang="en-US" sz="700" dirty="0"/>
            </a:p>
          </p:txBody>
        </p:sp>
        <p:sp>
          <p:nvSpPr>
            <p:cNvPr id="160" name="tst_L25"/>
            <p:cNvSpPr txBox="1"/>
            <p:nvPr/>
          </p:nvSpPr>
          <p:spPr>
            <a:xfrm>
              <a:off x="6486754" y="5731548"/>
              <a:ext cx="507210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grpSp>
      <p:sp>
        <p:nvSpPr>
          <p:cNvPr id="162" name="tst_hl4"/>
          <p:cNvSpPr/>
          <p:nvPr/>
        </p:nvSpPr>
        <p:spPr>
          <a:xfrm>
            <a:off x="6391656" y="2773260"/>
            <a:ext cx="5105100"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63" name="tst_hl10"/>
          <p:cNvSpPr/>
          <p:nvPr/>
        </p:nvSpPr>
        <p:spPr>
          <a:xfrm>
            <a:off x="6391656" y="3613260"/>
            <a:ext cx="5105100" cy="17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64" name="tst_hl11"/>
          <p:cNvSpPr/>
          <p:nvPr/>
        </p:nvSpPr>
        <p:spPr>
          <a:xfrm>
            <a:off x="6391656" y="3753260"/>
            <a:ext cx="5105100" cy="17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65" name="tst_hl24"/>
          <p:cNvSpPr/>
          <p:nvPr/>
        </p:nvSpPr>
        <p:spPr>
          <a:xfrm>
            <a:off x="6391656" y="5573260"/>
            <a:ext cx="5105100" cy="176576"/>
          </a:xfrm>
          <a:prstGeom prst="rect">
            <a:avLst/>
          </a:prstGeom>
          <a:solidFill>
            <a:srgbClr val="F87171">
              <a:alpha val="15000"/>
            </a:srgbClr>
          </a:solidFill>
          <a:ln w="12700">
            <a:solidFill>
              <a:srgbClr val="F87171"/>
            </a:solidFill>
            <a:prstDash val="solid"/>
          </a:ln>
        </p:spPr>
        <p:txBody>
          <a:bodyPr/>
          <a:lstStyle/>
          <a:p>
            <a:endParaRPr lang="en-US"/>
          </a:p>
        </p:txBody>
      </p:sp>
    </p:spTree>
    <p:extLst>
      <p:ext uri="{BB962C8B-B14F-4D97-AF65-F5344CB8AC3E}">
        <p14:creationId xmlns:p14="http://schemas.microsoft.com/office/powerpoint/2010/main" val="51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6"/>
                                        </p:tgtEl>
                                        <p:attrNameLst>
                                          <p:attrName>style.visibility</p:attrName>
                                        </p:attrNameLst>
                                      </p:cBhvr>
                                      <p:to>
                                        <p:strVal val="visible"/>
                                      </p:to>
                                    </p:set>
                                    <p:animEffect transition="in" filter="fade">
                                      <p:cBhvr>
                                        <p:cTn id="10" dur="400"/>
                                        <p:tgtEl>
                                          <p:spTgt spid="1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7"/>
                                        </p:tgtEl>
                                        <p:attrNameLst>
                                          <p:attrName>style.visibility</p:attrName>
                                        </p:attrNameLst>
                                      </p:cBhvr>
                                      <p:to>
                                        <p:strVal val="visible"/>
                                      </p:to>
                                    </p:set>
                                    <p:animEffect transition="in" filter="fade">
                                      <p:cBhvr>
                                        <p:cTn id="13" dur="400"/>
                                        <p:tgtEl>
                                          <p:spTgt spid="1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fade">
                                      <p:cBhvr>
                                        <p:cTn id="16" dur="400"/>
                                        <p:tgtEl>
                                          <p:spTgt spid="1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9"/>
                                        </p:tgtEl>
                                        <p:attrNameLst>
                                          <p:attrName>style.visibility</p:attrName>
                                        </p:attrNameLst>
                                      </p:cBhvr>
                                      <p:to>
                                        <p:strVal val="visible"/>
                                      </p:to>
                                    </p:set>
                                    <p:animEffect transition="in" filter="fade">
                                      <p:cBhvr>
                                        <p:cTn id="19" dur="400"/>
                                        <p:tgtEl>
                                          <p:spTgt spid="12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2"/>
                                        </p:tgtEl>
                                        <p:attrNameLst>
                                          <p:attrName>style.visibility</p:attrName>
                                        </p:attrNameLst>
                                      </p:cBhvr>
                                      <p:to>
                                        <p:strVal val="visible"/>
                                      </p:to>
                                    </p:set>
                                    <p:animEffect transition="in" filter="fade">
                                      <p:cBhvr>
                                        <p:cTn id="24" dur="400"/>
                                        <p:tgtEl>
                                          <p:spTgt spid="102"/>
                                        </p:tgtEl>
                                      </p:cBhvr>
                                    </p:animEffect>
                                  </p:childTnLst>
                                </p:cTn>
                              </p:par>
                              <p:par>
                                <p:cTn id="25" presetID="10" presetClass="entr" presetSubtype="0" fill="hold" nodeType="withEffect">
                                  <p:stCondLst>
                                    <p:cond delay="0"/>
                                  </p:stCondLst>
                                  <p:childTnLst>
                                    <p:set>
                                      <p:cBhvr>
                                        <p:cTn id="26" dur="1" fill="hold">
                                          <p:stCondLst>
                                            <p:cond delay="0"/>
                                          </p:stCondLst>
                                        </p:cTn>
                                        <p:tgtEl>
                                          <p:spTgt spid="161"/>
                                        </p:tgtEl>
                                        <p:attrNameLst>
                                          <p:attrName>style.visibility</p:attrName>
                                        </p:attrNameLst>
                                      </p:cBhvr>
                                      <p:to>
                                        <p:strVal val="visible"/>
                                      </p:to>
                                    </p:set>
                                    <p:animEffect transition="in" filter="fade">
                                      <p:cBhvr>
                                        <p:cTn id="27" dur="400"/>
                                        <p:tgtEl>
                                          <p:spTgt spid="16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2"/>
                                        </p:tgtEl>
                                        <p:attrNameLst>
                                          <p:attrName>style.visibility</p:attrName>
                                        </p:attrNameLst>
                                      </p:cBhvr>
                                      <p:to>
                                        <p:strVal val="visible"/>
                                      </p:to>
                                    </p:set>
                                    <p:animEffect transition="in" filter="fade">
                                      <p:cBhvr>
                                        <p:cTn id="30" dur="400"/>
                                        <p:tgtEl>
                                          <p:spTgt spid="16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3"/>
                                        </p:tgtEl>
                                        <p:attrNameLst>
                                          <p:attrName>style.visibility</p:attrName>
                                        </p:attrNameLst>
                                      </p:cBhvr>
                                      <p:to>
                                        <p:strVal val="visible"/>
                                      </p:to>
                                    </p:set>
                                    <p:animEffect transition="in" filter="fade">
                                      <p:cBhvr>
                                        <p:cTn id="33" dur="400"/>
                                        <p:tgtEl>
                                          <p:spTgt spid="16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4"/>
                                        </p:tgtEl>
                                        <p:attrNameLst>
                                          <p:attrName>style.visibility</p:attrName>
                                        </p:attrNameLst>
                                      </p:cBhvr>
                                      <p:to>
                                        <p:strVal val="visible"/>
                                      </p:to>
                                    </p:set>
                                    <p:animEffect transition="in" filter="fade">
                                      <p:cBhvr>
                                        <p:cTn id="36" dur="400"/>
                                        <p:tgtEl>
                                          <p:spTgt spid="16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5"/>
                                        </p:tgtEl>
                                        <p:attrNameLst>
                                          <p:attrName>style.visibility</p:attrName>
                                        </p:attrNameLst>
                                      </p:cBhvr>
                                      <p:to>
                                        <p:strVal val="visible"/>
                                      </p:to>
                                    </p:set>
                                    <p:animEffect transition="in" filter="fade">
                                      <p:cBhvr>
                                        <p:cTn id="39" dur="4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7" grpId="0" animBg="1"/>
      <p:bldP spid="128" grpId="0" animBg="1"/>
      <p:bldP spid="129" grpId="0" animBg="1"/>
      <p:bldP spid="162" grpId="0" animBg="1"/>
      <p:bldP spid="163" grpId="0" animBg="1"/>
      <p:bldP spid="164" grpId="0" animBg="1"/>
      <p:bldP spid="16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MOBILE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2: MobileNumber (BR-01)</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137</a:t>
            </a:r>
            <a:endParaRPr lang="en-US" sz="850" dirty="0"/>
          </a:p>
        </p:txBody>
      </p:sp>
      <p:sp>
        <p:nvSpPr>
          <p:cNvPr id="101" name="cl"/>
          <p:cNvSpPr txBox="1"/>
          <p:nvPr/>
        </p:nvSpPr>
        <p:spPr>
          <a:xfrm>
            <a:off x="543154" y="1463040"/>
            <a:ext cx="53949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6166714" y="1463040"/>
            <a:ext cx="54635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1" name="cls"/>
          <p:cNvGrpSpPr/>
          <p:nvPr/>
        </p:nvGrpSpPr>
        <p:grpSpPr>
          <a:xfrm>
            <a:off x="543154" y="1755648"/>
            <a:ext cx="5394960" cy="2649900"/>
            <a:chOff x="543154" y="1755648"/>
            <a:chExt cx="5394960" cy="2649900"/>
          </a:xfrm>
        </p:grpSpPr>
        <p:sp>
          <p:nvSpPr>
            <p:cNvPr id="103" name="cls_win"/>
            <p:cNvSpPr/>
            <p:nvPr/>
          </p:nvSpPr>
          <p:spPr>
            <a:xfrm>
              <a:off x="543154" y="1755648"/>
              <a:ext cx="5394960" cy="2649900"/>
            </a:xfrm>
            <a:prstGeom prst="roundRect">
              <a:avLst>
                <a:gd name="adj" fmla="val 2586"/>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3949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39496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380426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src/SwiftBite.Business/ValueObjects/MobileNumber.cs</a:t>
              </a:r>
              <a:endParaRPr lang="en-US" sz="950" dirty="0"/>
            </a:p>
          </p:txBody>
        </p:sp>
        <p:sp>
          <p:nvSpPr>
            <p:cNvPr id="110" name="cls_L00"/>
            <p:cNvSpPr txBox="1"/>
            <p:nvPr/>
          </p:nvSpPr>
          <p:spPr>
            <a:xfrm>
              <a:off x="771754" y="2231548"/>
              <a:ext cx="50949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sealed</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record</a:t>
              </a:r>
              <a:r>
                <a:rPr lang="en-US" sz="760" b="0" dirty="0">
                  <a:solidFill>
                    <a:srgbClr val="E2E8F0"/>
                  </a:solidFill>
                  <a:latin typeface="Consolas"/>
                  <a:ea typeface="Consolas"/>
                  <a:cs typeface="Consolas"/>
                </a:rPr>
                <a:t> MobileNumber</a:t>
              </a:r>
              <a:endParaRPr lang="en-US" sz="760" dirty="0"/>
            </a:p>
          </p:txBody>
        </p:sp>
        <p:sp>
          <p:nvSpPr>
            <p:cNvPr id="111" name="cls_L01"/>
            <p:cNvSpPr txBox="1"/>
            <p:nvPr/>
          </p:nvSpPr>
          <p:spPr>
            <a:xfrm>
              <a:off x="771754" y="2389548"/>
              <a:ext cx="50949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2" name="cls_L02"/>
            <p:cNvSpPr txBox="1"/>
            <p:nvPr/>
          </p:nvSpPr>
          <p:spPr>
            <a:xfrm>
              <a:off x="771754" y="2547548"/>
              <a:ext cx="50949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Value { </a:t>
              </a:r>
              <a:r>
                <a:rPr lang="en-US" sz="760" b="0" dirty="0">
                  <a:solidFill>
                    <a:srgbClr val="60A5FA"/>
                  </a:solidFill>
                  <a:latin typeface="Consolas"/>
                  <a:ea typeface="Consolas"/>
                  <a:cs typeface="Consolas"/>
                </a:rPr>
                <a:t>get</a:t>
              </a:r>
              <a:r>
                <a:rPr lang="en-US" sz="760" b="0" dirty="0">
                  <a:solidFill>
                    <a:srgbClr val="E2E8F0"/>
                  </a:solidFill>
                  <a:latin typeface="Consolas"/>
                  <a:ea typeface="Consolas"/>
                  <a:cs typeface="Consolas"/>
                </a:rPr>
                <a:t>; }</a:t>
              </a:r>
              <a:endParaRPr lang="en-US" sz="760" dirty="0"/>
            </a:p>
          </p:txBody>
        </p:sp>
        <p:sp>
          <p:nvSpPr>
            <p:cNvPr id="113" name="cls_L04"/>
            <p:cNvSpPr txBox="1"/>
            <p:nvPr/>
          </p:nvSpPr>
          <p:spPr>
            <a:xfrm>
              <a:off x="771754" y="2863548"/>
              <a:ext cx="50949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private</a:t>
              </a:r>
              <a:r>
                <a:rPr lang="en-US" sz="760" b="0" dirty="0">
                  <a:solidFill>
                    <a:srgbClr val="E2E8F0"/>
                  </a:solidFill>
                  <a:latin typeface="Consolas"/>
                  <a:ea typeface="Consolas"/>
                  <a:cs typeface="Consolas"/>
                </a:rPr>
                <a:t> MobileNumber(</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value) =&gt; Value = value;</a:t>
              </a:r>
              <a:endParaRPr lang="en-US" sz="760" dirty="0"/>
            </a:p>
          </p:txBody>
        </p:sp>
        <p:sp>
          <p:nvSpPr>
            <p:cNvPr id="114" name="cls_L06"/>
            <p:cNvSpPr txBox="1"/>
            <p:nvPr/>
          </p:nvSpPr>
          <p:spPr>
            <a:xfrm>
              <a:off x="771754" y="3179548"/>
              <a:ext cx="50949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static</a:t>
              </a:r>
              <a:r>
                <a:rPr lang="en-US" sz="760" b="0" dirty="0">
                  <a:solidFill>
                    <a:srgbClr val="E2E8F0"/>
                  </a:solidFill>
                  <a:latin typeface="Consolas"/>
                  <a:ea typeface="Consolas"/>
                  <a:cs typeface="Consolas"/>
                </a:rPr>
                <a:t> MobileNumber Create(</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value)     </a:t>
              </a:r>
              <a:r>
                <a:rPr lang="en-US" sz="760" b="0" dirty="0">
                  <a:solidFill>
                    <a:srgbClr val="6FAE7A"/>
                  </a:solidFill>
                  <a:latin typeface="Consolas"/>
                  <a:ea typeface="Consolas"/>
                  <a:cs typeface="Consolas"/>
                </a:rPr>
                <a:t>// BR-01</a:t>
              </a:r>
              <a:endParaRPr lang="en-US" sz="760" dirty="0"/>
            </a:p>
          </p:txBody>
        </p:sp>
        <p:sp>
          <p:nvSpPr>
            <p:cNvPr id="115" name="cls_L07"/>
            <p:cNvSpPr txBox="1"/>
            <p:nvPr/>
          </p:nvSpPr>
          <p:spPr>
            <a:xfrm>
              <a:off x="771754" y="3337548"/>
              <a:ext cx="50949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6" name="cls_L08"/>
            <p:cNvSpPr txBox="1"/>
            <p:nvPr/>
          </p:nvSpPr>
          <p:spPr>
            <a:xfrm>
              <a:off x="771754" y="3495548"/>
              <a:ext cx="509496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Guard.Against(!Regex.IsMatch(value ?? </a:t>
              </a:r>
              <a:r>
                <a:rPr lang="en-US" sz="760" b="0" dirty="0">
                  <a:solidFill>
                    <a:srgbClr val="F0A98B"/>
                  </a:solidFill>
                  <a:latin typeface="Consolas"/>
                  <a:ea typeface="Consolas"/>
                  <a:cs typeface="Consolas"/>
                </a:rPr>
                <a:t>""</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@"^01[0125]\d{8}$"</a:t>
              </a:r>
              <a:r>
                <a:rPr lang="en-US" sz="760" b="0" dirty="0">
                  <a:solidFill>
                    <a:srgbClr val="E2E8F0"/>
                  </a:solidFill>
                  <a:latin typeface="Consolas"/>
                  <a:ea typeface="Consolas"/>
                  <a:cs typeface="Consolas"/>
                </a:rPr>
                <a:t>),</a:t>
              </a:r>
              <a:endParaRPr lang="en-US" sz="760" dirty="0"/>
            </a:p>
          </p:txBody>
        </p:sp>
        <p:sp>
          <p:nvSpPr>
            <p:cNvPr id="117" name="cls_L09"/>
            <p:cNvSpPr txBox="1"/>
            <p:nvPr/>
          </p:nvSpPr>
          <p:spPr>
            <a:xfrm>
              <a:off x="771754" y="3653548"/>
              <a:ext cx="5094960" cy="158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60" b="0" dirty="0">
                  <a:solidFill>
                    <a:srgbClr val="F0A98B"/>
                  </a:solidFill>
                  <a:latin typeface="Consolas"/>
                  <a:ea typeface="Consolas"/>
                  <a:cs typeface="Consolas"/>
                </a:rPr>
                <a:t>"BR-01"</a:t>
              </a:r>
              <a:r>
                <a:rPr lang="en-US" sz="760" b="0" dirty="0">
                  <a:solidFill>
                    <a:srgbClr val="E2E8F0"/>
                  </a:solidFill>
                  <a:latin typeface="Consolas"/>
                  <a:ea typeface="Consolas"/>
                  <a:cs typeface="Consolas"/>
                </a:rPr>
                <a:t>, </a:t>
              </a:r>
              <a:r>
                <a:rPr lang="en-US" sz="760" b="0" dirty="0">
                  <a:solidFill>
                    <a:srgbClr val="F0A98B"/>
                  </a:solidFill>
                  <a:latin typeface="Consolas"/>
                  <a:ea typeface="Consolas"/>
                  <a:cs typeface="Consolas"/>
                </a:rPr>
                <a:t>"Mobile must be 11 digits starting with 010, ..."</a:t>
              </a:r>
              <a:r>
                <a:rPr lang="en-US" sz="760" b="0" dirty="0">
                  <a:solidFill>
                    <a:srgbClr val="E2E8F0"/>
                  </a:solidFill>
                  <a:latin typeface="Consolas"/>
                  <a:ea typeface="Consolas"/>
                  <a:cs typeface="Consolas"/>
                </a:rPr>
                <a:t>);</a:t>
              </a:r>
              <a:endParaRPr lang="en-US" sz="760" dirty="0"/>
            </a:p>
          </p:txBody>
        </p:sp>
        <p:sp>
          <p:nvSpPr>
            <p:cNvPr id="118" name="cls_L10"/>
            <p:cNvSpPr txBox="1"/>
            <p:nvPr/>
          </p:nvSpPr>
          <p:spPr>
            <a:xfrm>
              <a:off x="771754" y="3811548"/>
              <a:ext cx="509496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new</a:t>
              </a:r>
              <a:r>
                <a:rPr lang="en-US" sz="760" b="0" dirty="0">
                  <a:solidFill>
                    <a:srgbClr val="E2E8F0"/>
                  </a:solidFill>
                  <a:latin typeface="Consolas"/>
                  <a:ea typeface="Consolas"/>
                  <a:cs typeface="Consolas"/>
                </a:rPr>
                <a:t> MobileNumber(value!);</a:t>
              </a:r>
              <a:endParaRPr lang="en-US" sz="760" dirty="0"/>
            </a:p>
          </p:txBody>
        </p:sp>
        <p:sp>
          <p:nvSpPr>
            <p:cNvPr id="119" name="cls_L11"/>
            <p:cNvSpPr txBox="1"/>
            <p:nvPr/>
          </p:nvSpPr>
          <p:spPr>
            <a:xfrm>
              <a:off x="771754" y="3969548"/>
              <a:ext cx="50949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0" name="cls_L12"/>
            <p:cNvSpPr txBox="1"/>
            <p:nvPr/>
          </p:nvSpPr>
          <p:spPr>
            <a:xfrm>
              <a:off x="771754" y="4127548"/>
              <a:ext cx="50949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22" name="cls_hl8"/>
          <p:cNvSpPr/>
          <p:nvPr/>
        </p:nvSpPr>
        <p:spPr>
          <a:xfrm>
            <a:off x="676656" y="3477260"/>
            <a:ext cx="5127960" cy="194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8" name="tst"/>
          <p:cNvGrpSpPr/>
          <p:nvPr/>
        </p:nvGrpSpPr>
        <p:grpSpPr>
          <a:xfrm>
            <a:off x="6166714" y="1755648"/>
            <a:ext cx="5463540" cy="3597900"/>
            <a:chOff x="6166714" y="1755648"/>
            <a:chExt cx="5463540" cy="3597900"/>
          </a:xfrm>
        </p:grpSpPr>
        <p:sp>
          <p:nvSpPr>
            <p:cNvPr id="123" name="tst_win"/>
            <p:cNvSpPr/>
            <p:nvPr/>
          </p:nvSpPr>
          <p:spPr>
            <a:xfrm>
              <a:off x="6166714" y="1755648"/>
              <a:ext cx="5463540" cy="3597900"/>
            </a:xfrm>
            <a:prstGeom prst="roundRect">
              <a:avLst>
                <a:gd name="adj" fmla="val 1905"/>
              </a:avLst>
            </a:prstGeom>
            <a:solidFill>
              <a:srgbClr val="060D18"/>
            </a:solidFill>
            <a:ln w="12700">
              <a:solidFill>
                <a:srgbClr val="1E3A5F"/>
              </a:solidFill>
              <a:prstDash val="solid"/>
            </a:ln>
          </p:spPr>
          <p:txBody>
            <a:bodyPr/>
            <a:lstStyle/>
            <a:p>
              <a:endParaRPr lang="en-US"/>
            </a:p>
          </p:txBody>
        </p:sp>
        <p:sp>
          <p:nvSpPr>
            <p:cNvPr id="124" name="tst_bar"/>
            <p:cNvSpPr/>
            <p:nvPr/>
          </p:nvSpPr>
          <p:spPr>
            <a:xfrm>
              <a:off x="6166714" y="1755648"/>
              <a:ext cx="54635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5" name="tst_barfill"/>
            <p:cNvSpPr/>
            <p:nvPr/>
          </p:nvSpPr>
          <p:spPr>
            <a:xfrm>
              <a:off x="6166714" y="1927098"/>
              <a:ext cx="5463540" cy="171450"/>
            </a:xfrm>
            <a:prstGeom prst="rect">
              <a:avLst/>
            </a:prstGeom>
            <a:solidFill>
              <a:srgbClr val="0A1220"/>
            </a:solidFill>
            <a:ln w="12700">
              <a:solidFill>
                <a:srgbClr val="0A1220"/>
              </a:solidFill>
              <a:prstDash val="solid"/>
            </a:ln>
          </p:spPr>
          <p:txBody>
            <a:bodyPr/>
            <a:lstStyle/>
            <a:p>
              <a:endParaRPr lang="en-US"/>
            </a:p>
          </p:txBody>
        </p:sp>
        <p:sp>
          <p:nvSpPr>
            <p:cNvPr id="126" name="tst_dot0"/>
            <p:cNvSpPr/>
            <p:nvPr/>
          </p:nvSpPr>
          <p:spPr>
            <a:xfrm>
              <a:off x="632856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7" name="tst_dot1"/>
            <p:cNvSpPr/>
            <p:nvPr/>
          </p:nvSpPr>
          <p:spPr>
            <a:xfrm>
              <a:off x="651418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8" name="tst_dot2"/>
            <p:cNvSpPr/>
            <p:nvPr/>
          </p:nvSpPr>
          <p:spPr>
            <a:xfrm>
              <a:off x="669981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9" name="tst_tab"/>
            <p:cNvSpPr/>
            <p:nvPr/>
          </p:nvSpPr>
          <p:spPr>
            <a:xfrm>
              <a:off x="6947611" y="1803197"/>
              <a:ext cx="257805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ValueObjects/MobileNumberTests.cs</a:t>
              </a:r>
              <a:endParaRPr lang="en-US" sz="950" dirty="0"/>
            </a:p>
          </p:txBody>
        </p:sp>
        <p:sp>
          <p:nvSpPr>
            <p:cNvPr id="130" name="tst_L00"/>
            <p:cNvSpPr txBox="1"/>
            <p:nvPr/>
          </p:nvSpPr>
          <p:spPr>
            <a:xfrm>
              <a:off x="6395314" y="2231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[Theory]</a:t>
              </a:r>
              <a:endParaRPr lang="en-US" sz="760" dirty="0"/>
            </a:p>
          </p:txBody>
        </p:sp>
        <p:sp>
          <p:nvSpPr>
            <p:cNvPr id="131" name="tst_L01"/>
            <p:cNvSpPr txBox="1"/>
            <p:nvPr/>
          </p:nvSpPr>
          <p:spPr>
            <a:xfrm>
              <a:off x="6395314" y="2389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"01012345678"</a:t>
              </a:r>
              <a:r>
                <a:rPr lang="en-US" sz="760" b="0" dirty="0">
                  <a:solidFill>
                    <a:srgbClr val="E2E8F0"/>
                  </a:solidFill>
                  <a:latin typeface="Consolas"/>
                  <a:ea typeface="Consolas"/>
                  <a:cs typeface="Consolas"/>
                </a:rPr>
                <a:t>)]</a:t>
              </a:r>
              <a:endParaRPr lang="en-US" sz="760" dirty="0"/>
            </a:p>
          </p:txBody>
        </p:sp>
        <p:sp>
          <p:nvSpPr>
            <p:cNvPr id="132" name="tst_L02"/>
            <p:cNvSpPr txBox="1"/>
            <p:nvPr/>
          </p:nvSpPr>
          <p:spPr>
            <a:xfrm>
              <a:off x="6395314" y="2547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"01112345678"</a:t>
              </a:r>
              <a:r>
                <a:rPr lang="en-US" sz="760" b="0" dirty="0">
                  <a:solidFill>
                    <a:srgbClr val="E2E8F0"/>
                  </a:solidFill>
                  <a:latin typeface="Consolas"/>
                  <a:ea typeface="Consolas"/>
                  <a:cs typeface="Consolas"/>
                </a:rPr>
                <a:t>)]</a:t>
              </a:r>
              <a:endParaRPr lang="en-US" sz="760" dirty="0"/>
            </a:p>
          </p:txBody>
        </p:sp>
        <p:sp>
          <p:nvSpPr>
            <p:cNvPr id="133" name="tst_L03"/>
            <p:cNvSpPr txBox="1"/>
            <p:nvPr/>
          </p:nvSpPr>
          <p:spPr>
            <a:xfrm>
              <a:off x="6395314" y="2705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"01212345678"</a:t>
              </a:r>
              <a:r>
                <a:rPr lang="en-US" sz="760" b="0" dirty="0">
                  <a:solidFill>
                    <a:srgbClr val="E2E8F0"/>
                  </a:solidFill>
                  <a:latin typeface="Consolas"/>
                  <a:ea typeface="Consolas"/>
                  <a:cs typeface="Consolas"/>
                </a:rPr>
                <a:t>)]</a:t>
              </a:r>
              <a:endParaRPr lang="en-US" sz="760" dirty="0"/>
            </a:p>
          </p:txBody>
        </p:sp>
        <p:sp>
          <p:nvSpPr>
            <p:cNvPr id="134" name="tst_L04"/>
            <p:cNvSpPr txBox="1"/>
            <p:nvPr/>
          </p:nvSpPr>
          <p:spPr>
            <a:xfrm>
              <a:off x="6395314" y="2863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"01512345678"</a:t>
              </a:r>
              <a:r>
                <a:rPr lang="en-US" sz="760" b="0" dirty="0">
                  <a:solidFill>
                    <a:srgbClr val="E2E8F0"/>
                  </a:solidFill>
                  <a:latin typeface="Consolas"/>
                  <a:ea typeface="Consolas"/>
                  <a:cs typeface="Consolas"/>
                </a:rPr>
                <a:t>)]</a:t>
              </a:r>
              <a:endParaRPr lang="en-US" sz="760" dirty="0"/>
            </a:p>
          </p:txBody>
        </p:sp>
        <p:sp>
          <p:nvSpPr>
            <p:cNvPr id="135" name="tst_L05"/>
            <p:cNvSpPr txBox="1"/>
            <p:nvPr/>
          </p:nvSpPr>
          <p:spPr>
            <a:xfrm>
              <a:off x="6395314" y="3021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Create_ValidPrefix_Succeeds(</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value) =&gt;</a:t>
              </a:r>
              <a:endParaRPr lang="en-US" sz="760" dirty="0"/>
            </a:p>
          </p:txBody>
        </p:sp>
        <p:sp>
          <p:nvSpPr>
            <p:cNvPr id="136" name="tst_L06"/>
            <p:cNvSpPr txBox="1"/>
            <p:nvPr/>
          </p:nvSpPr>
          <p:spPr>
            <a:xfrm>
              <a:off x="6395314" y="3179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Assert.Equal(value, MobileNumber.Create(value).Value);</a:t>
              </a:r>
              <a:endParaRPr lang="en-US" sz="760" dirty="0"/>
            </a:p>
          </p:txBody>
        </p:sp>
        <p:sp>
          <p:nvSpPr>
            <p:cNvPr id="137" name="tst_L08"/>
            <p:cNvSpPr txBox="1"/>
            <p:nvPr/>
          </p:nvSpPr>
          <p:spPr>
            <a:xfrm>
              <a:off x="6395314" y="3495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[Theory]</a:t>
              </a:r>
              <a:endParaRPr lang="en-US" sz="760" dirty="0"/>
            </a:p>
          </p:txBody>
        </p:sp>
        <p:sp>
          <p:nvSpPr>
            <p:cNvPr id="138" name="tst_L09"/>
            <p:cNvSpPr txBox="1"/>
            <p:nvPr/>
          </p:nvSpPr>
          <p:spPr>
            <a:xfrm>
              <a:off x="6395314" y="3653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"01312345678"</a:t>
              </a: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013 is not allowed</a:t>
              </a:r>
              <a:endParaRPr lang="en-US" sz="760" dirty="0"/>
            </a:p>
          </p:txBody>
        </p:sp>
        <p:sp>
          <p:nvSpPr>
            <p:cNvPr id="139" name="tst_L10"/>
            <p:cNvSpPr txBox="1"/>
            <p:nvPr/>
          </p:nvSpPr>
          <p:spPr>
            <a:xfrm>
              <a:off x="6395314" y="3811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"0101234567"</a:t>
              </a: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10 digits</a:t>
              </a:r>
              <a:endParaRPr lang="en-US" sz="760" dirty="0"/>
            </a:p>
          </p:txBody>
        </p:sp>
        <p:sp>
          <p:nvSpPr>
            <p:cNvPr id="140" name="tst_L11"/>
            <p:cNvSpPr txBox="1"/>
            <p:nvPr/>
          </p:nvSpPr>
          <p:spPr>
            <a:xfrm>
              <a:off x="6395314" y="3969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"010123456789"</a:t>
              </a: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12 digits</a:t>
              </a:r>
              <a:endParaRPr lang="en-US" sz="760" dirty="0"/>
            </a:p>
          </p:txBody>
        </p:sp>
        <p:sp>
          <p:nvSpPr>
            <p:cNvPr id="141" name="tst_L12"/>
            <p:cNvSpPr txBox="1"/>
            <p:nvPr/>
          </p:nvSpPr>
          <p:spPr>
            <a:xfrm>
              <a:off x="6395314" y="4127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"+201012345678"</a:t>
              </a:r>
              <a:r>
                <a:rPr lang="en-US" sz="760" b="0" dirty="0">
                  <a:solidFill>
                    <a:srgbClr val="E2E8F0"/>
                  </a:solidFill>
                  <a:latin typeface="Consolas"/>
                  <a:ea typeface="Consolas"/>
                  <a:cs typeface="Consolas"/>
                </a:rPr>
                <a:t>)]  </a:t>
              </a:r>
              <a:r>
                <a:rPr lang="en-US" sz="760" b="0" dirty="0">
                  <a:solidFill>
                    <a:srgbClr val="6FAE7A"/>
                  </a:solidFill>
                  <a:latin typeface="Consolas"/>
                  <a:ea typeface="Consolas"/>
                  <a:cs typeface="Consolas"/>
                </a:rPr>
                <a:t>// country code</a:t>
              </a:r>
              <a:endParaRPr lang="en-US" sz="760" dirty="0"/>
            </a:p>
          </p:txBody>
        </p:sp>
        <p:sp>
          <p:nvSpPr>
            <p:cNvPr id="142" name="tst_L13"/>
            <p:cNvSpPr txBox="1"/>
            <p:nvPr/>
          </p:nvSpPr>
          <p:spPr>
            <a:xfrm>
              <a:off x="6395314" y="4285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a:t>
              </a:r>
              <a:r>
                <a:rPr lang="en-US" sz="760" b="0" dirty="0">
                  <a:solidFill>
                    <a:srgbClr val="F0A98B"/>
                  </a:solidFill>
                  <a:latin typeface="Consolas"/>
                  <a:ea typeface="Consolas"/>
                  <a:cs typeface="Consolas"/>
                </a:rPr>
                <a:t>""</a:t>
              </a:r>
              <a:r>
                <a:rPr lang="en-US" sz="760" b="0" dirty="0">
                  <a:solidFill>
                    <a:srgbClr val="E2E8F0"/>
                  </a:solidFill>
                  <a:latin typeface="Consolas"/>
                  <a:ea typeface="Consolas"/>
                  <a:cs typeface="Consolas"/>
                </a:rPr>
                <a:t>)]</a:t>
              </a:r>
              <a:endParaRPr lang="en-US" sz="760" dirty="0"/>
            </a:p>
          </p:txBody>
        </p:sp>
        <p:sp>
          <p:nvSpPr>
            <p:cNvPr id="143" name="tst_L14"/>
            <p:cNvSpPr txBox="1"/>
            <p:nvPr/>
          </p:nvSpPr>
          <p:spPr>
            <a:xfrm>
              <a:off x="6395314" y="4443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Create_Invalid_ThrowsBR01(</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value)</a:t>
              </a:r>
              <a:endParaRPr lang="en-US" sz="760" dirty="0"/>
            </a:p>
          </p:txBody>
        </p:sp>
        <p:sp>
          <p:nvSpPr>
            <p:cNvPr id="144" name="tst_L15"/>
            <p:cNvSpPr txBox="1"/>
            <p:nvPr/>
          </p:nvSpPr>
          <p:spPr>
            <a:xfrm>
              <a:off x="6395314" y="4601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45" name="tst_L16"/>
            <p:cNvSpPr txBox="1"/>
            <p:nvPr/>
          </p:nvSpPr>
          <p:spPr>
            <a:xfrm>
              <a:off x="6395314" y="4759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ex = Assert.Throws&lt;DomainException&gt;(() =&gt; MobileNumber.Create(value));</a:t>
              </a:r>
              <a:endParaRPr lang="en-US" sz="760" dirty="0"/>
            </a:p>
          </p:txBody>
        </p:sp>
        <p:sp>
          <p:nvSpPr>
            <p:cNvPr id="146" name="tst_L17"/>
            <p:cNvSpPr txBox="1"/>
            <p:nvPr/>
          </p:nvSpPr>
          <p:spPr>
            <a:xfrm>
              <a:off x="6395314" y="4917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Assert.Equal(</a:t>
              </a:r>
              <a:r>
                <a:rPr lang="en-US" sz="760" b="0" dirty="0">
                  <a:solidFill>
                    <a:srgbClr val="F0A98B"/>
                  </a:solidFill>
                  <a:latin typeface="Consolas"/>
                  <a:ea typeface="Consolas"/>
                  <a:cs typeface="Consolas"/>
                </a:rPr>
                <a:t>"BR-01"</a:t>
              </a:r>
              <a:r>
                <a:rPr lang="en-US" sz="760" b="0" dirty="0">
                  <a:solidFill>
                    <a:srgbClr val="E2E8F0"/>
                  </a:solidFill>
                  <a:latin typeface="Consolas"/>
                  <a:ea typeface="Consolas"/>
                  <a:cs typeface="Consolas"/>
                </a:rPr>
                <a:t>, ex.RuleId);</a:t>
              </a:r>
              <a:endParaRPr lang="en-US" sz="760" dirty="0"/>
            </a:p>
          </p:txBody>
        </p:sp>
        <p:sp>
          <p:nvSpPr>
            <p:cNvPr id="147" name="tst_L18"/>
            <p:cNvSpPr txBox="1"/>
            <p:nvPr/>
          </p:nvSpPr>
          <p:spPr>
            <a:xfrm>
              <a:off x="6395314" y="5075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49" name="tst_hl9"/>
          <p:cNvSpPr/>
          <p:nvPr/>
        </p:nvSpPr>
        <p:spPr>
          <a:xfrm>
            <a:off x="6300216" y="3635260"/>
            <a:ext cx="5196540" cy="19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50" name="tst_hl10"/>
          <p:cNvSpPr/>
          <p:nvPr/>
        </p:nvSpPr>
        <p:spPr>
          <a:xfrm>
            <a:off x="6300216" y="3793260"/>
            <a:ext cx="5196540" cy="19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51" name="tst_hl11"/>
          <p:cNvSpPr/>
          <p:nvPr/>
        </p:nvSpPr>
        <p:spPr>
          <a:xfrm>
            <a:off x="6300216" y="3951260"/>
            <a:ext cx="5196540" cy="19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52" name="tst_hl12"/>
          <p:cNvSpPr/>
          <p:nvPr/>
        </p:nvSpPr>
        <p:spPr>
          <a:xfrm>
            <a:off x="6300216" y="4109260"/>
            <a:ext cx="5196540" cy="19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53" name="tst_hl13"/>
          <p:cNvSpPr/>
          <p:nvPr/>
        </p:nvSpPr>
        <p:spPr>
          <a:xfrm>
            <a:off x="6300216" y="4267260"/>
            <a:ext cx="5196540" cy="194576"/>
          </a:xfrm>
          <a:prstGeom prst="rect">
            <a:avLst/>
          </a:prstGeom>
          <a:solidFill>
            <a:srgbClr val="F87171">
              <a:alpha val="15000"/>
            </a:srgbClr>
          </a:solidFill>
          <a:ln w="12700">
            <a:solidFill>
              <a:srgbClr val="F87171"/>
            </a:solidFill>
            <a:prstDash val="solid"/>
          </a:ln>
        </p:spPr>
        <p:txBody>
          <a:bodyPr/>
          <a:lstStyle/>
          <a:p>
            <a:endParaRPr lang="en-US"/>
          </a:p>
        </p:txBody>
      </p:sp>
    </p:spTree>
    <p:extLst>
      <p:ext uri="{BB962C8B-B14F-4D97-AF65-F5344CB8AC3E}">
        <p14:creationId xmlns:p14="http://schemas.microsoft.com/office/powerpoint/2010/main" val="511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1"/>
                                        </p:tgtEl>
                                        <p:attrNameLst>
                                          <p:attrName>style.visibility</p:attrName>
                                        </p:attrNameLst>
                                      </p:cBhvr>
                                      <p:to>
                                        <p:strVal val="visible"/>
                                      </p:to>
                                    </p:set>
                                    <p:animEffect transition="in" filter="fade">
                                      <p:cBhvr>
                                        <p:cTn id="10" dur="400"/>
                                        <p:tgtEl>
                                          <p:spTgt spid="1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2"/>
                                        </p:tgtEl>
                                        <p:attrNameLst>
                                          <p:attrName>style.visibility</p:attrName>
                                        </p:attrNameLst>
                                      </p:cBhvr>
                                      <p:to>
                                        <p:strVal val="visible"/>
                                      </p:to>
                                    </p:set>
                                    <p:animEffect transition="in" filter="fade">
                                      <p:cBhvr>
                                        <p:cTn id="13" dur="400"/>
                                        <p:tgtEl>
                                          <p:spTgt spid="1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2"/>
                                        </p:tgtEl>
                                        <p:attrNameLst>
                                          <p:attrName>style.visibility</p:attrName>
                                        </p:attrNameLst>
                                      </p:cBhvr>
                                      <p:to>
                                        <p:strVal val="visible"/>
                                      </p:to>
                                    </p:set>
                                    <p:animEffect transition="in" filter="fade">
                                      <p:cBhvr>
                                        <p:cTn id="18" dur="400"/>
                                        <p:tgtEl>
                                          <p:spTgt spid="102"/>
                                        </p:tgtEl>
                                      </p:cBhvr>
                                    </p:animEffect>
                                  </p:childTnLst>
                                </p:cTn>
                              </p:par>
                              <p:par>
                                <p:cTn id="19" presetID="10" presetClass="entr" presetSubtype="0" fill="hold" nodeType="withEffect">
                                  <p:stCondLst>
                                    <p:cond delay="0"/>
                                  </p:stCondLst>
                                  <p:childTnLst>
                                    <p:set>
                                      <p:cBhvr>
                                        <p:cTn id="20" dur="1" fill="hold">
                                          <p:stCondLst>
                                            <p:cond delay="0"/>
                                          </p:stCondLst>
                                        </p:cTn>
                                        <p:tgtEl>
                                          <p:spTgt spid="148"/>
                                        </p:tgtEl>
                                        <p:attrNameLst>
                                          <p:attrName>style.visibility</p:attrName>
                                        </p:attrNameLst>
                                      </p:cBhvr>
                                      <p:to>
                                        <p:strVal val="visible"/>
                                      </p:to>
                                    </p:set>
                                    <p:animEffect transition="in" filter="fade">
                                      <p:cBhvr>
                                        <p:cTn id="21" dur="400"/>
                                        <p:tgtEl>
                                          <p:spTgt spid="14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9"/>
                                        </p:tgtEl>
                                        <p:attrNameLst>
                                          <p:attrName>style.visibility</p:attrName>
                                        </p:attrNameLst>
                                      </p:cBhvr>
                                      <p:to>
                                        <p:strVal val="visible"/>
                                      </p:to>
                                    </p:set>
                                    <p:animEffect transition="in" filter="fade">
                                      <p:cBhvr>
                                        <p:cTn id="24" dur="400"/>
                                        <p:tgtEl>
                                          <p:spTgt spid="14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0"/>
                                        </p:tgtEl>
                                        <p:attrNameLst>
                                          <p:attrName>style.visibility</p:attrName>
                                        </p:attrNameLst>
                                      </p:cBhvr>
                                      <p:to>
                                        <p:strVal val="visible"/>
                                      </p:to>
                                    </p:set>
                                    <p:animEffect transition="in" filter="fade">
                                      <p:cBhvr>
                                        <p:cTn id="27" dur="400"/>
                                        <p:tgtEl>
                                          <p:spTgt spid="15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1"/>
                                        </p:tgtEl>
                                        <p:attrNameLst>
                                          <p:attrName>style.visibility</p:attrName>
                                        </p:attrNameLst>
                                      </p:cBhvr>
                                      <p:to>
                                        <p:strVal val="visible"/>
                                      </p:to>
                                    </p:set>
                                    <p:animEffect transition="in" filter="fade">
                                      <p:cBhvr>
                                        <p:cTn id="30" dur="400"/>
                                        <p:tgtEl>
                                          <p:spTgt spid="15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2"/>
                                        </p:tgtEl>
                                        <p:attrNameLst>
                                          <p:attrName>style.visibility</p:attrName>
                                        </p:attrNameLst>
                                      </p:cBhvr>
                                      <p:to>
                                        <p:strVal val="visible"/>
                                      </p:to>
                                    </p:set>
                                    <p:animEffect transition="in" filter="fade">
                                      <p:cBhvr>
                                        <p:cTn id="33" dur="400"/>
                                        <p:tgtEl>
                                          <p:spTgt spid="15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3"/>
                                        </p:tgtEl>
                                        <p:attrNameLst>
                                          <p:attrName>style.visibility</p:attrName>
                                        </p:attrNameLst>
                                      </p:cBhvr>
                                      <p:to>
                                        <p:strVal val="visible"/>
                                      </p:to>
                                    </p:set>
                                    <p:animEffect transition="in" filter="fade">
                                      <p:cBhvr>
                                        <p:cTn id="36" dur="4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2" grpId="0" animBg="1"/>
      <p:bldP spid="149" grpId="0" animBg="1"/>
      <p:bldP spid="150" grpId="0" animBg="1"/>
      <p:bldP spid="151" grpId="0" animBg="1"/>
      <p:bldP spid="152" grpId="0" animBg="1"/>
      <p:bldP spid="153"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724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DELIVERY FEE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3: StandardFeeStrategy (BR-18)</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138</a:t>
            </a:r>
            <a:endParaRPr lang="en-US" sz="850" dirty="0"/>
          </a:p>
        </p:txBody>
      </p:sp>
      <p:sp>
        <p:nvSpPr>
          <p:cNvPr id="101" name="cl"/>
          <p:cNvSpPr txBox="1"/>
          <p:nvPr/>
        </p:nvSpPr>
        <p:spPr>
          <a:xfrm>
            <a:off x="543154" y="1463040"/>
            <a:ext cx="64008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7172554" y="1463040"/>
            <a:ext cx="4457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3" name="cls"/>
          <p:cNvGrpSpPr/>
          <p:nvPr/>
        </p:nvGrpSpPr>
        <p:grpSpPr>
          <a:xfrm>
            <a:off x="543154" y="1755648"/>
            <a:ext cx="6400800" cy="2995900"/>
            <a:chOff x="543154" y="1755648"/>
            <a:chExt cx="6400800" cy="2995900"/>
          </a:xfrm>
        </p:grpSpPr>
        <p:sp>
          <p:nvSpPr>
            <p:cNvPr id="103" name="cls_win"/>
            <p:cNvSpPr/>
            <p:nvPr/>
          </p:nvSpPr>
          <p:spPr>
            <a:xfrm>
              <a:off x="543154" y="1755648"/>
              <a:ext cx="6400800" cy="2995900"/>
            </a:xfrm>
            <a:prstGeom prst="roundRect">
              <a:avLst>
                <a:gd name="adj" fmla="val 2288"/>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64008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640080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3940508"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src/SwiftBite.Business/Pricing/StandardFeeStrategy.cs</a:t>
              </a:r>
              <a:endParaRPr lang="en-US" sz="950" dirty="0"/>
            </a:p>
          </p:txBody>
        </p:sp>
        <p:sp>
          <p:nvSpPr>
            <p:cNvPr id="110" name="cls_L00"/>
            <p:cNvSpPr txBox="1"/>
            <p:nvPr/>
          </p:nvSpPr>
          <p:spPr>
            <a:xfrm>
              <a:off x="771754" y="2231548"/>
              <a:ext cx="6100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class</a:t>
              </a:r>
              <a:r>
                <a:rPr lang="en-US" sz="760" b="0" dirty="0">
                  <a:solidFill>
                    <a:srgbClr val="E2E8F0"/>
                  </a:solidFill>
                  <a:latin typeface="Consolas"/>
                  <a:ea typeface="Consolas"/>
                  <a:cs typeface="Consolas"/>
                </a:rPr>
                <a:t> StandardFeeStrategy : IDeliveryFeeStrategy     </a:t>
              </a:r>
              <a:r>
                <a:rPr lang="en-US" sz="760" b="0" dirty="0">
                  <a:solidFill>
                    <a:srgbClr val="6FAE7A"/>
                  </a:solidFill>
                  <a:latin typeface="Consolas"/>
                  <a:ea typeface="Consolas"/>
                  <a:cs typeface="Consolas"/>
                </a:rPr>
                <a:t>// BR-18</a:t>
              </a:r>
              <a:endParaRPr lang="en-US" sz="760" dirty="0"/>
            </a:p>
          </p:txBody>
        </p:sp>
        <p:sp>
          <p:nvSpPr>
            <p:cNvPr id="111" name="cls_L01"/>
            <p:cNvSpPr txBox="1"/>
            <p:nvPr/>
          </p:nvSpPr>
          <p:spPr>
            <a:xfrm>
              <a:off x="771754" y="2391548"/>
              <a:ext cx="6100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2" name="cls_L02"/>
            <p:cNvSpPr txBox="1"/>
            <p:nvPr/>
          </p:nvSpPr>
          <p:spPr>
            <a:xfrm>
              <a:off x="771754" y="2551548"/>
              <a:ext cx="6100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string</a:t>
              </a:r>
              <a:r>
                <a:rPr lang="en-US" sz="760" b="0" dirty="0">
                  <a:solidFill>
                    <a:srgbClr val="E2E8F0"/>
                  </a:solidFill>
                  <a:latin typeface="Consolas"/>
                  <a:ea typeface="Consolas"/>
                  <a:cs typeface="Consolas"/>
                </a:rPr>
                <a:t> Name =&gt; </a:t>
              </a:r>
              <a:r>
                <a:rPr lang="en-US" sz="760" b="0" dirty="0">
                  <a:solidFill>
                    <a:srgbClr val="F0A98B"/>
                  </a:solidFill>
                  <a:latin typeface="Consolas"/>
                  <a:ea typeface="Consolas"/>
                  <a:cs typeface="Consolas"/>
                </a:rPr>
                <a:t>"Standard"</a:t>
              </a:r>
              <a:r>
                <a:rPr lang="en-US" sz="760" b="0" dirty="0">
                  <a:solidFill>
                    <a:srgbClr val="E2E8F0"/>
                  </a:solidFill>
                  <a:latin typeface="Consolas"/>
                  <a:ea typeface="Consolas"/>
                  <a:cs typeface="Consolas"/>
                </a:rPr>
                <a:t>;</a:t>
              </a:r>
              <a:endParaRPr lang="en-US" sz="760" dirty="0"/>
            </a:p>
          </p:txBody>
        </p:sp>
        <p:sp>
          <p:nvSpPr>
            <p:cNvPr id="113" name="cls_L04"/>
            <p:cNvSpPr txBox="1"/>
            <p:nvPr/>
          </p:nvSpPr>
          <p:spPr>
            <a:xfrm>
              <a:off x="771754" y="2871548"/>
              <a:ext cx="6100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bool</a:t>
              </a:r>
              <a:r>
                <a:rPr lang="en-US" sz="760" b="0" dirty="0">
                  <a:solidFill>
                    <a:srgbClr val="E2E8F0"/>
                  </a:solidFill>
                  <a:latin typeface="Consolas"/>
                  <a:ea typeface="Consolas"/>
                  <a:cs typeface="Consolas"/>
                </a:rPr>
                <a:t> AppliesTo(DeliveryContext context) =&gt;</a:t>
              </a:r>
              <a:endParaRPr lang="en-US" sz="760" dirty="0"/>
            </a:p>
          </p:txBody>
        </p:sp>
        <p:sp>
          <p:nvSpPr>
            <p:cNvPr id="114" name="cls_L05"/>
            <p:cNvSpPr txBox="1"/>
            <p:nvPr/>
          </p:nvSpPr>
          <p:spPr>
            <a:xfrm>
              <a:off x="771754" y="3031548"/>
              <a:ext cx="610080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E2E8F0"/>
                  </a:solidFill>
                  <a:latin typeface="Consolas"/>
                  <a:ea typeface="Consolas"/>
                  <a:cs typeface="Consolas"/>
                </a:rPr>
                <a:t>!CompanyPolicy.Instance.IsPeakHour(context.OrderTime);</a:t>
              </a:r>
              <a:endParaRPr lang="en-US" sz="760" dirty="0"/>
            </a:p>
          </p:txBody>
        </p:sp>
        <p:sp>
          <p:nvSpPr>
            <p:cNvPr id="115" name="cls_L07"/>
            <p:cNvSpPr txBox="1"/>
            <p:nvPr/>
          </p:nvSpPr>
          <p:spPr>
            <a:xfrm>
              <a:off x="771754" y="3351548"/>
              <a:ext cx="6100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static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 DistanceFee(</a:t>
              </a:r>
              <a:r>
                <a:rPr lang="en-US" sz="760" b="0" dirty="0">
                  <a:solidFill>
                    <a:srgbClr val="60A5FA"/>
                  </a:solidFill>
                  <a:latin typeface="Consolas"/>
                  <a:ea typeface="Consolas"/>
                  <a:cs typeface="Consolas"/>
                </a:rPr>
                <a:t>double</a:t>
              </a:r>
              <a:r>
                <a:rPr lang="en-US" sz="760" b="0" dirty="0">
                  <a:solidFill>
                    <a:srgbClr val="E2E8F0"/>
                  </a:solidFill>
                  <a:latin typeface="Consolas"/>
                  <a:ea typeface="Consolas"/>
                  <a:cs typeface="Consolas"/>
                </a:rPr>
                <a:t> distanceKm)</a:t>
              </a:r>
              <a:endParaRPr lang="en-US" sz="760" dirty="0"/>
            </a:p>
          </p:txBody>
        </p:sp>
        <p:sp>
          <p:nvSpPr>
            <p:cNvPr id="116" name="cls_L08"/>
            <p:cNvSpPr txBox="1"/>
            <p:nvPr/>
          </p:nvSpPr>
          <p:spPr>
            <a:xfrm>
              <a:off x="771754" y="3511548"/>
              <a:ext cx="6100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17" name="cls_L09"/>
            <p:cNvSpPr txBox="1"/>
            <p:nvPr/>
          </p:nvSpPr>
          <p:spPr>
            <a:xfrm>
              <a:off x="771754" y="3671548"/>
              <a:ext cx="610080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var</a:t>
              </a:r>
              <a:r>
                <a:rPr lang="en-US" sz="760" b="0" dirty="0">
                  <a:solidFill>
                    <a:srgbClr val="E2E8F0"/>
                  </a:solidFill>
                  <a:latin typeface="Consolas"/>
                  <a:ea typeface="Consolas"/>
                  <a:cs typeface="Consolas"/>
                </a:rPr>
                <a:t> policy = CompanyPolicy.Instance;           </a:t>
              </a:r>
              <a:r>
                <a:rPr lang="en-US" sz="760" b="0" dirty="0">
                  <a:solidFill>
                    <a:srgbClr val="6FAE7A"/>
                  </a:solidFill>
                  <a:latin typeface="Consolas"/>
                  <a:ea typeface="Consolas"/>
                  <a:cs typeface="Consolas"/>
                </a:rPr>
                <a:t>// 15 EGP, 3 km, 4 EGP</a:t>
              </a:r>
              <a:endParaRPr lang="en-US" sz="760" dirty="0"/>
            </a:p>
          </p:txBody>
        </p:sp>
        <p:sp>
          <p:nvSpPr>
            <p:cNvPr id="118" name="cls_L10"/>
            <p:cNvSpPr txBox="1"/>
            <p:nvPr/>
          </p:nvSpPr>
          <p:spPr>
            <a:xfrm>
              <a:off x="771754" y="3831548"/>
              <a:ext cx="610080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double</a:t>
              </a:r>
              <a:r>
                <a:rPr lang="en-US" sz="760" b="0" dirty="0">
                  <a:solidFill>
                    <a:srgbClr val="E2E8F0"/>
                  </a:solidFill>
                  <a:latin typeface="Consolas"/>
                  <a:ea typeface="Consolas"/>
                  <a:cs typeface="Consolas"/>
                </a:rPr>
                <a:t> extraKm = Math.Max(0,</a:t>
              </a:r>
              <a:endParaRPr lang="en-US" sz="760" dirty="0"/>
            </a:p>
          </p:txBody>
        </p:sp>
        <p:sp>
          <p:nvSpPr>
            <p:cNvPr id="119" name="cls_L11"/>
            <p:cNvSpPr txBox="1"/>
            <p:nvPr/>
          </p:nvSpPr>
          <p:spPr>
            <a:xfrm>
              <a:off x="771754" y="3991548"/>
              <a:ext cx="6100800" cy="16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60" b="0" dirty="0">
                  <a:solidFill>
                    <a:srgbClr val="E2E8F0"/>
                  </a:solidFill>
                  <a:latin typeface="Consolas"/>
                  <a:ea typeface="Consolas"/>
                  <a:cs typeface="Consolas"/>
                </a:rPr>
                <a:t>Math.Ceiling(Math.Round(distanceKm - policy.StandardBaseKm, 2)));</a:t>
              </a:r>
              <a:endParaRPr lang="en-US" sz="760" dirty="0"/>
            </a:p>
          </p:txBody>
        </p:sp>
        <p:sp>
          <p:nvSpPr>
            <p:cNvPr id="120" name="cls_L12"/>
            <p:cNvSpPr txBox="1"/>
            <p:nvPr/>
          </p:nvSpPr>
          <p:spPr>
            <a:xfrm>
              <a:off x="771754" y="4151548"/>
              <a:ext cx="6100800" cy="16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60" b="0" dirty="0">
                  <a:solidFill>
                    <a:srgbClr val="60A5FA"/>
                  </a:solidFill>
                  <a:latin typeface="Consolas"/>
                  <a:ea typeface="Consolas"/>
                  <a:cs typeface="Consolas"/>
                </a:rPr>
                <a:t>return</a:t>
              </a:r>
              <a:r>
                <a:rPr lang="en-US" sz="760" b="0" dirty="0">
                  <a:solidFill>
                    <a:srgbClr val="E2E8F0"/>
                  </a:solidFill>
                  <a:latin typeface="Consolas"/>
                  <a:ea typeface="Consolas"/>
                  <a:cs typeface="Consolas"/>
                </a:rPr>
                <a:t> policy.StandardBaseFee + (</a:t>
              </a: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)extraKm * policy.FeePerExtraKm;</a:t>
              </a:r>
              <a:endParaRPr lang="en-US" sz="760" dirty="0"/>
            </a:p>
          </p:txBody>
        </p:sp>
        <p:sp>
          <p:nvSpPr>
            <p:cNvPr id="121" name="cls_L13"/>
            <p:cNvSpPr txBox="1"/>
            <p:nvPr/>
          </p:nvSpPr>
          <p:spPr>
            <a:xfrm>
              <a:off x="771754" y="4311548"/>
              <a:ext cx="61008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22" name="cls_L14"/>
            <p:cNvSpPr txBox="1"/>
            <p:nvPr/>
          </p:nvSpPr>
          <p:spPr>
            <a:xfrm>
              <a:off x="771754" y="4471548"/>
              <a:ext cx="61008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24" name="cls_hl10"/>
          <p:cNvSpPr/>
          <p:nvPr/>
        </p:nvSpPr>
        <p:spPr>
          <a:xfrm>
            <a:off x="676656" y="3813260"/>
            <a:ext cx="6133800" cy="19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5" name="cls_hl11"/>
          <p:cNvSpPr/>
          <p:nvPr/>
        </p:nvSpPr>
        <p:spPr>
          <a:xfrm>
            <a:off x="676656" y="3973260"/>
            <a:ext cx="6133800" cy="19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5" name="tst"/>
          <p:cNvGrpSpPr/>
          <p:nvPr/>
        </p:nvGrpSpPr>
        <p:grpSpPr>
          <a:xfrm>
            <a:off x="7172554" y="1755648"/>
            <a:ext cx="4457700" cy="2675900"/>
            <a:chOff x="7172554" y="1755648"/>
            <a:chExt cx="4457700" cy="2675900"/>
          </a:xfrm>
        </p:grpSpPr>
        <p:sp>
          <p:nvSpPr>
            <p:cNvPr id="126" name="tst_win"/>
            <p:cNvSpPr/>
            <p:nvPr/>
          </p:nvSpPr>
          <p:spPr>
            <a:xfrm>
              <a:off x="7172554" y="1755648"/>
              <a:ext cx="4457700" cy="2675900"/>
            </a:xfrm>
            <a:prstGeom prst="roundRect">
              <a:avLst>
                <a:gd name="adj" fmla="val 2561"/>
              </a:avLst>
            </a:prstGeom>
            <a:solidFill>
              <a:srgbClr val="060D18"/>
            </a:solidFill>
            <a:ln w="12700">
              <a:solidFill>
                <a:srgbClr val="1E3A5F"/>
              </a:solidFill>
              <a:prstDash val="solid"/>
            </a:ln>
          </p:spPr>
          <p:txBody>
            <a:bodyPr/>
            <a:lstStyle/>
            <a:p>
              <a:endParaRPr lang="en-US"/>
            </a:p>
          </p:txBody>
        </p:sp>
        <p:sp>
          <p:nvSpPr>
            <p:cNvPr id="127" name="tst_bar"/>
            <p:cNvSpPr/>
            <p:nvPr/>
          </p:nvSpPr>
          <p:spPr>
            <a:xfrm>
              <a:off x="7172554" y="1755648"/>
              <a:ext cx="44577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8" name="tst_barfill"/>
            <p:cNvSpPr/>
            <p:nvPr/>
          </p:nvSpPr>
          <p:spPr>
            <a:xfrm>
              <a:off x="7172554" y="1927098"/>
              <a:ext cx="4457700" cy="171450"/>
            </a:xfrm>
            <a:prstGeom prst="rect">
              <a:avLst/>
            </a:prstGeom>
            <a:solidFill>
              <a:srgbClr val="0A1220"/>
            </a:solidFill>
            <a:ln w="12700">
              <a:solidFill>
                <a:srgbClr val="0A1220"/>
              </a:solidFill>
              <a:prstDash val="solid"/>
            </a:ln>
          </p:spPr>
          <p:txBody>
            <a:bodyPr/>
            <a:lstStyle/>
            <a:p>
              <a:endParaRPr lang="en-US"/>
            </a:p>
          </p:txBody>
        </p:sp>
        <p:sp>
          <p:nvSpPr>
            <p:cNvPr id="129" name="tst_dot0"/>
            <p:cNvSpPr/>
            <p:nvPr/>
          </p:nvSpPr>
          <p:spPr>
            <a:xfrm>
              <a:off x="73344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0" name="tst_dot1"/>
            <p:cNvSpPr/>
            <p:nvPr/>
          </p:nvSpPr>
          <p:spPr>
            <a:xfrm>
              <a:off x="75200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1" name="tst_dot2"/>
            <p:cNvSpPr/>
            <p:nvPr/>
          </p:nvSpPr>
          <p:spPr>
            <a:xfrm>
              <a:off x="77056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2" name="tst_tab"/>
            <p:cNvSpPr/>
            <p:nvPr/>
          </p:nvSpPr>
          <p:spPr>
            <a:xfrm>
              <a:off x="7953451" y="1803197"/>
              <a:ext cx="2714298"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Pricing/StandardFeeStrategyTests.cs</a:t>
              </a:r>
              <a:endParaRPr lang="en-US" sz="950" dirty="0"/>
            </a:p>
          </p:txBody>
        </p:sp>
        <p:sp>
          <p:nvSpPr>
            <p:cNvPr id="133" name="tst_L00"/>
            <p:cNvSpPr txBox="1"/>
            <p:nvPr/>
          </p:nvSpPr>
          <p:spPr>
            <a:xfrm>
              <a:off x="7401154" y="223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[Theory]</a:t>
              </a:r>
              <a:endParaRPr lang="en-US" sz="760" dirty="0"/>
            </a:p>
          </p:txBody>
        </p:sp>
        <p:sp>
          <p:nvSpPr>
            <p:cNvPr id="134" name="tst_L01"/>
            <p:cNvSpPr txBox="1"/>
            <p:nvPr/>
          </p:nvSpPr>
          <p:spPr>
            <a:xfrm>
              <a:off x="7401154" y="239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[InlineData(1.0, 15)]</a:t>
              </a:r>
              <a:endParaRPr lang="en-US" sz="760" dirty="0"/>
            </a:p>
          </p:txBody>
        </p:sp>
        <p:sp>
          <p:nvSpPr>
            <p:cNvPr id="135" name="tst_L02"/>
            <p:cNvSpPr txBox="1"/>
            <p:nvPr/>
          </p:nvSpPr>
          <p:spPr>
            <a:xfrm>
              <a:off x="7401154" y="255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[InlineData(3.0, 15)]    </a:t>
              </a:r>
              <a:r>
                <a:rPr lang="en-US" sz="760" b="0" dirty="0">
                  <a:solidFill>
                    <a:srgbClr val="6FAE7A"/>
                  </a:solidFill>
                  <a:latin typeface="Consolas"/>
                  <a:ea typeface="Consolas"/>
                  <a:cs typeface="Consolas"/>
                </a:rPr>
                <a:t>// up to 3 km: base fee</a:t>
              </a:r>
              <a:endParaRPr lang="en-US" sz="760" dirty="0"/>
            </a:p>
          </p:txBody>
        </p:sp>
        <p:sp>
          <p:nvSpPr>
            <p:cNvPr id="136" name="tst_L03"/>
            <p:cNvSpPr txBox="1"/>
            <p:nvPr/>
          </p:nvSpPr>
          <p:spPr>
            <a:xfrm>
              <a:off x="7401154" y="271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[InlineData(3.2, 19)]    </a:t>
              </a:r>
              <a:r>
                <a:rPr lang="en-US" sz="760" b="0" dirty="0">
                  <a:solidFill>
                    <a:srgbClr val="6FAE7A"/>
                  </a:solidFill>
                  <a:latin typeface="Consolas"/>
                  <a:ea typeface="Consolas"/>
                  <a:cs typeface="Consolas"/>
                </a:rPr>
                <a:t>// a started km counts</a:t>
              </a:r>
              <a:endParaRPr lang="en-US" sz="760" dirty="0"/>
            </a:p>
          </p:txBody>
        </p:sp>
        <p:sp>
          <p:nvSpPr>
            <p:cNvPr id="137" name="tst_L04"/>
            <p:cNvSpPr txBox="1"/>
            <p:nvPr/>
          </p:nvSpPr>
          <p:spPr>
            <a:xfrm>
              <a:off x="7401154" y="287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[InlineData(5.0, 23)]</a:t>
              </a:r>
              <a:endParaRPr lang="en-US" sz="760" dirty="0"/>
            </a:p>
          </p:txBody>
        </p:sp>
        <p:sp>
          <p:nvSpPr>
            <p:cNvPr id="138" name="tst_L05"/>
            <p:cNvSpPr txBox="1"/>
            <p:nvPr/>
          </p:nvSpPr>
          <p:spPr>
            <a:xfrm>
              <a:off x="7401154" y="303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[InlineData(7.0, 31)]</a:t>
              </a:r>
              <a:endParaRPr lang="en-US" sz="760" dirty="0"/>
            </a:p>
          </p:txBody>
        </p:sp>
        <p:sp>
          <p:nvSpPr>
            <p:cNvPr id="139" name="tst_L06"/>
            <p:cNvSpPr txBox="1"/>
            <p:nvPr/>
          </p:nvSpPr>
          <p:spPr>
            <a:xfrm>
              <a:off x="7401154" y="319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60A5FA"/>
                  </a:solidFill>
                  <a:latin typeface="Consolas"/>
                  <a:ea typeface="Consolas"/>
                  <a:cs typeface="Consolas"/>
                </a:rPr>
                <a:t>public</a:t>
              </a:r>
              <a:r>
                <a:rPr lang="en-US" sz="760" b="0" dirty="0">
                  <a:solidFill>
                    <a:srgbClr val="E2E8F0"/>
                  </a:solidFill>
                  <a:latin typeface="Consolas"/>
                  <a:ea typeface="Consolas"/>
                  <a:cs typeface="Consolas"/>
                </a:rPr>
                <a:t> </a:t>
              </a:r>
              <a:r>
                <a:rPr lang="en-US" sz="760" b="0" dirty="0">
                  <a:solidFill>
                    <a:srgbClr val="60A5FA"/>
                  </a:solidFill>
                  <a:latin typeface="Consolas"/>
                  <a:ea typeface="Consolas"/>
                  <a:cs typeface="Consolas"/>
                </a:rPr>
                <a:t>void</a:t>
              </a:r>
              <a:r>
                <a:rPr lang="en-US" sz="760" b="0" dirty="0">
                  <a:solidFill>
                    <a:srgbClr val="E2E8F0"/>
                  </a:solidFill>
                  <a:latin typeface="Consolas"/>
                  <a:ea typeface="Consolas"/>
                  <a:cs typeface="Consolas"/>
                </a:rPr>
                <a:t> DistanceFee_ByDistance(</a:t>
              </a:r>
              <a:endParaRPr lang="en-US" sz="760" dirty="0"/>
            </a:p>
          </p:txBody>
        </p:sp>
        <p:sp>
          <p:nvSpPr>
            <p:cNvPr id="140" name="tst_L07"/>
            <p:cNvSpPr txBox="1"/>
            <p:nvPr/>
          </p:nvSpPr>
          <p:spPr>
            <a:xfrm>
              <a:off x="7401154" y="3351548"/>
              <a:ext cx="4157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double</a:t>
              </a:r>
              <a:r>
                <a:rPr lang="en-US" sz="760" b="0" dirty="0">
                  <a:solidFill>
                    <a:srgbClr val="E2E8F0"/>
                  </a:solidFill>
                  <a:latin typeface="Consolas"/>
                  <a:ea typeface="Consolas"/>
                  <a:cs typeface="Consolas"/>
                </a:rPr>
                <a:t> km, </a:t>
              </a:r>
              <a:r>
                <a:rPr lang="en-US" sz="760" b="0" dirty="0">
                  <a:solidFill>
                    <a:srgbClr val="60A5FA"/>
                  </a:solidFill>
                  <a:latin typeface="Consolas"/>
                  <a:ea typeface="Consolas"/>
                  <a:cs typeface="Consolas"/>
                </a:rPr>
                <a:t>int</a:t>
              </a:r>
              <a:r>
                <a:rPr lang="en-US" sz="760" b="0" dirty="0">
                  <a:solidFill>
                    <a:srgbClr val="E2E8F0"/>
                  </a:solidFill>
                  <a:latin typeface="Consolas"/>
                  <a:ea typeface="Consolas"/>
                  <a:cs typeface="Consolas"/>
                </a:rPr>
                <a:t> expectedFee)</a:t>
              </a:r>
              <a:endParaRPr lang="en-US" sz="760" dirty="0"/>
            </a:p>
          </p:txBody>
        </p:sp>
        <p:sp>
          <p:nvSpPr>
            <p:cNvPr id="141" name="tst_L08"/>
            <p:cNvSpPr txBox="1"/>
            <p:nvPr/>
          </p:nvSpPr>
          <p:spPr>
            <a:xfrm>
              <a:off x="7401154" y="351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sp>
          <p:nvSpPr>
            <p:cNvPr id="142" name="tst_L09"/>
            <p:cNvSpPr txBox="1"/>
            <p:nvPr/>
          </p:nvSpPr>
          <p:spPr>
            <a:xfrm>
              <a:off x="7401154" y="3671548"/>
              <a:ext cx="4157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60A5FA"/>
                  </a:solidFill>
                  <a:latin typeface="Consolas"/>
                  <a:ea typeface="Consolas"/>
                  <a:cs typeface="Consolas"/>
                </a:rPr>
                <a:t>decimal</a:t>
              </a:r>
              <a:r>
                <a:rPr lang="en-US" sz="760" b="0" dirty="0">
                  <a:solidFill>
                    <a:srgbClr val="E2E8F0"/>
                  </a:solidFill>
                  <a:latin typeface="Consolas"/>
                  <a:ea typeface="Consolas"/>
                  <a:cs typeface="Consolas"/>
                </a:rPr>
                <a:t> fee = StandardFeeStrategy.DistanceFee(km);</a:t>
              </a:r>
              <a:endParaRPr lang="en-US" sz="760" dirty="0"/>
            </a:p>
          </p:txBody>
        </p:sp>
        <p:sp>
          <p:nvSpPr>
            <p:cNvPr id="143" name="tst_L11"/>
            <p:cNvSpPr txBox="1"/>
            <p:nvPr/>
          </p:nvSpPr>
          <p:spPr>
            <a:xfrm>
              <a:off x="7401154" y="3991548"/>
              <a:ext cx="4157700" cy="16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60" b="0" dirty="0">
                  <a:solidFill>
                    <a:srgbClr val="E2E8F0"/>
                  </a:solidFill>
                  <a:latin typeface="Consolas"/>
                  <a:ea typeface="Consolas"/>
                  <a:cs typeface="Consolas"/>
                </a:rPr>
                <a:t>fee.ShouldBe(expectedFee);</a:t>
              </a:r>
              <a:endParaRPr lang="en-US" sz="760" dirty="0"/>
            </a:p>
          </p:txBody>
        </p:sp>
        <p:sp>
          <p:nvSpPr>
            <p:cNvPr id="144" name="tst_L12"/>
            <p:cNvSpPr txBox="1"/>
            <p:nvPr/>
          </p:nvSpPr>
          <p:spPr>
            <a:xfrm>
              <a:off x="7401154" y="4151548"/>
              <a:ext cx="4157700" cy="16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60" b="0" dirty="0">
                  <a:solidFill>
                    <a:srgbClr val="E2E8F0"/>
                  </a:solidFill>
                  <a:latin typeface="Consolas"/>
                  <a:ea typeface="Consolas"/>
                  <a:cs typeface="Consolas"/>
                </a:rPr>
                <a:t>}</a:t>
              </a:r>
              <a:endParaRPr lang="en-US" sz="760" dirty="0"/>
            </a:p>
          </p:txBody>
        </p:sp>
      </p:grpSp>
      <p:sp>
        <p:nvSpPr>
          <p:cNvPr id="146" name="tst_hl3"/>
          <p:cNvSpPr/>
          <p:nvPr/>
        </p:nvSpPr>
        <p:spPr>
          <a:xfrm>
            <a:off x="7306056" y="2693260"/>
            <a:ext cx="4190700" cy="196576"/>
          </a:xfrm>
          <a:prstGeom prst="rect">
            <a:avLst/>
          </a:prstGeom>
          <a:solidFill>
            <a:srgbClr val="FBBF24">
              <a:alpha val="15000"/>
            </a:srgbClr>
          </a:solidFill>
          <a:ln w="12700">
            <a:solidFill>
              <a:srgbClr val="FBBF24"/>
            </a:solidFill>
            <a:prstDash val="solid"/>
          </a:ln>
        </p:spPr>
        <p:txBody>
          <a:bodyPr/>
          <a:lstStyle/>
          <a:p>
            <a:endParaRPr lang="en-US"/>
          </a:p>
        </p:txBody>
      </p:sp>
    </p:spTree>
    <p:extLst>
      <p:ext uri="{BB962C8B-B14F-4D97-AF65-F5344CB8AC3E}">
        <p14:creationId xmlns:p14="http://schemas.microsoft.com/office/powerpoint/2010/main" val="51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400"/>
                                        <p:tgtEl>
                                          <p:spTgt spid="1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400"/>
                                        <p:tgtEl>
                                          <p:spTgt spid="1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5"/>
                                        </p:tgtEl>
                                        <p:attrNameLst>
                                          <p:attrName>style.visibility</p:attrName>
                                        </p:attrNameLst>
                                      </p:cBhvr>
                                      <p:to>
                                        <p:strVal val="visible"/>
                                      </p:to>
                                    </p:set>
                                    <p:animEffect transition="in" filter="fade">
                                      <p:cBhvr>
                                        <p:cTn id="16" dur="400"/>
                                        <p:tgtEl>
                                          <p:spTgt spid="1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45"/>
                                        </p:tgtEl>
                                        <p:attrNameLst>
                                          <p:attrName>style.visibility</p:attrName>
                                        </p:attrNameLst>
                                      </p:cBhvr>
                                      <p:to>
                                        <p:strVal val="visible"/>
                                      </p:to>
                                    </p:set>
                                    <p:animEffect transition="in" filter="fade">
                                      <p:cBhvr>
                                        <p:cTn id="24" dur="400"/>
                                        <p:tgtEl>
                                          <p:spTgt spid="14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6"/>
                                        </p:tgtEl>
                                        <p:attrNameLst>
                                          <p:attrName>style.visibility</p:attrName>
                                        </p:attrNameLst>
                                      </p:cBhvr>
                                      <p:to>
                                        <p:strVal val="visible"/>
                                      </p:to>
                                    </p:set>
                                    <p:animEffect transition="in" filter="fade">
                                      <p:cBhvr>
                                        <p:cTn id="27" dur="4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4" grpId="0" animBg="1"/>
      <p:bldP spid="125" grpId="0" animBg="1"/>
      <p:bldP spid="146"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COUPON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4: Coupon (BR-17) with MemberData</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139</a:t>
            </a:r>
            <a:endParaRPr lang="en-US" sz="850" dirty="0"/>
          </a:p>
        </p:txBody>
      </p:sp>
      <p:sp>
        <p:nvSpPr>
          <p:cNvPr id="101" name="cl"/>
          <p:cNvSpPr txBox="1"/>
          <p:nvPr/>
        </p:nvSpPr>
        <p:spPr>
          <a:xfrm>
            <a:off x="543154" y="1463040"/>
            <a:ext cx="53492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6120994" y="1463040"/>
            <a:ext cx="55092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2" name="cls"/>
          <p:cNvGrpSpPr/>
          <p:nvPr/>
        </p:nvGrpSpPr>
        <p:grpSpPr>
          <a:xfrm>
            <a:off x="543154" y="1755648"/>
            <a:ext cx="5349240" cy="2545900"/>
            <a:chOff x="543154" y="1755648"/>
            <a:chExt cx="5349240" cy="2545900"/>
          </a:xfrm>
        </p:grpSpPr>
        <p:sp>
          <p:nvSpPr>
            <p:cNvPr id="103" name="cls_win"/>
            <p:cNvSpPr/>
            <p:nvPr/>
          </p:nvSpPr>
          <p:spPr>
            <a:xfrm>
              <a:off x="543154" y="1755648"/>
              <a:ext cx="5349240" cy="2545900"/>
            </a:xfrm>
            <a:prstGeom prst="roundRect">
              <a:avLst>
                <a:gd name="adj" fmla="val 2692"/>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3492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34924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32592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src/SwiftBite.Business/Promotions/Coupon.cs</a:t>
              </a:r>
              <a:endParaRPr lang="en-US" sz="950" dirty="0"/>
            </a:p>
          </p:txBody>
        </p:sp>
        <p:sp>
          <p:nvSpPr>
            <p:cNvPr id="110" name="cls_L00"/>
            <p:cNvSpPr txBox="1"/>
            <p:nvPr/>
          </p:nvSpPr>
          <p:spPr>
            <a:xfrm>
              <a:off x="771754" y="2231548"/>
              <a:ext cx="5049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class</a:t>
              </a:r>
              <a:r>
                <a:rPr lang="en-US" sz="720" b="0" dirty="0">
                  <a:solidFill>
                    <a:srgbClr val="E2E8F0"/>
                  </a:solidFill>
                  <a:latin typeface="Consolas"/>
                  <a:ea typeface="Consolas"/>
                  <a:cs typeface="Consolas"/>
                </a:rPr>
                <a:t> Coupon</a:t>
              </a:r>
              <a:endParaRPr lang="en-US" sz="720" dirty="0"/>
            </a:p>
          </p:txBody>
        </p:sp>
        <p:sp>
          <p:nvSpPr>
            <p:cNvPr id="111" name="cls_L01"/>
            <p:cNvSpPr txBox="1"/>
            <p:nvPr/>
          </p:nvSpPr>
          <p:spPr>
            <a:xfrm>
              <a:off x="771754" y="2381548"/>
              <a:ext cx="5049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12" name="cls_L02"/>
            <p:cNvSpPr txBox="1"/>
            <p:nvPr/>
          </p:nvSpPr>
          <p:spPr>
            <a:xfrm>
              <a:off x="771754" y="2531548"/>
              <a:ext cx="5049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EnsureValid(</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subtotal, DateTime now)      </a:t>
              </a:r>
              <a:r>
                <a:rPr lang="en-US" sz="720" b="0" dirty="0">
                  <a:solidFill>
                    <a:srgbClr val="6FAE7A"/>
                  </a:solidFill>
                  <a:latin typeface="Consolas"/>
                  <a:ea typeface="Consolas"/>
                  <a:cs typeface="Consolas"/>
                </a:rPr>
                <a:t>// BR-17</a:t>
              </a:r>
              <a:endParaRPr lang="en-US" sz="720" dirty="0"/>
            </a:p>
          </p:txBody>
        </p:sp>
        <p:sp>
          <p:nvSpPr>
            <p:cNvPr id="113" name="cls_L03"/>
            <p:cNvSpPr txBox="1"/>
            <p:nvPr/>
          </p:nvSpPr>
          <p:spPr>
            <a:xfrm>
              <a:off x="771754" y="2681548"/>
              <a:ext cx="5049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14" name="cls_L04"/>
            <p:cNvSpPr txBox="1"/>
            <p:nvPr/>
          </p:nvSpPr>
          <p:spPr>
            <a:xfrm>
              <a:off x="771754" y="2831548"/>
              <a:ext cx="50492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Guard.Against(now &lt; ValidFrom || now &gt; ValidTo, </a:t>
              </a:r>
              <a:r>
                <a:rPr lang="en-US" sz="720" b="0" dirty="0">
                  <a:solidFill>
                    <a:srgbClr val="F0A98B"/>
                  </a:solidFill>
                  <a:latin typeface="Consolas"/>
                  <a:ea typeface="Consolas"/>
                  <a:cs typeface="Consolas"/>
                </a:rPr>
                <a:t>"BR-17"</a:t>
              </a:r>
              <a:r>
                <a:rPr lang="en-US" sz="720" b="0" dirty="0">
                  <a:solidFill>
                    <a:srgbClr val="E2E8F0"/>
                  </a:solidFill>
                  <a:latin typeface="Consolas"/>
                  <a:ea typeface="Consolas"/>
                  <a:cs typeface="Consolas"/>
                </a:rPr>
                <a:t>,</a:t>
              </a:r>
              <a:endParaRPr lang="en-US" sz="720" dirty="0"/>
            </a:p>
          </p:txBody>
        </p:sp>
        <p:sp>
          <p:nvSpPr>
            <p:cNvPr id="115" name="cls_L05"/>
            <p:cNvSpPr txBox="1"/>
            <p:nvPr/>
          </p:nvSpPr>
          <p:spPr>
            <a:xfrm>
              <a:off x="771754" y="2981548"/>
              <a:ext cx="504924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20" b="0" dirty="0">
                  <a:solidFill>
                    <a:srgbClr val="F0A98B"/>
                  </a:solidFill>
                  <a:latin typeface="Consolas"/>
                  <a:ea typeface="Consolas"/>
                  <a:cs typeface="Consolas"/>
                </a:rPr>
                <a:t>$"Coupon {Code} is expired or not active yet."</a:t>
              </a:r>
              <a:r>
                <a:rPr lang="en-US" sz="720" b="0" dirty="0">
                  <a:solidFill>
                    <a:srgbClr val="E2E8F0"/>
                  </a:solidFill>
                  <a:latin typeface="Consolas"/>
                  <a:ea typeface="Consolas"/>
                  <a:cs typeface="Consolas"/>
                </a:rPr>
                <a:t>);</a:t>
              </a:r>
              <a:endParaRPr lang="en-US" sz="720" dirty="0"/>
            </a:p>
          </p:txBody>
        </p:sp>
        <p:sp>
          <p:nvSpPr>
            <p:cNvPr id="116" name="cls_L06"/>
            <p:cNvSpPr txBox="1"/>
            <p:nvPr/>
          </p:nvSpPr>
          <p:spPr>
            <a:xfrm>
              <a:off x="771754" y="3131548"/>
              <a:ext cx="50492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Guard.Against(subtotal &lt; MinSubtotal, </a:t>
              </a:r>
              <a:r>
                <a:rPr lang="en-US" sz="720" b="0" dirty="0">
                  <a:solidFill>
                    <a:srgbClr val="F0A98B"/>
                  </a:solidFill>
                  <a:latin typeface="Consolas"/>
                  <a:ea typeface="Consolas"/>
                  <a:cs typeface="Consolas"/>
                </a:rPr>
                <a:t>"BR-17"</a:t>
              </a:r>
              <a:r>
                <a:rPr lang="en-US" sz="720" b="0" dirty="0">
                  <a:solidFill>
                    <a:srgbClr val="E2E8F0"/>
                  </a:solidFill>
                  <a:latin typeface="Consolas"/>
                  <a:ea typeface="Consolas"/>
                  <a:cs typeface="Consolas"/>
                </a:rPr>
                <a:t>,</a:t>
              </a:r>
              <a:endParaRPr lang="en-US" sz="720" dirty="0"/>
            </a:p>
          </p:txBody>
        </p:sp>
        <p:sp>
          <p:nvSpPr>
            <p:cNvPr id="117" name="cls_L07"/>
            <p:cNvSpPr txBox="1"/>
            <p:nvPr/>
          </p:nvSpPr>
          <p:spPr>
            <a:xfrm>
              <a:off x="771754" y="3281548"/>
              <a:ext cx="504924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20" b="0" dirty="0">
                  <a:solidFill>
                    <a:srgbClr val="F0A98B"/>
                  </a:solidFill>
                  <a:latin typeface="Consolas"/>
                  <a:ea typeface="Consolas"/>
                  <a:cs typeface="Consolas"/>
                </a:rPr>
                <a:t>$"Add {MinSubtotal - subtotal:0.00} EGP more to use {Code}."</a:t>
              </a:r>
              <a:r>
                <a:rPr lang="en-US" sz="720" b="0" dirty="0">
                  <a:solidFill>
                    <a:srgbClr val="E2E8F0"/>
                  </a:solidFill>
                  <a:latin typeface="Consolas"/>
                  <a:ea typeface="Consolas"/>
                  <a:cs typeface="Consolas"/>
                </a:rPr>
                <a:t>);</a:t>
              </a:r>
              <a:endParaRPr lang="en-US" sz="720" dirty="0"/>
            </a:p>
          </p:txBody>
        </p:sp>
        <p:sp>
          <p:nvSpPr>
            <p:cNvPr id="118" name="cls_L08"/>
            <p:cNvSpPr txBox="1"/>
            <p:nvPr/>
          </p:nvSpPr>
          <p:spPr>
            <a:xfrm>
              <a:off x="771754" y="3431548"/>
              <a:ext cx="5049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19" name="cls_L10"/>
            <p:cNvSpPr txBox="1"/>
            <p:nvPr/>
          </p:nvSpPr>
          <p:spPr>
            <a:xfrm>
              <a:off x="771754" y="3731548"/>
              <a:ext cx="50492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CalculateDiscount(</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subtotal) =&gt;</a:t>
              </a:r>
              <a:endParaRPr lang="en-US" sz="720" dirty="0"/>
            </a:p>
          </p:txBody>
        </p:sp>
        <p:sp>
          <p:nvSpPr>
            <p:cNvPr id="120" name="cls_L11"/>
            <p:cNvSpPr txBox="1"/>
            <p:nvPr/>
          </p:nvSpPr>
          <p:spPr>
            <a:xfrm>
              <a:off x="771754" y="3881548"/>
              <a:ext cx="50492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Math.Min(Money.Round(subtotal * Percent / 100m), MaxDiscount);</a:t>
              </a:r>
              <a:endParaRPr lang="en-US" sz="720" dirty="0"/>
            </a:p>
          </p:txBody>
        </p:sp>
        <p:sp>
          <p:nvSpPr>
            <p:cNvPr id="121" name="cls_L12"/>
            <p:cNvSpPr txBox="1"/>
            <p:nvPr/>
          </p:nvSpPr>
          <p:spPr>
            <a:xfrm>
              <a:off x="771754" y="4031548"/>
              <a:ext cx="50492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grpSp>
      <p:sp>
        <p:nvSpPr>
          <p:cNvPr id="123" name="cls_hl4"/>
          <p:cNvSpPr/>
          <p:nvPr/>
        </p:nvSpPr>
        <p:spPr>
          <a:xfrm>
            <a:off x="676656" y="2813260"/>
            <a:ext cx="508224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4" name="cls_hl6"/>
          <p:cNvSpPr/>
          <p:nvPr/>
        </p:nvSpPr>
        <p:spPr>
          <a:xfrm>
            <a:off x="676656" y="3113260"/>
            <a:ext cx="508224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5" name="cls_hl11"/>
          <p:cNvSpPr/>
          <p:nvPr/>
        </p:nvSpPr>
        <p:spPr>
          <a:xfrm>
            <a:off x="676656" y="3863260"/>
            <a:ext cx="5082240" cy="18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9" name="tst"/>
          <p:cNvGrpSpPr/>
          <p:nvPr/>
        </p:nvGrpSpPr>
        <p:grpSpPr>
          <a:xfrm>
            <a:off x="6120994" y="1755648"/>
            <a:ext cx="5509260" cy="3445900"/>
            <a:chOff x="6120994" y="1755648"/>
            <a:chExt cx="5509260" cy="3445900"/>
          </a:xfrm>
        </p:grpSpPr>
        <p:sp>
          <p:nvSpPr>
            <p:cNvPr id="126" name="tst_win"/>
            <p:cNvSpPr/>
            <p:nvPr/>
          </p:nvSpPr>
          <p:spPr>
            <a:xfrm>
              <a:off x="6120994" y="1755648"/>
              <a:ext cx="5509260" cy="3445900"/>
            </a:xfrm>
            <a:prstGeom prst="roundRect">
              <a:avLst>
                <a:gd name="adj" fmla="val 1989"/>
              </a:avLst>
            </a:prstGeom>
            <a:solidFill>
              <a:srgbClr val="060D18"/>
            </a:solidFill>
            <a:ln w="12700">
              <a:solidFill>
                <a:srgbClr val="1E3A5F"/>
              </a:solidFill>
              <a:prstDash val="solid"/>
            </a:ln>
          </p:spPr>
          <p:txBody>
            <a:bodyPr/>
            <a:lstStyle/>
            <a:p>
              <a:endParaRPr lang="en-US"/>
            </a:p>
          </p:txBody>
        </p:sp>
        <p:sp>
          <p:nvSpPr>
            <p:cNvPr id="127" name="tst_bar"/>
            <p:cNvSpPr/>
            <p:nvPr/>
          </p:nvSpPr>
          <p:spPr>
            <a:xfrm>
              <a:off x="6120994" y="1755648"/>
              <a:ext cx="55092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8" name="tst_barfill"/>
            <p:cNvSpPr/>
            <p:nvPr/>
          </p:nvSpPr>
          <p:spPr>
            <a:xfrm>
              <a:off x="6120994" y="1927098"/>
              <a:ext cx="5509260" cy="171450"/>
            </a:xfrm>
            <a:prstGeom prst="rect">
              <a:avLst/>
            </a:prstGeom>
            <a:solidFill>
              <a:srgbClr val="0A1220"/>
            </a:solidFill>
            <a:ln w="12700">
              <a:solidFill>
                <a:srgbClr val="0A1220"/>
              </a:solidFill>
              <a:prstDash val="solid"/>
            </a:ln>
          </p:spPr>
          <p:txBody>
            <a:bodyPr/>
            <a:lstStyle/>
            <a:p>
              <a:endParaRPr lang="en-US"/>
            </a:p>
          </p:txBody>
        </p:sp>
        <p:sp>
          <p:nvSpPr>
            <p:cNvPr id="129" name="tst_dot0"/>
            <p:cNvSpPr/>
            <p:nvPr/>
          </p:nvSpPr>
          <p:spPr>
            <a:xfrm>
              <a:off x="628284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0" name="tst_dot1"/>
            <p:cNvSpPr/>
            <p:nvPr/>
          </p:nvSpPr>
          <p:spPr>
            <a:xfrm>
              <a:off x="646846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1" name="tst_dot2"/>
            <p:cNvSpPr/>
            <p:nvPr/>
          </p:nvSpPr>
          <p:spPr>
            <a:xfrm>
              <a:off x="665409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2" name="tst_tab"/>
            <p:cNvSpPr/>
            <p:nvPr/>
          </p:nvSpPr>
          <p:spPr>
            <a:xfrm>
              <a:off x="6901891" y="180319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Promotions/CouponTests.cs</a:t>
              </a:r>
              <a:endParaRPr lang="en-US" sz="950" dirty="0"/>
            </a:p>
          </p:txBody>
        </p:sp>
        <p:sp>
          <p:nvSpPr>
            <p:cNvPr id="133" name="tst_L00"/>
            <p:cNvSpPr txBox="1"/>
            <p:nvPr/>
          </p:nvSpPr>
          <p:spPr>
            <a:xfrm>
              <a:off x="6349594" y="223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private</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static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readonly</a:t>
              </a:r>
              <a:r>
                <a:rPr lang="en-US" sz="720" b="0" dirty="0">
                  <a:solidFill>
                    <a:srgbClr val="E2E8F0"/>
                  </a:solidFill>
                  <a:latin typeface="Consolas"/>
                  <a:ea typeface="Consolas"/>
                  <a:cs typeface="Consolas"/>
                </a:rPr>
                <a:t> Coupon Save20 = Coupon.CreatePercentage(</a:t>
              </a:r>
              <a:r>
                <a:rPr lang="en-US" sz="720" b="0" dirty="0">
                  <a:solidFill>
                    <a:srgbClr val="F0A98B"/>
                  </a:solidFill>
                  <a:latin typeface="Consolas"/>
                  <a:ea typeface="Consolas"/>
                  <a:cs typeface="Consolas"/>
                </a:rPr>
                <a:t>"save20"</a:t>
              </a:r>
              <a:r>
                <a:rPr lang="en-US" sz="720" b="0" dirty="0">
                  <a:solidFill>
                    <a:srgbClr val="E2E8F0"/>
                  </a:solidFill>
                  <a:latin typeface="Consolas"/>
                  <a:ea typeface="Consolas"/>
                  <a:cs typeface="Consolas"/>
                </a:rPr>
                <a:t>,</a:t>
              </a:r>
              <a:endParaRPr lang="en-US" sz="720" dirty="0"/>
            </a:p>
          </p:txBody>
        </p:sp>
        <p:sp>
          <p:nvSpPr>
            <p:cNvPr id="134" name="tst_L01"/>
            <p:cNvSpPr txBox="1"/>
            <p:nvPr/>
          </p:nvSpPr>
          <p:spPr>
            <a:xfrm>
              <a:off x="6349594" y="2381548"/>
              <a:ext cx="52092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percent: 20, maxDiscount: 50, minSubtotal: 80,</a:t>
              </a:r>
              <a:endParaRPr lang="en-US" sz="720" dirty="0"/>
            </a:p>
          </p:txBody>
        </p:sp>
        <p:sp>
          <p:nvSpPr>
            <p:cNvPr id="135" name="tst_L02"/>
            <p:cNvSpPr txBox="1"/>
            <p:nvPr/>
          </p:nvSpPr>
          <p:spPr>
            <a:xfrm>
              <a:off x="6349594" y="2531548"/>
              <a:ext cx="52092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 DateTime(2026, 10, 1), </a:t>
              </a: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 DateTime(2026, 10, 31));</a:t>
              </a:r>
              <a:endParaRPr lang="en-US" sz="720" dirty="0"/>
            </a:p>
          </p:txBody>
        </p:sp>
        <p:sp>
          <p:nvSpPr>
            <p:cNvPr id="136" name="tst_L04"/>
            <p:cNvSpPr txBox="1"/>
            <p:nvPr/>
          </p:nvSpPr>
          <p:spPr>
            <a:xfrm>
              <a:off x="6349594" y="283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static</a:t>
              </a:r>
              <a:r>
                <a:rPr lang="en-US" sz="720" b="0" dirty="0">
                  <a:solidFill>
                    <a:srgbClr val="E2E8F0"/>
                  </a:solidFill>
                  <a:latin typeface="Consolas"/>
                  <a:ea typeface="Consolas"/>
                  <a:cs typeface="Consolas"/>
                </a:rPr>
                <a:t> TheoryData&lt;</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&gt; Discounts =&gt; </a:t>
              </a: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a:t>
              </a:r>
              <a:endParaRPr lang="en-US" sz="720" dirty="0"/>
            </a:p>
          </p:txBody>
        </p:sp>
        <p:sp>
          <p:nvSpPr>
            <p:cNvPr id="137" name="tst_L05"/>
            <p:cNvSpPr txBox="1"/>
            <p:nvPr/>
          </p:nvSpPr>
          <p:spPr>
            <a:xfrm>
              <a:off x="6349594" y="298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38" name="tst_L06"/>
            <p:cNvSpPr txBox="1"/>
            <p:nvPr/>
          </p:nvSpPr>
          <p:spPr>
            <a:xfrm>
              <a:off x="6349594" y="3131548"/>
              <a:ext cx="52092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 100m, 20m }, { 200m, 40m },</a:t>
              </a:r>
              <a:endParaRPr lang="en-US" sz="720" dirty="0"/>
            </a:p>
          </p:txBody>
        </p:sp>
        <p:sp>
          <p:nvSpPr>
            <p:cNvPr id="139" name="tst_L07"/>
            <p:cNvSpPr txBox="1"/>
            <p:nvPr/>
          </p:nvSpPr>
          <p:spPr>
            <a:xfrm>
              <a:off x="6349594" y="3281548"/>
              <a:ext cx="52092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 250m, 50m },    </a:t>
              </a:r>
              <a:r>
                <a:rPr lang="en-US" sz="720" b="0" dirty="0">
                  <a:solidFill>
                    <a:srgbClr val="6FAE7A"/>
                  </a:solidFill>
                  <a:latin typeface="Consolas"/>
                  <a:ea typeface="Consolas"/>
                  <a:cs typeface="Consolas"/>
                </a:rPr>
                <a:t>// exactly the cap</a:t>
              </a:r>
              <a:endParaRPr lang="en-US" sz="720" dirty="0"/>
            </a:p>
          </p:txBody>
        </p:sp>
        <p:sp>
          <p:nvSpPr>
            <p:cNvPr id="140" name="tst_L08"/>
            <p:cNvSpPr txBox="1"/>
            <p:nvPr/>
          </p:nvSpPr>
          <p:spPr>
            <a:xfrm>
              <a:off x="6349594" y="3431548"/>
              <a:ext cx="52092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 400m, 50m },    </a:t>
              </a:r>
              <a:r>
                <a:rPr lang="en-US" sz="720" b="0" dirty="0">
                  <a:solidFill>
                    <a:srgbClr val="6FAE7A"/>
                  </a:solidFill>
                  <a:latin typeface="Consolas"/>
                  <a:ea typeface="Consolas"/>
                  <a:cs typeface="Consolas"/>
                </a:rPr>
                <a:t>// capped</a:t>
              </a:r>
              <a:endParaRPr lang="en-US" sz="720" dirty="0"/>
            </a:p>
          </p:txBody>
        </p:sp>
        <p:sp>
          <p:nvSpPr>
            <p:cNvPr id="141" name="tst_L09"/>
            <p:cNvSpPr txBox="1"/>
            <p:nvPr/>
          </p:nvSpPr>
          <p:spPr>
            <a:xfrm>
              <a:off x="6349594" y="358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42" name="tst_L11"/>
            <p:cNvSpPr txBox="1"/>
            <p:nvPr/>
          </p:nvSpPr>
          <p:spPr>
            <a:xfrm>
              <a:off x="6349594" y="388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[Theory, MemberData(nameof(Discounts))]</a:t>
              </a:r>
              <a:endParaRPr lang="en-US" sz="720" dirty="0"/>
            </a:p>
          </p:txBody>
        </p:sp>
        <p:sp>
          <p:nvSpPr>
            <p:cNvPr id="143" name="tst_L12"/>
            <p:cNvSpPr txBox="1"/>
            <p:nvPr/>
          </p:nvSpPr>
          <p:spPr>
            <a:xfrm>
              <a:off x="6349594" y="403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CalculateDiscount_CappedAt50(</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subtotal, </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expected) =&gt;</a:t>
              </a:r>
              <a:endParaRPr lang="en-US" sz="720" dirty="0"/>
            </a:p>
          </p:txBody>
        </p:sp>
        <p:sp>
          <p:nvSpPr>
            <p:cNvPr id="144" name="tst_L13"/>
            <p:cNvSpPr txBox="1"/>
            <p:nvPr/>
          </p:nvSpPr>
          <p:spPr>
            <a:xfrm>
              <a:off x="6349594" y="4181548"/>
              <a:ext cx="52092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Save20.CalculateDiscount(subtotal).ShouldBe(expected);</a:t>
              </a:r>
              <a:endParaRPr lang="en-US" sz="720" dirty="0"/>
            </a:p>
          </p:txBody>
        </p:sp>
        <p:sp>
          <p:nvSpPr>
            <p:cNvPr id="145" name="tst_L15"/>
            <p:cNvSpPr txBox="1"/>
            <p:nvPr/>
          </p:nvSpPr>
          <p:spPr>
            <a:xfrm>
              <a:off x="6349594" y="448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[Fact]</a:t>
              </a:r>
              <a:endParaRPr lang="en-US" sz="720" dirty="0"/>
            </a:p>
          </p:txBody>
        </p:sp>
        <p:sp>
          <p:nvSpPr>
            <p:cNvPr id="146" name="tst_L16"/>
            <p:cNvSpPr txBox="1"/>
            <p:nvPr/>
          </p:nvSpPr>
          <p:spPr>
            <a:xfrm>
              <a:off x="6349594" y="4631548"/>
              <a:ext cx="52092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EnsureValid_BelowMinimum_SaysHowMuchIsMissing() =&gt;</a:t>
              </a:r>
              <a:endParaRPr lang="en-US" sz="720" dirty="0"/>
            </a:p>
          </p:txBody>
        </p:sp>
        <p:sp>
          <p:nvSpPr>
            <p:cNvPr id="147" name="tst_L17"/>
            <p:cNvSpPr txBox="1"/>
            <p:nvPr/>
          </p:nvSpPr>
          <p:spPr>
            <a:xfrm>
              <a:off x="6349594" y="4781548"/>
              <a:ext cx="52092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Should.Throw&lt;DomainException&gt;(() =&gt; Save20.EnsureValid(60m, TestData.Today))</a:t>
              </a:r>
              <a:endParaRPr lang="en-US" sz="720" dirty="0"/>
            </a:p>
          </p:txBody>
        </p:sp>
        <p:sp>
          <p:nvSpPr>
            <p:cNvPr id="148" name="tst_L18"/>
            <p:cNvSpPr txBox="1"/>
            <p:nvPr/>
          </p:nvSpPr>
          <p:spPr>
            <a:xfrm>
              <a:off x="6349594" y="4931548"/>
              <a:ext cx="52092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  .Message.ShouldContain(</a:t>
              </a:r>
              <a:r>
                <a:rPr lang="en-US" sz="720" b="0" dirty="0">
                  <a:solidFill>
                    <a:srgbClr val="F0A98B"/>
                  </a:solidFill>
                  <a:latin typeface="Consolas"/>
                  <a:ea typeface="Consolas"/>
                  <a:cs typeface="Consolas"/>
                </a:rPr>
                <a:t>"Add 20.00 EGP more"</a:t>
              </a:r>
              <a:r>
                <a:rPr lang="en-US" sz="720" b="0" dirty="0">
                  <a:solidFill>
                    <a:srgbClr val="E2E8F0"/>
                  </a:solidFill>
                  <a:latin typeface="Consolas"/>
                  <a:ea typeface="Consolas"/>
                  <a:cs typeface="Consolas"/>
                </a:rPr>
                <a:t>);</a:t>
              </a:r>
              <a:endParaRPr lang="en-US" sz="720" dirty="0"/>
            </a:p>
          </p:txBody>
        </p:sp>
      </p:grpSp>
      <p:sp>
        <p:nvSpPr>
          <p:cNvPr id="150" name="tst_hl7"/>
          <p:cNvSpPr/>
          <p:nvPr/>
        </p:nvSpPr>
        <p:spPr>
          <a:xfrm>
            <a:off x="6254496" y="3263260"/>
            <a:ext cx="524226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1" name="tst_hl8"/>
          <p:cNvSpPr/>
          <p:nvPr/>
        </p:nvSpPr>
        <p:spPr>
          <a:xfrm>
            <a:off x="6254496" y="3413260"/>
            <a:ext cx="524226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2" name="tst_hl18"/>
          <p:cNvSpPr/>
          <p:nvPr/>
        </p:nvSpPr>
        <p:spPr>
          <a:xfrm>
            <a:off x="6254496" y="4913260"/>
            <a:ext cx="5242260" cy="186576"/>
          </a:xfrm>
          <a:prstGeom prst="rect">
            <a:avLst/>
          </a:prstGeom>
          <a:solidFill>
            <a:srgbClr val="34D399">
              <a:alpha val="15000"/>
            </a:srgbClr>
          </a:solidFill>
          <a:ln w="12700">
            <a:solidFill>
              <a:srgbClr val="34D399"/>
            </a:solidFill>
            <a:prstDash val="solid"/>
          </a:ln>
        </p:spPr>
        <p:txBody>
          <a:bodyPr/>
          <a:lstStyle/>
          <a:p>
            <a:endParaRPr lang="en-US"/>
          </a:p>
        </p:txBody>
      </p:sp>
    </p:spTree>
    <p:extLst>
      <p:ext uri="{BB962C8B-B14F-4D97-AF65-F5344CB8AC3E}">
        <p14:creationId xmlns:p14="http://schemas.microsoft.com/office/powerpoint/2010/main" val="51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2"/>
                                        </p:tgtEl>
                                        <p:attrNameLst>
                                          <p:attrName>style.visibility</p:attrName>
                                        </p:attrNameLst>
                                      </p:cBhvr>
                                      <p:to>
                                        <p:strVal val="visible"/>
                                      </p:to>
                                    </p:set>
                                    <p:animEffect transition="in" filter="fade">
                                      <p:cBhvr>
                                        <p:cTn id="10" dur="400"/>
                                        <p:tgtEl>
                                          <p:spTgt spid="1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3"/>
                                        </p:tgtEl>
                                        <p:attrNameLst>
                                          <p:attrName>style.visibility</p:attrName>
                                        </p:attrNameLst>
                                      </p:cBhvr>
                                      <p:to>
                                        <p:strVal val="visible"/>
                                      </p:to>
                                    </p:set>
                                    <p:animEffect transition="in" filter="fade">
                                      <p:cBhvr>
                                        <p:cTn id="13" dur="400"/>
                                        <p:tgtEl>
                                          <p:spTgt spid="1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4"/>
                                        </p:tgtEl>
                                        <p:attrNameLst>
                                          <p:attrName>style.visibility</p:attrName>
                                        </p:attrNameLst>
                                      </p:cBhvr>
                                      <p:to>
                                        <p:strVal val="visible"/>
                                      </p:to>
                                    </p:set>
                                    <p:animEffect transition="in" filter="fade">
                                      <p:cBhvr>
                                        <p:cTn id="16" dur="400"/>
                                        <p:tgtEl>
                                          <p:spTgt spid="1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5"/>
                                        </p:tgtEl>
                                        <p:attrNameLst>
                                          <p:attrName>style.visibility</p:attrName>
                                        </p:attrNameLst>
                                      </p:cBhvr>
                                      <p:to>
                                        <p:strVal val="visible"/>
                                      </p:to>
                                    </p:set>
                                    <p:animEffect transition="in" filter="fade">
                                      <p:cBhvr>
                                        <p:cTn id="19" dur="400"/>
                                        <p:tgtEl>
                                          <p:spTgt spid="12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2"/>
                                        </p:tgtEl>
                                        <p:attrNameLst>
                                          <p:attrName>style.visibility</p:attrName>
                                        </p:attrNameLst>
                                      </p:cBhvr>
                                      <p:to>
                                        <p:strVal val="visible"/>
                                      </p:to>
                                    </p:set>
                                    <p:animEffect transition="in" filter="fade">
                                      <p:cBhvr>
                                        <p:cTn id="24" dur="400"/>
                                        <p:tgtEl>
                                          <p:spTgt spid="102"/>
                                        </p:tgtEl>
                                      </p:cBhvr>
                                    </p:animEffect>
                                  </p:childTnLst>
                                </p:cTn>
                              </p:par>
                              <p:par>
                                <p:cTn id="25" presetID="10" presetClass="entr" presetSubtype="0" fill="hold" nodeType="withEffect">
                                  <p:stCondLst>
                                    <p:cond delay="0"/>
                                  </p:stCondLst>
                                  <p:childTnLst>
                                    <p:set>
                                      <p:cBhvr>
                                        <p:cTn id="26" dur="1" fill="hold">
                                          <p:stCondLst>
                                            <p:cond delay="0"/>
                                          </p:stCondLst>
                                        </p:cTn>
                                        <p:tgtEl>
                                          <p:spTgt spid="149"/>
                                        </p:tgtEl>
                                        <p:attrNameLst>
                                          <p:attrName>style.visibility</p:attrName>
                                        </p:attrNameLst>
                                      </p:cBhvr>
                                      <p:to>
                                        <p:strVal val="visible"/>
                                      </p:to>
                                    </p:set>
                                    <p:animEffect transition="in" filter="fade">
                                      <p:cBhvr>
                                        <p:cTn id="27" dur="400"/>
                                        <p:tgtEl>
                                          <p:spTgt spid="14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0"/>
                                        </p:tgtEl>
                                        <p:attrNameLst>
                                          <p:attrName>style.visibility</p:attrName>
                                        </p:attrNameLst>
                                      </p:cBhvr>
                                      <p:to>
                                        <p:strVal val="visible"/>
                                      </p:to>
                                    </p:set>
                                    <p:animEffect transition="in" filter="fade">
                                      <p:cBhvr>
                                        <p:cTn id="30" dur="400"/>
                                        <p:tgtEl>
                                          <p:spTgt spid="15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1"/>
                                        </p:tgtEl>
                                        <p:attrNameLst>
                                          <p:attrName>style.visibility</p:attrName>
                                        </p:attrNameLst>
                                      </p:cBhvr>
                                      <p:to>
                                        <p:strVal val="visible"/>
                                      </p:to>
                                    </p:set>
                                    <p:animEffect transition="in" filter="fade">
                                      <p:cBhvr>
                                        <p:cTn id="33" dur="400"/>
                                        <p:tgtEl>
                                          <p:spTgt spid="15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2"/>
                                        </p:tgtEl>
                                        <p:attrNameLst>
                                          <p:attrName>style.visibility</p:attrName>
                                        </p:attrNameLst>
                                      </p:cBhvr>
                                      <p:to>
                                        <p:strVal val="visible"/>
                                      </p:to>
                                    </p:set>
                                    <p:animEffect transition="in" filter="fade">
                                      <p:cBhvr>
                                        <p:cTn id="36" dur="4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3" grpId="0" animBg="1"/>
      <p:bldP spid="124" grpId="0" animBg="1"/>
      <p:bldP spid="125" grpId="0" animBg="1"/>
      <p:bldP spid="150" grpId="0" animBg="1"/>
      <p:bldP spid="151" grpId="0" animBg="1"/>
      <p:bldP spid="152"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DATES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5: Time and Dates as Data (BR-05, BR-19)</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140</a:t>
            </a:r>
            <a:endParaRPr lang="en-US" sz="850" dirty="0"/>
          </a:p>
        </p:txBody>
      </p:sp>
      <p:sp>
        <p:nvSpPr>
          <p:cNvPr id="101" name="cl"/>
          <p:cNvSpPr txBox="1"/>
          <p:nvPr/>
        </p:nvSpPr>
        <p:spPr>
          <a:xfrm>
            <a:off x="543154" y="1463040"/>
            <a:ext cx="45720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5343754" y="1463040"/>
            <a:ext cx="62865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19" name="cls"/>
          <p:cNvGrpSpPr/>
          <p:nvPr/>
        </p:nvGrpSpPr>
        <p:grpSpPr>
          <a:xfrm>
            <a:off x="543154" y="1755648"/>
            <a:ext cx="4572000" cy="2115900"/>
            <a:chOff x="543154" y="1755648"/>
            <a:chExt cx="4572000" cy="2115900"/>
          </a:xfrm>
        </p:grpSpPr>
        <p:sp>
          <p:nvSpPr>
            <p:cNvPr id="103" name="cls_win"/>
            <p:cNvSpPr/>
            <p:nvPr/>
          </p:nvSpPr>
          <p:spPr>
            <a:xfrm>
              <a:off x="543154" y="1755648"/>
              <a:ext cx="4572000" cy="2115900"/>
            </a:xfrm>
            <a:prstGeom prst="roundRect">
              <a:avLst>
                <a:gd name="adj" fmla="val 3239"/>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45720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457200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278242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src/SwiftBite.Business/Common, Users</a:t>
              </a:r>
              <a:endParaRPr lang="en-US" sz="950" dirty="0"/>
            </a:p>
          </p:txBody>
        </p:sp>
        <p:sp>
          <p:nvSpPr>
            <p:cNvPr id="110" name="cls_L00"/>
            <p:cNvSpPr txBox="1"/>
            <p:nvPr/>
          </p:nvSpPr>
          <p:spPr>
            <a:xfrm>
              <a:off x="771754" y="2231548"/>
              <a:ext cx="42720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FAE7A"/>
                  </a:solidFill>
                  <a:latin typeface="Consolas"/>
                  <a:ea typeface="Consolas"/>
                  <a:cs typeface="Consolas"/>
                </a:rPr>
                <a:t>// CompanyPolicy.cs</a:t>
              </a:r>
              <a:endParaRPr lang="en-US" sz="720" dirty="0"/>
            </a:p>
          </p:txBody>
        </p:sp>
        <p:sp>
          <p:nvSpPr>
            <p:cNvPr id="111" name="cls_L01"/>
            <p:cNvSpPr txBox="1"/>
            <p:nvPr/>
          </p:nvSpPr>
          <p:spPr>
            <a:xfrm>
              <a:off x="771754" y="2383548"/>
              <a:ext cx="42720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bool</a:t>
              </a:r>
              <a:r>
                <a:rPr lang="en-US" sz="720" b="0" dirty="0">
                  <a:solidFill>
                    <a:srgbClr val="E2E8F0"/>
                  </a:solidFill>
                  <a:latin typeface="Consolas"/>
                  <a:ea typeface="Consolas"/>
                  <a:cs typeface="Consolas"/>
                </a:rPr>
                <a:t> IsPeakHour(DateTime time) =&gt;</a:t>
              </a:r>
              <a:endParaRPr lang="en-US" sz="720" dirty="0"/>
            </a:p>
          </p:txBody>
        </p:sp>
        <p:sp>
          <p:nvSpPr>
            <p:cNvPr id="112" name="cls_L02"/>
            <p:cNvSpPr txBox="1"/>
            <p:nvPr/>
          </p:nvSpPr>
          <p:spPr>
            <a:xfrm>
              <a:off x="771754" y="2535548"/>
              <a:ext cx="4272000" cy="15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time.TimeOfDay &gt;= PeakStart &amp;&amp; time.TimeOfDay &lt; PeakEnd;</a:t>
              </a:r>
              <a:endParaRPr lang="en-US" sz="720" dirty="0"/>
            </a:p>
          </p:txBody>
        </p:sp>
        <p:sp>
          <p:nvSpPr>
            <p:cNvPr id="113" name="cls_L04"/>
            <p:cNvSpPr txBox="1"/>
            <p:nvPr/>
          </p:nvSpPr>
          <p:spPr>
            <a:xfrm>
              <a:off x="771754" y="2839548"/>
              <a:ext cx="42720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FAE7A"/>
                  </a:solidFill>
                  <a:latin typeface="Consolas"/>
                  <a:ea typeface="Consolas"/>
                  <a:cs typeface="Consolas"/>
                </a:rPr>
                <a:t>// Driver.cs</a:t>
              </a:r>
              <a:endParaRPr lang="en-US" sz="720" dirty="0"/>
            </a:p>
          </p:txBody>
        </p:sp>
        <p:sp>
          <p:nvSpPr>
            <p:cNvPr id="114" name="cls_L05"/>
            <p:cNvSpPr txBox="1"/>
            <p:nvPr/>
          </p:nvSpPr>
          <p:spPr>
            <a:xfrm>
              <a:off x="771754" y="2991548"/>
              <a:ext cx="42720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static</a:t>
              </a:r>
              <a:r>
                <a:rPr lang="en-US" sz="720" b="0" dirty="0">
                  <a:solidFill>
                    <a:srgbClr val="E2E8F0"/>
                  </a:solidFill>
                  <a:latin typeface="Consolas"/>
                  <a:ea typeface="Consolas"/>
                  <a:cs typeface="Consolas"/>
                </a:rPr>
                <a:t> Driver Create(</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 fullName, ..., DateTime today)</a:t>
              </a:r>
              <a:endParaRPr lang="en-US" sz="720" dirty="0"/>
            </a:p>
          </p:txBody>
        </p:sp>
        <p:sp>
          <p:nvSpPr>
            <p:cNvPr id="115" name="cls_L06"/>
            <p:cNvSpPr txBox="1"/>
            <p:nvPr/>
          </p:nvSpPr>
          <p:spPr>
            <a:xfrm>
              <a:off x="771754" y="3143548"/>
              <a:ext cx="42720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16" name="cls_L07"/>
            <p:cNvSpPr txBox="1"/>
            <p:nvPr/>
          </p:nvSpPr>
          <p:spPr>
            <a:xfrm>
              <a:off x="771754" y="3295548"/>
              <a:ext cx="4272000" cy="15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Guard.Against(AgeOn(dateOfBirth, today) &lt; 18, </a:t>
              </a:r>
              <a:r>
                <a:rPr lang="en-US" sz="720" b="0" dirty="0">
                  <a:solidFill>
                    <a:srgbClr val="F0A98B"/>
                  </a:solidFill>
                  <a:latin typeface="Consolas"/>
                  <a:ea typeface="Consolas"/>
                  <a:cs typeface="Consolas"/>
                </a:rPr>
                <a:t>"BR-05"</a:t>
              </a:r>
              <a:r>
                <a:rPr lang="en-US" sz="720" b="0" dirty="0">
                  <a:solidFill>
                    <a:srgbClr val="E2E8F0"/>
                  </a:solidFill>
                  <a:latin typeface="Consolas"/>
                  <a:ea typeface="Consolas"/>
                  <a:cs typeface="Consolas"/>
                </a:rPr>
                <a:t>, ...);</a:t>
              </a:r>
              <a:endParaRPr lang="en-US" sz="720" dirty="0"/>
            </a:p>
          </p:txBody>
        </p:sp>
        <p:sp>
          <p:nvSpPr>
            <p:cNvPr id="117" name="cls_L08"/>
            <p:cNvSpPr txBox="1"/>
            <p:nvPr/>
          </p:nvSpPr>
          <p:spPr>
            <a:xfrm>
              <a:off x="771754" y="3447548"/>
              <a:ext cx="4272000" cy="15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18" name="cls_L09"/>
            <p:cNvSpPr txBox="1"/>
            <p:nvPr/>
          </p:nvSpPr>
          <p:spPr>
            <a:xfrm>
              <a:off x="771754" y="3599548"/>
              <a:ext cx="42720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grpSp>
      <p:sp>
        <p:nvSpPr>
          <p:cNvPr id="120" name="cls_hl2"/>
          <p:cNvSpPr/>
          <p:nvPr/>
        </p:nvSpPr>
        <p:spPr>
          <a:xfrm>
            <a:off x="676656" y="2517260"/>
            <a:ext cx="4305000" cy="18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1" name="cls_hl7"/>
          <p:cNvSpPr/>
          <p:nvPr/>
        </p:nvSpPr>
        <p:spPr>
          <a:xfrm>
            <a:off x="676656" y="3277260"/>
            <a:ext cx="4305000" cy="188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7" name="tst"/>
          <p:cNvGrpSpPr/>
          <p:nvPr/>
        </p:nvGrpSpPr>
        <p:grpSpPr>
          <a:xfrm>
            <a:off x="5343754" y="1755648"/>
            <a:ext cx="6286500" cy="3483900"/>
            <a:chOff x="5343754" y="1755648"/>
            <a:chExt cx="6286500" cy="3483900"/>
          </a:xfrm>
        </p:grpSpPr>
        <p:sp>
          <p:nvSpPr>
            <p:cNvPr id="122" name="tst_win"/>
            <p:cNvSpPr/>
            <p:nvPr/>
          </p:nvSpPr>
          <p:spPr>
            <a:xfrm>
              <a:off x="5343754" y="1755648"/>
              <a:ext cx="6286500" cy="3483900"/>
            </a:xfrm>
            <a:prstGeom prst="roundRect">
              <a:avLst>
                <a:gd name="adj" fmla="val 1967"/>
              </a:avLst>
            </a:prstGeom>
            <a:solidFill>
              <a:srgbClr val="060D18"/>
            </a:solidFill>
            <a:ln w="12700">
              <a:solidFill>
                <a:srgbClr val="1E3A5F"/>
              </a:solidFill>
              <a:prstDash val="solid"/>
            </a:ln>
          </p:spPr>
          <p:txBody>
            <a:bodyPr/>
            <a:lstStyle/>
            <a:p>
              <a:endParaRPr lang="en-US"/>
            </a:p>
          </p:txBody>
        </p:sp>
        <p:sp>
          <p:nvSpPr>
            <p:cNvPr id="123" name="tst_bar"/>
            <p:cNvSpPr/>
            <p:nvPr/>
          </p:nvSpPr>
          <p:spPr>
            <a:xfrm>
              <a:off x="5343754" y="1755648"/>
              <a:ext cx="62865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tst_barfill"/>
            <p:cNvSpPr/>
            <p:nvPr/>
          </p:nvSpPr>
          <p:spPr>
            <a:xfrm>
              <a:off x="5343754" y="1927098"/>
              <a:ext cx="6286500" cy="171450"/>
            </a:xfrm>
            <a:prstGeom prst="rect">
              <a:avLst/>
            </a:prstGeom>
            <a:solidFill>
              <a:srgbClr val="0A1220"/>
            </a:solidFill>
            <a:ln w="12700">
              <a:solidFill>
                <a:srgbClr val="0A1220"/>
              </a:solidFill>
              <a:prstDash val="solid"/>
            </a:ln>
          </p:spPr>
          <p:txBody>
            <a:bodyPr/>
            <a:lstStyle/>
            <a:p>
              <a:endParaRPr lang="en-US"/>
            </a:p>
          </p:txBody>
        </p:sp>
        <p:sp>
          <p:nvSpPr>
            <p:cNvPr id="125" name="tst_dot0"/>
            <p:cNvSpPr/>
            <p:nvPr/>
          </p:nvSpPr>
          <p:spPr>
            <a:xfrm>
              <a:off x="55056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tst_dot1"/>
            <p:cNvSpPr/>
            <p:nvPr/>
          </p:nvSpPr>
          <p:spPr>
            <a:xfrm>
              <a:off x="56912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tst_dot2"/>
            <p:cNvSpPr/>
            <p:nvPr/>
          </p:nvSpPr>
          <p:spPr>
            <a:xfrm>
              <a:off x="58768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tst_tab"/>
            <p:cNvSpPr/>
            <p:nvPr/>
          </p:nvSpPr>
          <p:spPr>
            <a:xfrm>
              <a:off x="6124651" y="1803197"/>
              <a:ext cx="2850543"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CompanyPolicyTests.cs, DriverTests.cs</a:t>
              </a:r>
              <a:endParaRPr lang="en-US" sz="950" dirty="0"/>
            </a:p>
          </p:txBody>
        </p:sp>
        <p:sp>
          <p:nvSpPr>
            <p:cNvPr id="129" name="tst_L00"/>
            <p:cNvSpPr txBox="1"/>
            <p:nvPr/>
          </p:nvSpPr>
          <p:spPr>
            <a:xfrm>
              <a:off x="5572354" y="2231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[Theory]</a:t>
              </a:r>
              <a:endParaRPr lang="en-US" sz="720" dirty="0"/>
            </a:p>
          </p:txBody>
        </p:sp>
        <p:sp>
          <p:nvSpPr>
            <p:cNvPr id="130" name="tst_L01"/>
            <p:cNvSpPr txBox="1"/>
            <p:nvPr/>
          </p:nvSpPr>
          <p:spPr>
            <a:xfrm>
              <a:off x="5572354" y="2383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[InlineData(18, 59, </a:t>
              </a:r>
              <a:r>
                <a:rPr lang="en-US" sz="720" b="0" dirty="0">
                  <a:solidFill>
                    <a:srgbClr val="60A5FA"/>
                  </a:solidFill>
                  <a:latin typeface="Consolas"/>
                  <a:ea typeface="Consolas"/>
                  <a:cs typeface="Consolas"/>
                </a:rPr>
                <a:t>false</a:t>
              </a:r>
              <a:r>
                <a:rPr lang="en-US" sz="720" b="0" dirty="0">
                  <a:solidFill>
                    <a:srgbClr val="E2E8F0"/>
                  </a:solidFill>
                  <a:latin typeface="Consolas"/>
                  <a:ea typeface="Consolas"/>
                  <a:cs typeface="Consolas"/>
                </a:rPr>
                <a:t>)]</a:t>
              </a:r>
              <a:endParaRPr lang="en-US" sz="720" dirty="0"/>
            </a:p>
          </p:txBody>
        </p:sp>
        <p:sp>
          <p:nvSpPr>
            <p:cNvPr id="131" name="tst_L02"/>
            <p:cNvSpPr txBox="1"/>
            <p:nvPr/>
          </p:nvSpPr>
          <p:spPr>
            <a:xfrm>
              <a:off x="5572354" y="2535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[InlineData(19, 0, </a:t>
              </a:r>
              <a:r>
                <a:rPr lang="en-US" sz="720" b="0" dirty="0">
                  <a:solidFill>
                    <a:srgbClr val="60A5FA"/>
                  </a:solidFill>
                  <a:latin typeface="Consolas"/>
                  <a:ea typeface="Consolas"/>
                  <a:cs typeface="Consolas"/>
                </a:rPr>
                <a:t>true</a:t>
              </a:r>
              <a:r>
                <a:rPr lang="en-US" sz="720" b="0" dirty="0">
                  <a:solidFill>
                    <a:srgbClr val="E2E8F0"/>
                  </a:solidFill>
                  <a:latin typeface="Consolas"/>
                  <a:ea typeface="Consolas"/>
                  <a:cs typeface="Consolas"/>
                </a:rPr>
                <a:t>)]     </a:t>
              </a:r>
              <a:r>
                <a:rPr lang="en-US" sz="720" b="0" dirty="0">
                  <a:solidFill>
                    <a:srgbClr val="6FAE7A"/>
                  </a:solidFill>
                  <a:latin typeface="Consolas"/>
                  <a:ea typeface="Consolas"/>
                  <a:cs typeface="Consolas"/>
                </a:rPr>
                <a:t>// start: included</a:t>
              </a:r>
              <a:endParaRPr lang="en-US" sz="720" dirty="0"/>
            </a:p>
          </p:txBody>
        </p:sp>
        <p:sp>
          <p:nvSpPr>
            <p:cNvPr id="132" name="tst_L03"/>
            <p:cNvSpPr txBox="1"/>
            <p:nvPr/>
          </p:nvSpPr>
          <p:spPr>
            <a:xfrm>
              <a:off x="5572354" y="2687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[InlineData(21, 59, </a:t>
              </a:r>
              <a:r>
                <a:rPr lang="en-US" sz="720" b="0" dirty="0">
                  <a:solidFill>
                    <a:srgbClr val="60A5FA"/>
                  </a:solidFill>
                  <a:latin typeface="Consolas"/>
                  <a:ea typeface="Consolas"/>
                  <a:cs typeface="Consolas"/>
                </a:rPr>
                <a:t>true</a:t>
              </a:r>
              <a:r>
                <a:rPr lang="en-US" sz="720" b="0" dirty="0">
                  <a:solidFill>
                    <a:srgbClr val="E2E8F0"/>
                  </a:solidFill>
                  <a:latin typeface="Consolas"/>
                  <a:ea typeface="Consolas"/>
                  <a:cs typeface="Consolas"/>
                </a:rPr>
                <a:t>)]</a:t>
              </a:r>
              <a:endParaRPr lang="en-US" sz="720" dirty="0"/>
            </a:p>
          </p:txBody>
        </p:sp>
        <p:sp>
          <p:nvSpPr>
            <p:cNvPr id="133" name="tst_L04"/>
            <p:cNvSpPr txBox="1"/>
            <p:nvPr/>
          </p:nvSpPr>
          <p:spPr>
            <a:xfrm>
              <a:off x="5572354" y="2839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[InlineData(22, 0, </a:t>
              </a:r>
              <a:r>
                <a:rPr lang="en-US" sz="720" b="0" dirty="0">
                  <a:solidFill>
                    <a:srgbClr val="60A5FA"/>
                  </a:solidFill>
                  <a:latin typeface="Consolas"/>
                  <a:ea typeface="Consolas"/>
                  <a:cs typeface="Consolas"/>
                </a:rPr>
                <a:t>false</a:t>
              </a:r>
              <a:r>
                <a:rPr lang="en-US" sz="720" b="0" dirty="0">
                  <a:solidFill>
                    <a:srgbClr val="E2E8F0"/>
                  </a:solidFill>
                  <a:latin typeface="Consolas"/>
                  <a:ea typeface="Consolas"/>
                  <a:cs typeface="Consolas"/>
                </a:rPr>
                <a:t>)]    </a:t>
              </a:r>
              <a:r>
                <a:rPr lang="en-US" sz="720" b="0" dirty="0">
                  <a:solidFill>
                    <a:srgbClr val="6FAE7A"/>
                  </a:solidFill>
                  <a:latin typeface="Consolas"/>
                  <a:ea typeface="Consolas"/>
                  <a:cs typeface="Consolas"/>
                </a:rPr>
                <a:t>// end: excluded</a:t>
              </a:r>
              <a:endParaRPr lang="en-US" sz="720" dirty="0"/>
            </a:p>
          </p:txBody>
        </p:sp>
        <p:sp>
          <p:nvSpPr>
            <p:cNvPr id="134" name="tst_L05"/>
            <p:cNvSpPr txBox="1"/>
            <p:nvPr/>
          </p:nvSpPr>
          <p:spPr>
            <a:xfrm>
              <a:off x="5572354" y="2991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IsPeakHour_Boundaries(</a:t>
              </a:r>
              <a:r>
                <a:rPr lang="en-US" sz="720" b="0" dirty="0">
                  <a:solidFill>
                    <a:srgbClr val="60A5FA"/>
                  </a:solidFill>
                  <a:latin typeface="Consolas"/>
                  <a:ea typeface="Consolas"/>
                  <a:cs typeface="Consolas"/>
                </a:rPr>
                <a:t>int</a:t>
              </a:r>
              <a:r>
                <a:rPr lang="en-US" sz="720" b="0" dirty="0">
                  <a:solidFill>
                    <a:srgbClr val="E2E8F0"/>
                  </a:solidFill>
                  <a:latin typeface="Consolas"/>
                  <a:ea typeface="Consolas"/>
                  <a:cs typeface="Consolas"/>
                </a:rPr>
                <a:t> hour, </a:t>
              </a:r>
              <a:r>
                <a:rPr lang="en-US" sz="720" b="0" dirty="0">
                  <a:solidFill>
                    <a:srgbClr val="60A5FA"/>
                  </a:solidFill>
                  <a:latin typeface="Consolas"/>
                  <a:ea typeface="Consolas"/>
                  <a:cs typeface="Consolas"/>
                </a:rPr>
                <a:t>int</a:t>
              </a:r>
              <a:r>
                <a:rPr lang="en-US" sz="720" b="0" dirty="0">
                  <a:solidFill>
                    <a:srgbClr val="E2E8F0"/>
                  </a:solidFill>
                  <a:latin typeface="Consolas"/>
                  <a:ea typeface="Consolas"/>
                  <a:cs typeface="Consolas"/>
                </a:rPr>
                <a:t> minute, </a:t>
              </a:r>
              <a:r>
                <a:rPr lang="en-US" sz="720" b="0" dirty="0">
                  <a:solidFill>
                    <a:srgbClr val="60A5FA"/>
                  </a:solidFill>
                  <a:latin typeface="Consolas"/>
                  <a:ea typeface="Consolas"/>
                  <a:cs typeface="Consolas"/>
                </a:rPr>
                <a:t>bool</a:t>
              </a:r>
              <a:r>
                <a:rPr lang="en-US" sz="720" b="0" dirty="0">
                  <a:solidFill>
                    <a:srgbClr val="E2E8F0"/>
                  </a:solidFill>
                  <a:latin typeface="Consolas"/>
                  <a:ea typeface="Consolas"/>
                  <a:cs typeface="Consolas"/>
                </a:rPr>
                <a:t> expected) =&gt;</a:t>
              </a:r>
              <a:endParaRPr lang="en-US" sz="720" dirty="0"/>
            </a:p>
          </p:txBody>
        </p:sp>
        <p:sp>
          <p:nvSpPr>
            <p:cNvPr id="135" name="tst_L06"/>
            <p:cNvSpPr txBox="1"/>
            <p:nvPr/>
          </p:nvSpPr>
          <p:spPr>
            <a:xfrm>
              <a:off x="5572354" y="3143548"/>
              <a:ext cx="5986500" cy="15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CompanyPolicy.Instance.IsPeakHour(</a:t>
              </a: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 DateTime(2026, 10, 11, hour, minute, 0))</a:t>
              </a:r>
              <a:endParaRPr lang="en-US" sz="720" dirty="0"/>
            </a:p>
          </p:txBody>
        </p:sp>
        <p:sp>
          <p:nvSpPr>
            <p:cNvPr id="136" name="tst_L07"/>
            <p:cNvSpPr txBox="1"/>
            <p:nvPr/>
          </p:nvSpPr>
          <p:spPr>
            <a:xfrm>
              <a:off x="5572354" y="3295548"/>
              <a:ext cx="5986500" cy="15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.ShouldBe(expected);</a:t>
              </a:r>
              <a:endParaRPr lang="en-US" sz="720" dirty="0"/>
            </a:p>
          </p:txBody>
        </p:sp>
        <p:sp>
          <p:nvSpPr>
            <p:cNvPr id="137" name="tst_L09"/>
            <p:cNvSpPr txBox="1"/>
            <p:nvPr/>
          </p:nvSpPr>
          <p:spPr>
            <a:xfrm>
              <a:off x="5572354" y="3599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[Theory]</a:t>
              </a:r>
              <a:endParaRPr lang="en-US" sz="720" dirty="0"/>
            </a:p>
          </p:txBody>
        </p:sp>
        <p:sp>
          <p:nvSpPr>
            <p:cNvPr id="138" name="tst_L10"/>
            <p:cNvSpPr txBox="1"/>
            <p:nvPr/>
          </p:nvSpPr>
          <p:spPr>
            <a:xfrm>
              <a:off x="5572354" y="3751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[InlineData(</a:t>
              </a:r>
              <a:r>
                <a:rPr lang="en-US" sz="720" b="0" dirty="0">
                  <a:solidFill>
                    <a:srgbClr val="F0A98B"/>
                  </a:solidFill>
                  <a:latin typeface="Consolas"/>
                  <a:ea typeface="Consolas"/>
                  <a:cs typeface="Consolas"/>
                </a:rPr>
                <a:t>"2008-10-11"</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true</a:t>
              </a:r>
              <a:r>
                <a:rPr lang="en-US" sz="720" b="0" dirty="0">
                  <a:solidFill>
                    <a:srgbClr val="E2E8F0"/>
                  </a:solidFill>
                  <a:latin typeface="Consolas"/>
                  <a:ea typeface="Consolas"/>
                  <a:cs typeface="Consolas"/>
                </a:rPr>
                <a:t>)]     </a:t>
              </a:r>
              <a:r>
                <a:rPr lang="en-US" sz="720" b="0" dirty="0">
                  <a:solidFill>
                    <a:srgbClr val="6FAE7A"/>
                  </a:solidFill>
                  <a:latin typeface="Consolas"/>
                  <a:ea typeface="Consolas"/>
                  <a:cs typeface="Consolas"/>
                </a:rPr>
                <a:t>// 18 today</a:t>
              </a:r>
              <a:endParaRPr lang="en-US" sz="720" dirty="0"/>
            </a:p>
          </p:txBody>
        </p:sp>
        <p:sp>
          <p:nvSpPr>
            <p:cNvPr id="139" name="tst_L11"/>
            <p:cNvSpPr txBox="1"/>
            <p:nvPr/>
          </p:nvSpPr>
          <p:spPr>
            <a:xfrm>
              <a:off x="5572354" y="3903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[InlineData(</a:t>
              </a:r>
              <a:r>
                <a:rPr lang="en-US" sz="720" b="0" dirty="0">
                  <a:solidFill>
                    <a:srgbClr val="F0A98B"/>
                  </a:solidFill>
                  <a:latin typeface="Consolas"/>
                  <a:ea typeface="Consolas"/>
                  <a:cs typeface="Consolas"/>
                </a:rPr>
                <a:t>"2008-10-12"</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false</a:t>
              </a:r>
              <a:r>
                <a:rPr lang="en-US" sz="720" b="0" dirty="0">
                  <a:solidFill>
                    <a:srgbClr val="E2E8F0"/>
                  </a:solidFill>
                  <a:latin typeface="Consolas"/>
                  <a:ea typeface="Consolas"/>
                  <a:cs typeface="Consolas"/>
                </a:rPr>
                <a:t>)]    </a:t>
              </a:r>
              <a:r>
                <a:rPr lang="en-US" sz="720" b="0" dirty="0">
                  <a:solidFill>
                    <a:srgbClr val="6FAE7A"/>
                  </a:solidFill>
                  <a:latin typeface="Consolas"/>
                  <a:ea typeface="Consolas"/>
                  <a:cs typeface="Consolas"/>
                </a:rPr>
                <a:t>// 18 tomorrow</a:t>
              </a:r>
              <a:endParaRPr lang="en-US" sz="720" dirty="0"/>
            </a:p>
          </p:txBody>
        </p:sp>
        <p:sp>
          <p:nvSpPr>
            <p:cNvPr id="140" name="tst_L12"/>
            <p:cNvSpPr txBox="1"/>
            <p:nvPr/>
          </p:nvSpPr>
          <p:spPr>
            <a:xfrm>
              <a:off x="5572354" y="4055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Create_AgeRule_BR05(</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 dateOfBirth, </a:t>
              </a:r>
              <a:r>
                <a:rPr lang="en-US" sz="720" b="0" dirty="0">
                  <a:solidFill>
                    <a:srgbClr val="60A5FA"/>
                  </a:solidFill>
                  <a:latin typeface="Consolas"/>
                  <a:ea typeface="Consolas"/>
                  <a:cs typeface="Consolas"/>
                </a:rPr>
                <a:t>bool</a:t>
              </a:r>
              <a:r>
                <a:rPr lang="en-US" sz="720" b="0" dirty="0">
                  <a:solidFill>
                    <a:srgbClr val="E2E8F0"/>
                  </a:solidFill>
                  <a:latin typeface="Consolas"/>
                  <a:ea typeface="Consolas"/>
                  <a:cs typeface="Consolas"/>
                </a:rPr>
                <a:t> allowed)</a:t>
              </a:r>
              <a:endParaRPr lang="en-US" sz="720" dirty="0"/>
            </a:p>
          </p:txBody>
        </p:sp>
        <p:sp>
          <p:nvSpPr>
            <p:cNvPr id="141" name="tst_L13"/>
            <p:cNvSpPr txBox="1"/>
            <p:nvPr/>
          </p:nvSpPr>
          <p:spPr>
            <a:xfrm>
              <a:off x="5572354" y="4207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42" name="tst_L14"/>
            <p:cNvSpPr txBox="1"/>
            <p:nvPr/>
          </p:nvSpPr>
          <p:spPr>
            <a:xfrm>
              <a:off x="5572354" y="4359548"/>
              <a:ext cx="5986500" cy="15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Action create = () =&gt; Driver.Create(</a:t>
              </a:r>
              <a:r>
                <a:rPr lang="en-US" sz="720" b="0" dirty="0">
                  <a:solidFill>
                    <a:srgbClr val="F0A98B"/>
                  </a:solidFill>
                  <a:latin typeface="Consolas"/>
                  <a:ea typeface="Consolas"/>
                  <a:cs typeface="Consolas"/>
                </a:rPr>
                <a:t>"Omar Adel"</a:t>
              </a:r>
              <a:r>
                <a:rPr lang="en-US" sz="720" b="0" dirty="0">
                  <a:solidFill>
                    <a:srgbClr val="E2E8F0"/>
                  </a:solidFill>
                  <a:latin typeface="Consolas"/>
                  <a:ea typeface="Consolas"/>
                  <a:cs typeface="Consolas"/>
                </a:rPr>
                <a:t>, </a:t>
              </a:r>
              <a:r>
                <a:rPr lang="en-US" sz="720" b="0" dirty="0">
                  <a:solidFill>
                    <a:srgbClr val="F0A98B"/>
                  </a:solidFill>
                  <a:latin typeface="Consolas"/>
                  <a:ea typeface="Consolas"/>
                  <a:cs typeface="Consolas"/>
                </a:rPr>
                <a:t>"01012345678"</a:t>
              </a:r>
              <a:r>
                <a:rPr lang="en-US" sz="720" b="0" dirty="0">
                  <a:solidFill>
                    <a:srgbClr val="E2E8F0"/>
                  </a:solidFill>
                  <a:latin typeface="Consolas"/>
                  <a:ea typeface="Consolas"/>
                  <a:cs typeface="Consolas"/>
                </a:rPr>
                <a:t>, </a:t>
              </a:r>
              <a:r>
                <a:rPr lang="en-US" sz="720" b="0" dirty="0">
                  <a:solidFill>
                    <a:srgbClr val="F0A98B"/>
                  </a:solidFill>
                  <a:latin typeface="Consolas"/>
                  <a:ea typeface="Consolas"/>
                  <a:cs typeface="Consolas"/>
                </a:rPr>
                <a:t>"omar@x.com"</a:t>
              </a:r>
              <a:r>
                <a:rPr lang="en-US" sz="720" b="0" dirty="0">
                  <a:solidFill>
                    <a:srgbClr val="E2E8F0"/>
                  </a:solidFill>
                  <a:latin typeface="Consolas"/>
                  <a:ea typeface="Consolas"/>
                  <a:cs typeface="Consolas"/>
                </a:rPr>
                <a:t>,</a:t>
              </a:r>
              <a:endParaRPr lang="en-US" sz="720" dirty="0"/>
            </a:p>
          </p:txBody>
        </p:sp>
        <p:sp>
          <p:nvSpPr>
            <p:cNvPr id="143" name="tst_L15"/>
            <p:cNvSpPr txBox="1"/>
            <p:nvPr/>
          </p:nvSpPr>
          <p:spPr>
            <a:xfrm>
              <a:off x="5572354" y="4511548"/>
              <a:ext cx="5986500" cy="15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DateTime.Parse(dateOfBirth), Vehicle.Bicycle(), Location.At(0, 0), TestData.Today);</a:t>
              </a:r>
              <a:endParaRPr lang="en-US" sz="720" dirty="0"/>
            </a:p>
          </p:txBody>
        </p:sp>
        <p:sp>
          <p:nvSpPr>
            <p:cNvPr id="144" name="tst_L16"/>
            <p:cNvSpPr txBox="1"/>
            <p:nvPr/>
          </p:nvSpPr>
          <p:spPr>
            <a:xfrm>
              <a:off x="5572354" y="4663548"/>
              <a:ext cx="5986500" cy="15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if</a:t>
              </a:r>
              <a:r>
                <a:rPr lang="en-US" sz="720" b="0" dirty="0">
                  <a:solidFill>
                    <a:srgbClr val="E2E8F0"/>
                  </a:solidFill>
                  <a:latin typeface="Consolas"/>
                  <a:ea typeface="Consolas"/>
                  <a:cs typeface="Consolas"/>
                </a:rPr>
                <a:t> (allowed) create.ShouldNotThrow();</a:t>
              </a:r>
              <a:endParaRPr lang="en-US" sz="720" dirty="0"/>
            </a:p>
          </p:txBody>
        </p:sp>
        <p:sp>
          <p:nvSpPr>
            <p:cNvPr id="145" name="tst_L17"/>
            <p:cNvSpPr txBox="1"/>
            <p:nvPr/>
          </p:nvSpPr>
          <p:spPr>
            <a:xfrm>
              <a:off x="5572354" y="4815548"/>
              <a:ext cx="5986500" cy="15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else</a:t>
              </a:r>
              <a:r>
                <a:rPr lang="en-US" sz="720" b="0" dirty="0">
                  <a:solidFill>
                    <a:srgbClr val="E2E8F0"/>
                  </a:solidFill>
                  <a:latin typeface="Consolas"/>
                  <a:ea typeface="Consolas"/>
                  <a:cs typeface="Consolas"/>
                </a:rPr>
                <a:t> Should.Throw&lt;DomainException&gt;(create).RuleId.ShouldBe(</a:t>
              </a:r>
              <a:r>
                <a:rPr lang="en-US" sz="720" b="0" dirty="0">
                  <a:solidFill>
                    <a:srgbClr val="F0A98B"/>
                  </a:solidFill>
                  <a:latin typeface="Consolas"/>
                  <a:ea typeface="Consolas"/>
                  <a:cs typeface="Consolas"/>
                </a:rPr>
                <a:t>"BR-05"</a:t>
              </a:r>
              <a:r>
                <a:rPr lang="en-US" sz="720" b="0" dirty="0">
                  <a:solidFill>
                    <a:srgbClr val="E2E8F0"/>
                  </a:solidFill>
                  <a:latin typeface="Consolas"/>
                  <a:ea typeface="Consolas"/>
                  <a:cs typeface="Consolas"/>
                </a:rPr>
                <a:t>);</a:t>
              </a:r>
              <a:endParaRPr lang="en-US" sz="720" dirty="0"/>
            </a:p>
          </p:txBody>
        </p:sp>
        <p:sp>
          <p:nvSpPr>
            <p:cNvPr id="146" name="tst_L18"/>
            <p:cNvSpPr txBox="1"/>
            <p:nvPr/>
          </p:nvSpPr>
          <p:spPr>
            <a:xfrm>
              <a:off x="5572354" y="4967548"/>
              <a:ext cx="5986500" cy="15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grpSp>
      <p:sp>
        <p:nvSpPr>
          <p:cNvPr id="148" name="tst_hl2"/>
          <p:cNvSpPr/>
          <p:nvPr/>
        </p:nvSpPr>
        <p:spPr>
          <a:xfrm>
            <a:off x="5477256" y="2517260"/>
            <a:ext cx="6019500" cy="18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9" name="tst_hl4"/>
          <p:cNvSpPr/>
          <p:nvPr/>
        </p:nvSpPr>
        <p:spPr>
          <a:xfrm>
            <a:off x="5477256" y="2821260"/>
            <a:ext cx="6019500" cy="188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50" name="tst_hl10"/>
          <p:cNvSpPr/>
          <p:nvPr/>
        </p:nvSpPr>
        <p:spPr>
          <a:xfrm>
            <a:off x="5477256" y="3733260"/>
            <a:ext cx="6019500" cy="18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1" name="tst_hl11"/>
          <p:cNvSpPr/>
          <p:nvPr/>
        </p:nvSpPr>
        <p:spPr>
          <a:xfrm>
            <a:off x="5477256" y="3885260"/>
            <a:ext cx="6019500" cy="188576"/>
          </a:xfrm>
          <a:prstGeom prst="rect">
            <a:avLst/>
          </a:prstGeom>
          <a:solidFill>
            <a:srgbClr val="F87171">
              <a:alpha val="15000"/>
            </a:srgbClr>
          </a:solidFill>
          <a:ln w="12700">
            <a:solidFill>
              <a:srgbClr val="F87171"/>
            </a:solidFill>
            <a:prstDash val="solid"/>
          </a:ln>
        </p:spPr>
        <p:txBody>
          <a:bodyPr/>
          <a:lstStyle/>
          <a:p>
            <a:endParaRPr lang="en-US"/>
          </a:p>
        </p:txBody>
      </p:sp>
    </p:spTree>
    <p:extLst>
      <p:ext uri="{BB962C8B-B14F-4D97-AF65-F5344CB8AC3E}">
        <p14:creationId xmlns:p14="http://schemas.microsoft.com/office/powerpoint/2010/main" val="512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400"/>
                                        <p:tgtEl>
                                          <p:spTgt spid="1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47"/>
                                        </p:tgtEl>
                                        <p:attrNameLst>
                                          <p:attrName>style.visibility</p:attrName>
                                        </p:attrNameLst>
                                      </p:cBhvr>
                                      <p:to>
                                        <p:strVal val="visible"/>
                                      </p:to>
                                    </p:set>
                                    <p:animEffect transition="in" filter="fade">
                                      <p:cBhvr>
                                        <p:cTn id="24" dur="400"/>
                                        <p:tgtEl>
                                          <p:spTgt spid="14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8"/>
                                        </p:tgtEl>
                                        <p:attrNameLst>
                                          <p:attrName>style.visibility</p:attrName>
                                        </p:attrNameLst>
                                      </p:cBhvr>
                                      <p:to>
                                        <p:strVal val="visible"/>
                                      </p:to>
                                    </p:set>
                                    <p:animEffect transition="in" filter="fade">
                                      <p:cBhvr>
                                        <p:cTn id="27" dur="400"/>
                                        <p:tgtEl>
                                          <p:spTgt spid="14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9"/>
                                        </p:tgtEl>
                                        <p:attrNameLst>
                                          <p:attrName>style.visibility</p:attrName>
                                        </p:attrNameLst>
                                      </p:cBhvr>
                                      <p:to>
                                        <p:strVal val="visible"/>
                                      </p:to>
                                    </p:set>
                                    <p:animEffect transition="in" filter="fade">
                                      <p:cBhvr>
                                        <p:cTn id="30" dur="400"/>
                                        <p:tgtEl>
                                          <p:spTgt spid="14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0"/>
                                        </p:tgtEl>
                                        <p:attrNameLst>
                                          <p:attrName>style.visibility</p:attrName>
                                        </p:attrNameLst>
                                      </p:cBhvr>
                                      <p:to>
                                        <p:strVal val="visible"/>
                                      </p:to>
                                    </p:set>
                                    <p:animEffect transition="in" filter="fade">
                                      <p:cBhvr>
                                        <p:cTn id="33" dur="400"/>
                                        <p:tgtEl>
                                          <p:spTgt spid="15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1"/>
                                        </p:tgtEl>
                                        <p:attrNameLst>
                                          <p:attrName>style.visibility</p:attrName>
                                        </p:attrNameLst>
                                      </p:cBhvr>
                                      <p:to>
                                        <p:strVal val="visible"/>
                                      </p:to>
                                    </p:set>
                                    <p:animEffect transition="in" filter="fade">
                                      <p:cBhvr>
                                        <p:cTn id="36" dur="4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0" grpId="0" animBg="1"/>
      <p:bldP spid="121" grpId="0" animBg="1"/>
      <p:bldP spid="148" grpId="0" animBg="1"/>
      <p:bldP spid="149" grpId="0" animBg="1"/>
      <p:bldP spid="150" grpId="0" animBg="1"/>
      <p:bldP spid="151"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STUBS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6: DeliveryFeeCalculator + Stubs (BR-21)</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141</a:t>
            </a:r>
            <a:endParaRPr lang="en-US" sz="850" dirty="0"/>
          </a:p>
        </p:txBody>
      </p:sp>
      <p:sp>
        <p:nvSpPr>
          <p:cNvPr id="101" name="cl"/>
          <p:cNvSpPr txBox="1"/>
          <p:nvPr/>
        </p:nvSpPr>
        <p:spPr>
          <a:xfrm>
            <a:off x="543154" y="1463040"/>
            <a:ext cx="55778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6349594" y="1463040"/>
            <a:ext cx="52806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4" name="cls"/>
          <p:cNvGrpSpPr/>
          <p:nvPr/>
        </p:nvGrpSpPr>
        <p:grpSpPr>
          <a:xfrm>
            <a:off x="543154" y="1755648"/>
            <a:ext cx="5577840" cy="2995900"/>
            <a:chOff x="543154" y="1755648"/>
            <a:chExt cx="5577840" cy="2995900"/>
          </a:xfrm>
        </p:grpSpPr>
        <p:sp>
          <p:nvSpPr>
            <p:cNvPr id="103" name="cls_win"/>
            <p:cNvSpPr/>
            <p:nvPr/>
          </p:nvSpPr>
          <p:spPr>
            <a:xfrm>
              <a:off x="543154" y="1755648"/>
              <a:ext cx="5577840" cy="2995900"/>
            </a:xfrm>
            <a:prstGeom prst="roundRect">
              <a:avLst>
                <a:gd name="adj" fmla="val 2288"/>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5778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57784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407675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src/SwiftBite.Business/Pricing/DeliveryFeeCalculator.cs</a:t>
              </a:r>
              <a:endParaRPr lang="en-US" sz="950" dirty="0"/>
            </a:p>
          </p:txBody>
        </p:sp>
        <p:sp>
          <p:nvSpPr>
            <p:cNvPr id="110" name="cls_L00"/>
            <p:cNvSpPr txBox="1"/>
            <p:nvPr/>
          </p:nvSpPr>
          <p:spPr>
            <a:xfrm>
              <a:off x="771754" y="2231548"/>
              <a:ext cx="52778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class</a:t>
              </a:r>
              <a:r>
                <a:rPr lang="en-US" sz="720" b="0" dirty="0">
                  <a:solidFill>
                    <a:srgbClr val="E2E8F0"/>
                  </a:solidFill>
                  <a:latin typeface="Consolas"/>
                  <a:ea typeface="Consolas"/>
                  <a:cs typeface="Consolas"/>
                </a:rPr>
                <a:t> DeliveryFeeCalculator</a:t>
              </a:r>
              <a:endParaRPr lang="en-US" sz="720" dirty="0"/>
            </a:p>
          </p:txBody>
        </p:sp>
        <p:sp>
          <p:nvSpPr>
            <p:cNvPr id="111" name="cls_L01"/>
            <p:cNvSpPr txBox="1"/>
            <p:nvPr/>
          </p:nvSpPr>
          <p:spPr>
            <a:xfrm>
              <a:off x="771754" y="2381548"/>
              <a:ext cx="52778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12" name="cls_L02"/>
            <p:cNvSpPr txBox="1"/>
            <p:nvPr/>
          </p:nvSpPr>
          <p:spPr>
            <a:xfrm>
              <a:off x="771754" y="2531548"/>
              <a:ext cx="52778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private</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readonly</a:t>
              </a:r>
              <a:r>
                <a:rPr lang="en-US" sz="720" b="0" dirty="0">
                  <a:solidFill>
                    <a:srgbClr val="E2E8F0"/>
                  </a:solidFill>
                  <a:latin typeface="Consolas"/>
                  <a:ea typeface="Consolas"/>
                  <a:cs typeface="Consolas"/>
                </a:rPr>
                <a:t> IReadOnlyList&lt;IDeliveryFeeStrategy&gt; _strategies;</a:t>
              </a:r>
              <a:endParaRPr lang="en-US" sz="720" dirty="0"/>
            </a:p>
          </p:txBody>
        </p:sp>
        <p:sp>
          <p:nvSpPr>
            <p:cNvPr id="113" name="cls_L04"/>
            <p:cNvSpPr txBox="1"/>
            <p:nvPr/>
          </p:nvSpPr>
          <p:spPr>
            <a:xfrm>
              <a:off x="771754" y="2831548"/>
              <a:ext cx="52778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FAE7A"/>
                  </a:solidFill>
                  <a:latin typeface="Consolas"/>
                  <a:ea typeface="Consolas"/>
                  <a:cs typeface="Consolas"/>
                </a:rPr>
                <a:t>// BR-21: if more than one applies, the customer pays the lowest</a:t>
              </a:r>
              <a:endParaRPr lang="en-US" sz="720" dirty="0"/>
            </a:p>
          </p:txBody>
        </p:sp>
        <p:sp>
          <p:nvSpPr>
            <p:cNvPr id="114" name="cls_L05"/>
            <p:cNvSpPr txBox="1"/>
            <p:nvPr/>
          </p:nvSpPr>
          <p:spPr>
            <a:xfrm>
              <a:off x="771754" y="2981548"/>
              <a:ext cx="52778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Fee, </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 Method) Calculate(DeliveryContext context)</a:t>
              </a:r>
              <a:endParaRPr lang="en-US" sz="720" dirty="0"/>
            </a:p>
          </p:txBody>
        </p:sp>
        <p:sp>
          <p:nvSpPr>
            <p:cNvPr id="115" name="cls_L06"/>
            <p:cNvSpPr txBox="1"/>
            <p:nvPr/>
          </p:nvSpPr>
          <p:spPr>
            <a:xfrm>
              <a:off x="771754" y="3131548"/>
              <a:ext cx="52778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16" name="cls_L07"/>
            <p:cNvSpPr txBox="1"/>
            <p:nvPr/>
          </p:nvSpPr>
          <p:spPr>
            <a:xfrm>
              <a:off x="771754" y="3281548"/>
              <a:ext cx="52778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60A5FA"/>
                  </a:solidFill>
                  <a:latin typeface="Consolas"/>
                  <a:ea typeface="Consolas"/>
                  <a:cs typeface="Consolas"/>
                </a:rPr>
                <a:t>var</a:t>
              </a:r>
              <a:r>
                <a:rPr lang="en-US" sz="720" b="0" dirty="0">
                  <a:solidFill>
                    <a:srgbClr val="E2E8F0"/>
                  </a:solidFill>
                  <a:latin typeface="Consolas"/>
                  <a:ea typeface="Consolas"/>
                  <a:cs typeface="Consolas"/>
                </a:rPr>
                <a:t> options = _strategies</a:t>
              </a:r>
              <a:endParaRPr lang="en-US" sz="720" dirty="0"/>
            </a:p>
          </p:txBody>
        </p:sp>
        <p:sp>
          <p:nvSpPr>
            <p:cNvPr id="117" name="cls_L08"/>
            <p:cNvSpPr txBox="1"/>
            <p:nvPr/>
          </p:nvSpPr>
          <p:spPr>
            <a:xfrm>
              <a:off x="771754" y="3431548"/>
              <a:ext cx="527784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20" b="0" dirty="0">
                  <a:solidFill>
                    <a:srgbClr val="E2E8F0"/>
                  </a:solidFill>
                  <a:latin typeface="Consolas"/>
                  <a:ea typeface="Consolas"/>
                  <a:cs typeface="Consolas"/>
                </a:rPr>
                <a:t>.Where(s =&gt; s.AppliesTo(context))</a:t>
              </a:r>
              <a:endParaRPr lang="en-US" sz="720" dirty="0"/>
            </a:p>
          </p:txBody>
        </p:sp>
        <p:sp>
          <p:nvSpPr>
            <p:cNvPr id="118" name="cls_L09"/>
            <p:cNvSpPr txBox="1"/>
            <p:nvPr/>
          </p:nvSpPr>
          <p:spPr>
            <a:xfrm>
              <a:off x="771754" y="3581548"/>
              <a:ext cx="527784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20" b="0" dirty="0">
                  <a:solidFill>
                    <a:srgbClr val="E2E8F0"/>
                  </a:solidFill>
                  <a:latin typeface="Consolas"/>
                  <a:ea typeface="Consolas"/>
                  <a:cs typeface="Consolas"/>
                </a:rPr>
                <a:t>.Select(s =&gt; (Fee: s.Calculate(context), Method: s.Name))</a:t>
              </a:r>
              <a:endParaRPr lang="en-US" sz="720" dirty="0"/>
            </a:p>
          </p:txBody>
        </p:sp>
        <p:sp>
          <p:nvSpPr>
            <p:cNvPr id="119" name="cls_L10"/>
            <p:cNvSpPr txBox="1"/>
            <p:nvPr/>
          </p:nvSpPr>
          <p:spPr>
            <a:xfrm>
              <a:off x="771754" y="3731548"/>
              <a:ext cx="527784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20" b="0" dirty="0">
                  <a:solidFill>
                    <a:srgbClr val="E2E8F0"/>
                  </a:solidFill>
                  <a:latin typeface="Consolas"/>
                  <a:ea typeface="Consolas"/>
                  <a:cs typeface="Consolas"/>
                </a:rPr>
                <a:t>.ToList();</a:t>
              </a:r>
              <a:endParaRPr lang="en-US" sz="720" dirty="0"/>
            </a:p>
          </p:txBody>
        </p:sp>
        <p:sp>
          <p:nvSpPr>
            <p:cNvPr id="120" name="cls_L12"/>
            <p:cNvSpPr txBox="1"/>
            <p:nvPr/>
          </p:nvSpPr>
          <p:spPr>
            <a:xfrm>
              <a:off x="771754" y="4031548"/>
              <a:ext cx="52778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Guard.Against(options.Count == 0, </a:t>
              </a:r>
              <a:r>
                <a:rPr lang="en-US" sz="720" b="0" dirty="0">
                  <a:solidFill>
                    <a:srgbClr val="F0A98B"/>
                  </a:solidFill>
                  <a:latin typeface="Consolas"/>
                  <a:ea typeface="Consolas"/>
                  <a:cs typeface="Consolas"/>
                </a:rPr>
                <a:t>"FR-11"</a:t>
              </a:r>
              <a:r>
                <a:rPr lang="en-US" sz="720" b="0" dirty="0">
                  <a:solidFill>
                    <a:srgbClr val="E2E8F0"/>
                  </a:solidFill>
                  <a:latin typeface="Consolas"/>
                  <a:ea typeface="Consolas"/>
                  <a:cs typeface="Consolas"/>
                </a:rPr>
                <a:t>, </a:t>
              </a:r>
              <a:r>
                <a:rPr lang="en-US" sz="720" b="0" dirty="0">
                  <a:solidFill>
                    <a:srgbClr val="F0A98B"/>
                  </a:solidFill>
                  <a:latin typeface="Consolas"/>
                  <a:ea typeface="Consolas"/>
                  <a:cs typeface="Consolas"/>
                </a:rPr>
                <a:t>"No delivery fee method applies."</a:t>
              </a:r>
              <a:r>
                <a:rPr lang="en-US" sz="720" b="0" dirty="0">
                  <a:solidFill>
                    <a:srgbClr val="E2E8F0"/>
                  </a:solidFill>
                  <a:latin typeface="Consolas"/>
                  <a:ea typeface="Consolas"/>
                  <a:cs typeface="Consolas"/>
                </a:rPr>
                <a:t>);</a:t>
              </a:r>
              <a:endParaRPr lang="en-US" sz="720" dirty="0"/>
            </a:p>
          </p:txBody>
        </p:sp>
        <p:sp>
          <p:nvSpPr>
            <p:cNvPr id="121" name="cls_L13"/>
            <p:cNvSpPr txBox="1"/>
            <p:nvPr/>
          </p:nvSpPr>
          <p:spPr>
            <a:xfrm>
              <a:off x="771754" y="4181548"/>
              <a:ext cx="52778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60A5FA"/>
                  </a:solidFill>
                  <a:latin typeface="Consolas"/>
                  <a:ea typeface="Consolas"/>
                  <a:cs typeface="Consolas"/>
                </a:rPr>
                <a:t>return</a:t>
              </a:r>
              <a:r>
                <a:rPr lang="en-US" sz="720" b="0" dirty="0">
                  <a:solidFill>
                    <a:srgbClr val="E2E8F0"/>
                  </a:solidFill>
                  <a:latin typeface="Consolas"/>
                  <a:ea typeface="Consolas"/>
                  <a:cs typeface="Consolas"/>
                </a:rPr>
                <a:t> options.MinBy(o =&gt; o.Fee);</a:t>
              </a:r>
              <a:endParaRPr lang="en-US" sz="720" dirty="0"/>
            </a:p>
          </p:txBody>
        </p:sp>
        <p:sp>
          <p:nvSpPr>
            <p:cNvPr id="122" name="cls_L14"/>
            <p:cNvSpPr txBox="1"/>
            <p:nvPr/>
          </p:nvSpPr>
          <p:spPr>
            <a:xfrm>
              <a:off x="771754" y="4331548"/>
              <a:ext cx="52778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23" name="cls_L15"/>
            <p:cNvSpPr txBox="1"/>
            <p:nvPr/>
          </p:nvSpPr>
          <p:spPr>
            <a:xfrm>
              <a:off x="771754" y="4481548"/>
              <a:ext cx="52778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grpSp>
      <p:sp>
        <p:nvSpPr>
          <p:cNvPr id="125" name="cls_hl8"/>
          <p:cNvSpPr/>
          <p:nvPr/>
        </p:nvSpPr>
        <p:spPr>
          <a:xfrm>
            <a:off x="676656" y="3413260"/>
            <a:ext cx="5310840" cy="18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6" name="cls_hl12"/>
          <p:cNvSpPr/>
          <p:nvPr/>
        </p:nvSpPr>
        <p:spPr>
          <a:xfrm>
            <a:off x="676656" y="4013260"/>
            <a:ext cx="531084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7" name="cls_hl13"/>
          <p:cNvSpPr/>
          <p:nvPr/>
        </p:nvSpPr>
        <p:spPr>
          <a:xfrm>
            <a:off x="676656" y="4163260"/>
            <a:ext cx="5310840" cy="18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53" name="tst"/>
          <p:cNvGrpSpPr/>
          <p:nvPr/>
        </p:nvGrpSpPr>
        <p:grpSpPr>
          <a:xfrm>
            <a:off x="6349594" y="1755648"/>
            <a:ext cx="5280660" cy="3745900"/>
            <a:chOff x="6349594" y="1755648"/>
            <a:chExt cx="5280660" cy="3745900"/>
          </a:xfrm>
        </p:grpSpPr>
        <p:sp>
          <p:nvSpPr>
            <p:cNvPr id="128" name="tst_win"/>
            <p:cNvSpPr/>
            <p:nvPr/>
          </p:nvSpPr>
          <p:spPr>
            <a:xfrm>
              <a:off x="6349594" y="1755648"/>
              <a:ext cx="5280660" cy="3745900"/>
            </a:xfrm>
            <a:prstGeom prst="roundRect">
              <a:avLst>
                <a:gd name="adj" fmla="val 1830"/>
              </a:avLst>
            </a:prstGeom>
            <a:solidFill>
              <a:srgbClr val="060D18"/>
            </a:solidFill>
            <a:ln w="12700">
              <a:solidFill>
                <a:srgbClr val="1E3A5F"/>
              </a:solidFill>
              <a:prstDash val="solid"/>
            </a:ln>
          </p:spPr>
          <p:txBody>
            <a:bodyPr/>
            <a:lstStyle/>
            <a:p>
              <a:endParaRPr lang="en-US"/>
            </a:p>
          </p:txBody>
        </p:sp>
        <p:sp>
          <p:nvSpPr>
            <p:cNvPr id="129" name="tst_bar"/>
            <p:cNvSpPr/>
            <p:nvPr/>
          </p:nvSpPr>
          <p:spPr>
            <a:xfrm>
              <a:off x="6349594" y="1755648"/>
              <a:ext cx="52806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0" name="tst_barfill"/>
            <p:cNvSpPr/>
            <p:nvPr/>
          </p:nvSpPr>
          <p:spPr>
            <a:xfrm>
              <a:off x="6349594" y="1927098"/>
              <a:ext cx="5280660" cy="171450"/>
            </a:xfrm>
            <a:prstGeom prst="rect">
              <a:avLst/>
            </a:prstGeom>
            <a:solidFill>
              <a:srgbClr val="0A1220"/>
            </a:solidFill>
            <a:ln w="12700">
              <a:solidFill>
                <a:srgbClr val="0A1220"/>
              </a:solidFill>
              <a:prstDash val="solid"/>
            </a:ln>
          </p:spPr>
          <p:txBody>
            <a:bodyPr/>
            <a:lstStyle/>
            <a:p>
              <a:endParaRPr lang="en-US"/>
            </a:p>
          </p:txBody>
        </p:sp>
        <p:sp>
          <p:nvSpPr>
            <p:cNvPr id="131" name="tst_dot0"/>
            <p:cNvSpPr/>
            <p:nvPr/>
          </p:nvSpPr>
          <p:spPr>
            <a:xfrm>
              <a:off x="651144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2" name="tst_dot1"/>
            <p:cNvSpPr/>
            <p:nvPr/>
          </p:nvSpPr>
          <p:spPr>
            <a:xfrm>
              <a:off x="669706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3" name="tst_dot2"/>
            <p:cNvSpPr/>
            <p:nvPr/>
          </p:nvSpPr>
          <p:spPr>
            <a:xfrm>
              <a:off x="688269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4" name="tst_tab"/>
            <p:cNvSpPr/>
            <p:nvPr/>
          </p:nvSpPr>
          <p:spPr>
            <a:xfrm>
              <a:off x="7130491" y="1803197"/>
              <a:ext cx="2850543"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Pricing/DeliveryFeeCalculatorTests.cs</a:t>
              </a:r>
              <a:endParaRPr lang="en-US" sz="950" dirty="0"/>
            </a:p>
          </p:txBody>
        </p:sp>
        <p:sp>
          <p:nvSpPr>
            <p:cNvPr id="135" name="tst_L00"/>
            <p:cNvSpPr txBox="1"/>
            <p:nvPr/>
          </p:nvSpPr>
          <p:spPr>
            <a:xfrm>
              <a:off x="6578194" y="2231548"/>
              <a:ext cx="49806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private</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static</a:t>
              </a:r>
              <a:r>
                <a:rPr lang="en-US" sz="720" b="0" dirty="0">
                  <a:solidFill>
                    <a:srgbClr val="E2E8F0"/>
                  </a:solidFill>
                  <a:latin typeface="Consolas"/>
                  <a:ea typeface="Consolas"/>
                  <a:cs typeface="Consolas"/>
                </a:rPr>
                <a:t> IDeliveryFeeStrategy Strategy(</a:t>
              </a:r>
              <a:r>
                <a:rPr lang="en-US" sz="720" b="0" dirty="0">
                  <a:solidFill>
                    <a:srgbClr val="60A5FA"/>
                  </a:solidFill>
                  <a:latin typeface="Consolas"/>
                  <a:ea typeface="Consolas"/>
                  <a:cs typeface="Consolas"/>
                </a:rPr>
                <a:t>string</a:t>
              </a:r>
              <a:r>
                <a:rPr lang="en-US" sz="720" b="0" dirty="0">
                  <a:solidFill>
                    <a:srgbClr val="E2E8F0"/>
                  </a:solidFill>
                  <a:latin typeface="Consolas"/>
                  <a:ea typeface="Consolas"/>
                  <a:cs typeface="Consolas"/>
                </a:rPr>
                <a:t> name, </a:t>
              </a:r>
              <a:r>
                <a:rPr lang="en-US" sz="720" b="0" dirty="0">
                  <a:solidFill>
                    <a:srgbClr val="60A5FA"/>
                  </a:solidFill>
                  <a:latin typeface="Consolas"/>
                  <a:ea typeface="Consolas"/>
                  <a:cs typeface="Consolas"/>
                </a:rPr>
                <a:t>bool</a:t>
              </a:r>
              <a:r>
                <a:rPr lang="en-US" sz="720" b="0" dirty="0">
                  <a:solidFill>
                    <a:srgbClr val="E2E8F0"/>
                  </a:solidFill>
                  <a:latin typeface="Consolas"/>
                  <a:ea typeface="Consolas"/>
                  <a:cs typeface="Consolas"/>
                </a:rPr>
                <a:t> applies, </a:t>
              </a:r>
              <a:r>
                <a:rPr lang="en-US" sz="720" b="0" dirty="0">
                  <a:solidFill>
                    <a:srgbClr val="60A5FA"/>
                  </a:solidFill>
                  <a:latin typeface="Consolas"/>
                  <a:ea typeface="Consolas"/>
                  <a:cs typeface="Consolas"/>
                </a:rPr>
                <a:t>decimal</a:t>
              </a:r>
              <a:r>
                <a:rPr lang="en-US" sz="720" b="0" dirty="0">
                  <a:solidFill>
                    <a:srgbClr val="E2E8F0"/>
                  </a:solidFill>
                  <a:latin typeface="Consolas"/>
                  <a:ea typeface="Consolas"/>
                  <a:cs typeface="Consolas"/>
                </a:rPr>
                <a:t> fee)</a:t>
              </a:r>
              <a:endParaRPr lang="en-US" sz="720" dirty="0"/>
            </a:p>
          </p:txBody>
        </p:sp>
        <p:sp>
          <p:nvSpPr>
            <p:cNvPr id="136" name="tst_L01"/>
            <p:cNvSpPr txBox="1"/>
            <p:nvPr/>
          </p:nvSpPr>
          <p:spPr>
            <a:xfrm>
              <a:off x="6578194" y="2381548"/>
              <a:ext cx="49806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37" name="tst_L02"/>
            <p:cNvSpPr txBox="1"/>
            <p:nvPr/>
          </p:nvSpPr>
          <p:spPr>
            <a:xfrm>
              <a:off x="6578194" y="253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var</a:t>
              </a:r>
              <a:r>
                <a:rPr lang="en-US" sz="720" b="0" dirty="0">
                  <a:solidFill>
                    <a:srgbClr val="E2E8F0"/>
                  </a:solidFill>
                  <a:latin typeface="Consolas"/>
                  <a:ea typeface="Consolas"/>
                  <a:cs typeface="Consolas"/>
                </a:rPr>
                <a:t> s = Substitute.For&lt;IDeliveryFeeStrategy&gt;();          </a:t>
              </a:r>
              <a:r>
                <a:rPr lang="en-US" sz="720" b="0" dirty="0">
                  <a:solidFill>
                    <a:srgbClr val="6FAE7A"/>
                  </a:solidFill>
                  <a:latin typeface="Consolas"/>
                  <a:ea typeface="Consolas"/>
                  <a:cs typeface="Consolas"/>
                </a:rPr>
                <a:t>// STUB</a:t>
              </a:r>
              <a:endParaRPr lang="en-US" sz="720" dirty="0"/>
            </a:p>
          </p:txBody>
        </p:sp>
        <p:sp>
          <p:nvSpPr>
            <p:cNvPr id="138" name="tst_L03"/>
            <p:cNvSpPr txBox="1"/>
            <p:nvPr/>
          </p:nvSpPr>
          <p:spPr>
            <a:xfrm>
              <a:off x="6578194" y="268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s.Name.Returns(name);</a:t>
              </a:r>
              <a:endParaRPr lang="en-US" sz="720" dirty="0"/>
            </a:p>
          </p:txBody>
        </p:sp>
        <p:sp>
          <p:nvSpPr>
            <p:cNvPr id="139" name="tst_L04"/>
            <p:cNvSpPr txBox="1"/>
            <p:nvPr/>
          </p:nvSpPr>
          <p:spPr>
            <a:xfrm>
              <a:off x="6578194" y="283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s.AppliesTo(Arg.Any&lt;DeliveryContext&gt;()).Returns(applies);</a:t>
              </a:r>
              <a:endParaRPr lang="en-US" sz="720" dirty="0"/>
            </a:p>
          </p:txBody>
        </p:sp>
        <p:sp>
          <p:nvSpPr>
            <p:cNvPr id="140" name="tst_L05"/>
            <p:cNvSpPr txBox="1"/>
            <p:nvPr/>
          </p:nvSpPr>
          <p:spPr>
            <a:xfrm>
              <a:off x="6578194" y="298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s.Calculate(Arg.Any&lt;DeliveryContext&gt;()).Returns(fee);</a:t>
              </a:r>
              <a:endParaRPr lang="en-US" sz="720" dirty="0"/>
            </a:p>
          </p:txBody>
        </p:sp>
        <p:sp>
          <p:nvSpPr>
            <p:cNvPr id="141" name="tst_L06"/>
            <p:cNvSpPr txBox="1"/>
            <p:nvPr/>
          </p:nvSpPr>
          <p:spPr>
            <a:xfrm>
              <a:off x="6578194" y="313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return</a:t>
              </a:r>
              <a:r>
                <a:rPr lang="en-US" sz="720" b="0" dirty="0">
                  <a:solidFill>
                    <a:srgbClr val="E2E8F0"/>
                  </a:solidFill>
                  <a:latin typeface="Consolas"/>
                  <a:ea typeface="Consolas"/>
                  <a:cs typeface="Consolas"/>
                </a:rPr>
                <a:t> s;</a:t>
              </a:r>
              <a:endParaRPr lang="en-US" sz="720" dirty="0"/>
            </a:p>
          </p:txBody>
        </p:sp>
        <p:sp>
          <p:nvSpPr>
            <p:cNvPr id="142" name="tst_L07"/>
            <p:cNvSpPr txBox="1"/>
            <p:nvPr/>
          </p:nvSpPr>
          <p:spPr>
            <a:xfrm>
              <a:off x="6578194" y="3281548"/>
              <a:ext cx="49806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43" name="tst_L09"/>
            <p:cNvSpPr txBox="1"/>
            <p:nvPr/>
          </p:nvSpPr>
          <p:spPr>
            <a:xfrm>
              <a:off x="6578194" y="3581548"/>
              <a:ext cx="49806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[Fact]</a:t>
              </a:r>
              <a:endParaRPr lang="en-US" sz="720" dirty="0"/>
            </a:p>
          </p:txBody>
        </p:sp>
        <p:sp>
          <p:nvSpPr>
            <p:cNvPr id="144" name="tst_L10"/>
            <p:cNvSpPr txBox="1"/>
            <p:nvPr/>
          </p:nvSpPr>
          <p:spPr>
            <a:xfrm>
              <a:off x="6578194" y="3731548"/>
              <a:ext cx="49806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60A5FA"/>
                  </a:solidFill>
                  <a:latin typeface="Consolas"/>
                  <a:ea typeface="Consolas"/>
                  <a:cs typeface="Consolas"/>
                </a:rPr>
                <a:t>public</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void</a:t>
              </a:r>
              <a:r>
                <a:rPr lang="en-US" sz="720" b="0" dirty="0">
                  <a:solidFill>
                    <a:srgbClr val="E2E8F0"/>
                  </a:solidFill>
                  <a:latin typeface="Consolas"/>
                  <a:ea typeface="Consolas"/>
                  <a:cs typeface="Consolas"/>
                </a:rPr>
                <a:t> Calculate_SeveralApply_PicksTheLowestFee()</a:t>
              </a:r>
              <a:endParaRPr lang="en-US" sz="720" dirty="0"/>
            </a:p>
          </p:txBody>
        </p:sp>
        <p:sp>
          <p:nvSpPr>
            <p:cNvPr id="145" name="tst_L11"/>
            <p:cNvSpPr txBox="1"/>
            <p:nvPr/>
          </p:nvSpPr>
          <p:spPr>
            <a:xfrm>
              <a:off x="6578194" y="3881548"/>
              <a:ext cx="49806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sp>
          <p:nvSpPr>
            <p:cNvPr id="146" name="tst_L12"/>
            <p:cNvSpPr txBox="1"/>
            <p:nvPr/>
          </p:nvSpPr>
          <p:spPr>
            <a:xfrm>
              <a:off x="6578194" y="403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var</a:t>
              </a:r>
              <a:r>
                <a:rPr lang="en-US" sz="720" b="0" dirty="0">
                  <a:solidFill>
                    <a:srgbClr val="E2E8F0"/>
                  </a:solidFill>
                  <a:latin typeface="Consolas"/>
                  <a:ea typeface="Consolas"/>
                  <a:cs typeface="Consolas"/>
                </a:rPr>
                <a:t> calculator = </a:t>
              </a: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 DeliveryFeeCalculator(</a:t>
              </a:r>
              <a:endParaRPr lang="en-US" sz="720" dirty="0"/>
            </a:p>
          </p:txBody>
        </p:sp>
        <p:sp>
          <p:nvSpPr>
            <p:cNvPr id="147" name="tst_L13"/>
            <p:cNvSpPr txBox="1"/>
            <p:nvPr/>
          </p:nvSpPr>
          <p:spPr>
            <a:xfrm>
              <a:off x="6578194" y="4181548"/>
              <a:ext cx="49806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E2E8F0"/>
                  </a:solidFill>
                  <a:latin typeface="Consolas"/>
                  <a:ea typeface="Consolas"/>
                  <a:cs typeface="Consolas"/>
                </a:rPr>
                <a:t>[Strategy(</a:t>
              </a:r>
              <a:r>
                <a:rPr lang="en-US" sz="720" b="0" dirty="0">
                  <a:solidFill>
                    <a:srgbClr val="F0A98B"/>
                  </a:solidFill>
                  <a:latin typeface="Consolas"/>
                  <a:ea typeface="Consolas"/>
                  <a:cs typeface="Consolas"/>
                </a:rPr>
                <a:t>"Standard"</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true</a:t>
              </a:r>
              <a:r>
                <a:rPr lang="en-US" sz="720" b="0" dirty="0">
                  <a:solidFill>
                    <a:srgbClr val="E2E8F0"/>
                  </a:solidFill>
                  <a:latin typeface="Consolas"/>
                  <a:ea typeface="Consolas"/>
                  <a:cs typeface="Consolas"/>
                </a:rPr>
                <a:t>, 23m), Strategy(</a:t>
              </a:r>
              <a:r>
                <a:rPr lang="en-US" sz="720" b="0" dirty="0">
                  <a:solidFill>
                    <a:srgbClr val="F0A98B"/>
                  </a:solidFill>
                  <a:latin typeface="Consolas"/>
                  <a:ea typeface="Consolas"/>
                  <a:cs typeface="Consolas"/>
                </a:rPr>
                <a:t>"Premium"</a:t>
              </a:r>
              <a:r>
                <a:rPr lang="en-US" sz="720" b="0" dirty="0">
                  <a:solidFill>
                    <a:srgbClr val="E2E8F0"/>
                  </a:solidFill>
                  <a:latin typeface="Consolas"/>
                  <a:ea typeface="Consolas"/>
                  <a:cs typeface="Consolas"/>
                </a:rPr>
                <a:t>, </a:t>
              </a:r>
              <a:r>
                <a:rPr lang="en-US" sz="720" b="0" dirty="0">
                  <a:solidFill>
                    <a:srgbClr val="60A5FA"/>
                  </a:solidFill>
                  <a:latin typeface="Consolas"/>
                  <a:ea typeface="Consolas"/>
                  <a:cs typeface="Consolas"/>
                </a:rPr>
                <a:t>true</a:t>
              </a:r>
              <a:r>
                <a:rPr lang="en-US" sz="720" b="0" dirty="0">
                  <a:solidFill>
                    <a:srgbClr val="E2E8F0"/>
                  </a:solidFill>
                  <a:latin typeface="Consolas"/>
                  <a:ea typeface="Consolas"/>
                  <a:cs typeface="Consolas"/>
                </a:rPr>
                <a:t>, 0m)]);</a:t>
              </a:r>
              <a:endParaRPr lang="en-US" sz="720" dirty="0"/>
            </a:p>
          </p:txBody>
        </p:sp>
        <p:sp>
          <p:nvSpPr>
            <p:cNvPr id="148" name="tst_L15"/>
            <p:cNvSpPr txBox="1"/>
            <p:nvPr/>
          </p:nvSpPr>
          <p:spPr>
            <a:xfrm>
              <a:off x="6578194" y="448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60A5FA"/>
                  </a:solidFill>
                  <a:latin typeface="Consolas"/>
                  <a:ea typeface="Consolas"/>
                  <a:cs typeface="Consolas"/>
                </a:rPr>
                <a:t>var</a:t>
              </a:r>
              <a:r>
                <a:rPr lang="en-US" sz="720" b="0" dirty="0">
                  <a:solidFill>
                    <a:srgbClr val="E2E8F0"/>
                  </a:solidFill>
                  <a:latin typeface="Consolas"/>
                  <a:ea typeface="Consolas"/>
                  <a:cs typeface="Consolas"/>
                </a:rPr>
                <a:t> (fee, method) = calculator.Calculate(</a:t>
              </a:r>
              <a:endParaRPr lang="en-US" sz="720" dirty="0"/>
            </a:p>
          </p:txBody>
        </p:sp>
        <p:sp>
          <p:nvSpPr>
            <p:cNvPr id="149" name="tst_L16"/>
            <p:cNvSpPr txBox="1"/>
            <p:nvPr/>
          </p:nvSpPr>
          <p:spPr>
            <a:xfrm>
              <a:off x="6578194" y="4631548"/>
              <a:ext cx="49806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20" b="0" dirty="0">
                  <a:solidFill>
                    <a:srgbClr val="60A5FA"/>
                  </a:solidFill>
                  <a:latin typeface="Consolas"/>
                  <a:ea typeface="Consolas"/>
                  <a:cs typeface="Consolas"/>
                </a:rPr>
                <a:t>new</a:t>
              </a:r>
              <a:r>
                <a:rPr lang="en-US" sz="720" b="0" dirty="0">
                  <a:solidFill>
                    <a:srgbClr val="E2E8F0"/>
                  </a:solidFill>
                  <a:latin typeface="Consolas"/>
                  <a:ea typeface="Consolas"/>
                  <a:cs typeface="Consolas"/>
                </a:rPr>
                <a:t> DeliveryContext(5, 200m, </a:t>
              </a:r>
              <a:r>
                <a:rPr lang="en-US" sz="720" b="0" dirty="0">
                  <a:solidFill>
                    <a:srgbClr val="60A5FA"/>
                  </a:solidFill>
                  <a:latin typeface="Consolas"/>
                  <a:ea typeface="Consolas"/>
                  <a:cs typeface="Consolas"/>
                </a:rPr>
                <a:t>true</a:t>
              </a:r>
              <a:r>
                <a:rPr lang="en-US" sz="720" b="0" dirty="0">
                  <a:solidFill>
                    <a:srgbClr val="E2E8F0"/>
                  </a:solidFill>
                  <a:latin typeface="Consolas"/>
                  <a:ea typeface="Consolas"/>
                  <a:cs typeface="Consolas"/>
                </a:rPr>
                <a:t>, TestData.Lunch));</a:t>
              </a:r>
              <a:endParaRPr lang="en-US" sz="720" dirty="0"/>
            </a:p>
          </p:txBody>
        </p:sp>
        <p:sp>
          <p:nvSpPr>
            <p:cNvPr id="150" name="tst_L18"/>
            <p:cNvSpPr txBox="1"/>
            <p:nvPr/>
          </p:nvSpPr>
          <p:spPr>
            <a:xfrm>
              <a:off x="6578194" y="493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fee.ShouldBe(0m);</a:t>
              </a:r>
              <a:endParaRPr lang="en-US" sz="720" dirty="0"/>
            </a:p>
          </p:txBody>
        </p:sp>
        <p:sp>
          <p:nvSpPr>
            <p:cNvPr id="151" name="tst_L19"/>
            <p:cNvSpPr txBox="1"/>
            <p:nvPr/>
          </p:nvSpPr>
          <p:spPr>
            <a:xfrm>
              <a:off x="6578194" y="5081548"/>
              <a:ext cx="49806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20" b="0" dirty="0">
                  <a:solidFill>
                    <a:srgbClr val="E2E8F0"/>
                  </a:solidFill>
                  <a:latin typeface="Consolas"/>
                  <a:ea typeface="Consolas"/>
                  <a:cs typeface="Consolas"/>
                </a:rPr>
                <a:t>method.ShouldBe(</a:t>
              </a:r>
              <a:r>
                <a:rPr lang="en-US" sz="720" b="0" dirty="0">
                  <a:solidFill>
                    <a:srgbClr val="F0A98B"/>
                  </a:solidFill>
                  <a:latin typeface="Consolas"/>
                  <a:ea typeface="Consolas"/>
                  <a:cs typeface="Consolas"/>
                </a:rPr>
                <a:t>"Premium"</a:t>
              </a:r>
              <a:r>
                <a:rPr lang="en-US" sz="720" b="0" dirty="0">
                  <a:solidFill>
                    <a:srgbClr val="E2E8F0"/>
                  </a:solidFill>
                  <a:latin typeface="Consolas"/>
                  <a:ea typeface="Consolas"/>
                  <a:cs typeface="Consolas"/>
                </a:rPr>
                <a:t>);</a:t>
              </a:r>
              <a:endParaRPr lang="en-US" sz="720" dirty="0"/>
            </a:p>
          </p:txBody>
        </p:sp>
        <p:sp>
          <p:nvSpPr>
            <p:cNvPr id="152" name="tst_L20"/>
            <p:cNvSpPr txBox="1"/>
            <p:nvPr/>
          </p:nvSpPr>
          <p:spPr>
            <a:xfrm>
              <a:off x="6578194" y="5231548"/>
              <a:ext cx="49806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20" b="0" dirty="0">
                  <a:solidFill>
                    <a:srgbClr val="E2E8F0"/>
                  </a:solidFill>
                  <a:latin typeface="Consolas"/>
                  <a:ea typeface="Consolas"/>
                  <a:cs typeface="Consolas"/>
                </a:rPr>
                <a:t>}</a:t>
              </a:r>
              <a:endParaRPr lang="en-US" sz="720" dirty="0"/>
            </a:p>
          </p:txBody>
        </p:sp>
      </p:grpSp>
      <p:sp>
        <p:nvSpPr>
          <p:cNvPr id="154" name="tst_hl18"/>
          <p:cNvSpPr/>
          <p:nvPr/>
        </p:nvSpPr>
        <p:spPr>
          <a:xfrm>
            <a:off x="6483096" y="4913260"/>
            <a:ext cx="501366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5" name="tst_hl19"/>
          <p:cNvSpPr/>
          <p:nvPr/>
        </p:nvSpPr>
        <p:spPr>
          <a:xfrm>
            <a:off x="6483096" y="5063260"/>
            <a:ext cx="5013660" cy="186576"/>
          </a:xfrm>
          <a:prstGeom prst="rect">
            <a:avLst/>
          </a:prstGeom>
          <a:solidFill>
            <a:srgbClr val="34D399">
              <a:alpha val="15000"/>
            </a:srgbClr>
          </a:solidFill>
          <a:ln w="12700">
            <a:solidFill>
              <a:srgbClr val="34D399"/>
            </a:solidFill>
            <a:prstDash val="solid"/>
          </a:ln>
        </p:spPr>
        <p:txBody>
          <a:bodyPr/>
          <a:lstStyle/>
          <a:p>
            <a:endParaRPr lang="en-US"/>
          </a:p>
        </p:txBody>
      </p:sp>
    </p:spTree>
    <p:extLst>
      <p:ext uri="{BB962C8B-B14F-4D97-AF65-F5344CB8AC3E}">
        <p14:creationId xmlns:p14="http://schemas.microsoft.com/office/powerpoint/2010/main" val="51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4"/>
                                        </p:tgtEl>
                                        <p:attrNameLst>
                                          <p:attrName>style.visibility</p:attrName>
                                        </p:attrNameLst>
                                      </p:cBhvr>
                                      <p:to>
                                        <p:strVal val="visible"/>
                                      </p:to>
                                    </p:set>
                                    <p:animEffect transition="in" filter="fade">
                                      <p:cBhvr>
                                        <p:cTn id="10" dur="400"/>
                                        <p:tgtEl>
                                          <p:spTgt spid="1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5"/>
                                        </p:tgtEl>
                                        <p:attrNameLst>
                                          <p:attrName>style.visibility</p:attrName>
                                        </p:attrNameLst>
                                      </p:cBhvr>
                                      <p:to>
                                        <p:strVal val="visible"/>
                                      </p:to>
                                    </p:set>
                                    <p:animEffect transition="in" filter="fade">
                                      <p:cBhvr>
                                        <p:cTn id="13" dur="400"/>
                                        <p:tgtEl>
                                          <p:spTgt spid="1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6"/>
                                        </p:tgtEl>
                                        <p:attrNameLst>
                                          <p:attrName>style.visibility</p:attrName>
                                        </p:attrNameLst>
                                      </p:cBhvr>
                                      <p:to>
                                        <p:strVal val="visible"/>
                                      </p:to>
                                    </p:set>
                                    <p:animEffect transition="in" filter="fade">
                                      <p:cBhvr>
                                        <p:cTn id="16" dur="400"/>
                                        <p:tgtEl>
                                          <p:spTgt spid="1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7"/>
                                        </p:tgtEl>
                                        <p:attrNameLst>
                                          <p:attrName>style.visibility</p:attrName>
                                        </p:attrNameLst>
                                      </p:cBhvr>
                                      <p:to>
                                        <p:strVal val="visible"/>
                                      </p:to>
                                    </p:set>
                                    <p:animEffect transition="in" filter="fade">
                                      <p:cBhvr>
                                        <p:cTn id="19" dur="400"/>
                                        <p:tgtEl>
                                          <p:spTgt spid="12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2"/>
                                        </p:tgtEl>
                                        <p:attrNameLst>
                                          <p:attrName>style.visibility</p:attrName>
                                        </p:attrNameLst>
                                      </p:cBhvr>
                                      <p:to>
                                        <p:strVal val="visible"/>
                                      </p:to>
                                    </p:set>
                                    <p:animEffect transition="in" filter="fade">
                                      <p:cBhvr>
                                        <p:cTn id="24" dur="400"/>
                                        <p:tgtEl>
                                          <p:spTgt spid="102"/>
                                        </p:tgtEl>
                                      </p:cBhvr>
                                    </p:animEffect>
                                  </p:childTnLst>
                                </p:cTn>
                              </p:par>
                              <p:par>
                                <p:cTn id="25" presetID="10" presetClass="entr" presetSubtype="0" fill="hold" nodeType="withEffect">
                                  <p:stCondLst>
                                    <p:cond delay="0"/>
                                  </p:stCondLst>
                                  <p:childTnLst>
                                    <p:set>
                                      <p:cBhvr>
                                        <p:cTn id="26" dur="1" fill="hold">
                                          <p:stCondLst>
                                            <p:cond delay="0"/>
                                          </p:stCondLst>
                                        </p:cTn>
                                        <p:tgtEl>
                                          <p:spTgt spid="153"/>
                                        </p:tgtEl>
                                        <p:attrNameLst>
                                          <p:attrName>style.visibility</p:attrName>
                                        </p:attrNameLst>
                                      </p:cBhvr>
                                      <p:to>
                                        <p:strVal val="visible"/>
                                      </p:to>
                                    </p:set>
                                    <p:animEffect transition="in" filter="fade">
                                      <p:cBhvr>
                                        <p:cTn id="27" dur="400"/>
                                        <p:tgtEl>
                                          <p:spTgt spid="15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4"/>
                                        </p:tgtEl>
                                        <p:attrNameLst>
                                          <p:attrName>style.visibility</p:attrName>
                                        </p:attrNameLst>
                                      </p:cBhvr>
                                      <p:to>
                                        <p:strVal val="visible"/>
                                      </p:to>
                                    </p:set>
                                    <p:animEffect transition="in" filter="fade">
                                      <p:cBhvr>
                                        <p:cTn id="30" dur="400"/>
                                        <p:tgtEl>
                                          <p:spTgt spid="15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5"/>
                                        </p:tgtEl>
                                        <p:attrNameLst>
                                          <p:attrName>style.visibility</p:attrName>
                                        </p:attrNameLst>
                                      </p:cBhvr>
                                      <p:to>
                                        <p:strVal val="visible"/>
                                      </p:to>
                                    </p:set>
                                    <p:animEffect transition="in" filter="fade">
                                      <p:cBhvr>
                                        <p:cTn id="33" dur="4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5" grpId="0" animBg="1"/>
      <p:bldP spid="126" grpId="0" animBg="1"/>
      <p:bldP spid="127" grpId="0" animBg="1"/>
      <p:bldP spid="154" grpId="0" animBg="1"/>
      <p:bldP spid="155"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448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TEST DATA</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7: A Test Data Helper for SwiftBite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142</a:t>
            </a:r>
            <a:endParaRPr lang="en-US" sz="850" dirty="0"/>
          </a:p>
        </p:txBody>
      </p:sp>
      <p:grpSp>
        <p:nvGrpSpPr>
          <p:cNvPr id="127" name="code"/>
          <p:cNvGrpSpPr/>
          <p:nvPr/>
        </p:nvGrpSpPr>
        <p:grpSpPr>
          <a:xfrm>
            <a:off x="543154" y="1572768"/>
            <a:ext cx="7223760" cy="4291900"/>
            <a:chOff x="543154" y="1572768"/>
            <a:chExt cx="7223760" cy="4291900"/>
          </a:xfrm>
        </p:grpSpPr>
        <p:sp>
          <p:nvSpPr>
            <p:cNvPr id="101" name="code_win"/>
            <p:cNvSpPr/>
            <p:nvPr/>
          </p:nvSpPr>
          <p:spPr>
            <a:xfrm>
              <a:off x="543154" y="1572768"/>
              <a:ext cx="7223760" cy="4291900"/>
            </a:xfrm>
            <a:prstGeom prst="roundRect">
              <a:avLst>
                <a:gd name="adj" fmla="val 1597"/>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72237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722376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189682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TestHelpers/TestData.cs</a:t>
              </a:r>
              <a:endParaRPr lang="en-US" sz="950" dirty="0"/>
            </a:p>
          </p:txBody>
        </p:sp>
        <p:sp>
          <p:nvSpPr>
            <p:cNvPr id="108" name="code_L00"/>
            <p:cNvSpPr txBox="1"/>
            <p:nvPr/>
          </p:nvSpPr>
          <p:spPr>
            <a:xfrm>
              <a:off x="771754" y="2048668"/>
              <a:ext cx="6923760" cy="176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static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class</a:t>
              </a:r>
              <a:r>
                <a:rPr lang="en-US" sz="880" b="0" dirty="0">
                  <a:solidFill>
                    <a:srgbClr val="E2E8F0"/>
                  </a:solidFill>
                  <a:latin typeface="Consolas"/>
                  <a:ea typeface="Consolas"/>
                  <a:cs typeface="Consolas"/>
                </a:rPr>
                <a:t> TestData</a:t>
              </a:r>
              <a:endParaRPr lang="en-US" sz="880" dirty="0"/>
            </a:p>
          </p:txBody>
        </p:sp>
        <p:sp>
          <p:nvSpPr>
            <p:cNvPr id="109" name="code_L01"/>
            <p:cNvSpPr txBox="1"/>
            <p:nvPr/>
          </p:nvSpPr>
          <p:spPr>
            <a:xfrm>
              <a:off x="771754" y="2224668"/>
              <a:ext cx="6923760" cy="176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sp>
          <p:nvSpPr>
            <p:cNvPr id="110" name="code_L02"/>
            <p:cNvSpPr txBox="1"/>
            <p:nvPr/>
          </p:nvSpPr>
          <p:spPr>
            <a:xfrm>
              <a:off x="771754" y="2400668"/>
              <a:ext cx="6923760" cy="176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static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readonly</a:t>
              </a:r>
              <a:r>
                <a:rPr lang="en-US" sz="880" b="0" dirty="0">
                  <a:solidFill>
                    <a:srgbClr val="E2E8F0"/>
                  </a:solidFill>
                  <a:latin typeface="Consolas"/>
                  <a:ea typeface="Consolas"/>
                  <a:cs typeface="Consolas"/>
                </a:rPr>
                <a:t> DateTime Lunch = </a:t>
              </a: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(2026, 10, 11, 13, 0, 0);</a:t>
              </a:r>
              <a:endParaRPr lang="en-US" sz="880" dirty="0"/>
            </a:p>
          </p:txBody>
        </p:sp>
        <p:sp>
          <p:nvSpPr>
            <p:cNvPr id="111" name="code_L04"/>
            <p:cNvSpPr txBox="1"/>
            <p:nvPr/>
          </p:nvSpPr>
          <p:spPr>
            <a:xfrm>
              <a:off x="771754" y="2752668"/>
              <a:ext cx="6923760" cy="176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static</a:t>
              </a:r>
              <a:r>
                <a:rPr lang="en-US" sz="880" b="0" dirty="0">
                  <a:solidFill>
                    <a:srgbClr val="E2E8F0"/>
                  </a:solidFill>
                  <a:latin typeface="Consolas"/>
                  <a:ea typeface="Consolas"/>
                  <a:cs typeface="Consolas"/>
                </a:rPr>
                <a:t> Restaurant Zooba()</a:t>
              </a:r>
              <a:endParaRPr lang="en-US" sz="880" dirty="0"/>
            </a:p>
          </p:txBody>
        </p:sp>
        <p:sp>
          <p:nvSpPr>
            <p:cNvPr id="112" name="code_L05"/>
            <p:cNvSpPr txBox="1"/>
            <p:nvPr/>
          </p:nvSpPr>
          <p:spPr>
            <a:xfrm>
              <a:off x="771754" y="2928668"/>
              <a:ext cx="6923760" cy="176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sp>
          <p:nvSpPr>
            <p:cNvPr id="113" name="code_L06"/>
            <p:cNvSpPr txBox="1"/>
            <p:nvPr/>
          </p:nvSpPr>
          <p:spPr>
            <a:xfrm>
              <a:off x="771754" y="3104668"/>
              <a:ext cx="6923760" cy="176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80" b="0" dirty="0">
                  <a:solidFill>
                    <a:srgbClr val="60A5FA"/>
                  </a:solidFill>
                  <a:latin typeface="Consolas"/>
                  <a:ea typeface="Consolas"/>
                  <a:cs typeface="Consolas"/>
                </a:rPr>
                <a:t>var</a:t>
              </a:r>
              <a:r>
                <a:rPr lang="en-US" sz="880" b="0" dirty="0">
                  <a:solidFill>
                    <a:srgbClr val="E2E8F0"/>
                  </a:solidFill>
                  <a:latin typeface="Consolas"/>
                  <a:ea typeface="Consolas"/>
                  <a:cs typeface="Consolas"/>
                </a:rPr>
                <a:t> zooba = Restaurant.Create(</a:t>
              </a:r>
              <a:r>
                <a:rPr lang="en-US" sz="880" b="0" dirty="0">
                  <a:solidFill>
                    <a:srgbClr val="F0A98B"/>
                  </a:solidFill>
                  <a:latin typeface="Consolas"/>
                  <a:ea typeface="Consolas"/>
                  <a:cs typeface="Consolas"/>
                </a:rPr>
                <a:t>"Zooba"</a:t>
              </a:r>
              <a:r>
                <a:rPr lang="en-US" sz="880" b="0" dirty="0">
                  <a:solidFill>
                    <a:srgbClr val="E2E8F0"/>
                  </a:solidFill>
                  <a:latin typeface="Consolas"/>
                  <a:ea typeface="Consolas"/>
                  <a:cs typeface="Consolas"/>
                </a:rPr>
                <a:t>, Location.At(0, 0),</a:t>
              </a:r>
              <a:endParaRPr lang="en-US" sz="880" dirty="0"/>
            </a:p>
          </p:txBody>
        </p:sp>
        <p:sp>
          <p:nvSpPr>
            <p:cNvPr id="114" name="code_L07"/>
            <p:cNvSpPr txBox="1"/>
            <p:nvPr/>
          </p:nvSpPr>
          <p:spPr>
            <a:xfrm>
              <a:off x="771754" y="3280668"/>
              <a:ext cx="6923760" cy="176000"/>
            </a:xfrm>
            <a:prstGeom prst="rect">
              <a:avLst/>
            </a:prstGeom>
            <a:noFill/>
            <a:ln>
              <a:noFill/>
            </a:ln>
          </p:spPr>
          <p:txBody>
            <a:bodyPr wrap="none" lIns="0" tIns="0" rIns="0" bIns="0" rtlCol="0" anchor="ctr">
              <a:noAutofit/>
            </a:bodyPr>
            <a:lstStyle/>
            <a:p>
              <a:pPr marL="1592580" indent="0" algn="l">
                <a:spcBef>
                  <a:spcPts val="0"/>
                </a:spcBef>
                <a:spcAft>
                  <a:spcPts val="0"/>
                </a:spcAft>
                <a:buNone/>
              </a:pP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 TimeSpan(9, 0, 0), </a:t>
              </a: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 TimeSpan(23, 0, 0), 5);</a:t>
              </a:r>
              <a:endParaRPr lang="en-US" sz="880" dirty="0"/>
            </a:p>
          </p:txBody>
        </p:sp>
        <p:sp>
          <p:nvSpPr>
            <p:cNvPr id="115" name="code_L08"/>
            <p:cNvSpPr txBox="1"/>
            <p:nvPr/>
          </p:nvSpPr>
          <p:spPr>
            <a:xfrm>
              <a:off x="771754" y="3456668"/>
              <a:ext cx="6923760" cy="176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80" b="0" dirty="0">
                  <a:solidFill>
                    <a:srgbClr val="E2E8F0"/>
                  </a:solidFill>
                  <a:latin typeface="Consolas"/>
                  <a:ea typeface="Consolas"/>
                  <a:cs typeface="Consolas"/>
                </a:rPr>
                <a:t>zooba.AddMenuItem(</a:t>
              </a:r>
              <a:r>
                <a:rPr lang="en-US" sz="880" b="0" dirty="0">
                  <a:solidFill>
                    <a:srgbClr val="F0A98B"/>
                  </a:solidFill>
                  <a:latin typeface="Consolas"/>
                  <a:ea typeface="Consolas"/>
                  <a:cs typeface="Consolas"/>
                </a:rPr>
                <a:t>"Koshary"</a:t>
              </a:r>
              <a:r>
                <a:rPr lang="en-US" sz="880" b="0" dirty="0">
                  <a:solidFill>
                    <a:srgbClr val="E2E8F0"/>
                  </a:solidFill>
                  <a:latin typeface="Consolas"/>
                  <a:ea typeface="Consolas"/>
                  <a:cs typeface="Consolas"/>
                </a:rPr>
                <a:t>, </a:t>
              </a:r>
              <a:r>
                <a:rPr lang="en-US" sz="880" b="0" dirty="0">
                  <a:solidFill>
                    <a:srgbClr val="F0A98B"/>
                  </a:solidFill>
                  <a:latin typeface="Consolas"/>
                  <a:ea typeface="Consolas"/>
                  <a:cs typeface="Consolas"/>
                </a:rPr>
                <a:t>"Main"</a:t>
              </a:r>
              <a:r>
                <a:rPr lang="en-US" sz="880" b="0" dirty="0">
                  <a:solidFill>
                    <a:srgbClr val="E2E8F0"/>
                  </a:solidFill>
                  <a:latin typeface="Consolas"/>
                  <a:ea typeface="Consolas"/>
                  <a:cs typeface="Consolas"/>
                </a:rPr>
                <a:t>, 60m);</a:t>
              </a:r>
              <a:endParaRPr lang="en-US" sz="880" dirty="0"/>
            </a:p>
          </p:txBody>
        </p:sp>
        <p:sp>
          <p:nvSpPr>
            <p:cNvPr id="116" name="code_L09"/>
            <p:cNvSpPr txBox="1"/>
            <p:nvPr/>
          </p:nvSpPr>
          <p:spPr>
            <a:xfrm>
              <a:off x="771754" y="3632668"/>
              <a:ext cx="6923760" cy="176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80" b="0" dirty="0">
                  <a:solidFill>
                    <a:srgbClr val="60A5FA"/>
                  </a:solidFill>
                  <a:latin typeface="Consolas"/>
                  <a:ea typeface="Consolas"/>
                  <a:cs typeface="Consolas"/>
                </a:rPr>
                <a:t>return</a:t>
              </a:r>
              <a:r>
                <a:rPr lang="en-US" sz="880" b="0" dirty="0">
                  <a:solidFill>
                    <a:srgbClr val="E2E8F0"/>
                  </a:solidFill>
                  <a:latin typeface="Consolas"/>
                  <a:ea typeface="Consolas"/>
                  <a:cs typeface="Consolas"/>
                </a:rPr>
                <a:t> zooba;</a:t>
              </a:r>
              <a:endParaRPr lang="en-US" sz="880" dirty="0"/>
            </a:p>
          </p:txBody>
        </p:sp>
        <p:sp>
          <p:nvSpPr>
            <p:cNvPr id="117" name="code_L10"/>
            <p:cNvSpPr txBox="1"/>
            <p:nvPr/>
          </p:nvSpPr>
          <p:spPr>
            <a:xfrm>
              <a:off x="771754" y="3808668"/>
              <a:ext cx="6923760" cy="176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sp>
          <p:nvSpPr>
            <p:cNvPr id="118" name="code_L11"/>
            <p:cNvSpPr txBox="1"/>
            <p:nvPr/>
          </p:nvSpPr>
          <p:spPr>
            <a:xfrm>
              <a:off x="771754" y="3984668"/>
              <a:ext cx="6923760" cy="176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static</a:t>
              </a:r>
              <a:r>
                <a:rPr lang="en-US" sz="880" b="0" dirty="0">
                  <a:solidFill>
                    <a:srgbClr val="E2E8F0"/>
                  </a:solidFill>
                  <a:latin typeface="Consolas"/>
                  <a:ea typeface="Consolas"/>
                  <a:cs typeface="Consolas"/>
                </a:rPr>
                <a:t> Customer Mona() =&gt;</a:t>
              </a:r>
              <a:endParaRPr lang="en-US" sz="880" dirty="0"/>
            </a:p>
          </p:txBody>
        </p:sp>
        <p:sp>
          <p:nvSpPr>
            <p:cNvPr id="119" name="code_L12"/>
            <p:cNvSpPr txBox="1"/>
            <p:nvPr/>
          </p:nvSpPr>
          <p:spPr>
            <a:xfrm>
              <a:off x="771754" y="4160668"/>
              <a:ext cx="6923760" cy="176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80" b="0" dirty="0">
                  <a:solidFill>
                    <a:srgbClr val="E2E8F0"/>
                  </a:solidFill>
                  <a:latin typeface="Consolas"/>
                  <a:ea typeface="Consolas"/>
                  <a:cs typeface="Consolas"/>
                </a:rPr>
                <a:t>Customer.Create(</a:t>
              </a:r>
              <a:r>
                <a:rPr lang="en-US" sz="880" b="0" dirty="0">
                  <a:solidFill>
                    <a:srgbClr val="F0A98B"/>
                  </a:solidFill>
                  <a:latin typeface="Consolas"/>
                  <a:ea typeface="Consolas"/>
                  <a:cs typeface="Consolas"/>
                </a:rPr>
                <a:t>"Mona Ali"</a:t>
              </a:r>
              <a:r>
                <a:rPr lang="en-US" sz="880" b="0" dirty="0">
                  <a:solidFill>
                    <a:srgbClr val="E2E8F0"/>
                  </a:solidFill>
                  <a:latin typeface="Consolas"/>
                  <a:ea typeface="Consolas"/>
                  <a:cs typeface="Consolas"/>
                </a:rPr>
                <a:t>, </a:t>
              </a:r>
              <a:r>
                <a:rPr lang="en-US" sz="880" b="0" dirty="0">
                  <a:solidFill>
                    <a:srgbClr val="F0A98B"/>
                  </a:solidFill>
                  <a:latin typeface="Consolas"/>
                  <a:ea typeface="Consolas"/>
                  <a:cs typeface="Consolas"/>
                </a:rPr>
                <a:t>"01012345678"</a:t>
              </a:r>
              <a:r>
                <a:rPr lang="en-US" sz="880" b="0" dirty="0">
                  <a:solidFill>
                    <a:srgbClr val="E2E8F0"/>
                  </a:solidFill>
                  <a:latin typeface="Consolas"/>
                  <a:ea typeface="Consolas"/>
                  <a:cs typeface="Consolas"/>
                </a:rPr>
                <a:t>, </a:t>
              </a:r>
              <a:r>
                <a:rPr lang="en-US" sz="880" b="0" dirty="0">
                  <a:solidFill>
                    <a:srgbClr val="F0A98B"/>
                  </a:solidFill>
                  <a:latin typeface="Consolas"/>
                  <a:ea typeface="Consolas"/>
                  <a:cs typeface="Consolas"/>
                </a:rPr>
                <a:t>"mona@swiftbite.com"</a:t>
              </a:r>
              <a:r>
                <a:rPr lang="en-US" sz="880" b="0" dirty="0">
                  <a:solidFill>
                    <a:srgbClr val="E2E8F0"/>
                  </a:solidFill>
                  <a:latin typeface="Consolas"/>
                  <a:ea typeface="Consolas"/>
                  <a:cs typeface="Consolas"/>
                </a:rPr>
                <a:t>);</a:t>
              </a:r>
              <a:endParaRPr lang="en-US" sz="880" dirty="0"/>
            </a:p>
          </p:txBody>
        </p:sp>
        <p:sp>
          <p:nvSpPr>
            <p:cNvPr id="120" name="code_L14"/>
            <p:cNvSpPr txBox="1"/>
            <p:nvPr/>
          </p:nvSpPr>
          <p:spPr>
            <a:xfrm>
              <a:off x="771754" y="4512668"/>
              <a:ext cx="6923760" cy="176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FAE7A"/>
                  </a:solidFill>
                  <a:latin typeface="Consolas"/>
                  <a:ea typeface="Consolas"/>
                  <a:cs typeface="Consolas"/>
                </a:rPr>
                <a:t>// 2 x Koshary, cash, standard fee: total 151.80</a:t>
              </a:r>
              <a:endParaRPr lang="en-US" sz="880" dirty="0"/>
            </a:p>
          </p:txBody>
        </p:sp>
        <p:sp>
          <p:nvSpPr>
            <p:cNvPr id="121" name="code_L15"/>
            <p:cNvSpPr txBox="1"/>
            <p:nvPr/>
          </p:nvSpPr>
          <p:spPr>
            <a:xfrm>
              <a:off x="771754" y="4688668"/>
              <a:ext cx="6923760" cy="176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60A5FA"/>
                  </a:solidFill>
                  <a:latin typeface="Consolas"/>
                  <a:ea typeface="Consolas"/>
                  <a:cs typeface="Consolas"/>
                </a:rPr>
                <a:t>public</a:t>
              </a: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static</a:t>
              </a:r>
              <a:r>
                <a:rPr lang="en-US" sz="880" b="0" dirty="0">
                  <a:solidFill>
                    <a:srgbClr val="E2E8F0"/>
                  </a:solidFill>
                  <a:latin typeface="Consolas"/>
                  <a:ea typeface="Consolas"/>
                  <a:cs typeface="Consolas"/>
                </a:rPr>
                <a:t> OrderBuilder OrderFor(Customer c, Restaurant r,</a:t>
              </a:r>
              <a:endParaRPr lang="en-US" sz="880" dirty="0"/>
            </a:p>
          </p:txBody>
        </p:sp>
        <p:sp>
          <p:nvSpPr>
            <p:cNvPr id="122" name="code_L16"/>
            <p:cNvSpPr txBox="1"/>
            <p:nvPr/>
          </p:nvSpPr>
          <p:spPr>
            <a:xfrm>
              <a:off x="771754" y="4864668"/>
              <a:ext cx="6923760" cy="176000"/>
            </a:xfrm>
            <a:prstGeom prst="rect">
              <a:avLst/>
            </a:prstGeom>
            <a:noFill/>
            <a:ln>
              <a:noFill/>
            </a:ln>
          </p:spPr>
          <p:txBody>
            <a:bodyPr wrap="none" lIns="0" tIns="0" rIns="0" bIns="0" rtlCol="0" anchor="ctr">
              <a:noAutofit/>
            </a:bodyPr>
            <a:lstStyle/>
            <a:p>
              <a:pPr marL="2654300" indent="0" algn="l">
                <a:spcBef>
                  <a:spcPts val="0"/>
                </a:spcBef>
                <a:spcAft>
                  <a:spcPts val="0"/>
                </a:spcAft>
                <a:buNone/>
              </a:pPr>
              <a:r>
                <a:rPr lang="en-US" sz="880" b="0" dirty="0">
                  <a:solidFill>
                    <a:srgbClr val="E2E8F0"/>
                  </a:solidFill>
                  <a:latin typeface="Consolas"/>
                  <a:ea typeface="Consolas"/>
                  <a:cs typeface="Consolas"/>
                </a:rPr>
                <a:t>IPaymentMethod? payment = </a:t>
              </a:r>
              <a:r>
                <a:rPr lang="en-US" sz="880" b="0" dirty="0">
                  <a:solidFill>
                    <a:srgbClr val="60A5FA"/>
                  </a:solidFill>
                  <a:latin typeface="Consolas"/>
                  <a:ea typeface="Consolas"/>
                  <a:cs typeface="Consolas"/>
                </a:rPr>
                <a:t>null</a:t>
              </a:r>
              <a:r>
                <a:rPr lang="en-US" sz="880" b="0" dirty="0">
                  <a:solidFill>
                    <a:srgbClr val="E2E8F0"/>
                  </a:solidFill>
                  <a:latin typeface="Consolas"/>
                  <a:ea typeface="Consolas"/>
                  <a:cs typeface="Consolas"/>
                </a:rPr>
                <a:t>) =&gt;</a:t>
              </a:r>
              <a:endParaRPr lang="en-US" sz="880" dirty="0"/>
            </a:p>
          </p:txBody>
        </p:sp>
        <p:sp>
          <p:nvSpPr>
            <p:cNvPr id="123" name="code_L17"/>
            <p:cNvSpPr txBox="1"/>
            <p:nvPr/>
          </p:nvSpPr>
          <p:spPr>
            <a:xfrm>
              <a:off x="771754" y="5040668"/>
              <a:ext cx="6923760" cy="176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80" b="0" dirty="0">
                  <a:solidFill>
                    <a:srgbClr val="E2E8F0"/>
                  </a:solidFill>
                  <a:latin typeface="Consolas"/>
                  <a:ea typeface="Consolas"/>
                  <a:cs typeface="Consolas"/>
                </a:rPr>
                <a:t>OrderBuilder.For(c, r, </a:t>
              </a: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 DeliveryFeeCalculator([</a:t>
              </a: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 StandardFeeStrategy()]))</a:t>
              </a:r>
              <a:endParaRPr lang="en-US" sz="880" dirty="0"/>
            </a:p>
          </p:txBody>
        </p:sp>
        <p:sp>
          <p:nvSpPr>
            <p:cNvPr id="124" name="code_L18"/>
            <p:cNvSpPr txBox="1"/>
            <p:nvPr/>
          </p:nvSpPr>
          <p:spPr>
            <a:xfrm>
              <a:off x="771754" y="5216668"/>
              <a:ext cx="6923760" cy="176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80" b="0" dirty="0">
                  <a:solidFill>
                    <a:srgbClr val="E2E8F0"/>
                  </a:solidFill>
                  <a:latin typeface="Consolas"/>
                  <a:ea typeface="Consolas"/>
                  <a:cs typeface="Consolas"/>
                </a:rPr>
                <a:t>.AddItem(r.Menu[0], 2).DeliverTo(Home())</a:t>
              </a:r>
              <a:endParaRPr lang="en-US" sz="880" dirty="0"/>
            </a:p>
          </p:txBody>
        </p:sp>
        <p:sp>
          <p:nvSpPr>
            <p:cNvPr id="125" name="code_L19"/>
            <p:cNvSpPr txBox="1"/>
            <p:nvPr/>
          </p:nvSpPr>
          <p:spPr>
            <a:xfrm>
              <a:off x="771754" y="5392668"/>
              <a:ext cx="6923760" cy="176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880" b="0" dirty="0">
                  <a:solidFill>
                    <a:srgbClr val="E2E8F0"/>
                  </a:solidFill>
                  <a:latin typeface="Consolas"/>
                  <a:ea typeface="Consolas"/>
                  <a:cs typeface="Consolas"/>
                </a:rPr>
                <a:t>.PayWith(payment ?? </a:t>
              </a: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 CashOnDelivery());</a:t>
              </a:r>
              <a:endParaRPr lang="en-US" sz="880" dirty="0"/>
            </a:p>
          </p:txBody>
        </p:sp>
        <p:sp>
          <p:nvSpPr>
            <p:cNvPr id="126" name="code_L20"/>
            <p:cNvSpPr txBox="1"/>
            <p:nvPr/>
          </p:nvSpPr>
          <p:spPr>
            <a:xfrm>
              <a:off x="771754" y="5568668"/>
              <a:ext cx="6923760" cy="176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a:t>
              </a:r>
              <a:endParaRPr lang="en-US" sz="880" dirty="0"/>
            </a:p>
          </p:txBody>
        </p:sp>
      </p:grpSp>
      <p:sp>
        <p:nvSpPr>
          <p:cNvPr id="128" name="code_hl15"/>
          <p:cNvSpPr/>
          <p:nvPr/>
        </p:nvSpPr>
        <p:spPr>
          <a:xfrm>
            <a:off x="676656" y="4670380"/>
            <a:ext cx="6956760" cy="212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29" name="code_hl16"/>
          <p:cNvSpPr/>
          <p:nvPr/>
        </p:nvSpPr>
        <p:spPr>
          <a:xfrm>
            <a:off x="676656" y="4846380"/>
            <a:ext cx="6956760" cy="212576"/>
          </a:xfrm>
          <a:prstGeom prst="rect">
            <a:avLst/>
          </a:prstGeom>
          <a:solidFill>
            <a:srgbClr val="13D0F7">
              <a:alpha val="15000"/>
            </a:srgbClr>
          </a:solidFill>
          <a:ln w="12700">
            <a:solidFill>
              <a:srgbClr val="13D0F7"/>
            </a:solidFill>
            <a:prstDash val="solid"/>
          </a:ln>
        </p:spPr>
        <p:txBody>
          <a:bodyPr/>
          <a:lstStyle/>
          <a:p>
            <a:endParaRPr lang="en-US"/>
          </a:p>
        </p:txBody>
      </p:sp>
      <p:grpSp>
        <p:nvGrpSpPr>
          <p:cNvPr id="144" name="use"/>
          <p:cNvGrpSpPr/>
          <p:nvPr/>
        </p:nvGrpSpPr>
        <p:grpSpPr>
          <a:xfrm>
            <a:off x="7955280" y="1572768"/>
            <a:ext cx="3674974" cy="2140220"/>
            <a:chOff x="7955280" y="1572768"/>
            <a:chExt cx="3674974" cy="2140220"/>
          </a:xfrm>
        </p:grpSpPr>
        <p:sp>
          <p:nvSpPr>
            <p:cNvPr id="130" name="use_win"/>
            <p:cNvSpPr/>
            <p:nvPr/>
          </p:nvSpPr>
          <p:spPr>
            <a:xfrm>
              <a:off x="7955280" y="1572768"/>
              <a:ext cx="3674974" cy="2140220"/>
            </a:xfrm>
            <a:prstGeom prst="roundRect">
              <a:avLst>
                <a:gd name="adj" fmla="val 3203"/>
              </a:avLst>
            </a:prstGeom>
            <a:solidFill>
              <a:srgbClr val="060D18"/>
            </a:solidFill>
            <a:ln w="12700">
              <a:solidFill>
                <a:srgbClr val="1E3A5F"/>
              </a:solidFill>
              <a:prstDash val="solid"/>
            </a:ln>
          </p:spPr>
          <p:txBody>
            <a:bodyPr/>
            <a:lstStyle/>
            <a:p>
              <a:endParaRPr lang="en-US"/>
            </a:p>
          </p:txBody>
        </p:sp>
        <p:sp>
          <p:nvSpPr>
            <p:cNvPr id="131" name="use_bar"/>
            <p:cNvSpPr/>
            <p:nvPr/>
          </p:nvSpPr>
          <p:spPr>
            <a:xfrm>
              <a:off x="7955280" y="1572768"/>
              <a:ext cx="367497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2" name="use_barfill"/>
            <p:cNvSpPr/>
            <p:nvPr/>
          </p:nvSpPr>
          <p:spPr>
            <a:xfrm>
              <a:off x="7955280" y="1744218"/>
              <a:ext cx="3674974" cy="171450"/>
            </a:xfrm>
            <a:prstGeom prst="rect">
              <a:avLst/>
            </a:prstGeom>
            <a:solidFill>
              <a:srgbClr val="0A1220"/>
            </a:solidFill>
            <a:ln w="12700">
              <a:solidFill>
                <a:srgbClr val="0A1220"/>
              </a:solidFill>
              <a:prstDash val="solid"/>
            </a:ln>
          </p:spPr>
          <p:txBody>
            <a:bodyPr/>
            <a:lstStyle/>
            <a:p>
              <a:endParaRPr lang="en-US"/>
            </a:p>
          </p:txBody>
        </p:sp>
        <p:sp>
          <p:nvSpPr>
            <p:cNvPr id="133" name="use_dot0"/>
            <p:cNvSpPr/>
            <p:nvPr/>
          </p:nvSpPr>
          <p:spPr>
            <a:xfrm>
              <a:off x="811712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34" name="use_dot1"/>
            <p:cNvSpPr/>
            <p:nvPr/>
          </p:nvSpPr>
          <p:spPr>
            <a:xfrm>
              <a:off x="830275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35" name="use_dot2"/>
            <p:cNvSpPr/>
            <p:nvPr/>
          </p:nvSpPr>
          <p:spPr>
            <a:xfrm>
              <a:off x="848837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36" name="use_tab"/>
            <p:cNvSpPr/>
            <p:nvPr/>
          </p:nvSpPr>
          <p:spPr>
            <a:xfrm>
              <a:off x="8736177" y="162031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OrderServiceTests.cs</a:t>
              </a:r>
              <a:endParaRPr lang="en-US" sz="950" dirty="0"/>
            </a:p>
          </p:txBody>
        </p:sp>
        <p:sp>
          <p:nvSpPr>
            <p:cNvPr id="137" name="use_L00"/>
            <p:cNvSpPr txBox="1"/>
            <p:nvPr/>
          </p:nvSpPr>
          <p:spPr>
            <a:xfrm>
              <a:off x="8183880" y="2048668"/>
              <a:ext cx="3374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FAE7A"/>
                  </a:solidFill>
                  <a:latin typeface="Consolas"/>
                  <a:ea typeface="Consolas"/>
                  <a:cs typeface="Consolas"/>
                </a:rPr>
                <a:t>// a whole valid order in one line</a:t>
              </a:r>
              <a:endParaRPr lang="en-US" sz="880" dirty="0"/>
            </a:p>
          </p:txBody>
        </p:sp>
        <p:sp>
          <p:nvSpPr>
            <p:cNvPr id="138" name="use_L01"/>
            <p:cNvSpPr txBox="1"/>
            <p:nvPr/>
          </p:nvSpPr>
          <p:spPr>
            <a:xfrm>
              <a:off x="8183880" y="2241708"/>
              <a:ext cx="3374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0A5FA"/>
                  </a:solidFill>
                  <a:latin typeface="Consolas"/>
                  <a:ea typeface="Consolas"/>
                  <a:cs typeface="Consolas"/>
                </a:rPr>
                <a:t>var</a:t>
              </a:r>
              <a:r>
                <a:rPr lang="en-US" sz="880" b="0" dirty="0">
                  <a:solidFill>
                    <a:srgbClr val="E2E8F0"/>
                  </a:solidFill>
                  <a:latin typeface="Consolas"/>
                  <a:ea typeface="Consolas"/>
                  <a:cs typeface="Consolas"/>
                </a:rPr>
                <a:t> order = _service.Place(</a:t>
              </a:r>
              <a:endParaRPr lang="en-US" sz="880" dirty="0"/>
            </a:p>
          </p:txBody>
        </p:sp>
        <p:sp>
          <p:nvSpPr>
            <p:cNvPr id="139" name="use_L02"/>
            <p:cNvSpPr txBox="1"/>
            <p:nvPr/>
          </p:nvSpPr>
          <p:spPr>
            <a:xfrm>
              <a:off x="8183880" y="2434748"/>
              <a:ext cx="33749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TestData.OrderFor(_mona, TestData.Zooba()),</a:t>
              </a:r>
              <a:endParaRPr lang="en-US" sz="880" dirty="0"/>
            </a:p>
          </p:txBody>
        </p:sp>
        <p:sp>
          <p:nvSpPr>
            <p:cNvPr id="140" name="use_L03"/>
            <p:cNvSpPr txBox="1"/>
            <p:nvPr/>
          </p:nvSpPr>
          <p:spPr>
            <a:xfrm>
              <a:off x="8183880" y="2627788"/>
              <a:ext cx="337497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80" b="0" dirty="0">
                  <a:solidFill>
                    <a:srgbClr val="E2E8F0"/>
                  </a:solidFill>
                  <a:latin typeface="Consolas"/>
                  <a:ea typeface="Consolas"/>
                  <a:cs typeface="Consolas"/>
                </a:rPr>
                <a:t>TestData.Lunch);</a:t>
              </a:r>
              <a:endParaRPr lang="en-US" sz="880" dirty="0"/>
            </a:p>
          </p:txBody>
        </p:sp>
        <p:sp>
          <p:nvSpPr>
            <p:cNvPr id="141" name="use_L05"/>
            <p:cNvSpPr txBox="1"/>
            <p:nvPr/>
          </p:nvSpPr>
          <p:spPr>
            <a:xfrm>
              <a:off x="8183880" y="3013868"/>
              <a:ext cx="3374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6FAE7A"/>
                  </a:solidFill>
                  <a:latin typeface="Consolas"/>
                  <a:ea typeface="Consolas"/>
                  <a:cs typeface="Consolas"/>
                </a:rPr>
                <a:t>// change only what the test is about</a:t>
              </a:r>
              <a:endParaRPr lang="en-US" sz="880" dirty="0"/>
            </a:p>
          </p:txBody>
        </p:sp>
        <p:sp>
          <p:nvSpPr>
            <p:cNvPr id="142" name="use_L06"/>
            <p:cNvSpPr txBox="1"/>
            <p:nvPr/>
          </p:nvSpPr>
          <p:spPr>
            <a:xfrm>
              <a:off x="8183880" y="3206908"/>
              <a:ext cx="337497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80" b="0" dirty="0">
                  <a:solidFill>
                    <a:srgbClr val="E2E8F0"/>
                  </a:solidFill>
                  <a:latin typeface="Consolas"/>
                  <a:ea typeface="Consolas"/>
                  <a:cs typeface="Consolas"/>
                </a:rPr>
                <a:t>TestData.OrderFor(_mona, zooba,</a:t>
              </a:r>
              <a:endParaRPr lang="en-US" sz="880" dirty="0"/>
            </a:p>
          </p:txBody>
        </p:sp>
        <p:sp>
          <p:nvSpPr>
            <p:cNvPr id="143" name="use_L07"/>
            <p:cNvSpPr txBox="1"/>
            <p:nvPr/>
          </p:nvSpPr>
          <p:spPr>
            <a:xfrm>
              <a:off x="8183880" y="3399948"/>
              <a:ext cx="3374974" cy="193040"/>
            </a:xfrm>
            <a:prstGeom prst="rect">
              <a:avLst/>
            </a:prstGeom>
            <a:noFill/>
            <a:ln>
              <a:noFill/>
            </a:ln>
          </p:spPr>
          <p:txBody>
            <a:bodyPr wrap="none" lIns="0" tIns="0" rIns="0" bIns="0" rtlCol="0" anchor="ctr">
              <a:noAutofit/>
            </a:bodyPr>
            <a:lstStyle/>
            <a:p>
              <a:pPr marL="1061720" indent="0" algn="l">
                <a:spcBef>
                  <a:spcPts val="0"/>
                </a:spcBef>
                <a:spcAft>
                  <a:spcPts val="0"/>
                </a:spcAft>
                <a:buNone/>
              </a:pPr>
              <a:r>
                <a:rPr lang="en-US" sz="880" b="0" dirty="0">
                  <a:solidFill>
                    <a:srgbClr val="E2E8F0"/>
                  </a:solidFill>
                  <a:latin typeface="Consolas"/>
                  <a:ea typeface="Consolas"/>
                  <a:cs typeface="Consolas"/>
                </a:rPr>
                <a:t>  </a:t>
              </a:r>
              <a:r>
                <a:rPr lang="en-US" sz="880" b="0" dirty="0">
                  <a:solidFill>
                    <a:srgbClr val="60A5FA"/>
                  </a:solidFill>
                  <a:latin typeface="Consolas"/>
                  <a:ea typeface="Consolas"/>
                  <a:cs typeface="Consolas"/>
                </a:rPr>
                <a:t>new</a:t>
              </a:r>
              <a:r>
                <a:rPr lang="en-US" sz="880" b="0" dirty="0">
                  <a:solidFill>
                    <a:srgbClr val="E2E8F0"/>
                  </a:solidFill>
                  <a:latin typeface="Consolas"/>
                  <a:ea typeface="Consolas"/>
                  <a:cs typeface="Consolas"/>
                </a:rPr>
                <a:t> WalletPayment());</a:t>
              </a:r>
              <a:endParaRPr lang="en-US" sz="880" dirty="0"/>
            </a:p>
          </p:txBody>
        </p:sp>
      </p:grpSp>
      <p:sp>
        <p:nvSpPr>
          <p:cNvPr id="145" name="use_hl7"/>
          <p:cNvSpPr/>
          <p:nvPr/>
        </p:nvSpPr>
        <p:spPr>
          <a:xfrm>
            <a:off x="8088782" y="3381660"/>
            <a:ext cx="3407974" cy="229616"/>
          </a:xfrm>
          <a:prstGeom prst="rect">
            <a:avLst/>
          </a:prstGeom>
          <a:solidFill>
            <a:srgbClr val="13D0F7">
              <a:alpha val="15000"/>
            </a:srgbClr>
          </a:solidFill>
          <a:ln w="12700">
            <a:solidFill>
              <a:srgbClr val="13D0F7"/>
            </a:solidFill>
            <a:prstDash val="solid"/>
          </a:ln>
        </p:spPr>
        <p:txBody>
          <a:bodyPr/>
          <a:lstStyle/>
          <a:p>
            <a:endParaRPr lang="en-US"/>
          </a:p>
        </p:txBody>
      </p:sp>
      <p:sp>
        <p:nvSpPr>
          <p:cNvPr id="146" name="k1"/>
          <p:cNvSpPr/>
          <p:nvPr/>
        </p:nvSpPr>
        <p:spPr>
          <a:xfrm>
            <a:off x="7955280" y="3767328"/>
            <a:ext cx="3674974" cy="86868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VALID BY DEFAULT</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Every rule is satisfied: 151.80 EGP at lunch.</a:t>
            </a:r>
            <a:endParaRPr lang="en-US" sz="1100" dirty="0"/>
          </a:p>
        </p:txBody>
      </p:sp>
      <p:sp>
        <p:nvSpPr>
          <p:cNvPr id="147" name="k2"/>
          <p:cNvSpPr/>
          <p:nvPr/>
        </p:nvSpPr>
        <p:spPr>
          <a:xfrm>
            <a:off x="7955280" y="4754880"/>
            <a:ext cx="3674974" cy="868680"/>
          </a:xfrm>
          <a:prstGeom prst="roundRect">
            <a:avLst>
              <a:gd name="adj" fmla="val 8132"/>
            </a:avLst>
          </a:prstGeom>
          <a:solidFill>
            <a:srgbClr val="111B2E"/>
          </a:solidFill>
          <a:ln w="12700">
            <a:solidFill>
              <a:srgbClr val="13D0F7"/>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13D0F7"/>
                </a:solidFill>
                <a:latin typeface="Segoe UI"/>
                <a:ea typeface="Segoe UI"/>
                <a:cs typeface="Segoe UI"/>
              </a:rPr>
              <a:t>NEW OBJECTS EVERY CALL</a:t>
            </a:r>
            <a:endParaRPr lang="en-US" sz="1100" dirty="0"/>
          </a:p>
          <a:p>
            <a:pPr marL="0" indent="0" algn="l">
              <a:spcBef>
                <a:spcPts val="0"/>
              </a:spcBef>
              <a:spcAft>
                <a:spcPts val="0"/>
              </a:spcAft>
              <a:buNone/>
            </a:pPr>
            <a:r>
              <a:rPr lang="en-US" sz="1100" b="0" dirty="0">
                <a:solidFill>
                  <a:srgbClr val="CBD5E1"/>
                </a:solidFill>
                <a:latin typeface="Segoe UI"/>
                <a:ea typeface="Segoe UI"/>
                <a:cs typeface="Segoe UI"/>
              </a:rPr>
              <a:t>Methods, not shared fields: tests stay isolated.</a:t>
            </a:r>
            <a:endParaRPr lang="en-US" sz="1100" dirty="0"/>
          </a:p>
        </p:txBody>
      </p:sp>
    </p:spTree>
    <p:extLst>
      <p:ext uri="{BB962C8B-B14F-4D97-AF65-F5344CB8AC3E}">
        <p14:creationId xmlns:p14="http://schemas.microsoft.com/office/powerpoint/2010/main" val="512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400"/>
                                        <p:tgtEl>
                                          <p:spTgt spid="1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8"/>
                                        </p:tgtEl>
                                        <p:attrNameLst>
                                          <p:attrName>style.visibility</p:attrName>
                                        </p:attrNameLst>
                                      </p:cBhvr>
                                      <p:to>
                                        <p:strVal val="visible"/>
                                      </p:to>
                                    </p:set>
                                    <p:animEffect transition="in" filter="fade">
                                      <p:cBhvr>
                                        <p:cTn id="10" dur="400"/>
                                        <p:tgtEl>
                                          <p:spTgt spid="1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9"/>
                                        </p:tgtEl>
                                        <p:attrNameLst>
                                          <p:attrName>style.visibility</p:attrName>
                                        </p:attrNameLst>
                                      </p:cBhvr>
                                      <p:to>
                                        <p:strVal val="visible"/>
                                      </p:to>
                                    </p:set>
                                    <p:animEffect transition="in" filter="fade">
                                      <p:cBhvr>
                                        <p:cTn id="13" dur="400"/>
                                        <p:tgtEl>
                                          <p:spTgt spid="1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4"/>
                                        </p:tgtEl>
                                        <p:attrNameLst>
                                          <p:attrName>style.visibility</p:attrName>
                                        </p:attrNameLst>
                                      </p:cBhvr>
                                      <p:to>
                                        <p:strVal val="visible"/>
                                      </p:to>
                                    </p:set>
                                    <p:animEffect transition="in" filter="fade">
                                      <p:cBhvr>
                                        <p:cTn id="18" dur="400"/>
                                        <p:tgtEl>
                                          <p:spTgt spid="14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5"/>
                                        </p:tgtEl>
                                        <p:attrNameLst>
                                          <p:attrName>style.visibility</p:attrName>
                                        </p:attrNameLst>
                                      </p:cBhvr>
                                      <p:to>
                                        <p:strVal val="visible"/>
                                      </p:to>
                                    </p:set>
                                    <p:animEffect transition="in" filter="fade">
                                      <p:cBhvr>
                                        <p:cTn id="21" dur="400"/>
                                        <p:tgtEl>
                                          <p:spTgt spid="14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6"/>
                                        </p:tgtEl>
                                        <p:attrNameLst>
                                          <p:attrName>style.visibility</p:attrName>
                                        </p:attrNameLst>
                                      </p:cBhvr>
                                      <p:to>
                                        <p:strVal val="visible"/>
                                      </p:to>
                                    </p:set>
                                    <p:animEffect transition="in" filter="fade">
                                      <p:cBhvr>
                                        <p:cTn id="26" dur="400"/>
                                        <p:tgtEl>
                                          <p:spTgt spid="14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7"/>
                                        </p:tgtEl>
                                        <p:attrNameLst>
                                          <p:attrName>style.visibility</p:attrName>
                                        </p:attrNameLst>
                                      </p:cBhvr>
                                      <p:to>
                                        <p:strVal val="visible"/>
                                      </p:to>
                                    </p:set>
                                    <p:animEffect transition="in" filter="fade">
                                      <p:cBhvr>
                                        <p:cTn id="31" dur="4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animBg="1"/>
      <p:bldP spid="129" grpId="0" animBg="1"/>
      <p:bldP spid="145" grpId="0" animBg="1"/>
      <p:bldP spid="146" grpId="0" animBg="1"/>
      <p:bldP spid="147"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MOCKS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8: OrderService With Mocks and Real Objects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143</a:t>
            </a:r>
            <a:endParaRPr lang="en-US" sz="850" dirty="0"/>
          </a:p>
        </p:txBody>
      </p:sp>
      <p:sp>
        <p:nvSpPr>
          <p:cNvPr id="101" name="cl"/>
          <p:cNvSpPr txBox="1"/>
          <p:nvPr/>
        </p:nvSpPr>
        <p:spPr>
          <a:xfrm>
            <a:off x="543154" y="1463040"/>
            <a:ext cx="50292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5800954" y="1463040"/>
            <a:ext cx="58293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30" name="cls"/>
          <p:cNvGrpSpPr/>
          <p:nvPr/>
        </p:nvGrpSpPr>
        <p:grpSpPr>
          <a:xfrm>
            <a:off x="543154" y="1755648"/>
            <a:ext cx="5029200" cy="3719900"/>
            <a:chOff x="543154" y="1755648"/>
            <a:chExt cx="5029200" cy="3719900"/>
          </a:xfrm>
        </p:grpSpPr>
        <p:sp>
          <p:nvSpPr>
            <p:cNvPr id="103" name="cls_win"/>
            <p:cNvSpPr/>
            <p:nvPr/>
          </p:nvSpPr>
          <p:spPr>
            <a:xfrm>
              <a:off x="543154" y="1755648"/>
              <a:ext cx="5029200" cy="3719900"/>
            </a:xfrm>
            <a:prstGeom prst="roundRect">
              <a:avLst>
                <a:gd name="adj" fmla="val 1842"/>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0292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02920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339552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src/SwiftBite.Business/Orders/OrderService.cs</a:t>
              </a:r>
              <a:endParaRPr lang="en-US" sz="950" dirty="0"/>
            </a:p>
          </p:txBody>
        </p:sp>
        <p:sp>
          <p:nvSpPr>
            <p:cNvPr id="110" name="cls_L00"/>
            <p:cNvSpPr txBox="1"/>
            <p:nvPr/>
          </p:nvSpPr>
          <p:spPr>
            <a:xfrm>
              <a:off x="771754" y="2231548"/>
              <a:ext cx="47292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60A5FA"/>
                  </a:solidFill>
                  <a:latin typeface="Consolas"/>
                  <a:ea typeface="Consolas"/>
                  <a:cs typeface="Consolas"/>
                </a:rPr>
                <a:t>public</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class</a:t>
              </a:r>
              <a:r>
                <a:rPr lang="en-US" sz="680" b="0" dirty="0">
                  <a:solidFill>
                    <a:srgbClr val="E2E8F0"/>
                  </a:solidFill>
                  <a:latin typeface="Consolas"/>
                  <a:ea typeface="Consolas"/>
                  <a:cs typeface="Consolas"/>
                </a:rPr>
                <a:t> OrderService</a:t>
              </a:r>
              <a:endParaRPr lang="en-US" sz="680" dirty="0"/>
            </a:p>
          </p:txBody>
        </p:sp>
        <p:sp>
          <p:nvSpPr>
            <p:cNvPr id="111" name="cls_L01"/>
            <p:cNvSpPr txBox="1"/>
            <p:nvPr/>
          </p:nvSpPr>
          <p:spPr>
            <a:xfrm>
              <a:off x="771754" y="2373548"/>
              <a:ext cx="47292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12" name="cls_L02"/>
            <p:cNvSpPr txBox="1"/>
            <p:nvPr/>
          </p:nvSpPr>
          <p:spPr>
            <a:xfrm>
              <a:off x="771754" y="2515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60A5FA"/>
                  </a:solidFill>
                  <a:latin typeface="Consolas"/>
                  <a:ea typeface="Consolas"/>
                  <a:cs typeface="Consolas"/>
                </a:rPr>
                <a:t>private</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readonly</a:t>
              </a:r>
              <a:r>
                <a:rPr lang="en-US" sz="680" b="0" dirty="0">
                  <a:solidFill>
                    <a:srgbClr val="E2E8F0"/>
                  </a:solidFill>
                  <a:latin typeface="Consolas"/>
                  <a:ea typeface="Consolas"/>
                  <a:cs typeface="Consolas"/>
                </a:rPr>
                <a:t> INotificationSender _notifications;</a:t>
              </a:r>
              <a:endParaRPr lang="en-US" sz="680" dirty="0"/>
            </a:p>
          </p:txBody>
        </p:sp>
        <p:sp>
          <p:nvSpPr>
            <p:cNvPr id="113" name="cls_L03"/>
            <p:cNvSpPr txBox="1"/>
            <p:nvPr/>
          </p:nvSpPr>
          <p:spPr>
            <a:xfrm>
              <a:off x="771754" y="2657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60A5FA"/>
                  </a:solidFill>
                  <a:latin typeface="Consolas"/>
                  <a:ea typeface="Consolas"/>
                  <a:cs typeface="Consolas"/>
                </a:rPr>
                <a:t>private</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readonly</a:t>
              </a:r>
              <a:r>
                <a:rPr lang="en-US" sz="680" b="0" dirty="0">
                  <a:solidFill>
                    <a:srgbClr val="E2E8F0"/>
                  </a:solidFill>
                  <a:latin typeface="Consolas"/>
                  <a:ea typeface="Consolas"/>
                  <a:cs typeface="Consolas"/>
                </a:rPr>
                <a:t> ILogger _logger;</a:t>
              </a:r>
              <a:endParaRPr lang="en-US" sz="680" dirty="0"/>
            </a:p>
          </p:txBody>
        </p:sp>
        <p:sp>
          <p:nvSpPr>
            <p:cNvPr id="114" name="cls_L05"/>
            <p:cNvSpPr txBox="1"/>
            <p:nvPr/>
          </p:nvSpPr>
          <p:spPr>
            <a:xfrm>
              <a:off x="771754" y="2941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60A5FA"/>
                  </a:solidFill>
                  <a:latin typeface="Consolas"/>
                  <a:ea typeface="Consolas"/>
                  <a:cs typeface="Consolas"/>
                </a:rPr>
                <a:t>public</a:t>
              </a:r>
              <a:r>
                <a:rPr lang="en-US" sz="680" b="0" dirty="0">
                  <a:solidFill>
                    <a:srgbClr val="E2E8F0"/>
                  </a:solidFill>
                  <a:latin typeface="Consolas"/>
                  <a:ea typeface="Consolas"/>
                  <a:cs typeface="Consolas"/>
                </a:rPr>
                <a:t> Order Place(OrderBuilder builder, DateTime now)</a:t>
              </a:r>
              <a:endParaRPr lang="en-US" sz="680" dirty="0"/>
            </a:p>
          </p:txBody>
        </p:sp>
        <p:sp>
          <p:nvSpPr>
            <p:cNvPr id="115" name="cls_L06"/>
            <p:cNvSpPr txBox="1"/>
            <p:nvPr/>
          </p:nvSpPr>
          <p:spPr>
            <a:xfrm>
              <a:off x="771754" y="3083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16" name="cls_L07"/>
            <p:cNvSpPr txBox="1"/>
            <p:nvPr/>
          </p:nvSpPr>
          <p:spPr>
            <a:xfrm>
              <a:off x="771754" y="3225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60A5FA"/>
                  </a:solidFill>
                  <a:latin typeface="Consolas"/>
                  <a:ea typeface="Consolas"/>
                  <a:cs typeface="Consolas"/>
                </a:rPr>
                <a:t>var</a:t>
              </a:r>
              <a:r>
                <a:rPr lang="en-US" sz="680" b="0" dirty="0">
                  <a:solidFill>
                    <a:srgbClr val="E2E8F0"/>
                  </a:solidFill>
                  <a:latin typeface="Consolas"/>
                  <a:ea typeface="Consolas"/>
                  <a:cs typeface="Consolas"/>
                </a:rPr>
                <a:t> order = builder.Build(now);</a:t>
              </a:r>
              <a:endParaRPr lang="en-US" sz="680" dirty="0"/>
            </a:p>
          </p:txBody>
        </p:sp>
        <p:sp>
          <p:nvSpPr>
            <p:cNvPr id="117" name="cls_L08"/>
            <p:cNvSpPr txBox="1"/>
            <p:nvPr/>
          </p:nvSpPr>
          <p:spPr>
            <a:xfrm>
              <a:off x="771754" y="3367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order.Payment.Pay(order.Customer, order.Price.Total);</a:t>
              </a:r>
              <a:endParaRPr lang="en-US" sz="680" dirty="0"/>
            </a:p>
          </p:txBody>
        </p:sp>
        <p:sp>
          <p:nvSpPr>
            <p:cNvPr id="118" name="cls_L09"/>
            <p:cNvSpPr txBox="1"/>
            <p:nvPr/>
          </p:nvSpPr>
          <p:spPr>
            <a:xfrm>
              <a:off x="771754" y="3509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order.Customer.AddOrder(order);</a:t>
              </a:r>
              <a:endParaRPr lang="en-US" sz="680" dirty="0"/>
            </a:p>
          </p:txBody>
        </p:sp>
        <p:sp>
          <p:nvSpPr>
            <p:cNvPr id="119" name="cls_L10"/>
            <p:cNvSpPr txBox="1"/>
            <p:nvPr/>
          </p:nvSpPr>
          <p:spPr>
            <a:xfrm>
              <a:off x="771754" y="3651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_logger.Info(</a:t>
              </a:r>
              <a:r>
                <a:rPr lang="en-US" sz="680" b="0" dirty="0">
                  <a:solidFill>
                    <a:srgbClr val="F0A98B"/>
                  </a:solidFill>
                  <a:latin typeface="Consolas"/>
                  <a:ea typeface="Consolas"/>
                  <a:cs typeface="Consolas"/>
                </a:rPr>
                <a:t>$"Order #{order.Number} placed ..."</a:t>
              </a:r>
              <a:r>
                <a:rPr lang="en-US" sz="680" b="0" dirty="0">
                  <a:solidFill>
                    <a:srgbClr val="E2E8F0"/>
                  </a:solidFill>
                  <a:latin typeface="Consolas"/>
                  <a:ea typeface="Consolas"/>
                  <a:cs typeface="Consolas"/>
                </a:rPr>
                <a:t>);</a:t>
              </a:r>
              <a:endParaRPr lang="en-US" sz="680" dirty="0"/>
            </a:p>
          </p:txBody>
        </p:sp>
        <p:sp>
          <p:nvSpPr>
            <p:cNvPr id="120" name="cls_L11"/>
            <p:cNvSpPr txBox="1"/>
            <p:nvPr/>
          </p:nvSpPr>
          <p:spPr>
            <a:xfrm>
              <a:off x="771754" y="3793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Notify(order,</a:t>
              </a:r>
              <a:endParaRPr lang="en-US" sz="680" dirty="0"/>
            </a:p>
          </p:txBody>
        </p:sp>
        <p:sp>
          <p:nvSpPr>
            <p:cNvPr id="121" name="cls_L12"/>
            <p:cNvSpPr txBox="1"/>
            <p:nvPr/>
          </p:nvSpPr>
          <p:spPr>
            <a:xfrm>
              <a:off x="771754" y="3935548"/>
              <a:ext cx="4729200" cy="142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680" b="0" dirty="0">
                  <a:solidFill>
                    <a:srgbClr val="F0A98B"/>
                  </a:solidFill>
                  <a:latin typeface="Consolas"/>
                  <a:ea typeface="Consolas"/>
                  <a:cs typeface="Consolas"/>
                </a:rPr>
                <a:t>$"Order #{order.Number} placed. Total {order.Price.Total:0.00} EGP"</a:t>
              </a:r>
              <a:r>
                <a:rPr lang="en-US" sz="680" b="0" dirty="0">
                  <a:solidFill>
                    <a:srgbClr val="E2E8F0"/>
                  </a:solidFill>
                  <a:latin typeface="Consolas"/>
                  <a:ea typeface="Consolas"/>
                  <a:cs typeface="Consolas"/>
                </a:rPr>
                <a:t>);</a:t>
              </a:r>
              <a:endParaRPr lang="en-US" sz="680" dirty="0"/>
            </a:p>
          </p:txBody>
        </p:sp>
        <p:sp>
          <p:nvSpPr>
            <p:cNvPr id="122" name="cls_L13"/>
            <p:cNvSpPr txBox="1"/>
            <p:nvPr/>
          </p:nvSpPr>
          <p:spPr>
            <a:xfrm>
              <a:off x="771754" y="4077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60A5FA"/>
                  </a:solidFill>
                  <a:latin typeface="Consolas"/>
                  <a:ea typeface="Consolas"/>
                  <a:cs typeface="Consolas"/>
                </a:rPr>
                <a:t>return</a:t>
              </a:r>
              <a:r>
                <a:rPr lang="en-US" sz="680" b="0" dirty="0">
                  <a:solidFill>
                    <a:srgbClr val="E2E8F0"/>
                  </a:solidFill>
                  <a:latin typeface="Consolas"/>
                  <a:ea typeface="Consolas"/>
                  <a:cs typeface="Consolas"/>
                </a:rPr>
                <a:t> order;</a:t>
              </a:r>
              <a:endParaRPr lang="en-US" sz="680" dirty="0"/>
            </a:p>
          </p:txBody>
        </p:sp>
        <p:sp>
          <p:nvSpPr>
            <p:cNvPr id="123" name="cls_L14"/>
            <p:cNvSpPr txBox="1"/>
            <p:nvPr/>
          </p:nvSpPr>
          <p:spPr>
            <a:xfrm>
              <a:off x="771754" y="4219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24" name="cls_L16"/>
            <p:cNvSpPr txBox="1"/>
            <p:nvPr/>
          </p:nvSpPr>
          <p:spPr>
            <a:xfrm>
              <a:off x="771754" y="4503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60A5FA"/>
                  </a:solidFill>
                  <a:latin typeface="Consolas"/>
                  <a:ea typeface="Consolas"/>
                  <a:cs typeface="Consolas"/>
                </a:rPr>
                <a:t>public</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void</a:t>
              </a:r>
              <a:r>
                <a:rPr lang="en-US" sz="680" b="0" dirty="0">
                  <a:solidFill>
                    <a:srgbClr val="E2E8F0"/>
                  </a:solidFill>
                  <a:latin typeface="Consolas"/>
                  <a:ea typeface="Consolas"/>
                  <a:cs typeface="Consolas"/>
                </a:rPr>
                <a:t> Cancel(Order order)</a:t>
              </a:r>
              <a:endParaRPr lang="en-US" sz="680" dirty="0"/>
            </a:p>
          </p:txBody>
        </p:sp>
        <p:sp>
          <p:nvSpPr>
            <p:cNvPr id="125" name="cls_L17"/>
            <p:cNvSpPr txBox="1"/>
            <p:nvPr/>
          </p:nvSpPr>
          <p:spPr>
            <a:xfrm>
              <a:off x="771754" y="4645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26" name="cls_L18"/>
            <p:cNvSpPr txBox="1"/>
            <p:nvPr/>
          </p:nvSpPr>
          <p:spPr>
            <a:xfrm>
              <a:off x="771754" y="4787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order.Cancel();                    </a:t>
              </a:r>
              <a:r>
                <a:rPr lang="en-US" sz="680" b="0" dirty="0">
                  <a:solidFill>
                    <a:srgbClr val="6FAE7A"/>
                  </a:solidFill>
                  <a:latin typeface="Consolas"/>
                  <a:ea typeface="Consolas"/>
                  <a:cs typeface="Consolas"/>
                </a:rPr>
                <a:t>// refunds a wallet payment</a:t>
              </a:r>
              <a:endParaRPr lang="en-US" sz="680" dirty="0"/>
            </a:p>
          </p:txBody>
        </p:sp>
        <p:sp>
          <p:nvSpPr>
            <p:cNvPr id="127" name="cls_L19"/>
            <p:cNvSpPr txBox="1"/>
            <p:nvPr/>
          </p:nvSpPr>
          <p:spPr>
            <a:xfrm>
              <a:off x="771754" y="4929548"/>
              <a:ext cx="47292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Notify(order, </a:t>
              </a:r>
              <a:r>
                <a:rPr lang="en-US" sz="680" b="0" dirty="0">
                  <a:solidFill>
                    <a:srgbClr val="F0A98B"/>
                  </a:solidFill>
                  <a:latin typeface="Consolas"/>
                  <a:ea typeface="Consolas"/>
                  <a:cs typeface="Consolas"/>
                </a:rPr>
                <a:t>$"Order #{order.Number} cancelled."</a:t>
              </a:r>
              <a:r>
                <a:rPr lang="en-US" sz="680" b="0" dirty="0">
                  <a:solidFill>
                    <a:srgbClr val="E2E8F0"/>
                  </a:solidFill>
                  <a:latin typeface="Consolas"/>
                  <a:ea typeface="Consolas"/>
                  <a:cs typeface="Consolas"/>
                </a:rPr>
                <a:t>);</a:t>
              </a:r>
              <a:endParaRPr lang="en-US" sz="680" dirty="0"/>
            </a:p>
          </p:txBody>
        </p:sp>
        <p:sp>
          <p:nvSpPr>
            <p:cNvPr id="128" name="cls_L20"/>
            <p:cNvSpPr txBox="1"/>
            <p:nvPr/>
          </p:nvSpPr>
          <p:spPr>
            <a:xfrm>
              <a:off x="771754" y="5071548"/>
              <a:ext cx="47292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29" name="cls_L21"/>
            <p:cNvSpPr txBox="1"/>
            <p:nvPr/>
          </p:nvSpPr>
          <p:spPr>
            <a:xfrm>
              <a:off x="771754" y="5213548"/>
              <a:ext cx="47292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grpSp>
      <p:sp>
        <p:nvSpPr>
          <p:cNvPr id="131" name="cls_hl8"/>
          <p:cNvSpPr/>
          <p:nvPr/>
        </p:nvSpPr>
        <p:spPr>
          <a:xfrm>
            <a:off x="676656" y="3349260"/>
            <a:ext cx="4762200" cy="17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32" name="cls_hl11"/>
          <p:cNvSpPr/>
          <p:nvPr/>
        </p:nvSpPr>
        <p:spPr>
          <a:xfrm>
            <a:off x="676656" y="3775260"/>
            <a:ext cx="4762200" cy="17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33" name="cls_hl12"/>
          <p:cNvSpPr/>
          <p:nvPr/>
        </p:nvSpPr>
        <p:spPr>
          <a:xfrm>
            <a:off x="676656" y="3917260"/>
            <a:ext cx="4762200" cy="17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34" name="cls_hl18"/>
          <p:cNvSpPr/>
          <p:nvPr/>
        </p:nvSpPr>
        <p:spPr>
          <a:xfrm>
            <a:off x="676656" y="4769260"/>
            <a:ext cx="4762200" cy="178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62" name="tst"/>
          <p:cNvGrpSpPr/>
          <p:nvPr/>
        </p:nvGrpSpPr>
        <p:grpSpPr>
          <a:xfrm>
            <a:off x="5800954" y="1755648"/>
            <a:ext cx="5829300" cy="3719900"/>
            <a:chOff x="5800954" y="1755648"/>
            <a:chExt cx="5829300" cy="3719900"/>
          </a:xfrm>
        </p:grpSpPr>
        <p:sp>
          <p:nvSpPr>
            <p:cNvPr id="135" name="tst_win"/>
            <p:cNvSpPr/>
            <p:nvPr/>
          </p:nvSpPr>
          <p:spPr>
            <a:xfrm>
              <a:off x="5800954" y="1755648"/>
              <a:ext cx="5829300" cy="3719900"/>
            </a:xfrm>
            <a:prstGeom prst="roundRect">
              <a:avLst>
                <a:gd name="adj" fmla="val 1842"/>
              </a:avLst>
            </a:prstGeom>
            <a:solidFill>
              <a:srgbClr val="060D18"/>
            </a:solidFill>
            <a:ln w="12700">
              <a:solidFill>
                <a:srgbClr val="1E3A5F"/>
              </a:solidFill>
              <a:prstDash val="solid"/>
            </a:ln>
          </p:spPr>
          <p:txBody>
            <a:bodyPr/>
            <a:lstStyle/>
            <a:p>
              <a:endParaRPr lang="en-US"/>
            </a:p>
          </p:txBody>
        </p:sp>
        <p:sp>
          <p:nvSpPr>
            <p:cNvPr id="136" name="tst_bar"/>
            <p:cNvSpPr/>
            <p:nvPr/>
          </p:nvSpPr>
          <p:spPr>
            <a:xfrm>
              <a:off x="5800954" y="1755648"/>
              <a:ext cx="58293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7" name="tst_barfill"/>
            <p:cNvSpPr/>
            <p:nvPr/>
          </p:nvSpPr>
          <p:spPr>
            <a:xfrm>
              <a:off x="5800954" y="1927098"/>
              <a:ext cx="5829300" cy="171450"/>
            </a:xfrm>
            <a:prstGeom prst="rect">
              <a:avLst/>
            </a:prstGeom>
            <a:solidFill>
              <a:srgbClr val="0A1220"/>
            </a:solidFill>
            <a:ln w="12700">
              <a:solidFill>
                <a:srgbClr val="0A1220"/>
              </a:solidFill>
              <a:prstDash val="solid"/>
            </a:ln>
          </p:spPr>
          <p:txBody>
            <a:bodyPr/>
            <a:lstStyle/>
            <a:p>
              <a:endParaRPr lang="en-US"/>
            </a:p>
          </p:txBody>
        </p:sp>
        <p:sp>
          <p:nvSpPr>
            <p:cNvPr id="138" name="tst_dot0"/>
            <p:cNvSpPr/>
            <p:nvPr/>
          </p:nvSpPr>
          <p:spPr>
            <a:xfrm>
              <a:off x="59628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9" name="tst_dot1"/>
            <p:cNvSpPr/>
            <p:nvPr/>
          </p:nvSpPr>
          <p:spPr>
            <a:xfrm>
              <a:off x="61484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40" name="tst_dot2"/>
            <p:cNvSpPr/>
            <p:nvPr/>
          </p:nvSpPr>
          <p:spPr>
            <a:xfrm>
              <a:off x="63340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41" name="tst_tab"/>
            <p:cNvSpPr/>
            <p:nvPr/>
          </p:nvSpPr>
          <p:spPr>
            <a:xfrm>
              <a:off x="6581851" y="1803197"/>
              <a:ext cx="2169315"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Orders/OrderServiceTests.cs</a:t>
              </a:r>
              <a:endParaRPr lang="en-US" sz="950" dirty="0"/>
            </a:p>
          </p:txBody>
        </p:sp>
        <p:sp>
          <p:nvSpPr>
            <p:cNvPr id="142" name="tst_L00"/>
            <p:cNvSpPr txBox="1"/>
            <p:nvPr/>
          </p:nvSpPr>
          <p:spPr>
            <a:xfrm>
              <a:off x="6029554" y="2231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60A5FA"/>
                  </a:solidFill>
                  <a:latin typeface="Consolas"/>
                  <a:ea typeface="Consolas"/>
                  <a:cs typeface="Consolas"/>
                </a:rPr>
                <a:t>private</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readonly</a:t>
              </a:r>
              <a:r>
                <a:rPr lang="en-US" sz="680" b="0" dirty="0">
                  <a:solidFill>
                    <a:srgbClr val="E2E8F0"/>
                  </a:solidFill>
                  <a:latin typeface="Consolas"/>
                  <a:ea typeface="Consolas"/>
                  <a:cs typeface="Consolas"/>
                </a:rPr>
                <a:t> INotificationSender _notifier = Substitute.For&lt;INotificationSender&gt;();</a:t>
              </a:r>
              <a:endParaRPr lang="en-US" sz="680" dirty="0"/>
            </a:p>
          </p:txBody>
        </p:sp>
        <p:sp>
          <p:nvSpPr>
            <p:cNvPr id="143" name="tst_L01"/>
            <p:cNvSpPr txBox="1"/>
            <p:nvPr/>
          </p:nvSpPr>
          <p:spPr>
            <a:xfrm>
              <a:off x="6029554" y="2373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60A5FA"/>
                  </a:solidFill>
                  <a:latin typeface="Consolas"/>
                  <a:ea typeface="Consolas"/>
                  <a:cs typeface="Consolas"/>
                </a:rPr>
                <a:t>private</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readonly</a:t>
              </a:r>
              <a:r>
                <a:rPr lang="en-US" sz="680" b="0" dirty="0">
                  <a:solidFill>
                    <a:srgbClr val="E2E8F0"/>
                  </a:solidFill>
                  <a:latin typeface="Consolas"/>
                  <a:ea typeface="Consolas"/>
                  <a:cs typeface="Consolas"/>
                </a:rPr>
                <a:t> ILogger _logger = Substitute.For&lt;ILogger&gt;();</a:t>
              </a:r>
              <a:endParaRPr lang="en-US" sz="680" dirty="0"/>
            </a:p>
          </p:txBody>
        </p:sp>
        <p:sp>
          <p:nvSpPr>
            <p:cNvPr id="144" name="tst_L02"/>
            <p:cNvSpPr txBox="1"/>
            <p:nvPr/>
          </p:nvSpPr>
          <p:spPr>
            <a:xfrm>
              <a:off x="6029554" y="2515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60A5FA"/>
                  </a:solidFill>
                  <a:latin typeface="Consolas"/>
                  <a:ea typeface="Consolas"/>
                  <a:cs typeface="Consolas"/>
                </a:rPr>
                <a:t>private</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readonly</a:t>
              </a:r>
              <a:r>
                <a:rPr lang="en-US" sz="680" b="0" dirty="0">
                  <a:solidFill>
                    <a:srgbClr val="E2E8F0"/>
                  </a:solidFill>
                  <a:latin typeface="Consolas"/>
                  <a:ea typeface="Consolas"/>
                  <a:cs typeface="Consolas"/>
                </a:rPr>
                <a:t> Customer _mona = TestData.Mona();</a:t>
              </a:r>
              <a:endParaRPr lang="en-US" sz="680" dirty="0"/>
            </a:p>
          </p:txBody>
        </p:sp>
        <p:sp>
          <p:nvSpPr>
            <p:cNvPr id="145" name="tst_L03"/>
            <p:cNvSpPr txBox="1"/>
            <p:nvPr/>
          </p:nvSpPr>
          <p:spPr>
            <a:xfrm>
              <a:off x="6029554" y="2657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6FAE7A"/>
                  </a:solidFill>
                  <a:latin typeface="Consolas"/>
                  <a:ea typeface="Consolas"/>
                  <a:cs typeface="Consolas"/>
                </a:rPr>
                <a:t>// _service = new OrderService(_notifier, _logger) in the constructor</a:t>
              </a:r>
              <a:endParaRPr lang="en-US" sz="680" dirty="0"/>
            </a:p>
          </p:txBody>
        </p:sp>
        <p:sp>
          <p:nvSpPr>
            <p:cNvPr id="146" name="tst_L05"/>
            <p:cNvSpPr txBox="1"/>
            <p:nvPr/>
          </p:nvSpPr>
          <p:spPr>
            <a:xfrm>
              <a:off x="6029554" y="2941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[Fact]</a:t>
              </a:r>
              <a:endParaRPr lang="en-US" sz="680" dirty="0"/>
            </a:p>
          </p:txBody>
        </p:sp>
        <p:sp>
          <p:nvSpPr>
            <p:cNvPr id="147" name="tst_L06"/>
            <p:cNvSpPr txBox="1"/>
            <p:nvPr/>
          </p:nvSpPr>
          <p:spPr>
            <a:xfrm>
              <a:off x="6029554" y="3083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60A5FA"/>
                  </a:solidFill>
                  <a:latin typeface="Consolas"/>
                  <a:ea typeface="Consolas"/>
                  <a:cs typeface="Consolas"/>
                </a:rPr>
                <a:t>public</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void</a:t>
              </a:r>
              <a:r>
                <a:rPr lang="en-US" sz="680" b="0" dirty="0">
                  <a:solidFill>
                    <a:srgbClr val="E2E8F0"/>
                  </a:solidFill>
                  <a:latin typeface="Consolas"/>
                  <a:ea typeface="Consolas"/>
                  <a:cs typeface="Consolas"/>
                </a:rPr>
                <a:t> Place_NotifiesTheCustomerWithTheTotal()</a:t>
              </a:r>
              <a:endParaRPr lang="en-US" sz="680" dirty="0"/>
            </a:p>
          </p:txBody>
        </p:sp>
        <p:sp>
          <p:nvSpPr>
            <p:cNvPr id="148" name="tst_L07"/>
            <p:cNvSpPr txBox="1"/>
            <p:nvPr/>
          </p:nvSpPr>
          <p:spPr>
            <a:xfrm>
              <a:off x="6029554" y="3225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49" name="tst_L08"/>
            <p:cNvSpPr txBox="1"/>
            <p:nvPr/>
          </p:nvSpPr>
          <p:spPr>
            <a:xfrm>
              <a:off x="6029554" y="3367548"/>
              <a:ext cx="55293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60A5FA"/>
                  </a:solidFill>
                  <a:latin typeface="Consolas"/>
                  <a:ea typeface="Consolas"/>
                  <a:cs typeface="Consolas"/>
                </a:rPr>
                <a:t>var</a:t>
              </a:r>
              <a:r>
                <a:rPr lang="en-US" sz="680" b="0" dirty="0">
                  <a:solidFill>
                    <a:srgbClr val="E2E8F0"/>
                  </a:solidFill>
                  <a:latin typeface="Consolas"/>
                  <a:ea typeface="Consolas"/>
                  <a:cs typeface="Consolas"/>
                </a:rPr>
                <a:t> order = _service.Place(TestData.OrderFor(_mona, TestData.Zooba()), TestData.Lunch);</a:t>
              </a:r>
              <a:endParaRPr lang="en-US" sz="680" dirty="0"/>
            </a:p>
          </p:txBody>
        </p:sp>
        <p:sp>
          <p:nvSpPr>
            <p:cNvPr id="150" name="tst_L09"/>
            <p:cNvSpPr txBox="1"/>
            <p:nvPr/>
          </p:nvSpPr>
          <p:spPr>
            <a:xfrm>
              <a:off x="6029554" y="3509548"/>
              <a:ext cx="55293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_notifier.Received(1).NotifyCustomer(_mona,</a:t>
              </a:r>
              <a:endParaRPr lang="en-US" sz="680" dirty="0"/>
            </a:p>
          </p:txBody>
        </p:sp>
        <p:sp>
          <p:nvSpPr>
            <p:cNvPr id="151" name="tst_L10"/>
            <p:cNvSpPr txBox="1"/>
            <p:nvPr/>
          </p:nvSpPr>
          <p:spPr>
            <a:xfrm>
              <a:off x="6029554" y="3651548"/>
              <a:ext cx="55293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Arg.Is&lt;</a:t>
              </a:r>
              <a:r>
                <a:rPr lang="en-US" sz="680" b="0" dirty="0">
                  <a:solidFill>
                    <a:srgbClr val="60A5FA"/>
                  </a:solidFill>
                  <a:latin typeface="Consolas"/>
                  <a:ea typeface="Consolas"/>
                  <a:cs typeface="Consolas"/>
                </a:rPr>
                <a:t>string</a:t>
              </a:r>
              <a:r>
                <a:rPr lang="en-US" sz="680" b="0" dirty="0">
                  <a:solidFill>
                    <a:srgbClr val="E2E8F0"/>
                  </a:solidFill>
                  <a:latin typeface="Consolas"/>
                  <a:ea typeface="Consolas"/>
                  <a:cs typeface="Consolas"/>
                </a:rPr>
                <a:t>&gt;(m =&gt; m.Contains(</a:t>
              </a:r>
              <a:r>
                <a:rPr lang="en-US" sz="680" b="0" dirty="0">
                  <a:solidFill>
                    <a:srgbClr val="F0A98B"/>
                  </a:solidFill>
                  <a:latin typeface="Consolas"/>
                  <a:ea typeface="Consolas"/>
                  <a:cs typeface="Consolas"/>
                </a:rPr>
                <a:t>$"#{order.Number}"</a:t>
              </a:r>
              <a:r>
                <a:rPr lang="en-US" sz="680" b="0" dirty="0">
                  <a:solidFill>
                    <a:srgbClr val="E2E8F0"/>
                  </a:solidFill>
                  <a:latin typeface="Consolas"/>
                  <a:ea typeface="Consolas"/>
                  <a:cs typeface="Consolas"/>
                </a:rPr>
                <a:t>) &amp;&amp; m.Contains(</a:t>
              </a:r>
              <a:r>
                <a:rPr lang="en-US" sz="680" b="0" dirty="0">
                  <a:solidFill>
                    <a:srgbClr val="F0A98B"/>
                  </a:solidFill>
                  <a:latin typeface="Consolas"/>
                  <a:ea typeface="Consolas"/>
                  <a:cs typeface="Consolas"/>
                </a:rPr>
                <a:t>"151.80"</a:t>
              </a:r>
              <a:r>
                <a:rPr lang="en-US" sz="680" b="0" dirty="0">
                  <a:solidFill>
                    <a:srgbClr val="E2E8F0"/>
                  </a:solidFill>
                  <a:latin typeface="Consolas"/>
                  <a:ea typeface="Consolas"/>
                  <a:cs typeface="Consolas"/>
                </a:rPr>
                <a:t>)));</a:t>
              </a:r>
              <a:endParaRPr lang="en-US" sz="680" dirty="0"/>
            </a:p>
          </p:txBody>
        </p:sp>
        <p:sp>
          <p:nvSpPr>
            <p:cNvPr id="152" name="tst_L11"/>
            <p:cNvSpPr txBox="1"/>
            <p:nvPr/>
          </p:nvSpPr>
          <p:spPr>
            <a:xfrm>
              <a:off x="6029554" y="3793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53" name="tst_L13"/>
            <p:cNvSpPr txBox="1"/>
            <p:nvPr/>
          </p:nvSpPr>
          <p:spPr>
            <a:xfrm>
              <a:off x="6029554" y="4077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[Fact]</a:t>
              </a:r>
              <a:endParaRPr lang="en-US" sz="680" dirty="0"/>
            </a:p>
          </p:txBody>
        </p:sp>
        <p:sp>
          <p:nvSpPr>
            <p:cNvPr id="154" name="tst_L14"/>
            <p:cNvSpPr txBox="1"/>
            <p:nvPr/>
          </p:nvSpPr>
          <p:spPr>
            <a:xfrm>
              <a:off x="6029554" y="4219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60A5FA"/>
                  </a:solidFill>
                  <a:latin typeface="Consolas"/>
                  <a:ea typeface="Consolas"/>
                  <a:cs typeface="Consolas"/>
                </a:rPr>
                <a:t>public</a:t>
              </a:r>
              <a:r>
                <a:rPr lang="en-US" sz="680" b="0" dirty="0">
                  <a:solidFill>
                    <a:srgbClr val="E2E8F0"/>
                  </a:solidFill>
                  <a:latin typeface="Consolas"/>
                  <a:ea typeface="Consolas"/>
                  <a:cs typeface="Consolas"/>
                </a:rPr>
                <a:t> </a:t>
              </a:r>
              <a:r>
                <a:rPr lang="en-US" sz="680" b="0" dirty="0">
                  <a:solidFill>
                    <a:srgbClr val="60A5FA"/>
                  </a:solidFill>
                  <a:latin typeface="Consolas"/>
                  <a:ea typeface="Consolas"/>
                  <a:cs typeface="Consolas"/>
                </a:rPr>
                <a:t>void</a:t>
              </a:r>
              <a:r>
                <a:rPr lang="en-US" sz="680" b="0" dirty="0">
                  <a:solidFill>
                    <a:srgbClr val="E2E8F0"/>
                  </a:solidFill>
                  <a:latin typeface="Consolas"/>
                  <a:ea typeface="Consolas"/>
                  <a:cs typeface="Consolas"/>
                </a:rPr>
                <a:t> Cancel_WalletOrder_RefundsTheWallet()</a:t>
              </a:r>
              <a:endParaRPr lang="en-US" sz="680" dirty="0"/>
            </a:p>
          </p:txBody>
        </p:sp>
        <p:sp>
          <p:nvSpPr>
            <p:cNvPr id="155" name="tst_L15"/>
            <p:cNvSpPr txBox="1"/>
            <p:nvPr/>
          </p:nvSpPr>
          <p:spPr>
            <a:xfrm>
              <a:off x="6029554" y="4361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sp>
          <p:nvSpPr>
            <p:cNvPr id="156" name="tst_L16"/>
            <p:cNvSpPr txBox="1"/>
            <p:nvPr/>
          </p:nvSpPr>
          <p:spPr>
            <a:xfrm>
              <a:off x="6029554" y="4503548"/>
              <a:ext cx="55293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_mona.Wallet.TopUp(500m);</a:t>
              </a:r>
              <a:endParaRPr lang="en-US" sz="680" dirty="0"/>
            </a:p>
          </p:txBody>
        </p:sp>
        <p:sp>
          <p:nvSpPr>
            <p:cNvPr id="157" name="tst_L17"/>
            <p:cNvSpPr txBox="1"/>
            <p:nvPr/>
          </p:nvSpPr>
          <p:spPr>
            <a:xfrm>
              <a:off x="6029554" y="4645548"/>
              <a:ext cx="55293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60A5FA"/>
                  </a:solidFill>
                  <a:latin typeface="Consolas"/>
                  <a:ea typeface="Consolas"/>
                  <a:cs typeface="Consolas"/>
                </a:rPr>
                <a:t>var</a:t>
              </a:r>
              <a:r>
                <a:rPr lang="en-US" sz="680" b="0" dirty="0">
                  <a:solidFill>
                    <a:srgbClr val="E2E8F0"/>
                  </a:solidFill>
                  <a:latin typeface="Consolas"/>
                  <a:ea typeface="Consolas"/>
                  <a:cs typeface="Consolas"/>
                </a:rPr>
                <a:t> order = _service.Place(</a:t>
              </a:r>
              <a:endParaRPr lang="en-US" sz="680" dirty="0"/>
            </a:p>
          </p:txBody>
        </p:sp>
        <p:sp>
          <p:nvSpPr>
            <p:cNvPr id="158" name="tst_L18"/>
            <p:cNvSpPr txBox="1"/>
            <p:nvPr/>
          </p:nvSpPr>
          <p:spPr>
            <a:xfrm>
              <a:off x="6029554" y="4787548"/>
              <a:ext cx="5529300" cy="14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80" b="0" dirty="0">
                  <a:solidFill>
                    <a:srgbClr val="E2E8F0"/>
                  </a:solidFill>
                  <a:latin typeface="Consolas"/>
                  <a:ea typeface="Consolas"/>
                  <a:cs typeface="Consolas"/>
                </a:rPr>
                <a:t>TestData.OrderFor(_mona, TestData.Zooba(), </a:t>
              </a:r>
              <a:r>
                <a:rPr lang="en-US" sz="680" b="0" dirty="0">
                  <a:solidFill>
                    <a:srgbClr val="60A5FA"/>
                  </a:solidFill>
                  <a:latin typeface="Consolas"/>
                  <a:ea typeface="Consolas"/>
                  <a:cs typeface="Consolas"/>
                </a:rPr>
                <a:t>new</a:t>
              </a:r>
              <a:r>
                <a:rPr lang="en-US" sz="680" b="0" dirty="0">
                  <a:solidFill>
                    <a:srgbClr val="E2E8F0"/>
                  </a:solidFill>
                  <a:latin typeface="Consolas"/>
                  <a:ea typeface="Consolas"/>
                  <a:cs typeface="Consolas"/>
                </a:rPr>
                <a:t> WalletPayment()), TestData.Lunch);</a:t>
              </a:r>
              <a:endParaRPr lang="en-US" sz="680" dirty="0"/>
            </a:p>
          </p:txBody>
        </p:sp>
        <p:sp>
          <p:nvSpPr>
            <p:cNvPr id="159" name="tst_L19"/>
            <p:cNvSpPr txBox="1"/>
            <p:nvPr/>
          </p:nvSpPr>
          <p:spPr>
            <a:xfrm>
              <a:off x="6029554" y="4929548"/>
              <a:ext cx="55293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_service.Cancel(order);</a:t>
              </a:r>
              <a:endParaRPr lang="en-US" sz="680" dirty="0"/>
            </a:p>
          </p:txBody>
        </p:sp>
        <p:sp>
          <p:nvSpPr>
            <p:cNvPr id="160" name="tst_L20"/>
            <p:cNvSpPr txBox="1"/>
            <p:nvPr/>
          </p:nvSpPr>
          <p:spPr>
            <a:xfrm>
              <a:off x="6029554" y="5071548"/>
              <a:ext cx="5529300" cy="14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80" b="0" dirty="0">
                  <a:solidFill>
                    <a:srgbClr val="E2E8F0"/>
                  </a:solidFill>
                  <a:latin typeface="Consolas"/>
                  <a:ea typeface="Consolas"/>
                  <a:cs typeface="Consolas"/>
                </a:rPr>
                <a:t>_mona.Wallet.Balance.ShouldBe(500m);</a:t>
              </a:r>
              <a:endParaRPr lang="en-US" sz="680" dirty="0"/>
            </a:p>
          </p:txBody>
        </p:sp>
        <p:sp>
          <p:nvSpPr>
            <p:cNvPr id="161" name="tst_L21"/>
            <p:cNvSpPr txBox="1"/>
            <p:nvPr/>
          </p:nvSpPr>
          <p:spPr>
            <a:xfrm>
              <a:off x="6029554" y="5213548"/>
              <a:ext cx="5529300" cy="14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80" b="0" dirty="0">
                  <a:solidFill>
                    <a:srgbClr val="E2E8F0"/>
                  </a:solidFill>
                  <a:latin typeface="Consolas"/>
                  <a:ea typeface="Consolas"/>
                  <a:cs typeface="Consolas"/>
                </a:rPr>
                <a:t>}</a:t>
              </a:r>
              <a:endParaRPr lang="en-US" sz="680" dirty="0"/>
            </a:p>
          </p:txBody>
        </p:sp>
      </p:grpSp>
      <p:sp>
        <p:nvSpPr>
          <p:cNvPr id="163" name="tst_hl9"/>
          <p:cNvSpPr/>
          <p:nvPr/>
        </p:nvSpPr>
        <p:spPr>
          <a:xfrm>
            <a:off x="5934456" y="3491260"/>
            <a:ext cx="5562300" cy="17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64" name="tst_hl10"/>
          <p:cNvSpPr/>
          <p:nvPr/>
        </p:nvSpPr>
        <p:spPr>
          <a:xfrm>
            <a:off x="5934456" y="3633260"/>
            <a:ext cx="5562300" cy="178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65" name="tst_hl20"/>
          <p:cNvSpPr/>
          <p:nvPr/>
        </p:nvSpPr>
        <p:spPr>
          <a:xfrm>
            <a:off x="5934456" y="5053260"/>
            <a:ext cx="5562300" cy="178576"/>
          </a:xfrm>
          <a:prstGeom prst="rect">
            <a:avLst/>
          </a:prstGeom>
          <a:solidFill>
            <a:srgbClr val="34D399">
              <a:alpha val="15000"/>
            </a:srgbClr>
          </a:solidFill>
          <a:ln w="12700">
            <a:solidFill>
              <a:srgbClr val="34D399"/>
            </a:solidFill>
            <a:prstDash val="solid"/>
          </a:ln>
        </p:spPr>
        <p:txBody>
          <a:bodyPr/>
          <a:lstStyle/>
          <a:p>
            <a:endParaRPr lang="en-US"/>
          </a:p>
        </p:txBody>
      </p:sp>
    </p:spTree>
    <p:extLst>
      <p:ext uri="{BB962C8B-B14F-4D97-AF65-F5344CB8AC3E}">
        <p14:creationId xmlns:p14="http://schemas.microsoft.com/office/powerpoint/2010/main" val="512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400"/>
                                        <p:tgtEl>
                                          <p:spTgt spid="1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animEffect transition="in" filter="fade">
                                      <p:cBhvr>
                                        <p:cTn id="13" dur="400"/>
                                        <p:tgtEl>
                                          <p:spTgt spid="1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2"/>
                                        </p:tgtEl>
                                        <p:attrNameLst>
                                          <p:attrName>style.visibility</p:attrName>
                                        </p:attrNameLst>
                                      </p:cBhvr>
                                      <p:to>
                                        <p:strVal val="visible"/>
                                      </p:to>
                                    </p:set>
                                    <p:animEffect transition="in" filter="fade">
                                      <p:cBhvr>
                                        <p:cTn id="16" dur="400"/>
                                        <p:tgtEl>
                                          <p:spTgt spid="13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fade">
                                      <p:cBhvr>
                                        <p:cTn id="19" dur="400"/>
                                        <p:tgtEl>
                                          <p:spTgt spid="13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fade">
                                      <p:cBhvr>
                                        <p:cTn id="22" dur="400"/>
                                        <p:tgtEl>
                                          <p:spTgt spid="1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fade">
                                      <p:cBhvr>
                                        <p:cTn id="27" dur="400"/>
                                        <p:tgtEl>
                                          <p:spTgt spid="102"/>
                                        </p:tgtEl>
                                      </p:cBhvr>
                                    </p:animEffect>
                                  </p:childTnLst>
                                </p:cTn>
                              </p:par>
                              <p:par>
                                <p:cTn id="28" presetID="10" presetClass="entr" presetSubtype="0" fill="hold" nodeType="withEffect">
                                  <p:stCondLst>
                                    <p:cond delay="0"/>
                                  </p:stCondLst>
                                  <p:childTnLst>
                                    <p:set>
                                      <p:cBhvr>
                                        <p:cTn id="29" dur="1" fill="hold">
                                          <p:stCondLst>
                                            <p:cond delay="0"/>
                                          </p:stCondLst>
                                        </p:cTn>
                                        <p:tgtEl>
                                          <p:spTgt spid="162"/>
                                        </p:tgtEl>
                                        <p:attrNameLst>
                                          <p:attrName>style.visibility</p:attrName>
                                        </p:attrNameLst>
                                      </p:cBhvr>
                                      <p:to>
                                        <p:strVal val="visible"/>
                                      </p:to>
                                    </p:set>
                                    <p:animEffect transition="in" filter="fade">
                                      <p:cBhvr>
                                        <p:cTn id="30" dur="400"/>
                                        <p:tgtEl>
                                          <p:spTgt spid="16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3"/>
                                        </p:tgtEl>
                                        <p:attrNameLst>
                                          <p:attrName>style.visibility</p:attrName>
                                        </p:attrNameLst>
                                      </p:cBhvr>
                                      <p:to>
                                        <p:strVal val="visible"/>
                                      </p:to>
                                    </p:set>
                                    <p:animEffect transition="in" filter="fade">
                                      <p:cBhvr>
                                        <p:cTn id="33" dur="400"/>
                                        <p:tgtEl>
                                          <p:spTgt spid="16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4"/>
                                        </p:tgtEl>
                                        <p:attrNameLst>
                                          <p:attrName>style.visibility</p:attrName>
                                        </p:attrNameLst>
                                      </p:cBhvr>
                                      <p:to>
                                        <p:strVal val="visible"/>
                                      </p:to>
                                    </p:set>
                                    <p:animEffect transition="in" filter="fade">
                                      <p:cBhvr>
                                        <p:cTn id="36" dur="400"/>
                                        <p:tgtEl>
                                          <p:spTgt spid="16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5"/>
                                        </p:tgtEl>
                                        <p:attrNameLst>
                                          <p:attrName>style.visibility</p:attrName>
                                        </p:attrNameLst>
                                      </p:cBhvr>
                                      <p:to>
                                        <p:strVal val="visible"/>
                                      </p:to>
                                    </p:set>
                                    <p:animEffect transition="in" filter="fade">
                                      <p:cBhvr>
                                        <p:cTn id="39" dur="4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31" grpId="0" animBg="1"/>
      <p:bldP spid="132" grpId="0" animBg="1"/>
      <p:bldP spid="133" grpId="0" animBg="1"/>
      <p:bldP spid="134" grpId="0" animBg="1"/>
      <p:bldP spid="163" grpId="0" animBg="1"/>
      <p:bldP spid="164" grpId="0" animBg="1"/>
      <p:bldP spid="16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NFR-05</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9: NotificationService Must Never Throw (NFR-05)</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144</a:t>
            </a:r>
            <a:endParaRPr lang="en-US" sz="850" dirty="0"/>
          </a:p>
        </p:txBody>
      </p:sp>
      <p:sp>
        <p:nvSpPr>
          <p:cNvPr id="101" name="cl"/>
          <p:cNvSpPr txBox="1"/>
          <p:nvPr/>
        </p:nvSpPr>
        <p:spPr>
          <a:xfrm>
            <a:off x="543154" y="1463040"/>
            <a:ext cx="58521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6623914" y="1463040"/>
            <a:ext cx="50063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28" name="cls"/>
          <p:cNvGrpSpPr/>
          <p:nvPr/>
        </p:nvGrpSpPr>
        <p:grpSpPr>
          <a:xfrm>
            <a:off x="543154" y="1755648"/>
            <a:ext cx="5852160" cy="3445900"/>
            <a:chOff x="543154" y="1755648"/>
            <a:chExt cx="5852160" cy="3445900"/>
          </a:xfrm>
        </p:grpSpPr>
        <p:sp>
          <p:nvSpPr>
            <p:cNvPr id="103" name="cls_win"/>
            <p:cNvSpPr/>
            <p:nvPr/>
          </p:nvSpPr>
          <p:spPr>
            <a:xfrm>
              <a:off x="543154" y="1755648"/>
              <a:ext cx="5852160" cy="3445900"/>
            </a:xfrm>
            <a:prstGeom prst="roundRect">
              <a:avLst>
                <a:gd name="adj" fmla="val 1989"/>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8521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85216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4349245"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src/SwiftBite.Business/Notifications/NotificationService.cs</a:t>
              </a:r>
              <a:endParaRPr lang="en-US" sz="950" dirty="0"/>
            </a:p>
          </p:txBody>
        </p:sp>
        <p:sp>
          <p:nvSpPr>
            <p:cNvPr id="110" name="cls_L00"/>
            <p:cNvSpPr txBox="1"/>
            <p:nvPr/>
          </p:nvSpPr>
          <p:spPr>
            <a:xfrm>
              <a:off x="771754" y="2231548"/>
              <a:ext cx="55521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class</a:t>
              </a:r>
              <a:r>
                <a:rPr lang="en-US" sz="700" b="0" dirty="0">
                  <a:solidFill>
                    <a:srgbClr val="E2E8F0"/>
                  </a:solidFill>
                  <a:latin typeface="Consolas"/>
                  <a:ea typeface="Consolas"/>
                  <a:cs typeface="Consolas"/>
                </a:rPr>
                <a:t> NotificationService : INotificationSender</a:t>
              </a:r>
              <a:endParaRPr lang="en-US" sz="700" dirty="0"/>
            </a:p>
          </p:txBody>
        </p:sp>
        <p:sp>
          <p:nvSpPr>
            <p:cNvPr id="111" name="cls_L01"/>
            <p:cNvSpPr txBox="1"/>
            <p:nvPr/>
          </p:nvSpPr>
          <p:spPr>
            <a:xfrm>
              <a:off x="771754" y="2381548"/>
              <a:ext cx="55521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12" name="cls_L02"/>
            <p:cNvSpPr txBox="1"/>
            <p:nvPr/>
          </p:nvSpPr>
          <p:spPr>
            <a:xfrm>
              <a:off x="771754" y="253154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private</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readonly</a:t>
              </a:r>
              <a:r>
                <a:rPr lang="en-US" sz="700" b="0" dirty="0">
                  <a:solidFill>
                    <a:srgbClr val="E2E8F0"/>
                  </a:solidFill>
                  <a:latin typeface="Consolas"/>
                  <a:ea typeface="Consolas"/>
                  <a:cs typeface="Consolas"/>
                </a:rPr>
                <a:t> Dictionary&lt;NotificationChannel, NotifierCreator&gt; _creators = </a:t>
              </a:r>
              <a:r>
                <a:rPr lang="en-US" sz="700" b="0" dirty="0">
                  <a:solidFill>
                    <a:srgbClr val="60A5FA"/>
                  </a:solidFill>
                  <a:latin typeface="Consolas"/>
                  <a:ea typeface="Consolas"/>
                  <a:cs typeface="Consolas"/>
                </a:rPr>
                <a:t>new</a:t>
              </a:r>
              <a:r>
                <a:rPr lang="en-US" sz="700" b="0" dirty="0">
                  <a:solidFill>
                    <a:srgbClr val="E2E8F0"/>
                  </a:solidFill>
                  <a:latin typeface="Consolas"/>
                  <a:ea typeface="Consolas"/>
                  <a:cs typeface="Consolas"/>
                </a:rPr>
                <a:t>();</a:t>
              </a:r>
              <a:endParaRPr lang="en-US" sz="700" dirty="0"/>
            </a:p>
          </p:txBody>
        </p:sp>
        <p:sp>
          <p:nvSpPr>
            <p:cNvPr id="113" name="cls_L03"/>
            <p:cNvSpPr txBox="1"/>
            <p:nvPr/>
          </p:nvSpPr>
          <p:spPr>
            <a:xfrm>
              <a:off x="771754" y="268154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private</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readonly</a:t>
              </a:r>
              <a:r>
                <a:rPr lang="en-US" sz="700" b="0" dirty="0">
                  <a:solidFill>
                    <a:srgbClr val="E2E8F0"/>
                  </a:solidFill>
                  <a:latin typeface="Consolas"/>
                  <a:ea typeface="Consolas"/>
                  <a:cs typeface="Consolas"/>
                </a:rPr>
                <a:t> ILogger _logger;</a:t>
              </a:r>
              <a:endParaRPr lang="en-US" sz="700" dirty="0"/>
            </a:p>
          </p:txBody>
        </p:sp>
        <p:sp>
          <p:nvSpPr>
            <p:cNvPr id="114" name="cls_L05"/>
            <p:cNvSpPr txBox="1"/>
            <p:nvPr/>
          </p:nvSpPr>
          <p:spPr>
            <a:xfrm>
              <a:off x="771754" y="298154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NotifyCustomer(Customer customer, </a:t>
              </a:r>
              <a:r>
                <a:rPr lang="en-US" sz="700" b="0" dirty="0">
                  <a:solidFill>
                    <a:srgbClr val="60A5FA"/>
                  </a:solidFill>
                  <a:latin typeface="Consolas"/>
                  <a:ea typeface="Consolas"/>
                  <a:cs typeface="Consolas"/>
                </a:rPr>
                <a:t>string</a:t>
              </a:r>
              <a:r>
                <a:rPr lang="en-US" sz="700" b="0" dirty="0">
                  <a:solidFill>
                    <a:srgbClr val="E2E8F0"/>
                  </a:solidFill>
                  <a:latin typeface="Consolas"/>
                  <a:ea typeface="Consolas"/>
                  <a:cs typeface="Consolas"/>
                </a:rPr>
                <a:t> message)</a:t>
              </a:r>
              <a:endParaRPr lang="en-US" sz="700" dirty="0"/>
            </a:p>
          </p:txBody>
        </p:sp>
        <p:sp>
          <p:nvSpPr>
            <p:cNvPr id="115" name="cls_L06"/>
            <p:cNvSpPr txBox="1"/>
            <p:nvPr/>
          </p:nvSpPr>
          <p:spPr>
            <a:xfrm>
              <a:off x="771754" y="313154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16" name="cls_L07"/>
            <p:cNvSpPr txBox="1"/>
            <p:nvPr/>
          </p:nvSpPr>
          <p:spPr>
            <a:xfrm>
              <a:off x="771754" y="3281548"/>
              <a:ext cx="55521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60A5FA"/>
                  </a:solidFill>
                  <a:latin typeface="Consolas"/>
                  <a:ea typeface="Consolas"/>
                  <a:cs typeface="Consolas"/>
                </a:rPr>
                <a:t>try</a:t>
              </a:r>
              <a:endParaRPr lang="en-US" sz="700" dirty="0"/>
            </a:p>
          </p:txBody>
        </p:sp>
        <p:sp>
          <p:nvSpPr>
            <p:cNvPr id="117" name="cls_L08"/>
            <p:cNvSpPr txBox="1"/>
            <p:nvPr/>
          </p:nvSpPr>
          <p:spPr>
            <a:xfrm>
              <a:off x="771754" y="3431548"/>
              <a:ext cx="55521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18" name="cls_L09"/>
            <p:cNvSpPr txBox="1"/>
            <p:nvPr/>
          </p:nvSpPr>
          <p:spPr>
            <a:xfrm>
              <a:off x="771754" y="3581548"/>
              <a:ext cx="555216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00" b="0" dirty="0">
                  <a:solidFill>
                    <a:srgbClr val="60A5FA"/>
                  </a:solidFill>
                  <a:latin typeface="Consolas"/>
                  <a:ea typeface="Consolas"/>
                  <a:cs typeface="Consolas"/>
                </a:rPr>
                <a:t>if</a:t>
              </a:r>
              <a:r>
                <a:rPr lang="en-US" sz="700" b="0" dirty="0">
                  <a:solidFill>
                    <a:srgbClr val="E2E8F0"/>
                  </a:solidFill>
                  <a:latin typeface="Consolas"/>
                  <a:ea typeface="Consolas"/>
                  <a:cs typeface="Consolas"/>
                </a:rPr>
                <a:t> (!_creators.TryGetValue(customer.PreferredChannel, </a:t>
              </a:r>
              <a:r>
                <a:rPr lang="en-US" sz="700" b="0" dirty="0">
                  <a:solidFill>
                    <a:srgbClr val="60A5FA"/>
                  </a:solidFill>
                  <a:latin typeface="Consolas"/>
                  <a:ea typeface="Consolas"/>
                  <a:cs typeface="Consolas"/>
                </a:rPr>
                <a:t>out</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creator))</a:t>
              </a:r>
              <a:endParaRPr lang="en-US" sz="700" dirty="0"/>
            </a:p>
          </p:txBody>
        </p:sp>
        <p:sp>
          <p:nvSpPr>
            <p:cNvPr id="119" name="cls_L10"/>
            <p:cNvSpPr txBox="1"/>
            <p:nvPr/>
          </p:nvSpPr>
          <p:spPr>
            <a:xfrm>
              <a:off x="771754" y="3731548"/>
              <a:ext cx="5552160" cy="150000"/>
            </a:xfrm>
            <a:prstGeom prst="rect">
              <a:avLst/>
            </a:prstGeom>
            <a:noFill/>
            <a:ln>
              <a:noFill/>
            </a:ln>
          </p:spPr>
          <p:txBody>
            <a:bodyPr wrap="none" lIns="0" tIns="0" rIns="0" bIns="0" rtlCol="0" anchor="ctr">
              <a:noAutofit/>
            </a:bodyPr>
            <a:lstStyle/>
            <a:p>
              <a:pPr marL="1061720" indent="0" algn="l">
                <a:spcBef>
                  <a:spcPts val="0"/>
                </a:spcBef>
                <a:spcAft>
                  <a:spcPts val="0"/>
                </a:spcAft>
                <a:buNone/>
              </a:pPr>
              <a:r>
                <a:rPr lang="en-US" sz="700" b="0" dirty="0">
                  <a:solidFill>
                    <a:srgbClr val="60A5FA"/>
                  </a:solidFill>
                  <a:latin typeface="Consolas"/>
                  <a:ea typeface="Consolas"/>
                  <a:cs typeface="Consolas"/>
                </a:rPr>
                <a:t>throw</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new</a:t>
              </a:r>
              <a:r>
                <a:rPr lang="en-US" sz="700" b="0" dirty="0">
                  <a:solidFill>
                    <a:srgbClr val="E2E8F0"/>
                  </a:solidFill>
                  <a:latin typeface="Consolas"/>
                  <a:ea typeface="Consolas"/>
                  <a:cs typeface="Consolas"/>
                </a:rPr>
                <a:t> InvalidOperationException(</a:t>
              </a:r>
              <a:r>
                <a:rPr lang="en-US" sz="700" b="0" dirty="0">
                  <a:solidFill>
                    <a:srgbClr val="F0A98B"/>
                  </a:solidFill>
                  <a:latin typeface="Consolas"/>
                  <a:ea typeface="Consolas"/>
                  <a:cs typeface="Consolas"/>
                </a:rPr>
                <a:t>$"No notifier registered ..."</a:t>
              </a:r>
              <a:r>
                <a:rPr lang="en-US" sz="700" b="0" dirty="0">
                  <a:solidFill>
                    <a:srgbClr val="E2E8F0"/>
                  </a:solidFill>
                  <a:latin typeface="Consolas"/>
                  <a:ea typeface="Consolas"/>
                  <a:cs typeface="Consolas"/>
                </a:rPr>
                <a:t>);</a:t>
              </a:r>
              <a:endParaRPr lang="en-US" sz="700" dirty="0"/>
            </a:p>
          </p:txBody>
        </p:sp>
        <p:sp>
          <p:nvSpPr>
            <p:cNvPr id="120" name="cls_L11"/>
            <p:cNvSpPr txBox="1"/>
            <p:nvPr/>
          </p:nvSpPr>
          <p:spPr>
            <a:xfrm>
              <a:off x="771754" y="3881548"/>
              <a:ext cx="555216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00" b="0" dirty="0">
                  <a:solidFill>
                    <a:srgbClr val="E2E8F0"/>
                  </a:solidFill>
                  <a:latin typeface="Consolas"/>
                  <a:ea typeface="Consolas"/>
                  <a:cs typeface="Consolas"/>
                </a:rPr>
                <a:t>creator.Notify(customer, message);</a:t>
              </a:r>
              <a:endParaRPr lang="en-US" sz="700" dirty="0"/>
            </a:p>
          </p:txBody>
        </p:sp>
        <p:sp>
          <p:nvSpPr>
            <p:cNvPr id="121" name="cls_L12"/>
            <p:cNvSpPr txBox="1"/>
            <p:nvPr/>
          </p:nvSpPr>
          <p:spPr>
            <a:xfrm>
              <a:off x="771754" y="4031548"/>
              <a:ext cx="55521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2" name="cls_L13"/>
            <p:cNvSpPr txBox="1"/>
            <p:nvPr/>
          </p:nvSpPr>
          <p:spPr>
            <a:xfrm>
              <a:off x="771754" y="4181548"/>
              <a:ext cx="55521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60A5FA"/>
                  </a:solidFill>
                  <a:latin typeface="Consolas"/>
                  <a:ea typeface="Consolas"/>
                  <a:cs typeface="Consolas"/>
                </a:rPr>
                <a:t>catch</a:t>
              </a:r>
              <a:r>
                <a:rPr lang="en-US" sz="700" b="0" dirty="0">
                  <a:solidFill>
                    <a:srgbClr val="E2E8F0"/>
                  </a:solidFill>
                  <a:latin typeface="Consolas"/>
                  <a:ea typeface="Consolas"/>
                  <a:cs typeface="Consolas"/>
                </a:rPr>
                <a:t> (Exception ex)</a:t>
              </a:r>
              <a:endParaRPr lang="en-US" sz="700" dirty="0"/>
            </a:p>
          </p:txBody>
        </p:sp>
        <p:sp>
          <p:nvSpPr>
            <p:cNvPr id="123" name="cls_L14"/>
            <p:cNvSpPr txBox="1"/>
            <p:nvPr/>
          </p:nvSpPr>
          <p:spPr>
            <a:xfrm>
              <a:off x="771754" y="4331548"/>
              <a:ext cx="55521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4" name="cls_L15"/>
            <p:cNvSpPr txBox="1"/>
            <p:nvPr/>
          </p:nvSpPr>
          <p:spPr>
            <a:xfrm>
              <a:off x="771754" y="4481548"/>
              <a:ext cx="5552160" cy="15000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700" b="0" dirty="0">
                  <a:solidFill>
                    <a:srgbClr val="E2E8F0"/>
                  </a:solidFill>
                  <a:latin typeface="Consolas"/>
                  <a:ea typeface="Consolas"/>
                  <a:cs typeface="Consolas"/>
                </a:rPr>
                <a:t>_logger.Error(</a:t>
              </a:r>
              <a:r>
                <a:rPr lang="en-US" sz="700" b="0" dirty="0">
                  <a:solidFill>
                    <a:srgbClr val="F0A98B"/>
                  </a:solidFill>
                  <a:latin typeface="Consolas"/>
                  <a:ea typeface="Consolas"/>
                  <a:cs typeface="Consolas"/>
                </a:rPr>
                <a:t>$"Could not notify {customer.FullName}"</a:t>
              </a:r>
              <a:r>
                <a:rPr lang="en-US" sz="700" b="0" dirty="0">
                  <a:solidFill>
                    <a:srgbClr val="E2E8F0"/>
                  </a:solidFill>
                  <a:latin typeface="Consolas"/>
                  <a:ea typeface="Consolas"/>
                  <a:cs typeface="Consolas"/>
                </a:rPr>
                <a:t>, ex);</a:t>
              </a:r>
              <a:endParaRPr lang="en-US" sz="700" dirty="0"/>
            </a:p>
          </p:txBody>
        </p:sp>
        <p:sp>
          <p:nvSpPr>
            <p:cNvPr id="125" name="cls_L16"/>
            <p:cNvSpPr txBox="1"/>
            <p:nvPr/>
          </p:nvSpPr>
          <p:spPr>
            <a:xfrm>
              <a:off x="771754" y="4631548"/>
              <a:ext cx="555216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6" name="cls_L17"/>
            <p:cNvSpPr txBox="1"/>
            <p:nvPr/>
          </p:nvSpPr>
          <p:spPr>
            <a:xfrm>
              <a:off x="771754" y="4781548"/>
              <a:ext cx="555216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7" name="cls_L18"/>
            <p:cNvSpPr txBox="1"/>
            <p:nvPr/>
          </p:nvSpPr>
          <p:spPr>
            <a:xfrm>
              <a:off x="771754" y="4931548"/>
              <a:ext cx="555216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grpSp>
      <p:sp>
        <p:nvSpPr>
          <p:cNvPr id="129" name="cls_hl10"/>
          <p:cNvSpPr/>
          <p:nvPr/>
        </p:nvSpPr>
        <p:spPr>
          <a:xfrm>
            <a:off x="676656" y="3713260"/>
            <a:ext cx="5585160" cy="18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0" name="cls_hl15"/>
          <p:cNvSpPr/>
          <p:nvPr/>
        </p:nvSpPr>
        <p:spPr>
          <a:xfrm>
            <a:off x="676656" y="4463260"/>
            <a:ext cx="5585160" cy="186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9" name="tst"/>
          <p:cNvGrpSpPr/>
          <p:nvPr/>
        </p:nvGrpSpPr>
        <p:grpSpPr>
          <a:xfrm>
            <a:off x="6623914" y="1755648"/>
            <a:ext cx="5006340" cy="2545900"/>
            <a:chOff x="6623914" y="1755648"/>
            <a:chExt cx="5006340" cy="2545900"/>
          </a:xfrm>
        </p:grpSpPr>
        <p:sp>
          <p:nvSpPr>
            <p:cNvPr id="131" name="tst_win"/>
            <p:cNvSpPr/>
            <p:nvPr/>
          </p:nvSpPr>
          <p:spPr>
            <a:xfrm>
              <a:off x="6623914" y="1755648"/>
              <a:ext cx="5006340" cy="2545900"/>
            </a:xfrm>
            <a:prstGeom prst="roundRect">
              <a:avLst>
                <a:gd name="adj" fmla="val 2692"/>
              </a:avLst>
            </a:prstGeom>
            <a:solidFill>
              <a:srgbClr val="060D18"/>
            </a:solidFill>
            <a:ln w="12700">
              <a:solidFill>
                <a:srgbClr val="1E3A5F"/>
              </a:solidFill>
              <a:prstDash val="solid"/>
            </a:ln>
          </p:spPr>
          <p:txBody>
            <a:bodyPr/>
            <a:lstStyle/>
            <a:p>
              <a:endParaRPr lang="en-US"/>
            </a:p>
          </p:txBody>
        </p:sp>
        <p:sp>
          <p:nvSpPr>
            <p:cNvPr id="132" name="tst_bar"/>
            <p:cNvSpPr/>
            <p:nvPr/>
          </p:nvSpPr>
          <p:spPr>
            <a:xfrm>
              <a:off x="6623914" y="1755648"/>
              <a:ext cx="50063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3" name="tst_barfill"/>
            <p:cNvSpPr/>
            <p:nvPr/>
          </p:nvSpPr>
          <p:spPr>
            <a:xfrm>
              <a:off x="6623914" y="1927098"/>
              <a:ext cx="5006340" cy="171450"/>
            </a:xfrm>
            <a:prstGeom prst="rect">
              <a:avLst/>
            </a:prstGeom>
            <a:solidFill>
              <a:srgbClr val="0A1220"/>
            </a:solidFill>
            <a:ln w="12700">
              <a:solidFill>
                <a:srgbClr val="0A1220"/>
              </a:solidFill>
              <a:prstDash val="solid"/>
            </a:ln>
          </p:spPr>
          <p:txBody>
            <a:bodyPr/>
            <a:lstStyle/>
            <a:p>
              <a:endParaRPr lang="en-US"/>
            </a:p>
          </p:txBody>
        </p:sp>
        <p:sp>
          <p:nvSpPr>
            <p:cNvPr id="134" name="tst_dot0"/>
            <p:cNvSpPr/>
            <p:nvPr/>
          </p:nvSpPr>
          <p:spPr>
            <a:xfrm>
              <a:off x="678576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35" name="tst_dot1"/>
            <p:cNvSpPr/>
            <p:nvPr/>
          </p:nvSpPr>
          <p:spPr>
            <a:xfrm>
              <a:off x="697138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36" name="tst_dot2"/>
            <p:cNvSpPr/>
            <p:nvPr/>
          </p:nvSpPr>
          <p:spPr>
            <a:xfrm>
              <a:off x="715701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37" name="tst_tab"/>
            <p:cNvSpPr/>
            <p:nvPr/>
          </p:nvSpPr>
          <p:spPr>
            <a:xfrm>
              <a:off x="7404811" y="1803197"/>
              <a:ext cx="3123034"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Notifications/NotificationServiceTests.cs</a:t>
              </a:r>
              <a:endParaRPr lang="en-US" sz="950" dirty="0"/>
            </a:p>
          </p:txBody>
        </p:sp>
        <p:sp>
          <p:nvSpPr>
            <p:cNvPr id="138" name="tst_L00"/>
            <p:cNvSpPr txBox="1"/>
            <p:nvPr/>
          </p:nvSpPr>
          <p:spPr>
            <a:xfrm>
              <a:off x="6852514" y="2231548"/>
              <a:ext cx="47063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[Fact]</a:t>
              </a:r>
              <a:endParaRPr lang="en-US" sz="700" dirty="0"/>
            </a:p>
          </p:txBody>
        </p:sp>
        <p:sp>
          <p:nvSpPr>
            <p:cNvPr id="139" name="tst_L01"/>
            <p:cNvSpPr txBox="1"/>
            <p:nvPr/>
          </p:nvSpPr>
          <p:spPr>
            <a:xfrm>
              <a:off x="6852514" y="2381548"/>
              <a:ext cx="47063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NotifyCustomer_NoNotifier_LogsAndDoesNotThrow()</a:t>
              </a:r>
              <a:endParaRPr lang="en-US" sz="700" dirty="0"/>
            </a:p>
          </p:txBody>
        </p:sp>
        <p:sp>
          <p:nvSpPr>
            <p:cNvPr id="140" name="tst_L02"/>
            <p:cNvSpPr txBox="1"/>
            <p:nvPr/>
          </p:nvSpPr>
          <p:spPr>
            <a:xfrm>
              <a:off x="6852514" y="2531548"/>
              <a:ext cx="47063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41" name="tst_L03"/>
            <p:cNvSpPr txBox="1"/>
            <p:nvPr/>
          </p:nvSpPr>
          <p:spPr>
            <a:xfrm>
              <a:off x="6852514" y="2681548"/>
              <a:ext cx="47063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logger = Substitute.For&lt;ILogger&gt;();</a:t>
              </a:r>
              <a:endParaRPr lang="en-US" sz="700" dirty="0"/>
            </a:p>
          </p:txBody>
        </p:sp>
        <p:sp>
          <p:nvSpPr>
            <p:cNvPr id="142" name="tst_L04"/>
            <p:cNvSpPr txBox="1"/>
            <p:nvPr/>
          </p:nvSpPr>
          <p:spPr>
            <a:xfrm>
              <a:off x="6852514" y="2831548"/>
              <a:ext cx="47063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service = </a:t>
              </a:r>
              <a:r>
                <a:rPr lang="en-US" sz="700" b="0" dirty="0">
                  <a:solidFill>
                    <a:srgbClr val="60A5FA"/>
                  </a:solidFill>
                  <a:latin typeface="Consolas"/>
                  <a:ea typeface="Consolas"/>
                  <a:cs typeface="Consolas"/>
                </a:rPr>
                <a:t>new</a:t>
              </a:r>
              <a:r>
                <a:rPr lang="en-US" sz="700" b="0" dirty="0">
                  <a:solidFill>
                    <a:srgbClr val="E2E8F0"/>
                  </a:solidFill>
                  <a:latin typeface="Consolas"/>
                  <a:ea typeface="Consolas"/>
                  <a:cs typeface="Consolas"/>
                </a:rPr>
                <a:t> NotificationService(logger);  </a:t>
              </a:r>
              <a:r>
                <a:rPr lang="en-US" sz="700" b="0" dirty="0">
                  <a:solidFill>
                    <a:srgbClr val="6FAE7A"/>
                  </a:solidFill>
                  <a:latin typeface="Consolas"/>
                  <a:ea typeface="Consolas"/>
                  <a:cs typeface="Consolas"/>
                </a:rPr>
                <a:t>// nothing registered</a:t>
              </a:r>
              <a:endParaRPr lang="en-US" sz="700" dirty="0"/>
            </a:p>
          </p:txBody>
        </p:sp>
        <p:sp>
          <p:nvSpPr>
            <p:cNvPr id="143" name="tst_L05"/>
            <p:cNvSpPr txBox="1"/>
            <p:nvPr/>
          </p:nvSpPr>
          <p:spPr>
            <a:xfrm>
              <a:off x="6852514" y="2981548"/>
              <a:ext cx="47063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mona = TestData.Mona();                     </a:t>
              </a:r>
              <a:r>
                <a:rPr lang="en-US" sz="700" b="0" dirty="0">
                  <a:solidFill>
                    <a:srgbClr val="6FAE7A"/>
                  </a:solidFill>
                  <a:latin typeface="Consolas"/>
                  <a:ea typeface="Consolas"/>
                  <a:cs typeface="Consolas"/>
                </a:rPr>
                <a:t>// prefers SMS</a:t>
              </a:r>
              <a:endParaRPr lang="en-US" sz="700" dirty="0"/>
            </a:p>
          </p:txBody>
        </p:sp>
        <p:sp>
          <p:nvSpPr>
            <p:cNvPr id="144" name="tst_L07"/>
            <p:cNvSpPr txBox="1"/>
            <p:nvPr/>
          </p:nvSpPr>
          <p:spPr>
            <a:xfrm>
              <a:off x="6852514" y="3281548"/>
              <a:ext cx="47063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Should.NotThrow(() =&gt; service.NotifyCustomer(mona, </a:t>
              </a:r>
              <a:r>
                <a:rPr lang="en-US" sz="700" b="0" dirty="0">
                  <a:solidFill>
                    <a:srgbClr val="F0A98B"/>
                  </a:solidFill>
                  <a:latin typeface="Consolas"/>
                  <a:ea typeface="Consolas"/>
                  <a:cs typeface="Consolas"/>
                </a:rPr>
                <a:t>"Order placed"</a:t>
              </a:r>
              <a:r>
                <a:rPr lang="en-US" sz="700" b="0" dirty="0">
                  <a:solidFill>
                    <a:srgbClr val="E2E8F0"/>
                  </a:solidFill>
                  <a:latin typeface="Consolas"/>
                  <a:ea typeface="Consolas"/>
                  <a:cs typeface="Consolas"/>
                </a:rPr>
                <a:t>));</a:t>
              </a:r>
              <a:endParaRPr lang="en-US" sz="700" dirty="0"/>
            </a:p>
          </p:txBody>
        </p:sp>
        <p:sp>
          <p:nvSpPr>
            <p:cNvPr id="145" name="tst_L09"/>
            <p:cNvSpPr txBox="1"/>
            <p:nvPr/>
          </p:nvSpPr>
          <p:spPr>
            <a:xfrm>
              <a:off x="6852514" y="3581548"/>
              <a:ext cx="4706340" cy="15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logger.Received(1).Error(</a:t>
              </a:r>
              <a:endParaRPr lang="en-US" sz="700" dirty="0"/>
            </a:p>
          </p:txBody>
        </p:sp>
        <p:sp>
          <p:nvSpPr>
            <p:cNvPr id="146" name="tst_L10"/>
            <p:cNvSpPr txBox="1"/>
            <p:nvPr/>
          </p:nvSpPr>
          <p:spPr>
            <a:xfrm>
              <a:off x="6852514" y="3731548"/>
              <a:ext cx="47063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Arg.Is&lt;</a:t>
              </a:r>
              <a:r>
                <a:rPr lang="en-US" sz="700" b="0" dirty="0">
                  <a:solidFill>
                    <a:srgbClr val="60A5FA"/>
                  </a:solidFill>
                  <a:latin typeface="Consolas"/>
                  <a:ea typeface="Consolas"/>
                  <a:cs typeface="Consolas"/>
                </a:rPr>
                <a:t>string</a:t>
              </a:r>
              <a:r>
                <a:rPr lang="en-US" sz="700" b="0" dirty="0">
                  <a:solidFill>
                    <a:srgbClr val="E2E8F0"/>
                  </a:solidFill>
                  <a:latin typeface="Consolas"/>
                  <a:ea typeface="Consolas"/>
                  <a:cs typeface="Consolas"/>
                </a:rPr>
                <a:t>&gt;(m =&gt; m.Contains(</a:t>
              </a:r>
              <a:r>
                <a:rPr lang="en-US" sz="700" b="0" dirty="0">
                  <a:solidFill>
                    <a:srgbClr val="F0A98B"/>
                  </a:solidFill>
                  <a:latin typeface="Consolas"/>
                  <a:ea typeface="Consolas"/>
                  <a:cs typeface="Consolas"/>
                </a:rPr>
                <a:t>"Mona Ali"</a:t>
              </a:r>
              <a:r>
                <a:rPr lang="en-US" sz="700" b="0" dirty="0">
                  <a:solidFill>
                    <a:srgbClr val="E2E8F0"/>
                  </a:solidFill>
                  <a:latin typeface="Consolas"/>
                  <a:ea typeface="Consolas"/>
                  <a:cs typeface="Consolas"/>
                </a:rPr>
                <a:t>)),</a:t>
              </a:r>
              <a:endParaRPr lang="en-US" sz="700" dirty="0"/>
            </a:p>
          </p:txBody>
        </p:sp>
        <p:sp>
          <p:nvSpPr>
            <p:cNvPr id="147" name="tst_L11"/>
            <p:cNvSpPr txBox="1"/>
            <p:nvPr/>
          </p:nvSpPr>
          <p:spPr>
            <a:xfrm>
              <a:off x="6852514" y="3881548"/>
              <a:ext cx="4706340" cy="15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Arg.Any&lt;InvalidOperationException&gt;());</a:t>
              </a:r>
              <a:endParaRPr lang="en-US" sz="700" dirty="0"/>
            </a:p>
          </p:txBody>
        </p:sp>
        <p:sp>
          <p:nvSpPr>
            <p:cNvPr id="148" name="tst_L12"/>
            <p:cNvSpPr txBox="1"/>
            <p:nvPr/>
          </p:nvSpPr>
          <p:spPr>
            <a:xfrm>
              <a:off x="6852514" y="4031548"/>
              <a:ext cx="4706340" cy="15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grpSp>
      <p:sp>
        <p:nvSpPr>
          <p:cNvPr id="150" name="tst_hl7"/>
          <p:cNvSpPr/>
          <p:nvPr/>
        </p:nvSpPr>
        <p:spPr>
          <a:xfrm>
            <a:off x="6757416" y="3263260"/>
            <a:ext cx="4739340" cy="186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51" name="tst_hl9"/>
          <p:cNvSpPr/>
          <p:nvPr/>
        </p:nvSpPr>
        <p:spPr>
          <a:xfrm>
            <a:off x="6757416" y="3563260"/>
            <a:ext cx="473934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2" name="tst_hl10"/>
          <p:cNvSpPr/>
          <p:nvPr/>
        </p:nvSpPr>
        <p:spPr>
          <a:xfrm>
            <a:off x="6757416" y="3713260"/>
            <a:ext cx="4739340" cy="18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53" name="tst_hl11"/>
          <p:cNvSpPr/>
          <p:nvPr/>
        </p:nvSpPr>
        <p:spPr>
          <a:xfrm>
            <a:off x="6757416" y="3863260"/>
            <a:ext cx="4739340" cy="186576"/>
          </a:xfrm>
          <a:prstGeom prst="rect">
            <a:avLst/>
          </a:prstGeom>
          <a:solidFill>
            <a:srgbClr val="34D399">
              <a:alpha val="15000"/>
            </a:srgbClr>
          </a:solidFill>
          <a:ln w="12700">
            <a:solidFill>
              <a:srgbClr val="34D399"/>
            </a:solidFill>
            <a:prstDash val="solid"/>
          </a:ln>
        </p:spPr>
        <p:txBody>
          <a:bodyPr/>
          <a:lstStyle/>
          <a:p>
            <a:endParaRPr lang="en-US"/>
          </a:p>
        </p:txBody>
      </p:sp>
    </p:spTree>
    <p:extLst>
      <p:ext uri="{BB962C8B-B14F-4D97-AF65-F5344CB8AC3E}">
        <p14:creationId xmlns:p14="http://schemas.microsoft.com/office/powerpoint/2010/main" val="51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28"/>
                                        </p:tgtEl>
                                        <p:attrNameLst>
                                          <p:attrName>style.visibility</p:attrName>
                                        </p:attrNameLst>
                                      </p:cBhvr>
                                      <p:to>
                                        <p:strVal val="visible"/>
                                      </p:to>
                                    </p:set>
                                    <p:animEffect transition="in" filter="fade">
                                      <p:cBhvr>
                                        <p:cTn id="10" dur="400"/>
                                        <p:tgtEl>
                                          <p:spTgt spid="1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9"/>
                                        </p:tgtEl>
                                        <p:attrNameLst>
                                          <p:attrName>style.visibility</p:attrName>
                                        </p:attrNameLst>
                                      </p:cBhvr>
                                      <p:to>
                                        <p:strVal val="visible"/>
                                      </p:to>
                                    </p:set>
                                    <p:animEffect transition="in" filter="fade">
                                      <p:cBhvr>
                                        <p:cTn id="13" dur="400"/>
                                        <p:tgtEl>
                                          <p:spTgt spid="1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0"/>
                                        </p:tgtEl>
                                        <p:attrNameLst>
                                          <p:attrName>style.visibility</p:attrName>
                                        </p:attrNameLst>
                                      </p:cBhvr>
                                      <p:to>
                                        <p:strVal val="visible"/>
                                      </p:to>
                                    </p:set>
                                    <p:animEffect transition="in" filter="fade">
                                      <p:cBhvr>
                                        <p:cTn id="16" dur="400"/>
                                        <p:tgtEl>
                                          <p:spTgt spid="1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49"/>
                                        </p:tgtEl>
                                        <p:attrNameLst>
                                          <p:attrName>style.visibility</p:attrName>
                                        </p:attrNameLst>
                                      </p:cBhvr>
                                      <p:to>
                                        <p:strVal val="visible"/>
                                      </p:to>
                                    </p:set>
                                    <p:animEffect transition="in" filter="fade">
                                      <p:cBhvr>
                                        <p:cTn id="24" dur="400"/>
                                        <p:tgtEl>
                                          <p:spTgt spid="14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0"/>
                                        </p:tgtEl>
                                        <p:attrNameLst>
                                          <p:attrName>style.visibility</p:attrName>
                                        </p:attrNameLst>
                                      </p:cBhvr>
                                      <p:to>
                                        <p:strVal val="visible"/>
                                      </p:to>
                                    </p:set>
                                    <p:animEffect transition="in" filter="fade">
                                      <p:cBhvr>
                                        <p:cTn id="27" dur="400"/>
                                        <p:tgtEl>
                                          <p:spTgt spid="15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1"/>
                                        </p:tgtEl>
                                        <p:attrNameLst>
                                          <p:attrName>style.visibility</p:attrName>
                                        </p:attrNameLst>
                                      </p:cBhvr>
                                      <p:to>
                                        <p:strVal val="visible"/>
                                      </p:to>
                                    </p:set>
                                    <p:animEffect transition="in" filter="fade">
                                      <p:cBhvr>
                                        <p:cTn id="30" dur="400"/>
                                        <p:tgtEl>
                                          <p:spTgt spid="15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2"/>
                                        </p:tgtEl>
                                        <p:attrNameLst>
                                          <p:attrName>style.visibility</p:attrName>
                                        </p:attrNameLst>
                                      </p:cBhvr>
                                      <p:to>
                                        <p:strVal val="visible"/>
                                      </p:to>
                                    </p:set>
                                    <p:animEffect transition="in" filter="fade">
                                      <p:cBhvr>
                                        <p:cTn id="33" dur="400"/>
                                        <p:tgtEl>
                                          <p:spTgt spid="15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3"/>
                                        </p:tgtEl>
                                        <p:attrNameLst>
                                          <p:attrName>style.visibility</p:attrName>
                                        </p:attrNameLst>
                                      </p:cBhvr>
                                      <p:to>
                                        <p:strVal val="visible"/>
                                      </p:to>
                                    </p:set>
                                    <p:animEffect transition="in" filter="fade">
                                      <p:cBhvr>
                                        <p:cTn id="36" dur="4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9" grpId="0" animBg="1"/>
      <p:bldP spid="130" grpId="0" animBg="1"/>
      <p:bldP spid="150" grpId="0" animBg="1"/>
      <p:bldP spid="151" grpId="0" animBg="1"/>
      <p:bldP spid="152" grpId="0" animBg="1"/>
      <p:bldP spid="153"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724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ORDER STATES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10: The Order Lifecycle (BR-23, BR-24, BR-25)</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145</a:t>
            </a:r>
            <a:endParaRPr lang="en-US" sz="850" dirty="0"/>
          </a:p>
        </p:txBody>
      </p:sp>
      <p:sp>
        <p:nvSpPr>
          <p:cNvPr id="101" name="cl"/>
          <p:cNvSpPr txBox="1"/>
          <p:nvPr/>
        </p:nvSpPr>
        <p:spPr>
          <a:xfrm>
            <a:off x="543154" y="1463040"/>
            <a:ext cx="57607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grpSp>
        <p:nvGrpSpPr>
          <p:cNvPr id="130" name="cls"/>
          <p:cNvGrpSpPr/>
          <p:nvPr/>
        </p:nvGrpSpPr>
        <p:grpSpPr>
          <a:xfrm>
            <a:off x="543154" y="1755648"/>
            <a:ext cx="5760720" cy="4045900"/>
            <a:chOff x="543154" y="1755648"/>
            <a:chExt cx="5760720" cy="4045900"/>
          </a:xfrm>
        </p:grpSpPr>
        <p:sp>
          <p:nvSpPr>
            <p:cNvPr id="102" name="cls_win"/>
            <p:cNvSpPr/>
            <p:nvPr/>
          </p:nvSpPr>
          <p:spPr>
            <a:xfrm>
              <a:off x="543154" y="1755648"/>
              <a:ext cx="5760720" cy="4045900"/>
            </a:xfrm>
            <a:prstGeom prst="roundRect">
              <a:avLst>
                <a:gd name="adj" fmla="val 1694"/>
              </a:avLst>
            </a:prstGeom>
            <a:solidFill>
              <a:srgbClr val="060D18"/>
            </a:solidFill>
            <a:ln w="12700">
              <a:solidFill>
                <a:srgbClr val="1E3A5F"/>
              </a:solidFill>
              <a:prstDash val="solid"/>
            </a:ln>
          </p:spPr>
          <p:txBody>
            <a:bodyPr/>
            <a:lstStyle/>
            <a:p>
              <a:endParaRPr lang="en-US"/>
            </a:p>
          </p:txBody>
        </p:sp>
        <p:sp>
          <p:nvSpPr>
            <p:cNvPr id="103" name="cls_bar"/>
            <p:cNvSpPr/>
            <p:nvPr/>
          </p:nvSpPr>
          <p:spPr>
            <a:xfrm>
              <a:off x="543154" y="1755648"/>
              <a:ext cx="57607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4" name="cls_barfill"/>
            <p:cNvSpPr/>
            <p:nvPr/>
          </p:nvSpPr>
          <p:spPr>
            <a:xfrm>
              <a:off x="543154" y="1927098"/>
              <a:ext cx="5760720" cy="171450"/>
            </a:xfrm>
            <a:prstGeom prst="rect">
              <a:avLst/>
            </a:prstGeom>
            <a:solidFill>
              <a:srgbClr val="0A1220"/>
            </a:solidFill>
            <a:ln w="12700">
              <a:solidFill>
                <a:srgbClr val="0A1220"/>
              </a:solidFill>
              <a:prstDash val="solid"/>
            </a:ln>
          </p:spPr>
          <p:txBody>
            <a:bodyPr/>
            <a:lstStyle/>
            <a:p>
              <a:endParaRPr lang="en-US"/>
            </a:p>
          </p:txBody>
        </p:sp>
        <p:sp>
          <p:nvSpPr>
            <p:cNvPr id="105"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6"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7"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8" name="cls_tab"/>
            <p:cNvSpPr/>
            <p:nvPr/>
          </p:nvSpPr>
          <p:spPr>
            <a:xfrm>
              <a:off x="1324051" y="1803197"/>
              <a:ext cx="291866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src/SwiftBite.Business/Orders/Order.cs</a:t>
              </a:r>
              <a:endParaRPr lang="en-US" sz="950" dirty="0"/>
            </a:p>
          </p:txBody>
        </p:sp>
        <p:sp>
          <p:nvSpPr>
            <p:cNvPr id="109" name="cls_L00"/>
            <p:cNvSpPr txBox="1"/>
            <p:nvPr/>
          </p:nvSpPr>
          <p:spPr>
            <a:xfrm>
              <a:off x="771754" y="2231548"/>
              <a:ext cx="5460720" cy="13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class</a:t>
              </a:r>
              <a:r>
                <a:rPr lang="en-US" sz="700" b="0" dirty="0">
                  <a:solidFill>
                    <a:srgbClr val="E2E8F0"/>
                  </a:solidFill>
                  <a:latin typeface="Consolas"/>
                  <a:ea typeface="Consolas"/>
                  <a:cs typeface="Consolas"/>
                </a:rPr>
                <a:t> Order                        </a:t>
              </a:r>
              <a:r>
                <a:rPr lang="en-US" sz="700" b="0" dirty="0">
                  <a:solidFill>
                    <a:srgbClr val="6FAE7A"/>
                  </a:solidFill>
                  <a:latin typeface="Consolas"/>
                  <a:ea typeface="Consolas"/>
                  <a:cs typeface="Consolas"/>
                </a:rPr>
                <a:t>// BR-23, BR-24, BR-25</a:t>
              </a:r>
              <a:endParaRPr lang="en-US" sz="700" dirty="0"/>
            </a:p>
          </p:txBody>
        </p:sp>
        <p:sp>
          <p:nvSpPr>
            <p:cNvPr id="110" name="cls_L01"/>
            <p:cNvSpPr txBox="1"/>
            <p:nvPr/>
          </p:nvSpPr>
          <p:spPr>
            <a:xfrm>
              <a:off x="771754" y="2369548"/>
              <a:ext cx="5460720" cy="13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11" name="cls_L02"/>
            <p:cNvSpPr txBox="1"/>
            <p:nvPr/>
          </p:nvSpPr>
          <p:spPr>
            <a:xfrm>
              <a:off x="771754" y="2507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OrderStatus Status { </a:t>
              </a:r>
              <a:r>
                <a:rPr lang="en-US" sz="700" b="0" dirty="0">
                  <a:solidFill>
                    <a:srgbClr val="60A5FA"/>
                  </a:solidFill>
                  <a:latin typeface="Consolas"/>
                  <a:ea typeface="Consolas"/>
                  <a:cs typeface="Consolas"/>
                </a:rPr>
                <a:t>get</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private</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set</a:t>
              </a:r>
              <a:r>
                <a:rPr lang="en-US" sz="700" b="0" dirty="0">
                  <a:solidFill>
                    <a:srgbClr val="E2E8F0"/>
                  </a:solidFill>
                  <a:latin typeface="Consolas"/>
                  <a:ea typeface="Consolas"/>
                  <a:cs typeface="Consolas"/>
                </a:rPr>
                <a:t>; } = OrderStatus.Pending;</a:t>
              </a:r>
              <a:endParaRPr lang="en-US" sz="700" dirty="0"/>
            </a:p>
          </p:txBody>
        </p:sp>
        <p:sp>
          <p:nvSpPr>
            <p:cNvPr id="112" name="cls_L03"/>
            <p:cNvSpPr txBox="1"/>
            <p:nvPr/>
          </p:nvSpPr>
          <p:spPr>
            <a:xfrm>
              <a:off x="771754" y="2645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string</a:t>
              </a:r>
              <a:r>
                <a:rPr lang="en-US" sz="700" b="0" dirty="0">
                  <a:solidFill>
                    <a:srgbClr val="E2E8F0"/>
                  </a:solidFill>
                  <a:latin typeface="Consolas"/>
                  <a:ea typeface="Consolas"/>
                  <a:cs typeface="Consolas"/>
                </a:rPr>
                <a:t> DeliveryCode { </a:t>
              </a:r>
              <a:r>
                <a:rPr lang="en-US" sz="700" b="0" dirty="0">
                  <a:solidFill>
                    <a:srgbClr val="60A5FA"/>
                  </a:solidFill>
                  <a:latin typeface="Consolas"/>
                  <a:ea typeface="Consolas"/>
                  <a:cs typeface="Consolas"/>
                </a:rPr>
                <a:t>get</a:t>
              </a:r>
              <a:r>
                <a:rPr lang="en-US" sz="700" b="0" dirty="0">
                  <a:solidFill>
                    <a:srgbClr val="E2E8F0"/>
                  </a:solidFill>
                  <a:latin typeface="Consolas"/>
                  <a:ea typeface="Consolas"/>
                  <a:cs typeface="Consolas"/>
                </a:rPr>
                <a:t>; }   </a:t>
              </a:r>
              <a:r>
                <a:rPr lang="en-US" sz="700" b="0" dirty="0">
                  <a:solidFill>
                    <a:srgbClr val="6FAE7A"/>
                  </a:solidFill>
                  <a:latin typeface="Consolas"/>
                  <a:ea typeface="Consolas"/>
                  <a:cs typeface="Consolas"/>
                </a:rPr>
                <a:t>// random 4 digits</a:t>
              </a:r>
              <a:endParaRPr lang="en-US" sz="700" dirty="0"/>
            </a:p>
          </p:txBody>
        </p:sp>
        <p:sp>
          <p:nvSpPr>
            <p:cNvPr id="113" name="cls_L05"/>
            <p:cNvSpPr txBox="1"/>
            <p:nvPr/>
          </p:nvSpPr>
          <p:spPr>
            <a:xfrm>
              <a:off x="771754" y="2921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Accept() =&gt; MoveTo(OrderStatus.Accepted, from: OrderStatus.Pending);</a:t>
              </a:r>
              <a:endParaRPr lang="en-US" sz="700" dirty="0"/>
            </a:p>
          </p:txBody>
        </p:sp>
        <p:sp>
          <p:nvSpPr>
            <p:cNvPr id="114" name="cls_L07"/>
            <p:cNvSpPr txBox="1"/>
            <p:nvPr/>
          </p:nvSpPr>
          <p:spPr>
            <a:xfrm>
              <a:off x="771754" y="3197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Cancel()                                   </a:t>
              </a:r>
              <a:r>
                <a:rPr lang="en-US" sz="700" b="0" dirty="0">
                  <a:solidFill>
                    <a:srgbClr val="6FAE7A"/>
                  </a:solidFill>
                  <a:latin typeface="Consolas"/>
                  <a:ea typeface="Consolas"/>
                  <a:cs typeface="Consolas"/>
                </a:rPr>
                <a:t>// BR-24</a:t>
              </a:r>
              <a:endParaRPr lang="en-US" sz="700" dirty="0"/>
            </a:p>
          </p:txBody>
        </p:sp>
        <p:sp>
          <p:nvSpPr>
            <p:cNvPr id="115" name="cls_L08"/>
            <p:cNvSpPr txBox="1"/>
            <p:nvPr/>
          </p:nvSpPr>
          <p:spPr>
            <a:xfrm>
              <a:off x="771754" y="3335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16" name="cls_L09"/>
            <p:cNvSpPr txBox="1"/>
            <p:nvPr/>
          </p:nvSpPr>
          <p:spPr>
            <a:xfrm>
              <a:off x="771754" y="3473548"/>
              <a:ext cx="5460720" cy="13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Guard.Against(Status != OrderStatus.Pending, </a:t>
              </a:r>
              <a:r>
                <a:rPr lang="en-US" sz="700" b="0" dirty="0">
                  <a:solidFill>
                    <a:srgbClr val="F0A98B"/>
                  </a:solidFill>
                  <a:latin typeface="Consolas"/>
                  <a:ea typeface="Consolas"/>
                  <a:cs typeface="Consolas"/>
                </a:rPr>
                <a:t>"BR-24"</a:t>
              </a:r>
              <a:r>
                <a:rPr lang="en-US" sz="700" b="0" dirty="0">
                  <a:solidFill>
                    <a:srgbClr val="E2E8F0"/>
                  </a:solidFill>
                  <a:latin typeface="Consolas"/>
                  <a:ea typeface="Consolas"/>
                  <a:cs typeface="Consolas"/>
                </a:rPr>
                <a:t>, ...);</a:t>
              </a:r>
              <a:endParaRPr lang="en-US" sz="700" dirty="0"/>
            </a:p>
          </p:txBody>
        </p:sp>
        <p:sp>
          <p:nvSpPr>
            <p:cNvPr id="117" name="cls_L10"/>
            <p:cNvSpPr txBox="1"/>
            <p:nvPr/>
          </p:nvSpPr>
          <p:spPr>
            <a:xfrm>
              <a:off x="771754" y="3611548"/>
              <a:ext cx="5460720" cy="13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Status = OrderStatus.Cancelled;</a:t>
              </a:r>
              <a:endParaRPr lang="en-US" sz="700" dirty="0"/>
            </a:p>
          </p:txBody>
        </p:sp>
        <p:sp>
          <p:nvSpPr>
            <p:cNvPr id="118" name="cls_L11"/>
            <p:cNvSpPr txBox="1"/>
            <p:nvPr/>
          </p:nvSpPr>
          <p:spPr>
            <a:xfrm>
              <a:off x="771754" y="3749548"/>
              <a:ext cx="5460720" cy="13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60A5FA"/>
                  </a:solidFill>
                  <a:latin typeface="Consolas"/>
                  <a:ea typeface="Consolas"/>
                  <a:cs typeface="Consolas"/>
                </a:rPr>
                <a:t>if</a:t>
              </a:r>
              <a:r>
                <a:rPr lang="en-US" sz="700" b="0" dirty="0">
                  <a:solidFill>
                    <a:srgbClr val="E2E8F0"/>
                  </a:solidFill>
                  <a:latin typeface="Consolas"/>
                  <a:ea typeface="Consolas"/>
                  <a:cs typeface="Consolas"/>
                </a:rPr>
                <a:t> (Payment </a:t>
              </a:r>
              <a:r>
                <a:rPr lang="en-US" sz="700" b="0" dirty="0">
                  <a:solidFill>
                    <a:srgbClr val="60A5FA"/>
                  </a:solidFill>
                  <a:latin typeface="Consolas"/>
                  <a:ea typeface="Consolas"/>
                  <a:cs typeface="Consolas"/>
                </a:rPr>
                <a:t>is</a:t>
              </a:r>
              <a:r>
                <a:rPr lang="en-US" sz="700" b="0" dirty="0">
                  <a:solidFill>
                    <a:srgbClr val="E2E8F0"/>
                  </a:solidFill>
                  <a:latin typeface="Consolas"/>
                  <a:ea typeface="Consolas"/>
                  <a:cs typeface="Consolas"/>
                </a:rPr>
                <a:t> IRefundable r) r.Refund(Customer, Price.Total);</a:t>
              </a:r>
              <a:endParaRPr lang="en-US" sz="700" dirty="0"/>
            </a:p>
          </p:txBody>
        </p:sp>
        <p:sp>
          <p:nvSpPr>
            <p:cNvPr id="119" name="cls_L12"/>
            <p:cNvSpPr txBox="1"/>
            <p:nvPr/>
          </p:nvSpPr>
          <p:spPr>
            <a:xfrm>
              <a:off x="771754" y="3887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0" name="cls_L14"/>
            <p:cNvSpPr txBox="1"/>
            <p:nvPr/>
          </p:nvSpPr>
          <p:spPr>
            <a:xfrm>
              <a:off x="771754" y="4163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ConfirmDelivery(</a:t>
              </a:r>
              <a:r>
                <a:rPr lang="en-US" sz="700" b="0" dirty="0">
                  <a:solidFill>
                    <a:srgbClr val="60A5FA"/>
                  </a:solidFill>
                  <a:latin typeface="Consolas"/>
                  <a:ea typeface="Consolas"/>
                  <a:cs typeface="Consolas"/>
                </a:rPr>
                <a:t>string</a:t>
              </a:r>
              <a:r>
                <a:rPr lang="en-US" sz="700" b="0" dirty="0">
                  <a:solidFill>
                    <a:srgbClr val="E2E8F0"/>
                  </a:solidFill>
                  <a:latin typeface="Consolas"/>
                  <a:ea typeface="Consolas"/>
                  <a:cs typeface="Consolas"/>
                </a:rPr>
                <a:t> code)               </a:t>
              </a:r>
              <a:r>
                <a:rPr lang="en-US" sz="700" b="0" dirty="0">
                  <a:solidFill>
                    <a:srgbClr val="6FAE7A"/>
                  </a:solidFill>
                  <a:latin typeface="Consolas"/>
                  <a:ea typeface="Consolas"/>
                  <a:cs typeface="Consolas"/>
                </a:rPr>
                <a:t>// BR-25</a:t>
              </a:r>
              <a:endParaRPr lang="en-US" sz="700" dirty="0"/>
            </a:p>
          </p:txBody>
        </p:sp>
        <p:sp>
          <p:nvSpPr>
            <p:cNvPr id="121" name="cls_L15"/>
            <p:cNvSpPr txBox="1"/>
            <p:nvPr/>
          </p:nvSpPr>
          <p:spPr>
            <a:xfrm>
              <a:off x="771754" y="4301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2" name="cls_L16"/>
            <p:cNvSpPr txBox="1"/>
            <p:nvPr/>
          </p:nvSpPr>
          <p:spPr>
            <a:xfrm>
              <a:off x="771754" y="4439548"/>
              <a:ext cx="5460720" cy="13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Guard.Against(Status == OrderStatus.PickedUp &amp;&amp; code != DeliveryCode,</a:t>
              </a:r>
              <a:endParaRPr lang="en-US" sz="700" dirty="0"/>
            </a:p>
          </p:txBody>
        </p:sp>
        <p:sp>
          <p:nvSpPr>
            <p:cNvPr id="123" name="cls_L17"/>
            <p:cNvSpPr txBox="1"/>
            <p:nvPr/>
          </p:nvSpPr>
          <p:spPr>
            <a:xfrm>
              <a:off x="771754" y="4577548"/>
              <a:ext cx="5460720" cy="138000"/>
            </a:xfrm>
            <a:prstGeom prst="rect">
              <a:avLst/>
            </a:prstGeom>
            <a:noFill/>
            <a:ln>
              <a:noFill/>
            </a:ln>
          </p:spPr>
          <p:txBody>
            <a:bodyPr wrap="none" lIns="0" tIns="0" rIns="0" bIns="0" rtlCol="0" anchor="ctr">
              <a:noAutofit/>
            </a:bodyPr>
            <a:lstStyle/>
            <a:p>
              <a:pPr marL="1327150" indent="0" algn="l">
                <a:spcBef>
                  <a:spcPts val="0"/>
                </a:spcBef>
                <a:spcAft>
                  <a:spcPts val="0"/>
                </a:spcAft>
                <a:buNone/>
              </a:pPr>
              <a:r>
                <a:rPr lang="en-US" sz="700" b="0" dirty="0">
                  <a:solidFill>
                    <a:srgbClr val="E2E8F0"/>
                  </a:solidFill>
                  <a:latin typeface="Consolas"/>
                  <a:ea typeface="Consolas"/>
                  <a:cs typeface="Consolas"/>
                </a:rPr>
                <a:t>  </a:t>
              </a:r>
              <a:r>
                <a:rPr lang="en-US" sz="700" b="0" dirty="0">
                  <a:solidFill>
                    <a:srgbClr val="F0A98B"/>
                  </a:solidFill>
                  <a:latin typeface="Consolas"/>
                  <a:ea typeface="Consolas"/>
                  <a:cs typeface="Consolas"/>
                </a:rPr>
                <a:t>"BR-25"</a:t>
              </a:r>
              <a:r>
                <a:rPr lang="en-US" sz="700" b="0" dirty="0">
                  <a:solidFill>
                    <a:srgbClr val="E2E8F0"/>
                  </a:solidFill>
                  <a:latin typeface="Consolas"/>
                  <a:ea typeface="Consolas"/>
                  <a:cs typeface="Consolas"/>
                </a:rPr>
                <a:t>, </a:t>
              </a:r>
              <a:r>
                <a:rPr lang="en-US" sz="700" b="0" dirty="0">
                  <a:solidFill>
                    <a:srgbClr val="F0A98B"/>
                  </a:solidFill>
                  <a:latin typeface="Consolas"/>
                  <a:ea typeface="Consolas"/>
                  <a:cs typeface="Consolas"/>
                </a:rPr>
                <a:t>"Wrong delivery code."</a:t>
              </a:r>
              <a:r>
                <a:rPr lang="en-US" sz="700" b="0" dirty="0">
                  <a:solidFill>
                    <a:srgbClr val="E2E8F0"/>
                  </a:solidFill>
                  <a:latin typeface="Consolas"/>
                  <a:ea typeface="Consolas"/>
                  <a:cs typeface="Consolas"/>
                </a:rPr>
                <a:t>);</a:t>
              </a:r>
              <a:endParaRPr lang="en-US" sz="700" dirty="0"/>
            </a:p>
          </p:txBody>
        </p:sp>
        <p:sp>
          <p:nvSpPr>
            <p:cNvPr id="124" name="cls_L18"/>
            <p:cNvSpPr txBox="1"/>
            <p:nvPr/>
          </p:nvSpPr>
          <p:spPr>
            <a:xfrm>
              <a:off x="771754" y="4715548"/>
              <a:ext cx="5460720" cy="13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MoveTo(OrderStatus.Delivered, from: OrderStatus.PickedUp);</a:t>
              </a:r>
              <a:endParaRPr lang="en-US" sz="700" dirty="0"/>
            </a:p>
          </p:txBody>
        </p:sp>
        <p:sp>
          <p:nvSpPr>
            <p:cNvPr id="125" name="cls_L19"/>
            <p:cNvSpPr txBox="1"/>
            <p:nvPr/>
          </p:nvSpPr>
          <p:spPr>
            <a:xfrm>
              <a:off x="771754" y="4853548"/>
              <a:ext cx="5460720" cy="13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Driver!.FinishOrder();</a:t>
              </a:r>
              <a:endParaRPr lang="en-US" sz="700" dirty="0"/>
            </a:p>
          </p:txBody>
        </p:sp>
        <p:sp>
          <p:nvSpPr>
            <p:cNvPr id="126" name="cls_L20"/>
            <p:cNvSpPr txBox="1"/>
            <p:nvPr/>
          </p:nvSpPr>
          <p:spPr>
            <a:xfrm>
              <a:off x="771754" y="4991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27" name="cls_L22"/>
            <p:cNvSpPr txBox="1"/>
            <p:nvPr/>
          </p:nvSpPr>
          <p:spPr>
            <a:xfrm>
              <a:off x="771754" y="5267548"/>
              <a:ext cx="5460720" cy="13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private</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MoveTo(OrderStatus to, OrderStatus from)  </a:t>
              </a:r>
              <a:r>
                <a:rPr lang="en-US" sz="700" b="0" dirty="0">
                  <a:solidFill>
                    <a:srgbClr val="6FAE7A"/>
                  </a:solidFill>
                  <a:latin typeface="Consolas"/>
                  <a:ea typeface="Consolas"/>
                  <a:cs typeface="Consolas"/>
                </a:rPr>
                <a:t>// BR-23</a:t>
              </a:r>
              <a:endParaRPr lang="en-US" sz="700" dirty="0"/>
            </a:p>
          </p:txBody>
        </p:sp>
        <p:sp>
          <p:nvSpPr>
            <p:cNvPr id="128" name="cls_L23"/>
            <p:cNvSpPr txBox="1"/>
            <p:nvPr/>
          </p:nvSpPr>
          <p:spPr>
            <a:xfrm>
              <a:off x="771754" y="5405548"/>
              <a:ext cx="5460720" cy="13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=&gt; ...  </a:t>
              </a:r>
              <a:r>
                <a:rPr lang="en-US" sz="700" b="0" dirty="0">
                  <a:solidFill>
                    <a:srgbClr val="6FAE7A"/>
                  </a:solidFill>
                  <a:latin typeface="Consolas"/>
                  <a:ea typeface="Consolas"/>
                  <a:cs typeface="Consolas"/>
                </a:rPr>
                <a:t>// throws "BR-23" when Status != from</a:t>
              </a:r>
              <a:endParaRPr lang="en-US" sz="700" dirty="0"/>
            </a:p>
          </p:txBody>
        </p:sp>
        <p:sp>
          <p:nvSpPr>
            <p:cNvPr id="129" name="cls_L24"/>
            <p:cNvSpPr txBox="1"/>
            <p:nvPr/>
          </p:nvSpPr>
          <p:spPr>
            <a:xfrm>
              <a:off x="771754" y="5543548"/>
              <a:ext cx="5460720" cy="13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grpSp>
      <p:sp>
        <p:nvSpPr>
          <p:cNvPr id="131" name="cls_hl7"/>
          <p:cNvSpPr/>
          <p:nvPr/>
        </p:nvSpPr>
        <p:spPr>
          <a:xfrm>
            <a:off x="676656" y="3179260"/>
            <a:ext cx="5493720" cy="17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2" name="cls_hl9"/>
          <p:cNvSpPr/>
          <p:nvPr/>
        </p:nvSpPr>
        <p:spPr>
          <a:xfrm>
            <a:off x="676656" y="3455260"/>
            <a:ext cx="5493720" cy="174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33" name="cls_hl14"/>
          <p:cNvSpPr/>
          <p:nvPr/>
        </p:nvSpPr>
        <p:spPr>
          <a:xfrm>
            <a:off x="676656" y="4145260"/>
            <a:ext cx="5493720" cy="17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4" name="cls_hl16"/>
          <p:cNvSpPr/>
          <p:nvPr/>
        </p:nvSpPr>
        <p:spPr>
          <a:xfrm>
            <a:off x="676656" y="4421260"/>
            <a:ext cx="5493720" cy="17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5" name="cls_hl17"/>
          <p:cNvSpPr/>
          <p:nvPr/>
        </p:nvSpPr>
        <p:spPr>
          <a:xfrm>
            <a:off x="676656" y="4559260"/>
            <a:ext cx="5493720" cy="17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36" name="tl"/>
          <p:cNvSpPr txBox="1"/>
          <p:nvPr/>
        </p:nvSpPr>
        <p:spPr>
          <a:xfrm>
            <a:off x="6532474" y="1463040"/>
            <a:ext cx="509778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53" name="t1"/>
          <p:cNvGrpSpPr/>
          <p:nvPr/>
        </p:nvGrpSpPr>
        <p:grpSpPr>
          <a:xfrm>
            <a:off x="6532474" y="1755648"/>
            <a:ext cx="5097780" cy="1855900"/>
            <a:chOff x="6532474" y="1755648"/>
            <a:chExt cx="5097780" cy="1855900"/>
          </a:xfrm>
        </p:grpSpPr>
        <p:sp>
          <p:nvSpPr>
            <p:cNvPr id="137" name="t1_win"/>
            <p:cNvSpPr/>
            <p:nvPr/>
          </p:nvSpPr>
          <p:spPr>
            <a:xfrm>
              <a:off x="6532474" y="1755648"/>
              <a:ext cx="5097780" cy="1855900"/>
            </a:xfrm>
            <a:prstGeom prst="roundRect">
              <a:avLst>
                <a:gd name="adj" fmla="val 3693"/>
              </a:avLst>
            </a:prstGeom>
            <a:solidFill>
              <a:srgbClr val="060D18"/>
            </a:solidFill>
            <a:ln w="12700">
              <a:solidFill>
                <a:srgbClr val="1E3A5F"/>
              </a:solidFill>
              <a:prstDash val="solid"/>
            </a:ln>
          </p:spPr>
          <p:txBody>
            <a:bodyPr/>
            <a:lstStyle/>
            <a:p>
              <a:endParaRPr lang="en-US"/>
            </a:p>
          </p:txBody>
        </p:sp>
        <p:sp>
          <p:nvSpPr>
            <p:cNvPr id="138" name="t1_bar"/>
            <p:cNvSpPr/>
            <p:nvPr/>
          </p:nvSpPr>
          <p:spPr>
            <a:xfrm>
              <a:off x="6532474" y="1755648"/>
              <a:ext cx="50977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9" name="t1_barfill"/>
            <p:cNvSpPr/>
            <p:nvPr/>
          </p:nvSpPr>
          <p:spPr>
            <a:xfrm>
              <a:off x="6532474" y="1927098"/>
              <a:ext cx="5097780" cy="171450"/>
            </a:xfrm>
            <a:prstGeom prst="rect">
              <a:avLst/>
            </a:prstGeom>
            <a:solidFill>
              <a:srgbClr val="0A1220"/>
            </a:solidFill>
            <a:ln w="12700">
              <a:solidFill>
                <a:srgbClr val="0A1220"/>
              </a:solidFill>
              <a:prstDash val="solid"/>
            </a:ln>
          </p:spPr>
          <p:txBody>
            <a:bodyPr/>
            <a:lstStyle/>
            <a:p>
              <a:endParaRPr lang="en-US"/>
            </a:p>
          </p:txBody>
        </p:sp>
        <p:sp>
          <p:nvSpPr>
            <p:cNvPr id="140" name="t1_dot0"/>
            <p:cNvSpPr/>
            <p:nvPr/>
          </p:nvSpPr>
          <p:spPr>
            <a:xfrm>
              <a:off x="669432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41" name="t1_dot1"/>
            <p:cNvSpPr/>
            <p:nvPr/>
          </p:nvSpPr>
          <p:spPr>
            <a:xfrm>
              <a:off x="687994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42" name="t1_dot2"/>
            <p:cNvSpPr/>
            <p:nvPr/>
          </p:nvSpPr>
          <p:spPr>
            <a:xfrm>
              <a:off x="706557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43" name="t1_tab"/>
            <p:cNvSpPr/>
            <p:nvPr/>
          </p:nvSpPr>
          <p:spPr>
            <a:xfrm>
              <a:off x="7313371" y="180319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Orders/OrderTests.cs</a:t>
              </a:r>
              <a:endParaRPr lang="en-US" sz="950" dirty="0"/>
            </a:p>
          </p:txBody>
        </p:sp>
        <p:sp>
          <p:nvSpPr>
            <p:cNvPr id="144" name="t1_L00"/>
            <p:cNvSpPr txBox="1"/>
            <p:nvPr/>
          </p:nvSpPr>
          <p:spPr>
            <a:xfrm>
              <a:off x="6761074" y="2231548"/>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[Fact]</a:t>
              </a:r>
              <a:endParaRPr lang="en-US" sz="700" dirty="0"/>
            </a:p>
          </p:txBody>
        </p:sp>
        <p:sp>
          <p:nvSpPr>
            <p:cNvPr id="145" name="t1_L01"/>
            <p:cNvSpPr txBox="1"/>
            <p:nvPr/>
          </p:nvSpPr>
          <p:spPr>
            <a:xfrm>
              <a:off x="6761074" y="2371548"/>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Cancel_AfterAccept_ThrowsBR24()</a:t>
              </a:r>
              <a:endParaRPr lang="en-US" sz="700" dirty="0"/>
            </a:p>
          </p:txBody>
        </p:sp>
        <p:sp>
          <p:nvSpPr>
            <p:cNvPr id="146" name="t1_L02"/>
            <p:cNvSpPr txBox="1"/>
            <p:nvPr/>
          </p:nvSpPr>
          <p:spPr>
            <a:xfrm>
              <a:off x="6761074" y="2511548"/>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47" name="t1_L03"/>
            <p:cNvSpPr txBox="1"/>
            <p:nvPr/>
          </p:nvSpPr>
          <p:spPr>
            <a:xfrm>
              <a:off x="6761074" y="2651548"/>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order = PlacePendingOrder();</a:t>
              </a:r>
              <a:endParaRPr lang="en-US" sz="700" dirty="0"/>
            </a:p>
          </p:txBody>
        </p:sp>
        <p:sp>
          <p:nvSpPr>
            <p:cNvPr id="148" name="t1_L04"/>
            <p:cNvSpPr txBox="1"/>
            <p:nvPr/>
          </p:nvSpPr>
          <p:spPr>
            <a:xfrm>
              <a:off x="6761074" y="2791548"/>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order.Accept();</a:t>
              </a:r>
              <a:endParaRPr lang="en-US" sz="700" dirty="0"/>
            </a:p>
          </p:txBody>
        </p:sp>
        <p:sp>
          <p:nvSpPr>
            <p:cNvPr id="149" name="t1_L05"/>
            <p:cNvSpPr txBox="1"/>
            <p:nvPr/>
          </p:nvSpPr>
          <p:spPr>
            <a:xfrm>
              <a:off x="6761074" y="2931548"/>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Should.Throw&lt;DomainException&gt;(() =&gt; order.Cancel())</a:t>
              </a:r>
              <a:endParaRPr lang="en-US" sz="700" dirty="0"/>
            </a:p>
          </p:txBody>
        </p:sp>
        <p:sp>
          <p:nvSpPr>
            <p:cNvPr id="150" name="t1_L06"/>
            <p:cNvSpPr txBox="1"/>
            <p:nvPr/>
          </p:nvSpPr>
          <p:spPr>
            <a:xfrm>
              <a:off x="6761074" y="3071548"/>
              <a:ext cx="4797780" cy="14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00" b="0" dirty="0">
                  <a:solidFill>
                    <a:srgbClr val="E2E8F0"/>
                  </a:solidFill>
                  <a:latin typeface="Consolas"/>
                  <a:ea typeface="Consolas"/>
                  <a:cs typeface="Consolas"/>
                </a:rPr>
                <a:t>  .RuleId.ShouldBe(</a:t>
              </a:r>
              <a:r>
                <a:rPr lang="en-US" sz="700" b="0" dirty="0">
                  <a:solidFill>
                    <a:srgbClr val="F0A98B"/>
                  </a:solidFill>
                  <a:latin typeface="Consolas"/>
                  <a:ea typeface="Consolas"/>
                  <a:cs typeface="Consolas"/>
                </a:rPr>
                <a:t>"BR-24"</a:t>
              </a:r>
              <a:r>
                <a:rPr lang="en-US" sz="700" b="0" dirty="0">
                  <a:solidFill>
                    <a:srgbClr val="E2E8F0"/>
                  </a:solidFill>
                  <a:latin typeface="Consolas"/>
                  <a:ea typeface="Consolas"/>
                  <a:cs typeface="Consolas"/>
                </a:rPr>
                <a:t>);</a:t>
              </a:r>
              <a:endParaRPr lang="en-US" sz="700" dirty="0"/>
            </a:p>
          </p:txBody>
        </p:sp>
        <p:sp>
          <p:nvSpPr>
            <p:cNvPr id="151" name="t1_L07"/>
            <p:cNvSpPr txBox="1"/>
            <p:nvPr/>
          </p:nvSpPr>
          <p:spPr>
            <a:xfrm>
              <a:off x="6761074" y="3211548"/>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order.Status.ShouldBe(OrderStatus.Accepted);   </a:t>
              </a:r>
              <a:r>
                <a:rPr lang="en-US" sz="700" b="0" dirty="0">
                  <a:solidFill>
                    <a:srgbClr val="6FAE7A"/>
                  </a:solidFill>
                  <a:latin typeface="Consolas"/>
                  <a:ea typeface="Consolas"/>
                  <a:cs typeface="Consolas"/>
                </a:rPr>
                <a:t>// unchanged</a:t>
              </a:r>
              <a:endParaRPr lang="en-US" sz="700" dirty="0"/>
            </a:p>
          </p:txBody>
        </p:sp>
        <p:sp>
          <p:nvSpPr>
            <p:cNvPr id="152" name="t1_L08"/>
            <p:cNvSpPr txBox="1"/>
            <p:nvPr/>
          </p:nvSpPr>
          <p:spPr>
            <a:xfrm>
              <a:off x="6761074" y="3351548"/>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grpSp>
      <p:sp>
        <p:nvSpPr>
          <p:cNvPr id="154" name="t1_hl5"/>
          <p:cNvSpPr/>
          <p:nvPr/>
        </p:nvSpPr>
        <p:spPr>
          <a:xfrm>
            <a:off x="6665976" y="2913260"/>
            <a:ext cx="4830780" cy="176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55" name="t1_hl6"/>
          <p:cNvSpPr/>
          <p:nvPr/>
        </p:nvSpPr>
        <p:spPr>
          <a:xfrm>
            <a:off x="6665976" y="3053260"/>
            <a:ext cx="4830780" cy="176576"/>
          </a:xfrm>
          <a:prstGeom prst="rect">
            <a:avLst/>
          </a:prstGeom>
          <a:solidFill>
            <a:srgbClr val="F87171">
              <a:alpha val="15000"/>
            </a:srgbClr>
          </a:solidFill>
          <a:ln w="12700">
            <a:solidFill>
              <a:srgbClr val="F87171"/>
            </a:solidFill>
            <a:prstDash val="solid"/>
          </a:ln>
        </p:spPr>
        <p:txBody>
          <a:bodyPr/>
          <a:lstStyle/>
          <a:p>
            <a:endParaRPr lang="en-US"/>
          </a:p>
        </p:txBody>
      </p:sp>
      <p:grpSp>
        <p:nvGrpSpPr>
          <p:cNvPr id="173" name="t2"/>
          <p:cNvGrpSpPr/>
          <p:nvPr/>
        </p:nvGrpSpPr>
        <p:grpSpPr>
          <a:xfrm>
            <a:off x="6532474" y="3611880"/>
            <a:ext cx="5097780" cy="1995900"/>
            <a:chOff x="6532474" y="3611880"/>
            <a:chExt cx="5097780" cy="1995900"/>
          </a:xfrm>
        </p:grpSpPr>
        <p:sp>
          <p:nvSpPr>
            <p:cNvPr id="156" name="t2_win"/>
            <p:cNvSpPr/>
            <p:nvPr/>
          </p:nvSpPr>
          <p:spPr>
            <a:xfrm>
              <a:off x="6532474" y="3611880"/>
              <a:ext cx="5097780" cy="1995900"/>
            </a:xfrm>
            <a:prstGeom prst="roundRect">
              <a:avLst>
                <a:gd name="adj" fmla="val 3434"/>
              </a:avLst>
            </a:prstGeom>
            <a:solidFill>
              <a:srgbClr val="060D18"/>
            </a:solidFill>
            <a:ln w="12700">
              <a:solidFill>
                <a:srgbClr val="1E3A5F"/>
              </a:solidFill>
              <a:prstDash val="solid"/>
            </a:ln>
          </p:spPr>
          <p:txBody>
            <a:bodyPr/>
            <a:lstStyle/>
            <a:p>
              <a:endParaRPr lang="en-US"/>
            </a:p>
          </p:txBody>
        </p:sp>
        <p:sp>
          <p:nvSpPr>
            <p:cNvPr id="157" name="t2_bar"/>
            <p:cNvSpPr/>
            <p:nvPr/>
          </p:nvSpPr>
          <p:spPr>
            <a:xfrm>
              <a:off x="6532474" y="3611880"/>
              <a:ext cx="50977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58" name="t2_barfill"/>
            <p:cNvSpPr/>
            <p:nvPr/>
          </p:nvSpPr>
          <p:spPr>
            <a:xfrm>
              <a:off x="6532474" y="3783330"/>
              <a:ext cx="5097780" cy="171450"/>
            </a:xfrm>
            <a:prstGeom prst="rect">
              <a:avLst/>
            </a:prstGeom>
            <a:solidFill>
              <a:srgbClr val="0A1220"/>
            </a:solidFill>
            <a:ln w="12700">
              <a:solidFill>
                <a:srgbClr val="0A1220"/>
              </a:solidFill>
              <a:prstDash val="solid"/>
            </a:ln>
          </p:spPr>
          <p:txBody>
            <a:bodyPr/>
            <a:lstStyle/>
            <a:p>
              <a:endParaRPr lang="en-US"/>
            </a:p>
          </p:txBody>
        </p:sp>
        <p:sp>
          <p:nvSpPr>
            <p:cNvPr id="159" name="t2_dot0"/>
            <p:cNvSpPr/>
            <p:nvPr/>
          </p:nvSpPr>
          <p:spPr>
            <a:xfrm>
              <a:off x="6694322" y="3735690"/>
              <a:ext cx="95098" cy="95098"/>
            </a:xfrm>
            <a:prstGeom prst="ellipse">
              <a:avLst/>
            </a:prstGeom>
            <a:solidFill>
              <a:srgbClr val="F87171"/>
            </a:solidFill>
            <a:ln w="12700">
              <a:solidFill>
                <a:srgbClr val="F87171"/>
              </a:solidFill>
              <a:prstDash val="solid"/>
            </a:ln>
          </p:spPr>
          <p:txBody>
            <a:bodyPr/>
            <a:lstStyle/>
            <a:p>
              <a:endParaRPr lang="en-US"/>
            </a:p>
          </p:txBody>
        </p:sp>
        <p:sp>
          <p:nvSpPr>
            <p:cNvPr id="160" name="t2_dot1"/>
            <p:cNvSpPr/>
            <p:nvPr/>
          </p:nvSpPr>
          <p:spPr>
            <a:xfrm>
              <a:off x="6879946" y="3735690"/>
              <a:ext cx="95098" cy="95098"/>
            </a:xfrm>
            <a:prstGeom prst="ellipse">
              <a:avLst/>
            </a:prstGeom>
            <a:solidFill>
              <a:srgbClr val="FBBF24"/>
            </a:solidFill>
            <a:ln w="12700">
              <a:solidFill>
                <a:srgbClr val="FBBF24"/>
              </a:solidFill>
              <a:prstDash val="solid"/>
            </a:ln>
          </p:spPr>
          <p:txBody>
            <a:bodyPr/>
            <a:lstStyle/>
            <a:p>
              <a:endParaRPr lang="en-US"/>
            </a:p>
          </p:txBody>
        </p:sp>
        <p:sp>
          <p:nvSpPr>
            <p:cNvPr id="161" name="t2_dot2"/>
            <p:cNvSpPr/>
            <p:nvPr/>
          </p:nvSpPr>
          <p:spPr>
            <a:xfrm>
              <a:off x="7065570" y="3735690"/>
              <a:ext cx="95098" cy="95098"/>
            </a:xfrm>
            <a:prstGeom prst="ellipse">
              <a:avLst/>
            </a:prstGeom>
            <a:solidFill>
              <a:srgbClr val="34D399"/>
            </a:solidFill>
            <a:ln w="12700">
              <a:solidFill>
                <a:srgbClr val="34D399"/>
              </a:solidFill>
              <a:prstDash val="solid"/>
            </a:ln>
          </p:spPr>
          <p:txBody>
            <a:bodyPr/>
            <a:lstStyle/>
            <a:p>
              <a:endParaRPr lang="en-US"/>
            </a:p>
          </p:txBody>
        </p:sp>
        <p:sp>
          <p:nvSpPr>
            <p:cNvPr id="162" name="t2_tab"/>
            <p:cNvSpPr/>
            <p:nvPr/>
          </p:nvSpPr>
          <p:spPr>
            <a:xfrm>
              <a:off x="7313371" y="3659429"/>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Orders/OrderTests.cs</a:t>
              </a:r>
              <a:endParaRPr lang="en-US" sz="950" dirty="0"/>
            </a:p>
          </p:txBody>
        </p:sp>
        <p:sp>
          <p:nvSpPr>
            <p:cNvPr id="163" name="t2_L00"/>
            <p:cNvSpPr txBox="1"/>
            <p:nvPr/>
          </p:nvSpPr>
          <p:spPr>
            <a:xfrm>
              <a:off x="6761074" y="4087780"/>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[Fact]</a:t>
              </a:r>
              <a:endParaRPr lang="en-US" sz="700" dirty="0"/>
            </a:p>
          </p:txBody>
        </p:sp>
        <p:sp>
          <p:nvSpPr>
            <p:cNvPr id="164" name="t2_L01"/>
            <p:cNvSpPr txBox="1"/>
            <p:nvPr/>
          </p:nvSpPr>
          <p:spPr>
            <a:xfrm>
              <a:off x="6761074" y="4227780"/>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60A5FA"/>
                  </a:solidFill>
                  <a:latin typeface="Consolas"/>
                  <a:ea typeface="Consolas"/>
                  <a:cs typeface="Consolas"/>
                </a:rPr>
                <a:t>public</a:t>
              </a:r>
              <a:r>
                <a:rPr lang="en-US" sz="700" b="0" dirty="0">
                  <a:solidFill>
                    <a:srgbClr val="E2E8F0"/>
                  </a:solidFill>
                  <a:latin typeface="Consolas"/>
                  <a:ea typeface="Consolas"/>
                  <a:cs typeface="Consolas"/>
                </a:rPr>
                <a:t> </a:t>
              </a:r>
              <a:r>
                <a:rPr lang="en-US" sz="700" b="0" dirty="0">
                  <a:solidFill>
                    <a:srgbClr val="60A5FA"/>
                  </a:solidFill>
                  <a:latin typeface="Consolas"/>
                  <a:ea typeface="Consolas"/>
                  <a:cs typeface="Consolas"/>
                </a:rPr>
                <a:t>void</a:t>
              </a:r>
              <a:r>
                <a:rPr lang="en-US" sz="700" b="0" dirty="0">
                  <a:solidFill>
                    <a:srgbClr val="E2E8F0"/>
                  </a:solidFill>
                  <a:latin typeface="Consolas"/>
                  <a:ea typeface="Consolas"/>
                  <a:cs typeface="Consolas"/>
                </a:rPr>
                <a:t> ConfirmDelivery_RightCode_IsDelivered()</a:t>
              </a:r>
              <a:endParaRPr lang="en-US" sz="700" dirty="0"/>
            </a:p>
          </p:txBody>
        </p:sp>
        <p:sp>
          <p:nvSpPr>
            <p:cNvPr id="165" name="t2_L02"/>
            <p:cNvSpPr txBox="1"/>
            <p:nvPr/>
          </p:nvSpPr>
          <p:spPr>
            <a:xfrm>
              <a:off x="6761074" y="4367780"/>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sp>
          <p:nvSpPr>
            <p:cNvPr id="166" name="t2_L03"/>
            <p:cNvSpPr txBox="1"/>
            <p:nvPr/>
          </p:nvSpPr>
          <p:spPr>
            <a:xfrm>
              <a:off x="6761074" y="4507780"/>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60A5FA"/>
                  </a:solidFill>
                  <a:latin typeface="Consolas"/>
                  <a:ea typeface="Consolas"/>
                  <a:cs typeface="Consolas"/>
                </a:rPr>
                <a:t>var</a:t>
              </a:r>
              <a:r>
                <a:rPr lang="en-US" sz="700" b="0" dirty="0">
                  <a:solidFill>
                    <a:srgbClr val="E2E8F0"/>
                  </a:solidFill>
                  <a:latin typeface="Consolas"/>
                  <a:ea typeface="Consolas"/>
                  <a:cs typeface="Consolas"/>
                </a:rPr>
                <a:t> order = PlacePendingOrder();</a:t>
              </a:r>
              <a:endParaRPr lang="en-US" sz="700" dirty="0"/>
            </a:p>
          </p:txBody>
        </p:sp>
        <p:sp>
          <p:nvSpPr>
            <p:cNvPr id="167" name="t2_L04"/>
            <p:cNvSpPr txBox="1"/>
            <p:nvPr/>
          </p:nvSpPr>
          <p:spPr>
            <a:xfrm>
              <a:off x="6761074" y="4647780"/>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order.Accept();</a:t>
              </a:r>
              <a:endParaRPr lang="en-US" sz="700" dirty="0"/>
            </a:p>
          </p:txBody>
        </p:sp>
        <p:sp>
          <p:nvSpPr>
            <p:cNvPr id="168" name="t2_L05"/>
            <p:cNvSpPr txBox="1"/>
            <p:nvPr/>
          </p:nvSpPr>
          <p:spPr>
            <a:xfrm>
              <a:off x="6761074" y="4787780"/>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order.AssignDriver(TestData.OnlineDriver(</a:t>
              </a:r>
              <a:r>
                <a:rPr lang="en-US" sz="700" b="0" dirty="0">
                  <a:solidFill>
                    <a:srgbClr val="F0A98B"/>
                  </a:solidFill>
                  <a:latin typeface="Consolas"/>
                  <a:ea typeface="Consolas"/>
                  <a:cs typeface="Consolas"/>
                </a:rPr>
                <a:t>"Omar Adel"</a:t>
              </a:r>
              <a:r>
                <a:rPr lang="en-US" sz="700" b="0" dirty="0">
                  <a:solidFill>
                    <a:srgbClr val="E2E8F0"/>
                  </a:solidFill>
                  <a:latin typeface="Consolas"/>
                  <a:ea typeface="Consolas"/>
                  <a:cs typeface="Consolas"/>
                </a:rPr>
                <a:t>, Location.At(0, 0)));</a:t>
              </a:r>
              <a:endParaRPr lang="en-US" sz="700" dirty="0"/>
            </a:p>
          </p:txBody>
        </p:sp>
        <p:sp>
          <p:nvSpPr>
            <p:cNvPr id="169" name="t2_L06"/>
            <p:cNvSpPr txBox="1"/>
            <p:nvPr/>
          </p:nvSpPr>
          <p:spPr>
            <a:xfrm>
              <a:off x="6761074" y="4927780"/>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order.PickUp();</a:t>
              </a:r>
              <a:endParaRPr lang="en-US" sz="700" dirty="0"/>
            </a:p>
          </p:txBody>
        </p:sp>
        <p:sp>
          <p:nvSpPr>
            <p:cNvPr id="170" name="t2_L07"/>
            <p:cNvSpPr txBox="1"/>
            <p:nvPr/>
          </p:nvSpPr>
          <p:spPr>
            <a:xfrm>
              <a:off x="6761074" y="5067780"/>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order.ConfirmDelivery(order.DeliveryCode);   </a:t>
              </a:r>
              <a:r>
                <a:rPr lang="en-US" sz="700" b="0" dirty="0">
                  <a:solidFill>
                    <a:srgbClr val="6FAE7A"/>
                  </a:solidFill>
                  <a:latin typeface="Consolas"/>
                  <a:ea typeface="Consolas"/>
                  <a:cs typeface="Consolas"/>
                </a:rPr>
                <a:t>// read it, never guess</a:t>
              </a:r>
              <a:endParaRPr lang="en-US" sz="700" dirty="0"/>
            </a:p>
          </p:txBody>
        </p:sp>
        <p:sp>
          <p:nvSpPr>
            <p:cNvPr id="171" name="t2_L08"/>
            <p:cNvSpPr txBox="1"/>
            <p:nvPr/>
          </p:nvSpPr>
          <p:spPr>
            <a:xfrm>
              <a:off x="6761074" y="5207780"/>
              <a:ext cx="4797780" cy="14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00" b="0" dirty="0">
                  <a:solidFill>
                    <a:srgbClr val="E2E8F0"/>
                  </a:solidFill>
                  <a:latin typeface="Consolas"/>
                  <a:ea typeface="Consolas"/>
                  <a:cs typeface="Consolas"/>
                </a:rPr>
                <a:t>order.Status.ShouldBe(OrderStatus.Delivered);</a:t>
              </a:r>
              <a:endParaRPr lang="en-US" sz="700" dirty="0"/>
            </a:p>
          </p:txBody>
        </p:sp>
        <p:sp>
          <p:nvSpPr>
            <p:cNvPr id="172" name="t2_L09"/>
            <p:cNvSpPr txBox="1"/>
            <p:nvPr/>
          </p:nvSpPr>
          <p:spPr>
            <a:xfrm>
              <a:off x="6761074" y="5347780"/>
              <a:ext cx="4797780" cy="14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00" b="0" dirty="0">
                  <a:solidFill>
                    <a:srgbClr val="E2E8F0"/>
                  </a:solidFill>
                  <a:latin typeface="Consolas"/>
                  <a:ea typeface="Consolas"/>
                  <a:cs typeface="Consolas"/>
                </a:rPr>
                <a:t>}</a:t>
              </a:r>
              <a:endParaRPr lang="en-US" sz="700" dirty="0"/>
            </a:p>
          </p:txBody>
        </p:sp>
      </p:grpSp>
      <p:sp>
        <p:nvSpPr>
          <p:cNvPr id="174" name="t2_hl7"/>
          <p:cNvSpPr/>
          <p:nvPr/>
        </p:nvSpPr>
        <p:spPr>
          <a:xfrm>
            <a:off x="6665976" y="5049492"/>
            <a:ext cx="4830780" cy="176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75" name="b"/>
          <p:cNvSpPr/>
          <p:nvPr/>
        </p:nvSpPr>
        <p:spPr>
          <a:xfrm>
            <a:off x="6532474" y="5669280"/>
            <a:ext cx="5097780" cy="347472"/>
          </a:xfrm>
          <a:prstGeom prst="roundRect">
            <a:avLst>
              <a:gd name="adj" fmla="val 10975"/>
            </a:avLst>
          </a:prstGeom>
          <a:solidFill>
            <a:srgbClr val="0C1628"/>
          </a:solidFill>
          <a:ln w="12700">
            <a:solidFill>
              <a:srgbClr val="A78BFA"/>
            </a:solidFill>
            <a:prstDash val="solid"/>
          </a:ln>
        </p:spPr>
        <p:txBody>
          <a:bodyPr wrap="square" lIns="209398" tIns="75895" rIns="209398" bIns="75895" rtlCol="0" anchor="ctr">
            <a:noAutofit/>
          </a:bodyPr>
          <a:lstStyle/>
          <a:p>
            <a:pPr marL="0" indent="0" algn="ctr">
              <a:spcBef>
                <a:spcPts val="0"/>
              </a:spcBef>
              <a:spcAft>
                <a:spcPts val="0"/>
              </a:spcAft>
              <a:buNone/>
            </a:pPr>
            <a:r>
              <a:rPr lang="en-US" sz="950" b="0" dirty="0">
                <a:solidFill>
                  <a:srgbClr val="FFFFFF"/>
                </a:solidFill>
                <a:latin typeface="Segoe UI"/>
                <a:ea typeface="Segoe UI"/>
                <a:cs typeface="Segoe UI"/>
              </a:rPr>
              <a:t>Pending → Accepted → PickedUp → Delivered  ·  Cancel: Pending only</a:t>
            </a:r>
            <a:endParaRPr lang="en-US" sz="950" dirty="0"/>
          </a:p>
        </p:txBody>
      </p:sp>
    </p:spTree>
    <p:extLst>
      <p:ext uri="{BB962C8B-B14F-4D97-AF65-F5344CB8AC3E}">
        <p14:creationId xmlns:p14="http://schemas.microsoft.com/office/powerpoint/2010/main" val="51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animEffect transition="in" filter="fade">
                                      <p:cBhvr>
                                        <p:cTn id="10" dur="400"/>
                                        <p:tgtEl>
                                          <p:spTgt spid="1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animEffect transition="in" filter="fade">
                                      <p:cBhvr>
                                        <p:cTn id="13" dur="400"/>
                                        <p:tgtEl>
                                          <p:spTgt spid="1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2"/>
                                        </p:tgtEl>
                                        <p:attrNameLst>
                                          <p:attrName>style.visibility</p:attrName>
                                        </p:attrNameLst>
                                      </p:cBhvr>
                                      <p:to>
                                        <p:strVal val="visible"/>
                                      </p:to>
                                    </p:set>
                                    <p:animEffect transition="in" filter="fade">
                                      <p:cBhvr>
                                        <p:cTn id="16" dur="400"/>
                                        <p:tgtEl>
                                          <p:spTgt spid="13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fade">
                                      <p:cBhvr>
                                        <p:cTn id="19" dur="400"/>
                                        <p:tgtEl>
                                          <p:spTgt spid="13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fade">
                                      <p:cBhvr>
                                        <p:cTn id="22" dur="400"/>
                                        <p:tgtEl>
                                          <p:spTgt spid="13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5"/>
                                        </p:tgtEl>
                                        <p:attrNameLst>
                                          <p:attrName>style.visibility</p:attrName>
                                        </p:attrNameLst>
                                      </p:cBhvr>
                                      <p:to>
                                        <p:strVal val="visible"/>
                                      </p:to>
                                    </p:set>
                                    <p:animEffect transition="in" filter="fade">
                                      <p:cBhvr>
                                        <p:cTn id="25" dur="400"/>
                                        <p:tgtEl>
                                          <p:spTgt spid="13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6"/>
                                        </p:tgtEl>
                                        <p:attrNameLst>
                                          <p:attrName>style.visibility</p:attrName>
                                        </p:attrNameLst>
                                      </p:cBhvr>
                                      <p:to>
                                        <p:strVal val="visible"/>
                                      </p:to>
                                    </p:set>
                                    <p:animEffect transition="in" filter="fade">
                                      <p:cBhvr>
                                        <p:cTn id="30" dur="400"/>
                                        <p:tgtEl>
                                          <p:spTgt spid="136"/>
                                        </p:tgtEl>
                                      </p:cBhvr>
                                    </p:animEffect>
                                  </p:childTnLst>
                                </p:cTn>
                              </p:par>
                              <p:par>
                                <p:cTn id="31" presetID="10" presetClass="entr" presetSubtype="0" fill="hold" nodeType="withEffect">
                                  <p:stCondLst>
                                    <p:cond delay="0"/>
                                  </p:stCondLst>
                                  <p:childTnLst>
                                    <p:set>
                                      <p:cBhvr>
                                        <p:cTn id="32" dur="1" fill="hold">
                                          <p:stCondLst>
                                            <p:cond delay="0"/>
                                          </p:stCondLst>
                                        </p:cTn>
                                        <p:tgtEl>
                                          <p:spTgt spid="153"/>
                                        </p:tgtEl>
                                        <p:attrNameLst>
                                          <p:attrName>style.visibility</p:attrName>
                                        </p:attrNameLst>
                                      </p:cBhvr>
                                      <p:to>
                                        <p:strVal val="visible"/>
                                      </p:to>
                                    </p:set>
                                    <p:animEffect transition="in" filter="fade">
                                      <p:cBhvr>
                                        <p:cTn id="33" dur="400"/>
                                        <p:tgtEl>
                                          <p:spTgt spid="15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4"/>
                                        </p:tgtEl>
                                        <p:attrNameLst>
                                          <p:attrName>style.visibility</p:attrName>
                                        </p:attrNameLst>
                                      </p:cBhvr>
                                      <p:to>
                                        <p:strVal val="visible"/>
                                      </p:to>
                                    </p:set>
                                    <p:animEffect transition="in" filter="fade">
                                      <p:cBhvr>
                                        <p:cTn id="36" dur="400"/>
                                        <p:tgtEl>
                                          <p:spTgt spid="15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5"/>
                                        </p:tgtEl>
                                        <p:attrNameLst>
                                          <p:attrName>style.visibility</p:attrName>
                                        </p:attrNameLst>
                                      </p:cBhvr>
                                      <p:to>
                                        <p:strVal val="visible"/>
                                      </p:to>
                                    </p:set>
                                    <p:animEffect transition="in" filter="fade">
                                      <p:cBhvr>
                                        <p:cTn id="39" dur="400"/>
                                        <p:tgtEl>
                                          <p:spTgt spid="15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3"/>
                                        </p:tgtEl>
                                        <p:attrNameLst>
                                          <p:attrName>style.visibility</p:attrName>
                                        </p:attrNameLst>
                                      </p:cBhvr>
                                      <p:to>
                                        <p:strVal val="visible"/>
                                      </p:to>
                                    </p:set>
                                    <p:animEffect transition="in" filter="fade">
                                      <p:cBhvr>
                                        <p:cTn id="44" dur="400"/>
                                        <p:tgtEl>
                                          <p:spTgt spid="17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4"/>
                                        </p:tgtEl>
                                        <p:attrNameLst>
                                          <p:attrName>style.visibility</p:attrName>
                                        </p:attrNameLst>
                                      </p:cBhvr>
                                      <p:to>
                                        <p:strVal val="visible"/>
                                      </p:to>
                                    </p:set>
                                    <p:animEffect transition="in" filter="fade">
                                      <p:cBhvr>
                                        <p:cTn id="47" dur="400"/>
                                        <p:tgtEl>
                                          <p:spTgt spid="17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5"/>
                                        </p:tgtEl>
                                        <p:attrNameLst>
                                          <p:attrName>style.visibility</p:attrName>
                                        </p:attrNameLst>
                                      </p:cBhvr>
                                      <p:to>
                                        <p:strVal val="visible"/>
                                      </p:to>
                                    </p:set>
                                    <p:animEffect transition="in" filter="fade">
                                      <p:cBhvr>
                                        <p:cTn id="52" dur="4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31" grpId="0" animBg="1"/>
      <p:bldP spid="132" grpId="0" animBg="1"/>
      <p:bldP spid="133" grpId="0" animBg="1"/>
      <p:bldP spid="134" grpId="0" animBg="1"/>
      <p:bldP spid="135" grpId="0" animBg="1"/>
      <p:bldP spid="136" grpId="0" animBg="1"/>
      <p:bldP spid="154" grpId="0" animBg="1"/>
      <p:bldP spid="155" grpId="0" animBg="1"/>
      <p:bldP spid="174" grpId="0" animBg="1"/>
      <p:bldP spid="175"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264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PRICING</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11: The Full Price, End to End (BR-18 to BR-21)</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146</a:t>
            </a:r>
            <a:endParaRPr lang="en-US" sz="850" dirty="0"/>
          </a:p>
        </p:txBody>
      </p:sp>
      <p:grpSp>
        <p:nvGrpSpPr>
          <p:cNvPr id="126" name="code"/>
          <p:cNvGrpSpPr/>
          <p:nvPr/>
        </p:nvGrpSpPr>
        <p:grpSpPr>
          <a:xfrm>
            <a:off x="543154" y="1572768"/>
            <a:ext cx="7086600" cy="4207900"/>
            <a:chOff x="543154" y="1572768"/>
            <a:chExt cx="7086600" cy="4207900"/>
          </a:xfrm>
        </p:grpSpPr>
        <p:sp>
          <p:nvSpPr>
            <p:cNvPr id="101" name="code_win"/>
            <p:cNvSpPr/>
            <p:nvPr/>
          </p:nvSpPr>
          <p:spPr>
            <a:xfrm>
              <a:off x="543154" y="1572768"/>
              <a:ext cx="7086600" cy="4207900"/>
            </a:xfrm>
            <a:prstGeom prst="roundRect">
              <a:avLst>
                <a:gd name="adj" fmla="val 1629"/>
              </a:avLst>
            </a:prstGeom>
            <a:solidFill>
              <a:srgbClr val="060D18"/>
            </a:solidFill>
            <a:ln w="12700">
              <a:solidFill>
                <a:srgbClr val="1E3A5F"/>
              </a:solidFill>
              <a:prstDash val="solid"/>
            </a:ln>
          </p:spPr>
          <p:txBody>
            <a:bodyPr/>
            <a:lstStyle/>
            <a:p>
              <a:endParaRPr lang="en-US"/>
            </a:p>
          </p:txBody>
        </p:sp>
        <p:sp>
          <p:nvSpPr>
            <p:cNvPr id="102" name="code_bar"/>
            <p:cNvSpPr/>
            <p:nvPr/>
          </p:nvSpPr>
          <p:spPr>
            <a:xfrm>
              <a:off x="543154" y="1572768"/>
              <a:ext cx="708660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ode_barfill"/>
            <p:cNvSpPr/>
            <p:nvPr/>
          </p:nvSpPr>
          <p:spPr>
            <a:xfrm>
              <a:off x="543154" y="1744218"/>
              <a:ext cx="7086600" cy="171450"/>
            </a:xfrm>
            <a:prstGeom prst="rect">
              <a:avLst/>
            </a:prstGeom>
            <a:solidFill>
              <a:srgbClr val="0A1220"/>
            </a:solidFill>
            <a:ln w="12700">
              <a:solidFill>
                <a:srgbClr val="0A1220"/>
              </a:solidFill>
              <a:prstDash val="solid"/>
            </a:ln>
          </p:spPr>
          <p:txBody>
            <a:bodyPr/>
            <a:lstStyle/>
            <a:p>
              <a:endParaRPr lang="en-US"/>
            </a:p>
          </p:txBody>
        </p:sp>
        <p:sp>
          <p:nvSpPr>
            <p:cNvPr id="104" name="code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ode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ode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ode_tab"/>
            <p:cNvSpPr/>
            <p:nvPr/>
          </p:nvSpPr>
          <p:spPr>
            <a:xfrm>
              <a:off x="1324051" y="1620317"/>
              <a:ext cx="2169315"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Orders/OrderPricingTests.cs</a:t>
              </a:r>
              <a:endParaRPr lang="en-US" sz="950" dirty="0"/>
            </a:p>
          </p:txBody>
        </p:sp>
        <p:sp>
          <p:nvSpPr>
            <p:cNvPr id="108" name="code_L00"/>
            <p:cNvSpPr txBox="1"/>
            <p:nvPr/>
          </p:nvSpPr>
          <p:spPr>
            <a:xfrm>
              <a:off x="771754" y="2048668"/>
              <a:ext cx="67866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60A5FA"/>
                  </a:solidFill>
                  <a:latin typeface="Consolas"/>
                  <a:ea typeface="Consolas"/>
                  <a:cs typeface="Consolas"/>
                </a:rPr>
                <a:t>private</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static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readonly</a:t>
              </a:r>
              <a:r>
                <a:rPr lang="en-US" sz="830" b="0" dirty="0">
                  <a:solidFill>
                    <a:srgbClr val="E2E8F0"/>
                  </a:solidFill>
                  <a:latin typeface="Consolas"/>
                  <a:ea typeface="Consolas"/>
                  <a:cs typeface="Consolas"/>
                </a:rPr>
                <a:t> DeliveryFeeCalculator AllStrategies = </a:t>
              </a:r>
              <a:r>
                <a:rPr lang="en-US" sz="830" b="0" dirty="0">
                  <a:solidFill>
                    <a:srgbClr val="60A5FA"/>
                  </a:solidFill>
                  <a:latin typeface="Consolas"/>
                  <a:ea typeface="Consolas"/>
                  <a:cs typeface="Consolas"/>
                </a:rPr>
                <a:t>new</a:t>
              </a:r>
              <a:r>
                <a:rPr lang="en-US" sz="830" b="0" dirty="0">
                  <a:solidFill>
                    <a:srgbClr val="E2E8F0"/>
                  </a:solidFill>
                  <a:latin typeface="Consolas"/>
                  <a:ea typeface="Consolas"/>
                  <a:cs typeface="Consolas"/>
                </a:rPr>
                <a:t>(</a:t>
              </a:r>
              <a:endParaRPr lang="en-US" sz="830" dirty="0"/>
            </a:p>
          </p:txBody>
        </p:sp>
        <p:sp>
          <p:nvSpPr>
            <p:cNvPr id="109" name="code_L01"/>
            <p:cNvSpPr txBox="1"/>
            <p:nvPr/>
          </p:nvSpPr>
          <p:spPr>
            <a:xfrm>
              <a:off x="771754" y="2220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a:t>
              </a:r>
              <a:r>
                <a:rPr lang="en-US" sz="830" b="0" dirty="0">
                  <a:solidFill>
                    <a:srgbClr val="60A5FA"/>
                  </a:solidFill>
                  <a:latin typeface="Consolas"/>
                  <a:ea typeface="Consolas"/>
                  <a:cs typeface="Consolas"/>
                </a:rPr>
                <a:t>new</a:t>
              </a:r>
              <a:r>
                <a:rPr lang="en-US" sz="830" b="0" dirty="0">
                  <a:solidFill>
                    <a:srgbClr val="E2E8F0"/>
                  </a:solidFill>
                  <a:latin typeface="Consolas"/>
                  <a:ea typeface="Consolas"/>
                  <a:cs typeface="Consolas"/>
                </a:rPr>
                <a:t> StandardFeeStrategy(), </a:t>
              </a:r>
              <a:r>
                <a:rPr lang="en-US" sz="830" b="0" dirty="0">
                  <a:solidFill>
                    <a:srgbClr val="60A5FA"/>
                  </a:solidFill>
                  <a:latin typeface="Consolas"/>
                  <a:ea typeface="Consolas"/>
                  <a:cs typeface="Consolas"/>
                </a:rPr>
                <a:t>new</a:t>
              </a:r>
              <a:r>
                <a:rPr lang="en-US" sz="830" b="0" dirty="0">
                  <a:solidFill>
                    <a:srgbClr val="E2E8F0"/>
                  </a:solidFill>
                  <a:latin typeface="Consolas"/>
                  <a:ea typeface="Consolas"/>
                  <a:cs typeface="Consolas"/>
                </a:rPr>
                <a:t> PeakHoursFeeStrategy(),</a:t>
              </a:r>
              <a:endParaRPr lang="en-US" sz="830" dirty="0"/>
            </a:p>
          </p:txBody>
        </p:sp>
        <p:sp>
          <p:nvSpPr>
            <p:cNvPr id="110" name="code_L02"/>
            <p:cNvSpPr txBox="1"/>
            <p:nvPr/>
          </p:nvSpPr>
          <p:spPr>
            <a:xfrm>
              <a:off x="771754" y="2392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new</a:t>
              </a:r>
              <a:r>
                <a:rPr lang="en-US" sz="830" b="0" dirty="0">
                  <a:solidFill>
                    <a:srgbClr val="E2E8F0"/>
                  </a:solidFill>
                  <a:latin typeface="Consolas"/>
                  <a:ea typeface="Consolas"/>
                  <a:cs typeface="Consolas"/>
                </a:rPr>
                <a:t> PremiumFreeDeliveryStrategy()]);</a:t>
              </a:r>
              <a:endParaRPr lang="en-US" sz="830" dirty="0"/>
            </a:p>
          </p:txBody>
        </p:sp>
        <p:sp>
          <p:nvSpPr>
            <p:cNvPr id="111" name="code_L04"/>
            <p:cNvSpPr txBox="1"/>
            <p:nvPr/>
          </p:nvSpPr>
          <p:spPr>
            <a:xfrm>
              <a:off x="771754" y="2736668"/>
              <a:ext cx="67866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[Theory]</a:t>
              </a:r>
              <a:endParaRPr lang="en-US" sz="830" dirty="0"/>
            </a:p>
          </p:txBody>
        </p:sp>
        <p:sp>
          <p:nvSpPr>
            <p:cNvPr id="112" name="code_L05"/>
            <p:cNvSpPr txBox="1"/>
            <p:nvPr/>
          </p:nvSpPr>
          <p:spPr>
            <a:xfrm>
              <a:off x="771754" y="2908668"/>
              <a:ext cx="67866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[InlineData(13, 15.0, 151.80)]    </a:t>
              </a:r>
              <a:r>
                <a:rPr lang="en-US" sz="830" b="0" dirty="0">
                  <a:solidFill>
                    <a:srgbClr val="6FAE7A"/>
                  </a:solidFill>
                  <a:latin typeface="Consolas"/>
                  <a:ea typeface="Consolas"/>
                  <a:cs typeface="Consolas"/>
                </a:rPr>
                <a:t>// lunch: standard fee</a:t>
              </a:r>
              <a:endParaRPr lang="en-US" sz="830" dirty="0"/>
            </a:p>
          </p:txBody>
        </p:sp>
        <p:sp>
          <p:nvSpPr>
            <p:cNvPr id="113" name="code_L06"/>
            <p:cNvSpPr txBox="1"/>
            <p:nvPr/>
          </p:nvSpPr>
          <p:spPr>
            <a:xfrm>
              <a:off x="771754" y="3080668"/>
              <a:ext cx="67866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[InlineData(20, 19.5, 156.30)]    </a:t>
              </a:r>
              <a:r>
                <a:rPr lang="en-US" sz="830" b="0" dirty="0">
                  <a:solidFill>
                    <a:srgbClr val="6FAE7A"/>
                  </a:solidFill>
                  <a:latin typeface="Consolas"/>
                  <a:ea typeface="Consolas"/>
                  <a:cs typeface="Consolas"/>
                </a:rPr>
                <a:t>// peak: 15 x 1.3</a:t>
              </a:r>
              <a:endParaRPr lang="en-US" sz="830" dirty="0"/>
            </a:p>
          </p:txBody>
        </p:sp>
        <p:sp>
          <p:nvSpPr>
            <p:cNvPr id="114" name="code_L07"/>
            <p:cNvSpPr txBox="1"/>
            <p:nvPr/>
          </p:nvSpPr>
          <p:spPr>
            <a:xfrm>
              <a:off x="771754" y="3252668"/>
              <a:ext cx="67866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60A5FA"/>
                  </a:solidFill>
                  <a:latin typeface="Consolas"/>
                  <a:ea typeface="Consolas"/>
                  <a:cs typeface="Consolas"/>
                </a:rPr>
                <a:t>public</a:t>
              </a:r>
              <a:r>
                <a:rPr lang="en-US" sz="830" b="0" dirty="0">
                  <a:solidFill>
                    <a:srgbClr val="E2E8F0"/>
                  </a:solidFill>
                  <a:latin typeface="Consolas"/>
                  <a:ea typeface="Consolas"/>
                  <a:cs typeface="Consolas"/>
                </a:rPr>
                <a:t> </a:t>
              </a:r>
              <a:r>
                <a:rPr lang="en-US" sz="830" b="0" dirty="0">
                  <a:solidFill>
                    <a:srgbClr val="60A5FA"/>
                  </a:solidFill>
                  <a:latin typeface="Consolas"/>
                  <a:ea typeface="Consolas"/>
                  <a:cs typeface="Consolas"/>
                </a:rPr>
                <a:t>void</a:t>
              </a:r>
              <a:r>
                <a:rPr lang="en-US" sz="830" b="0" dirty="0">
                  <a:solidFill>
                    <a:srgbClr val="E2E8F0"/>
                  </a:solidFill>
                  <a:latin typeface="Consolas"/>
                  <a:ea typeface="Consolas"/>
                  <a:cs typeface="Consolas"/>
                </a:rPr>
                <a:t> PreviewPrice_ByTimeOfDay(</a:t>
              </a:r>
              <a:r>
                <a:rPr lang="en-US" sz="830" b="0" dirty="0">
                  <a:solidFill>
                    <a:srgbClr val="60A5FA"/>
                  </a:solidFill>
                  <a:latin typeface="Consolas"/>
                  <a:ea typeface="Consolas"/>
                  <a:cs typeface="Consolas"/>
                </a:rPr>
                <a:t>int</a:t>
              </a:r>
              <a:r>
                <a:rPr lang="en-US" sz="830" b="0" dirty="0">
                  <a:solidFill>
                    <a:srgbClr val="E2E8F0"/>
                  </a:solidFill>
                  <a:latin typeface="Consolas"/>
                  <a:ea typeface="Consolas"/>
                  <a:cs typeface="Consolas"/>
                </a:rPr>
                <a:t> hour, </a:t>
              </a:r>
              <a:r>
                <a:rPr lang="en-US" sz="830" b="0" dirty="0">
                  <a:solidFill>
                    <a:srgbClr val="60A5FA"/>
                  </a:solidFill>
                  <a:latin typeface="Consolas"/>
                  <a:ea typeface="Consolas"/>
                  <a:cs typeface="Consolas"/>
                </a:rPr>
                <a:t>double</a:t>
              </a:r>
              <a:r>
                <a:rPr lang="en-US" sz="830" b="0" dirty="0">
                  <a:solidFill>
                    <a:srgbClr val="E2E8F0"/>
                  </a:solidFill>
                  <a:latin typeface="Consolas"/>
                  <a:ea typeface="Consolas"/>
                  <a:cs typeface="Consolas"/>
                </a:rPr>
                <a:t> fee, </a:t>
              </a:r>
              <a:r>
                <a:rPr lang="en-US" sz="830" b="0" dirty="0">
                  <a:solidFill>
                    <a:srgbClr val="60A5FA"/>
                  </a:solidFill>
                  <a:latin typeface="Consolas"/>
                  <a:ea typeface="Consolas"/>
                  <a:cs typeface="Consolas"/>
                </a:rPr>
                <a:t>double</a:t>
              </a:r>
              <a:r>
                <a:rPr lang="en-US" sz="830" b="0" dirty="0">
                  <a:solidFill>
                    <a:srgbClr val="E2E8F0"/>
                  </a:solidFill>
                  <a:latin typeface="Consolas"/>
                  <a:ea typeface="Consolas"/>
                  <a:cs typeface="Consolas"/>
                </a:rPr>
                <a:t> total)</a:t>
              </a:r>
              <a:endParaRPr lang="en-US" sz="830" dirty="0"/>
            </a:p>
          </p:txBody>
        </p:sp>
        <p:sp>
          <p:nvSpPr>
            <p:cNvPr id="115" name="code_L08"/>
            <p:cNvSpPr txBox="1"/>
            <p:nvPr/>
          </p:nvSpPr>
          <p:spPr>
            <a:xfrm>
              <a:off x="771754" y="3424668"/>
              <a:ext cx="67866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sp>
          <p:nvSpPr>
            <p:cNvPr id="116" name="code_L09"/>
            <p:cNvSpPr txBox="1"/>
            <p:nvPr/>
          </p:nvSpPr>
          <p:spPr>
            <a:xfrm>
              <a:off x="771754" y="3596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60A5FA"/>
                  </a:solidFill>
                  <a:latin typeface="Consolas"/>
                  <a:ea typeface="Consolas"/>
                  <a:cs typeface="Consolas"/>
                </a:rPr>
                <a:t>var</a:t>
              </a:r>
              <a:r>
                <a:rPr lang="en-US" sz="830" b="0" dirty="0">
                  <a:solidFill>
                    <a:srgbClr val="E2E8F0"/>
                  </a:solidFill>
                  <a:latin typeface="Consolas"/>
                  <a:ea typeface="Consolas"/>
                  <a:cs typeface="Consolas"/>
                </a:rPr>
                <a:t> zooba = TestData.Zooba();</a:t>
              </a:r>
              <a:endParaRPr lang="en-US" sz="830" dirty="0"/>
            </a:p>
          </p:txBody>
        </p:sp>
        <p:sp>
          <p:nvSpPr>
            <p:cNvPr id="117" name="code_L10"/>
            <p:cNvSpPr txBox="1"/>
            <p:nvPr/>
          </p:nvSpPr>
          <p:spPr>
            <a:xfrm>
              <a:off x="771754" y="3768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60A5FA"/>
                  </a:solidFill>
                  <a:latin typeface="Consolas"/>
                  <a:ea typeface="Consolas"/>
                  <a:cs typeface="Consolas"/>
                </a:rPr>
                <a:t>var</a:t>
              </a:r>
              <a:r>
                <a:rPr lang="en-US" sz="830" b="0" dirty="0">
                  <a:solidFill>
                    <a:srgbClr val="E2E8F0"/>
                  </a:solidFill>
                  <a:latin typeface="Consolas"/>
                  <a:ea typeface="Consolas"/>
                  <a:cs typeface="Consolas"/>
                </a:rPr>
                <a:t> builder = OrderBuilder.For(TestData.Mona(), zooba, AllStrategies)</a:t>
              </a:r>
              <a:endParaRPr lang="en-US" sz="830" dirty="0"/>
            </a:p>
          </p:txBody>
        </p:sp>
        <p:sp>
          <p:nvSpPr>
            <p:cNvPr id="118" name="code_L11"/>
            <p:cNvSpPr txBox="1"/>
            <p:nvPr/>
          </p:nvSpPr>
          <p:spPr>
            <a:xfrm>
              <a:off x="771754" y="3940668"/>
              <a:ext cx="678660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30" b="0" dirty="0">
                  <a:solidFill>
                    <a:srgbClr val="E2E8F0"/>
                  </a:solidFill>
                  <a:latin typeface="Consolas"/>
                  <a:ea typeface="Consolas"/>
                  <a:cs typeface="Consolas"/>
                </a:rPr>
                <a:t>.AddItem(zooba.Menu[0], 2).DeliverTo(TestData.Home())</a:t>
              </a:r>
              <a:endParaRPr lang="en-US" sz="830" dirty="0"/>
            </a:p>
          </p:txBody>
        </p:sp>
        <p:sp>
          <p:nvSpPr>
            <p:cNvPr id="119" name="code_L12"/>
            <p:cNvSpPr txBox="1"/>
            <p:nvPr/>
          </p:nvSpPr>
          <p:spPr>
            <a:xfrm>
              <a:off x="771754" y="4112668"/>
              <a:ext cx="6786600" cy="172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830" b="0" dirty="0">
                  <a:solidFill>
                    <a:srgbClr val="E2E8F0"/>
                  </a:solidFill>
                  <a:latin typeface="Consolas"/>
                  <a:ea typeface="Consolas"/>
                  <a:cs typeface="Consolas"/>
                </a:rPr>
                <a:t>.PayWith(</a:t>
              </a:r>
              <a:r>
                <a:rPr lang="en-US" sz="830" b="0" dirty="0">
                  <a:solidFill>
                    <a:srgbClr val="60A5FA"/>
                  </a:solidFill>
                  <a:latin typeface="Consolas"/>
                  <a:ea typeface="Consolas"/>
                  <a:cs typeface="Consolas"/>
                </a:rPr>
                <a:t>new</a:t>
              </a:r>
              <a:r>
                <a:rPr lang="en-US" sz="830" b="0" dirty="0">
                  <a:solidFill>
                    <a:srgbClr val="E2E8F0"/>
                  </a:solidFill>
                  <a:latin typeface="Consolas"/>
                  <a:ea typeface="Consolas"/>
                  <a:cs typeface="Consolas"/>
                </a:rPr>
                <a:t> CashOnDelivery());</a:t>
              </a:r>
              <a:endParaRPr lang="en-US" sz="830" dirty="0"/>
            </a:p>
          </p:txBody>
        </p:sp>
        <p:sp>
          <p:nvSpPr>
            <p:cNvPr id="120" name="code_L14"/>
            <p:cNvSpPr txBox="1"/>
            <p:nvPr/>
          </p:nvSpPr>
          <p:spPr>
            <a:xfrm>
              <a:off x="771754" y="4456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60A5FA"/>
                  </a:solidFill>
                  <a:latin typeface="Consolas"/>
                  <a:ea typeface="Consolas"/>
                  <a:cs typeface="Consolas"/>
                </a:rPr>
                <a:t>var</a:t>
              </a:r>
              <a:r>
                <a:rPr lang="en-US" sz="830" b="0" dirty="0">
                  <a:solidFill>
                    <a:srgbClr val="E2E8F0"/>
                  </a:solidFill>
                  <a:latin typeface="Consolas"/>
                  <a:ea typeface="Consolas"/>
                  <a:cs typeface="Consolas"/>
                </a:rPr>
                <a:t> price = builder.PreviewPrice(</a:t>
              </a:r>
              <a:r>
                <a:rPr lang="en-US" sz="830" b="0" dirty="0">
                  <a:solidFill>
                    <a:srgbClr val="60A5FA"/>
                  </a:solidFill>
                  <a:latin typeface="Consolas"/>
                  <a:ea typeface="Consolas"/>
                  <a:cs typeface="Consolas"/>
                </a:rPr>
                <a:t>new</a:t>
              </a:r>
              <a:r>
                <a:rPr lang="en-US" sz="830" b="0" dirty="0">
                  <a:solidFill>
                    <a:srgbClr val="E2E8F0"/>
                  </a:solidFill>
                  <a:latin typeface="Consolas"/>
                  <a:ea typeface="Consolas"/>
                  <a:cs typeface="Consolas"/>
                </a:rPr>
                <a:t> DateTime(2026, 10, 11, hour, 0, 0));</a:t>
              </a:r>
              <a:endParaRPr lang="en-US" sz="830" dirty="0"/>
            </a:p>
          </p:txBody>
        </p:sp>
        <p:sp>
          <p:nvSpPr>
            <p:cNvPr id="121" name="code_L16"/>
            <p:cNvSpPr txBox="1"/>
            <p:nvPr/>
          </p:nvSpPr>
          <p:spPr>
            <a:xfrm>
              <a:off x="771754" y="4800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price.Subtotal.ShouldBe(120m);</a:t>
              </a:r>
              <a:endParaRPr lang="en-US" sz="830" dirty="0"/>
            </a:p>
          </p:txBody>
        </p:sp>
        <p:sp>
          <p:nvSpPr>
            <p:cNvPr id="122" name="code_L17"/>
            <p:cNvSpPr txBox="1"/>
            <p:nvPr/>
          </p:nvSpPr>
          <p:spPr>
            <a:xfrm>
              <a:off x="771754" y="4972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price.Vat.ShouldBe(16.80m);</a:t>
              </a:r>
              <a:endParaRPr lang="en-US" sz="830" dirty="0"/>
            </a:p>
          </p:txBody>
        </p:sp>
        <p:sp>
          <p:nvSpPr>
            <p:cNvPr id="123" name="code_L18"/>
            <p:cNvSpPr txBox="1"/>
            <p:nvPr/>
          </p:nvSpPr>
          <p:spPr>
            <a:xfrm>
              <a:off x="771754" y="5144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price.DeliveryFee.ShouldBe((</a:t>
              </a:r>
              <a:r>
                <a:rPr lang="en-US" sz="830" b="0" dirty="0">
                  <a:solidFill>
                    <a:srgbClr val="60A5FA"/>
                  </a:solidFill>
                  <a:latin typeface="Consolas"/>
                  <a:ea typeface="Consolas"/>
                  <a:cs typeface="Consolas"/>
                </a:rPr>
                <a:t>decimal</a:t>
              </a:r>
              <a:r>
                <a:rPr lang="en-US" sz="830" b="0" dirty="0">
                  <a:solidFill>
                    <a:srgbClr val="E2E8F0"/>
                  </a:solidFill>
                  <a:latin typeface="Consolas"/>
                  <a:ea typeface="Consolas"/>
                  <a:cs typeface="Consolas"/>
                </a:rPr>
                <a:t>)fee);</a:t>
              </a:r>
              <a:endParaRPr lang="en-US" sz="830" dirty="0"/>
            </a:p>
          </p:txBody>
        </p:sp>
        <p:sp>
          <p:nvSpPr>
            <p:cNvPr id="124" name="code_L19"/>
            <p:cNvSpPr txBox="1"/>
            <p:nvPr/>
          </p:nvSpPr>
          <p:spPr>
            <a:xfrm>
              <a:off x="771754" y="5316668"/>
              <a:ext cx="6786600" cy="172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830" b="0" dirty="0">
                  <a:solidFill>
                    <a:srgbClr val="E2E8F0"/>
                  </a:solidFill>
                  <a:latin typeface="Consolas"/>
                  <a:ea typeface="Consolas"/>
                  <a:cs typeface="Consolas"/>
                </a:rPr>
                <a:t>price.Total.ShouldBe((</a:t>
              </a:r>
              <a:r>
                <a:rPr lang="en-US" sz="830" b="0" dirty="0">
                  <a:solidFill>
                    <a:srgbClr val="60A5FA"/>
                  </a:solidFill>
                  <a:latin typeface="Consolas"/>
                  <a:ea typeface="Consolas"/>
                  <a:cs typeface="Consolas"/>
                </a:rPr>
                <a:t>decimal</a:t>
              </a:r>
              <a:r>
                <a:rPr lang="en-US" sz="830" b="0" dirty="0">
                  <a:solidFill>
                    <a:srgbClr val="E2E8F0"/>
                  </a:solidFill>
                  <a:latin typeface="Consolas"/>
                  <a:ea typeface="Consolas"/>
                  <a:cs typeface="Consolas"/>
                </a:rPr>
                <a:t>)total);</a:t>
              </a:r>
              <a:endParaRPr lang="en-US" sz="830" dirty="0"/>
            </a:p>
          </p:txBody>
        </p:sp>
        <p:sp>
          <p:nvSpPr>
            <p:cNvPr id="125" name="code_L20"/>
            <p:cNvSpPr txBox="1"/>
            <p:nvPr/>
          </p:nvSpPr>
          <p:spPr>
            <a:xfrm>
              <a:off x="771754" y="5488668"/>
              <a:ext cx="6786600" cy="172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830" b="0" dirty="0">
                  <a:solidFill>
                    <a:srgbClr val="E2E8F0"/>
                  </a:solidFill>
                  <a:latin typeface="Consolas"/>
                  <a:ea typeface="Consolas"/>
                  <a:cs typeface="Consolas"/>
                </a:rPr>
                <a:t>}</a:t>
              </a:r>
              <a:endParaRPr lang="en-US" sz="830" dirty="0"/>
            </a:p>
          </p:txBody>
        </p:sp>
      </p:grpSp>
      <p:sp>
        <p:nvSpPr>
          <p:cNvPr id="127" name="code_hl5"/>
          <p:cNvSpPr/>
          <p:nvPr/>
        </p:nvSpPr>
        <p:spPr>
          <a:xfrm>
            <a:off x="676656" y="2890380"/>
            <a:ext cx="6819600" cy="208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8" name="code_hl6"/>
          <p:cNvSpPr/>
          <p:nvPr/>
        </p:nvSpPr>
        <p:spPr>
          <a:xfrm>
            <a:off x="676656" y="3062380"/>
            <a:ext cx="6819600" cy="208576"/>
          </a:xfrm>
          <a:prstGeom prst="rect">
            <a:avLst/>
          </a:prstGeom>
          <a:solidFill>
            <a:srgbClr val="F87171">
              <a:alpha val="15000"/>
            </a:srgbClr>
          </a:solidFill>
          <a:ln w="12700">
            <a:solidFill>
              <a:srgbClr val="F87171"/>
            </a:solidFill>
            <a:prstDash val="solid"/>
          </a:ln>
        </p:spPr>
        <p:txBody>
          <a:bodyPr/>
          <a:lstStyle/>
          <a:p>
            <a:endParaRPr lang="en-US"/>
          </a:p>
        </p:txBody>
      </p:sp>
      <p:sp>
        <p:nvSpPr>
          <p:cNvPr id="129" name="hd"/>
          <p:cNvSpPr txBox="1"/>
          <p:nvPr/>
        </p:nvSpPr>
        <p:spPr>
          <a:xfrm>
            <a:off x="7818120" y="1600200"/>
            <a:ext cx="3812134"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PRICE                    13:00      20:00</a:t>
            </a:r>
            <a:endParaRPr lang="en-US" sz="1000" dirty="0"/>
          </a:p>
        </p:txBody>
      </p:sp>
      <p:sp>
        <p:nvSpPr>
          <p:cNvPr id="130" name="p0"/>
          <p:cNvSpPr/>
          <p:nvPr/>
        </p:nvSpPr>
        <p:spPr>
          <a:xfrm>
            <a:off x="7818120" y="1901952"/>
            <a:ext cx="3812134" cy="347472"/>
          </a:xfrm>
          <a:prstGeom prst="roundRect">
            <a:avLst>
              <a:gd name="adj" fmla="val 12000"/>
            </a:avLst>
          </a:prstGeom>
          <a:solidFill>
            <a:srgbClr val="111B2E"/>
          </a:solidFill>
          <a:ln w="12700">
            <a:solidFill>
              <a:srgbClr val="1E3A5F"/>
            </a:solidFill>
            <a:prstDash val="solid"/>
          </a:ln>
        </p:spPr>
        <p:txBody>
          <a:bodyPr wrap="square" lIns="137160" tIns="0" rIns="9144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Subtotal  2 × 60  </a:t>
            </a:r>
            <a:r>
              <a:rPr lang="en-US" sz="1100" b="0" dirty="0">
                <a:solidFill>
                  <a:srgbClr val="FBBF24"/>
                </a:solidFill>
                <a:latin typeface="Consolas"/>
                <a:ea typeface="Consolas"/>
                <a:cs typeface="Consolas"/>
              </a:rPr>
              <a:t> 120.00</a:t>
            </a:r>
            <a:r>
              <a:rPr lang="en-US" sz="1100" b="0" dirty="0">
                <a:solidFill>
                  <a:srgbClr val="F87171"/>
                </a:solidFill>
                <a:latin typeface="Consolas"/>
                <a:ea typeface="Consolas"/>
                <a:cs typeface="Consolas"/>
              </a:rPr>
              <a:t>    120.00</a:t>
            </a:r>
            <a:endParaRPr lang="en-US" sz="1100" dirty="0"/>
          </a:p>
        </p:txBody>
      </p:sp>
      <p:sp>
        <p:nvSpPr>
          <p:cNvPr id="131" name="p1"/>
          <p:cNvSpPr/>
          <p:nvPr/>
        </p:nvSpPr>
        <p:spPr>
          <a:xfrm>
            <a:off x="7818120" y="2313432"/>
            <a:ext cx="3812134" cy="347472"/>
          </a:xfrm>
          <a:prstGeom prst="roundRect">
            <a:avLst>
              <a:gd name="adj" fmla="val 12000"/>
            </a:avLst>
          </a:prstGeom>
          <a:solidFill>
            <a:srgbClr val="111B2E"/>
          </a:solidFill>
          <a:ln w="12700">
            <a:solidFill>
              <a:srgbClr val="1E3A5F"/>
            </a:solidFill>
            <a:prstDash val="solid"/>
          </a:ln>
        </p:spPr>
        <p:txBody>
          <a:bodyPr wrap="square" lIns="137160" tIns="0" rIns="9144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Delivery fee      </a:t>
            </a:r>
            <a:r>
              <a:rPr lang="en-US" sz="1100" b="0" dirty="0">
                <a:solidFill>
                  <a:srgbClr val="FBBF24"/>
                </a:solidFill>
                <a:latin typeface="Consolas"/>
                <a:ea typeface="Consolas"/>
                <a:cs typeface="Consolas"/>
              </a:rPr>
              <a:t>  15.00</a:t>
            </a:r>
            <a:r>
              <a:rPr lang="en-US" sz="1100" b="0" dirty="0">
                <a:solidFill>
                  <a:srgbClr val="F87171"/>
                </a:solidFill>
                <a:latin typeface="Consolas"/>
                <a:ea typeface="Consolas"/>
                <a:cs typeface="Consolas"/>
              </a:rPr>
              <a:t>     19.50</a:t>
            </a:r>
            <a:endParaRPr lang="en-US" sz="1100" dirty="0"/>
          </a:p>
        </p:txBody>
      </p:sp>
      <p:sp>
        <p:nvSpPr>
          <p:cNvPr id="132" name="p2"/>
          <p:cNvSpPr/>
          <p:nvPr/>
        </p:nvSpPr>
        <p:spPr>
          <a:xfrm>
            <a:off x="7818120" y="2724912"/>
            <a:ext cx="3812134" cy="347472"/>
          </a:xfrm>
          <a:prstGeom prst="roundRect">
            <a:avLst>
              <a:gd name="adj" fmla="val 12000"/>
            </a:avLst>
          </a:prstGeom>
          <a:solidFill>
            <a:srgbClr val="111B2E"/>
          </a:solidFill>
          <a:ln w="12700">
            <a:solidFill>
              <a:srgbClr val="1E3A5F"/>
            </a:solidFill>
            <a:prstDash val="solid"/>
          </a:ln>
        </p:spPr>
        <p:txBody>
          <a:bodyPr wrap="square" lIns="137160" tIns="0" rIns="91440" bIns="0" rtlCol="0" anchor="ctr">
            <a:noAutofit/>
          </a:bodyPr>
          <a:lstStyle/>
          <a:p>
            <a:pPr marL="0" indent="0" algn="l">
              <a:spcBef>
                <a:spcPts val="0"/>
              </a:spcBef>
              <a:spcAft>
                <a:spcPts val="0"/>
              </a:spcAft>
              <a:buNone/>
            </a:pPr>
            <a:r>
              <a:rPr lang="en-US" sz="1100" b="0" dirty="0">
                <a:solidFill>
                  <a:srgbClr val="CBD5E1"/>
                </a:solidFill>
                <a:latin typeface="Consolas"/>
                <a:ea typeface="Consolas"/>
                <a:cs typeface="Consolas"/>
              </a:rPr>
              <a:t>VAT 14%           </a:t>
            </a:r>
            <a:r>
              <a:rPr lang="en-US" sz="1100" b="0" dirty="0">
                <a:solidFill>
                  <a:srgbClr val="FBBF24"/>
                </a:solidFill>
                <a:latin typeface="Consolas"/>
                <a:ea typeface="Consolas"/>
                <a:cs typeface="Consolas"/>
              </a:rPr>
              <a:t>  16.80</a:t>
            </a:r>
            <a:r>
              <a:rPr lang="en-US" sz="1100" b="0" dirty="0">
                <a:solidFill>
                  <a:srgbClr val="F87171"/>
                </a:solidFill>
                <a:latin typeface="Consolas"/>
                <a:ea typeface="Consolas"/>
                <a:cs typeface="Consolas"/>
              </a:rPr>
              <a:t>     16.80</a:t>
            </a:r>
            <a:endParaRPr lang="en-US" sz="1100" dirty="0"/>
          </a:p>
        </p:txBody>
      </p:sp>
      <p:sp>
        <p:nvSpPr>
          <p:cNvPr id="133" name="p3"/>
          <p:cNvSpPr/>
          <p:nvPr/>
        </p:nvSpPr>
        <p:spPr>
          <a:xfrm>
            <a:off x="7818120" y="3136392"/>
            <a:ext cx="3812134" cy="347472"/>
          </a:xfrm>
          <a:prstGeom prst="roundRect">
            <a:avLst>
              <a:gd name="adj" fmla="val 12000"/>
            </a:avLst>
          </a:prstGeom>
          <a:solidFill>
            <a:srgbClr val="111B2E"/>
          </a:solidFill>
          <a:ln w="12700">
            <a:solidFill>
              <a:srgbClr val="1E3A5F"/>
            </a:solidFill>
            <a:prstDash val="solid"/>
          </a:ln>
        </p:spPr>
        <p:txBody>
          <a:bodyPr wrap="square" lIns="137160" tIns="0" rIns="91440" bIns="0" rtlCol="0" anchor="ctr">
            <a:noAutofit/>
          </a:bodyPr>
          <a:lstStyle/>
          <a:p>
            <a:pPr marL="0" indent="0" algn="l">
              <a:spcBef>
                <a:spcPts val="0"/>
              </a:spcBef>
              <a:spcAft>
                <a:spcPts val="0"/>
              </a:spcAft>
              <a:buNone/>
            </a:pPr>
            <a:r>
              <a:rPr lang="en-US" sz="1100" b="1" dirty="0">
                <a:solidFill>
                  <a:srgbClr val="FFFFFF"/>
                </a:solidFill>
                <a:latin typeface="Consolas"/>
                <a:ea typeface="Consolas"/>
                <a:cs typeface="Consolas"/>
              </a:rPr>
              <a:t>Total             </a:t>
            </a:r>
            <a:r>
              <a:rPr lang="en-US" sz="1100" b="1" dirty="0">
                <a:solidFill>
                  <a:srgbClr val="FBBF24"/>
                </a:solidFill>
                <a:latin typeface="Consolas"/>
                <a:ea typeface="Consolas"/>
                <a:cs typeface="Consolas"/>
              </a:rPr>
              <a:t> 151.80</a:t>
            </a:r>
            <a:r>
              <a:rPr lang="en-US" sz="1100" b="1" dirty="0">
                <a:solidFill>
                  <a:srgbClr val="F87171"/>
                </a:solidFill>
                <a:latin typeface="Consolas"/>
                <a:ea typeface="Consolas"/>
                <a:cs typeface="Consolas"/>
              </a:rPr>
              <a:t>    156.30</a:t>
            </a:r>
            <a:endParaRPr lang="en-US" sz="1100" dirty="0"/>
          </a:p>
        </p:txBody>
      </p:sp>
      <p:sp>
        <p:nvSpPr>
          <p:cNvPr id="134" name="cl"/>
          <p:cNvSpPr txBox="1"/>
          <p:nvPr/>
        </p:nvSpPr>
        <p:spPr>
          <a:xfrm>
            <a:off x="7818120" y="3657600"/>
            <a:ext cx="3812134"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  ·  OrderBuilder</a:t>
            </a:r>
            <a:endParaRPr lang="en-US" sz="1100" dirty="0"/>
          </a:p>
        </p:txBody>
      </p:sp>
      <p:grpSp>
        <p:nvGrpSpPr>
          <p:cNvPr id="153" name="cls"/>
          <p:cNvGrpSpPr/>
          <p:nvPr/>
        </p:nvGrpSpPr>
        <p:grpSpPr>
          <a:xfrm>
            <a:off x="7818120" y="3931920"/>
            <a:ext cx="3812134" cy="1915900"/>
            <a:chOff x="7818120" y="3931920"/>
            <a:chExt cx="3812134" cy="1915900"/>
          </a:xfrm>
        </p:grpSpPr>
        <p:sp>
          <p:nvSpPr>
            <p:cNvPr id="135" name="cls_win"/>
            <p:cNvSpPr/>
            <p:nvPr/>
          </p:nvSpPr>
          <p:spPr>
            <a:xfrm>
              <a:off x="7818120" y="3931920"/>
              <a:ext cx="3812134" cy="1915900"/>
            </a:xfrm>
            <a:prstGeom prst="roundRect">
              <a:avLst>
                <a:gd name="adj" fmla="val 3578"/>
              </a:avLst>
            </a:prstGeom>
            <a:solidFill>
              <a:srgbClr val="060D18"/>
            </a:solidFill>
            <a:ln w="12700">
              <a:solidFill>
                <a:srgbClr val="1E3A5F"/>
              </a:solidFill>
              <a:prstDash val="solid"/>
            </a:ln>
          </p:spPr>
          <p:txBody>
            <a:bodyPr/>
            <a:lstStyle/>
            <a:p>
              <a:endParaRPr lang="en-US"/>
            </a:p>
          </p:txBody>
        </p:sp>
        <p:sp>
          <p:nvSpPr>
            <p:cNvPr id="136" name="cls_bar"/>
            <p:cNvSpPr/>
            <p:nvPr/>
          </p:nvSpPr>
          <p:spPr>
            <a:xfrm>
              <a:off x="7818120" y="3931920"/>
              <a:ext cx="381213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37" name="cls_barfill"/>
            <p:cNvSpPr/>
            <p:nvPr/>
          </p:nvSpPr>
          <p:spPr>
            <a:xfrm>
              <a:off x="7818120" y="4103370"/>
              <a:ext cx="3812134" cy="171450"/>
            </a:xfrm>
            <a:prstGeom prst="rect">
              <a:avLst/>
            </a:prstGeom>
            <a:solidFill>
              <a:srgbClr val="0A1220"/>
            </a:solidFill>
            <a:ln w="12700">
              <a:solidFill>
                <a:srgbClr val="0A1220"/>
              </a:solidFill>
              <a:prstDash val="solid"/>
            </a:ln>
          </p:spPr>
          <p:txBody>
            <a:bodyPr/>
            <a:lstStyle/>
            <a:p>
              <a:endParaRPr lang="en-US"/>
            </a:p>
          </p:txBody>
        </p:sp>
        <p:sp>
          <p:nvSpPr>
            <p:cNvPr id="138" name="cls_dot0"/>
            <p:cNvSpPr/>
            <p:nvPr/>
          </p:nvSpPr>
          <p:spPr>
            <a:xfrm>
              <a:off x="7979968" y="4055730"/>
              <a:ext cx="95098" cy="95098"/>
            </a:xfrm>
            <a:prstGeom prst="ellipse">
              <a:avLst/>
            </a:prstGeom>
            <a:solidFill>
              <a:srgbClr val="F87171"/>
            </a:solidFill>
            <a:ln w="12700">
              <a:solidFill>
                <a:srgbClr val="F87171"/>
              </a:solidFill>
              <a:prstDash val="solid"/>
            </a:ln>
          </p:spPr>
          <p:txBody>
            <a:bodyPr/>
            <a:lstStyle/>
            <a:p>
              <a:endParaRPr lang="en-US"/>
            </a:p>
          </p:txBody>
        </p:sp>
        <p:sp>
          <p:nvSpPr>
            <p:cNvPr id="139" name="cls_dot1"/>
            <p:cNvSpPr/>
            <p:nvPr/>
          </p:nvSpPr>
          <p:spPr>
            <a:xfrm>
              <a:off x="8165592" y="4055730"/>
              <a:ext cx="95098" cy="95098"/>
            </a:xfrm>
            <a:prstGeom prst="ellipse">
              <a:avLst/>
            </a:prstGeom>
            <a:solidFill>
              <a:srgbClr val="FBBF24"/>
            </a:solidFill>
            <a:ln w="12700">
              <a:solidFill>
                <a:srgbClr val="FBBF24"/>
              </a:solidFill>
              <a:prstDash val="solid"/>
            </a:ln>
          </p:spPr>
          <p:txBody>
            <a:bodyPr/>
            <a:lstStyle/>
            <a:p>
              <a:endParaRPr lang="en-US"/>
            </a:p>
          </p:txBody>
        </p:sp>
        <p:sp>
          <p:nvSpPr>
            <p:cNvPr id="140" name="cls_dot2"/>
            <p:cNvSpPr/>
            <p:nvPr/>
          </p:nvSpPr>
          <p:spPr>
            <a:xfrm>
              <a:off x="8351216" y="4055730"/>
              <a:ext cx="95098" cy="95098"/>
            </a:xfrm>
            <a:prstGeom prst="ellipse">
              <a:avLst/>
            </a:prstGeom>
            <a:solidFill>
              <a:srgbClr val="34D399"/>
            </a:solidFill>
            <a:ln w="12700">
              <a:solidFill>
                <a:srgbClr val="34D399"/>
              </a:solidFill>
              <a:prstDash val="solid"/>
            </a:ln>
          </p:spPr>
          <p:txBody>
            <a:bodyPr/>
            <a:lstStyle/>
            <a:p>
              <a:endParaRPr lang="en-US"/>
            </a:p>
          </p:txBody>
        </p:sp>
        <p:sp>
          <p:nvSpPr>
            <p:cNvPr id="141" name="cls_tab"/>
            <p:cNvSpPr/>
            <p:nvPr/>
          </p:nvSpPr>
          <p:spPr>
            <a:xfrm>
              <a:off x="8599017" y="3979469"/>
              <a:ext cx="1828701"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Orders/OrderBuilder.cs</a:t>
              </a:r>
              <a:endParaRPr lang="en-US" sz="950" dirty="0"/>
            </a:p>
          </p:txBody>
        </p:sp>
        <p:sp>
          <p:nvSpPr>
            <p:cNvPr id="142" name="cls_L00"/>
            <p:cNvSpPr txBox="1"/>
            <p:nvPr/>
          </p:nvSpPr>
          <p:spPr>
            <a:xfrm>
              <a:off x="8046720" y="4407820"/>
              <a:ext cx="3512134" cy="12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20" b="0" dirty="0">
                  <a:solidFill>
                    <a:srgbClr val="60A5FA"/>
                  </a:solidFill>
                  <a:latin typeface="Consolas"/>
                  <a:ea typeface="Consolas"/>
                  <a:cs typeface="Consolas"/>
                </a:rPr>
                <a:t>public</a:t>
              </a:r>
              <a:r>
                <a:rPr lang="en-US" sz="620" b="0" dirty="0">
                  <a:solidFill>
                    <a:srgbClr val="E2E8F0"/>
                  </a:solidFill>
                  <a:latin typeface="Consolas"/>
                  <a:ea typeface="Consolas"/>
                  <a:cs typeface="Consolas"/>
                </a:rPr>
                <a:t> PriceBreakdown PreviewPrice(DateTime now)</a:t>
              </a:r>
              <a:endParaRPr lang="en-US" sz="620" dirty="0"/>
            </a:p>
          </p:txBody>
        </p:sp>
        <p:sp>
          <p:nvSpPr>
            <p:cNvPr id="143" name="cls_L01"/>
            <p:cNvSpPr txBox="1"/>
            <p:nvPr/>
          </p:nvSpPr>
          <p:spPr>
            <a:xfrm>
              <a:off x="8046720" y="4527820"/>
              <a:ext cx="3512134" cy="12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20" b="0" dirty="0">
                  <a:solidFill>
                    <a:srgbClr val="E2E8F0"/>
                  </a:solidFill>
                  <a:latin typeface="Consolas"/>
                  <a:ea typeface="Consolas"/>
                  <a:cs typeface="Consolas"/>
                </a:rPr>
                <a:t>{</a:t>
              </a:r>
              <a:endParaRPr lang="en-US" sz="620" dirty="0"/>
            </a:p>
          </p:txBody>
        </p:sp>
        <p:sp>
          <p:nvSpPr>
            <p:cNvPr id="144" name="cls_L02"/>
            <p:cNvSpPr txBox="1"/>
            <p:nvPr/>
          </p:nvSpPr>
          <p:spPr>
            <a:xfrm>
              <a:off x="8046720" y="4647820"/>
              <a:ext cx="3512134" cy="12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20" b="0" dirty="0">
                  <a:solidFill>
                    <a:srgbClr val="60A5FA"/>
                  </a:solidFill>
                  <a:latin typeface="Consolas"/>
                  <a:ea typeface="Consolas"/>
                  <a:cs typeface="Consolas"/>
                </a:rPr>
                <a:t>decimal</a:t>
              </a:r>
              <a:r>
                <a:rPr lang="en-US" sz="620" b="0" dirty="0">
                  <a:solidFill>
                    <a:srgbClr val="E2E8F0"/>
                  </a:solidFill>
                  <a:latin typeface="Consolas"/>
                  <a:ea typeface="Consolas"/>
                  <a:cs typeface="Consolas"/>
                </a:rPr>
                <a:t> subtotal = _lines.Sum(l =&gt; l.LineTotal);</a:t>
              </a:r>
              <a:endParaRPr lang="en-US" sz="620" dirty="0"/>
            </a:p>
          </p:txBody>
        </p:sp>
        <p:sp>
          <p:nvSpPr>
            <p:cNvPr id="145" name="cls_L03"/>
            <p:cNvSpPr txBox="1"/>
            <p:nvPr/>
          </p:nvSpPr>
          <p:spPr>
            <a:xfrm>
              <a:off x="8046720" y="4767820"/>
              <a:ext cx="3512134" cy="12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20" b="0" dirty="0">
                  <a:solidFill>
                    <a:srgbClr val="60A5FA"/>
                  </a:solidFill>
                  <a:latin typeface="Consolas"/>
                  <a:ea typeface="Consolas"/>
                  <a:cs typeface="Consolas"/>
                </a:rPr>
                <a:t>decimal</a:t>
              </a:r>
              <a:r>
                <a:rPr lang="en-US" sz="620" b="0" dirty="0">
                  <a:solidFill>
                    <a:srgbClr val="E2E8F0"/>
                  </a:solidFill>
                  <a:latin typeface="Consolas"/>
                  <a:ea typeface="Consolas"/>
                  <a:cs typeface="Consolas"/>
                </a:rPr>
                <a:t> discount = /* coupon, BR-17 */ 0;</a:t>
              </a:r>
              <a:endParaRPr lang="en-US" sz="620" dirty="0"/>
            </a:p>
          </p:txBody>
        </p:sp>
        <p:sp>
          <p:nvSpPr>
            <p:cNvPr id="146" name="cls_L04"/>
            <p:cNvSpPr txBox="1"/>
            <p:nvPr/>
          </p:nvSpPr>
          <p:spPr>
            <a:xfrm>
              <a:off x="8046720" y="4887820"/>
              <a:ext cx="3512134" cy="12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20" b="0" dirty="0">
                  <a:solidFill>
                    <a:srgbClr val="60A5FA"/>
                  </a:solidFill>
                  <a:latin typeface="Consolas"/>
                  <a:ea typeface="Consolas"/>
                  <a:cs typeface="Consolas"/>
                </a:rPr>
                <a:t>var</a:t>
              </a:r>
              <a:r>
                <a:rPr lang="en-US" sz="620" b="0" dirty="0">
                  <a:solidFill>
                    <a:srgbClr val="E2E8F0"/>
                  </a:solidFill>
                  <a:latin typeface="Consolas"/>
                  <a:ea typeface="Consolas"/>
                  <a:cs typeface="Consolas"/>
                </a:rPr>
                <a:t> context = </a:t>
              </a:r>
              <a:r>
                <a:rPr lang="en-US" sz="620" b="0" dirty="0">
                  <a:solidFill>
                    <a:srgbClr val="60A5FA"/>
                  </a:solidFill>
                  <a:latin typeface="Consolas"/>
                  <a:ea typeface="Consolas"/>
                  <a:cs typeface="Consolas"/>
                </a:rPr>
                <a:t>new</a:t>
              </a:r>
              <a:r>
                <a:rPr lang="en-US" sz="620" b="0" dirty="0">
                  <a:solidFill>
                    <a:srgbClr val="E2E8F0"/>
                  </a:solidFill>
                  <a:latin typeface="Consolas"/>
                  <a:ea typeface="Consolas"/>
                  <a:cs typeface="Consolas"/>
                </a:rPr>
                <a:t> DeliveryContext(</a:t>
              </a:r>
              <a:endParaRPr lang="en-US" sz="620" dirty="0"/>
            </a:p>
          </p:txBody>
        </p:sp>
        <p:sp>
          <p:nvSpPr>
            <p:cNvPr id="147" name="cls_L05"/>
            <p:cNvSpPr txBox="1"/>
            <p:nvPr/>
          </p:nvSpPr>
          <p:spPr>
            <a:xfrm>
              <a:off x="8046720" y="5007820"/>
              <a:ext cx="3512134" cy="12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20" b="0" dirty="0">
                  <a:solidFill>
                    <a:srgbClr val="E2E8F0"/>
                  </a:solidFill>
                  <a:latin typeface="Consolas"/>
                  <a:ea typeface="Consolas"/>
                  <a:cs typeface="Consolas"/>
                </a:rPr>
                <a:t>_restaurant.DistanceTo(_address!.Location),</a:t>
              </a:r>
              <a:endParaRPr lang="en-US" sz="620" dirty="0"/>
            </a:p>
          </p:txBody>
        </p:sp>
        <p:sp>
          <p:nvSpPr>
            <p:cNvPr id="148" name="cls_L06"/>
            <p:cNvSpPr txBox="1"/>
            <p:nvPr/>
          </p:nvSpPr>
          <p:spPr>
            <a:xfrm>
              <a:off x="8046720" y="5127820"/>
              <a:ext cx="3512134" cy="120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620" b="0" dirty="0">
                  <a:solidFill>
                    <a:srgbClr val="E2E8F0"/>
                  </a:solidFill>
                  <a:latin typeface="Consolas"/>
                  <a:ea typeface="Consolas"/>
                  <a:cs typeface="Consolas"/>
                </a:rPr>
                <a:t>subtotal, _customer.IsPremiumOn(now), now);</a:t>
              </a:r>
              <a:endParaRPr lang="en-US" sz="620" dirty="0"/>
            </a:p>
          </p:txBody>
        </p:sp>
        <p:sp>
          <p:nvSpPr>
            <p:cNvPr id="149" name="cls_L07"/>
            <p:cNvSpPr txBox="1"/>
            <p:nvPr/>
          </p:nvSpPr>
          <p:spPr>
            <a:xfrm>
              <a:off x="8046720" y="5247820"/>
              <a:ext cx="3512134" cy="12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20" b="0" dirty="0">
                  <a:solidFill>
                    <a:srgbClr val="60A5FA"/>
                  </a:solidFill>
                  <a:latin typeface="Consolas"/>
                  <a:ea typeface="Consolas"/>
                  <a:cs typeface="Consolas"/>
                </a:rPr>
                <a:t>var</a:t>
              </a:r>
              <a:r>
                <a:rPr lang="en-US" sz="620" b="0" dirty="0">
                  <a:solidFill>
                    <a:srgbClr val="E2E8F0"/>
                  </a:solidFill>
                  <a:latin typeface="Consolas"/>
                  <a:ea typeface="Consolas"/>
                  <a:cs typeface="Consolas"/>
                </a:rPr>
                <a:t> (fee, method) = _feeCalculator.Calculate(context);</a:t>
              </a:r>
              <a:endParaRPr lang="en-US" sz="620" dirty="0"/>
            </a:p>
          </p:txBody>
        </p:sp>
        <p:sp>
          <p:nvSpPr>
            <p:cNvPr id="150" name="cls_L08"/>
            <p:cNvSpPr txBox="1"/>
            <p:nvPr/>
          </p:nvSpPr>
          <p:spPr>
            <a:xfrm>
              <a:off x="8046720" y="5367820"/>
              <a:ext cx="3512134" cy="120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620" b="0" dirty="0">
                  <a:solidFill>
                    <a:srgbClr val="60A5FA"/>
                  </a:solidFill>
                  <a:latin typeface="Consolas"/>
                  <a:ea typeface="Consolas"/>
                  <a:cs typeface="Consolas"/>
                </a:rPr>
                <a:t>return</a:t>
              </a:r>
              <a:r>
                <a:rPr lang="en-US" sz="620" b="0" dirty="0">
                  <a:solidFill>
                    <a:srgbClr val="E2E8F0"/>
                  </a:solidFill>
                  <a:latin typeface="Consolas"/>
                  <a:ea typeface="Consolas"/>
                  <a:cs typeface="Consolas"/>
                </a:rPr>
                <a:t> PriceBreakdown.Calculate(subtotal, discount,</a:t>
              </a:r>
              <a:endParaRPr lang="en-US" sz="620" dirty="0"/>
            </a:p>
          </p:txBody>
        </p:sp>
        <p:sp>
          <p:nvSpPr>
            <p:cNvPr id="151" name="cls_L09"/>
            <p:cNvSpPr txBox="1"/>
            <p:nvPr/>
          </p:nvSpPr>
          <p:spPr>
            <a:xfrm>
              <a:off x="8046720" y="5487820"/>
              <a:ext cx="3512134" cy="120000"/>
            </a:xfrm>
            <a:prstGeom prst="rect">
              <a:avLst/>
            </a:prstGeom>
            <a:noFill/>
            <a:ln>
              <a:noFill/>
            </a:ln>
          </p:spPr>
          <p:txBody>
            <a:bodyPr wrap="none" lIns="0" tIns="0" rIns="0" bIns="0" rtlCol="0" anchor="ctr">
              <a:noAutofit/>
            </a:bodyPr>
            <a:lstStyle/>
            <a:p>
              <a:pPr marL="2388870" indent="0" algn="l">
                <a:spcBef>
                  <a:spcPts val="0"/>
                </a:spcBef>
                <a:spcAft>
                  <a:spcPts val="0"/>
                </a:spcAft>
                <a:buNone/>
              </a:pPr>
              <a:r>
                <a:rPr lang="en-US" sz="620" b="0" dirty="0">
                  <a:solidFill>
                    <a:srgbClr val="E2E8F0"/>
                  </a:solidFill>
                  <a:latin typeface="Consolas"/>
                  <a:ea typeface="Consolas"/>
                  <a:cs typeface="Consolas"/>
                </a:rPr>
                <a:t>fee, method);</a:t>
              </a:r>
              <a:endParaRPr lang="en-US" sz="620" dirty="0"/>
            </a:p>
          </p:txBody>
        </p:sp>
        <p:sp>
          <p:nvSpPr>
            <p:cNvPr id="152" name="cls_L10"/>
            <p:cNvSpPr txBox="1"/>
            <p:nvPr/>
          </p:nvSpPr>
          <p:spPr>
            <a:xfrm>
              <a:off x="8046720" y="5607820"/>
              <a:ext cx="3512134" cy="120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620" b="0" dirty="0">
                  <a:solidFill>
                    <a:srgbClr val="E2E8F0"/>
                  </a:solidFill>
                  <a:latin typeface="Consolas"/>
                  <a:ea typeface="Consolas"/>
                  <a:cs typeface="Consolas"/>
                </a:rPr>
                <a:t>}</a:t>
              </a:r>
              <a:endParaRPr lang="en-US" sz="620" dirty="0"/>
            </a:p>
          </p:txBody>
        </p:sp>
      </p:grpSp>
      <p:sp>
        <p:nvSpPr>
          <p:cNvPr id="154" name="cls_hl7"/>
          <p:cNvSpPr/>
          <p:nvPr/>
        </p:nvSpPr>
        <p:spPr>
          <a:xfrm>
            <a:off x="7951622" y="5229532"/>
            <a:ext cx="3545134" cy="15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5" name="cls_hl8"/>
          <p:cNvSpPr/>
          <p:nvPr/>
        </p:nvSpPr>
        <p:spPr>
          <a:xfrm>
            <a:off x="7951622" y="5349532"/>
            <a:ext cx="3545134" cy="156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56" name="cls_hl9"/>
          <p:cNvSpPr/>
          <p:nvPr/>
        </p:nvSpPr>
        <p:spPr>
          <a:xfrm>
            <a:off x="7951622" y="5469532"/>
            <a:ext cx="3545134" cy="156576"/>
          </a:xfrm>
          <a:prstGeom prst="rect">
            <a:avLst/>
          </a:prstGeom>
          <a:solidFill>
            <a:srgbClr val="FBBF24">
              <a:alpha val="15000"/>
            </a:srgbClr>
          </a:solidFill>
          <a:ln w="12700">
            <a:solidFill>
              <a:srgbClr val="FBBF24"/>
            </a:solidFill>
            <a:prstDash val="solid"/>
          </a:ln>
        </p:spPr>
        <p:txBody>
          <a:bodyPr/>
          <a:lstStyle/>
          <a:p>
            <a:endParaRPr lang="en-US"/>
          </a:p>
        </p:txBody>
      </p:sp>
    </p:spTree>
    <p:extLst>
      <p:ext uri="{BB962C8B-B14F-4D97-AF65-F5344CB8AC3E}">
        <p14:creationId xmlns:p14="http://schemas.microsoft.com/office/powerpoint/2010/main" val="51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400"/>
                                        <p:tgtEl>
                                          <p:spTgt spid="1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00"/>
                                        <p:tgtEl>
                                          <p:spTgt spid="1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400"/>
                                        <p:tgtEl>
                                          <p:spTgt spid="1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9"/>
                                        </p:tgtEl>
                                        <p:attrNameLst>
                                          <p:attrName>style.visibility</p:attrName>
                                        </p:attrNameLst>
                                      </p:cBhvr>
                                      <p:to>
                                        <p:strVal val="visible"/>
                                      </p:to>
                                    </p:set>
                                    <p:animEffect transition="in" filter="fade">
                                      <p:cBhvr>
                                        <p:cTn id="18" dur="400"/>
                                        <p:tgtEl>
                                          <p:spTgt spid="129"/>
                                        </p:tgtEl>
                                      </p:cBhvr>
                                    </p:animEffect>
                                  </p:childTnLst>
                                </p:cTn>
                              </p:par>
                            </p:childTnLst>
                          </p:cTn>
                        </p:par>
                        <p:par>
                          <p:cTn id="19" fill="hold">
                            <p:stCondLst>
                              <p:cond delay="400"/>
                            </p:stCondLst>
                            <p:childTnLst>
                              <p:par>
                                <p:cTn id="20" presetID="10" presetClass="entr" presetSubtype="0" fill="hold" grpId="0" nodeType="afterEffect">
                                  <p:stCondLst>
                                    <p:cond delay="0"/>
                                  </p:stCondLst>
                                  <p:childTnLst>
                                    <p:set>
                                      <p:cBhvr>
                                        <p:cTn id="21" dur="1" fill="hold">
                                          <p:stCondLst>
                                            <p:cond delay="0"/>
                                          </p:stCondLst>
                                        </p:cTn>
                                        <p:tgtEl>
                                          <p:spTgt spid="130"/>
                                        </p:tgtEl>
                                        <p:attrNameLst>
                                          <p:attrName>style.visibility</p:attrName>
                                        </p:attrNameLst>
                                      </p:cBhvr>
                                      <p:to>
                                        <p:strVal val="visible"/>
                                      </p:to>
                                    </p:set>
                                    <p:animEffect transition="in" filter="fade">
                                      <p:cBhvr>
                                        <p:cTn id="22" dur="200"/>
                                        <p:tgtEl>
                                          <p:spTgt spid="130"/>
                                        </p:tgtEl>
                                      </p:cBhvr>
                                    </p:animEffect>
                                  </p:childTnLst>
                                </p:cTn>
                              </p:par>
                            </p:childTnLst>
                          </p:cTn>
                        </p:par>
                        <p:par>
                          <p:cTn id="23" fill="hold">
                            <p:stCondLst>
                              <p:cond delay="600"/>
                            </p:stCondLst>
                            <p:childTnLst>
                              <p:par>
                                <p:cTn id="24" presetID="10" presetClass="entr" presetSubtype="0" fill="hold" grpId="0" nodeType="afterEffect">
                                  <p:stCondLst>
                                    <p:cond delay="0"/>
                                  </p:stCondLst>
                                  <p:childTnLst>
                                    <p:set>
                                      <p:cBhvr>
                                        <p:cTn id="25" dur="1" fill="hold">
                                          <p:stCondLst>
                                            <p:cond delay="0"/>
                                          </p:stCondLst>
                                        </p:cTn>
                                        <p:tgtEl>
                                          <p:spTgt spid="131"/>
                                        </p:tgtEl>
                                        <p:attrNameLst>
                                          <p:attrName>style.visibility</p:attrName>
                                        </p:attrNameLst>
                                      </p:cBhvr>
                                      <p:to>
                                        <p:strVal val="visible"/>
                                      </p:to>
                                    </p:set>
                                    <p:animEffect transition="in" filter="fade">
                                      <p:cBhvr>
                                        <p:cTn id="26" dur="200"/>
                                        <p:tgtEl>
                                          <p:spTgt spid="131"/>
                                        </p:tgtEl>
                                      </p:cBhvr>
                                    </p:animEffect>
                                  </p:childTnLst>
                                </p:cTn>
                              </p:par>
                            </p:childTnLst>
                          </p:cTn>
                        </p:par>
                        <p:par>
                          <p:cTn id="27" fill="hold">
                            <p:stCondLst>
                              <p:cond delay="800"/>
                            </p:stCondLst>
                            <p:childTnLst>
                              <p:par>
                                <p:cTn id="28" presetID="10" presetClass="entr" presetSubtype="0" fill="hold" grpId="0" nodeType="afterEffect">
                                  <p:stCondLst>
                                    <p:cond delay="0"/>
                                  </p:stCondLst>
                                  <p:childTnLst>
                                    <p:set>
                                      <p:cBhvr>
                                        <p:cTn id="29" dur="1" fill="hold">
                                          <p:stCondLst>
                                            <p:cond delay="0"/>
                                          </p:stCondLst>
                                        </p:cTn>
                                        <p:tgtEl>
                                          <p:spTgt spid="132"/>
                                        </p:tgtEl>
                                        <p:attrNameLst>
                                          <p:attrName>style.visibility</p:attrName>
                                        </p:attrNameLst>
                                      </p:cBhvr>
                                      <p:to>
                                        <p:strVal val="visible"/>
                                      </p:to>
                                    </p:set>
                                    <p:animEffect transition="in" filter="fade">
                                      <p:cBhvr>
                                        <p:cTn id="30" dur="200"/>
                                        <p:tgtEl>
                                          <p:spTgt spid="132"/>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133"/>
                                        </p:tgtEl>
                                        <p:attrNameLst>
                                          <p:attrName>style.visibility</p:attrName>
                                        </p:attrNameLst>
                                      </p:cBhvr>
                                      <p:to>
                                        <p:strVal val="visible"/>
                                      </p:to>
                                    </p:set>
                                    <p:animEffect transition="in" filter="fade">
                                      <p:cBhvr>
                                        <p:cTn id="34" dur="200"/>
                                        <p:tgtEl>
                                          <p:spTgt spid="13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4"/>
                                        </p:tgtEl>
                                        <p:attrNameLst>
                                          <p:attrName>style.visibility</p:attrName>
                                        </p:attrNameLst>
                                      </p:cBhvr>
                                      <p:to>
                                        <p:strVal val="visible"/>
                                      </p:to>
                                    </p:set>
                                    <p:animEffect transition="in" filter="fade">
                                      <p:cBhvr>
                                        <p:cTn id="39" dur="400"/>
                                        <p:tgtEl>
                                          <p:spTgt spid="134"/>
                                        </p:tgtEl>
                                      </p:cBhvr>
                                    </p:animEffect>
                                  </p:childTnLst>
                                </p:cTn>
                              </p:par>
                              <p:par>
                                <p:cTn id="40" presetID="10" presetClass="entr" presetSubtype="0" fill="hold" nodeType="withEffect">
                                  <p:stCondLst>
                                    <p:cond delay="0"/>
                                  </p:stCondLst>
                                  <p:childTnLst>
                                    <p:set>
                                      <p:cBhvr>
                                        <p:cTn id="41" dur="1" fill="hold">
                                          <p:stCondLst>
                                            <p:cond delay="0"/>
                                          </p:stCondLst>
                                        </p:cTn>
                                        <p:tgtEl>
                                          <p:spTgt spid="153"/>
                                        </p:tgtEl>
                                        <p:attrNameLst>
                                          <p:attrName>style.visibility</p:attrName>
                                        </p:attrNameLst>
                                      </p:cBhvr>
                                      <p:to>
                                        <p:strVal val="visible"/>
                                      </p:to>
                                    </p:set>
                                    <p:animEffect transition="in" filter="fade">
                                      <p:cBhvr>
                                        <p:cTn id="42" dur="400"/>
                                        <p:tgtEl>
                                          <p:spTgt spid="15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4"/>
                                        </p:tgtEl>
                                        <p:attrNameLst>
                                          <p:attrName>style.visibility</p:attrName>
                                        </p:attrNameLst>
                                      </p:cBhvr>
                                      <p:to>
                                        <p:strVal val="visible"/>
                                      </p:to>
                                    </p:set>
                                    <p:animEffect transition="in" filter="fade">
                                      <p:cBhvr>
                                        <p:cTn id="45" dur="400"/>
                                        <p:tgtEl>
                                          <p:spTgt spid="15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5"/>
                                        </p:tgtEl>
                                        <p:attrNameLst>
                                          <p:attrName>style.visibility</p:attrName>
                                        </p:attrNameLst>
                                      </p:cBhvr>
                                      <p:to>
                                        <p:strVal val="visible"/>
                                      </p:to>
                                    </p:set>
                                    <p:animEffect transition="in" filter="fade">
                                      <p:cBhvr>
                                        <p:cTn id="48" dur="400"/>
                                        <p:tgtEl>
                                          <p:spTgt spid="15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56"/>
                                        </p:tgtEl>
                                        <p:attrNameLst>
                                          <p:attrName>style.visibility</p:attrName>
                                        </p:attrNameLst>
                                      </p:cBhvr>
                                      <p:to>
                                        <p:strVal val="visible"/>
                                      </p:to>
                                    </p:set>
                                    <p:animEffect transition="in" filter="fade">
                                      <p:cBhvr>
                                        <p:cTn id="51" dur="4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nimBg="1"/>
      <p:bldP spid="128" grpId="0" animBg="1"/>
      <p:bldP spid="129" grpId="0" animBg="1"/>
      <p:bldP spid="130" grpId="0" animBg="1"/>
      <p:bldP spid="131" grpId="0" animBg="1"/>
      <p:bldP spid="132" grpId="0" animBg="1"/>
      <p:bldP spid="133" grpId="0" animBg="1"/>
      <p:bldP spid="134" grpId="0" animBg="1"/>
      <p:bldP spid="154" grpId="0" animBg="1"/>
      <p:bldP spid="155" grpId="0" animBg="1"/>
      <p:bldP spid="156"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LAB: BOGUS</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Lab 12: Bogus Through SwiftBite's Factory Method</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147</a:t>
            </a:r>
            <a:endParaRPr lang="en-US" sz="850" dirty="0"/>
          </a:p>
        </p:txBody>
      </p:sp>
      <p:sp>
        <p:nvSpPr>
          <p:cNvPr id="101" name="cl"/>
          <p:cNvSpPr txBox="1"/>
          <p:nvPr/>
        </p:nvSpPr>
        <p:spPr>
          <a:xfrm>
            <a:off x="543154" y="1463040"/>
            <a:ext cx="539496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FBBF24"/>
                </a:solidFill>
                <a:latin typeface="Segoe UI"/>
                <a:ea typeface="Segoe UI"/>
                <a:cs typeface="Segoe UI"/>
              </a:rPr>
              <a:t>THE CLASS</a:t>
            </a:r>
            <a:endParaRPr lang="en-US" sz="1100" dirty="0"/>
          </a:p>
        </p:txBody>
      </p:sp>
      <p:sp>
        <p:nvSpPr>
          <p:cNvPr id="102" name="tl"/>
          <p:cNvSpPr txBox="1"/>
          <p:nvPr/>
        </p:nvSpPr>
        <p:spPr>
          <a:xfrm>
            <a:off x="6166714" y="1463040"/>
            <a:ext cx="54635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100" b="1" dirty="0">
                <a:solidFill>
                  <a:srgbClr val="34D399"/>
                </a:solidFill>
                <a:latin typeface="Segoe UI"/>
                <a:ea typeface="Segoe UI"/>
                <a:cs typeface="Segoe UI"/>
              </a:rPr>
              <a:t>THE TESTS</a:t>
            </a:r>
            <a:endParaRPr lang="en-US" sz="1100" dirty="0"/>
          </a:p>
        </p:txBody>
      </p:sp>
      <p:grpSp>
        <p:nvGrpSpPr>
          <p:cNvPr id="119" name="cls"/>
          <p:cNvGrpSpPr/>
          <p:nvPr/>
        </p:nvGrpSpPr>
        <p:grpSpPr>
          <a:xfrm>
            <a:off x="543154" y="1755648"/>
            <a:ext cx="5394960" cy="2175900"/>
            <a:chOff x="543154" y="1755648"/>
            <a:chExt cx="5394960" cy="2175900"/>
          </a:xfrm>
        </p:grpSpPr>
        <p:sp>
          <p:nvSpPr>
            <p:cNvPr id="103" name="cls_win"/>
            <p:cNvSpPr/>
            <p:nvPr/>
          </p:nvSpPr>
          <p:spPr>
            <a:xfrm>
              <a:off x="543154" y="1755648"/>
              <a:ext cx="5394960" cy="2175900"/>
            </a:xfrm>
            <a:prstGeom prst="roundRect">
              <a:avLst>
                <a:gd name="adj" fmla="val 3150"/>
              </a:avLst>
            </a:prstGeom>
            <a:solidFill>
              <a:srgbClr val="060D18"/>
            </a:solidFill>
            <a:ln w="12700">
              <a:solidFill>
                <a:srgbClr val="1E3A5F"/>
              </a:solidFill>
              <a:prstDash val="solid"/>
            </a:ln>
          </p:spPr>
          <p:txBody>
            <a:bodyPr/>
            <a:lstStyle/>
            <a:p>
              <a:endParaRPr lang="en-US"/>
            </a:p>
          </p:txBody>
        </p:sp>
        <p:sp>
          <p:nvSpPr>
            <p:cNvPr id="104" name="cls_bar"/>
            <p:cNvSpPr/>
            <p:nvPr/>
          </p:nvSpPr>
          <p:spPr>
            <a:xfrm>
              <a:off x="543154" y="1755648"/>
              <a:ext cx="539496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5" name="cls_barfill"/>
            <p:cNvSpPr/>
            <p:nvPr/>
          </p:nvSpPr>
          <p:spPr>
            <a:xfrm>
              <a:off x="543154" y="1927098"/>
              <a:ext cx="5394960" cy="171450"/>
            </a:xfrm>
            <a:prstGeom prst="rect">
              <a:avLst/>
            </a:prstGeom>
            <a:solidFill>
              <a:srgbClr val="0A1220"/>
            </a:solidFill>
            <a:ln w="12700">
              <a:solidFill>
                <a:srgbClr val="0A1220"/>
              </a:solidFill>
              <a:prstDash val="solid"/>
            </a:ln>
          </p:spPr>
          <p:txBody>
            <a:bodyPr/>
            <a:lstStyle/>
            <a:p>
              <a:endParaRPr lang="en-US"/>
            </a:p>
          </p:txBody>
        </p:sp>
        <p:sp>
          <p:nvSpPr>
            <p:cNvPr id="106" name="cls_dot0"/>
            <p:cNvSpPr/>
            <p:nvPr/>
          </p:nvSpPr>
          <p:spPr>
            <a:xfrm>
              <a:off x="70500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07" name="cls_dot1"/>
            <p:cNvSpPr/>
            <p:nvPr/>
          </p:nvSpPr>
          <p:spPr>
            <a:xfrm>
              <a:off x="89062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08" name="cls_dot2"/>
            <p:cNvSpPr/>
            <p:nvPr/>
          </p:nvSpPr>
          <p:spPr>
            <a:xfrm>
              <a:off x="107625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09" name="cls_tab"/>
            <p:cNvSpPr/>
            <p:nvPr/>
          </p:nvSpPr>
          <p:spPr>
            <a:xfrm>
              <a:off x="1324051" y="1803197"/>
              <a:ext cx="305491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src/SwiftBite.Business/Users/Customer.cs</a:t>
              </a:r>
              <a:endParaRPr lang="en-US" sz="950" dirty="0"/>
            </a:p>
          </p:txBody>
        </p:sp>
        <p:sp>
          <p:nvSpPr>
            <p:cNvPr id="110" name="cls_L00"/>
            <p:cNvSpPr txBox="1"/>
            <p:nvPr/>
          </p:nvSpPr>
          <p:spPr>
            <a:xfrm>
              <a:off x="771754" y="2231548"/>
              <a:ext cx="50949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60A5FA"/>
                  </a:solidFill>
                  <a:latin typeface="Consolas"/>
                  <a:ea typeface="Consolas"/>
                  <a:cs typeface="Consolas"/>
                </a:rPr>
                <a:t>public</a:t>
              </a:r>
              <a:r>
                <a:rPr lang="en-US" sz="740" b="0" dirty="0">
                  <a:solidFill>
                    <a:srgbClr val="E2E8F0"/>
                  </a:solidFill>
                  <a:latin typeface="Consolas"/>
                  <a:ea typeface="Consolas"/>
                  <a:cs typeface="Consolas"/>
                </a:rPr>
                <a:t> </a:t>
              </a:r>
              <a:r>
                <a:rPr lang="en-US" sz="740" b="0" dirty="0">
                  <a:solidFill>
                    <a:srgbClr val="60A5FA"/>
                  </a:solidFill>
                  <a:latin typeface="Consolas"/>
                  <a:ea typeface="Consolas"/>
                  <a:cs typeface="Consolas"/>
                </a:rPr>
                <a:t>class</a:t>
              </a:r>
              <a:r>
                <a:rPr lang="en-US" sz="740" b="0" dirty="0">
                  <a:solidFill>
                    <a:srgbClr val="E2E8F0"/>
                  </a:solidFill>
                  <a:latin typeface="Consolas"/>
                  <a:ea typeface="Consolas"/>
                  <a:cs typeface="Consolas"/>
                </a:rPr>
                <a:t> Customer : User</a:t>
              </a:r>
              <a:endParaRPr lang="en-US" sz="740" dirty="0"/>
            </a:p>
          </p:txBody>
        </p:sp>
        <p:sp>
          <p:nvSpPr>
            <p:cNvPr id="111" name="cls_L01"/>
            <p:cNvSpPr txBox="1"/>
            <p:nvPr/>
          </p:nvSpPr>
          <p:spPr>
            <a:xfrm>
              <a:off x="771754" y="2389548"/>
              <a:ext cx="50949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E2E8F0"/>
                  </a:solidFill>
                  <a:latin typeface="Consolas"/>
                  <a:ea typeface="Consolas"/>
                  <a:cs typeface="Consolas"/>
                </a:rPr>
                <a:t>{</a:t>
              </a:r>
              <a:endParaRPr lang="en-US" sz="740" dirty="0"/>
            </a:p>
          </p:txBody>
        </p:sp>
        <p:sp>
          <p:nvSpPr>
            <p:cNvPr id="112" name="cls_L02"/>
            <p:cNvSpPr txBox="1"/>
            <p:nvPr/>
          </p:nvSpPr>
          <p:spPr>
            <a:xfrm>
              <a:off x="771754" y="2547548"/>
              <a:ext cx="50949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40" b="0" dirty="0">
                  <a:solidFill>
                    <a:srgbClr val="60A5FA"/>
                  </a:solidFill>
                  <a:latin typeface="Consolas"/>
                  <a:ea typeface="Consolas"/>
                  <a:cs typeface="Consolas"/>
                </a:rPr>
                <a:t>private</a:t>
              </a:r>
              <a:r>
                <a:rPr lang="en-US" sz="740" b="0" dirty="0">
                  <a:solidFill>
                    <a:srgbClr val="E2E8F0"/>
                  </a:solidFill>
                  <a:latin typeface="Consolas"/>
                  <a:ea typeface="Consolas"/>
                  <a:cs typeface="Consolas"/>
                </a:rPr>
                <a:t> Customer(</a:t>
              </a:r>
              <a:r>
                <a:rPr lang="en-US" sz="740" b="0" dirty="0">
                  <a:solidFill>
                    <a:srgbClr val="60A5FA"/>
                  </a:solidFill>
                  <a:latin typeface="Consolas"/>
                  <a:ea typeface="Consolas"/>
                  <a:cs typeface="Consolas"/>
                </a:rPr>
                <a:t>string</a:t>
              </a:r>
              <a:r>
                <a:rPr lang="en-US" sz="740" b="0" dirty="0">
                  <a:solidFill>
                    <a:srgbClr val="E2E8F0"/>
                  </a:solidFill>
                  <a:latin typeface="Consolas"/>
                  <a:ea typeface="Consolas"/>
                  <a:cs typeface="Consolas"/>
                </a:rPr>
                <a:t> fullName, MobileNumber mobile,</a:t>
              </a:r>
              <a:endParaRPr lang="en-US" sz="740" dirty="0"/>
            </a:p>
          </p:txBody>
        </p:sp>
        <p:sp>
          <p:nvSpPr>
            <p:cNvPr id="113" name="cls_L03"/>
            <p:cNvSpPr txBox="1"/>
            <p:nvPr/>
          </p:nvSpPr>
          <p:spPr>
            <a:xfrm>
              <a:off x="771754" y="2705548"/>
              <a:ext cx="5094960" cy="158000"/>
            </a:xfrm>
            <a:prstGeom prst="rect">
              <a:avLst/>
            </a:prstGeom>
            <a:noFill/>
            <a:ln>
              <a:noFill/>
            </a:ln>
          </p:spPr>
          <p:txBody>
            <a:bodyPr wrap="none" lIns="0" tIns="0" rIns="0" bIns="0" rtlCol="0" anchor="ctr">
              <a:noAutofit/>
            </a:bodyPr>
            <a:lstStyle/>
            <a:p>
              <a:pPr marL="1327150" indent="0" algn="l">
                <a:spcBef>
                  <a:spcPts val="0"/>
                </a:spcBef>
                <a:spcAft>
                  <a:spcPts val="0"/>
                </a:spcAft>
                <a:buNone/>
              </a:pPr>
              <a:r>
                <a:rPr lang="en-US" sz="740" b="0" dirty="0">
                  <a:solidFill>
                    <a:srgbClr val="E2E8F0"/>
                  </a:solidFill>
                  <a:latin typeface="Consolas"/>
                  <a:ea typeface="Consolas"/>
                  <a:cs typeface="Consolas"/>
                </a:rPr>
                <a:t> Email email, NotificationChannel channel)</a:t>
              </a:r>
              <a:endParaRPr lang="en-US" sz="740" dirty="0"/>
            </a:p>
          </p:txBody>
        </p:sp>
        <p:sp>
          <p:nvSpPr>
            <p:cNvPr id="114" name="cls_L04"/>
            <p:cNvSpPr txBox="1"/>
            <p:nvPr/>
          </p:nvSpPr>
          <p:spPr>
            <a:xfrm>
              <a:off x="771754" y="2863548"/>
              <a:ext cx="509496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40" b="0" dirty="0">
                  <a:solidFill>
                    <a:srgbClr val="E2E8F0"/>
                  </a:solidFill>
                  <a:latin typeface="Consolas"/>
                  <a:ea typeface="Consolas"/>
                  <a:cs typeface="Consolas"/>
                </a:rPr>
                <a:t>: </a:t>
              </a:r>
              <a:r>
                <a:rPr lang="en-US" sz="740" b="0" dirty="0">
                  <a:solidFill>
                    <a:srgbClr val="60A5FA"/>
                  </a:solidFill>
                  <a:latin typeface="Consolas"/>
                  <a:ea typeface="Consolas"/>
                  <a:cs typeface="Consolas"/>
                </a:rPr>
                <a:t>base</a:t>
              </a:r>
              <a:r>
                <a:rPr lang="en-US" sz="740" b="0" dirty="0">
                  <a:solidFill>
                    <a:srgbClr val="E2E8F0"/>
                  </a:solidFill>
                  <a:latin typeface="Consolas"/>
                  <a:ea typeface="Consolas"/>
                  <a:cs typeface="Consolas"/>
                </a:rPr>
                <a:t>(fullName, mobile, email) =&gt; PreferredChannel = channel;</a:t>
              </a:r>
              <a:endParaRPr lang="en-US" sz="740" dirty="0"/>
            </a:p>
          </p:txBody>
        </p:sp>
        <p:sp>
          <p:nvSpPr>
            <p:cNvPr id="115" name="cls_L06"/>
            <p:cNvSpPr txBox="1"/>
            <p:nvPr/>
          </p:nvSpPr>
          <p:spPr>
            <a:xfrm>
              <a:off x="771754" y="3179548"/>
              <a:ext cx="509496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40" b="0" dirty="0">
                  <a:solidFill>
                    <a:srgbClr val="60A5FA"/>
                  </a:solidFill>
                  <a:latin typeface="Consolas"/>
                  <a:ea typeface="Consolas"/>
                  <a:cs typeface="Consolas"/>
                </a:rPr>
                <a:t>public</a:t>
              </a:r>
              <a:r>
                <a:rPr lang="en-US" sz="740" b="0" dirty="0">
                  <a:solidFill>
                    <a:srgbClr val="E2E8F0"/>
                  </a:solidFill>
                  <a:latin typeface="Consolas"/>
                  <a:ea typeface="Consolas"/>
                  <a:cs typeface="Consolas"/>
                </a:rPr>
                <a:t> </a:t>
              </a:r>
              <a:r>
                <a:rPr lang="en-US" sz="740" b="0" dirty="0">
                  <a:solidFill>
                    <a:srgbClr val="60A5FA"/>
                  </a:solidFill>
                  <a:latin typeface="Consolas"/>
                  <a:ea typeface="Consolas"/>
                  <a:cs typeface="Consolas"/>
                </a:rPr>
                <a:t>static</a:t>
              </a:r>
              <a:r>
                <a:rPr lang="en-US" sz="740" b="0" dirty="0">
                  <a:solidFill>
                    <a:srgbClr val="E2E8F0"/>
                  </a:solidFill>
                  <a:latin typeface="Consolas"/>
                  <a:ea typeface="Consolas"/>
                  <a:cs typeface="Consolas"/>
                </a:rPr>
                <a:t> Customer Create(</a:t>
              </a:r>
              <a:r>
                <a:rPr lang="en-US" sz="740" b="0" dirty="0">
                  <a:solidFill>
                    <a:srgbClr val="60A5FA"/>
                  </a:solidFill>
                  <a:latin typeface="Consolas"/>
                  <a:ea typeface="Consolas"/>
                  <a:cs typeface="Consolas"/>
                </a:rPr>
                <a:t>string</a:t>
              </a:r>
              <a:r>
                <a:rPr lang="en-US" sz="740" b="0" dirty="0">
                  <a:solidFill>
                    <a:srgbClr val="E2E8F0"/>
                  </a:solidFill>
                  <a:latin typeface="Consolas"/>
                  <a:ea typeface="Consolas"/>
                  <a:cs typeface="Consolas"/>
                </a:rPr>
                <a:t> fullName, </a:t>
              </a:r>
              <a:r>
                <a:rPr lang="en-US" sz="740" b="0" dirty="0">
                  <a:solidFill>
                    <a:srgbClr val="60A5FA"/>
                  </a:solidFill>
                  <a:latin typeface="Consolas"/>
                  <a:ea typeface="Consolas"/>
                  <a:cs typeface="Consolas"/>
                </a:rPr>
                <a:t>string</a:t>
              </a:r>
              <a:r>
                <a:rPr lang="en-US" sz="740" b="0" dirty="0">
                  <a:solidFill>
                    <a:srgbClr val="E2E8F0"/>
                  </a:solidFill>
                  <a:latin typeface="Consolas"/>
                  <a:ea typeface="Consolas"/>
                  <a:cs typeface="Consolas"/>
                </a:rPr>
                <a:t> mobile, </a:t>
              </a:r>
              <a:r>
                <a:rPr lang="en-US" sz="740" b="0" dirty="0">
                  <a:solidFill>
                    <a:srgbClr val="60A5FA"/>
                  </a:solidFill>
                  <a:latin typeface="Consolas"/>
                  <a:ea typeface="Consolas"/>
                  <a:cs typeface="Consolas"/>
                </a:rPr>
                <a:t>string</a:t>
              </a:r>
              <a:r>
                <a:rPr lang="en-US" sz="740" b="0" dirty="0">
                  <a:solidFill>
                    <a:srgbClr val="E2E8F0"/>
                  </a:solidFill>
                  <a:latin typeface="Consolas"/>
                  <a:ea typeface="Consolas"/>
                  <a:cs typeface="Consolas"/>
                </a:rPr>
                <a:t> email,</a:t>
              </a:r>
              <a:endParaRPr lang="en-US" sz="740" dirty="0"/>
            </a:p>
          </p:txBody>
        </p:sp>
        <p:sp>
          <p:nvSpPr>
            <p:cNvPr id="116" name="cls_L07"/>
            <p:cNvSpPr txBox="1"/>
            <p:nvPr/>
          </p:nvSpPr>
          <p:spPr>
            <a:xfrm>
              <a:off x="771754" y="3337548"/>
              <a:ext cx="509496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40" b="0" dirty="0">
                  <a:solidFill>
                    <a:srgbClr val="E2E8F0"/>
                  </a:solidFill>
                  <a:latin typeface="Consolas"/>
                  <a:ea typeface="Consolas"/>
                  <a:cs typeface="Consolas"/>
                </a:rPr>
                <a:t>NotificationChannel channel = NotificationChannel.Sms) =&gt;</a:t>
              </a:r>
              <a:endParaRPr lang="en-US" sz="740" dirty="0"/>
            </a:p>
          </p:txBody>
        </p:sp>
        <p:sp>
          <p:nvSpPr>
            <p:cNvPr id="117" name="cls_L08"/>
            <p:cNvSpPr txBox="1"/>
            <p:nvPr/>
          </p:nvSpPr>
          <p:spPr>
            <a:xfrm>
              <a:off x="771754" y="3495548"/>
              <a:ext cx="509496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40" b="0" dirty="0">
                  <a:solidFill>
                    <a:srgbClr val="60A5FA"/>
                  </a:solidFill>
                  <a:latin typeface="Consolas"/>
                  <a:ea typeface="Consolas"/>
                  <a:cs typeface="Consolas"/>
                </a:rPr>
                <a:t>new</a:t>
              </a:r>
              <a:r>
                <a:rPr lang="en-US" sz="740" b="0" dirty="0">
                  <a:solidFill>
                    <a:srgbClr val="E2E8F0"/>
                  </a:solidFill>
                  <a:latin typeface="Consolas"/>
                  <a:ea typeface="Consolas"/>
                  <a:cs typeface="Consolas"/>
                </a:rPr>
                <a:t>(fullName, MobileNumber.Create(mobile), Email.Create(email), channel);</a:t>
              </a:r>
              <a:endParaRPr lang="en-US" sz="740" dirty="0"/>
            </a:p>
          </p:txBody>
        </p:sp>
        <p:sp>
          <p:nvSpPr>
            <p:cNvPr id="118" name="cls_L09"/>
            <p:cNvSpPr txBox="1"/>
            <p:nvPr/>
          </p:nvSpPr>
          <p:spPr>
            <a:xfrm>
              <a:off x="771754" y="3653548"/>
              <a:ext cx="509496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E2E8F0"/>
                  </a:solidFill>
                  <a:latin typeface="Consolas"/>
                  <a:ea typeface="Consolas"/>
                  <a:cs typeface="Consolas"/>
                </a:rPr>
                <a:t>}</a:t>
              </a:r>
              <a:endParaRPr lang="en-US" sz="740" dirty="0"/>
            </a:p>
          </p:txBody>
        </p:sp>
      </p:grpSp>
      <p:sp>
        <p:nvSpPr>
          <p:cNvPr id="120" name="cls_hl6"/>
          <p:cNvSpPr/>
          <p:nvPr/>
        </p:nvSpPr>
        <p:spPr>
          <a:xfrm>
            <a:off x="676656" y="3161260"/>
            <a:ext cx="5127960" cy="194576"/>
          </a:xfrm>
          <a:prstGeom prst="rect">
            <a:avLst/>
          </a:prstGeom>
          <a:solidFill>
            <a:srgbClr val="FBBF24">
              <a:alpha val="15000"/>
            </a:srgbClr>
          </a:solidFill>
          <a:ln w="12700">
            <a:solidFill>
              <a:srgbClr val="FBBF24"/>
            </a:solidFill>
            <a:prstDash val="solid"/>
          </a:ln>
        </p:spPr>
        <p:txBody>
          <a:bodyPr/>
          <a:lstStyle/>
          <a:p>
            <a:endParaRPr lang="en-US"/>
          </a:p>
        </p:txBody>
      </p:sp>
      <p:sp>
        <p:nvSpPr>
          <p:cNvPr id="121" name="cls_hl7"/>
          <p:cNvSpPr/>
          <p:nvPr/>
        </p:nvSpPr>
        <p:spPr>
          <a:xfrm>
            <a:off x="676656" y="3319260"/>
            <a:ext cx="5127960" cy="194576"/>
          </a:xfrm>
          <a:prstGeom prst="rect">
            <a:avLst/>
          </a:prstGeom>
          <a:solidFill>
            <a:srgbClr val="FBBF24">
              <a:alpha val="15000"/>
            </a:srgbClr>
          </a:solidFill>
          <a:ln w="12700">
            <a:solidFill>
              <a:srgbClr val="FBBF24"/>
            </a:solidFill>
            <a:prstDash val="solid"/>
          </a:ln>
        </p:spPr>
        <p:txBody>
          <a:bodyPr/>
          <a:lstStyle/>
          <a:p>
            <a:endParaRPr lang="en-US"/>
          </a:p>
        </p:txBody>
      </p:sp>
      <p:grpSp>
        <p:nvGrpSpPr>
          <p:cNvPr id="142" name="tst"/>
          <p:cNvGrpSpPr/>
          <p:nvPr/>
        </p:nvGrpSpPr>
        <p:grpSpPr>
          <a:xfrm>
            <a:off x="6166714" y="1755648"/>
            <a:ext cx="5463540" cy="2965900"/>
            <a:chOff x="6166714" y="1755648"/>
            <a:chExt cx="5463540" cy="2965900"/>
          </a:xfrm>
        </p:grpSpPr>
        <p:sp>
          <p:nvSpPr>
            <p:cNvPr id="122" name="tst_win"/>
            <p:cNvSpPr/>
            <p:nvPr/>
          </p:nvSpPr>
          <p:spPr>
            <a:xfrm>
              <a:off x="6166714" y="1755648"/>
              <a:ext cx="5463540" cy="2965900"/>
            </a:xfrm>
            <a:prstGeom prst="roundRect">
              <a:avLst>
                <a:gd name="adj" fmla="val 2311"/>
              </a:avLst>
            </a:prstGeom>
            <a:solidFill>
              <a:srgbClr val="060D18"/>
            </a:solidFill>
            <a:ln w="12700">
              <a:solidFill>
                <a:srgbClr val="1E3A5F"/>
              </a:solidFill>
              <a:prstDash val="solid"/>
            </a:ln>
          </p:spPr>
          <p:txBody>
            <a:bodyPr/>
            <a:lstStyle/>
            <a:p>
              <a:endParaRPr lang="en-US"/>
            </a:p>
          </p:txBody>
        </p:sp>
        <p:sp>
          <p:nvSpPr>
            <p:cNvPr id="123" name="tst_bar"/>
            <p:cNvSpPr/>
            <p:nvPr/>
          </p:nvSpPr>
          <p:spPr>
            <a:xfrm>
              <a:off x="6166714" y="1755648"/>
              <a:ext cx="54635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4" name="tst_barfill"/>
            <p:cNvSpPr/>
            <p:nvPr/>
          </p:nvSpPr>
          <p:spPr>
            <a:xfrm>
              <a:off x="6166714" y="1927098"/>
              <a:ext cx="5463540" cy="171450"/>
            </a:xfrm>
            <a:prstGeom prst="rect">
              <a:avLst/>
            </a:prstGeom>
            <a:solidFill>
              <a:srgbClr val="0A1220"/>
            </a:solidFill>
            <a:ln w="12700">
              <a:solidFill>
                <a:srgbClr val="0A1220"/>
              </a:solidFill>
              <a:prstDash val="solid"/>
            </a:ln>
          </p:spPr>
          <p:txBody>
            <a:bodyPr/>
            <a:lstStyle/>
            <a:p>
              <a:endParaRPr lang="en-US"/>
            </a:p>
          </p:txBody>
        </p:sp>
        <p:sp>
          <p:nvSpPr>
            <p:cNvPr id="125" name="tst_dot0"/>
            <p:cNvSpPr/>
            <p:nvPr/>
          </p:nvSpPr>
          <p:spPr>
            <a:xfrm>
              <a:off x="6328562" y="1879458"/>
              <a:ext cx="95098" cy="95098"/>
            </a:xfrm>
            <a:prstGeom prst="ellipse">
              <a:avLst/>
            </a:prstGeom>
            <a:solidFill>
              <a:srgbClr val="F87171"/>
            </a:solidFill>
            <a:ln w="12700">
              <a:solidFill>
                <a:srgbClr val="F87171"/>
              </a:solidFill>
              <a:prstDash val="solid"/>
            </a:ln>
          </p:spPr>
          <p:txBody>
            <a:bodyPr/>
            <a:lstStyle/>
            <a:p>
              <a:endParaRPr lang="en-US"/>
            </a:p>
          </p:txBody>
        </p:sp>
        <p:sp>
          <p:nvSpPr>
            <p:cNvPr id="126" name="tst_dot1"/>
            <p:cNvSpPr/>
            <p:nvPr/>
          </p:nvSpPr>
          <p:spPr>
            <a:xfrm>
              <a:off x="6514186" y="1879458"/>
              <a:ext cx="95098" cy="95098"/>
            </a:xfrm>
            <a:prstGeom prst="ellipse">
              <a:avLst/>
            </a:prstGeom>
            <a:solidFill>
              <a:srgbClr val="FBBF24"/>
            </a:solidFill>
            <a:ln w="12700">
              <a:solidFill>
                <a:srgbClr val="FBBF24"/>
              </a:solidFill>
              <a:prstDash val="solid"/>
            </a:ln>
          </p:spPr>
          <p:txBody>
            <a:bodyPr/>
            <a:lstStyle/>
            <a:p>
              <a:endParaRPr lang="en-US"/>
            </a:p>
          </p:txBody>
        </p:sp>
        <p:sp>
          <p:nvSpPr>
            <p:cNvPr id="127" name="tst_dot2"/>
            <p:cNvSpPr/>
            <p:nvPr/>
          </p:nvSpPr>
          <p:spPr>
            <a:xfrm>
              <a:off x="6699810" y="1879458"/>
              <a:ext cx="95098" cy="95098"/>
            </a:xfrm>
            <a:prstGeom prst="ellipse">
              <a:avLst/>
            </a:prstGeom>
            <a:solidFill>
              <a:srgbClr val="34D399"/>
            </a:solidFill>
            <a:ln w="12700">
              <a:solidFill>
                <a:srgbClr val="34D399"/>
              </a:solidFill>
              <a:prstDash val="solid"/>
            </a:ln>
          </p:spPr>
          <p:txBody>
            <a:bodyPr/>
            <a:lstStyle/>
            <a:p>
              <a:endParaRPr lang="en-US"/>
            </a:p>
          </p:txBody>
        </p:sp>
        <p:sp>
          <p:nvSpPr>
            <p:cNvPr id="128" name="tst_tab"/>
            <p:cNvSpPr/>
            <p:nvPr/>
          </p:nvSpPr>
          <p:spPr>
            <a:xfrm>
              <a:off x="6947611" y="1803197"/>
              <a:ext cx="244180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Users/CustomerGeneratorTests.cs</a:t>
              </a:r>
              <a:endParaRPr lang="en-US" sz="950" dirty="0"/>
            </a:p>
          </p:txBody>
        </p:sp>
        <p:sp>
          <p:nvSpPr>
            <p:cNvPr id="129" name="tst_L00"/>
            <p:cNvSpPr txBox="1"/>
            <p:nvPr/>
          </p:nvSpPr>
          <p:spPr>
            <a:xfrm>
              <a:off x="6395314" y="2231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60A5FA"/>
                  </a:solidFill>
                  <a:latin typeface="Consolas"/>
                  <a:ea typeface="Consolas"/>
                  <a:cs typeface="Consolas"/>
                </a:rPr>
                <a:t>private</a:t>
              </a:r>
              <a:r>
                <a:rPr lang="en-US" sz="740" b="0" dirty="0">
                  <a:solidFill>
                    <a:srgbClr val="E2E8F0"/>
                  </a:solidFill>
                  <a:latin typeface="Consolas"/>
                  <a:ea typeface="Consolas"/>
                  <a:cs typeface="Consolas"/>
                </a:rPr>
                <a:t> </a:t>
              </a:r>
              <a:r>
                <a:rPr lang="en-US" sz="740" b="0" dirty="0">
                  <a:solidFill>
                    <a:srgbClr val="60A5FA"/>
                  </a:solidFill>
                  <a:latin typeface="Consolas"/>
                  <a:ea typeface="Consolas"/>
                  <a:cs typeface="Consolas"/>
                </a:rPr>
                <a:t>static</a:t>
              </a:r>
              <a:r>
                <a:rPr lang="en-US" sz="740" b="0" dirty="0">
                  <a:solidFill>
                    <a:srgbClr val="E2E8F0"/>
                  </a:solidFill>
                  <a:latin typeface="Consolas"/>
                  <a:ea typeface="Consolas"/>
                  <a:cs typeface="Consolas"/>
                </a:rPr>
                <a:t> </a:t>
              </a:r>
              <a:r>
                <a:rPr lang="en-US" sz="740" b="0" dirty="0">
                  <a:solidFill>
                    <a:srgbClr val="60A5FA"/>
                  </a:solidFill>
                  <a:latin typeface="Consolas"/>
                  <a:ea typeface="Consolas"/>
                  <a:cs typeface="Consolas"/>
                </a:rPr>
                <a:t>readonly</a:t>
              </a:r>
              <a:r>
                <a:rPr lang="en-US" sz="740" b="0" dirty="0">
                  <a:solidFill>
                    <a:srgbClr val="E2E8F0"/>
                  </a:solidFill>
                  <a:latin typeface="Consolas"/>
                  <a:ea typeface="Consolas"/>
                  <a:cs typeface="Consolas"/>
                </a:rPr>
                <a:t> Faker&lt;Customer&gt; Customers = </a:t>
              </a:r>
              <a:r>
                <a:rPr lang="en-US" sz="740" b="0" dirty="0">
                  <a:solidFill>
                    <a:srgbClr val="60A5FA"/>
                  </a:solidFill>
                  <a:latin typeface="Consolas"/>
                  <a:ea typeface="Consolas"/>
                  <a:cs typeface="Consolas"/>
                </a:rPr>
                <a:t>new</a:t>
              </a:r>
              <a:r>
                <a:rPr lang="en-US" sz="740" b="0" dirty="0">
                  <a:solidFill>
                    <a:srgbClr val="E2E8F0"/>
                  </a:solidFill>
                  <a:latin typeface="Consolas"/>
                  <a:ea typeface="Consolas"/>
                  <a:cs typeface="Consolas"/>
                </a:rPr>
                <a:t> Faker&lt;Customer&gt;()</a:t>
              </a:r>
              <a:endParaRPr lang="en-US" sz="740" dirty="0"/>
            </a:p>
          </p:txBody>
        </p:sp>
        <p:sp>
          <p:nvSpPr>
            <p:cNvPr id="130" name="tst_L01"/>
            <p:cNvSpPr txBox="1"/>
            <p:nvPr/>
          </p:nvSpPr>
          <p:spPr>
            <a:xfrm>
              <a:off x="6395314" y="2389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40" b="0" dirty="0">
                  <a:solidFill>
                    <a:srgbClr val="E2E8F0"/>
                  </a:solidFill>
                  <a:latin typeface="Consolas"/>
                  <a:ea typeface="Consolas"/>
                  <a:cs typeface="Consolas"/>
                </a:rPr>
                <a:t>.UseSeed(2026)</a:t>
              </a:r>
              <a:endParaRPr lang="en-US" sz="740" dirty="0"/>
            </a:p>
          </p:txBody>
        </p:sp>
        <p:sp>
          <p:nvSpPr>
            <p:cNvPr id="131" name="tst_L02"/>
            <p:cNvSpPr txBox="1"/>
            <p:nvPr/>
          </p:nvSpPr>
          <p:spPr>
            <a:xfrm>
              <a:off x="6395314" y="2547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40" b="0" dirty="0">
                  <a:solidFill>
                    <a:srgbClr val="E2E8F0"/>
                  </a:solidFill>
                  <a:latin typeface="Consolas"/>
                  <a:ea typeface="Consolas"/>
                  <a:cs typeface="Consolas"/>
                </a:rPr>
                <a:t>.CustomInstantiator(f =&gt; Customer.Create(       </a:t>
              </a:r>
              <a:r>
                <a:rPr lang="en-US" sz="740" b="0" dirty="0">
                  <a:solidFill>
                    <a:srgbClr val="6FAE7A"/>
                  </a:solidFill>
                  <a:latin typeface="Consolas"/>
                  <a:ea typeface="Consolas"/>
                  <a:cs typeface="Consolas"/>
                </a:rPr>
                <a:t>// the real factory</a:t>
              </a:r>
              <a:endParaRPr lang="en-US" sz="740" dirty="0"/>
            </a:p>
          </p:txBody>
        </p:sp>
        <p:sp>
          <p:nvSpPr>
            <p:cNvPr id="132" name="tst_L03"/>
            <p:cNvSpPr txBox="1"/>
            <p:nvPr/>
          </p:nvSpPr>
          <p:spPr>
            <a:xfrm>
              <a:off x="6395314" y="2705548"/>
              <a:ext cx="516354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40" b="0" dirty="0">
                  <a:solidFill>
                    <a:srgbClr val="E2E8F0"/>
                  </a:solidFill>
                  <a:latin typeface="Consolas"/>
                  <a:ea typeface="Consolas"/>
                  <a:cs typeface="Consolas"/>
                </a:rPr>
                <a:t>f.Name.FullName(),</a:t>
              </a:r>
              <a:endParaRPr lang="en-US" sz="740" dirty="0"/>
            </a:p>
          </p:txBody>
        </p:sp>
        <p:sp>
          <p:nvSpPr>
            <p:cNvPr id="133" name="tst_L04"/>
            <p:cNvSpPr txBox="1"/>
            <p:nvPr/>
          </p:nvSpPr>
          <p:spPr>
            <a:xfrm>
              <a:off x="6395314" y="2863548"/>
              <a:ext cx="516354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40" b="0" dirty="0">
                  <a:solidFill>
                    <a:srgbClr val="E2E8F0"/>
                  </a:solidFill>
                  <a:latin typeface="Consolas"/>
                  <a:ea typeface="Consolas"/>
                  <a:cs typeface="Consolas"/>
                </a:rPr>
                <a:t>f.Phone.PhoneNumber(</a:t>
              </a:r>
              <a:r>
                <a:rPr lang="en-US" sz="740" b="0" dirty="0">
                  <a:solidFill>
                    <a:srgbClr val="F0A98B"/>
                  </a:solidFill>
                  <a:latin typeface="Consolas"/>
                  <a:ea typeface="Consolas"/>
                  <a:cs typeface="Consolas"/>
                </a:rPr>
                <a:t>"010########"</a:t>
              </a:r>
              <a:r>
                <a:rPr lang="en-US" sz="740" b="0" dirty="0">
                  <a:solidFill>
                    <a:srgbClr val="E2E8F0"/>
                  </a:solidFill>
                  <a:latin typeface="Consolas"/>
                  <a:ea typeface="Consolas"/>
                  <a:cs typeface="Consolas"/>
                </a:rPr>
                <a:t>),</a:t>
              </a:r>
              <a:endParaRPr lang="en-US" sz="740" dirty="0"/>
            </a:p>
          </p:txBody>
        </p:sp>
        <p:sp>
          <p:nvSpPr>
            <p:cNvPr id="134" name="tst_L05"/>
            <p:cNvSpPr txBox="1"/>
            <p:nvPr/>
          </p:nvSpPr>
          <p:spPr>
            <a:xfrm>
              <a:off x="6395314" y="3021548"/>
              <a:ext cx="5163540" cy="15800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740" b="0" dirty="0">
                  <a:solidFill>
                    <a:srgbClr val="E2E8F0"/>
                  </a:solidFill>
                  <a:latin typeface="Consolas"/>
                  <a:ea typeface="Consolas"/>
                  <a:cs typeface="Consolas"/>
                </a:rPr>
                <a:t>f.Internet.Email()));</a:t>
              </a:r>
              <a:endParaRPr lang="en-US" sz="740" dirty="0"/>
            </a:p>
          </p:txBody>
        </p:sp>
        <p:sp>
          <p:nvSpPr>
            <p:cNvPr id="135" name="tst_L07"/>
            <p:cNvSpPr txBox="1"/>
            <p:nvPr/>
          </p:nvSpPr>
          <p:spPr>
            <a:xfrm>
              <a:off x="6395314" y="3337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E2E8F0"/>
                  </a:solidFill>
                  <a:latin typeface="Consolas"/>
                  <a:ea typeface="Consolas"/>
                  <a:cs typeface="Consolas"/>
                </a:rPr>
                <a:t>[Fact]</a:t>
              </a:r>
              <a:endParaRPr lang="en-US" sz="740" dirty="0"/>
            </a:p>
          </p:txBody>
        </p:sp>
        <p:sp>
          <p:nvSpPr>
            <p:cNvPr id="136" name="tst_L08"/>
            <p:cNvSpPr txBox="1"/>
            <p:nvPr/>
          </p:nvSpPr>
          <p:spPr>
            <a:xfrm>
              <a:off x="6395314" y="3495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60A5FA"/>
                  </a:solidFill>
                  <a:latin typeface="Consolas"/>
                  <a:ea typeface="Consolas"/>
                  <a:cs typeface="Consolas"/>
                </a:rPr>
                <a:t>public</a:t>
              </a:r>
              <a:r>
                <a:rPr lang="en-US" sz="740" b="0" dirty="0">
                  <a:solidFill>
                    <a:srgbClr val="E2E8F0"/>
                  </a:solidFill>
                  <a:latin typeface="Consolas"/>
                  <a:ea typeface="Consolas"/>
                  <a:cs typeface="Consolas"/>
                </a:rPr>
                <a:t> </a:t>
              </a:r>
              <a:r>
                <a:rPr lang="en-US" sz="740" b="0" dirty="0">
                  <a:solidFill>
                    <a:srgbClr val="60A5FA"/>
                  </a:solidFill>
                  <a:latin typeface="Consolas"/>
                  <a:ea typeface="Consolas"/>
                  <a:cs typeface="Consolas"/>
                </a:rPr>
                <a:t>void</a:t>
              </a:r>
              <a:r>
                <a:rPr lang="en-US" sz="740" b="0" dirty="0">
                  <a:solidFill>
                    <a:srgbClr val="E2E8F0"/>
                  </a:solidFill>
                  <a:latin typeface="Consolas"/>
                  <a:ea typeface="Consolas"/>
                  <a:cs typeface="Consolas"/>
                </a:rPr>
                <a:t> Create_FiftyRealisticCustomers_AllValid()</a:t>
              </a:r>
              <a:endParaRPr lang="en-US" sz="740" dirty="0"/>
            </a:p>
          </p:txBody>
        </p:sp>
        <p:sp>
          <p:nvSpPr>
            <p:cNvPr id="137" name="tst_L09"/>
            <p:cNvSpPr txBox="1"/>
            <p:nvPr/>
          </p:nvSpPr>
          <p:spPr>
            <a:xfrm>
              <a:off x="6395314" y="3653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E2E8F0"/>
                  </a:solidFill>
                  <a:latin typeface="Consolas"/>
                  <a:ea typeface="Consolas"/>
                  <a:cs typeface="Consolas"/>
                </a:rPr>
                <a:t>{</a:t>
              </a:r>
              <a:endParaRPr lang="en-US" sz="740" dirty="0"/>
            </a:p>
          </p:txBody>
        </p:sp>
        <p:sp>
          <p:nvSpPr>
            <p:cNvPr id="138" name="tst_L10"/>
            <p:cNvSpPr txBox="1"/>
            <p:nvPr/>
          </p:nvSpPr>
          <p:spPr>
            <a:xfrm>
              <a:off x="6395314" y="3811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40" b="0" dirty="0">
                  <a:solidFill>
                    <a:srgbClr val="E2E8F0"/>
                  </a:solidFill>
                  <a:latin typeface="Consolas"/>
                  <a:ea typeface="Consolas"/>
                  <a:cs typeface="Consolas"/>
                </a:rPr>
                <a:t>List&lt;Customer&gt; customers = Customers.Generate(50);</a:t>
              </a:r>
              <a:endParaRPr lang="en-US" sz="740" dirty="0"/>
            </a:p>
          </p:txBody>
        </p:sp>
        <p:sp>
          <p:nvSpPr>
            <p:cNvPr id="139" name="tst_L12"/>
            <p:cNvSpPr txBox="1"/>
            <p:nvPr/>
          </p:nvSpPr>
          <p:spPr>
            <a:xfrm>
              <a:off x="6395314" y="4127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40" b="0" dirty="0">
                  <a:solidFill>
                    <a:srgbClr val="E2E8F0"/>
                  </a:solidFill>
                  <a:latin typeface="Consolas"/>
                  <a:ea typeface="Consolas"/>
                  <a:cs typeface="Consolas"/>
                </a:rPr>
                <a:t>customers.Count.ShouldBe(50);</a:t>
              </a:r>
              <a:endParaRPr lang="en-US" sz="740" dirty="0"/>
            </a:p>
          </p:txBody>
        </p:sp>
        <p:sp>
          <p:nvSpPr>
            <p:cNvPr id="140" name="tst_L13"/>
            <p:cNvSpPr txBox="1"/>
            <p:nvPr/>
          </p:nvSpPr>
          <p:spPr>
            <a:xfrm>
              <a:off x="6395314" y="4285548"/>
              <a:ext cx="5163540" cy="15800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740" b="0" dirty="0">
                  <a:solidFill>
                    <a:srgbClr val="E2E8F0"/>
                  </a:solidFill>
                  <a:latin typeface="Consolas"/>
                  <a:ea typeface="Consolas"/>
                  <a:cs typeface="Consolas"/>
                </a:rPr>
                <a:t>customers.ShouldAllBe(c =&gt; c.Mobile.Value.StartsWith(</a:t>
              </a:r>
              <a:r>
                <a:rPr lang="en-US" sz="740" b="0" dirty="0">
                  <a:solidFill>
                    <a:srgbClr val="F0A98B"/>
                  </a:solidFill>
                  <a:latin typeface="Consolas"/>
                  <a:ea typeface="Consolas"/>
                  <a:cs typeface="Consolas"/>
                </a:rPr>
                <a:t>"010"</a:t>
              </a:r>
              <a:r>
                <a:rPr lang="en-US" sz="740" b="0" dirty="0">
                  <a:solidFill>
                    <a:srgbClr val="E2E8F0"/>
                  </a:solidFill>
                  <a:latin typeface="Consolas"/>
                  <a:ea typeface="Consolas"/>
                  <a:cs typeface="Consolas"/>
                </a:rPr>
                <a:t>));</a:t>
              </a:r>
              <a:endParaRPr lang="en-US" sz="740" dirty="0"/>
            </a:p>
          </p:txBody>
        </p:sp>
        <p:sp>
          <p:nvSpPr>
            <p:cNvPr id="141" name="tst_L14"/>
            <p:cNvSpPr txBox="1"/>
            <p:nvPr/>
          </p:nvSpPr>
          <p:spPr>
            <a:xfrm>
              <a:off x="6395314" y="4443548"/>
              <a:ext cx="5163540" cy="15800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740" b="0" dirty="0">
                  <a:solidFill>
                    <a:srgbClr val="E2E8F0"/>
                  </a:solidFill>
                  <a:latin typeface="Consolas"/>
                  <a:ea typeface="Consolas"/>
                  <a:cs typeface="Consolas"/>
                </a:rPr>
                <a:t>}</a:t>
              </a:r>
              <a:endParaRPr lang="en-US" sz="740" dirty="0"/>
            </a:p>
          </p:txBody>
        </p:sp>
      </p:grpSp>
      <p:sp>
        <p:nvSpPr>
          <p:cNvPr id="143" name="tst_hl2"/>
          <p:cNvSpPr/>
          <p:nvPr/>
        </p:nvSpPr>
        <p:spPr>
          <a:xfrm>
            <a:off x="6300216" y="2529260"/>
            <a:ext cx="5196540" cy="194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4" name="tst_hl3"/>
          <p:cNvSpPr/>
          <p:nvPr/>
        </p:nvSpPr>
        <p:spPr>
          <a:xfrm>
            <a:off x="6300216" y="2687260"/>
            <a:ext cx="5196540" cy="194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5" name="tst_hl4"/>
          <p:cNvSpPr/>
          <p:nvPr/>
        </p:nvSpPr>
        <p:spPr>
          <a:xfrm>
            <a:off x="6300216" y="2845260"/>
            <a:ext cx="5196540" cy="194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6" name="tst_hl5"/>
          <p:cNvSpPr/>
          <p:nvPr/>
        </p:nvSpPr>
        <p:spPr>
          <a:xfrm>
            <a:off x="6300216" y="3003260"/>
            <a:ext cx="5196540" cy="194576"/>
          </a:xfrm>
          <a:prstGeom prst="rect">
            <a:avLst/>
          </a:prstGeom>
          <a:solidFill>
            <a:srgbClr val="13D0F7">
              <a:alpha val="15000"/>
            </a:srgbClr>
          </a:solidFill>
          <a:ln w="12700">
            <a:solidFill>
              <a:srgbClr val="13D0F7"/>
            </a:solidFill>
            <a:prstDash val="solid"/>
          </a:ln>
        </p:spPr>
        <p:txBody>
          <a:bodyPr/>
          <a:lstStyle/>
          <a:p>
            <a:endParaRPr lang="en-US"/>
          </a:p>
        </p:txBody>
      </p:sp>
      <p:sp>
        <p:nvSpPr>
          <p:cNvPr id="147" name="tst_hl12"/>
          <p:cNvSpPr/>
          <p:nvPr/>
        </p:nvSpPr>
        <p:spPr>
          <a:xfrm>
            <a:off x="6300216" y="4109260"/>
            <a:ext cx="5196540" cy="194576"/>
          </a:xfrm>
          <a:prstGeom prst="rect">
            <a:avLst/>
          </a:prstGeom>
          <a:solidFill>
            <a:srgbClr val="34D399">
              <a:alpha val="15000"/>
            </a:srgbClr>
          </a:solidFill>
          <a:ln w="12700">
            <a:solidFill>
              <a:srgbClr val="34D399"/>
            </a:solidFill>
            <a:prstDash val="solid"/>
          </a:ln>
        </p:spPr>
        <p:txBody>
          <a:bodyPr/>
          <a:lstStyle/>
          <a:p>
            <a:endParaRPr lang="en-US"/>
          </a:p>
        </p:txBody>
      </p:sp>
      <p:sp>
        <p:nvSpPr>
          <p:cNvPr id="148" name="tst_hl13"/>
          <p:cNvSpPr/>
          <p:nvPr/>
        </p:nvSpPr>
        <p:spPr>
          <a:xfrm>
            <a:off x="6300216" y="4267260"/>
            <a:ext cx="5196540" cy="194576"/>
          </a:xfrm>
          <a:prstGeom prst="rect">
            <a:avLst/>
          </a:prstGeom>
          <a:solidFill>
            <a:srgbClr val="34D399">
              <a:alpha val="15000"/>
            </a:srgbClr>
          </a:solidFill>
          <a:ln w="12700">
            <a:solidFill>
              <a:srgbClr val="34D399"/>
            </a:solidFill>
            <a:prstDash val="solid"/>
          </a:ln>
        </p:spPr>
        <p:txBody>
          <a:bodyPr/>
          <a:lstStyle/>
          <a:p>
            <a:endParaRPr lang="en-US"/>
          </a:p>
        </p:txBody>
      </p:sp>
    </p:spTree>
    <p:extLst>
      <p:ext uri="{BB962C8B-B14F-4D97-AF65-F5344CB8AC3E}">
        <p14:creationId xmlns:p14="http://schemas.microsoft.com/office/powerpoint/2010/main" val="512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fade">
                                      <p:cBhvr>
                                        <p:cTn id="10" dur="400"/>
                                        <p:tgtEl>
                                          <p:spTgt spid="1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400"/>
                                        <p:tgtEl>
                                          <p:spTgt spid="1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400"/>
                                        <p:tgtEl>
                                          <p:spTgt spid="1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42"/>
                                        </p:tgtEl>
                                        <p:attrNameLst>
                                          <p:attrName>style.visibility</p:attrName>
                                        </p:attrNameLst>
                                      </p:cBhvr>
                                      <p:to>
                                        <p:strVal val="visible"/>
                                      </p:to>
                                    </p:set>
                                    <p:animEffect transition="in" filter="fade">
                                      <p:cBhvr>
                                        <p:cTn id="24" dur="400"/>
                                        <p:tgtEl>
                                          <p:spTgt spid="14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3"/>
                                        </p:tgtEl>
                                        <p:attrNameLst>
                                          <p:attrName>style.visibility</p:attrName>
                                        </p:attrNameLst>
                                      </p:cBhvr>
                                      <p:to>
                                        <p:strVal val="visible"/>
                                      </p:to>
                                    </p:set>
                                    <p:animEffect transition="in" filter="fade">
                                      <p:cBhvr>
                                        <p:cTn id="27" dur="400"/>
                                        <p:tgtEl>
                                          <p:spTgt spid="14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4"/>
                                        </p:tgtEl>
                                        <p:attrNameLst>
                                          <p:attrName>style.visibility</p:attrName>
                                        </p:attrNameLst>
                                      </p:cBhvr>
                                      <p:to>
                                        <p:strVal val="visible"/>
                                      </p:to>
                                    </p:set>
                                    <p:animEffect transition="in" filter="fade">
                                      <p:cBhvr>
                                        <p:cTn id="30" dur="400"/>
                                        <p:tgtEl>
                                          <p:spTgt spid="14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5"/>
                                        </p:tgtEl>
                                        <p:attrNameLst>
                                          <p:attrName>style.visibility</p:attrName>
                                        </p:attrNameLst>
                                      </p:cBhvr>
                                      <p:to>
                                        <p:strVal val="visible"/>
                                      </p:to>
                                    </p:set>
                                    <p:animEffect transition="in" filter="fade">
                                      <p:cBhvr>
                                        <p:cTn id="33" dur="400"/>
                                        <p:tgtEl>
                                          <p:spTgt spid="14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6"/>
                                        </p:tgtEl>
                                        <p:attrNameLst>
                                          <p:attrName>style.visibility</p:attrName>
                                        </p:attrNameLst>
                                      </p:cBhvr>
                                      <p:to>
                                        <p:strVal val="visible"/>
                                      </p:to>
                                    </p:set>
                                    <p:animEffect transition="in" filter="fade">
                                      <p:cBhvr>
                                        <p:cTn id="36" dur="400"/>
                                        <p:tgtEl>
                                          <p:spTgt spid="14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7"/>
                                        </p:tgtEl>
                                        <p:attrNameLst>
                                          <p:attrName>style.visibility</p:attrName>
                                        </p:attrNameLst>
                                      </p:cBhvr>
                                      <p:to>
                                        <p:strVal val="visible"/>
                                      </p:to>
                                    </p:set>
                                    <p:animEffect transition="in" filter="fade">
                                      <p:cBhvr>
                                        <p:cTn id="39" dur="400"/>
                                        <p:tgtEl>
                                          <p:spTgt spid="14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8"/>
                                        </p:tgtEl>
                                        <p:attrNameLst>
                                          <p:attrName>style.visibility</p:attrName>
                                        </p:attrNameLst>
                                      </p:cBhvr>
                                      <p:to>
                                        <p:strVal val="visible"/>
                                      </p:to>
                                    </p:set>
                                    <p:animEffect transition="in" filter="fade">
                                      <p:cBhvr>
                                        <p:cTn id="42" dur="4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20" grpId="0" animBg="1"/>
      <p:bldP spid="121" grpId="0" animBg="1"/>
      <p:bldP spid="143" grpId="0" animBg="1"/>
      <p:bldP spid="144" grpId="0" animBg="1"/>
      <p:bldP spid="145" grpId="0" animBg="1"/>
      <p:bldP spid="146" grpId="0" animBg="1"/>
      <p:bldP spid="147" grpId="0" animBg="1"/>
      <p:bldP spid="148"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988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YOUR TURN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Your Turn: Four Rules, Four Tests</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148</a:t>
            </a:r>
            <a:endParaRPr lang="en-US" sz="850" dirty="0"/>
          </a:p>
        </p:txBody>
      </p:sp>
      <p:sp>
        <p:nvSpPr>
          <p:cNvPr id="101" name="t0"/>
          <p:cNvSpPr/>
          <p:nvPr/>
        </p:nvSpPr>
        <p:spPr>
          <a:xfrm>
            <a:off x="543154" y="1572768"/>
            <a:ext cx="6400800" cy="868680"/>
          </a:xfrm>
          <a:prstGeom prst="roundRect">
            <a:avLst>
              <a:gd name="adj" fmla="val 12000"/>
            </a:avLst>
          </a:prstGeom>
          <a:solidFill>
            <a:srgbClr val="111B2E"/>
          </a:solidFill>
          <a:ln w="12700">
            <a:solidFill>
              <a:srgbClr val="13D0F7"/>
            </a:solidFill>
            <a:prstDash val="solid"/>
          </a:ln>
        </p:spPr>
        <p:txBody>
          <a:bodyPr wrap="square" lIns="182880" tIns="45720" rIns="91440" bIns="45720" rtlCol="0" anchor="ctr">
            <a:noAutofit/>
          </a:bodyPr>
          <a:lstStyle/>
          <a:p>
            <a:pPr marL="0" indent="0" algn="l">
              <a:spcBef>
                <a:spcPts val="0"/>
              </a:spcBef>
              <a:spcAft>
                <a:spcPts val="0"/>
              </a:spcAft>
              <a:buNone/>
            </a:pPr>
            <a:r>
              <a:rPr lang="en-US" sz="1500" b="1" dirty="0">
                <a:solidFill>
                  <a:srgbClr val="13D0F7"/>
                </a:solidFill>
                <a:latin typeface="Segoe UI"/>
                <a:ea typeface="Segoe UI"/>
                <a:cs typeface="Segoe UI"/>
              </a:rPr>
              <a:t>1  </a:t>
            </a:r>
            <a:r>
              <a:rPr lang="en-US" sz="1150" b="1" dirty="0">
                <a:solidFill>
                  <a:srgbClr val="13D0F7"/>
                </a:solidFill>
                <a:latin typeface="Consolas"/>
                <a:ea typeface="Consolas"/>
                <a:cs typeface="Consolas"/>
              </a:rPr>
              <a:t>BR-03   </a:t>
            </a:r>
            <a:r>
              <a:rPr lang="en-US" sz="1200" b="1" dirty="0">
                <a:solidFill>
                  <a:srgbClr val="FFFFFF"/>
                </a:solidFill>
                <a:latin typeface="Segoe UI"/>
                <a:ea typeface="Segoe UI"/>
                <a:cs typeface="Segoe UI"/>
              </a:rPr>
              <a:t>A customer can save at most 3 addresses.</a:t>
            </a:r>
            <a:endParaRPr lang="en-US" sz="1500" dirty="0"/>
          </a:p>
        </p:txBody>
      </p:sp>
      <p:sp>
        <p:nvSpPr>
          <p:cNvPr id="102" name="h0"/>
          <p:cNvSpPr/>
          <p:nvPr/>
        </p:nvSpPr>
        <p:spPr>
          <a:xfrm>
            <a:off x="7132320" y="1572768"/>
            <a:ext cx="4497934" cy="868680"/>
          </a:xfrm>
          <a:prstGeom prst="roundRect">
            <a:avLst>
              <a:gd name="adj" fmla="val 12000"/>
            </a:avLst>
          </a:prstGeom>
          <a:solidFill>
            <a:srgbClr val="111B2E"/>
          </a:solidFill>
          <a:ln w="12700">
            <a:solidFill>
              <a:srgbClr val="1E3A5F"/>
            </a:solidFill>
            <a:prstDash val="solid"/>
          </a:ln>
        </p:spPr>
        <p:txBody>
          <a:bodyPr wrap="square" lIns="137160" tIns="45720" rIns="91440" bIns="45720" rtlCol="0" anchor="ctr">
            <a:noAutofit/>
          </a:bodyPr>
          <a:lstStyle/>
          <a:p>
            <a:pPr marL="0" indent="0" algn="l">
              <a:spcBef>
                <a:spcPts val="0"/>
              </a:spcBef>
              <a:spcAft>
                <a:spcPts val="0"/>
              </a:spcAft>
              <a:buNone/>
            </a:pPr>
            <a:r>
              <a:rPr lang="en-US" sz="950" b="1" dirty="0">
                <a:solidFill>
                  <a:srgbClr val="13D0F7"/>
                </a:solidFill>
                <a:latin typeface="Segoe UI"/>
                <a:ea typeface="Segoe UI"/>
                <a:cs typeface="Segoe UI"/>
              </a:rPr>
              <a:t>HINT</a:t>
            </a:r>
            <a:endParaRPr lang="en-US" sz="950" dirty="0"/>
          </a:p>
          <a:p>
            <a:pPr marL="0" indent="0" algn="l">
              <a:spcBef>
                <a:spcPts val="0"/>
              </a:spcBef>
              <a:spcAft>
                <a:spcPts val="0"/>
              </a:spcAft>
              <a:buNone/>
            </a:pPr>
            <a:r>
              <a:rPr lang="en-US" sz="1050" b="0" dirty="0">
                <a:solidFill>
                  <a:srgbClr val="CBD5E1"/>
                </a:solidFill>
                <a:latin typeface="Segoe UI"/>
                <a:ea typeface="Segoe UI"/>
                <a:cs typeface="Segoe UI"/>
              </a:rPr>
              <a:t>Fact: add 3, the 4th throws, Count stays 3</a:t>
            </a:r>
            <a:endParaRPr lang="en-US" sz="1050" dirty="0"/>
          </a:p>
        </p:txBody>
      </p:sp>
      <p:sp>
        <p:nvSpPr>
          <p:cNvPr id="103" name="t1"/>
          <p:cNvSpPr/>
          <p:nvPr/>
        </p:nvSpPr>
        <p:spPr>
          <a:xfrm>
            <a:off x="543154" y="2551176"/>
            <a:ext cx="6400800" cy="868680"/>
          </a:xfrm>
          <a:prstGeom prst="roundRect">
            <a:avLst>
              <a:gd name="adj" fmla="val 12000"/>
            </a:avLst>
          </a:prstGeom>
          <a:solidFill>
            <a:srgbClr val="111B2E"/>
          </a:solidFill>
          <a:ln w="12700">
            <a:solidFill>
              <a:srgbClr val="FBBF24"/>
            </a:solidFill>
            <a:prstDash val="solid"/>
          </a:ln>
        </p:spPr>
        <p:txBody>
          <a:bodyPr wrap="square" lIns="182880" tIns="45720" rIns="91440" bIns="45720" rtlCol="0" anchor="ctr">
            <a:noAutofit/>
          </a:bodyPr>
          <a:lstStyle/>
          <a:p>
            <a:pPr marL="0" indent="0" algn="l">
              <a:spcBef>
                <a:spcPts val="0"/>
              </a:spcBef>
              <a:spcAft>
                <a:spcPts val="0"/>
              </a:spcAft>
              <a:buNone/>
            </a:pPr>
            <a:r>
              <a:rPr lang="en-US" sz="1500" b="1" dirty="0">
                <a:solidFill>
                  <a:srgbClr val="FBBF24"/>
                </a:solidFill>
                <a:latin typeface="Segoe UI"/>
                <a:ea typeface="Segoe UI"/>
                <a:cs typeface="Segoe UI"/>
              </a:rPr>
              <a:t>2  </a:t>
            </a:r>
            <a:r>
              <a:rPr lang="en-US" sz="1150" b="1" dirty="0">
                <a:solidFill>
                  <a:srgbClr val="FBBF24"/>
                </a:solidFill>
                <a:latin typeface="Consolas"/>
                <a:ea typeface="Consolas"/>
                <a:cs typeface="Consolas"/>
              </a:rPr>
              <a:t>BR-22   </a:t>
            </a:r>
            <a:r>
              <a:rPr lang="en-US" sz="1200" b="1" dirty="0">
                <a:solidFill>
                  <a:srgbClr val="FFFFFF"/>
                </a:solidFill>
                <a:latin typeface="Segoe UI"/>
                <a:ea typeface="Segoe UI"/>
                <a:cs typeface="Segoe UI"/>
              </a:rPr>
              <a:t>Cash on delivery only up to 1,000 EGP.</a:t>
            </a:r>
            <a:endParaRPr lang="en-US" sz="1500" dirty="0"/>
          </a:p>
        </p:txBody>
      </p:sp>
      <p:sp>
        <p:nvSpPr>
          <p:cNvPr id="104" name="h1"/>
          <p:cNvSpPr/>
          <p:nvPr/>
        </p:nvSpPr>
        <p:spPr>
          <a:xfrm>
            <a:off x="7132320" y="2551176"/>
            <a:ext cx="4497934" cy="868680"/>
          </a:xfrm>
          <a:prstGeom prst="roundRect">
            <a:avLst>
              <a:gd name="adj" fmla="val 12000"/>
            </a:avLst>
          </a:prstGeom>
          <a:solidFill>
            <a:srgbClr val="111B2E"/>
          </a:solidFill>
          <a:ln w="12700">
            <a:solidFill>
              <a:srgbClr val="1E3A5F"/>
            </a:solidFill>
            <a:prstDash val="solid"/>
          </a:ln>
        </p:spPr>
        <p:txBody>
          <a:bodyPr wrap="square" lIns="137160" tIns="45720" rIns="91440" bIns="45720" rtlCol="0" anchor="ctr">
            <a:noAutofit/>
          </a:bodyPr>
          <a:lstStyle/>
          <a:p>
            <a:pPr marL="0" indent="0" algn="l">
              <a:spcBef>
                <a:spcPts val="0"/>
              </a:spcBef>
              <a:spcAft>
                <a:spcPts val="0"/>
              </a:spcAft>
              <a:buNone/>
            </a:pPr>
            <a:r>
              <a:rPr lang="en-US" sz="950" b="1" dirty="0">
                <a:solidFill>
                  <a:srgbClr val="FBBF24"/>
                </a:solidFill>
                <a:latin typeface="Segoe UI"/>
                <a:ea typeface="Segoe UI"/>
                <a:cs typeface="Segoe UI"/>
              </a:rPr>
              <a:t>HINT</a:t>
            </a:r>
            <a:endParaRPr lang="en-US" sz="950" dirty="0"/>
          </a:p>
          <a:p>
            <a:pPr marL="0" indent="0" algn="l">
              <a:spcBef>
                <a:spcPts val="0"/>
              </a:spcBef>
              <a:spcAft>
                <a:spcPts val="0"/>
              </a:spcAft>
              <a:buNone/>
            </a:pPr>
            <a:r>
              <a:rPr lang="en-US" sz="1050" b="0" dirty="0">
                <a:solidFill>
                  <a:srgbClr val="CBD5E1"/>
                </a:solidFill>
                <a:latin typeface="Segoe UI"/>
                <a:ea typeface="Segoe UI"/>
                <a:cs typeface="Segoe UI"/>
              </a:rPr>
              <a:t>Theory: 1000 allowed, 1001 refused</a:t>
            </a:r>
            <a:endParaRPr lang="en-US" sz="1050" dirty="0"/>
          </a:p>
        </p:txBody>
      </p:sp>
      <p:sp>
        <p:nvSpPr>
          <p:cNvPr id="105" name="t2"/>
          <p:cNvSpPr/>
          <p:nvPr/>
        </p:nvSpPr>
        <p:spPr>
          <a:xfrm>
            <a:off x="543154" y="3529584"/>
            <a:ext cx="6400800" cy="868680"/>
          </a:xfrm>
          <a:prstGeom prst="roundRect">
            <a:avLst>
              <a:gd name="adj" fmla="val 12000"/>
            </a:avLst>
          </a:prstGeom>
          <a:solidFill>
            <a:srgbClr val="111B2E"/>
          </a:solidFill>
          <a:ln w="12700">
            <a:solidFill>
              <a:srgbClr val="A78BFA"/>
            </a:solidFill>
            <a:prstDash val="solid"/>
          </a:ln>
        </p:spPr>
        <p:txBody>
          <a:bodyPr wrap="square" lIns="182880" tIns="45720" rIns="91440" bIns="45720" rtlCol="0" anchor="ctr">
            <a:noAutofit/>
          </a:bodyPr>
          <a:lstStyle/>
          <a:p>
            <a:pPr marL="0" indent="0" algn="l">
              <a:spcBef>
                <a:spcPts val="0"/>
              </a:spcBef>
              <a:spcAft>
                <a:spcPts val="0"/>
              </a:spcAft>
              <a:buNone/>
            </a:pPr>
            <a:r>
              <a:rPr lang="en-US" sz="1500" b="1" dirty="0">
                <a:solidFill>
                  <a:srgbClr val="A78BFA"/>
                </a:solidFill>
                <a:latin typeface="Segoe UI"/>
                <a:ea typeface="Segoe UI"/>
                <a:cs typeface="Segoe UI"/>
              </a:rPr>
              <a:t>3  </a:t>
            </a:r>
            <a:r>
              <a:rPr lang="en-US" sz="1150" b="1" dirty="0">
                <a:solidFill>
                  <a:srgbClr val="A78BFA"/>
                </a:solidFill>
                <a:latin typeface="Consolas"/>
                <a:ea typeface="Consolas"/>
                <a:cs typeface="Consolas"/>
              </a:rPr>
              <a:t>BR-12   </a:t>
            </a:r>
            <a:r>
              <a:rPr lang="en-US" sz="1200" b="1" dirty="0">
                <a:solidFill>
                  <a:srgbClr val="FFFFFF"/>
                </a:solidFill>
                <a:latin typeface="Segoe UI"/>
                <a:ea typeface="Segoe UI"/>
                <a:cs typeface="Segoe UI"/>
              </a:rPr>
              <a:t>Quantity must be between 1 and 10.</a:t>
            </a:r>
            <a:endParaRPr lang="en-US" sz="1500" dirty="0"/>
          </a:p>
        </p:txBody>
      </p:sp>
      <p:sp>
        <p:nvSpPr>
          <p:cNvPr id="106" name="h2"/>
          <p:cNvSpPr/>
          <p:nvPr/>
        </p:nvSpPr>
        <p:spPr>
          <a:xfrm>
            <a:off x="7132320" y="3529584"/>
            <a:ext cx="4497934" cy="868680"/>
          </a:xfrm>
          <a:prstGeom prst="roundRect">
            <a:avLst>
              <a:gd name="adj" fmla="val 12000"/>
            </a:avLst>
          </a:prstGeom>
          <a:solidFill>
            <a:srgbClr val="111B2E"/>
          </a:solidFill>
          <a:ln w="12700">
            <a:solidFill>
              <a:srgbClr val="1E3A5F"/>
            </a:solidFill>
            <a:prstDash val="solid"/>
          </a:ln>
        </p:spPr>
        <p:txBody>
          <a:bodyPr wrap="square" lIns="137160" tIns="45720" rIns="91440" bIns="45720" rtlCol="0" anchor="ctr">
            <a:noAutofit/>
          </a:bodyPr>
          <a:lstStyle/>
          <a:p>
            <a:pPr marL="0" indent="0" algn="l">
              <a:spcBef>
                <a:spcPts val="0"/>
              </a:spcBef>
              <a:spcAft>
                <a:spcPts val="0"/>
              </a:spcAft>
              <a:buNone/>
            </a:pPr>
            <a:r>
              <a:rPr lang="en-US" sz="950" b="1" dirty="0">
                <a:solidFill>
                  <a:srgbClr val="A78BFA"/>
                </a:solidFill>
                <a:latin typeface="Segoe UI"/>
                <a:ea typeface="Segoe UI"/>
                <a:cs typeface="Segoe UI"/>
              </a:rPr>
              <a:t>HINT</a:t>
            </a:r>
            <a:endParaRPr lang="en-US" sz="950" dirty="0"/>
          </a:p>
          <a:p>
            <a:pPr marL="0" indent="0" algn="l">
              <a:spcBef>
                <a:spcPts val="0"/>
              </a:spcBef>
              <a:spcAft>
                <a:spcPts val="0"/>
              </a:spcAft>
              <a:buNone/>
            </a:pPr>
            <a:r>
              <a:rPr lang="en-US" sz="1050" b="0" dirty="0">
                <a:solidFill>
                  <a:srgbClr val="CBD5E1"/>
                </a:solidFill>
                <a:latin typeface="Segoe UI"/>
                <a:ea typeface="Segoe UI"/>
                <a:cs typeface="Segoe UI"/>
              </a:rPr>
              <a:t>Theory: 0 and 11 throw from AddItem</a:t>
            </a:r>
            <a:endParaRPr lang="en-US" sz="1050" dirty="0"/>
          </a:p>
        </p:txBody>
      </p:sp>
      <p:sp>
        <p:nvSpPr>
          <p:cNvPr id="107" name="t3"/>
          <p:cNvSpPr/>
          <p:nvPr/>
        </p:nvSpPr>
        <p:spPr>
          <a:xfrm>
            <a:off x="543154" y="4507992"/>
            <a:ext cx="6400800" cy="868680"/>
          </a:xfrm>
          <a:prstGeom prst="roundRect">
            <a:avLst>
              <a:gd name="adj" fmla="val 12000"/>
            </a:avLst>
          </a:prstGeom>
          <a:solidFill>
            <a:srgbClr val="111B2E"/>
          </a:solidFill>
          <a:ln w="12700">
            <a:solidFill>
              <a:srgbClr val="34D399"/>
            </a:solidFill>
            <a:prstDash val="solid"/>
          </a:ln>
        </p:spPr>
        <p:txBody>
          <a:bodyPr wrap="square" lIns="182880" tIns="45720" rIns="91440" bIns="45720" rtlCol="0" anchor="ctr">
            <a:noAutofit/>
          </a:bodyPr>
          <a:lstStyle/>
          <a:p>
            <a:pPr marL="0" indent="0" algn="l">
              <a:spcBef>
                <a:spcPts val="0"/>
              </a:spcBef>
              <a:spcAft>
                <a:spcPts val="0"/>
              </a:spcAft>
              <a:buNone/>
            </a:pPr>
            <a:r>
              <a:rPr lang="en-US" sz="1500" b="1" dirty="0">
                <a:solidFill>
                  <a:srgbClr val="34D399"/>
                </a:solidFill>
                <a:latin typeface="Segoe UI"/>
                <a:ea typeface="Segoe UI"/>
                <a:cs typeface="Segoe UI"/>
              </a:rPr>
              <a:t>4  </a:t>
            </a:r>
            <a:r>
              <a:rPr lang="en-US" sz="1150" b="1" dirty="0">
                <a:solidFill>
                  <a:srgbClr val="34D399"/>
                </a:solidFill>
                <a:latin typeface="Consolas"/>
                <a:ea typeface="Consolas"/>
                <a:cs typeface="Consolas"/>
              </a:rPr>
              <a:t>BR-20   </a:t>
            </a:r>
            <a:r>
              <a:rPr lang="en-US" sz="1200" b="1" dirty="0">
                <a:solidFill>
                  <a:srgbClr val="FFFFFF"/>
                </a:solidFill>
                <a:latin typeface="Segoe UI"/>
                <a:ea typeface="Segoe UI"/>
                <a:cs typeface="Segoe UI"/>
              </a:rPr>
              <a:t>Premium + subtotal ≥ 150: free delivery.</a:t>
            </a:r>
            <a:endParaRPr lang="en-US" sz="1500" dirty="0"/>
          </a:p>
        </p:txBody>
      </p:sp>
      <p:sp>
        <p:nvSpPr>
          <p:cNvPr id="108" name="h3"/>
          <p:cNvSpPr/>
          <p:nvPr/>
        </p:nvSpPr>
        <p:spPr>
          <a:xfrm>
            <a:off x="7132320" y="4507992"/>
            <a:ext cx="4497934" cy="868680"/>
          </a:xfrm>
          <a:prstGeom prst="roundRect">
            <a:avLst>
              <a:gd name="adj" fmla="val 12000"/>
            </a:avLst>
          </a:prstGeom>
          <a:solidFill>
            <a:srgbClr val="111B2E"/>
          </a:solidFill>
          <a:ln w="12700">
            <a:solidFill>
              <a:srgbClr val="1E3A5F"/>
            </a:solidFill>
            <a:prstDash val="solid"/>
          </a:ln>
        </p:spPr>
        <p:txBody>
          <a:bodyPr wrap="square" lIns="137160" tIns="45720" rIns="91440" bIns="45720" rtlCol="0" anchor="ctr">
            <a:noAutofit/>
          </a:bodyPr>
          <a:lstStyle/>
          <a:p>
            <a:pPr marL="0" indent="0" algn="l">
              <a:spcBef>
                <a:spcPts val="0"/>
              </a:spcBef>
              <a:spcAft>
                <a:spcPts val="0"/>
              </a:spcAft>
              <a:buNone/>
            </a:pPr>
            <a:r>
              <a:rPr lang="en-US" sz="950" b="1" dirty="0">
                <a:solidFill>
                  <a:srgbClr val="34D399"/>
                </a:solidFill>
                <a:latin typeface="Segoe UI"/>
                <a:ea typeface="Segoe UI"/>
                <a:cs typeface="Segoe UI"/>
              </a:rPr>
              <a:t>HINT</a:t>
            </a:r>
            <a:endParaRPr lang="en-US" sz="950" dirty="0"/>
          </a:p>
          <a:p>
            <a:pPr marL="0" indent="0" algn="l">
              <a:spcBef>
                <a:spcPts val="0"/>
              </a:spcBef>
              <a:spcAft>
                <a:spcPts val="0"/>
              </a:spcAft>
              <a:buNone/>
            </a:pPr>
            <a:r>
              <a:rPr lang="en-US" sz="1050" b="0" dirty="0">
                <a:solidFill>
                  <a:srgbClr val="CBD5E1"/>
                </a:solidFill>
                <a:latin typeface="Segoe UI"/>
                <a:ea typeface="Segoe UI"/>
                <a:cs typeface="Segoe UI"/>
              </a:rPr>
              <a:t>SubscribePremium, 3 × Koshary = 180 EGP</a:t>
            </a:r>
            <a:endParaRPr lang="en-US" sz="1050" dirty="0"/>
          </a:p>
        </p:txBody>
      </p:sp>
      <p:sp>
        <p:nvSpPr>
          <p:cNvPr id="109" name="b"/>
          <p:cNvSpPr/>
          <p:nvPr/>
        </p:nvSpPr>
        <p:spPr>
          <a:xfrm>
            <a:off x="543154" y="5486400"/>
            <a:ext cx="11087100" cy="475488"/>
          </a:xfrm>
          <a:prstGeom prst="roundRect">
            <a:avLst>
              <a:gd name="adj" fmla="val 10975"/>
            </a:avLst>
          </a:prstGeom>
          <a:solidFill>
            <a:srgbClr val="0C1628"/>
          </a:solidFill>
          <a:ln w="12700">
            <a:solidFill>
              <a:srgbClr val="60A5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300" b="0" dirty="0">
                <a:solidFill>
                  <a:srgbClr val="FFFFFF"/>
                </a:solidFill>
                <a:latin typeface="Segoe UI"/>
                <a:ea typeface="Segoe UI"/>
                <a:cs typeface="Segoe UI"/>
              </a:rPr>
              <a:t>Name each test Method_Scenario_Expected, and check the RuleId, not just "it threw".</a:t>
            </a:r>
            <a:endParaRPr lang="en-US" sz="1300" dirty="0"/>
          </a:p>
        </p:txBody>
      </p:sp>
    </p:spTree>
    <p:extLst>
      <p:ext uri="{BB962C8B-B14F-4D97-AF65-F5344CB8AC3E}">
        <p14:creationId xmlns:p14="http://schemas.microsoft.com/office/powerpoint/2010/main" val="51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200"/>
                                        <p:tgtEl>
                                          <p:spTgt spid="101"/>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200"/>
                                        <p:tgtEl>
                                          <p:spTgt spid="103"/>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05"/>
                                        </p:tgtEl>
                                        <p:attrNameLst>
                                          <p:attrName>style.visibility</p:attrName>
                                        </p:attrNameLst>
                                      </p:cBhvr>
                                      <p:to>
                                        <p:strVal val="visible"/>
                                      </p:to>
                                    </p:set>
                                    <p:animEffect transition="in" filter="fade">
                                      <p:cBhvr>
                                        <p:cTn id="15" dur="200"/>
                                        <p:tgtEl>
                                          <p:spTgt spid="105"/>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07"/>
                                        </p:tgtEl>
                                        <p:attrNameLst>
                                          <p:attrName>style.visibility</p:attrName>
                                        </p:attrNameLst>
                                      </p:cBhvr>
                                      <p:to>
                                        <p:strVal val="visible"/>
                                      </p:to>
                                    </p:set>
                                    <p:animEffect transition="in" filter="fade">
                                      <p:cBhvr>
                                        <p:cTn id="19" dur="200"/>
                                        <p:tgtEl>
                                          <p:spTgt spid="10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2"/>
                                        </p:tgtEl>
                                        <p:attrNameLst>
                                          <p:attrName>style.visibility</p:attrName>
                                        </p:attrNameLst>
                                      </p:cBhvr>
                                      <p:to>
                                        <p:strVal val="visible"/>
                                      </p:to>
                                    </p:set>
                                    <p:animEffect transition="in" filter="fade">
                                      <p:cBhvr>
                                        <p:cTn id="24" dur="400"/>
                                        <p:tgtEl>
                                          <p:spTgt spid="10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4"/>
                                        </p:tgtEl>
                                        <p:attrNameLst>
                                          <p:attrName>style.visibility</p:attrName>
                                        </p:attrNameLst>
                                      </p:cBhvr>
                                      <p:to>
                                        <p:strVal val="visible"/>
                                      </p:to>
                                    </p:set>
                                    <p:animEffect transition="in" filter="fade">
                                      <p:cBhvr>
                                        <p:cTn id="29" dur="400"/>
                                        <p:tgtEl>
                                          <p:spTgt spid="10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6"/>
                                        </p:tgtEl>
                                        <p:attrNameLst>
                                          <p:attrName>style.visibility</p:attrName>
                                        </p:attrNameLst>
                                      </p:cBhvr>
                                      <p:to>
                                        <p:strVal val="visible"/>
                                      </p:to>
                                    </p:set>
                                    <p:animEffect transition="in" filter="fade">
                                      <p:cBhvr>
                                        <p:cTn id="34" dur="400"/>
                                        <p:tgtEl>
                                          <p:spTgt spid="10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8"/>
                                        </p:tgtEl>
                                        <p:attrNameLst>
                                          <p:attrName>style.visibility</p:attrName>
                                        </p:attrNameLst>
                                      </p:cBhvr>
                                      <p:to>
                                        <p:strVal val="visible"/>
                                      </p:to>
                                    </p:set>
                                    <p:animEffect transition="in" filter="fade">
                                      <p:cBhvr>
                                        <p:cTn id="39" dur="400"/>
                                        <p:tgtEl>
                                          <p:spTgt spid="10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09"/>
                                        </p:tgtEl>
                                        <p:attrNameLst>
                                          <p:attrName>style.visibility</p:attrName>
                                        </p:attrNameLst>
                                      </p:cBhvr>
                                      <p:to>
                                        <p:strVal val="visible"/>
                                      </p:to>
                                    </p:set>
                                    <p:animEffect transition="in" filter="fade">
                                      <p:cBhvr>
                                        <p:cTn id="44" dur="4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P spid="107" grpId="0" animBg="1"/>
      <p:bldP spid="108" grpId="0" animBg="1"/>
      <p:bldP spid="109"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SOLUTION</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Solutions: Addresses and Cash Limit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149</a:t>
            </a:r>
            <a:endParaRPr lang="en-US" sz="850" dirty="0"/>
          </a:p>
        </p:txBody>
      </p:sp>
      <p:grpSp>
        <p:nvGrpSpPr>
          <p:cNvPr id="120" name="a"/>
          <p:cNvGrpSpPr/>
          <p:nvPr/>
        </p:nvGrpSpPr>
        <p:grpSpPr>
          <a:xfrm>
            <a:off x="543154" y="1572768"/>
            <a:ext cx="5440680" cy="3105420"/>
            <a:chOff x="543154" y="1572768"/>
            <a:chExt cx="5440680" cy="3105420"/>
          </a:xfrm>
        </p:grpSpPr>
        <p:sp>
          <p:nvSpPr>
            <p:cNvPr id="101" name="a_win"/>
            <p:cNvSpPr/>
            <p:nvPr/>
          </p:nvSpPr>
          <p:spPr>
            <a:xfrm>
              <a:off x="543154" y="1572768"/>
              <a:ext cx="5440680" cy="3105420"/>
            </a:xfrm>
            <a:prstGeom prst="roundRect">
              <a:avLst>
                <a:gd name="adj" fmla="val 2207"/>
              </a:avLst>
            </a:prstGeom>
            <a:solidFill>
              <a:srgbClr val="060D18"/>
            </a:solidFill>
            <a:ln w="12700">
              <a:solidFill>
                <a:srgbClr val="1E3A5F"/>
              </a:solidFill>
              <a:prstDash val="solid"/>
            </a:ln>
          </p:spPr>
          <p:txBody>
            <a:bodyPr/>
            <a:lstStyle/>
            <a:p>
              <a:endParaRPr lang="en-US"/>
            </a:p>
          </p:txBody>
        </p:sp>
        <p:sp>
          <p:nvSpPr>
            <p:cNvPr id="102" name="a_bar"/>
            <p:cNvSpPr/>
            <p:nvPr/>
          </p:nvSpPr>
          <p:spPr>
            <a:xfrm>
              <a:off x="54315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a_barfill"/>
            <p:cNvSpPr/>
            <p:nvPr/>
          </p:nvSpPr>
          <p:spPr>
            <a:xfrm>
              <a:off x="54315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04" name="a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a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a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a_tab"/>
            <p:cNvSpPr/>
            <p:nvPr/>
          </p:nvSpPr>
          <p:spPr>
            <a:xfrm>
              <a:off x="1324051" y="162031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ExerciseSolutionsTests.cs</a:t>
              </a:r>
              <a:endParaRPr lang="en-US" sz="950" dirty="0"/>
            </a:p>
          </p:txBody>
        </p:sp>
        <p:sp>
          <p:nvSpPr>
            <p:cNvPr id="108" name="a_L00"/>
            <p:cNvSpPr txBox="1"/>
            <p:nvPr/>
          </p:nvSpPr>
          <p:spPr>
            <a:xfrm>
              <a:off x="77175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09" name="a_L01"/>
            <p:cNvSpPr txBox="1"/>
            <p:nvPr/>
          </p:nvSpPr>
          <p:spPr>
            <a:xfrm>
              <a:off x="77175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AddAddress_FourthAddress_ThrowsBR03()</a:t>
              </a:r>
              <a:endParaRPr lang="en-US" sz="950" dirty="0"/>
            </a:p>
          </p:txBody>
        </p:sp>
        <p:sp>
          <p:nvSpPr>
            <p:cNvPr id="110" name="a_L02"/>
            <p:cNvSpPr txBox="1"/>
            <p:nvPr/>
          </p:nvSpPr>
          <p:spPr>
            <a:xfrm>
              <a:off x="77175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1" name="a_L03"/>
            <p:cNvSpPr txBox="1"/>
            <p:nvPr/>
          </p:nvSpPr>
          <p:spPr>
            <a:xfrm>
              <a:off x="771754" y="26277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mona = TestData.Mona();</a:t>
              </a:r>
              <a:endParaRPr lang="en-US" sz="950" dirty="0"/>
            </a:p>
          </p:txBody>
        </p:sp>
        <p:sp>
          <p:nvSpPr>
            <p:cNvPr id="112" name="a_L04"/>
            <p:cNvSpPr txBox="1"/>
            <p:nvPr/>
          </p:nvSpPr>
          <p:spPr>
            <a:xfrm>
              <a:off x="771754" y="282082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for</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i = 1; i &lt;= 3; i++)</a:t>
              </a:r>
              <a:endParaRPr lang="en-US" sz="950" dirty="0"/>
            </a:p>
          </p:txBody>
        </p:sp>
        <p:sp>
          <p:nvSpPr>
            <p:cNvPr id="113" name="a_L05"/>
            <p:cNvSpPr txBox="1"/>
            <p:nvPr/>
          </p:nvSpPr>
          <p:spPr>
            <a:xfrm>
              <a:off x="771754" y="301386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mona.AddAddress(Address.Create(</a:t>
              </a:r>
              <a:endParaRPr lang="en-US" sz="950" dirty="0"/>
            </a:p>
          </p:txBody>
        </p:sp>
        <p:sp>
          <p:nvSpPr>
            <p:cNvPr id="114" name="a_L06"/>
            <p:cNvSpPr txBox="1"/>
            <p:nvPr/>
          </p:nvSpPr>
          <p:spPr>
            <a:xfrm>
              <a:off x="771754" y="3206908"/>
              <a:ext cx="5140680"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F0A98B"/>
                  </a:solidFill>
                  <a:latin typeface="Consolas"/>
                  <a:ea typeface="Consolas"/>
                  <a:cs typeface="Consolas"/>
                </a:rPr>
                <a:t>$"Home {i}"</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"26 July St"</a:t>
              </a:r>
              <a:r>
                <a:rPr lang="en-US" sz="950" b="0" dirty="0">
                  <a:solidFill>
                    <a:srgbClr val="E2E8F0"/>
                  </a:solidFill>
                  <a:latin typeface="Consolas"/>
                  <a:ea typeface="Consolas"/>
                  <a:cs typeface="Consolas"/>
                </a:rPr>
                <a:t>, Location.At(1, 1)));</a:t>
              </a:r>
              <a:endParaRPr lang="en-US" sz="950" dirty="0"/>
            </a:p>
          </p:txBody>
        </p:sp>
        <p:sp>
          <p:nvSpPr>
            <p:cNvPr id="115" name="a_L08"/>
            <p:cNvSpPr txBox="1"/>
            <p:nvPr/>
          </p:nvSpPr>
          <p:spPr>
            <a:xfrm>
              <a:off x="771754" y="359298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Should.Throw&lt;DomainException&gt;(</a:t>
              </a:r>
              <a:endParaRPr lang="en-US" sz="950" dirty="0"/>
            </a:p>
          </p:txBody>
        </p:sp>
        <p:sp>
          <p:nvSpPr>
            <p:cNvPr id="116" name="a_L09"/>
            <p:cNvSpPr txBox="1"/>
            <p:nvPr/>
          </p:nvSpPr>
          <p:spPr>
            <a:xfrm>
              <a:off x="771754" y="378602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 =&gt; mona.AddAddress(TestData.Home()))</a:t>
              </a:r>
              <a:endParaRPr lang="en-US" sz="950" dirty="0"/>
            </a:p>
          </p:txBody>
        </p:sp>
        <p:sp>
          <p:nvSpPr>
            <p:cNvPr id="117" name="a_L10"/>
            <p:cNvSpPr txBox="1"/>
            <p:nvPr/>
          </p:nvSpPr>
          <p:spPr>
            <a:xfrm>
              <a:off x="771754" y="397906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  .RuleId.ShouldBe(</a:t>
              </a:r>
              <a:r>
                <a:rPr lang="en-US" sz="950" b="0" dirty="0">
                  <a:solidFill>
                    <a:srgbClr val="F0A98B"/>
                  </a:solidFill>
                  <a:latin typeface="Consolas"/>
                  <a:ea typeface="Consolas"/>
                  <a:cs typeface="Consolas"/>
                </a:rPr>
                <a:t>"BR-03"</a:t>
              </a:r>
              <a:r>
                <a:rPr lang="en-US" sz="950" b="0" dirty="0">
                  <a:solidFill>
                    <a:srgbClr val="E2E8F0"/>
                  </a:solidFill>
                  <a:latin typeface="Consolas"/>
                  <a:ea typeface="Consolas"/>
                  <a:cs typeface="Consolas"/>
                </a:rPr>
                <a:t>);</a:t>
              </a:r>
              <a:endParaRPr lang="en-US" sz="950" dirty="0"/>
            </a:p>
          </p:txBody>
        </p:sp>
        <p:sp>
          <p:nvSpPr>
            <p:cNvPr id="118" name="a_L11"/>
            <p:cNvSpPr txBox="1"/>
            <p:nvPr/>
          </p:nvSpPr>
          <p:spPr>
            <a:xfrm>
              <a:off x="771754" y="41721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mona.Addresses.Count.ShouldBe(3);</a:t>
              </a:r>
              <a:endParaRPr lang="en-US" sz="950" dirty="0"/>
            </a:p>
          </p:txBody>
        </p:sp>
        <p:sp>
          <p:nvSpPr>
            <p:cNvPr id="119" name="a_L12"/>
            <p:cNvSpPr txBox="1"/>
            <p:nvPr/>
          </p:nvSpPr>
          <p:spPr>
            <a:xfrm>
              <a:off x="771754" y="43651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21" name="a_hl8"/>
          <p:cNvSpPr/>
          <p:nvPr/>
        </p:nvSpPr>
        <p:spPr>
          <a:xfrm>
            <a:off x="676656" y="357470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2" name="a_hl9"/>
          <p:cNvSpPr/>
          <p:nvPr/>
        </p:nvSpPr>
        <p:spPr>
          <a:xfrm>
            <a:off x="676656" y="376774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3" name="a_hl10"/>
          <p:cNvSpPr/>
          <p:nvPr/>
        </p:nvSpPr>
        <p:spPr>
          <a:xfrm>
            <a:off x="676656" y="396078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24" name="a_hl11"/>
          <p:cNvSpPr/>
          <p:nvPr/>
        </p:nvSpPr>
        <p:spPr>
          <a:xfrm>
            <a:off x="676656" y="415382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grpSp>
        <p:nvGrpSpPr>
          <p:cNvPr id="144" name="b"/>
          <p:cNvGrpSpPr/>
          <p:nvPr/>
        </p:nvGrpSpPr>
        <p:grpSpPr>
          <a:xfrm>
            <a:off x="6189574" y="1572768"/>
            <a:ext cx="5440680" cy="3105420"/>
            <a:chOff x="6189574" y="1572768"/>
            <a:chExt cx="5440680" cy="3105420"/>
          </a:xfrm>
        </p:grpSpPr>
        <p:sp>
          <p:nvSpPr>
            <p:cNvPr id="125" name="b_win"/>
            <p:cNvSpPr/>
            <p:nvPr/>
          </p:nvSpPr>
          <p:spPr>
            <a:xfrm>
              <a:off x="6189574" y="1572768"/>
              <a:ext cx="5440680" cy="3105420"/>
            </a:xfrm>
            <a:prstGeom prst="roundRect">
              <a:avLst>
                <a:gd name="adj" fmla="val 2207"/>
              </a:avLst>
            </a:prstGeom>
            <a:solidFill>
              <a:srgbClr val="060D18"/>
            </a:solidFill>
            <a:ln w="12700">
              <a:solidFill>
                <a:srgbClr val="1E3A5F"/>
              </a:solidFill>
              <a:prstDash val="solid"/>
            </a:ln>
          </p:spPr>
          <p:txBody>
            <a:bodyPr/>
            <a:lstStyle/>
            <a:p>
              <a:endParaRPr lang="en-US"/>
            </a:p>
          </p:txBody>
        </p:sp>
        <p:sp>
          <p:nvSpPr>
            <p:cNvPr id="126" name="b_bar"/>
            <p:cNvSpPr/>
            <p:nvPr/>
          </p:nvSpPr>
          <p:spPr>
            <a:xfrm>
              <a:off x="6189574" y="1572768"/>
              <a:ext cx="544068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27" name="b_barfill"/>
            <p:cNvSpPr/>
            <p:nvPr/>
          </p:nvSpPr>
          <p:spPr>
            <a:xfrm>
              <a:off x="6189574" y="1744218"/>
              <a:ext cx="5440680" cy="171450"/>
            </a:xfrm>
            <a:prstGeom prst="rect">
              <a:avLst/>
            </a:prstGeom>
            <a:solidFill>
              <a:srgbClr val="0A1220"/>
            </a:solidFill>
            <a:ln w="12700">
              <a:solidFill>
                <a:srgbClr val="0A1220"/>
              </a:solidFill>
              <a:prstDash val="solid"/>
            </a:ln>
          </p:spPr>
          <p:txBody>
            <a:bodyPr/>
            <a:lstStyle/>
            <a:p>
              <a:endParaRPr lang="en-US"/>
            </a:p>
          </p:txBody>
        </p:sp>
        <p:sp>
          <p:nvSpPr>
            <p:cNvPr id="128" name="b_dot0"/>
            <p:cNvSpPr/>
            <p:nvPr/>
          </p:nvSpPr>
          <p:spPr>
            <a:xfrm>
              <a:off x="635142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29" name="b_dot1"/>
            <p:cNvSpPr/>
            <p:nvPr/>
          </p:nvSpPr>
          <p:spPr>
            <a:xfrm>
              <a:off x="653704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30" name="b_dot2"/>
            <p:cNvSpPr/>
            <p:nvPr/>
          </p:nvSpPr>
          <p:spPr>
            <a:xfrm>
              <a:off x="672267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31" name="b_tab"/>
            <p:cNvSpPr/>
            <p:nvPr/>
          </p:nvSpPr>
          <p:spPr>
            <a:xfrm>
              <a:off x="6970471" y="1620317"/>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ExerciseSolutionsTests.cs</a:t>
              </a:r>
              <a:endParaRPr lang="en-US" sz="950" dirty="0"/>
            </a:p>
          </p:txBody>
        </p:sp>
        <p:sp>
          <p:nvSpPr>
            <p:cNvPr id="132" name="b_L00"/>
            <p:cNvSpPr txBox="1"/>
            <p:nvPr/>
          </p:nvSpPr>
          <p:spPr>
            <a:xfrm>
              <a:off x="6418174" y="204866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[Theory]</a:t>
              </a:r>
              <a:endParaRPr lang="en-US" sz="950" dirty="0"/>
            </a:p>
          </p:txBody>
        </p:sp>
        <p:sp>
          <p:nvSpPr>
            <p:cNvPr id="133" name="b_L01"/>
            <p:cNvSpPr txBox="1"/>
            <p:nvPr/>
          </p:nvSpPr>
          <p:spPr>
            <a:xfrm>
              <a:off x="6418174" y="224170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[InlineData(1000, </a:t>
              </a:r>
              <a:r>
                <a:rPr lang="en-US" sz="950" b="0" dirty="0">
                  <a:solidFill>
                    <a:srgbClr val="60A5FA"/>
                  </a:solidFill>
                  <a:latin typeface="Consolas"/>
                  <a:ea typeface="Consolas"/>
                  <a:cs typeface="Consolas"/>
                </a:rPr>
                <a:t>true</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exactly the limit</a:t>
              </a:r>
              <a:endParaRPr lang="en-US" sz="950" dirty="0"/>
            </a:p>
          </p:txBody>
        </p:sp>
        <p:sp>
          <p:nvSpPr>
            <p:cNvPr id="134" name="b_L02"/>
            <p:cNvSpPr txBox="1"/>
            <p:nvPr/>
          </p:nvSpPr>
          <p:spPr>
            <a:xfrm>
              <a:off x="6418174" y="24347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[InlineData(1001, </a:t>
              </a:r>
              <a:r>
                <a:rPr lang="en-US" sz="950" b="0" dirty="0">
                  <a:solidFill>
                    <a:srgbClr val="60A5FA"/>
                  </a:solidFill>
                  <a:latin typeface="Consolas"/>
                  <a:ea typeface="Consolas"/>
                  <a:cs typeface="Consolas"/>
                </a:rPr>
                <a:t>false</a:t>
              </a:r>
              <a:r>
                <a:rPr lang="en-US" sz="950" b="0" dirty="0">
                  <a:solidFill>
                    <a:srgbClr val="E2E8F0"/>
                  </a:solidFill>
                  <a:latin typeface="Consolas"/>
                  <a:ea typeface="Consolas"/>
                  <a:cs typeface="Consolas"/>
                </a:rPr>
                <a:t>)]     </a:t>
              </a:r>
              <a:r>
                <a:rPr lang="en-US" sz="950" b="0" dirty="0">
                  <a:solidFill>
                    <a:srgbClr val="6FAE7A"/>
                  </a:solidFill>
                  <a:latin typeface="Consolas"/>
                  <a:ea typeface="Consolas"/>
                  <a:cs typeface="Consolas"/>
                </a:rPr>
                <a:t>// above: refused</a:t>
              </a:r>
              <a:endParaRPr lang="en-US" sz="950" dirty="0"/>
            </a:p>
          </p:txBody>
        </p:sp>
        <p:sp>
          <p:nvSpPr>
            <p:cNvPr id="135" name="b_L03"/>
            <p:cNvSpPr txBox="1"/>
            <p:nvPr/>
          </p:nvSpPr>
          <p:spPr>
            <a:xfrm>
              <a:off x="6418174" y="262778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CashOnDelivery_Limit_BR22(</a:t>
              </a:r>
              <a:r>
                <a:rPr lang="en-US" sz="950" b="0" dirty="0">
                  <a:solidFill>
                    <a:srgbClr val="60A5FA"/>
                  </a:solidFill>
                  <a:latin typeface="Consolas"/>
                  <a:ea typeface="Consolas"/>
                  <a:cs typeface="Consolas"/>
                </a:rPr>
                <a:t>int</a:t>
              </a:r>
              <a:r>
                <a:rPr lang="en-US" sz="950" b="0" dirty="0">
                  <a:solidFill>
                    <a:srgbClr val="E2E8F0"/>
                  </a:solidFill>
                  <a:latin typeface="Consolas"/>
                  <a:ea typeface="Consolas"/>
                  <a:cs typeface="Consolas"/>
                </a:rPr>
                <a:t> total, </a:t>
              </a:r>
              <a:r>
                <a:rPr lang="en-US" sz="950" b="0" dirty="0">
                  <a:solidFill>
                    <a:srgbClr val="60A5FA"/>
                  </a:solidFill>
                  <a:latin typeface="Consolas"/>
                  <a:ea typeface="Consolas"/>
                  <a:cs typeface="Consolas"/>
                </a:rPr>
                <a:t>bool</a:t>
              </a:r>
              <a:r>
                <a:rPr lang="en-US" sz="950" b="0" dirty="0">
                  <a:solidFill>
                    <a:srgbClr val="E2E8F0"/>
                  </a:solidFill>
                  <a:latin typeface="Consolas"/>
                  <a:ea typeface="Consolas"/>
                  <a:cs typeface="Consolas"/>
                </a:rPr>
                <a:t> allowed)</a:t>
              </a:r>
              <a:endParaRPr lang="en-US" sz="950" dirty="0"/>
            </a:p>
          </p:txBody>
        </p:sp>
        <p:sp>
          <p:nvSpPr>
            <p:cNvPr id="136" name="b_L04"/>
            <p:cNvSpPr txBox="1"/>
            <p:nvPr/>
          </p:nvSpPr>
          <p:spPr>
            <a:xfrm>
              <a:off x="6418174" y="282082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37" name="b_L05"/>
            <p:cNvSpPr txBox="1"/>
            <p:nvPr/>
          </p:nvSpPr>
          <p:spPr>
            <a:xfrm>
              <a:off x="6418174" y="301386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cash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CashOnDelivery();</a:t>
              </a:r>
              <a:endParaRPr lang="en-US" sz="950" dirty="0"/>
            </a:p>
          </p:txBody>
        </p:sp>
        <p:sp>
          <p:nvSpPr>
            <p:cNvPr id="138" name="b_L06"/>
            <p:cNvSpPr txBox="1"/>
            <p:nvPr/>
          </p:nvSpPr>
          <p:spPr>
            <a:xfrm>
              <a:off x="6418174" y="320690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Action check = () =&gt;</a:t>
              </a:r>
              <a:endParaRPr lang="en-US" sz="950" dirty="0"/>
            </a:p>
          </p:txBody>
        </p:sp>
        <p:sp>
          <p:nvSpPr>
            <p:cNvPr id="139" name="b_L07"/>
            <p:cNvSpPr txBox="1"/>
            <p:nvPr/>
          </p:nvSpPr>
          <p:spPr>
            <a:xfrm>
              <a:off x="6418174" y="3399948"/>
              <a:ext cx="514068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cash.EnsureCanPay(TestData.Mona(), total);</a:t>
              </a:r>
              <a:endParaRPr lang="en-US" sz="950" dirty="0"/>
            </a:p>
          </p:txBody>
        </p:sp>
        <p:sp>
          <p:nvSpPr>
            <p:cNvPr id="140" name="b_L09"/>
            <p:cNvSpPr txBox="1"/>
            <p:nvPr/>
          </p:nvSpPr>
          <p:spPr>
            <a:xfrm>
              <a:off x="6418174" y="378602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if</a:t>
              </a:r>
              <a:r>
                <a:rPr lang="en-US" sz="950" b="0" dirty="0">
                  <a:solidFill>
                    <a:srgbClr val="E2E8F0"/>
                  </a:solidFill>
                  <a:latin typeface="Consolas"/>
                  <a:ea typeface="Consolas"/>
                  <a:cs typeface="Consolas"/>
                </a:rPr>
                <a:t> (allowed) check.ShouldNotThrow();</a:t>
              </a:r>
              <a:endParaRPr lang="en-US" sz="950" dirty="0"/>
            </a:p>
          </p:txBody>
        </p:sp>
        <p:sp>
          <p:nvSpPr>
            <p:cNvPr id="141" name="b_L10"/>
            <p:cNvSpPr txBox="1"/>
            <p:nvPr/>
          </p:nvSpPr>
          <p:spPr>
            <a:xfrm>
              <a:off x="6418174" y="3979068"/>
              <a:ext cx="514068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else</a:t>
              </a:r>
              <a:r>
                <a:rPr lang="en-US" sz="950" b="0" dirty="0">
                  <a:solidFill>
                    <a:srgbClr val="E2E8F0"/>
                  </a:solidFill>
                  <a:latin typeface="Consolas"/>
                  <a:ea typeface="Consolas"/>
                  <a:cs typeface="Consolas"/>
                </a:rPr>
                <a:t> Should.Throw&lt;DomainException&gt;(check)</a:t>
              </a:r>
              <a:endParaRPr lang="en-US" sz="950" dirty="0"/>
            </a:p>
          </p:txBody>
        </p:sp>
        <p:sp>
          <p:nvSpPr>
            <p:cNvPr id="142" name="b_L11"/>
            <p:cNvSpPr txBox="1"/>
            <p:nvPr/>
          </p:nvSpPr>
          <p:spPr>
            <a:xfrm>
              <a:off x="6418174" y="4172108"/>
              <a:ext cx="5140680" cy="193040"/>
            </a:xfrm>
            <a:prstGeom prst="rect">
              <a:avLst/>
            </a:prstGeom>
            <a:noFill/>
            <a:ln>
              <a:noFill/>
            </a:ln>
          </p:spPr>
          <p:txBody>
            <a:bodyPr wrap="none" lIns="0" tIns="0" rIns="0" bIns="0" rtlCol="0" anchor="ctr">
              <a:noAutofit/>
            </a:bodyPr>
            <a:lstStyle/>
            <a:p>
              <a:pPr marL="796290" indent="0" algn="l">
                <a:spcBef>
                  <a:spcPts val="0"/>
                </a:spcBef>
                <a:spcAft>
                  <a:spcPts val="0"/>
                </a:spcAft>
                <a:buNone/>
              </a:pPr>
              <a:r>
                <a:rPr lang="en-US" sz="950" b="0" dirty="0">
                  <a:solidFill>
                    <a:srgbClr val="E2E8F0"/>
                  </a:solidFill>
                  <a:latin typeface="Consolas"/>
                  <a:ea typeface="Consolas"/>
                  <a:cs typeface="Consolas"/>
                </a:rPr>
                <a:t>  .RuleId.ShouldBe(</a:t>
              </a:r>
              <a:r>
                <a:rPr lang="en-US" sz="950" b="0" dirty="0">
                  <a:solidFill>
                    <a:srgbClr val="F0A98B"/>
                  </a:solidFill>
                  <a:latin typeface="Consolas"/>
                  <a:ea typeface="Consolas"/>
                  <a:cs typeface="Consolas"/>
                </a:rPr>
                <a:t>"BR-22"</a:t>
              </a:r>
              <a:r>
                <a:rPr lang="en-US" sz="950" b="0" dirty="0">
                  <a:solidFill>
                    <a:srgbClr val="E2E8F0"/>
                  </a:solidFill>
                  <a:latin typeface="Consolas"/>
                  <a:ea typeface="Consolas"/>
                  <a:cs typeface="Consolas"/>
                </a:rPr>
                <a:t>);</a:t>
              </a:r>
              <a:endParaRPr lang="en-US" sz="950" dirty="0"/>
            </a:p>
          </p:txBody>
        </p:sp>
        <p:sp>
          <p:nvSpPr>
            <p:cNvPr id="143" name="b_L12"/>
            <p:cNvSpPr txBox="1"/>
            <p:nvPr/>
          </p:nvSpPr>
          <p:spPr>
            <a:xfrm>
              <a:off x="6418174" y="4365148"/>
              <a:ext cx="514068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45" name="b_hl1"/>
          <p:cNvSpPr/>
          <p:nvPr/>
        </p:nvSpPr>
        <p:spPr>
          <a:xfrm>
            <a:off x="6323076" y="2223420"/>
            <a:ext cx="5173680" cy="229616"/>
          </a:xfrm>
          <a:prstGeom prst="rect">
            <a:avLst/>
          </a:prstGeom>
          <a:solidFill>
            <a:srgbClr val="34D399">
              <a:alpha val="15000"/>
            </a:srgbClr>
          </a:solidFill>
          <a:ln w="12700">
            <a:solidFill>
              <a:srgbClr val="34D399"/>
            </a:solidFill>
            <a:prstDash val="solid"/>
          </a:ln>
        </p:spPr>
        <p:txBody>
          <a:bodyPr/>
          <a:lstStyle/>
          <a:p>
            <a:endParaRPr lang="en-US"/>
          </a:p>
        </p:txBody>
      </p:sp>
      <p:sp>
        <p:nvSpPr>
          <p:cNvPr id="146" name="b_hl2"/>
          <p:cNvSpPr/>
          <p:nvPr/>
        </p:nvSpPr>
        <p:spPr>
          <a:xfrm>
            <a:off x="6323076" y="2416460"/>
            <a:ext cx="5173680"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47" name="k"/>
          <p:cNvSpPr/>
          <p:nvPr/>
        </p:nvSpPr>
        <p:spPr>
          <a:xfrm>
            <a:off x="543154" y="4709160"/>
            <a:ext cx="11087100" cy="91440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CHECK THE STATE AFTER A REFUSAL</a:t>
            </a:r>
            <a:endParaRPr lang="en-US" sz="1100" dirty="0"/>
          </a:p>
          <a:p>
            <a:pPr marL="0" indent="0" algn="l">
              <a:spcBef>
                <a:spcPts val="0"/>
              </a:spcBef>
              <a:spcAft>
                <a:spcPts val="0"/>
              </a:spcAft>
              <a:buNone/>
            </a:pPr>
            <a:r>
              <a:rPr lang="en-US" sz="1200" b="0" dirty="0">
                <a:solidFill>
                  <a:srgbClr val="CBD5E1"/>
                </a:solidFill>
                <a:latin typeface="Segoe UI"/>
                <a:ea typeface="Segoe UI"/>
                <a:cs typeface="Segoe UI"/>
              </a:rPr>
              <a:t>A rule that throws but still changed the data is a bug: assert both the exception and the unchanged state.</a:t>
            </a:r>
            <a:endParaRPr lang="en-US" sz="1200" dirty="0"/>
          </a:p>
        </p:txBody>
      </p:sp>
    </p:spTree>
    <p:extLst>
      <p:ext uri="{BB962C8B-B14F-4D97-AF65-F5344CB8AC3E}">
        <p14:creationId xmlns:p14="http://schemas.microsoft.com/office/powerpoint/2010/main" val="513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400"/>
                                        <p:tgtEl>
                                          <p:spTgt spid="1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1"/>
                                        </p:tgtEl>
                                        <p:attrNameLst>
                                          <p:attrName>style.visibility</p:attrName>
                                        </p:attrNameLst>
                                      </p:cBhvr>
                                      <p:to>
                                        <p:strVal val="visible"/>
                                      </p:to>
                                    </p:set>
                                    <p:animEffect transition="in" filter="fade">
                                      <p:cBhvr>
                                        <p:cTn id="10" dur="400"/>
                                        <p:tgtEl>
                                          <p:spTgt spid="1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2"/>
                                        </p:tgtEl>
                                        <p:attrNameLst>
                                          <p:attrName>style.visibility</p:attrName>
                                        </p:attrNameLst>
                                      </p:cBhvr>
                                      <p:to>
                                        <p:strVal val="visible"/>
                                      </p:to>
                                    </p:set>
                                    <p:animEffect transition="in" filter="fade">
                                      <p:cBhvr>
                                        <p:cTn id="13" dur="400"/>
                                        <p:tgtEl>
                                          <p:spTgt spid="1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3"/>
                                        </p:tgtEl>
                                        <p:attrNameLst>
                                          <p:attrName>style.visibility</p:attrName>
                                        </p:attrNameLst>
                                      </p:cBhvr>
                                      <p:to>
                                        <p:strVal val="visible"/>
                                      </p:to>
                                    </p:set>
                                    <p:animEffect transition="in" filter="fade">
                                      <p:cBhvr>
                                        <p:cTn id="16" dur="400"/>
                                        <p:tgtEl>
                                          <p:spTgt spid="1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4"/>
                                        </p:tgtEl>
                                        <p:attrNameLst>
                                          <p:attrName>style.visibility</p:attrName>
                                        </p:attrNameLst>
                                      </p:cBhvr>
                                      <p:to>
                                        <p:strVal val="visible"/>
                                      </p:to>
                                    </p:set>
                                    <p:animEffect transition="in" filter="fade">
                                      <p:cBhvr>
                                        <p:cTn id="19" dur="400"/>
                                        <p:tgtEl>
                                          <p:spTgt spid="1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4"/>
                                        </p:tgtEl>
                                        <p:attrNameLst>
                                          <p:attrName>style.visibility</p:attrName>
                                        </p:attrNameLst>
                                      </p:cBhvr>
                                      <p:to>
                                        <p:strVal val="visible"/>
                                      </p:to>
                                    </p:set>
                                    <p:animEffect transition="in" filter="fade">
                                      <p:cBhvr>
                                        <p:cTn id="24" dur="400"/>
                                        <p:tgtEl>
                                          <p:spTgt spid="14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5"/>
                                        </p:tgtEl>
                                        <p:attrNameLst>
                                          <p:attrName>style.visibility</p:attrName>
                                        </p:attrNameLst>
                                      </p:cBhvr>
                                      <p:to>
                                        <p:strVal val="visible"/>
                                      </p:to>
                                    </p:set>
                                    <p:animEffect transition="in" filter="fade">
                                      <p:cBhvr>
                                        <p:cTn id="27" dur="400"/>
                                        <p:tgtEl>
                                          <p:spTgt spid="14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6"/>
                                        </p:tgtEl>
                                        <p:attrNameLst>
                                          <p:attrName>style.visibility</p:attrName>
                                        </p:attrNameLst>
                                      </p:cBhvr>
                                      <p:to>
                                        <p:strVal val="visible"/>
                                      </p:to>
                                    </p:set>
                                    <p:animEffect transition="in" filter="fade">
                                      <p:cBhvr>
                                        <p:cTn id="30" dur="400"/>
                                        <p:tgtEl>
                                          <p:spTgt spid="14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7"/>
                                        </p:tgtEl>
                                        <p:attrNameLst>
                                          <p:attrName>style.visibility</p:attrName>
                                        </p:attrNameLst>
                                      </p:cBhvr>
                                      <p:to>
                                        <p:strVal val="visible"/>
                                      </p:to>
                                    </p:set>
                                    <p:animEffect transition="in" filter="fade">
                                      <p:cBhvr>
                                        <p:cTn id="35" dur="4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2" grpId="0" animBg="1"/>
      <p:bldP spid="123" grpId="0" animBg="1"/>
      <p:bldP spid="124" grpId="0" animBg="1"/>
      <p:bldP spid="145" grpId="0" animBg="1"/>
      <p:bldP spid="146" grpId="0" animBg="1"/>
      <p:bldP spid="147"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896000" cy="285750"/>
          </a:xfrm>
          <a:prstGeom prst="roundRect">
            <a:avLst>
              <a:gd name="adj" fmla="val 23333"/>
            </a:avLst>
          </a:prstGeom>
          <a:solidFill>
            <a:srgbClr val="60A5FA">
              <a:alpha val="18000"/>
            </a:srgbClr>
          </a:solidFill>
          <a:ln w="12700">
            <a:solidFill>
              <a:srgbClr val="60A5FA"/>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60A5FA"/>
                </a:solidFill>
                <a:latin typeface="Segoe UI"/>
                <a:ea typeface="Segoe UI"/>
                <a:cs typeface="Segoe UI"/>
              </a:rPr>
              <a:t>COVERAGE</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Code Coverage: What It Proves, and What It Does Not</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LAB: TESTING SWIFTBITE</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150</a:t>
            </a:r>
            <a:endParaRPr lang="en-US" sz="850" dirty="0"/>
          </a:p>
        </p:txBody>
      </p:sp>
      <p:grpSp>
        <p:nvGrpSpPr>
          <p:cNvPr id="113" name="cmd"/>
          <p:cNvGrpSpPr/>
          <p:nvPr/>
        </p:nvGrpSpPr>
        <p:grpSpPr>
          <a:xfrm>
            <a:off x="543154" y="1572768"/>
            <a:ext cx="6035040" cy="1947180"/>
            <a:chOff x="543154" y="1572768"/>
            <a:chExt cx="6035040" cy="1947180"/>
          </a:xfrm>
        </p:grpSpPr>
        <p:sp>
          <p:nvSpPr>
            <p:cNvPr id="101" name="cmd_win"/>
            <p:cNvSpPr/>
            <p:nvPr/>
          </p:nvSpPr>
          <p:spPr>
            <a:xfrm>
              <a:off x="543154" y="1572768"/>
              <a:ext cx="6035040" cy="1947180"/>
            </a:xfrm>
            <a:prstGeom prst="roundRect">
              <a:avLst>
                <a:gd name="adj" fmla="val 3520"/>
              </a:avLst>
            </a:prstGeom>
            <a:solidFill>
              <a:srgbClr val="060D18"/>
            </a:solidFill>
            <a:ln w="12700">
              <a:solidFill>
                <a:srgbClr val="1E3A5F"/>
              </a:solidFill>
              <a:prstDash val="solid"/>
            </a:ln>
          </p:spPr>
          <p:txBody>
            <a:bodyPr/>
            <a:lstStyle/>
            <a:p>
              <a:endParaRPr lang="en-US"/>
            </a:p>
          </p:txBody>
        </p:sp>
        <p:sp>
          <p:nvSpPr>
            <p:cNvPr id="102" name="cmd_bar"/>
            <p:cNvSpPr/>
            <p:nvPr/>
          </p:nvSpPr>
          <p:spPr>
            <a:xfrm>
              <a:off x="543154" y="1572768"/>
              <a:ext cx="603504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cmd_barfill"/>
            <p:cNvSpPr/>
            <p:nvPr/>
          </p:nvSpPr>
          <p:spPr>
            <a:xfrm>
              <a:off x="543154" y="1744218"/>
              <a:ext cx="6035040" cy="171450"/>
            </a:xfrm>
            <a:prstGeom prst="rect">
              <a:avLst/>
            </a:prstGeom>
            <a:solidFill>
              <a:srgbClr val="0A1220"/>
            </a:solidFill>
            <a:ln w="12700">
              <a:solidFill>
                <a:srgbClr val="0A1220"/>
              </a:solidFill>
              <a:prstDash val="solid"/>
            </a:ln>
          </p:spPr>
          <p:txBody>
            <a:bodyPr/>
            <a:lstStyle/>
            <a:p>
              <a:endParaRPr lang="en-US"/>
            </a:p>
          </p:txBody>
        </p:sp>
        <p:sp>
          <p:nvSpPr>
            <p:cNvPr id="104" name="cmd_dot0"/>
            <p:cNvSpPr/>
            <p:nvPr/>
          </p:nvSpPr>
          <p:spPr>
            <a:xfrm>
              <a:off x="705002"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cmd_dot1"/>
            <p:cNvSpPr/>
            <p:nvPr/>
          </p:nvSpPr>
          <p:spPr>
            <a:xfrm>
              <a:off x="890626"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cmd_dot2"/>
            <p:cNvSpPr/>
            <p:nvPr/>
          </p:nvSpPr>
          <p:spPr>
            <a:xfrm>
              <a:off x="1076250"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cmd_tab"/>
            <p:cNvSpPr/>
            <p:nvPr/>
          </p:nvSpPr>
          <p:spPr>
            <a:xfrm>
              <a:off x="1324051" y="1620317"/>
              <a:ext cx="1325880"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Terminal</a:t>
              </a:r>
              <a:endParaRPr lang="en-US" sz="950" dirty="0"/>
            </a:p>
          </p:txBody>
        </p:sp>
        <p:sp>
          <p:nvSpPr>
            <p:cNvPr id="108" name="cmd_L00"/>
            <p:cNvSpPr txBox="1"/>
            <p:nvPr/>
          </p:nvSpPr>
          <p:spPr>
            <a:xfrm>
              <a:off x="771754" y="2048668"/>
              <a:ext cx="57350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dotnet test --collect:"XPlat Code Coverage"</a:t>
              </a:r>
              <a:endParaRPr lang="en-US" sz="900" dirty="0"/>
            </a:p>
          </p:txBody>
        </p:sp>
        <p:sp>
          <p:nvSpPr>
            <p:cNvPr id="109" name="cmd_L02"/>
            <p:cNvSpPr txBox="1"/>
            <p:nvPr/>
          </p:nvSpPr>
          <p:spPr>
            <a:xfrm>
              <a:off x="771754" y="2434748"/>
              <a:ext cx="57350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dotnet tool install -g dotnet-reportgenerator-globaltool</a:t>
              </a:r>
              <a:endParaRPr lang="en-US" sz="900" dirty="0"/>
            </a:p>
          </p:txBody>
        </p:sp>
        <p:sp>
          <p:nvSpPr>
            <p:cNvPr id="110" name="cmd_L03"/>
            <p:cNvSpPr txBox="1"/>
            <p:nvPr/>
          </p:nvSpPr>
          <p:spPr>
            <a:xfrm>
              <a:off x="771754" y="2627788"/>
              <a:ext cx="57350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E2E8F0"/>
                  </a:solidFill>
                  <a:latin typeface="Consolas"/>
                  <a:ea typeface="Consolas"/>
                  <a:cs typeface="Consolas"/>
                </a:rPr>
                <a:t>reportgenerator -reports:"**/coverage.cobertura.xml"</a:t>
              </a:r>
              <a:endParaRPr lang="en-US" sz="900" dirty="0"/>
            </a:p>
          </p:txBody>
        </p:sp>
        <p:sp>
          <p:nvSpPr>
            <p:cNvPr id="111" name="cmd_L04"/>
            <p:cNvSpPr txBox="1"/>
            <p:nvPr/>
          </p:nvSpPr>
          <p:spPr>
            <a:xfrm>
              <a:off x="771754" y="2820828"/>
              <a:ext cx="5735040" cy="193040"/>
            </a:xfrm>
            <a:prstGeom prst="rect">
              <a:avLst/>
            </a:prstGeom>
            <a:noFill/>
            <a:ln>
              <a:noFill/>
            </a:ln>
          </p:spPr>
          <p:txBody>
            <a:bodyPr wrap="none" lIns="0" tIns="0" rIns="0" bIns="0" rtlCol="0" anchor="ctr">
              <a:noAutofit/>
            </a:bodyPr>
            <a:lstStyle/>
            <a:p>
              <a:pPr marL="1061720" indent="0" algn="l">
                <a:spcBef>
                  <a:spcPts val="0"/>
                </a:spcBef>
                <a:spcAft>
                  <a:spcPts val="0"/>
                </a:spcAft>
                <a:buNone/>
              </a:pPr>
              <a:r>
                <a:rPr lang="en-US" sz="900" b="0" dirty="0">
                  <a:solidFill>
                    <a:srgbClr val="E2E8F0"/>
                  </a:solidFill>
                  <a:latin typeface="Consolas"/>
                  <a:ea typeface="Consolas"/>
                  <a:cs typeface="Consolas"/>
                </a:rPr>
                <a:t>-targetdir:coverage-report</a:t>
              </a:r>
              <a:endParaRPr lang="en-US" sz="900" dirty="0"/>
            </a:p>
          </p:txBody>
        </p:sp>
        <p:sp>
          <p:nvSpPr>
            <p:cNvPr id="112" name="cmd_L06"/>
            <p:cNvSpPr txBox="1"/>
            <p:nvPr/>
          </p:nvSpPr>
          <p:spPr>
            <a:xfrm>
              <a:off x="771754" y="3206908"/>
              <a:ext cx="573504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00" b="0" dirty="0">
                  <a:solidFill>
                    <a:srgbClr val="6FAE7A"/>
                  </a:solidFill>
                  <a:latin typeface="Consolas"/>
                  <a:ea typeface="Consolas"/>
                  <a:cs typeface="Consolas"/>
                </a:rPr>
                <a:t># open coverage-report/index.html</a:t>
              </a:r>
              <a:endParaRPr lang="en-US" sz="900" dirty="0"/>
            </a:p>
          </p:txBody>
        </p:sp>
      </p:grpSp>
      <p:grpSp>
        <p:nvGrpSpPr>
          <p:cNvPr id="130" name="bad"/>
          <p:cNvGrpSpPr/>
          <p:nvPr/>
        </p:nvGrpSpPr>
        <p:grpSpPr>
          <a:xfrm>
            <a:off x="6766560" y="1572768"/>
            <a:ext cx="4863694" cy="2140220"/>
            <a:chOff x="6766560" y="1572768"/>
            <a:chExt cx="4863694" cy="2140220"/>
          </a:xfrm>
        </p:grpSpPr>
        <p:sp>
          <p:nvSpPr>
            <p:cNvPr id="114" name="bad_win"/>
            <p:cNvSpPr/>
            <p:nvPr/>
          </p:nvSpPr>
          <p:spPr>
            <a:xfrm>
              <a:off x="6766560" y="1572768"/>
              <a:ext cx="4863694" cy="2140220"/>
            </a:xfrm>
            <a:prstGeom prst="roundRect">
              <a:avLst>
                <a:gd name="adj" fmla="val 3203"/>
              </a:avLst>
            </a:prstGeom>
            <a:solidFill>
              <a:srgbClr val="060D18"/>
            </a:solidFill>
            <a:ln w="12700">
              <a:solidFill>
                <a:srgbClr val="1E3A5F"/>
              </a:solidFill>
              <a:prstDash val="solid"/>
            </a:ln>
          </p:spPr>
          <p:txBody>
            <a:bodyPr/>
            <a:lstStyle/>
            <a:p>
              <a:endParaRPr lang="en-US"/>
            </a:p>
          </p:txBody>
        </p:sp>
        <p:sp>
          <p:nvSpPr>
            <p:cNvPr id="115" name="bad_bar"/>
            <p:cNvSpPr/>
            <p:nvPr/>
          </p:nvSpPr>
          <p:spPr>
            <a:xfrm>
              <a:off x="6766560" y="1572768"/>
              <a:ext cx="4863694"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16" name="bad_barfill"/>
            <p:cNvSpPr/>
            <p:nvPr/>
          </p:nvSpPr>
          <p:spPr>
            <a:xfrm>
              <a:off x="6766560" y="1744218"/>
              <a:ext cx="4863694" cy="171450"/>
            </a:xfrm>
            <a:prstGeom prst="rect">
              <a:avLst/>
            </a:prstGeom>
            <a:solidFill>
              <a:srgbClr val="0A1220"/>
            </a:solidFill>
            <a:ln w="12700">
              <a:solidFill>
                <a:srgbClr val="0A1220"/>
              </a:solidFill>
              <a:prstDash val="solid"/>
            </a:ln>
          </p:spPr>
          <p:txBody>
            <a:bodyPr/>
            <a:lstStyle/>
            <a:p>
              <a:endParaRPr lang="en-US"/>
            </a:p>
          </p:txBody>
        </p:sp>
        <p:sp>
          <p:nvSpPr>
            <p:cNvPr id="117" name="bad_dot0"/>
            <p:cNvSpPr/>
            <p:nvPr/>
          </p:nvSpPr>
          <p:spPr>
            <a:xfrm>
              <a:off x="6928408" y="1696578"/>
              <a:ext cx="95098" cy="95098"/>
            </a:xfrm>
            <a:prstGeom prst="ellipse">
              <a:avLst/>
            </a:prstGeom>
            <a:solidFill>
              <a:srgbClr val="F87171"/>
            </a:solidFill>
            <a:ln w="12700">
              <a:solidFill>
                <a:srgbClr val="F87171"/>
              </a:solidFill>
              <a:prstDash val="solid"/>
            </a:ln>
          </p:spPr>
          <p:txBody>
            <a:bodyPr/>
            <a:lstStyle/>
            <a:p>
              <a:endParaRPr lang="en-US"/>
            </a:p>
          </p:txBody>
        </p:sp>
        <p:sp>
          <p:nvSpPr>
            <p:cNvPr id="118" name="bad_dot1"/>
            <p:cNvSpPr/>
            <p:nvPr/>
          </p:nvSpPr>
          <p:spPr>
            <a:xfrm>
              <a:off x="7114032" y="1696578"/>
              <a:ext cx="95098" cy="95098"/>
            </a:xfrm>
            <a:prstGeom prst="ellipse">
              <a:avLst/>
            </a:prstGeom>
            <a:solidFill>
              <a:srgbClr val="FBBF24"/>
            </a:solidFill>
            <a:ln w="12700">
              <a:solidFill>
                <a:srgbClr val="FBBF24"/>
              </a:solidFill>
              <a:prstDash val="solid"/>
            </a:ln>
          </p:spPr>
          <p:txBody>
            <a:bodyPr/>
            <a:lstStyle/>
            <a:p>
              <a:endParaRPr lang="en-US"/>
            </a:p>
          </p:txBody>
        </p:sp>
        <p:sp>
          <p:nvSpPr>
            <p:cNvPr id="119" name="bad_dot2"/>
            <p:cNvSpPr/>
            <p:nvPr/>
          </p:nvSpPr>
          <p:spPr>
            <a:xfrm>
              <a:off x="7299656" y="1696578"/>
              <a:ext cx="95098" cy="95098"/>
            </a:xfrm>
            <a:prstGeom prst="ellipse">
              <a:avLst/>
            </a:prstGeom>
            <a:solidFill>
              <a:srgbClr val="34D399"/>
            </a:solidFill>
            <a:ln w="12700">
              <a:solidFill>
                <a:srgbClr val="34D399"/>
              </a:solidFill>
              <a:prstDash val="solid"/>
            </a:ln>
          </p:spPr>
          <p:txBody>
            <a:bodyPr/>
            <a:lstStyle/>
            <a:p>
              <a:endParaRPr lang="en-US"/>
            </a:p>
          </p:txBody>
        </p:sp>
        <p:sp>
          <p:nvSpPr>
            <p:cNvPr id="120" name="bad_tab"/>
            <p:cNvSpPr/>
            <p:nvPr/>
          </p:nvSpPr>
          <p:spPr>
            <a:xfrm>
              <a:off x="7547457" y="1620317"/>
              <a:ext cx="1692456"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OrderServiceTests.cs</a:t>
              </a:r>
              <a:endParaRPr lang="en-US" sz="950" dirty="0"/>
            </a:p>
          </p:txBody>
        </p:sp>
        <p:sp>
          <p:nvSpPr>
            <p:cNvPr id="121" name="bad_lbl"/>
            <p:cNvSpPr/>
            <p:nvPr/>
          </p:nvSpPr>
          <p:spPr>
            <a:xfrm>
              <a:off x="10304374" y="1636776"/>
              <a:ext cx="1188720" cy="237744"/>
            </a:xfrm>
            <a:prstGeom prst="roundRect">
              <a:avLst>
                <a:gd name="adj" fmla="val 30000"/>
              </a:avLst>
            </a:prstGeom>
            <a:solidFill>
              <a:srgbClr val="F87171">
                <a:alpha val="18000"/>
              </a:srgbClr>
            </a:solidFill>
            <a:ln w="12700">
              <a:solidFill>
                <a:srgbClr val="F87171"/>
              </a:solidFill>
              <a:prstDash val="solid"/>
            </a:ln>
          </p:spPr>
          <p:txBody>
            <a:bodyPr wrap="square" lIns="0" tIns="0" rIns="0" bIns="0" rtlCol="0" anchor="ctr">
              <a:noAutofit/>
            </a:bodyPr>
            <a:lstStyle/>
            <a:p>
              <a:pPr marL="0" indent="0" algn="ctr">
                <a:spcBef>
                  <a:spcPts val="0"/>
                </a:spcBef>
                <a:spcAft>
                  <a:spcPts val="0"/>
                </a:spcAft>
                <a:buNone/>
              </a:pPr>
              <a:r>
                <a:rPr lang="en-US" sz="900" b="1" dirty="0">
                  <a:solidFill>
                    <a:srgbClr val="F87171"/>
                  </a:solidFill>
                  <a:latin typeface="Segoe UI"/>
                  <a:ea typeface="Segoe UI"/>
                  <a:cs typeface="Segoe UI"/>
                </a:rPr>
                <a:t>✗  DON'T</a:t>
              </a:r>
              <a:endParaRPr lang="en-US" sz="900" dirty="0"/>
            </a:p>
          </p:txBody>
        </p:sp>
        <p:sp>
          <p:nvSpPr>
            <p:cNvPr id="122" name="bad_L00"/>
            <p:cNvSpPr txBox="1"/>
            <p:nvPr/>
          </p:nvSpPr>
          <p:spPr>
            <a:xfrm>
              <a:off x="6995160" y="2048668"/>
              <a:ext cx="456369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23" name="bad_L01"/>
            <p:cNvSpPr txBox="1"/>
            <p:nvPr/>
          </p:nvSpPr>
          <p:spPr>
            <a:xfrm>
              <a:off x="6995160" y="2241708"/>
              <a:ext cx="456369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Place_Works()</a:t>
              </a:r>
              <a:endParaRPr lang="en-US" sz="950" dirty="0"/>
            </a:p>
          </p:txBody>
        </p:sp>
        <p:sp>
          <p:nvSpPr>
            <p:cNvPr id="124" name="bad_L02"/>
            <p:cNvSpPr txBox="1"/>
            <p:nvPr/>
          </p:nvSpPr>
          <p:spPr>
            <a:xfrm>
              <a:off x="6995160" y="2434748"/>
              <a:ext cx="456369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25" name="bad_L03"/>
            <p:cNvSpPr txBox="1"/>
            <p:nvPr/>
          </p:nvSpPr>
          <p:spPr>
            <a:xfrm>
              <a:off x="6995160" y="2627788"/>
              <a:ext cx="456369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_service.Place(TestData.OrderFor(_mona,</a:t>
              </a:r>
              <a:endParaRPr lang="en-US" sz="950" dirty="0"/>
            </a:p>
          </p:txBody>
        </p:sp>
        <p:sp>
          <p:nvSpPr>
            <p:cNvPr id="126" name="bad_L04"/>
            <p:cNvSpPr txBox="1"/>
            <p:nvPr/>
          </p:nvSpPr>
          <p:spPr>
            <a:xfrm>
              <a:off x="6995160" y="2820828"/>
              <a:ext cx="4563694"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TestData.Zooba()), TestData.Lunch);</a:t>
              </a:r>
              <a:endParaRPr lang="en-US" sz="950" dirty="0"/>
            </a:p>
          </p:txBody>
        </p:sp>
        <p:sp>
          <p:nvSpPr>
            <p:cNvPr id="127" name="bad_L05"/>
            <p:cNvSpPr txBox="1"/>
            <p:nvPr/>
          </p:nvSpPr>
          <p:spPr>
            <a:xfrm>
              <a:off x="6995160" y="3013868"/>
              <a:ext cx="456369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FAE7A"/>
                  </a:solidFill>
                  <a:latin typeface="Consolas"/>
                  <a:ea typeface="Consolas"/>
                  <a:cs typeface="Consolas"/>
                </a:rPr>
                <a:t>// no assert: 100% of Place covered,</a:t>
              </a:r>
              <a:endParaRPr lang="en-US" sz="950" dirty="0"/>
            </a:p>
          </p:txBody>
        </p:sp>
        <p:sp>
          <p:nvSpPr>
            <p:cNvPr id="128" name="bad_L06"/>
            <p:cNvSpPr txBox="1"/>
            <p:nvPr/>
          </p:nvSpPr>
          <p:spPr>
            <a:xfrm>
              <a:off x="6995160" y="3206908"/>
              <a:ext cx="4563694"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FAE7A"/>
                  </a:solidFill>
                  <a:latin typeface="Consolas"/>
                  <a:ea typeface="Consolas"/>
                  <a:cs typeface="Consolas"/>
                </a:rPr>
                <a:t>// 0 rules checked</a:t>
              </a:r>
              <a:endParaRPr lang="en-US" sz="950" dirty="0"/>
            </a:p>
          </p:txBody>
        </p:sp>
        <p:sp>
          <p:nvSpPr>
            <p:cNvPr id="129" name="bad_L07"/>
            <p:cNvSpPr txBox="1"/>
            <p:nvPr/>
          </p:nvSpPr>
          <p:spPr>
            <a:xfrm>
              <a:off x="6995160" y="3399948"/>
              <a:ext cx="4563694"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31" name="bad_hl5"/>
          <p:cNvSpPr/>
          <p:nvPr/>
        </p:nvSpPr>
        <p:spPr>
          <a:xfrm>
            <a:off x="6900062" y="2995580"/>
            <a:ext cx="4596694"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32" name="bad_hl6"/>
          <p:cNvSpPr/>
          <p:nvPr/>
        </p:nvSpPr>
        <p:spPr>
          <a:xfrm>
            <a:off x="6900062" y="3188620"/>
            <a:ext cx="4596694" cy="229616"/>
          </a:xfrm>
          <a:prstGeom prst="rect">
            <a:avLst/>
          </a:prstGeom>
          <a:solidFill>
            <a:srgbClr val="F87171">
              <a:alpha val="15000"/>
            </a:srgbClr>
          </a:solidFill>
          <a:ln w="12700">
            <a:solidFill>
              <a:srgbClr val="F87171"/>
            </a:solidFill>
            <a:prstDash val="solid"/>
          </a:ln>
        </p:spPr>
        <p:txBody>
          <a:bodyPr/>
          <a:lstStyle/>
          <a:p>
            <a:endParaRPr lang="en-US"/>
          </a:p>
        </p:txBody>
      </p:sp>
      <p:sp>
        <p:nvSpPr>
          <p:cNvPr id="133" name="k1"/>
          <p:cNvSpPr/>
          <p:nvPr/>
        </p:nvSpPr>
        <p:spPr>
          <a:xfrm>
            <a:off x="543154" y="3703320"/>
            <a:ext cx="6035040" cy="914400"/>
          </a:xfrm>
          <a:prstGeom prst="roundRect">
            <a:avLst>
              <a:gd name="adj" fmla="val 8132"/>
            </a:avLst>
          </a:prstGeom>
          <a:solidFill>
            <a:srgbClr val="111B2E"/>
          </a:solidFill>
          <a:ln w="12700">
            <a:solidFill>
              <a:srgbClr val="34D399"/>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34D399"/>
                </a:solidFill>
                <a:latin typeface="Segoe UI"/>
                <a:ea typeface="Segoe UI"/>
                <a:cs typeface="Segoe UI"/>
              </a:rPr>
              <a:t>A FLASHLIGHT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Find the code with no tests at all.</a:t>
            </a:r>
            <a:endParaRPr lang="en-US" sz="1150" dirty="0"/>
          </a:p>
        </p:txBody>
      </p:sp>
      <p:sp>
        <p:nvSpPr>
          <p:cNvPr id="134" name="k2"/>
          <p:cNvSpPr/>
          <p:nvPr/>
        </p:nvSpPr>
        <p:spPr>
          <a:xfrm>
            <a:off x="6766560" y="3703320"/>
            <a:ext cx="4863694" cy="914400"/>
          </a:xfrm>
          <a:prstGeom prst="roundRect">
            <a:avLst>
              <a:gd name="adj" fmla="val 8132"/>
            </a:avLst>
          </a:prstGeom>
          <a:solidFill>
            <a:srgbClr val="111B2E"/>
          </a:solidFill>
          <a:ln w="12700">
            <a:solidFill>
              <a:srgbClr val="F87171"/>
            </a:solidFill>
            <a:prstDash val="solid"/>
          </a:ln>
        </p:spPr>
        <p:txBody>
          <a:bodyPr wrap="square" lIns="182880" tIns="54864" rIns="137160" bIns="54864" rtlCol="0" anchor="ctr">
            <a:noAutofit/>
          </a:bodyPr>
          <a:lstStyle/>
          <a:p>
            <a:pPr marL="0" indent="0" algn="l">
              <a:spcBef>
                <a:spcPts val="0"/>
              </a:spcBef>
              <a:spcAft>
                <a:spcPts val="200"/>
              </a:spcAft>
              <a:buNone/>
            </a:pPr>
            <a:r>
              <a:rPr lang="en-US" sz="1100" b="1" dirty="0">
                <a:solidFill>
                  <a:srgbClr val="F87171"/>
                </a:solidFill>
                <a:latin typeface="Segoe UI"/>
                <a:ea typeface="Segoe UI"/>
                <a:cs typeface="Segoe UI"/>
              </a:rPr>
              <a:t>NOT A TARGET</a:t>
            </a:r>
            <a:endParaRPr lang="en-US" sz="1100" dirty="0"/>
          </a:p>
          <a:p>
            <a:pPr marL="0" indent="0" algn="l">
              <a:spcBef>
                <a:spcPts val="0"/>
              </a:spcBef>
              <a:spcAft>
                <a:spcPts val="0"/>
              </a:spcAft>
              <a:buNone/>
            </a:pPr>
            <a:r>
              <a:rPr lang="en-US" sz="1150" b="0" dirty="0">
                <a:solidFill>
                  <a:srgbClr val="CBD5E1"/>
                </a:solidFill>
                <a:latin typeface="Segoe UI"/>
                <a:ea typeface="Segoe UI"/>
                <a:cs typeface="Segoe UI"/>
              </a:rPr>
              <a:t>Lines that ran ≠ rules that were checked.</a:t>
            </a:r>
            <a:endParaRPr lang="en-US" sz="1150" dirty="0"/>
          </a:p>
        </p:txBody>
      </p:sp>
      <p:sp>
        <p:nvSpPr>
          <p:cNvPr id="135" name="b"/>
          <p:cNvSpPr/>
          <p:nvPr/>
        </p:nvSpPr>
        <p:spPr>
          <a:xfrm>
            <a:off x="543154" y="4846320"/>
            <a:ext cx="11087100" cy="685800"/>
          </a:xfrm>
          <a:prstGeom prst="roundRect">
            <a:avLst>
              <a:gd name="adj" fmla="val 10975"/>
            </a:avLst>
          </a:prstGeom>
          <a:solidFill>
            <a:srgbClr val="0C1628"/>
          </a:solidFill>
          <a:ln w="12700">
            <a:solidFill>
              <a:srgbClr val="60A5FA"/>
            </a:solidFill>
            <a:prstDash val="solid"/>
          </a:ln>
        </p:spPr>
        <p:txBody>
          <a:bodyPr wrap="square" lIns="209398" tIns="75895" rIns="209398" bIns="75895" rtlCol="0" anchor="ctr">
            <a:noAutofit/>
          </a:bodyPr>
          <a:lstStyle/>
          <a:p>
            <a:pPr marL="0" indent="0" algn="ctr">
              <a:spcBef>
                <a:spcPts val="0"/>
              </a:spcBef>
              <a:spcAft>
                <a:spcPts val="0"/>
              </a:spcAft>
              <a:buNone/>
            </a:pPr>
            <a:r>
              <a:rPr lang="en-US" sz="1500" b="0" dirty="0">
                <a:solidFill>
                  <a:srgbClr val="FFFFFF"/>
                </a:solidFill>
                <a:latin typeface="Segoe UI"/>
                <a:ea typeface="Segoe UI"/>
                <a:cs typeface="Segoe UI"/>
              </a:rPr>
              <a:t>Coverage shows what was NOT tested. Only assertions show what WAS.</a:t>
            </a:r>
            <a:endParaRPr lang="en-US" sz="1500" dirty="0"/>
          </a:p>
        </p:txBody>
      </p:sp>
    </p:spTree>
    <p:extLst>
      <p:ext uri="{BB962C8B-B14F-4D97-AF65-F5344CB8AC3E}">
        <p14:creationId xmlns:p14="http://schemas.microsoft.com/office/powerpoint/2010/main" val="51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4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3"/>
                                        </p:tgtEl>
                                        <p:attrNameLst>
                                          <p:attrName>style.visibility</p:attrName>
                                        </p:attrNameLst>
                                      </p:cBhvr>
                                      <p:to>
                                        <p:strVal val="visible"/>
                                      </p:to>
                                    </p:set>
                                    <p:animEffect transition="in" filter="fade">
                                      <p:cBhvr>
                                        <p:cTn id="12" dur="400"/>
                                        <p:tgtEl>
                                          <p:spTgt spid="1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0"/>
                                        </p:tgtEl>
                                        <p:attrNameLst>
                                          <p:attrName>style.visibility</p:attrName>
                                        </p:attrNameLst>
                                      </p:cBhvr>
                                      <p:to>
                                        <p:strVal val="visible"/>
                                      </p:to>
                                    </p:set>
                                    <p:animEffect transition="in" filter="fade">
                                      <p:cBhvr>
                                        <p:cTn id="17" dur="400"/>
                                        <p:tgtEl>
                                          <p:spTgt spid="1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1"/>
                                        </p:tgtEl>
                                        <p:attrNameLst>
                                          <p:attrName>style.visibility</p:attrName>
                                        </p:attrNameLst>
                                      </p:cBhvr>
                                      <p:to>
                                        <p:strVal val="visible"/>
                                      </p:to>
                                    </p:set>
                                    <p:animEffect transition="in" filter="fade">
                                      <p:cBhvr>
                                        <p:cTn id="20" dur="400"/>
                                        <p:tgtEl>
                                          <p:spTgt spid="1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2"/>
                                        </p:tgtEl>
                                        <p:attrNameLst>
                                          <p:attrName>style.visibility</p:attrName>
                                        </p:attrNameLst>
                                      </p:cBhvr>
                                      <p:to>
                                        <p:strVal val="visible"/>
                                      </p:to>
                                    </p:set>
                                    <p:animEffect transition="in" filter="fade">
                                      <p:cBhvr>
                                        <p:cTn id="23" dur="400"/>
                                        <p:tgtEl>
                                          <p:spTgt spid="132"/>
                                        </p:tgtEl>
                                      </p:cBhvr>
                                    </p:animEffect>
                                  </p:childTnLst>
                                </p:cTn>
                              </p:par>
                            </p:childTnLst>
                          </p:cTn>
                        </p:par>
                        <p:par>
                          <p:cTn id="24" fill="hold">
                            <p:stCondLst>
                              <p:cond delay="400"/>
                            </p:stCondLst>
                            <p:childTnLst>
                              <p:par>
                                <p:cTn id="25" presetID="10" presetClass="entr" presetSubtype="0" fill="hold" grpId="0" nodeType="afterEffect">
                                  <p:stCondLst>
                                    <p:cond delay="0"/>
                                  </p:stCondLst>
                                  <p:childTnLst>
                                    <p:set>
                                      <p:cBhvr>
                                        <p:cTn id="26" dur="1" fill="hold">
                                          <p:stCondLst>
                                            <p:cond delay="0"/>
                                          </p:stCondLst>
                                        </p:cTn>
                                        <p:tgtEl>
                                          <p:spTgt spid="134"/>
                                        </p:tgtEl>
                                        <p:attrNameLst>
                                          <p:attrName>style.visibility</p:attrName>
                                        </p:attrNameLst>
                                      </p:cBhvr>
                                      <p:to>
                                        <p:strVal val="visible"/>
                                      </p:to>
                                    </p:set>
                                    <p:animEffect transition="in" filter="fade">
                                      <p:cBhvr>
                                        <p:cTn id="27" dur="400"/>
                                        <p:tgtEl>
                                          <p:spTgt spid="1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5"/>
                                        </p:tgtEl>
                                        <p:attrNameLst>
                                          <p:attrName>style.visibility</p:attrName>
                                        </p:attrNameLst>
                                      </p:cBhvr>
                                      <p:to>
                                        <p:strVal val="visible"/>
                                      </p:to>
                                    </p:set>
                                    <p:animEffect transition="in" filter="fade">
                                      <p:cBhvr>
                                        <p:cTn id="32" dur="4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Which Kind of Double?</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151</a:t>
            </a:r>
            <a:endParaRPr lang="en-US" sz="850" dirty="0"/>
          </a:p>
        </p:txBody>
      </p:sp>
      <p:sp>
        <p:nvSpPr>
          <p:cNvPr id="119" name="Subtitle"/>
          <p:cNvSpPr txBox="1"/>
          <p:nvPr/>
        </p:nvSpPr>
        <p:spPr>
          <a:xfrm>
            <a:off x="542925" y="1440000"/>
            <a:ext cx="10972800" cy="260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1" dirty="0">
                <a:solidFill>
                  <a:srgbClr val="94A3B8"/>
                </a:solidFill>
                <a:latin typeface="Segoe UI"/>
                <a:ea typeface="Segoe UI"/>
                <a:cs typeface="Segoe UI"/>
              </a:rPr>
              <a:t>The test never checks how rates was called. What is rates?</a:t>
            </a:r>
            <a:endParaRPr lang="en-US" sz="1300" dirty="0"/>
          </a:p>
        </p:txBody>
      </p:sp>
      <p:grpSp>
        <p:nvGrpSpPr>
          <p:cNvPr id="112" name="q"/>
          <p:cNvGrpSpPr/>
          <p:nvPr/>
        </p:nvGrpSpPr>
        <p:grpSpPr>
          <a:xfrm>
            <a:off x="543154" y="1783080"/>
            <a:ext cx="5989320" cy="3017520"/>
            <a:chOff x="543154" y="1783080"/>
            <a:chExt cx="5989320" cy="3017520"/>
          </a:xfrm>
        </p:grpSpPr>
        <p:sp>
          <p:nvSpPr>
            <p:cNvPr id="101" name="q_win"/>
            <p:cNvSpPr/>
            <p:nvPr/>
          </p:nvSpPr>
          <p:spPr>
            <a:xfrm>
              <a:off x="543154" y="1783080"/>
              <a:ext cx="5989320" cy="3017520"/>
            </a:xfrm>
            <a:prstGeom prst="roundRect">
              <a:avLst>
                <a:gd name="adj" fmla="val 2271"/>
              </a:avLst>
            </a:prstGeom>
            <a:solidFill>
              <a:srgbClr val="060D18"/>
            </a:solidFill>
            <a:ln w="12700">
              <a:solidFill>
                <a:srgbClr val="1E3A5F"/>
              </a:solidFill>
              <a:prstDash val="solid"/>
            </a:ln>
          </p:spPr>
          <p:txBody>
            <a:bodyPr/>
            <a:lstStyle/>
            <a:p>
              <a:endParaRPr lang="en-US"/>
            </a:p>
          </p:txBody>
        </p:sp>
        <p:sp>
          <p:nvSpPr>
            <p:cNvPr id="102" name="q_bar"/>
            <p:cNvSpPr/>
            <p:nvPr/>
          </p:nvSpPr>
          <p:spPr>
            <a:xfrm>
              <a:off x="543154" y="1783080"/>
              <a:ext cx="59893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q_barfill"/>
            <p:cNvSpPr/>
            <p:nvPr/>
          </p:nvSpPr>
          <p:spPr>
            <a:xfrm>
              <a:off x="543154" y="1954530"/>
              <a:ext cx="5989320" cy="171450"/>
            </a:xfrm>
            <a:prstGeom prst="rect">
              <a:avLst/>
            </a:prstGeom>
            <a:solidFill>
              <a:srgbClr val="0A1220"/>
            </a:solidFill>
            <a:ln w="12700">
              <a:solidFill>
                <a:srgbClr val="0A1220"/>
              </a:solidFill>
              <a:prstDash val="solid"/>
            </a:ln>
          </p:spPr>
          <p:txBody>
            <a:bodyPr/>
            <a:lstStyle/>
            <a:p>
              <a:endParaRPr lang="en-US"/>
            </a:p>
          </p:txBody>
        </p:sp>
        <p:sp>
          <p:nvSpPr>
            <p:cNvPr id="104" name="q_dot0"/>
            <p:cNvSpPr/>
            <p:nvPr/>
          </p:nvSpPr>
          <p:spPr>
            <a:xfrm>
              <a:off x="705002" y="190689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q_dot1"/>
            <p:cNvSpPr/>
            <p:nvPr/>
          </p:nvSpPr>
          <p:spPr>
            <a:xfrm>
              <a:off x="890626" y="190689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q_dot2"/>
            <p:cNvSpPr/>
            <p:nvPr/>
          </p:nvSpPr>
          <p:spPr>
            <a:xfrm>
              <a:off x="1076250" y="190689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q_tab"/>
            <p:cNvSpPr/>
            <p:nvPr/>
          </p:nvSpPr>
          <p:spPr>
            <a:xfrm>
              <a:off x="1324051" y="1830629"/>
              <a:ext cx="2033069"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CurrencyConverterTests.cs</a:t>
              </a:r>
              <a:endParaRPr lang="en-US" sz="950" dirty="0"/>
            </a:p>
          </p:txBody>
        </p:sp>
        <p:sp>
          <p:nvSpPr>
            <p:cNvPr id="108" name="q_L00"/>
            <p:cNvSpPr txBox="1"/>
            <p:nvPr/>
          </p:nvSpPr>
          <p:spPr>
            <a:xfrm>
              <a:off x="771754" y="225898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rates = Substitute.For&lt;IExchangeRates&gt;();</a:t>
              </a:r>
              <a:endParaRPr lang="en-US" sz="950" dirty="0"/>
            </a:p>
          </p:txBody>
        </p:sp>
        <p:sp>
          <p:nvSpPr>
            <p:cNvPr id="109" name="q_L01"/>
            <p:cNvSpPr txBox="1"/>
            <p:nvPr/>
          </p:nvSpPr>
          <p:spPr>
            <a:xfrm>
              <a:off x="771754" y="245202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rates.Rate(</a:t>
              </a:r>
              <a:r>
                <a:rPr lang="en-US" sz="950" b="0" dirty="0">
                  <a:solidFill>
                    <a:srgbClr val="F0A98B"/>
                  </a:solidFill>
                  <a:latin typeface="Consolas"/>
                  <a:ea typeface="Consolas"/>
                  <a:cs typeface="Consolas"/>
                </a:rPr>
                <a:t>"USD"</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"EGP"</a:t>
              </a:r>
              <a:r>
                <a:rPr lang="en-US" sz="950" b="0" dirty="0">
                  <a:solidFill>
                    <a:srgbClr val="E2E8F0"/>
                  </a:solidFill>
                  <a:latin typeface="Consolas"/>
                  <a:ea typeface="Consolas"/>
                  <a:cs typeface="Consolas"/>
                </a:rPr>
                <a:t>).Returns(48.5m);</a:t>
              </a:r>
              <a:endParaRPr lang="en-US" sz="950" dirty="0"/>
            </a:p>
          </p:txBody>
        </p:sp>
        <p:sp>
          <p:nvSpPr>
            <p:cNvPr id="110" name="q_L03"/>
            <p:cNvSpPr txBox="1"/>
            <p:nvPr/>
          </p:nvSpPr>
          <p:spPr>
            <a:xfrm>
              <a:off x="771754" y="283810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converter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CurrencyConverter(rates);</a:t>
              </a:r>
              <a:endParaRPr lang="en-US" sz="950" dirty="0"/>
            </a:p>
          </p:txBody>
        </p:sp>
        <p:sp>
          <p:nvSpPr>
            <p:cNvPr id="111" name="q_L05"/>
            <p:cNvSpPr txBox="1"/>
            <p:nvPr/>
          </p:nvSpPr>
          <p:spPr>
            <a:xfrm>
              <a:off x="771754" y="322418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converter.Convert(10m, </a:t>
              </a:r>
              <a:r>
                <a:rPr lang="en-US" sz="950" b="0" dirty="0">
                  <a:solidFill>
                    <a:srgbClr val="F0A98B"/>
                  </a:solidFill>
                  <a:latin typeface="Consolas"/>
                  <a:ea typeface="Consolas"/>
                  <a:cs typeface="Consolas"/>
                </a:rPr>
                <a:t>"USD"</a:t>
              </a:r>
              <a:r>
                <a:rPr lang="en-US" sz="950" b="0" dirty="0">
                  <a:solidFill>
                    <a:srgbClr val="E2E8F0"/>
                  </a:solidFill>
                  <a:latin typeface="Consolas"/>
                  <a:ea typeface="Consolas"/>
                  <a:cs typeface="Consolas"/>
                </a:rPr>
                <a:t>, </a:t>
              </a:r>
              <a:r>
                <a:rPr lang="en-US" sz="950" b="0" dirty="0">
                  <a:solidFill>
                    <a:srgbClr val="F0A98B"/>
                  </a:solidFill>
                  <a:latin typeface="Consolas"/>
                  <a:ea typeface="Consolas"/>
                  <a:cs typeface="Consolas"/>
                </a:rPr>
                <a:t>"EGP"</a:t>
              </a:r>
              <a:r>
                <a:rPr lang="en-US" sz="950" b="0" dirty="0">
                  <a:solidFill>
                    <a:srgbClr val="E2E8F0"/>
                  </a:solidFill>
                  <a:latin typeface="Consolas"/>
                  <a:ea typeface="Consolas"/>
                  <a:cs typeface="Consolas"/>
                </a:rPr>
                <a:t>).ShouldBe(485m);</a:t>
              </a:r>
              <a:endParaRPr lang="en-US" sz="950" dirty="0"/>
            </a:p>
          </p:txBody>
        </p:sp>
      </p:grpSp>
      <p:sp>
        <p:nvSpPr>
          <p:cNvPr id="113" name="c0"/>
          <p:cNvSpPr/>
          <p:nvPr/>
        </p:nvSpPr>
        <p:spPr>
          <a:xfrm>
            <a:off x="6766560" y="1783080"/>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A   </a:t>
            </a:r>
            <a:r>
              <a:rPr lang="en-US" sz="1200" b="0" dirty="0">
                <a:solidFill>
                  <a:srgbClr val="E2E8F0"/>
                </a:solidFill>
                <a:latin typeface="Segoe UI"/>
                <a:ea typeface="Segoe UI"/>
                <a:cs typeface="Segoe UI"/>
              </a:rPr>
              <a:t>A dummy</a:t>
            </a:r>
            <a:endParaRPr lang="en-US" sz="1200" dirty="0"/>
          </a:p>
        </p:txBody>
      </p:sp>
      <p:sp>
        <p:nvSpPr>
          <p:cNvPr id="114" name="c1"/>
          <p:cNvSpPr/>
          <p:nvPr/>
        </p:nvSpPr>
        <p:spPr>
          <a:xfrm>
            <a:off x="6766560" y="2551176"/>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B   </a:t>
            </a:r>
            <a:r>
              <a:rPr lang="en-US" sz="1200" b="0" dirty="0">
                <a:solidFill>
                  <a:srgbClr val="E2E8F0"/>
                </a:solidFill>
                <a:latin typeface="Segoe UI"/>
                <a:ea typeface="Segoe UI"/>
                <a:cs typeface="Segoe UI"/>
              </a:rPr>
              <a:t>A stub</a:t>
            </a:r>
            <a:endParaRPr lang="en-US" sz="1200" dirty="0"/>
          </a:p>
        </p:txBody>
      </p:sp>
      <p:sp>
        <p:nvSpPr>
          <p:cNvPr id="115" name="c2"/>
          <p:cNvSpPr/>
          <p:nvPr/>
        </p:nvSpPr>
        <p:spPr>
          <a:xfrm>
            <a:off x="6766560" y="3319272"/>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C   </a:t>
            </a:r>
            <a:r>
              <a:rPr lang="en-US" sz="1200" b="0" dirty="0">
                <a:solidFill>
                  <a:srgbClr val="E2E8F0"/>
                </a:solidFill>
                <a:latin typeface="Segoe UI"/>
                <a:ea typeface="Segoe UI"/>
                <a:cs typeface="Segoe UI"/>
              </a:rPr>
              <a:t>A spy</a:t>
            </a:r>
            <a:endParaRPr lang="en-US" sz="1200" dirty="0"/>
          </a:p>
        </p:txBody>
      </p:sp>
      <p:sp>
        <p:nvSpPr>
          <p:cNvPr id="116" name="c3"/>
          <p:cNvSpPr/>
          <p:nvPr/>
        </p:nvSpPr>
        <p:spPr>
          <a:xfrm>
            <a:off x="6766560" y="4087368"/>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D   </a:t>
            </a:r>
            <a:r>
              <a:rPr lang="en-US" sz="1200" b="0" dirty="0">
                <a:solidFill>
                  <a:srgbClr val="E2E8F0"/>
                </a:solidFill>
                <a:latin typeface="Segoe UI"/>
                <a:ea typeface="Segoe UI"/>
                <a:cs typeface="Segoe UI"/>
              </a:rPr>
              <a:t>A mock</a:t>
            </a:r>
            <a:endParaRPr lang="en-US" sz="1200" dirty="0"/>
          </a:p>
        </p:txBody>
      </p:sp>
      <p:sp>
        <p:nvSpPr>
          <p:cNvPr id="117" name="ok"/>
          <p:cNvSpPr/>
          <p:nvPr/>
        </p:nvSpPr>
        <p:spPr>
          <a:xfrm>
            <a:off x="6766560" y="2551176"/>
            <a:ext cx="4864608" cy="640080"/>
          </a:xfrm>
          <a:prstGeom prst="roundRect">
            <a:avLst>
              <a:gd name="adj" fmla="val 12000"/>
            </a:avLst>
          </a:prstGeom>
          <a:solidFill>
            <a:srgbClr val="34D399">
              <a:alpha val="16000"/>
            </a:srgbClr>
          </a:solidFill>
          <a:ln w="28575">
            <a:solidFill>
              <a:srgbClr val="34D399"/>
            </a:solidFill>
            <a:prstDash val="solid"/>
          </a:ln>
        </p:spPr>
        <p:txBody>
          <a:bodyPr/>
          <a:lstStyle/>
          <a:p>
            <a:endParaRPr lang="en-US"/>
          </a:p>
        </p:txBody>
      </p:sp>
      <p:sp>
        <p:nvSpPr>
          <p:cNvPr id="118" name="ans"/>
          <p:cNvSpPr/>
          <p:nvPr/>
        </p:nvSpPr>
        <p:spPr>
          <a:xfrm>
            <a:off x="543154" y="4983480"/>
            <a:ext cx="11087100" cy="822960"/>
          </a:xfrm>
          <a:prstGeom prst="roundRect">
            <a:avLst>
              <a:gd name="adj" fmla="val 12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300" b="1" dirty="0">
                <a:solidFill>
                  <a:srgbClr val="34D399"/>
                </a:solidFill>
                <a:latin typeface="Segoe UI"/>
                <a:ea typeface="Segoe UI"/>
                <a:cs typeface="Segoe UI"/>
              </a:rPr>
              <a:t>ANSWER B   </a:t>
            </a:r>
            <a:r>
              <a:rPr lang="en-US" sz="1300" b="0" dirty="0">
                <a:solidFill>
                  <a:srgbClr val="E2E8F0"/>
                </a:solidFill>
                <a:latin typeface="Segoe UI"/>
                <a:ea typeface="Segoe UI"/>
                <a:cs typeface="Segoe UI"/>
              </a:rPr>
              <a:t>It only returns a canned answer and the test checks the result, not the calls. With .Received() it would be a mock.</a:t>
            </a:r>
            <a:endParaRPr lang="en-US" sz="1300" dirty="0"/>
          </a:p>
        </p:txBody>
      </p:sp>
    </p:spTree>
    <p:extLst>
      <p:ext uri="{BB962C8B-B14F-4D97-AF65-F5344CB8AC3E}">
        <p14:creationId xmlns:p14="http://schemas.microsoft.com/office/powerpoint/2010/main" val="51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400"/>
                                        <p:tgtEl>
                                          <p:spTgt spid="1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400"/>
                                        <p:tgtEl>
                                          <p:spTgt spid="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
                                        </p:tgtEl>
                                        <p:attrNameLst>
                                          <p:attrName>style.visibility</p:attrName>
                                        </p:attrNameLst>
                                      </p:cBhvr>
                                      <p:to>
                                        <p:strVal val="visible"/>
                                      </p:to>
                                    </p:set>
                                    <p:animEffect transition="in" filter="fade">
                                      <p:cBhvr>
                                        <p:cTn id="13" dur="400"/>
                                        <p:tgtEl>
                                          <p:spTgt spid="1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6"/>
                                        </p:tgtEl>
                                        <p:attrNameLst>
                                          <p:attrName>style.visibility</p:attrName>
                                        </p:attrNameLst>
                                      </p:cBhvr>
                                      <p:to>
                                        <p:strVal val="visible"/>
                                      </p:to>
                                    </p:set>
                                    <p:animEffect transition="in" filter="fade">
                                      <p:cBhvr>
                                        <p:cTn id="16" dur="400"/>
                                        <p:tgtEl>
                                          <p:spTgt spid="1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7"/>
                                        </p:tgtEl>
                                        <p:attrNameLst>
                                          <p:attrName>style.visibility</p:attrName>
                                        </p:attrNameLst>
                                      </p:cBhvr>
                                      <p:to>
                                        <p:strVal val="visible"/>
                                      </p:to>
                                    </p:set>
                                    <p:animEffect transition="in" filter="fade">
                                      <p:cBhvr>
                                        <p:cTn id="21" dur="400"/>
                                        <p:tgtEl>
                                          <p:spTgt spid="1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8"/>
                                        </p:tgtEl>
                                        <p:attrNameLst>
                                          <p:attrName>style.visibility</p:attrName>
                                        </p:attrNameLst>
                                      </p:cBhvr>
                                      <p:to>
                                        <p:strVal val="visible"/>
                                      </p:to>
                                    </p:set>
                                    <p:animEffect transition="in" filter="fade">
                                      <p:cBhvr>
                                        <p:cTn id="24" dur="4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4" grpId="0" animBg="1"/>
      <p:bldP spid="115" grpId="0" animBg="1"/>
      <p:bldP spid="116" grpId="0" animBg="1"/>
      <p:bldP spid="117" grpId="0" animBg="1"/>
      <p:bldP spid="118"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Can This Test Fail?</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152</a:t>
            </a:r>
            <a:endParaRPr lang="en-US" sz="850" dirty="0"/>
          </a:p>
        </p:txBody>
      </p:sp>
      <p:sp>
        <p:nvSpPr>
          <p:cNvPr id="125" name="Subtitle"/>
          <p:cNvSpPr txBox="1"/>
          <p:nvPr/>
        </p:nvSpPr>
        <p:spPr>
          <a:xfrm>
            <a:off x="542925" y="1440000"/>
            <a:ext cx="10972800" cy="260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1" dirty="0">
                <a:solidFill>
                  <a:srgbClr val="94A3B8"/>
                </a:solidFill>
                <a:latin typeface="Segoe UI"/>
                <a:ea typeface="Segoe UI"/>
                <a:cs typeface="Segoe UI"/>
              </a:rPr>
              <a:t>Someone deletes the "amount &gt; Balance" check from Withdraw. What happens?</a:t>
            </a:r>
            <a:endParaRPr lang="en-US" sz="1300" dirty="0"/>
          </a:p>
        </p:txBody>
      </p:sp>
      <p:grpSp>
        <p:nvGrpSpPr>
          <p:cNvPr id="118" name="q"/>
          <p:cNvGrpSpPr/>
          <p:nvPr/>
        </p:nvGrpSpPr>
        <p:grpSpPr>
          <a:xfrm>
            <a:off x="543154" y="1783080"/>
            <a:ext cx="5989320" cy="3017520"/>
            <a:chOff x="543154" y="1783080"/>
            <a:chExt cx="5989320" cy="3017520"/>
          </a:xfrm>
        </p:grpSpPr>
        <p:sp>
          <p:nvSpPr>
            <p:cNvPr id="101" name="q_win"/>
            <p:cNvSpPr/>
            <p:nvPr/>
          </p:nvSpPr>
          <p:spPr>
            <a:xfrm>
              <a:off x="543154" y="1783080"/>
              <a:ext cx="5989320" cy="3017520"/>
            </a:xfrm>
            <a:prstGeom prst="roundRect">
              <a:avLst>
                <a:gd name="adj" fmla="val 2271"/>
              </a:avLst>
            </a:prstGeom>
            <a:solidFill>
              <a:srgbClr val="060D18"/>
            </a:solidFill>
            <a:ln w="12700">
              <a:solidFill>
                <a:srgbClr val="1E3A5F"/>
              </a:solidFill>
              <a:prstDash val="solid"/>
            </a:ln>
          </p:spPr>
          <p:txBody>
            <a:bodyPr/>
            <a:lstStyle/>
            <a:p>
              <a:endParaRPr lang="en-US"/>
            </a:p>
          </p:txBody>
        </p:sp>
        <p:sp>
          <p:nvSpPr>
            <p:cNvPr id="102" name="q_bar"/>
            <p:cNvSpPr/>
            <p:nvPr/>
          </p:nvSpPr>
          <p:spPr>
            <a:xfrm>
              <a:off x="543154" y="1783080"/>
              <a:ext cx="59893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q_barfill"/>
            <p:cNvSpPr/>
            <p:nvPr/>
          </p:nvSpPr>
          <p:spPr>
            <a:xfrm>
              <a:off x="543154" y="1954530"/>
              <a:ext cx="5989320" cy="171450"/>
            </a:xfrm>
            <a:prstGeom prst="rect">
              <a:avLst/>
            </a:prstGeom>
            <a:solidFill>
              <a:srgbClr val="0A1220"/>
            </a:solidFill>
            <a:ln w="12700">
              <a:solidFill>
                <a:srgbClr val="0A1220"/>
              </a:solidFill>
              <a:prstDash val="solid"/>
            </a:ln>
          </p:spPr>
          <p:txBody>
            <a:bodyPr/>
            <a:lstStyle/>
            <a:p>
              <a:endParaRPr lang="en-US"/>
            </a:p>
          </p:txBody>
        </p:sp>
        <p:sp>
          <p:nvSpPr>
            <p:cNvPr id="104" name="q_dot0"/>
            <p:cNvSpPr/>
            <p:nvPr/>
          </p:nvSpPr>
          <p:spPr>
            <a:xfrm>
              <a:off x="705002" y="190689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q_dot1"/>
            <p:cNvSpPr/>
            <p:nvPr/>
          </p:nvSpPr>
          <p:spPr>
            <a:xfrm>
              <a:off x="890626" y="190689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q_dot2"/>
            <p:cNvSpPr/>
            <p:nvPr/>
          </p:nvSpPr>
          <p:spPr>
            <a:xfrm>
              <a:off x="1076250" y="190689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q_tab"/>
            <p:cNvSpPr/>
            <p:nvPr/>
          </p:nvSpPr>
          <p:spPr>
            <a:xfrm>
              <a:off x="1324051" y="1830629"/>
              <a:ext cx="1624333"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BankAccountTests.cs</a:t>
              </a:r>
              <a:endParaRPr lang="en-US" sz="950" dirty="0"/>
            </a:p>
          </p:txBody>
        </p:sp>
        <p:sp>
          <p:nvSpPr>
            <p:cNvPr id="108" name="q_L00"/>
            <p:cNvSpPr txBox="1"/>
            <p:nvPr/>
          </p:nvSpPr>
          <p:spPr>
            <a:xfrm>
              <a:off x="771754" y="225898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09" name="q_L01"/>
            <p:cNvSpPr txBox="1"/>
            <p:nvPr/>
          </p:nvSpPr>
          <p:spPr>
            <a:xfrm>
              <a:off x="771754" y="245202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Withdraw_TooMuch_Throws()</a:t>
              </a:r>
              <a:endParaRPr lang="en-US" sz="950" dirty="0"/>
            </a:p>
          </p:txBody>
        </p:sp>
        <p:sp>
          <p:nvSpPr>
            <p:cNvPr id="110" name="q_L02"/>
            <p:cNvSpPr txBox="1"/>
            <p:nvPr/>
          </p:nvSpPr>
          <p:spPr>
            <a:xfrm>
              <a:off x="771754" y="264506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1" name="q_L03"/>
            <p:cNvSpPr txBox="1"/>
            <p:nvPr/>
          </p:nvSpPr>
          <p:spPr>
            <a:xfrm>
              <a:off x="771754" y="2838100"/>
              <a:ext cx="568932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account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BankAccount(</a:t>
              </a:r>
              <a:r>
                <a:rPr lang="en-US" sz="950" b="0" dirty="0">
                  <a:solidFill>
                    <a:srgbClr val="F0A98B"/>
                  </a:solidFill>
                  <a:latin typeface="Consolas"/>
                  <a:ea typeface="Consolas"/>
                  <a:cs typeface="Consolas"/>
                </a:rPr>
                <a:t>"mona@bank.eg"</a:t>
              </a:r>
              <a:r>
                <a:rPr lang="en-US" sz="950" b="0" dirty="0">
                  <a:solidFill>
                    <a:srgbClr val="E2E8F0"/>
                  </a:solidFill>
                  <a:latin typeface="Consolas"/>
                  <a:ea typeface="Consolas"/>
                  <a:cs typeface="Consolas"/>
                </a:rPr>
                <a:t>, 50m);</a:t>
              </a:r>
              <a:endParaRPr lang="en-US" sz="950" dirty="0"/>
            </a:p>
          </p:txBody>
        </p:sp>
        <p:sp>
          <p:nvSpPr>
            <p:cNvPr id="112" name="q_L04"/>
            <p:cNvSpPr txBox="1"/>
            <p:nvPr/>
          </p:nvSpPr>
          <p:spPr>
            <a:xfrm>
              <a:off x="771754" y="3031140"/>
              <a:ext cx="568932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try</a:t>
              </a:r>
              <a:endParaRPr lang="en-US" sz="950" dirty="0"/>
            </a:p>
          </p:txBody>
        </p:sp>
        <p:sp>
          <p:nvSpPr>
            <p:cNvPr id="113" name="q_L05"/>
            <p:cNvSpPr txBox="1"/>
            <p:nvPr/>
          </p:nvSpPr>
          <p:spPr>
            <a:xfrm>
              <a:off x="771754" y="3224180"/>
              <a:ext cx="568932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4" name="q_L06"/>
            <p:cNvSpPr txBox="1"/>
            <p:nvPr/>
          </p:nvSpPr>
          <p:spPr>
            <a:xfrm>
              <a:off x="771754" y="3417220"/>
              <a:ext cx="5689320" cy="193040"/>
            </a:xfrm>
            <a:prstGeom prst="rect">
              <a:avLst/>
            </a:prstGeom>
            <a:noFill/>
            <a:ln>
              <a:noFill/>
            </a:ln>
          </p:spPr>
          <p:txBody>
            <a:bodyPr wrap="none" lIns="0" tIns="0" rIns="0" bIns="0" rtlCol="0" anchor="ctr">
              <a:noAutofit/>
            </a:bodyPr>
            <a:lstStyle/>
            <a:p>
              <a:pPr marL="530860" indent="0" algn="l">
                <a:spcBef>
                  <a:spcPts val="0"/>
                </a:spcBef>
                <a:spcAft>
                  <a:spcPts val="0"/>
                </a:spcAft>
                <a:buNone/>
              </a:pPr>
              <a:r>
                <a:rPr lang="en-US" sz="950" b="0" dirty="0">
                  <a:solidFill>
                    <a:srgbClr val="E2E8F0"/>
                  </a:solidFill>
                  <a:latin typeface="Consolas"/>
                  <a:ea typeface="Consolas"/>
                  <a:cs typeface="Consolas"/>
                </a:rPr>
                <a:t>account.Withdraw(80m);</a:t>
              </a:r>
              <a:endParaRPr lang="en-US" sz="950" dirty="0"/>
            </a:p>
          </p:txBody>
        </p:sp>
        <p:sp>
          <p:nvSpPr>
            <p:cNvPr id="115" name="q_L07"/>
            <p:cNvSpPr txBox="1"/>
            <p:nvPr/>
          </p:nvSpPr>
          <p:spPr>
            <a:xfrm>
              <a:off x="771754" y="3610260"/>
              <a:ext cx="568932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6" name="q_L08"/>
            <p:cNvSpPr txBox="1"/>
            <p:nvPr/>
          </p:nvSpPr>
          <p:spPr>
            <a:xfrm>
              <a:off x="771754" y="3803300"/>
              <a:ext cx="568932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catch</a:t>
              </a:r>
              <a:r>
                <a:rPr lang="en-US" sz="950" b="0" dirty="0">
                  <a:solidFill>
                    <a:srgbClr val="E2E8F0"/>
                  </a:solidFill>
                  <a:latin typeface="Consolas"/>
                  <a:ea typeface="Consolas"/>
                  <a:cs typeface="Consolas"/>
                </a:rPr>
                <a:t> (InvalidOperationException) { }</a:t>
              </a:r>
              <a:endParaRPr lang="en-US" sz="950" dirty="0"/>
            </a:p>
          </p:txBody>
        </p:sp>
        <p:sp>
          <p:nvSpPr>
            <p:cNvPr id="117" name="q_L09"/>
            <p:cNvSpPr txBox="1"/>
            <p:nvPr/>
          </p:nvSpPr>
          <p:spPr>
            <a:xfrm>
              <a:off x="771754" y="399634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19" name="c0"/>
          <p:cNvSpPr/>
          <p:nvPr/>
        </p:nvSpPr>
        <p:spPr>
          <a:xfrm>
            <a:off x="6766560" y="1783080"/>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A   </a:t>
            </a:r>
            <a:r>
              <a:rPr lang="en-US" sz="1200" b="0" dirty="0">
                <a:solidFill>
                  <a:srgbClr val="E2E8F0"/>
                </a:solidFill>
                <a:latin typeface="Segoe UI"/>
                <a:ea typeface="Segoe UI"/>
                <a:cs typeface="Segoe UI"/>
              </a:rPr>
              <a:t>The test turns red</a:t>
            </a:r>
            <a:endParaRPr lang="en-US" sz="1200" dirty="0"/>
          </a:p>
        </p:txBody>
      </p:sp>
      <p:sp>
        <p:nvSpPr>
          <p:cNvPr id="120" name="c1"/>
          <p:cNvSpPr/>
          <p:nvPr/>
        </p:nvSpPr>
        <p:spPr>
          <a:xfrm>
            <a:off x="6766560" y="2551176"/>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B   </a:t>
            </a:r>
            <a:r>
              <a:rPr lang="en-US" sz="1200" b="0" dirty="0">
                <a:solidFill>
                  <a:srgbClr val="E2E8F0"/>
                </a:solidFill>
                <a:latin typeface="Segoe UI"/>
                <a:ea typeface="Segoe UI"/>
                <a:cs typeface="Segoe UI"/>
              </a:rPr>
              <a:t>It still passes: it can never fail</a:t>
            </a:r>
            <a:endParaRPr lang="en-US" sz="1200" dirty="0"/>
          </a:p>
        </p:txBody>
      </p:sp>
      <p:sp>
        <p:nvSpPr>
          <p:cNvPr id="121" name="c2"/>
          <p:cNvSpPr/>
          <p:nvPr/>
        </p:nvSpPr>
        <p:spPr>
          <a:xfrm>
            <a:off x="6766560" y="3319272"/>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C   </a:t>
            </a:r>
            <a:r>
              <a:rPr lang="en-US" sz="1200" b="0" dirty="0">
                <a:solidFill>
                  <a:srgbClr val="E2E8F0"/>
                </a:solidFill>
                <a:latin typeface="Segoe UI"/>
                <a:ea typeface="Segoe UI"/>
                <a:cs typeface="Segoe UI"/>
              </a:rPr>
              <a:t>It does not compile</a:t>
            </a:r>
            <a:endParaRPr lang="en-US" sz="1200" dirty="0"/>
          </a:p>
        </p:txBody>
      </p:sp>
      <p:sp>
        <p:nvSpPr>
          <p:cNvPr id="122" name="c3"/>
          <p:cNvSpPr/>
          <p:nvPr/>
        </p:nvSpPr>
        <p:spPr>
          <a:xfrm>
            <a:off x="6766560" y="4087368"/>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D   </a:t>
            </a:r>
            <a:r>
              <a:rPr lang="en-US" sz="1200" b="0" dirty="0">
                <a:solidFill>
                  <a:srgbClr val="E2E8F0"/>
                </a:solidFill>
                <a:latin typeface="Segoe UI"/>
                <a:ea typeface="Segoe UI"/>
                <a:cs typeface="Segoe UI"/>
              </a:rPr>
              <a:t>xUnit skips it</a:t>
            </a:r>
            <a:endParaRPr lang="en-US" sz="1200" dirty="0"/>
          </a:p>
        </p:txBody>
      </p:sp>
      <p:sp>
        <p:nvSpPr>
          <p:cNvPr id="123" name="ok"/>
          <p:cNvSpPr/>
          <p:nvPr/>
        </p:nvSpPr>
        <p:spPr>
          <a:xfrm>
            <a:off x="6766560" y="2551176"/>
            <a:ext cx="4864608" cy="640080"/>
          </a:xfrm>
          <a:prstGeom prst="roundRect">
            <a:avLst>
              <a:gd name="adj" fmla="val 12000"/>
            </a:avLst>
          </a:prstGeom>
          <a:solidFill>
            <a:srgbClr val="34D399">
              <a:alpha val="16000"/>
            </a:srgbClr>
          </a:solidFill>
          <a:ln w="28575">
            <a:solidFill>
              <a:srgbClr val="34D399"/>
            </a:solidFill>
            <a:prstDash val="solid"/>
          </a:ln>
        </p:spPr>
        <p:txBody>
          <a:bodyPr/>
          <a:lstStyle/>
          <a:p>
            <a:endParaRPr lang="en-US"/>
          </a:p>
        </p:txBody>
      </p:sp>
      <p:sp>
        <p:nvSpPr>
          <p:cNvPr id="124" name="ans"/>
          <p:cNvSpPr/>
          <p:nvPr/>
        </p:nvSpPr>
        <p:spPr>
          <a:xfrm>
            <a:off x="543154" y="4983480"/>
            <a:ext cx="11087100" cy="822960"/>
          </a:xfrm>
          <a:prstGeom prst="roundRect">
            <a:avLst>
              <a:gd name="adj" fmla="val 12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300" b="1" dirty="0">
                <a:solidFill>
                  <a:srgbClr val="34D399"/>
                </a:solidFill>
                <a:latin typeface="Segoe UI"/>
                <a:ea typeface="Segoe UI"/>
                <a:cs typeface="Segoe UI"/>
              </a:rPr>
              <a:t>ANSWER B   </a:t>
            </a:r>
            <a:r>
              <a:rPr lang="en-US" sz="1300" b="0" dirty="0">
                <a:solidFill>
                  <a:srgbClr val="E2E8F0"/>
                </a:solidFill>
                <a:latin typeface="Segoe UI"/>
                <a:ea typeface="Segoe UI"/>
                <a:cs typeface="Segoe UI"/>
              </a:rPr>
              <a:t>No assertion: it passes whether Withdraw throws or not. Use Should.Throw&lt;InvalidOperationException&gt;(...).</a:t>
            </a:r>
            <a:endParaRPr lang="en-US" sz="1300" dirty="0"/>
          </a:p>
        </p:txBody>
      </p:sp>
    </p:spTree>
    <p:extLst>
      <p:ext uri="{BB962C8B-B14F-4D97-AF65-F5344CB8AC3E}">
        <p14:creationId xmlns:p14="http://schemas.microsoft.com/office/powerpoint/2010/main" val="513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400"/>
                                        <p:tgtEl>
                                          <p:spTgt spid="1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fade">
                                      <p:cBhvr>
                                        <p:cTn id="10" dur="400"/>
                                        <p:tgtEl>
                                          <p:spTgt spid="1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1"/>
                                        </p:tgtEl>
                                        <p:attrNameLst>
                                          <p:attrName>style.visibility</p:attrName>
                                        </p:attrNameLst>
                                      </p:cBhvr>
                                      <p:to>
                                        <p:strVal val="visible"/>
                                      </p:to>
                                    </p:set>
                                    <p:animEffect transition="in" filter="fade">
                                      <p:cBhvr>
                                        <p:cTn id="13" dur="400"/>
                                        <p:tgtEl>
                                          <p:spTgt spid="1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2"/>
                                        </p:tgtEl>
                                        <p:attrNameLst>
                                          <p:attrName>style.visibility</p:attrName>
                                        </p:attrNameLst>
                                      </p:cBhvr>
                                      <p:to>
                                        <p:strVal val="visible"/>
                                      </p:to>
                                    </p:set>
                                    <p:animEffect transition="in" filter="fade">
                                      <p:cBhvr>
                                        <p:cTn id="16" dur="400"/>
                                        <p:tgtEl>
                                          <p:spTgt spid="1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3"/>
                                        </p:tgtEl>
                                        <p:attrNameLst>
                                          <p:attrName>style.visibility</p:attrName>
                                        </p:attrNameLst>
                                      </p:cBhvr>
                                      <p:to>
                                        <p:strVal val="visible"/>
                                      </p:to>
                                    </p:set>
                                    <p:animEffect transition="in" filter="fade">
                                      <p:cBhvr>
                                        <p:cTn id="21" dur="400"/>
                                        <p:tgtEl>
                                          <p:spTgt spid="1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4"/>
                                        </p:tgtEl>
                                        <p:attrNameLst>
                                          <p:attrName>style.visibility</p:attrName>
                                        </p:attrNameLst>
                                      </p:cBhvr>
                                      <p:to>
                                        <p:strVal val="visible"/>
                                      </p:to>
                                    </p:set>
                                    <p:animEffect transition="in" filter="fade">
                                      <p:cBhvr>
                                        <p:cTn id="24" dur="4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0" grpId="0" animBg="1"/>
      <p:bldP spid="121" grpId="0" animBg="1"/>
      <p:bldP spid="122" grpId="0" animBg="1"/>
      <p:bldP spid="123" grpId="0" animBg="1"/>
      <p:bldP spid="124"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080000" cy="285750"/>
          </a:xfrm>
          <a:prstGeom prst="roundRect">
            <a:avLst>
              <a:gd name="adj" fmla="val 23333"/>
            </a:avLst>
          </a:prstGeom>
          <a:solidFill>
            <a:srgbClr val="FBBF24">
              <a:alpha val="18000"/>
            </a:srgbClr>
          </a:solidFill>
          <a:ln w="12700">
            <a:solidFill>
              <a:srgbClr val="FBBF24"/>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FBBF24"/>
                </a:solidFill>
                <a:latin typeface="Segoe UI"/>
                <a:ea typeface="Segoe UI"/>
                <a:cs typeface="Segoe UI"/>
              </a:rPr>
              <a:t>STOP &amp; ASK</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Quiz: Green Alone, Red Together</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153</a:t>
            </a:r>
            <a:endParaRPr lang="en-US" sz="850" dirty="0"/>
          </a:p>
        </p:txBody>
      </p:sp>
      <p:sp>
        <p:nvSpPr>
          <p:cNvPr id="121" name="Subtitle"/>
          <p:cNvSpPr txBox="1"/>
          <p:nvPr/>
        </p:nvSpPr>
        <p:spPr>
          <a:xfrm>
            <a:off x="542925" y="1440000"/>
            <a:ext cx="10972800" cy="260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1" dirty="0">
                <a:solidFill>
                  <a:srgbClr val="94A3B8"/>
                </a:solidFill>
                <a:latin typeface="Segoe UI"/>
                <a:ea typeface="Segoe UI"/>
                <a:cs typeface="Segoe UI"/>
              </a:rPr>
              <a:t>It passes when run alone and fails in the full run. Why?</a:t>
            </a:r>
            <a:endParaRPr lang="en-US" sz="1300" dirty="0"/>
          </a:p>
        </p:txBody>
      </p:sp>
      <p:grpSp>
        <p:nvGrpSpPr>
          <p:cNvPr id="114" name="q"/>
          <p:cNvGrpSpPr/>
          <p:nvPr/>
        </p:nvGrpSpPr>
        <p:grpSpPr>
          <a:xfrm>
            <a:off x="543154" y="1783080"/>
            <a:ext cx="5989320" cy="3017520"/>
            <a:chOff x="543154" y="1783080"/>
            <a:chExt cx="5989320" cy="3017520"/>
          </a:xfrm>
        </p:grpSpPr>
        <p:sp>
          <p:nvSpPr>
            <p:cNvPr id="101" name="q_win"/>
            <p:cNvSpPr/>
            <p:nvPr/>
          </p:nvSpPr>
          <p:spPr>
            <a:xfrm>
              <a:off x="543154" y="1783080"/>
              <a:ext cx="5989320" cy="3017520"/>
            </a:xfrm>
            <a:prstGeom prst="roundRect">
              <a:avLst>
                <a:gd name="adj" fmla="val 2271"/>
              </a:avLst>
            </a:prstGeom>
            <a:solidFill>
              <a:srgbClr val="060D18"/>
            </a:solidFill>
            <a:ln w="12700">
              <a:solidFill>
                <a:srgbClr val="1E3A5F"/>
              </a:solidFill>
              <a:prstDash val="solid"/>
            </a:ln>
          </p:spPr>
          <p:txBody>
            <a:bodyPr/>
            <a:lstStyle/>
            <a:p>
              <a:endParaRPr lang="en-US"/>
            </a:p>
          </p:txBody>
        </p:sp>
        <p:sp>
          <p:nvSpPr>
            <p:cNvPr id="102" name="q_bar"/>
            <p:cNvSpPr/>
            <p:nvPr/>
          </p:nvSpPr>
          <p:spPr>
            <a:xfrm>
              <a:off x="543154" y="1783080"/>
              <a:ext cx="5989320" cy="342900"/>
            </a:xfrm>
            <a:prstGeom prst="roundRect">
              <a:avLst>
                <a:gd name="adj" fmla="val 22222"/>
              </a:avLst>
            </a:prstGeom>
            <a:solidFill>
              <a:srgbClr val="0A1220"/>
            </a:solidFill>
            <a:ln w="12700">
              <a:solidFill>
                <a:srgbClr val="1E3A5F"/>
              </a:solidFill>
              <a:prstDash val="solid"/>
            </a:ln>
          </p:spPr>
          <p:txBody>
            <a:bodyPr/>
            <a:lstStyle/>
            <a:p>
              <a:endParaRPr lang="en-US"/>
            </a:p>
          </p:txBody>
        </p:sp>
        <p:sp>
          <p:nvSpPr>
            <p:cNvPr id="103" name="q_barfill"/>
            <p:cNvSpPr/>
            <p:nvPr/>
          </p:nvSpPr>
          <p:spPr>
            <a:xfrm>
              <a:off x="543154" y="1954530"/>
              <a:ext cx="5989320" cy="171450"/>
            </a:xfrm>
            <a:prstGeom prst="rect">
              <a:avLst/>
            </a:prstGeom>
            <a:solidFill>
              <a:srgbClr val="0A1220"/>
            </a:solidFill>
            <a:ln w="12700">
              <a:solidFill>
                <a:srgbClr val="0A1220"/>
              </a:solidFill>
              <a:prstDash val="solid"/>
            </a:ln>
          </p:spPr>
          <p:txBody>
            <a:bodyPr/>
            <a:lstStyle/>
            <a:p>
              <a:endParaRPr lang="en-US"/>
            </a:p>
          </p:txBody>
        </p:sp>
        <p:sp>
          <p:nvSpPr>
            <p:cNvPr id="104" name="q_dot0"/>
            <p:cNvSpPr/>
            <p:nvPr/>
          </p:nvSpPr>
          <p:spPr>
            <a:xfrm>
              <a:off x="705002" y="1906890"/>
              <a:ext cx="95098" cy="95098"/>
            </a:xfrm>
            <a:prstGeom prst="ellipse">
              <a:avLst/>
            </a:prstGeom>
            <a:solidFill>
              <a:srgbClr val="F87171"/>
            </a:solidFill>
            <a:ln w="12700">
              <a:solidFill>
                <a:srgbClr val="F87171"/>
              </a:solidFill>
              <a:prstDash val="solid"/>
            </a:ln>
          </p:spPr>
          <p:txBody>
            <a:bodyPr/>
            <a:lstStyle/>
            <a:p>
              <a:endParaRPr lang="en-US"/>
            </a:p>
          </p:txBody>
        </p:sp>
        <p:sp>
          <p:nvSpPr>
            <p:cNvPr id="105" name="q_dot1"/>
            <p:cNvSpPr/>
            <p:nvPr/>
          </p:nvSpPr>
          <p:spPr>
            <a:xfrm>
              <a:off x="890626" y="1906890"/>
              <a:ext cx="95098" cy="95098"/>
            </a:xfrm>
            <a:prstGeom prst="ellipse">
              <a:avLst/>
            </a:prstGeom>
            <a:solidFill>
              <a:srgbClr val="FBBF24"/>
            </a:solidFill>
            <a:ln w="12700">
              <a:solidFill>
                <a:srgbClr val="FBBF24"/>
              </a:solidFill>
              <a:prstDash val="solid"/>
            </a:ln>
          </p:spPr>
          <p:txBody>
            <a:bodyPr/>
            <a:lstStyle/>
            <a:p>
              <a:endParaRPr lang="en-US"/>
            </a:p>
          </p:txBody>
        </p:sp>
        <p:sp>
          <p:nvSpPr>
            <p:cNvPr id="106" name="q_dot2"/>
            <p:cNvSpPr/>
            <p:nvPr/>
          </p:nvSpPr>
          <p:spPr>
            <a:xfrm>
              <a:off x="1076250" y="1906890"/>
              <a:ext cx="95098" cy="95098"/>
            </a:xfrm>
            <a:prstGeom prst="ellipse">
              <a:avLst/>
            </a:prstGeom>
            <a:solidFill>
              <a:srgbClr val="34D399"/>
            </a:solidFill>
            <a:ln w="12700">
              <a:solidFill>
                <a:srgbClr val="34D399"/>
              </a:solidFill>
              <a:prstDash val="solid"/>
            </a:ln>
          </p:spPr>
          <p:txBody>
            <a:bodyPr/>
            <a:lstStyle/>
            <a:p>
              <a:endParaRPr lang="en-US"/>
            </a:p>
          </p:txBody>
        </p:sp>
        <p:sp>
          <p:nvSpPr>
            <p:cNvPr id="107" name="q_tab"/>
            <p:cNvSpPr/>
            <p:nvPr/>
          </p:nvSpPr>
          <p:spPr>
            <a:xfrm>
              <a:off x="1324051" y="1830629"/>
              <a:ext cx="1351842" cy="246888"/>
            </a:xfrm>
            <a:prstGeom prst="roundRect">
              <a:avLst>
                <a:gd name="adj" fmla="val 23076"/>
              </a:avLst>
            </a:prstGeom>
            <a:solidFill>
              <a:srgbClr val="152238"/>
            </a:solidFill>
            <a:ln w="12700">
              <a:solidFill>
                <a:srgbClr val="152238"/>
              </a:solidFill>
              <a:prstDash val="solid"/>
            </a:ln>
          </p:spPr>
          <p:txBody>
            <a:bodyPr wrap="square" lIns="0" tIns="0" rIns="0" bIns="0" rtlCol="0" anchor="ctr">
              <a:noAutofit/>
            </a:bodyPr>
            <a:lstStyle/>
            <a:p>
              <a:pPr marL="0" indent="0" algn="ctr">
                <a:spcBef>
                  <a:spcPts val="0"/>
                </a:spcBef>
                <a:spcAft>
                  <a:spcPts val="0"/>
                </a:spcAft>
                <a:buNone/>
              </a:pPr>
              <a:r>
                <a:rPr lang="en-US" sz="950" b="0" dirty="0">
                  <a:solidFill>
                    <a:srgbClr val="4D91F0"/>
                  </a:solidFill>
                  <a:latin typeface="Consolas"/>
                  <a:ea typeface="Consolas"/>
                  <a:cs typeface="Consolas"/>
                </a:rPr>
                <a:t>InvoiceTests.cs</a:t>
              </a:r>
              <a:endParaRPr lang="en-US" sz="950" dirty="0"/>
            </a:p>
          </p:txBody>
        </p:sp>
        <p:sp>
          <p:nvSpPr>
            <p:cNvPr id="108" name="q_L00"/>
            <p:cNvSpPr txBox="1"/>
            <p:nvPr/>
          </p:nvSpPr>
          <p:spPr>
            <a:xfrm>
              <a:off x="771754" y="225898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[Fact]</a:t>
              </a:r>
              <a:endParaRPr lang="en-US" sz="950" dirty="0"/>
            </a:p>
          </p:txBody>
        </p:sp>
        <p:sp>
          <p:nvSpPr>
            <p:cNvPr id="109" name="q_L01"/>
            <p:cNvSpPr txBox="1"/>
            <p:nvPr/>
          </p:nvSpPr>
          <p:spPr>
            <a:xfrm>
              <a:off x="771754" y="245202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60A5FA"/>
                  </a:solidFill>
                  <a:latin typeface="Consolas"/>
                  <a:ea typeface="Consolas"/>
                  <a:cs typeface="Consolas"/>
                </a:rPr>
                <a:t>public</a:t>
              </a:r>
              <a:r>
                <a:rPr lang="en-US" sz="950" b="0" dirty="0">
                  <a:solidFill>
                    <a:srgbClr val="E2E8F0"/>
                  </a:solidFill>
                  <a:latin typeface="Consolas"/>
                  <a:ea typeface="Consolas"/>
                  <a:cs typeface="Consolas"/>
                </a:rPr>
                <a:t> </a:t>
              </a:r>
              <a:r>
                <a:rPr lang="en-US" sz="950" b="0" dirty="0">
                  <a:solidFill>
                    <a:srgbClr val="60A5FA"/>
                  </a:solidFill>
                  <a:latin typeface="Consolas"/>
                  <a:ea typeface="Consolas"/>
                  <a:cs typeface="Consolas"/>
                </a:rPr>
                <a:t>void</a:t>
              </a:r>
              <a:r>
                <a:rPr lang="en-US" sz="950" b="0" dirty="0">
                  <a:solidFill>
                    <a:srgbClr val="E2E8F0"/>
                  </a:solidFill>
                  <a:latin typeface="Consolas"/>
                  <a:ea typeface="Consolas"/>
                  <a:cs typeface="Consolas"/>
                </a:rPr>
                <a:t> FirstInvoice_IsNumber1()</a:t>
              </a:r>
              <a:endParaRPr lang="en-US" sz="950" dirty="0"/>
            </a:p>
          </p:txBody>
        </p:sp>
        <p:sp>
          <p:nvSpPr>
            <p:cNvPr id="110" name="q_L02"/>
            <p:cNvSpPr txBox="1"/>
            <p:nvPr/>
          </p:nvSpPr>
          <p:spPr>
            <a:xfrm>
              <a:off x="771754" y="264506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sp>
          <p:nvSpPr>
            <p:cNvPr id="111" name="q_L03"/>
            <p:cNvSpPr txBox="1"/>
            <p:nvPr/>
          </p:nvSpPr>
          <p:spPr>
            <a:xfrm>
              <a:off x="771754" y="2838100"/>
              <a:ext cx="568932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60A5FA"/>
                  </a:solidFill>
                  <a:latin typeface="Consolas"/>
                  <a:ea typeface="Consolas"/>
                  <a:cs typeface="Consolas"/>
                </a:rPr>
                <a:t>var</a:t>
              </a:r>
              <a:r>
                <a:rPr lang="en-US" sz="950" b="0" dirty="0">
                  <a:solidFill>
                    <a:srgbClr val="E2E8F0"/>
                  </a:solidFill>
                  <a:latin typeface="Consolas"/>
                  <a:ea typeface="Consolas"/>
                  <a:cs typeface="Consolas"/>
                </a:rPr>
                <a:t> invoice = </a:t>
              </a:r>
              <a:r>
                <a:rPr lang="en-US" sz="950" b="0" dirty="0">
                  <a:solidFill>
                    <a:srgbClr val="60A5FA"/>
                  </a:solidFill>
                  <a:latin typeface="Consolas"/>
                  <a:ea typeface="Consolas"/>
                  <a:cs typeface="Consolas"/>
                </a:rPr>
                <a:t>new</a:t>
              </a:r>
              <a:r>
                <a:rPr lang="en-US" sz="950" b="0" dirty="0">
                  <a:solidFill>
                    <a:srgbClr val="E2E8F0"/>
                  </a:solidFill>
                  <a:latin typeface="Consolas"/>
                  <a:ea typeface="Consolas"/>
                  <a:cs typeface="Consolas"/>
                </a:rPr>
                <a:t> Invoice();</a:t>
              </a:r>
              <a:endParaRPr lang="en-US" sz="950" dirty="0"/>
            </a:p>
          </p:txBody>
        </p:sp>
        <p:sp>
          <p:nvSpPr>
            <p:cNvPr id="112" name="q_L05"/>
            <p:cNvSpPr txBox="1"/>
            <p:nvPr/>
          </p:nvSpPr>
          <p:spPr>
            <a:xfrm>
              <a:off x="771754" y="3224180"/>
              <a:ext cx="5689320" cy="193040"/>
            </a:xfrm>
            <a:prstGeom prst="rect">
              <a:avLst/>
            </a:prstGeom>
            <a:noFill/>
            <a:ln>
              <a:noFill/>
            </a:ln>
          </p:spPr>
          <p:txBody>
            <a:bodyPr wrap="none" lIns="0" tIns="0" rIns="0" bIns="0" rtlCol="0" anchor="ctr">
              <a:noAutofit/>
            </a:bodyPr>
            <a:lstStyle/>
            <a:p>
              <a:pPr marL="265430" indent="0" algn="l">
                <a:spcBef>
                  <a:spcPts val="0"/>
                </a:spcBef>
                <a:spcAft>
                  <a:spcPts val="0"/>
                </a:spcAft>
                <a:buNone/>
              </a:pPr>
              <a:r>
                <a:rPr lang="en-US" sz="950" b="0" dirty="0">
                  <a:solidFill>
                    <a:srgbClr val="E2E8F0"/>
                  </a:solidFill>
                  <a:latin typeface="Consolas"/>
                  <a:ea typeface="Consolas"/>
                  <a:cs typeface="Consolas"/>
                </a:rPr>
                <a:t>invoice.Number.ShouldBe(1);</a:t>
              </a:r>
              <a:endParaRPr lang="en-US" sz="950" dirty="0"/>
            </a:p>
          </p:txBody>
        </p:sp>
        <p:sp>
          <p:nvSpPr>
            <p:cNvPr id="113" name="q_L06"/>
            <p:cNvSpPr txBox="1"/>
            <p:nvPr/>
          </p:nvSpPr>
          <p:spPr>
            <a:xfrm>
              <a:off x="771754" y="3417220"/>
              <a:ext cx="5689320" cy="193040"/>
            </a:xfrm>
            <a:prstGeom prst="rect">
              <a:avLst/>
            </a:prstGeom>
            <a:noFill/>
            <a:ln>
              <a:noFill/>
            </a:ln>
          </p:spPr>
          <p:txBody>
            <a:bodyPr wrap="none" lIns="0" tIns="0" rIns="0" bIns="0" rtlCol="0" anchor="ctr">
              <a:noAutofit/>
            </a:bodyPr>
            <a:lstStyle/>
            <a:p>
              <a:pPr marL="0" indent="0" algn="l">
                <a:spcBef>
                  <a:spcPts val="0"/>
                </a:spcBef>
                <a:spcAft>
                  <a:spcPts val="0"/>
                </a:spcAft>
                <a:buNone/>
              </a:pPr>
              <a:r>
                <a:rPr lang="en-US" sz="950" b="0" dirty="0">
                  <a:solidFill>
                    <a:srgbClr val="E2E8F0"/>
                  </a:solidFill>
                  <a:latin typeface="Consolas"/>
                  <a:ea typeface="Consolas"/>
                  <a:cs typeface="Consolas"/>
                </a:rPr>
                <a:t>}</a:t>
              </a:r>
              <a:endParaRPr lang="en-US" sz="950" dirty="0"/>
            </a:p>
          </p:txBody>
        </p:sp>
      </p:grpSp>
      <p:sp>
        <p:nvSpPr>
          <p:cNvPr id="115" name="c0"/>
          <p:cNvSpPr/>
          <p:nvPr/>
        </p:nvSpPr>
        <p:spPr>
          <a:xfrm>
            <a:off x="6766560" y="1783080"/>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A   </a:t>
            </a:r>
            <a:r>
              <a:rPr lang="en-US" sz="1200" b="0" dirty="0">
                <a:solidFill>
                  <a:srgbClr val="E2E8F0"/>
                </a:solidFill>
                <a:latin typeface="Segoe UI"/>
                <a:ea typeface="Segoe UI"/>
                <a:cs typeface="Segoe UI"/>
              </a:rPr>
              <a:t>Invoice.Number is broken</a:t>
            </a:r>
            <a:endParaRPr lang="en-US" sz="1200" dirty="0"/>
          </a:p>
        </p:txBody>
      </p:sp>
      <p:sp>
        <p:nvSpPr>
          <p:cNvPr id="116" name="c1"/>
          <p:cNvSpPr/>
          <p:nvPr/>
        </p:nvSpPr>
        <p:spPr>
          <a:xfrm>
            <a:off x="6766560" y="2551176"/>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B   </a:t>
            </a:r>
            <a:r>
              <a:rPr lang="en-US" sz="1200" b="0" dirty="0">
                <a:solidFill>
                  <a:srgbClr val="E2E8F0"/>
                </a:solidFill>
                <a:latin typeface="Segoe UI"/>
                <a:ea typeface="Segoe UI"/>
                <a:cs typeface="Segoe UI"/>
              </a:rPr>
              <a:t>Number is a static counter shared by all tests</a:t>
            </a:r>
            <a:endParaRPr lang="en-US" sz="1200" dirty="0"/>
          </a:p>
        </p:txBody>
      </p:sp>
      <p:sp>
        <p:nvSpPr>
          <p:cNvPr id="117" name="c2"/>
          <p:cNvSpPr/>
          <p:nvPr/>
        </p:nvSpPr>
        <p:spPr>
          <a:xfrm>
            <a:off x="6766560" y="3319272"/>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C   </a:t>
            </a:r>
            <a:r>
              <a:rPr lang="en-US" sz="1200" b="0" dirty="0">
                <a:solidFill>
                  <a:srgbClr val="E2E8F0"/>
                </a:solidFill>
                <a:latin typeface="Segoe UI"/>
                <a:ea typeface="Segoe UI"/>
                <a:cs typeface="Segoe UI"/>
              </a:rPr>
              <a:t>xUnit runs each test twice</a:t>
            </a:r>
            <a:endParaRPr lang="en-US" sz="1200" dirty="0"/>
          </a:p>
        </p:txBody>
      </p:sp>
      <p:sp>
        <p:nvSpPr>
          <p:cNvPr id="118" name="c3"/>
          <p:cNvSpPr/>
          <p:nvPr/>
        </p:nvSpPr>
        <p:spPr>
          <a:xfrm>
            <a:off x="6766560" y="4087368"/>
            <a:ext cx="4864608" cy="640080"/>
          </a:xfrm>
          <a:prstGeom prst="roundRect">
            <a:avLst>
              <a:gd name="adj" fmla="val 12000"/>
            </a:avLst>
          </a:prstGeom>
          <a:solidFill>
            <a:srgbClr val="111B2E"/>
          </a:solidFill>
          <a:ln w="12700">
            <a:solidFill>
              <a:srgbClr val="1E3A5F"/>
            </a:solidFill>
            <a:prstDash val="solid"/>
          </a:ln>
        </p:spPr>
        <p:txBody>
          <a:bodyPr wrap="square" lIns="182880" tIns="45720" rIns="91440" bIns="45720" rtlCol="0" anchor="ctr">
            <a:noAutofit/>
          </a:bodyPr>
          <a:lstStyle/>
          <a:p>
            <a:pPr marL="0" indent="0" algn="l">
              <a:spcBef>
                <a:spcPts val="0"/>
              </a:spcBef>
              <a:spcAft>
                <a:spcPts val="0"/>
              </a:spcAft>
              <a:buNone/>
            </a:pPr>
            <a:r>
              <a:rPr lang="en-US" sz="1200" b="1" dirty="0">
                <a:solidFill>
                  <a:srgbClr val="94A3B8"/>
                </a:solidFill>
                <a:latin typeface="Segoe UI"/>
                <a:ea typeface="Segoe UI"/>
                <a:cs typeface="Segoe UI"/>
              </a:rPr>
              <a:t>D   </a:t>
            </a:r>
            <a:r>
              <a:rPr lang="en-US" sz="1200" b="0" dirty="0">
                <a:solidFill>
                  <a:srgbClr val="E2E8F0"/>
                </a:solidFill>
                <a:latin typeface="Segoe UI"/>
                <a:ea typeface="Segoe UI"/>
                <a:cs typeface="Segoe UI"/>
              </a:rPr>
              <a:t>The test has no Arrange</a:t>
            </a:r>
            <a:endParaRPr lang="en-US" sz="1200" dirty="0"/>
          </a:p>
        </p:txBody>
      </p:sp>
      <p:sp>
        <p:nvSpPr>
          <p:cNvPr id="119" name="ok"/>
          <p:cNvSpPr/>
          <p:nvPr/>
        </p:nvSpPr>
        <p:spPr>
          <a:xfrm>
            <a:off x="6766560" y="2551176"/>
            <a:ext cx="4864608" cy="640080"/>
          </a:xfrm>
          <a:prstGeom prst="roundRect">
            <a:avLst>
              <a:gd name="adj" fmla="val 12000"/>
            </a:avLst>
          </a:prstGeom>
          <a:solidFill>
            <a:srgbClr val="34D399">
              <a:alpha val="16000"/>
            </a:srgbClr>
          </a:solidFill>
          <a:ln w="28575">
            <a:solidFill>
              <a:srgbClr val="34D399"/>
            </a:solidFill>
            <a:prstDash val="solid"/>
          </a:ln>
        </p:spPr>
        <p:txBody>
          <a:bodyPr/>
          <a:lstStyle/>
          <a:p>
            <a:endParaRPr lang="en-US"/>
          </a:p>
        </p:txBody>
      </p:sp>
      <p:sp>
        <p:nvSpPr>
          <p:cNvPr id="120" name="ans"/>
          <p:cNvSpPr/>
          <p:nvPr/>
        </p:nvSpPr>
        <p:spPr>
          <a:xfrm>
            <a:off x="543154" y="4983480"/>
            <a:ext cx="11087100" cy="822960"/>
          </a:xfrm>
          <a:prstGeom prst="roundRect">
            <a:avLst>
              <a:gd name="adj" fmla="val 12000"/>
            </a:avLst>
          </a:prstGeom>
          <a:solidFill>
            <a:srgbClr val="0C1628"/>
          </a:solidFill>
          <a:ln w="12700">
            <a:solidFill>
              <a:srgbClr val="34D399"/>
            </a:solidFill>
            <a:prstDash val="solid"/>
          </a:ln>
        </p:spPr>
        <p:txBody>
          <a:bodyPr wrap="square" lIns="209398" tIns="75895" rIns="209398" bIns="75895" rtlCol="0" anchor="ctr">
            <a:noAutofit/>
          </a:bodyPr>
          <a:lstStyle/>
          <a:p>
            <a:pPr marL="0" indent="0" algn="ctr">
              <a:spcBef>
                <a:spcPts val="0"/>
              </a:spcBef>
              <a:spcAft>
                <a:spcPts val="0"/>
              </a:spcAft>
              <a:buNone/>
            </a:pPr>
            <a:r>
              <a:rPr lang="en-US" sz="1300" b="1" dirty="0">
                <a:solidFill>
                  <a:srgbClr val="34D399"/>
                </a:solidFill>
                <a:latin typeface="Segoe UI"/>
                <a:ea typeface="Segoe UI"/>
                <a:cs typeface="Segoe UI"/>
              </a:rPr>
              <a:t>ANSWER B   </a:t>
            </a:r>
            <a:r>
              <a:rPr lang="en-US" sz="1300" b="0" dirty="0">
                <a:solidFill>
                  <a:srgbClr val="E2E8F0"/>
                </a:solidFill>
                <a:latin typeface="Segoe UI"/>
                <a:ea typeface="Segoe UI"/>
                <a:cs typeface="Segoe UI"/>
              </a:rPr>
              <a:t>Other tests created invoices first, so the number depends on run order. Assert second.Number == first.Number + 1.</a:t>
            </a:r>
            <a:endParaRPr lang="en-US" sz="1300" dirty="0"/>
          </a:p>
        </p:txBody>
      </p:sp>
    </p:spTree>
    <p:extLst>
      <p:ext uri="{BB962C8B-B14F-4D97-AF65-F5344CB8AC3E}">
        <p14:creationId xmlns:p14="http://schemas.microsoft.com/office/powerpoint/2010/main" val="51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400"/>
                                        <p:tgtEl>
                                          <p:spTgt spid="1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400"/>
                                        <p:tgtEl>
                                          <p:spTgt spid="1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7"/>
                                        </p:tgtEl>
                                        <p:attrNameLst>
                                          <p:attrName>style.visibility</p:attrName>
                                        </p:attrNameLst>
                                      </p:cBhvr>
                                      <p:to>
                                        <p:strVal val="visible"/>
                                      </p:to>
                                    </p:set>
                                    <p:animEffect transition="in" filter="fade">
                                      <p:cBhvr>
                                        <p:cTn id="13" dur="400"/>
                                        <p:tgtEl>
                                          <p:spTgt spid="1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8"/>
                                        </p:tgtEl>
                                        <p:attrNameLst>
                                          <p:attrName>style.visibility</p:attrName>
                                        </p:attrNameLst>
                                      </p:cBhvr>
                                      <p:to>
                                        <p:strVal val="visible"/>
                                      </p:to>
                                    </p:set>
                                    <p:animEffect transition="in" filter="fade">
                                      <p:cBhvr>
                                        <p:cTn id="16" dur="400"/>
                                        <p:tgtEl>
                                          <p:spTgt spid="1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9"/>
                                        </p:tgtEl>
                                        <p:attrNameLst>
                                          <p:attrName>style.visibility</p:attrName>
                                        </p:attrNameLst>
                                      </p:cBhvr>
                                      <p:to>
                                        <p:strVal val="visible"/>
                                      </p:to>
                                    </p:set>
                                    <p:animEffect transition="in" filter="fade">
                                      <p:cBhvr>
                                        <p:cTn id="21" dur="400"/>
                                        <p:tgtEl>
                                          <p:spTgt spid="1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0"/>
                                        </p:tgtEl>
                                        <p:attrNameLst>
                                          <p:attrName>style.visibility</p:attrName>
                                        </p:attrNameLst>
                                      </p:cBhvr>
                                      <p:to>
                                        <p:strVal val="visible"/>
                                      </p:to>
                                    </p:set>
                                    <p:animEffect transition="in" filter="fade">
                                      <p:cBhvr>
                                        <p:cTn id="24" dur="4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P spid="117" grpId="0" animBg="1"/>
      <p:bldP spid="118" grpId="0" animBg="1"/>
      <p:bldP spid="119" grpId="0" animBg="1"/>
      <p:bldP spid="120"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_bg"/>
          <p:cNvSpPr/>
          <p:nvPr/>
        </p:nvSpPr>
        <p:spPr>
          <a:xfrm>
            <a:off x="0" y="0"/>
            <a:ext cx="12191970" cy="6858000"/>
          </a:xfrm>
          <a:prstGeom prst="rect">
            <a:avLst/>
          </a:prstGeom>
          <a:solidFill>
            <a:srgbClr val="0F172A"/>
          </a:solidFill>
          <a:ln w="12700">
            <a:solidFill>
              <a:srgbClr val="0F172A"/>
            </a:solidFill>
            <a:prstDash val="solid"/>
          </a:ln>
        </p:spPr>
        <p:txBody>
          <a:bodyPr/>
          <a:lstStyle/>
          <a:p>
            <a:endParaRPr lang="en-US"/>
          </a:p>
        </p:txBody>
      </p:sp>
      <p:sp>
        <p:nvSpPr>
          <p:cNvPr id="3" name="Frame_bar_blue"/>
          <p:cNvSpPr/>
          <p:nvPr/>
        </p:nvSpPr>
        <p:spPr>
          <a:xfrm>
            <a:off x="0" y="0"/>
            <a:ext cx="12191970" cy="54864"/>
          </a:xfrm>
          <a:prstGeom prst="rect">
            <a:avLst/>
          </a:prstGeom>
          <a:solidFill>
            <a:srgbClr val="005EB5"/>
          </a:solidFill>
          <a:ln w="12700">
            <a:solidFill>
              <a:srgbClr val="005EB5"/>
            </a:solidFill>
            <a:prstDash val="solid"/>
          </a:ln>
        </p:spPr>
        <p:txBody>
          <a:bodyPr/>
          <a:lstStyle/>
          <a:p>
            <a:endParaRPr lang="en-US"/>
          </a:p>
        </p:txBody>
      </p:sp>
      <p:sp>
        <p:nvSpPr>
          <p:cNvPr id="4" name="Frame_bar_cyan"/>
          <p:cNvSpPr/>
          <p:nvPr/>
        </p:nvSpPr>
        <p:spPr>
          <a:xfrm>
            <a:off x="0" y="54864"/>
            <a:ext cx="12191970" cy="19050"/>
          </a:xfrm>
          <a:prstGeom prst="rect">
            <a:avLst/>
          </a:prstGeom>
          <a:solidFill>
            <a:srgbClr val="13D0F7">
              <a:alpha val="65000"/>
            </a:srgbClr>
          </a:solidFill>
          <a:ln w="12700">
            <a:solidFill>
              <a:srgbClr val="13D0F7">
                <a:alpha val="65000"/>
              </a:srgbClr>
            </a:solidFill>
            <a:prstDash val="solid"/>
          </a:ln>
        </p:spPr>
        <p:txBody>
          <a:bodyPr/>
          <a:lstStyle/>
          <a:p>
            <a:endParaRPr lang="en-US"/>
          </a:p>
        </p:txBody>
      </p:sp>
      <p:sp>
        <p:nvSpPr>
          <p:cNvPr id="5" name="Frame_glow_left"/>
          <p:cNvSpPr/>
          <p:nvPr/>
        </p:nvSpPr>
        <p:spPr>
          <a:xfrm>
            <a:off x="-2019270" y="-1647840"/>
            <a:ext cx="6858000" cy="6858000"/>
          </a:xfrm>
          <a:prstGeom prst="ellipse">
            <a:avLst/>
          </a:prstGeom>
          <a:solidFill>
            <a:srgbClr val="13D0F7">
              <a:alpha val="7000"/>
            </a:srgbClr>
          </a:solidFill>
          <a:ln w="12700">
            <a:solidFill>
              <a:srgbClr val="13D0F7">
                <a:alpha val="7000"/>
              </a:srgbClr>
            </a:solidFill>
            <a:prstDash val="solid"/>
          </a:ln>
        </p:spPr>
        <p:txBody>
          <a:bodyPr/>
          <a:lstStyle/>
          <a:p>
            <a:endParaRPr lang="en-US"/>
          </a:p>
        </p:txBody>
      </p:sp>
      <p:sp>
        <p:nvSpPr>
          <p:cNvPr id="6" name="Frame_glow_right"/>
          <p:cNvSpPr/>
          <p:nvPr/>
        </p:nvSpPr>
        <p:spPr>
          <a:xfrm>
            <a:off x="8410560" y="4381530"/>
            <a:ext cx="5943600" cy="5943600"/>
          </a:xfrm>
          <a:prstGeom prst="ellipse">
            <a:avLst/>
          </a:prstGeom>
          <a:solidFill>
            <a:srgbClr val="005EB5">
              <a:alpha val="6000"/>
            </a:srgbClr>
          </a:solidFill>
          <a:ln w="12700">
            <a:solidFill>
              <a:srgbClr val="005EB5">
                <a:alpha val="6000"/>
              </a:srgbClr>
            </a:solidFill>
            <a:prstDash val="solid"/>
          </a:ln>
        </p:spPr>
        <p:txBody>
          <a:bodyPr/>
          <a:lstStyle/>
          <a:p>
            <a:endParaRPr lang="en-US"/>
          </a:p>
        </p:txBody>
      </p:sp>
      <p:sp>
        <p:nvSpPr>
          <p:cNvPr id="7" name="Tag_pill"/>
          <p:cNvSpPr/>
          <p:nvPr/>
        </p:nvSpPr>
        <p:spPr>
          <a:xfrm>
            <a:off x="542925" y="495300"/>
            <a:ext cx="1172000" cy="285750"/>
          </a:xfrm>
          <a:prstGeom prst="roundRect">
            <a:avLst>
              <a:gd name="adj" fmla="val 23333"/>
            </a:avLst>
          </a:prstGeom>
          <a:solidFill>
            <a:srgbClr val="13D0F7">
              <a:alpha val="18000"/>
            </a:srgbClr>
          </a:solidFill>
          <a:ln w="12700">
            <a:solidFill>
              <a:srgbClr val="13D0F7"/>
            </a:solidFill>
            <a:prstDash val="solid"/>
          </a:ln>
        </p:spPr>
        <p:txBody>
          <a:bodyPr wrap="square" lIns="0" tIns="0" rIns="0" bIns="0" rtlCol="0" anchor="ctr">
            <a:noAutofit/>
          </a:bodyPr>
          <a:lstStyle/>
          <a:p>
            <a:pPr marL="0" indent="0" algn="ctr">
              <a:spcBef>
                <a:spcPts val="0"/>
              </a:spcBef>
              <a:spcAft>
                <a:spcPts val="0"/>
              </a:spcAft>
              <a:buNone/>
            </a:pPr>
            <a:r>
              <a:rPr lang="en-US" sz="1000" b="1" dirty="0">
                <a:solidFill>
                  <a:srgbClr val="13D0F7"/>
                </a:solidFill>
                <a:latin typeface="Segoe UI"/>
                <a:ea typeface="Segoe UI"/>
                <a:cs typeface="Segoe UI"/>
              </a:rPr>
              <a:t>CHEAT SHEET</a:t>
            </a:r>
            <a:endParaRPr lang="en-US" sz="1000" dirty="0"/>
          </a:p>
        </p:txBody>
      </p:sp>
      <p:sp>
        <p:nvSpPr>
          <p:cNvPr id="8" name="Title"/>
          <p:cNvSpPr txBox="1"/>
          <p:nvPr/>
        </p:nvSpPr>
        <p:spPr>
          <a:xfrm>
            <a:off x="542925" y="914400"/>
            <a:ext cx="10972800" cy="542925"/>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3000" b="1" dirty="0">
                <a:solidFill>
                  <a:srgbClr val="FFFFFF"/>
                </a:solidFill>
                <a:latin typeface="Segoe UI"/>
                <a:ea typeface="Segoe UI"/>
                <a:cs typeface="Segoe UI"/>
              </a:rPr>
              <a:t>What to Use When: Unit Testing</a:t>
            </a:r>
            <a:endParaRPr lang="en-US" sz="3000" dirty="0"/>
          </a:p>
        </p:txBody>
      </p:sp>
      <p:sp>
        <p:nvSpPr>
          <p:cNvPr id="9" name="Footer_rule"/>
          <p:cNvSpPr/>
          <p:nvPr/>
        </p:nvSpPr>
        <p:spPr>
          <a:xfrm>
            <a:off x="495300" y="6286500"/>
            <a:ext cx="11182350" cy="0"/>
          </a:xfrm>
          <a:prstGeom prst="line">
            <a:avLst/>
          </a:prstGeom>
          <a:noFill/>
          <a:ln w="9525">
            <a:solidFill>
              <a:srgbClr val="1E3A5F"/>
            </a:solidFill>
            <a:prstDash val="solid"/>
          </a:ln>
        </p:spPr>
        <p:txBody>
          <a:bodyPr/>
          <a:lstStyle/>
          <a:p>
            <a:endParaRPr lang="en-US"/>
          </a:p>
        </p:txBody>
      </p:sp>
      <p:pic>
        <p:nvPicPr>
          <p:cNvPr id="10" name="Logo" descr="SIMULATION logo"/>
          <p:cNvPicPr>
            <a:picLocks noChangeAspect="1"/>
          </p:cNvPicPr>
          <p:nvPr/>
        </p:nvPicPr>
        <p:blipFill>
          <a:blip r:embed="rId3"/>
          <a:stretch>
            <a:fillRect/>
          </a:stretch>
        </p:blipFill>
        <p:spPr>
          <a:xfrm>
            <a:off x="495300" y="6381750"/>
            <a:ext cx="342900" cy="257175"/>
          </a:xfrm>
          <a:prstGeom prst="rect">
            <a:avLst/>
          </a:prstGeom>
        </p:spPr>
      </p:pic>
      <p:sp>
        <p:nvSpPr>
          <p:cNvPr id="11" name="Footer_brand"/>
          <p:cNvSpPr txBox="1"/>
          <p:nvPr/>
        </p:nvSpPr>
        <p:spPr>
          <a:xfrm>
            <a:off x="914400" y="6362700"/>
            <a:ext cx="5029200" cy="24765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850" b="1" dirty="0">
                <a:solidFill>
                  <a:srgbClr val="FFFFFF"/>
                </a:solidFill>
                <a:latin typeface="Segoe UI"/>
                <a:ea typeface="Segoe UI"/>
                <a:cs typeface="Segoe UI"/>
              </a:rPr>
              <a:t>SIMULATION</a:t>
            </a:r>
            <a:r>
              <a:rPr lang="en-US" sz="850" b="0" dirty="0">
                <a:solidFill>
                  <a:srgbClr val="64748B"/>
                </a:solidFill>
                <a:latin typeface="Segoe UI"/>
                <a:ea typeface="Segoe UI"/>
                <a:cs typeface="Segoe UI"/>
              </a:rPr>
              <a:t>  ·  </a:t>
            </a:r>
            <a:r>
              <a:rPr lang="en-US" sz="850" b="0" dirty="0">
                <a:solidFill>
                  <a:srgbClr val="94A3B8"/>
                </a:solidFill>
                <a:latin typeface="Segoe UI"/>
                <a:ea typeface="Segoe UI"/>
                <a:cs typeface="Segoe UI"/>
              </a:rPr>
              <a:t>Software House &amp; Academy</a:t>
            </a:r>
            <a:endParaRPr lang="en-US" sz="850" dirty="0"/>
          </a:p>
        </p:txBody>
      </p:sp>
      <p:sp>
        <p:nvSpPr>
          <p:cNvPr id="12" name="Footer_label"/>
          <p:cNvSpPr txBox="1"/>
          <p:nvPr/>
        </p:nvSpPr>
        <p:spPr>
          <a:xfrm>
            <a:off x="3800475" y="6362700"/>
            <a:ext cx="4572000" cy="24765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850" b="0" dirty="0">
                <a:solidFill>
                  <a:srgbClr val="64748B"/>
                </a:solidFill>
                <a:latin typeface="Segoe UI"/>
                <a:ea typeface="Segoe UI"/>
                <a:cs typeface="Segoe UI"/>
              </a:rPr>
              <a:t>UNIT TESTING</a:t>
            </a:r>
            <a:endParaRPr lang="en-US" sz="850" dirty="0"/>
          </a:p>
        </p:txBody>
      </p:sp>
      <p:sp>
        <p:nvSpPr>
          <p:cNvPr id="13" name="Footer_url"/>
          <p:cNvSpPr txBox="1"/>
          <p:nvPr/>
        </p:nvSpPr>
        <p:spPr>
          <a:xfrm>
            <a:off x="9258300" y="6362700"/>
            <a:ext cx="1457325"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4D91F0"/>
                </a:solidFill>
                <a:latin typeface="Segoe UI"/>
                <a:ea typeface="Segoe UI"/>
                <a:cs typeface="Segoe UI"/>
              </a:rPr>
              <a:t>simulationeg.com</a:t>
            </a:r>
            <a:endParaRPr lang="en-US" sz="850" dirty="0"/>
          </a:p>
        </p:txBody>
      </p:sp>
      <p:sp>
        <p:nvSpPr>
          <p:cNvPr id="14" name="Footer_num"/>
          <p:cNvSpPr txBox="1"/>
          <p:nvPr/>
        </p:nvSpPr>
        <p:spPr>
          <a:xfrm>
            <a:off x="11229975" y="6362700"/>
            <a:ext cx="457200" cy="24765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850" b="0" dirty="0">
                <a:solidFill>
                  <a:srgbClr val="64748B"/>
                </a:solidFill>
                <a:latin typeface="Segoe UI"/>
                <a:ea typeface="Segoe UI"/>
                <a:cs typeface="Segoe UI"/>
              </a:rPr>
              <a:t>154</a:t>
            </a:r>
            <a:endParaRPr lang="en-US" sz="850" dirty="0"/>
          </a:p>
        </p:txBody>
      </p:sp>
      <p:sp>
        <p:nvSpPr>
          <p:cNvPr id="101" name="h1"/>
          <p:cNvSpPr txBox="1"/>
          <p:nvPr/>
        </p:nvSpPr>
        <p:spPr>
          <a:xfrm>
            <a:off x="689458" y="1481328"/>
            <a:ext cx="320040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94A3B8"/>
                </a:solidFill>
                <a:latin typeface="Segoe UI"/>
                <a:ea typeface="Segoe UI"/>
                <a:cs typeface="Segoe UI"/>
              </a:rPr>
              <a:t>SITUATION</a:t>
            </a:r>
            <a:endParaRPr lang="en-US" sz="1000" dirty="0"/>
          </a:p>
        </p:txBody>
      </p:sp>
      <p:sp>
        <p:nvSpPr>
          <p:cNvPr id="102" name="h2"/>
          <p:cNvSpPr txBox="1"/>
          <p:nvPr/>
        </p:nvSpPr>
        <p:spPr>
          <a:xfrm>
            <a:off x="4118458" y="1481328"/>
            <a:ext cx="393192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Segoe UI"/>
                <a:ea typeface="Segoe UI"/>
                <a:cs typeface="Segoe UI"/>
              </a:rPr>
              <a:t>✓  USE</a:t>
            </a:r>
            <a:endParaRPr lang="en-US" sz="1000" dirty="0"/>
          </a:p>
        </p:txBody>
      </p:sp>
      <p:sp>
        <p:nvSpPr>
          <p:cNvPr id="103" name="h3"/>
          <p:cNvSpPr txBox="1"/>
          <p:nvPr/>
        </p:nvSpPr>
        <p:spPr>
          <a:xfrm>
            <a:off x="8278978" y="1481328"/>
            <a:ext cx="32918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F87171"/>
                </a:solidFill>
                <a:latin typeface="Segoe UI"/>
                <a:ea typeface="Segoe UI"/>
                <a:cs typeface="Segoe UI"/>
              </a:rPr>
              <a:t>✗  NOT</a:t>
            </a:r>
            <a:endParaRPr lang="en-US" sz="1000" dirty="0"/>
          </a:p>
        </p:txBody>
      </p:sp>
      <p:grpSp>
        <p:nvGrpSpPr>
          <p:cNvPr id="108" name="r0"/>
          <p:cNvGrpSpPr/>
          <p:nvPr/>
        </p:nvGrpSpPr>
        <p:grpSpPr>
          <a:xfrm>
            <a:off x="543154" y="1764792"/>
            <a:ext cx="11087100" cy="274320"/>
            <a:chOff x="543154" y="1764792"/>
            <a:chExt cx="11087100" cy="274320"/>
          </a:xfrm>
        </p:grpSpPr>
        <p:sp>
          <p:nvSpPr>
            <p:cNvPr id="104" name="r0bg"/>
            <p:cNvSpPr/>
            <p:nvPr/>
          </p:nvSpPr>
          <p:spPr>
            <a:xfrm>
              <a:off x="543154" y="1764792"/>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05" name="r0a"/>
            <p:cNvSpPr txBox="1"/>
            <p:nvPr/>
          </p:nvSpPr>
          <p:spPr>
            <a:xfrm>
              <a:off x="689458" y="1764792"/>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One fixed example</a:t>
              </a:r>
              <a:endParaRPr lang="en-US" sz="1050" dirty="0"/>
            </a:p>
          </p:txBody>
        </p:sp>
        <p:sp>
          <p:nvSpPr>
            <p:cNvPr id="106" name="r0b"/>
            <p:cNvSpPr txBox="1"/>
            <p:nvPr/>
          </p:nvSpPr>
          <p:spPr>
            <a:xfrm>
              <a:off x="4118458" y="1764792"/>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[Fact]</a:t>
              </a:r>
              <a:endParaRPr lang="en-US" sz="1000" dirty="0"/>
            </a:p>
          </p:txBody>
        </p:sp>
        <p:sp>
          <p:nvSpPr>
            <p:cNvPr id="107" name="r0c"/>
            <p:cNvSpPr txBox="1"/>
            <p:nvPr/>
          </p:nvSpPr>
          <p:spPr>
            <a:xfrm>
              <a:off x="8278978" y="1764792"/>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one method per value, copy-pasted</a:t>
              </a:r>
              <a:endParaRPr lang="en-US" sz="1000" dirty="0"/>
            </a:p>
          </p:txBody>
        </p:sp>
      </p:grpSp>
      <p:grpSp>
        <p:nvGrpSpPr>
          <p:cNvPr id="113" name="r1"/>
          <p:cNvGrpSpPr/>
          <p:nvPr/>
        </p:nvGrpSpPr>
        <p:grpSpPr>
          <a:xfrm>
            <a:off x="543154" y="2080260"/>
            <a:ext cx="11087100" cy="274320"/>
            <a:chOff x="543154" y="2080260"/>
            <a:chExt cx="11087100" cy="274320"/>
          </a:xfrm>
        </p:grpSpPr>
        <p:sp>
          <p:nvSpPr>
            <p:cNvPr id="109" name="r1bg"/>
            <p:cNvSpPr/>
            <p:nvPr/>
          </p:nvSpPr>
          <p:spPr>
            <a:xfrm>
              <a:off x="543154" y="2080260"/>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0" name="r1a"/>
            <p:cNvSpPr txBox="1"/>
            <p:nvPr/>
          </p:nvSpPr>
          <p:spPr>
            <a:xfrm>
              <a:off x="689458" y="2080260"/>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Same test, many inputs</a:t>
              </a:r>
              <a:endParaRPr lang="en-US" sz="1050" dirty="0"/>
            </a:p>
          </p:txBody>
        </p:sp>
        <p:sp>
          <p:nvSpPr>
            <p:cNvPr id="111" name="r1b"/>
            <p:cNvSpPr txBox="1"/>
            <p:nvPr/>
          </p:nvSpPr>
          <p:spPr>
            <a:xfrm>
              <a:off x="4118458" y="2080260"/>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[Theory] + [InlineData(…)]</a:t>
              </a:r>
              <a:endParaRPr lang="en-US" sz="1000" dirty="0"/>
            </a:p>
          </p:txBody>
        </p:sp>
        <p:sp>
          <p:nvSpPr>
            <p:cNvPr id="112" name="r1c"/>
            <p:cNvSpPr txBox="1"/>
            <p:nvPr/>
          </p:nvSpPr>
          <p:spPr>
            <a:xfrm>
              <a:off x="8278978" y="2080260"/>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a loop inside one test</a:t>
              </a:r>
              <a:endParaRPr lang="en-US" sz="1000" dirty="0"/>
            </a:p>
          </p:txBody>
        </p:sp>
      </p:grpSp>
      <p:grpSp>
        <p:nvGrpSpPr>
          <p:cNvPr id="118" name="r2"/>
          <p:cNvGrpSpPr/>
          <p:nvPr/>
        </p:nvGrpSpPr>
        <p:grpSpPr>
          <a:xfrm>
            <a:off x="543154" y="2395728"/>
            <a:ext cx="11087100" cy="274320"/>
            <a:chOff x="543154" y="2395728"/>
            <a:chExt cx="11087100" cy="274320"/>
          </a:xfrm>
        </p:grpSpPr>
        <p:sp>
          <p:nvSpPr>
            <p:cNvPr id="114" name="r2bg"/>
            <p:cNvSpPr/>
            <p:nvPr/>
          </p:nvSpPr>
          <p:spPr>
            <a:xfrm>
              <a:off x="543154" y="2395728"/>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15" name="r2a"/>
            <p:cNvSpPr txBox="1"/>
            <p:nvPr/>
          </p:nvSpPr>
          <p:spPr>
            <a:xfrm>
              <a:off x="689458" y="2395728"/>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Rows with decimal or objects</a:t>
              </a:r>
              <a:endParaRPr lang="en-US" sz="1050" dirty="0"/>
            </a:p>
          </p:txBody>
        </p:sp>
        <p:sp>
          <p:nvSpPr>
            <p:cNvPr id="116" name="r2b"/>
            <p:cNvSpPr txBox="1"/>
            <p:nvPr/>
          </p:nvSpPr>
          <p:spPr>
            <a:xfrm>
              <a:off x="4118458" y="2395728"/>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[MemberData] + TheoryData&lt;…&gt;</a:t>
              </a:r>
              <a:endParaRPr lang="en-US" sz="1000" dirty="0"/>
            </a:p>
          </p:txBody>
        </p:sp>
        <p:sp>
          <p:nvSpPr>
            <p:cNvPr id="117" name="r2c"/>
            <p:cNvSpPr txBox="1"/>
            <p:nvPr/>
          </p:nvSpPr>
          <p:spPr>
            <a:xfrm>
              <a:off x="8278978" y="2395728"/>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[InlineData(15m)]  (does not compile)</a:t>
              </a:r>
              <a:endParaRPr lang="en-US" sz="1000" dirty="0"/>
            </a:p>
          </p:txBody>
        </p:sp>
      </p:grpSp>
      <p:grpSp>
        <p:nvGrpSpPr>
          <p:cNvPr id="123" name="r3"/>
          <p:cNvGrpSpPr/>
          <p:nvPr/>
        </p:nvGrpSpPr>
        <p:grpSpPr>
          <a:xfrm>
            <a:off x="543154" y="2711196"/>
            <a:ext cx="11087100" cy="274320"/>
            <a:chOff x="543154" y="2711196"/>
            <a:chExt cx="11087100" cy="274320"/>
          </a:xfrm>
        </p:grpSpPr>
        <p:sp>
          <p:nvSpPr>
            <p:cNvPr id="119" name="r3bg"/>
            <p:cNvSpPr/>
            <p:nvPr/>
          </p:nvSpPr>
          <p:spPr>
            <a:xfrm>
              <a:off x="543154" y="2711196"/>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0" name="r3a"/>
            <p:cNvSpPr txBox="1"/>
            <p:nvPr/>
          </p:nvSpPr>
          <p:spPr>
            <a:xfrm>
              <a:off x="689458" y="2711196"/>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A rule must refuse</a:t>
              </a:r>
              <a:endParaRPr lang="en-US" sz="1050" dirty="0"/>
            </a:p>
          </p:txBody>
        </p:sp>
        <p:sp>
          <p:nvSpPr>
            <p:cNvPr id="121" name="r3b"/>
            <p:cNvSpPr txBox="1"/>
            <p:nvPr/>
          </p:nvSpPr>
          <p:spPr>
            <a:xfrm>
              <a:off x="4118458" y="2711196"/>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Should.Throw&lt;T&gt;(…).RuleId.ShouldBe(…)</a:t>
              </a:r>
              <a:endParaRPr lang="en-US" sz="1000" dirty="0"/>
            </a:p>
          </p:txBody>
        </p:sp>
        <p:sp>
          <p:nvSpPr>
            <p:cNvPr id="122" name="r3c"/>
            <p:cNvSpPr txBox="1"/>
            <p:nvPr/>
          </p:nvSpPr>
          <p:spPr>
            <a:xfrm>
              <a:off x="8278978" y="2711196"/>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try { … } catch { }  with no assert</a:t>
              </a:r>
              <a:endParaRPr lang="en-US" sz="1000" dirty="0"/>
            </a:p>
          </p:txBody>
        </p:sp>
      </p:grpSp>
      <p:grpSp>
        <p:nvGrpSpPr>
          <p:cNvPr id="128" name="r4"/>
          <p:cNvGrpSpPr/>
          <p:nvPr/>
        </p:nvGrpSpPr>
        <p:grpSpPr>
          <a:xfrm>
            <a:off x="543154" y="3026664"/>
            <a:ext cx="11087100" cy="274320"/>
            <a:chOff x="543154" y="3026664"/>
            <a:chExt cx="11087100" cy="274320"/>
          </a:xfrm>
        </p:grpSpPr>
        <p:sp>
          <p:nvSpPr>
            <p:cNvPr id="124" name="r4bg"/>
            <p:cNvSpPr/>
            <p:nvPr/>
          </p:nvSpPr>
          <p:spPr>
            <a:xfrm>
              <a:off x="543154" y="3026664"/>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25" name="r4a"/>
            <p:cNvSpPr txBox="1"/>
            <p:nvPr/>
          </p:nvSpPr>
          <p:spPr>
            <a:xfrm>
              <a:off x="689458" y="3026664"/>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Async code under test</a:t>
              </a:r>
              <a:endParaRPr lang="en-US" sz="1050" dirty="0"/>
            </a:p>
          </p:txBody>
        </p:sp>
        <p:sp>
          <p:nvSpPr>
            <p:cNvPr id="126" name="r4b"/>
            <p:cNvSpPr txBox="1"/>
            <p:nvPr/>
          </p:nvSpPr>
          <p:spPr>
            <a:xfrm>
              <a:off x="4118458" y="3026664"/>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async Task + await</a:t>
              </a:r>
              <a:endParaRPr lang="en-US" sz="1000" dirty="0"/>
            </a:p>
          </p:txBody>
        </p:sp>
        <p:sp>
          <p:nvSpPr>
            <p:cNvPr id="127" name="r4c"/>
            <p:cNvSpPr txBox="1"/>
            <p:nvPr/>
          </p:nvSpPr>
          <p:spPr>
            <a:xfrm>
              <a:off x="8278978" y="3026664"/>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async void · .Result</a:t>
              </a:r>
              <a:endParaRPr lang="en-US" sz="1000" dirty="0"/>
            </a:p>
          </p:txBody>
        </p:sp>
      </p:grpSp>
      <p:grpSp>
        <p:nvGrpSpPr>
          <p:cNvPr id="133" name="r5"/>
          <p:cNvGrpSpPr/>
          <p:nvPr/>
        </p:nvGrpSpPr>
        <p:grpSpPr>
          <a:xfrm>
            <a:off x="543154" y="3342132"/>
            <a:ext cx="11087100" cy="274320"/>
            <a:chOff x="543154" y="3342132"/>
            <a:chExt cx="11087100" cy="274320"/>
          </a:xfrm>
        </p:grpSpPr>
        <p:sp>
          <p:nvSpPr>
            <p:cNvPr id="129" name="r5bg"/>
            <p:cNvSpPr/>
            <p:nvPr/>
          </p:nvSpPr>
          <p:spPr>
            <a:xfrm>
              <a:off x="543154" y="3342132"/>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0" name="r5a"/>
            <p:cNvSpPr txBox="1"/>
            <p:nvPr/>
          </p:nvSpPr>
          <p:spPr>
            <a:xfrm>
              <a:off x="689458" y="3342132"/>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Setup / cleanup per test</a:t>
              </a:r>
              <a:endParaRPr lang="en-US" sz="1050" dirty="0"/>
            </a:p>
          </p:txBody>
        </p:sp>
        <p:sp>
          <p:nvSpPr>
            <p:cNvPr id="131" name="r5b"/>
            <p:cNvSpPr txBox="1"/>
            <p:nvPr/>
          </p:nvSpPr>
          <p:spPr>
            <a:xfrm>
              <a:off x="4118458" y="3342132"/>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constructor / IDisposable</a:t>
              </a:r>
              <a:endParaRPr lang="en-US" sz="1000" dirty="0"/>
            </a:p>
          </p:txBody>
        </p:sp>
        <p:sp>
          <p:nvSpPr>
            <p:cNvPr id="132" name="r5c"/>
            <p:cNvSpPr txBox="1"/>
            <p:nvPr/>
          </p:nvSpPr>
          <p:spPr>
            <a:xfrm>
              <a:off x="8278978" y="3342132"/>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static fields shared by tests</a:t>
              </a:r>
              <a:endParaRPr lang="en-US" sz="1000" dirty="0"/>
            </a:p>
          </p:txBody>
        </p:sp>
      </p:grpSp>
      <p:grpSp>
        <p:nvGrpSpPr>
          <p:cNvPr id="138" name="r6"/>
          <p:cNvGrpSpPr/>
          <p:nvPr/>
        </p:nvGrpSpPr>
        <p:grpSpPr>
          <a:xfrm>
            <a:off x="543154" y="3657600"/>
            <a:ext cx="11087100" cy="274320"/>
            <a:chOff x="543154" y="3657600"/>
            <a:chExt cx="11087100" cy="274320"/>
          </a:xfrm>
        </p:grpSpPr>
        <p:sp>
          <p:nvSpPr>
            <p:cNvPr id="134" name="r6bg"/>
            <p:cNvSpPr/>
            <p:nvPr/>
          </p:nvSpPr>
          <p:spPr>
            <a:xfrm>
              <a:off x="543154" y="3657600"/>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35" name="r6a"/>
            <p:cNvSpPr txBox="1"/>
            <p:nvPr/>
          </p:nvSpPr>
          <p:spPr>
            <a:xfrm>
              <a:off x="689458" y="3657600"/>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Time and randomness</a:t>
              </a:r>
              <a:endParaRPr lang="en-US" sz="1050" dirty="0"/>
            </a:p>
          </p:txBody>
        </p:sp>
        <p:sp>
          <p:nvSpPr>
            <p:cNvPr id="136" name="r6b"/>
            <p:cNvSpPr txBox="1"/>
            <p:nvPr/>
          </p:nvSpPr>
          <p:spPr>
            <a:xfrm>
              <a:off x="4118458" y="3657600"/>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pass it in · TimeProvider</a:t>
              </a:r>
              <a:endParaRPr lang="en-US" sz="1000" dirty="0"/>
            </a:p>
          </p:txBody>
        </p:sp>
        <p:sp>
          <p:nvSpPr>
            <p:cNvPr id="137" name="r6c"/>
            <p:cNvSpPr txBox="1"/>
            <p:nvPr/>
          </p:nvSpPr>
          <p:spPr>
            <a:xfrm>
              <a:off x="8278978" y="3657600"/>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DateTime.Now inside the code</a:t>
              </a:r>
              <a:endParaRPr lang="en-US" sz="1000" dirty="0"/>
            </a:p>
          </p:txBody>
        </p:sp>
      </p:grpSp>
      <p:grpSp>
        <p:nvGrpSpPr>
          <p:cNvPr id="143" name="r7"/>
          <p:cNvGrpSpPr/>
          <p:nvPr/>
        </p:nvGrpSpPr>
        <p:grpSpPr>
          <a:xfrm>
            <a:off x="543154" y="3973068"/>
            <a:ext cx="11087100" cy="274320"/>
            <a:chOff x="543154" y="3973068"/>
            <a:chExt cx="11087100" cy="274320"/>
          </a:xfrm>
        </p:grpSpPr>
        <p:sp>
          <p:nvSpPr>
            <p:cNvPr id="139" name="r7bg"/>
            <p:cNvSpPr/>
            <p:nvPr/>
          </p:nvSpPr>
          <p:spPr>
            <a:xfrm>
              <a:off x="543154" y="3973068"/>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0" name="r7a"/>
            <p:cNvSpPr txBox="1"/>
            <p:nvPr/>
          </p:nvSpPr>
          <p:spPr>
            <a:xfrm>
              <a:off x="689458" y="3973068"/>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Valid objects to arrange</a:t>
              </a:r>
              <a:endParaRPr lang="en-US" sz="1050" dirty="0"/>
            </a:p>
          </p:txBody>
        </p:sp>
        <p:sp>
          <p:nvSpPr>
            <p:cNvPr id="141" name="r7b"/>
            <p:cNvSpPr txBox="1"/>
            <p:nvPr/>
          </p:nvSpPr>
          <p:spPr>
            <a:xfrm>
              <a:off x="4118458" y="3973068"/>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a TestData helper</a:t>
              </a:r>
              <a:endParaRPr lang="en-US" sz="1000" dirty="0"/>
            </a:p>
          </p:txBody>
        </p:sp>
        <p:sp>
          <p:nvSpPr>
            <p:cNvPr id="142" name="r7c"/>
            <p:cNvSpPr txBox="1"/>
            <p:nvPr/>
          </p:nvSpPr>
          <p:spPr>
            <a:xfrm>
              <a:off x="8278978" y="3973068"/>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20 lines of setup in every test</a:t>
              </a:r>
              <a:endParaRPr lang="en-US" sz="1000" dirty="0"/>
            </a:p>
          </p:txBody>
        </p:sp>
      </p:grpSp>
      <p:grpSp>
        <p:nvGrpSpPr>
          <p:cNvPr id="148" name="r8"/>
          <p:cNvGrpSpPr/>
          <p:nvPr/>
        </p:nvGrpSpPr>
        <p:grpSpPr>
          <a:xfrm>
            <a:off x="543154" y="4288536"/>
            <a:ext cx="11087100" cy="274320"/>
            <a:chOff x="543154" y="4288536"/>
            <a:chExt cx="11087100" cy="274320"/>
          </a:xfrm>
        </p:grpSpPr>
        <p:sp>
          <p:nvSpPr>
            <p:cNvPr id="144" name="r8bg"/>
            <p:cNvSpPr/>
            <p:nvPr/>
          </p:nvSpPr>
          <p:spPr>
            <a:xfrm>
              <a:off x="543154" y="4288536"/>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45" name="r8a"/>
            <p:cNvSpPr txBox="1"/>
            <p:nvPr/>
          </p:nvSpPr>
          <p:spPr>
            <a:xfrm>
              <a:off x="689458" y="4288536"/>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A dependency must return X</a:t>
              </a:r>
              <a:endParaRPr lang="en-US" sz="1050" dirty="0"/>
            </a:p>
          </p:txBody>
        </p:sp>
        <p:sp>
          <p:nvSpPr>
            <p:cNvPr id="146" name="r8b"/>
            <p:cNvSpPr txBox="1"/>
            <p:nvPr/>
          </p:nvSpPr>
          <p:spPr>
            <a:xfrm>
              <a:off x="4118458" y="4288536"/>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stub: .Returns(…)</a:t>
              </a:r>
              <a:endParaRPr lang="en-US" sz="1000" dirty="0"/>
            </a:p>
          </p:txBody>
        </p:sp>
        <p:sp>
          <p:nvSpPr>
            <p:cNvPr id="147" name="r8c"/>
            <p:cNvSpPr txBox="1"/>
            <p:nvPr/>
          </p:nvSpPr>
          <p:spPr>
            <a:xfrm>
              <a:off x="8278978" y="4288536"/>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the real SMS provider / database</a:t>
              </a:r>
              <a:endParaRPr lang="en-US" sz="1000" dirty="0"/>
            </a:p>
          </p:txBody>
        </p:sp>
      </p:grpSp>
      <p:grpSp>
        <p:nvGrpSpPr>
          <p:cNvPr id="153" name="r9"/>
          <p:cNvGrpSpPr/>
          <p:nvPr/>
        </p:nvGrpSpPr>
        <p:grpSpPr>
          <a:xfrm>
            <a:off x="543154" y="4604004"/>
            <a:ext cx="11087100" cy="274320"/>
            <a:chOff x="543154" y="4604004"/>
            <a:chExt cx="11087100" cy="274320"/>
          </a:xfrm>
        </p:grpSpPr>
        <p:sp>
          <p:nvSpPr>
            <p:cNvPr id="149" name="r9bg"/>
            <p:cNvSpPr/>
            <p:nvPr/>
          </p:nvSpPr>
          <p:spPr>
            <a:xfrm>
              <a:off x="543154" y="4604004"/>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50" name="r9a"/>
            <p:cNvSpPr txBox="1"/>
            <p:nvPr/>
          </p:nvSpPr>
          <p:spPr>
            <a:xfrm>
              <a:off x="689458" y="4604004"/>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A call must (not) happen</a:t>
              </a:r>
              <a:endParaRPr lang="en-US" sz="1050" dirty="0"/>
            </a:p>
          </p:txBody>
        </p:sp>
        <p:sp>
          <p:nvSpPr>
            <p:cNvPr id="151" name="r9b"/>
            <p:cNvSpPr txBox="1"/>
            <p:nvPr/>
          </p:nvSpPr>
          <p:spPr>
            <a:xfrm>
              <a:off x="4118458" y="4604004"/>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mock: Received(1) / DidNotReceive()</a:t>
              </a:r>
              <a:endParaRPr lang="en-US" sz="1000" dirty="0"/>
            </a:p>
          </p:txBody>
        </p:sp>
        <p:sp>
          <p:nvSpPr>
            <p:cNvPr id="152" name="r9c"/>
            <p:cNvSpPr txBox="1"/>
            <p:nvPr/>
          </p:nvSpPr>
          <p:spPr>
            <a:xfrm>
              <a:off x="8278978" y="4604004"/>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verifying every call and log text</a:t>
              </a:r>
              <a:endParaRPr lang="en-US" sz="1000" dirty="0"/>
            </a:p>
          </p:txBody>
        </p:sp>
      </p:grpSp>
      <p:grpSp>
        <p:nvGrpSpPr>
          <p:cNvPr id="158" name="r10"/>
          <p:cNvGrpSpPr/>
          <p:nvPr/>
        </p:nvGrpSpPr>
        <p:grpSpPr>
          <a:xfrm>
            <a:off x="543154" y="4919472"/>
            <a:ext cx="11087100" cy="274320"/>
            <a:chOff x="543154" y="4919472"/>
            <a:chExt cx="11087100" cy="274320"/>
          </a:xfrm>
        </p:grpSpPr>
        <p:sp>
          <p:nvSpPr>
            <p:cNvPr id="154" name="r10bg"/>
            <p:cNvSpPr/>
            <p:nvPr/>
          </p:nvSpPr>
          <p:spPr>
            <a:xfrm>
              <a:off x="543154" y="4919472"/>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55" name="r10a"/>
            <p:cNvSpPr txBox="1"/>
            <p:nvPr/>
          </p:nvSpPr>
          <p:spPr>
            <a:xfrm>
              <a:off x="689458" y="4919472"/>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Readable assertions</a:t>
              </a:r>
              <a:endParaRPr lang="en-US" sz="1050" dirty="0"/>
            </a:p>
          </p:txBody>
        </p:sp>
        <p:sp>
          <p:nvSpPr>
            <p:cNvPr id="156" name="r10b"/>
            <p:cNvSpPr txBox="1"/>
            <p:nvPr/>
          </p:nvSpPr>
          <p:spPr>
            <a:xfrm>
              <a:off x="4118458" y="4919472"/>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Shouldly: x.ShouldBe(…)</a:t>
              </a:r>
              <a:endParaRPr lang="en-US" sz="1000" dirty="0"/>
            </a:p>
          </p:txBody>
        </p:sp>
        <p:sp>
          <p:nvSpPr>
            <p:cNvPr id="157" name="r10c"/>
            <p:cNvSpPr txBox="1"/>
            <p:nvPr/>
          </p:nvSpPr>
          <p:spPr>
            <a:xfrm>
              <a:off x="8278978" y="4919472"/>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FluentAssertions v8 without a license</a:t>
              </a:r>
              <a:endParaRPr lang="en-US" sz="1000" dirty="0"/>
            </a:p>
          </p:txBody>
        </p:sp>
      </p:grpSp>
      <p:grpSp>
        <p:nvGrpSpPr>
          <p:cNvPr id="163" name="r11"/>
          <p:cNvGrpSpPr/>
          <p:nvPr/>
        </p:nvGrpSpPr>
        <p:grpSpPr>
          <a:xfrm>
            <a:off x="543154" y="5234940"/>
            <a:ext cx="11087100" cy="274320"/>
            <a:chOff x="543154" y="5234940"/>
            <a:chExt cx="11087100" cy="274320"/>
          </a:xfrm>
        </p:grpSpPr>
        <p:sp>
          <p:nvSpPr>
            <p:cNvPr id="159" name="r11bg"/>
            <p:cNvSpPr/>
            <p:nvPr/>
          </p:nvSpPr>
          <p:spPr>
            <a:xfrm>
              <a:off x="543154" y="5234940"/>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60" name="r11a"/>
            <p:cNvSpPr txBox="1"/>
            <p:nvPr/>
          </p:nvSpPr>
          <p:spPr>
            <a:xfrm>
              <a:off x="689458" y="5234940"/>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Many realistic inputs</a:t>
              </a:r>
              <a:endParaRPr lang="en-US" sz="1050" dirty="0"/>
            </a:p>
          </p:txBody>
        </p:sp>
        <p:sp>
          <p:nvSpPr>
            <p:cNvPr id="161" name="r11b"/>
            <p:cNvSpPr txBox="1"/>
            <p:nvPr/>
          </p:nvSpPr>
          <p:spPr>
            <a:xfrm>
              <a:off x="4118458" y="5234940"/>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Bogus + UseSeed(…)</a:t>
              </a:r>
              <a:endParaRPr lang="en-US" sz="1000" dirty="0"/>
            </a:p>
          </p:txBody>
        </p:sp>
        <p:sp>
          <p:nvSpPr>
            <p:cNvPr id="162" name="r11c"/>
            <p:cNvSpPr txBox="1"/>
            <p:nvPr/>
          </p:nvSpPr>
          <p:spPr>
            <a:xfrm>
              <a:off x="8278978" y="5234940"/>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random data without a seed</a:t>
              </a:r>
              <a:endParaRPr lang="en-US" sz="1000" dirty="0"/>
            </a:p>
          </p:txBody>
        </p:sp>
      </p:grpSp>
      <p:grpSp>
        <p:nvGrpSpPr>
          <p:cNvPr id="168" name="r12"/>
          <p:cNvGrpSpPr/>
          <p:nvPr/>
        </p:nvGrpSpPr>
        <p:grpSpPr>
          <a:xfrm>
            <a:off x="543154" y="5550408"/>
            <a:ext cx="11087100" cy="274320"/>
            <a:chOff x="543154" y="5550408"/>
            <a:chExt cx="11087100" cy="274320"/>
          </a:xfrm>
        </p:grpSpPr>
        <p:sp>
          <p:nvSpPr>
            <p:cNvPr id="164" name="r12bg"/>
            <p:cNvSpPr/>
            <p:nvPr/>
          </p:nvSpPr>
          <p:spPr>
            <a:xfrm>
              <a:off x="543154" y="5550408"/>
              <a:ext cx="11087100" cy="274320"/>
            </a:xfrm>
            <a:prstGeom prst="roundRect">
              <a:avLst>
                <a:gd name="adj" fmla="val 16000"/>
              </a:avLst>
            </a:prstGeom>
            <a:solidFill>
              <a:srgbClr val="111B2E"/>
            </a:solidFill>
            <a:ln w="12700">
              <a:solidFill>
                <a:srgbClr val="1E3A5F"/>
              </a:solidFill>
              <a:prstDash val="solid"/>
            </a:ln>
          </p:spPr>
          <p:txBody>
            <a:bodyPr/>
            <a:lstStyle/>
            <a:p>
              <a:endParaRPr lang="en-US"/>
            </a:p>
          </p:txBody>
        </p:sp>
        <p:sp>
          <p:nvSpPr>
            <p:cNvPr id="165" name="r12a"/>
            <p:cNvSpPr txBox="1"/>
            <p:nvPr/>
          </p:nvSpPr>
          <p:spPr>
            <a:xfrm>
              <a:off x="689458" y="5550408"/>
              <a:ext cx="324612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E2E8F0"/>
                  </a:solidFill>
                  <a:latin typeface="Segoe UI"/>
                  <a:ea typeface="Segoe UI"/>
                  <a:cs typeface="Segoe UI"/>
                </a:rPr>
                <a:t>Is it really tested?</a:t>
              </a:r>
              <a:endParaRPr lang="en-US" sz="1050" dirty="0"/>
            </a:p>
          </p:txBody>
        </p:sp>
        <p:sp>
          <p:nvSpPr>
            <p:cNvPr id="166" name="r12b"/>
            <p:cNvSpPr txBox="1"/>
            <p:nvPr/>
          </p:nvSpPr>
          <p:spPr>
            <a:xfrm>
              <a:off x="4118458" y="5550408"/>
              <a:ext cx="397764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1" dirty="0">
                  <a:solidFill>
                    <a:srgbClr val="34D399"/>
                  </a:solidFill>
                  <a:latin typeface="Consolas"/>
                  <a:ea typeface="Consolas"/>
                  <a:cs typeface="Consolas"/>
                </a:rPr>
                <a:t>coverage as a flashlight + asserts</a:t>
              </a:r>
              <a:endParaRPr lang="en-US" sz="1000" dirty="0"/>
            </a:p>
          </p:txBody>
        </p:sp>
        <p:sp>
          <p:nvSpPr>
            <p:cNvPr id="167" name="r12c"/>
            <p:cNvSpPr txBox="1"/>
            <p:nvPr/>
          </p:nvSpPr>
          <p:spPr>
            <a:xfrm>
              <a:off x="8278978" y="5550408"/>
              <a:ext cx="3314700"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dirty="0">
                  <a:solidFill>
                    <a:srgbClr val="F87171"/>
                  </a:solidFill>
                  <a:latin typeface="Consolas"/>
                  <a:ea typeface="Consolas"/>
                  <a:cs typeface="Consolas"/>
                </a:rPr>
                <a:t>coverage % as the goal</a:t>
              </a:r>
              <a:endParaRPr lang="en-US" sz="1000" dirty="0"/>
            </a:p>
          </p:txBody>
        </p:sp>
      </p:grpSp>
    </p:spTree>
    <p:extLst>
      <p:ext uri="{BB962C8B-B14F-4D97-AF65-F5344CB8AC3E}">
        <p14:creationId xmlns:p14="http://schemas.microsoft.com/office/powerpoint/2010/main" val="51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400"/>
                                        <p:tgtEl>
                                          <p:spTgt spid="10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400"/>
                                        <p:tgtEl>
                                          <p:spTgt spid="103"/>
                                        </p:tgtEl>
                                      </p:cBhvr>
                                    </p:animEffect>
                                  </p:childTnLst>
                                </p:cTn>
                              </p:par>
                            </p:childTnLst>
                          </p:cTn>
                        </p:par>
                        <p:par>
                          <p:cTn id="14" fill="hold">
                            <p:stCondLst>
                              <p:cond delay="4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200"/>
                                        <p:tgtEl>
                                          <p:spTgt spid="108"/>
                                        </p:tgtEl>
                                      </p:cBhvr>
                                    </p:animEffect>
                                  </p:childTnLst>
                                </p:cTn>
                              </p:par>
                            </p:childTnLst>
                          </p:cTn>
                        </p:par>
                        <p:par>
                          <p:cTn id="18" fill="hold">
                            <p:stCondLst>
                              <p:cond delay="600"/>
                            </p:stCondLst>
                            <p:childTnLst>
                              <p:par>
                                <p:cTn id="19" presetID="10" presetClass="entr" presetSubtype="0" fill="hold" nodeType="afterEffect">
                                  <p:stCondLst>
                                    <p:cond delay="0"/>
                                  </p:stCondLst>
                                  <p:childTnLst>
                                    <p:set>
                                      <p:cBhvr>
                                        <p:cTn id="20" dur="1" fill="hold">
                                          <p:stCondLst>
                                            <p:cond delay="0"/>
                                          </p:stCondLst>
                                        </p:cTn>
                                        <p:tgtEl>
                                          <p:spTgt spid="113"/>
                                        </p:tgtEl>
                                        <p:attrNameLst>
                                          <p:attrName>style.visibility</p:attrName>
                                        </p:attrNameLst>
                                      </p:cBhvr>
                                      <p:to>
                                        <p:strVal val="visible"/>
                                      </p:to>
                                    </p:set>
                                    <p:animEffect transition="in" filter="fade">
                                      <p:cBhvr>
                                        <p:cTn id="21" dur="200"/>
                                        <p:tgtEl>
                                          <p:spTgt spid="113"/>
                                        </p:tgtEl>
                                      </p:cBhvr>
                                    </p:animEffect>
                                  </p:childTnLst>
                                </p:cTn>
                              </p:par>
                            </p:childTnLst>
                          </p:cTn>
                        </p:par>
                        <p:par>
                          <p:cTn id="22" fill="hold">
                            <p:stCondLst>
                              <p:cond delay="800"/>
                            </p:stCondLst>
                            <p:childTnLst>
                              <p:par>
                                <p:cTn id="23" presetID="10" presetClass="entr" presetSubtype="0" fill="hold" nodeType="afterEffect">
                                  <p:stCondLst>
                                    <p:cond delay="0"/>
                                  </p:stCondLst>
                                  <p:childTnLst>
                                    <p:set>
                                      <p:cBhvr>
                                        <p:cTn id="24" dur="1" fill="hold">
                                          <p:stCondLst>
                                            <p:cond delay="0"/>
                                          </p:stCondLst>
                                        </p:cTn>
                                        <p:tgtEl>
                                          <p:spTgt spid="118"/>
                                        </p:tgtEl>
                                        <p:attrNameLst>
                                          <p:attrName>style.visibility</p:attrName>
                                        </p:attrNameLst>
                                      </p:cBhvr>
                                      <p:to>
                                        <p:strVal val="visible"/>
                                      </p:to>
                                    </p:set>
                                    <p:animEffect transition="in" filter="fade">
                                      <p:cBhvr>
                                        <p:cTn id="25" dur="200"/>
                                        <p:tgtEl>
                                          <p:spTgt spid="118"/>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23"/>
                                        </p:tgtEl>
                                        <p:attrNameLst>
                                          <p:attrName>style.visibility</p:attrName>
                                        </p:attrNameLst>
                                      </p:cBhvr>
                                      <p:to>
                                        <p:strVal val="visible"/>
                                      </p:to>
                                    </p:set>
                                    <p:animEffect transition="in" filter="fade">
                                      <p:cBhvr>
                                        <p:cTn id="29" dur="200"/>
                                        <p:tgtEl>
                                          <p:spTgt spid="123"/>
                                        </p:tgtEl>
                                      </p:cBhvr>
                                    </p:animEffect>
                                  </p:childTnLst>
                                </p:cTn>
                              </p:par>
                            </p:childTnLst>
                          </p:cTn>
                        </p:par>
                        <p:par>
                          <p:cTn id="30" fill="hold">
                            <p:stCondLst>
                              <p:cond delay="1200"/>
                            </p:stCondLst>
                            <p:childTnLst>
                              <p:par>
                                <p:cTn id="31" presetID="10" presetClass="entr" presetSubtype="0" fill="hold" nodeType="afterEffect">
                                  <p:stCondLst>
                                    <p:cond delay="0"/>
                                  </p:stCondLst>
                                  <p:childTnLst>
                                    <p:set>
                                      <p:cBhvr>
                                        <p:cTn id="32" dur="1" fill="hold">
                                          <p:stCondLst>
                                            <p:cond delay="0"/>
                                          </p:stCondLst>
                                        </p:cTn>
                                        <p:tgtEl>
                                          <p:spTgt spid="128"/>
                                        </p:tgtEl>
                                        <p:attrNameLst>
                                          <p:attrName>style.visibility</p:attrName>
                                        </p:attrNameLst>
                                      </p:cBhvr>
                                      <p:to>
                                        <p:strVal val="visible"/>
                                      </p:to>
                                    </p:set>
                                    <p:animEffect transition="in" filter="fade">
                                      <p:cBhvr>
                                        <p:cTn id="33" dur="200"/>
                                        <p:tgtEl>
                                          <p:spTgt spid="128"/>
                                        </p:tgtEl>
                                      </p:cBhvr>
                                    </p:animEffect>
                                  </p:childTnLst>
                                </p:cTn>
                              </p:par>
                            </p:childTnLst>
                          </p:cTn>
                        </p:par>
                        <p:par>
                          <p:cTn id="34" fill="hold">
                            <p:stCondLst>
                              <p:cond delay="1400"/>
                            </p:stCondLst>
                            <p:childTnLst>
                              <p:par>
                                <p:cTn id="35" presetID="10" presetClass="entr" presetSubtype="0" fill="hold" nodeType="afterEffect">
                                  <p:stCondLst>
                                    <p:cond delay="0"/>
                                  </p:stCondLst>
                                  <p:childTnLst>
                                    <p:set>
                                      <p:cBhvr>
                                        <p:cTn id="36" dur="1" fill="hold">
                                          <p:stCondLst>
                                            <p:cond delay="0"/>
                                          </p:stCondLst>
                                        </p:cTn>
                                        <p:tgtEl>
                                          <p:spTgt spid="133"/>
                                        </p:tgtEl>
                                        <p:attrNameLst>
                                          <p:attrName>style.visibility</p:attrName>
                                        </p:attrNameLst>
                                      </p:cBhvr>
                                      <p:to>
                                        <p:strVal val="visible"/>
                                      </p:to>
                                    </p:set>
                                    <p:animEffect transition="in" filter="fade">
                                      <p:cBhvr>
                                        <p:cTn id="37" dur="200"/>
                                        <p:tgtEl>
                                          <p:spTgt spid="1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8"/>
                                        </p:tgtEl>
                                        <p:attrNameLst>
                                          <p:attrName>style.visibility</p:attrName>
                                        </p:attrNameLst>
                                      </p:cBhvr>
                                      <p:to>
                                        <p:strVal val="visible"/>
                                      </p:to>
                                    </p:set>
                                    <p:animEffect transition="in" filter="fade">
                                      <p:cBhvr>
                                        <p:cTn id="42" dur="200"/>
                                        <p:tgtEl>
                                          <p:spTgt spid="138"/>
                                        </p:tgtEl>
                                      </p:cBhvr>
                                    </p:animEffect>
                                  </p:childTnLst>
                                </p:cTn>
                              </p:par>
                            </p:childTnLst>
                          </p:cTn>
                        </p:par>
                        <p:par>
                          <p:cTn id="43" fill="hold">
                            <p:stCondLst>
                              <p:cond delay="200"/>
                            </p:stCondLst>
                            <p:childTnLst>
                              <p:par>
                                <p:cTn id="44" presetID="10" presetClass="entr" presetSubtype="0" fill="hold" nodeType="afterEffect">
                                  <p:stCondLst>
                                    <p:cond delay="0"/>
                                  </p:stCondLst>
                                  <p:childTnLst>
                                    <p:set>
                                      <p:cBhvr>
                                        <p:cTn id="45" dur="1" fill="hold">
                                          <p:stCondLst>
                                            <p:cond delay="0"/>
                                          </p:stCondLst>
                                        </p:cTn>
                                        <p:tgtEl>
                                          <p:spTgt spid="143"/>
                                        </p:tgtEl>
                                        <p:attrNameLst>
                                          <p:attrName>style.visibility</p:attrName>
                                        </p:attrNameLst>
                                      </p:cBhvr>
                                      <p:to>
                                        <p:strVal val="visible"/>
                                      </p:to>
                                    </p:set>
                                    <p:animEffect transition="in" filter="fade">
                                      <p:cBhvr>
                                        <p:cTn id="46" dur="200"/>
                                        <p:tgtEl>
                                          <p:spTgt spid="143"/>
                                        </p:tgtEl>
                                      </p:cBhvr>
                                    </p:animEffect>
                                  </p:childTnLst>
                                </p:cTn>
                              </p:par>
                            </p:childTnLst>
                          </p:cTn>
                        </p:par>
                        <p:par>
                          <p:cTn id="47" fill="hold">
                            <p:stCondLst>
                              <p:cond delay="400"/>
                            </p:stCondLst>
                            <p:childTnLst>
                              <p:par>
                                <p:cTn id="48" presetID="10" presetClass="entr" presetSubtype="0" fill="hold" nodeType="afterEffect">
                                  <p:stCondLst>
                                    <p:cond delay="0"/>
                                  </p:stCondLst>
                                  <p:childTnLst>
                                    <p:set>
                                      <p:cBhvr>
                                        <p:cTn id="49" dur="1" fill="hold">
                                          <p:stCondLst>
                                            <p:cond delay="0"/>
                                          </p:stCondLst>
                                        </p:cTn>
                                        <p:tgtEl>
                                          <p:spTgt spid="148"/>
                                        </p:tgtEl>
                                        <p:attrNameLst>
                                          <p:attrName>style.visibility</p:attrName>
                                        </p:attrNameLst>
                                      </p:cBhvr>
                                      <p:to>
                                        <p:strVal val="visible"/>
                                      </p:to>
                                    </p:set>
                                    <p:animEffect transition="in" filter="fade">
                                      <p:cBhvr>
                                        <p:cTn id="50" dur="200"/>
                                        <p:tgtEl>
                                          <p:spTgt spid="148"/>
                                        </p:tgtEl>
                                      </p:cBhvr>
                                    </p:animEffect>
                                  </p:childTnLst>
                                </p:cTn>
                              </p:par>
                            </p:childTnLst>
                          </p:cTn>
                        </p:par>
                        <p:par>
                          <p:cTn id="51" fill="hold">
                            <p:stCondLst>
                              <p:cond delay="600"/>
                            </p:stCondLst>
                            <p:childTnLst>
                              <p:par>
                                <p:cTn id="52" presetID="10" presetClass="entr" presetSubtype="0" fill="hold" nodeType="afterEffect">
                                  <p:stCondLst>
                                    <p:cond delay="0"/>
                                  </p:stCondLst>
                                  <p:childTnLst>
                                    <p:set>
                                      <p:cBhvr>
                                        <p:cTn id="53" dur="1" fill="hold">
                                          <p:stCondLst>
                                            <p:cond delay="0"/>
                                          </p:stCondLst>
                                        </p:cTn>
                                        <p:tgtEl>
                                          <p:spTgt spid="153"/>
                                        </p:tgtEl>
                                        <p:attrNameLst>
                                          <p:attrName>style.visibility</p:attrName>
                                        </p:attrNameLst>
                                      </p:cBhvr>
                                      <p:to>
                                        <p:strVal val="visible"/>
                                      </p:to>
                                    </p:set>
                                    <p:animEffect transition="in" filter="fade">
                                      <p:cBhvr>
                                        <p:cTn id="54" dur="200"/>
                                        <p:tgtEl>
                                          <p:spTgt spid="15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58"/>
                                        </p:tgtEl>
                                        <p:attrNameLst>
                                          <p:attrName>style.visibility</p:attrName>
                                        </p:attrNameLst>
                                      </p:cBhvr>
                                      <p:to>
                                        <p:strVal val="visible"/>
                                      </p:to>
                                    </p:set>
                                    <p:animEffect transition="in" filter="fade">
                                      <p:cBhvr>
                                        <p:cTn id="59" dur="200"/>
                                        <p:tgtEl>
                                          <p:spTgt spid="158"/>
                                        </p:tgtEl>
                                      </p:cBhvr>
                                    </p:animEffect>
                                  </p:childTnLst>
                                </p:cTn>
                              </p:par>
                            </p:childTnLst>
                          </p:cTn>
                        </p:par>
                        <p:par>
                          <p:cTn id="60" fill="hold">
                            <p:stCondLst>
                              <p:cond delay="200"/>
                            </p:stCondLst>
                            <p:childTnLst>
                              <p:par>
                                <p:cTn id="61" presetID="10" presetClass="entr" presetSubtype="0" fill="hold" nodeType="afterEffect">
                                  <p:stCondLst>
                                    <p:cond delay="0"/>
                                  </p:stCondLst>
                                  <p:childTnLst>
                                    <p:set>
                                      <p:cBhvr>
                                        <p:cTn id="62" dur="1" fill="hold">
                                          <p:stCondLst>
                                            <p:cond delay="0"/>
                                          </p:stCondLst>
                                        </p:cTn>
                                        <p:tgtEl>
                                          <p:spTgt spid="163"/>
                                        </p:tgtEl>
                                        <p:attrNameLst>
                                          <p:attrName>style.visibility</p:attrName>
                                        </p:attrNameLst>
                                      </p:cBhvr>
                                      <p:to>
                                        <p:strVal val="visible"/>
                                      </p:to>
                                    </p:set>
                                    <p:animEffect transition="in" filter="fade">
                                      <p:cBhvr>
                                        <p:cTn id="63" dur="200"/>
                                        <p:tgtEl>
                                          <p:spTgt spid="163"/>
                                        </p:tgtEl>
                                      </p:cBhvr>
                                    </p:animEffect>
                                  </p:childTnLst>
                                </p:cTn>
                              </p:par>
                            </p:childTnLst>
                          </p:cTn>
                        </p:par>
                        <p:par>
                          <p:cTn id="64" fill="hold">
                            <p:stCondLst>
                              <p:cond delay="400"/>
                            </p:stCondLst>
                            <p:childTnLst>
                              <p:par>
                                <p:cTn id="65" presetID="10" presetClass="entr" presetSubtype="0" fill="hold" nodeType="afterEffect">
                                  <p:stCondLst>
                                    <p:cond delay="0"/>
                                  </p:stCondLst>
                                  <p:childTnLst>
                                    <p:set>
                                      <p:cBhvr>
                                        <p:cTn id="66" dur="1" fill="hold">
                                          <p:stCondLst>
                                            <p:cond delay="0"/>
                                          </p:stCondLst>
                                        </p:cTn>
                                        <p:tgtEl>
                                          <p:spTgt spid="168"/>
                                        </p:tgtEl>
                                        <p:attrNameLst>
                                          <p:attrName>style.visibility</p:attrName>
                                        </p:attrNameLst>
                                      </p:cBhvr>
                                      <p:to>
                                        <p:strVal val="visible"/>
                                      </p:to>
                                    </p:set>
                                    <p:animEffect transition="in" filter="fade">
                                      <p:cBhvr>
                                        <p:cTn id="67" dur="2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5062</TotalTime>
  <Words>46938</Words>
  <Application>Microsoft Office PowerPoint</Application>
  <PresentationFormat>Widescreen</PresentationFormat>
  <Paragraphs>4972</Paragraphs>
  <Slides>138</Slides>
  <Notes>138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138</vt:i4>
      </vt:variant>
    </vt:vector>
  </HeadingPairs>
  <TitlesOfParts>
    <vt:vector size="142"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 03: Threads, Tasks, Async, Files &amp; Testing</dc:title>
  <dc:subject>PptxGenJS Presentation</dc:subject>
  <dc:creator>SIMULATION Software House &amp; Academy</dc:creator>
  <cp:lastModifiedBy>Abdelrahman Mohamed</cp:lastModifiedBy>
  <cp:revision>103</cp:revision>
  <dcterms:created xsi:type="dcterms:W3CDTF">2026-09-21T13:45:27Z</dcterms:created>
  <dcterms:modified xsi:type="dcterms:W3CDTF">2026-10-15T15:12:35Z</dcterms:modified>
</cp:coreProperties>
</file>